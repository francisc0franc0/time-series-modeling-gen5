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2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3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4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0ed5fdefcde436d" /><Relationship Type="http://schemas.openxmlformats.org/officeDocument/2006/relationships/extended-properties" Target="/docProps/app.xml" Id="R02e05b4b941c4837" /><Relationship Type="http://schemas.openxmlformats.org/officeDocument/2006/relationships/officeDocument" Target="/ppt/presentation.xml" Id="R4c50ba6d69974d7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ba24d0bc6474fcb"/>
  </p:sldMasterIdLst>
  <p:notesMasterIdLst>
    <p:notesMasterId xmlns:r="http://schemas.openxmlformats.org/officeDocument/2006/relationships" r:id="R078b9ca83c204d4b"/>
  </p:notesMasterIdLst>
  <p:sldIdLst>
    <p:sldId xmlns:r="http://schemas.openxmlformats.org/officeDocument/2006/relationships" id="256" r:id="Rb48bcff24c71429e"/>
    <p:sldId xmlns:r="http://schemas.openxmlformats.org/officeDocument/2006/relationships" id="257" r:id="R80186ebea7ee4084"/>
    <p:sldId xmlns:r="http://schemas.openxmlformats.org/officeDocument/2006/relationships" id="258" r:id="R28a01eff24104b67"/>
    <p:sldId xmlns:r="http://schemas.openxmlformats.org/officeDocument/2006/relationships" id="259" r:id="R96dab2a3cf284f98"/>
    <p:sldId xmlns:r="http://schemas.openxmlformats.org/officeDocument/2006/relationships" id="260" r:id="Rcc0ccfc0a5834b28"/>
    <p:sldId xmlns:r="http://schemas.openxmlformats.org/officeDocument/2006/relationships" id="261" r:id="R2873eb48e9894bfd"/>
    <p:sldId xmlns:r="http://schemas.openxmlformats.org/officeDocument/2006/relationships" id="262" r:id="Rf178d438da894828"/>
    <p:sldId xmlns:r="http://schemas.openxmlformats.org/officeDocument/2006/relationships" id="263" r:id="R4f92c47e1d71461b"/>
    <p:sldId xmlns:r="http://schemas.openxmlformats.org/officeDocument/2006/relationships" id="264" r:id="R9d346e525ad4455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3307c93940f4637" /><Relationship Type="http://schemas.openxmlformats.org/officeDocument/2006/relationships/slideMaster" Target="/ppt/slideMasters/slideMaster1.xml" Id="R3ba24d0bc6474fcb" /><Relationship Type="http://schemas.openxmlformats.org/officeDocument/2006/relationships/notesMaster" Target="/ppt/notesMasters/notesMaster1.xml" Id="R078b9ca83c204d4b" /><Relationship Type="http://schemas.openxmlformats.org/officeDocument/2006/relationships/presProps" Target="/ppt/presProps.xml" Id="Rb6e40ec7674a492c" /><Relationship Type="http://schemas.openxmlformats.org/officeDocument/2006/relationships/tableStyles" Target="/ppt/tableStyles.xml" Id="R0df1fb90a9ba41f4" /><Relationship Type="http://schemas.openxmlformats.org/officeDocument/2006/relationships/slide" Target="/ppt/slides/slide1.xml" Id="Rb48bcff24c71429e" /><Relationship Type="http://schemas.openxmlformats.org/officeDocument/2006/relationships/slide" Target="/ppt/slides/slide2.xml" Id="R80186ebea7ee4084" /><Relationship Type="http://schemas.openxmlformats.org/officeDocument/2006/relationships/slide" Target="/ppt/slides/slide3.xml" Id="R28a01eff24104b67" /><Relationship Type="http://schemas.openxmlformats.org/officeDocument/2006/relationships/slide" Target="/ppt/slides/slide4.xml" Id="R96dab2a3cf284f98" /><Relationship Type="http://schemas.openxmlformats.org/officeDocument/2006/relationships/slide" Target="/ppt/slides/slide5.xml" Id="Rcc0ccfc0a5834b28" /><Relationship Type="http://schemas.openxmlformats.org/officeDocument/2006/relationships/slide" Target="/ppt/slides/slide6.xml" Id="R2873eb48e9894bfd" /><Relationship Type="http://schemas.openxmlformats.org/officeDocument/2006/relationships/slide" Target="/ppt/slides/slide7.xml" Id="Rf178d438da894828" /><Relationship Type="http://schemas.openxmlformats.org/officeDocument/2006/relationships/slide" Target="/ppt/slides/slide8.xml" Id="R4f92c47e1d71461b" /><Relationship Type="http://schemas.openxmlformats.org/officeDocument/2006/relationships/slide" Target="/ppt/slides/slide9.xml" Id="R9d346e525ad4455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a3099e8e46a42f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a046fbaef0e4298" /><Relationship Type="http://schemas.openxmlformats.org/officeDocument/2006/relationships/notesMaster" Target="/ppt/notesMasters/notesMaster1.xml" Id="Rf4630729b9a345e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3e051eee6b04a50" /><Relationship Type="http://schemas.openxmlformats.org/officeDocument/2006/relationships/notesMaster" Target="/ppt/notesMasters/notesMaster1.xml" Id="Rcc496fd132894f8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c5e9c1f326d47c2" /><Relationship Type="http://schemas.openxmlformats.org/officeDocument/2006/relationships/notesMaster" Target="/ppt/notesMasters/notesMaster1.xml" Id="R746a29934cb44a3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56724fb18054ef9" /><Relationship Type="http://schemas.openxmlformats.org/officeDocument/2006/relationships/notesMaster" Target="/ppt/notesMasters/notesMaster1.xml" Id="R342730e00cf348f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099f5d195ac4974" /><Relationship Type="http://schemas.openxmlformats.org/officeDocument/2006/relationships/notesMaster" Target="/ppt/notesMasters/notesMaster1.xml" Id="R891242968c544bc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b129a4ac9b14d52" /><Relationship Type="http://schemas.openxmlformats.org/officeDocument/2006/relationships/notesMaster" Target="/ppt/notesMasters/notesMaster1.xml" Id="R30020ab3347c40d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3d7ff3984974102" /><Relationship Type="http://schemas.openxmlformats.org/officeDocument/2006/relationships/notesMaster" Target="/ppt/notesMasters/notesMaster1.xml" Id="R8eef333bd3b343b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022cf729cc04dfb" /><Relationship Type="http://schemas.openxmlformats.org/officeDocument/2006/relationships/notesMaster" Target="/ppt/notesMasters/notesMaster1.xml" Id="R849c9cfcc74047c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b1ac39b6fb54cb8" /><Relationship Type="http://schemas.openxmlformats.org/officeDocument/2006/relationships/notesMaster" Target="/ppt/notesMasters/notesMaster1.xml" Id="R7286a957c39a460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deck explains the H04.3B failure without fitting or selecting anything new.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operator_hypothesis_lab/docs/HYP_MOM_04_3C_FEATURE_TRANSPORT_AUDIT_CONTRACT.md</a:t>
            </a:r>
          </a:p>
          <a:p xmlns:a="http://schemas.openxmlformats.org/drawingml/2006/main">
            <a:r>
              <a:t>- runs/research_workbench/operator_hypothesis_lab/hyp_mom_04_3c_feature_transport_audit_20260811/status.txt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Quartile and decile diagnostics were frozen before execution. Neither cutoff becomes a trading rule from this retrospective audit.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operator_hypothesis_lab/docs/HYP_MOM_04_3C_FEATURE_TRANSPORT_AUDIT_CONTRACT.md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Q4 and D10 are equal-quarter means of the sector-relative target. Positive-sector count uses each sector's mean within-sector IC across the 11 quarters.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runs/research_workbench/operator_hypothesis_lab/hyp_mom_04_3c_feature_transport_audit_20260811/feature_summary.csv</a:t>
            </a:r>
          </a:p>
          <a:p xmlns:a="http://schemas.openxmlformats.org/drawingml/2006/main">
            <a:r>
              <a:t>- runs/research_workbench/operator_hypothesis_lab/hyp_mom_04_3c_feature_transport_audit_20260811/feature_sector_breadth.csv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quartile values are percentage points. Q2 was the worst average group, so this is not a smooth momentum staircase.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runs/research_workbench/operator_hypothesis_lab/hyp_mom_04_3c_feature_transport_audit_20260811/feature_quartile_shape.csv</a:t>
            </a:r>
          </a:p>
          <a:p xmlns:a="http://schemas.openxmlformats.org/drawingml/2006/main">
            <a:r>
              <a:t>- runs/research_workbench/operator_hypothesis_lab/hyp_mom_04_3c_feature_transport_audit_20260811/feature_summary.csv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broad sector sign is noteworthy diagnostically, but breadth alone cannot compensate for near-zero magnitude and a non-monotonic response.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runs/research_workbench/operator_hypothesis_lab/hyp_mom_04_3c_feature_transport_audit_20260811/feature_quartile_shape.csv</a:t>
            </a:r>
          </a:p>
          <a:p xmlns:a="http://schemas.openxmlformats.org/drawingml/2006/main">
            <a:r>
              <a:t>- runs/research_workbench/operator_hypothesis_lab/hyp_mom_04_3c_feature_transport_audit_20260811/feature_sector_breadth.csv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R2 measures smoothness/fit, not the direction of the trend. A new low-R2 hypothesis would need its own economic rationale and fresh contract.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runs/research_workbench/operator_hypothesis_lab/hyp_mom_04_3c_feature_transport_audit_20260811/feature_quartile_shape.csv</a:t>
            </a:r>
          </a:p>
          <a:p xmlns:a="http://schemas.openxmlformats.org/drawingml/2006/main">
            <a:r>
              <a:t>- runs/research_workbench/operator_hypothesis_lab/hyp_mom_04_3c_feature_transport_audit_20260811/feature_summary.csv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reconciliation uses the already-frozen H04.3B lambda-10 fit. It is not a new fit or a sign-selection exercise.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runs/research_workbench/operator_hypothesis_lab/hyp_mom_04_3c_feature_transport_audit_20260811/frozen_coefficient_transport.csv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chart uses decimals, not percentage points: 0.00302 equals 0.302%. Other features were similarly stable.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runs/research_workbench/operator_hypothesis_lab/hyp_mom_04_3c_feature_transport_audit_20260811/terminal_sensitivity_summary.csv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audit explains the model failure but does not nominate a strategy. No 2024+ observation was accessed.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operator_hypothesis_lab/docs/HYP_MOM_04_3C_FEATURE_TRANSPORT_AUDIT_RESULTS.md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e475a0fc58410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a52a30b8c774182" /><Relationship Type="http://schemas.openxmlformats.org/officeDocument/2006/relationships/slideLayout" Target="/ppt/slideLayouts/slideLayout1.xml" Id="R2db88363680e414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db88363680e414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9f828f49834de9" /><Relationship Type="http://schemas.openxmlformats.org/officeDocument/2006/relationships/notesSlide" Target="/ppt/notesSlides/notesSlide1.xml" Id="R7572a341e1e5461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50c8a05e664487" /><Relationship Type="http://schemas.openxmlformats.org/officeDocument/2006/relationships/notesSlide" Target="/ppt/notesSlides/notesSlide2.xml" Id="R5328021319784d0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27ea253476463e" /><Relationship Type="http://schemas.openxmlformats.org/officeDocument/2006/relationships/notesSlide" Target="/ppt/notesSlides/notesSlide3.xml" Id="Ra5a6e9ddbf6d41d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f310314a8e4890" /><Relationship Type="http://schemas.openxmlformats.org/officeDocument/2006/relationships/chart" Target="/ppt/slides/charts/chart1.xml" Id="R645311ba08aa4c60" /><Relationship Type="http://schemas.openxmlformats.org/officeDocument/2006/relationships/notesSlide" Target="/ppt/notesSlides/notesSlide4.xml" Id="R234c4e8165b64cd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f00ca245184342" /><Relationship Type="http://schemas.openxmlformats.org/officeDocument/2006/relationships/chart" Target="/ppt/slides/charts/chart2.xml" Id="Rbbe04f6bd67b4d20" /><Relationship Type="http://schemas.openxmlformats.org/officeDocument/2006/relationships/notesSlide" Target="/ppt/notesSlides/notesSlide5.xml" Id="R459cc5925565468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98e1cd6a7741dc" /><Relationship Type="http://schemas.openxmlformats.org/officeDocument/2006/relationships/chart" Target="/ppt/slides/charts/chart3.xml" Id="Rd716f66b07ef4f3d" /><Relationship Type="http://schemas.openxmlformats.org/officeDocument/2006/relationships/notesSlide" Target="/ppt/notesSlides/notesSlide6.xml" Id="R963552fcd034463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f93c007d1849f6" /><Relationship Type="http://schemas.openxmlformats.org/officeDocument/2006/relationships/notesSlide" Target="/ppt/notesSlides/notesSlide7.xml" Id="R4fd6f9abe8e240c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1eac908e564a87" /><Relationship Type="http://schemas.openxmlformats.org/officeDocument/2006/relationships/chart" Target="/ppt/slides/charts/chart4.xml" Id="R7f94fe5747cc47ff" /><Relationship Type="http://schemas.openxmlformats.org/officeDocument/2006/relationships/notesSlide" Target="/ppt/notesSlides/notesSlide8.xml" Id="R34faffcd664846e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e080b4a3e24ee5" /><Relationship Type="http://schemas.openxmlformats.org/officeDocument/2006/relationships/notesSlide" Target="/ppt/notesSlides/notesSlide9.xml" Id="R4eacb44ed65546d1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ser>
          <c:idx val="0"/>
          <c:order val="0"/>
          <c:tx>
            <c:v>Sector-relative return</c:v>
          </c:tx>
          <c:spPr>
            <a:ln xmlns:a="http://schemas.openxmlformats.org/drawingml/2006/main" w="28575">
              <a:solidFill>
                <a:srgbClr val="2979FF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2979FF"/>
              </a:solidFill>
            </c:spPr>
          </c:marker>
          <c:cat>
            <c:strLit>
              <c:ptCount val="4"/>
              <c:pt idx="0">
                <c:v>Q1</c:v>
              </c:pt>
              <c:pt idx="1">
                <c:v>Q2</c:v>
              </c:pt>
              <c:pt idx="2">
                <c:v>Q3</c:v>
              </c:pt>
              <c:pt idx="3">
                <c:v>Q4</c:v>
              </c:pt>
            </c:strLit>
          </c:cat>
          <c:val>
            <c:numLit>
              <c:formatCode>General</c:formatCode>
              <c:ptCount val="4"/>
              <c:pt idx="0">
                <c:v>-0.0284</c:v>
              </c:pt>
              <c:pt idx="1">
                <c:v>-0.2939</c:v>
              </c:pt>
              <c:pt idx="2">
                <c:v>0.0195</c:v>
              </c:pt>
              <c:pt idx="3">
                <c:v>0.3023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E4E8E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B6670"/>
                </a:solidFill>
                <a:latin typeface="Aptos"/>
                <a:ea typeface="Aptos"/>
                <a:cs typeface="Aptos"/>
              </a:defRPr>
            </a:pPr>
          </a:p>
        </c:txPr>
        <c:crossAx val="48672768"/>
      </c:catAx>
      <c:valAx>
        <c:axId val="48672768"/>
        <c:scaling>
          <c:orientation val="minMax"/>
          <c:max val="0.35"/>
          <c:min val="-0.35"/>
        </c:scaling>
        <c:delete val="0"/>
        <c:axPos val="l"/>
        <c:majorGridlines>
          <c:spPr>
            <a:ln xmlns:a="http://schemas.openxmlformats.org/drawingml/2006/main" w="9525">
              <a:solidFill>
                <a:srgbClr val="E4E8EC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B6670"/>
                </a:solidFill>
                <a:latin typeface="Aptos"/>
                <a:ea typeface="Aptos"/>
                <a:cs typeface="Aptos"/>
              </a:defRPr>
            </a:pPr>
          </a:p>
        </c:txPr>
        <c:crossAx val="48650112"/>
        <c:crossBetween val="between"/>
        <c:majorUnit val="0.1"/>
      </c:valAx>
      <c:spPr>
        <a:noFill xmlns:a="http://schemas.openxmlformats.org/drawingml/2006/main"/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lineChart>
        <c:grouping val="standard"/>
        <c:ser>
          <c:idx val="0"/>
          <c:order val="0"/>
          <c:tx>
            <c:v>Sector-relative return</c:v>
          </c:tx>
          <c:spPr>
            <a:ln xmlns:a="http://schemas.openxmlformats.org/drawingml/2006/main" w="28575">
              <a:solidFill>
                <a:srgbClr val="2979FF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2979FF"/>
              </a:solidFill>
            </c:spPr>
          </c:marker>
          <c:cat>
            <c:strLit>
              <c:ptCount val="4"/>
              <c:pt idx="0">
                <c:v>Q1</c:v>
              </c:pt>
              <c:pt idx="1">
                <c:v>Q2</c:v>
              </c:pt>
              <c:pt idx="2">
                <c:v>Q3</c:v>
              </c:pt>
              <c:pt idx="3">
                <c:v>Q4</c:v>
              </c:pt>
            </c:strLit>
          </c:cat>
          <c:val>
            <c:numLit>
              <c:formatCode>0.0</c:formatCode>
              <c:ptCount val="4"/>
              <c:pt idx="0">
                <c:v>-0.5377</c:v>
              </c:pt>
              <c:pt idx="1">
                <c:v>0.3795</c:v>
              </c:pt>
              <c:pt idx="2">
                <c:v>0.1263</c:v>
              </c:pt>
              <c:pt idx="3">
                <c:v>0.0307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E4E8E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B6670"/>
                </a:solidFill>
                <a:latin typeface="Aptos"/>
                <a:ea typeface="Aptos"/>
                <a:cs typeface="Aptos"/>
              </a:defRPr>
            </a:pPr>
          </a:p>
        </c:txPr>
        <c:crossAx val="48672768"/>
      </c:catAx>
      <c:valAx>
        <c:axId val="48672768"/>
        <c:scaling>
          <c:orientation val="minMax"/>
          <c:max val="0.6"/>
          <c:min val="-0.6"/>
        </c:scaling>
        <c:delete val="0"/>
        <c:axPos val="l"/>
        <c:majorGridlines>
          <c:spPr>
            <a:ln xmlns:a="http://schemas.openxmlformats.org/drawingml/2006/main" w="9525">
              <a:solidFill>
                <a:srgbClr val="E4E8EC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B6670"/>
                </a:solidFill>
                <a:latin typeface="Aptos"/>
                <a:ea typeface="Aptos"/>
                <a:cs typeface="Aptos"/>
              </a:defRPr>
            </a:pPr>
          </a:p>
        </c:txPr>
        <c:crossAx val="48650112"/>
        <c:crossBetween val="between"/>
        <c:majorUnit val="0.2"/>
      </c:valAx>
      <c:spPr>
        <a:noFill xmlns:a="http://schemas.openxmlformats.org/drawingml/2006/main"/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3.xml><?xml version="1.0" encoding="utf-8"?>
<c:chartSpace xmlns:c="http://schemas.openxmlformats.org/drawingml/2006/chart">
  <c:lang val="en-US"/>
  <c:chart>
    <c:plotArea>
      <c:lineChart>
        <c:grouping val="standard"/>
        <c:ser>
          <c:idx val="0"/>
          <c:order val="0"/>
          <c:tx>
            <c:v>Sector-relative return</c:v>
          </c:tx>
          <c:spPr>
            <a:ln xmlns:a="http://schemas.openxmlformats.org/drawingml/2006/main" w="28575">
              <a:solidFill>
                <a:srgbClr val="D1495B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D1495B"/>
              </a:solidFill>
            </c:spPr>
          </c:marker>
          <c:cat>
            <c:strLit>
              <c:ptCount val="4"/>
              <c:pt idx="0">
                <c:v>Q1</c:v>
              </c:pt>
              <c:pt idx="1">
                <c:v>Q2</c:v>
              </c:pt>
              <c:pt idx="2">
                <c:v>Q3</c:v>
              </c:pt>
              <c:pt idx="3">
                <c:v>Q4</c:v>
              </c:pt>
            </c:strLit>
          </c:cat>
          <c:val>
            <c:numLit>
              <c:formatCode>General</c:formatCode>
              <c:ptCount val="4"/>
              <c:pt idx="0">
                <c:v>0.4001</c:v>
              </c:pt>
              <c:pt idx="1">
                <c:v>0.314</c:v>
              </c:pt>
              <c:pt idx="2">
                <c:v>-0.1652</c:v>
              </c:pt>
              <c:pt idx="3">
                <c:v>-0.5439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E4E8E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B6670"/>
                </a:solidFill>
                <a:latin typeface="Aptos"/>
                <a:ea typeface="Aptos"/>
                <a:cs typeface="Aptos"/>
              </a:defRPr>
            </a:pPr>
          </a:p>
        </c:txPr>
        <c:crossAx val="48672768"/>
      </c:catAx>
      <c:valAx>
        <c:axId val="48672768"/>
        <c:scaling>
          <c:orientation val="minMax"/>
          <c:max val="0.5"/>
          <c:min val="-0.6"/>
        </c:scaling>
        <c:delete val="0"/>
        <c:axPos val="l"/>
        <c:majorGridlines>
          <c:spPr>
            <a:ln xmlns:a="http://schemas.openxmlformats.org/drawingml/2006/main" w="9525">
              <a:solidFill>
                <a:srgbClr val="E4E8EC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B6670"/>
                </a:solidFill>
                <a:latin typeface="Aptos"/>
                <a:ea typeface="Aptos"/>
                <a:cs typeface="Aptos"/>
              </a:defRPr>
            </a:pPr>
          </a:p>
        </c:txPr>
        <c:crossAx val="48650112"/>
        <c:crossBetween val="between"/>
        <c:majorUnit val="0.2"/>
      </c:valAx>
      <c:spPr>
        <a:noFill xmlns:a="http://schemas.openxmlformats.org/drawingml/2006/main"/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4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Momentum mean IC</c:v>
          </c:tx>
          <c:spPr>
            <a:solidFill xmlns:a="http://schemas.openxmlformats.org/drawingml/2006/main">
              <a:srgbClr val="2979FF"/>
            </a:solidFill>
          </c:spPr>
          <c:cat>
            <c:strLit>
              <c:ptCount val="3"/>
              <c:pt idx="0">
                <c:v>Main</c:v>
              </c:pt>
              <c:pt idx="1">
                <c:v>Exclude 26 terminals</c:v>
              </c:pt>
              <c:pt idx="2">
                <c:v>Exclude FRC/SIVB</c:v>
              </c:pt>
            </c:strLit>
          </c:cat>
          <c:val>
            <c:numLit>
              <c:formatCode>General</c:formatCode>
              <c:ptCount val="3"/>
              <c:pt idx="0">
                <c:v>0.00415</c:v>
              </c:pt>
              <c:pt idx="1">
                <c:v>0.00151</c:v>
              </c:pt>
              <c:pt idx="2">
                <c:v>0.00305</c:v>
              </c:pt>
            </c:numLit>
          </c:val>
        </c:ser>
        <c:ser>
          <c:idx val="1"/>
          <c:order val="1"/>
          <c:tx>
            <c:v>Momentum Q4 target</c:v>
          </c:tx>
          <c:spPr>
            <a:solidFill xmlns:a="http://schemas.openxmlformats.org/drawingml/2006/main">
              <a:srgbClr val="85B6FF"/>
            </a:solidFill>
          </c:spPr>
          <c:cat>
            <c:strLit>
              <c:ptCount val="3"/>
              <c:pt idx="0">
                <c:v>Main</c:v>
              </c:pt>
              <c:pt idx="1">
                <c:v>Exclude 26 terminals</c:v>
              </c:pt>
              <c:pt idx="2">
                <c:v>Exclude FRC/SIVB</c:v>
              </c:pt>
            </c:strLit>
          </c:cat>
          <c:val>
            <c:numLit>
              <c:formatCode>General</c:formatCode>
              <c:ptCount val="3"/>
              <c:pt idx="0">
                <c:v>0.00302</c:v>
              </c:pt>
              <c:pt idx="1">
                <c:v>0.00256</c:v>
              </c:pt>
              <c:pt idx="2">
                <c:v>0.00292</c:v>
              </c:pt>
            </c:numLit>
          </c:val>
        </c:ser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E4E8E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B6670"/>
                </a:solidFill>
                <a:latin typeface="Aptos"/>
                <a:ea typeface="Aptos"/>
                <a:cs typeface="Aptos"/>
              </a:defRPr>
            </a:pPr>
          </a:p>
        </c:txPr>
        <c:crossAx val="48672768"/>
      </c:catAx>
      <c:valAx>
        <c:axId val="48672768"/>
        <c:scaling>
          <c:orientation val="minMax"/>
          <c:max val="0.00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4E8EC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B6670"/>
                </a:solidFill>
                <a:latin typeface="Aptos"/>
                <a:ea typeface="Aptos"/>
                <a:cs typeface="Aptos"/>
              </a:defRPr>
            </a:pPr>
          </a:p>
        </c:txPr>
        <c:crossAx val="48650112"/>
        <c:crossBetween val="between"/>
        <c:majorUnit val="0.001"/>
      </c:valAx>
      <c:spPr>
        <a:noFill xmlns:a="http://schemas.openxmlformats.org/drawingml/2006/main"/>
      </c:spPr>
    </c:plotArea>
    <c:legend>
      <c:legendPos val="b"/>
      <c:overlay val="0"/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lane">
            <a:extLst xmlns:a="http://schemas.openxmlformats.org/drawingml/2006/main">
              <a:ext uri="{FF2B5EF4-FFF2-40B4-BE49-F238E27FC236}">
                <a16:creationId xmlns:a16="http://schemas.microsoft.com/office/drawing/2014/main" id="{8E0E2FB0-5547-4111-BE48-3116AB3C3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00050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979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2979FF"/>
                </a:solidFill>
                <a:latin typeface="Aptos"/>
                <a:ea typeface="Aptos"/>
                <a:cs typeface="Aptos"/>
              </a:rPr>
              <a:t>OPERATOR HYPOTHESIS LAB · HYP-MOM-04.3C</a:t>
            </a:r>
          </a:p>
        </p:txBody>
      </p:sp>
      <p:sp>
        <p:nvSpPr>
          <p:cNvPr id="2" name="hero">
            <a:extLst xmlns:a="http://schemas.openxmlformats.org/drawingml/2006/main">
              <a:ext uri="{FF2B5EF4-FFF2-40B4-BE49-F238E27FC236}">
                <a16:creationId xmlns:a16="http://schemas.microsoft.com/office/drawing/2014/main" id="{C034BF85-66A2-4535-984B-DB4E5F6B0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66875"/>
            <a:ext cx="10287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510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The model failed because its feature directions did not travel</a:t>
            </a:r>
          </a:p>
        </p:txBody>
      </p:sp>
      <p:sp>
        <p:nvSpPr>
          <p:cNvPr id="3" name="sub">
            <a:extLst xmlns:a="http://schemas.openxmlformats.org/drawingml/2006/main">
              <a:ext uri="{FF2B5EF4-FFF2-40B4-BE49-F238E27FC236}">
                <a16:creationId xmlns:a16="http://schemas.microsoft.com/office/drawing/2014/main" id="{884DCE5A-0166-48B2-B54B-C81D9AC84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953000"/>
            <a:ext cx="8953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5B6670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5B6670"/>
                </a:solidFill>
                <a:latin typeface="Aptos"/>
                <a:ea typeface="Aptos"/>
                <a:cs typeface="Aptos"/>
              </a:rPr>
              <a:t>Feature transport audit · 2021Q1–2023Q3 reused · 2024+ sealed</a:t>
            </a:r>
          </a:p>
        </p:txBody>
      </p:sp>
    </p:spTree>
    <p:extLst>
      <p:ext uri="{BB962C8B-B14F-4D97-AF65-F5344CB8AC3E}">
        <p14:creationId xmlns:p14="http://schemas.microsoft.com/office/powerpoint/2010/main" val="30031638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-2">
            <a:extLst xmlns:a="http://schemas.openxmlformats.org/drawingml/2006/main">
              <a:ext uri="{FF2B5EF4-FFF2-40B4-BE49-F238E27FC236}">
                <a16:creationId xmlns:a16="http://schemas.microsoft.com/office/drawing/2014/main" id="{7FBA8566-8DDC-4364-91D2-C7F55D1AF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23850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A positive top quartile is not enough</a:t>
            </a:r>
          </a:p>
        </p:txBody>
      </p:sp>
      <p:sp>
        <p:nvSpPr>
          <p:cNvPr id="2" name="page-2">
            <a:extLst xmlns:a="http://schemas.openxmlformats.org/drawingml/2006/main">
              <a:ext uri="{FF2B5EF4-FFF2-40B4-BE49-F238E27FC236}">
                <a16:creationId xmlns:a16="http://schemas.microsoft.com/office/drawing/2014/main" id="{9EF10359-D902-48CE-900C-FDAE47494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67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6670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3" name="rank-head">
            <a:extLst xmlns:a="http://schemas.openxmlformats.org/drawingml/2006/main">
              <a:ext uri="{FF2B5EF4-FFF2-40B4-BE49-F238E27FC236}">
                <a16:creationId xmlns:a16="http://schemas.microsoft.com/office/drawing/2014/main" id="{0CA736C6-016B-4901-A49A-0A863F8CE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192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979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979FF"/>
                </a:solidFill>
                <a:latin typeface="Aptos"/>
                <a:ea typeface="Aptos"/>
                <a:cs typeface="Aptos"/>
              </a:rPr>
              <a:t>WHOLE-RANKING EVIDENCE</a:t>
            </a:r>
          </a:p>
        </p:txBody>
      </p:sp>
      <p:sp>
        <p:nvSpPr>
          <p:cNvPr id="4" name="rank-copy">
            <a:extLst xmlns:a="http://schemas.openxmlformats.org/drawingml/2006/main">
              <a:ext uri="{FF2B5EF4-FFF2-40B4-BE49-F238E27FC236}">
                <a16:creationId xmlns:a16="http://schemas.microsoft.com/office/drawing/2014/main" id="{DBA0B571-8D12-4B98-AD9D-CAC7306FE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90750"/>
            <a:ext cx="4762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B6670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5B6670"/>
                </a:solidFill>
                <a:latin typeface="Aptos"/>
                <a:ea typeface="Aptos"/>
                <a:cs typeface="Aptos"/>
              </a:rPr>
              <a:t>Rank IC asks whether higher feature values consistently order the entire stock cross-section from worse to better.</a:t>
            </a:r>
          </a:p>
        </p:txBody>
      </p:sp>
      <p:sp>
        <p:nvSpPr>
          <p:cNvPr id="5" name="tail-head">
            <a:extLst xmlns:a="http://schemas.openxmlformats.org/drawingml/2006/main">
              <a:ext uri="{FF2B5EF4-FFF2-40B4-BE49-F238E27FC236}">
                <a16:creationId xmlns:a16="http://schemas.microsoft.com/office/drawing/2014/main" id="{31E5E644-A836-4B15-8B83-5241178FD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192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979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979FF"/>
                </a:solidFill>
                <a:latin typeface="Aptos"/>
                <a:ea typeface="Aptos"/>
                <a:cs typeface="Aptos"/>
              </a:rPr>
              <a:t>UPPER-TAIL EVIDENCE</a:t>
            </a:r>
          </a:p>
        </p:txBody>
      </p:sp>
      <p:sp>
        <p:nvSpPr>
          <p:cNvPr id="6" name="tail-copy">
            <a:extLst xmlns:a="http://schemas.openxmlformats.org/drawingml/2006/main">
              <a:ext uri="{FF2B5EF4-FFF2-40B4-BE49-F238E27FC236}">
                <a16:creationId xmlns:a16="http://schemas.microsoft.com/office/drawing/2014/main" id="{ED931116-75D8-4178-B92B-E4A7697F4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90750"/>
            <a:ext cx="47625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B6670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5B6670"/>
                </a:solidFill>
                <a:latin typeface="Aptos"/>
                <a:ea typeface="Aptos"/>
                <a:cs typeface="Aptos"/>
              </a:rPr>
              <a:t>A positive Q4 mean is only a broad-tail hint. If the top decile then turns negative, the most extreme signals are not better—the relationship is not strengthening.</a:t>
            </a:r>
          </a:p>
        </p:txBody>
      </p:sp>
      <p:sp>
        <p:nvSpPr>
          <p:cNvPr id="7" name="rule">
            <a:extLst xmlns:a="http://schemas.openxmlformats.org/drawingml/2006/main">
              <a:ext uri="{FF2B5EF4-FFF2-40B4-BE49-F238E27FC236}">
                <a16:creationId xmlns:a16="http://schemas.microsoft.com/office/drawing/2014/main" id="{F66103BB-F36C-435C-9606-3717E30CC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625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Coherence requires sign + shape + time breadth + sector breadth</a:t>
            </a:r>
          </a:p>
        </p:txBody>
      </p:sp>
    </p:spTree>
    <p:extLst>
      <p:ext uri="{BB962C8B-B14F-4D97-AF65-F5344CB8AC3E}">
        <p14:creationId xmlns:p14="http://schemas.microsoft.com/office/powerpoint/2010/main" val="75803363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-3">
            <a:extLst xmlns:a="http://schemas.openxmlformats.org/drawingml/2006/main">
              <a:ext uri="{FF2B5EF4-FFF2-40B4-BE49-F238E27FC236}">
                <a16:creationId xmlns:a16="http://schemas.microsoft.com/office/drawing/2014/main" id="{FC615934-1D1E-4268-B5D9-BB9E95D1B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23850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675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None of the four features clears a coherent transport standard</a:t>
            </a:r>
          </a:p>
        </p:txBody>
      </p:sp>
      <p:sp>
        <p:nvSpPr>
          <p:cNvPr id="2" name="page-3">
            <a:extLst xmlns:a="http://schemas.openxmlformats.org/drawingml/2006/main">
              <a:ext uri="{FF2B5EF4-FFF2-40B4-BE49-F238E27FC236}">
                <a16:creationId xmlns:a16="http://schemas.microsoft.com/office/drawing/2014/main" id="{13030C7C-A458-45AB-BF06-AB22A5EF7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67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6670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476250" y="1476375"/>
          <a:ext xmlns:a="http://schemas.openxmlformats.org/drawingml/2006/main" cx="110490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52750"/>
                <a:gridCol w="1428750"/>
                <a:gridCol w="1428750"/>
                <a:gridCol w="1619250"/>
                <a:gridCol w="1619250"/>
                <a:gridCol w="1428750"/>
              </a:tblGrid>
              <a:tr h="7429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Feature</a:t>
                      </a:r>
                    </a:p>
                  </a:txBody>
                  <a:tcPr marL="91440" marR="91440" marT="45720" marB="45720">
                    <a:solidFill>
                      <a:srgbClr val="1018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Mean IC</a:t>
                      </a:r>
                    </a:p>
                  </a:txBody>
                  <a:tcPr marL="91440" marR="91440" marT="45720" marB="45720">
                    <a:solidFill>
                      <a:srgbClr val="1018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IC + qtrs</a:t>
                      </a:r>
                    </a:p>
                  </a:txBody>
                  <a:tcPr marL="91440" marR="91440" marT="45720" marB="45720">
                    <a:solidFill>
                      <a:srgbClr val="1018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Q4 target</a:t>
                      </a:r>
                    </a:p>
                  </a:txBody>
                  <a:tcPr marL="91440" marR="91440" marT="45720" marB="45720">
                    <a:solidFill>
                      <a:srgbClr val="1018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D10 target</a:t>
                      </a:r>
                    </a:p>
                  </a:txBody>
                  <a:tcPr marL="91440" marR="91440" marT="45720" marB="45720">
                    <a:solidFill>
                      <a:srgbClr val="1018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+ sectors</a:t>
                      </a:r>
                    </a:p>
                  </a:txBody>
                  <a:tcPr marL="91440" marR="91440" marT="45720" marB="45720">
                    <a:solidFill>
                      <a:srgbClr val="101820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200"/>
                        <a:t>Sector momentum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/>
                        <a:t>+0.004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/>
                        <a:t>6 / 11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/>
                        <a:t>+0.302%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/>
                        <a:t>−0.665%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/>
                        <a:t>5 / 11</a:t>
                      </a:r>
                    </a:p>
                  </a:txBody>
                  <a:tcPr marL="91440" marR="91440" marT="45720" marB="45720"/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200"/>
                        <a:t>Trend R²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/>
                        <a:t>−0.022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/>
                        <a:t>4 / 11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/>
                        <a:t>−0.544%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/>
                        <a:t>−0.778%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/>
                        <a:t>3 / 11</a:t>
                      </a:r>
                    </a:p>
                  </a:txBody>
                  <a:tcPr marL="91440" marR="91440" marT="45720" marB="45720"/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200"/>
                        <a:t>Recovery from low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/>
                        <a:t>−0.020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/>
                        <a:t>5 / 11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/>
                        <a:t>+0.014%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/>
                        <a:t>+0.261%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/>
                        <a:t>6 / 11</a:t>
                      </a:r>
                    </a:p>
                  </a:txBody>
                  <a:tcPr marL="91440" marR="91440" marT="45720" marB="45720"/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200"/>
                        <a:t>Positive months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/>
                        <a:t>+0.007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/>
                        <a:t>5 / 11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/>
                        <a:t>+0.031%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/>
                        <a:t>−0.199%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/>
                        <a:t>9 / 11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4" name="table-takeaway">
            <a:extLst xmlns:a="http://schemas.openxmlformats.org/drawingml/2006/main">
              <a:ext uri="{FF2B5EF4-FFF2-40B4-BE49-F238E27FC236}">
                <a16:creationId xmlns:a16="http://schemas.microsoft.com/office/drawing/2014/main" id="{2C47361B-060B-4251-969D-09FE5C861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572125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1495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D1495B"/>
                </a:solidFill>
                <a:latin typeface="Aptos"/>
                <a:ea typeface="Aptos"/>
                <a:cs typeface="Aptos"/>
              </a:rPr>
              <a:t>Breadth, magnitude, shape, and extreme-tail confirmation never align in the same feature.</a:t>
            </a:r>
          </a:p>
        </p:txBody>
      </p:sp>
    </p:spTree>
    <p:extLst>
      <p:ext uri="{BB962C8B-B14F-4D97-AF65-F5344CB8AC3E}">
        <p14:creationId xmlns:p14="http://schemas.microsoft.com/office/powerpoint/2010/main" val="22327049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-4">
            <a:extLst xmlns:a="http://schemas.openxmlformats.org/drawingml/2006/main">
              <a:ext uri="{FF2B5EF4-FFF2-40B4-BE49-F238E27FC236}">
                <a16:creationId xmlns:a16="http://schemas.microsoft.com/office/drawing/2014/main" id="{C7CBEEFD-6F75-441F-9F8D-3D068AEE6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23850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Sector momentum rises in Q4—but fails at the extreme</a:t>
            </a:r>
          </a:p>
        </p:txBody>
      </p:sp>
      <p:sp>
        <p:nvSpPr>
          <p:cNvPr id="2" name="page-4">
            <a:extLst xmlns:a="http://schemas.openxmlformats.org/drawingml/2006/main">
              <a:ext uri="{FF2B5EF4-FFF2-40B4-BE49-F238E27FC236}">
                <a16:creationId xmlns:a16="http://schemas.microsoft.com/office/drawing/2014/main" id="{E4371FC7-E930-439E-A7B5-12EA824B7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67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6670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476250" y="1381125"/>
          <a:ext xmlns:a="http://schemas.openxmlformats.org/drawingml/2006/main" cx="6667500" cy="4476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45311ba08aa4c60"/>
          </a:graphicData>
        </a:graphic>
      </p:graphicFrame>
      <p:sp>
        <p:nvSpPr>
          <p:cNvPr id="4" name="q4-stat">
            <a:extLst xmlns:a="http://schemas.openxmlformats.org/drawingml/2006/main">
              <a:ext uri="{FF2B5EF4-FFF2-40B4-BE49-F238E27FC236}">
                <a16:creationId xmlns:a16="http://schemas.microsoft.com/office/drawing/2014/main" id="{2B008042-F245-4F40-9184-58A758AAA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762125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2AA876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2AA876"/>
                </a:solidFill>
                <a:latin typeface="Aptos"/>
                <a:ea typeface="Aptos"/>
                <a:cs typeface="Aptos"/>
              </a:rPr>
              <a:t>+0.302%</a:t>
            </a:r>
          </a:p>
        </p:txBody>
      </p:sp>
      <p:sp>
        <p:nvSpPr>
          <p:cNvPr id="5" name="q4-label">
            <a:extLst xmlns:a="http://schemas.openxmlformats.org/drawingml/2006/main">
              <a:ext uri="{FF2B5EF4-FFF2-40B4-BE49-F238E27FC236}">
                <a16:creationId xmlns:a16="http://schemas.microsoft.com/office/drawing/2014/main" id="{2A097A3C-1429-44CE-8323-F50F748E2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495550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mean upper quartile</a:t>
            </a:r>
          </a:p>
        </p:txBody>
      </p:sp>
      <p:sp>
        <p:nvSpPr>
          <p:cNvPr id="6" name="d10-stat">
            <a:extLst xmlns:a="http://schemas.openxmlformats.org/drawingml/2006/main">
              <a:ext uri="{FF2B5EF4-FFF2-40B4-BE49-F238E27FC236}">
                <a16:creationId xmlns:a16="http://schemas.microsoft.com/office/drawing/2014/main" id="{7BAF640F-ED10-46D2-8D49-471DD0FF2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524250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D1495B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D1495B"/>
                </a:solidFill>
                <a:latin typeface="Aptos"/>
                <a:ea typeface="Aptos"/>
                <a:cs typeface="Aptos"/>
              </a:rPr>
              <a:t>−0.665%</a:t>
            </a:r>
          </a:p>
        </p:txBody>
      </p:sp>
      <p:sp>
        <p:nvSpPr>
          <p:cNvPr id="7" name="d10-label">
            <a:extLst xmlns:a="http://schemas.openxmlformats.org/drawingml/2006/main">
              <a:ext uri="{FF2B5EF4-FFF2-40B4-BE49-F238E27FC236}">
                <a16:creationId xmlns:a16="http://schemas.microsoft.com/office/drawing/2014/main" id="{293E2135-9564-4541-814D-A3F34080D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257675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mean top decile</a:t>
            </a:r>
          </a:p>
        </p:txBody>
      </p:sp>
      <p:sp>
        <p:nvSpPr>
          <p:cNvPr id="8" name="momentum-read">
            <a:extLst xmlns:a="http://schemas.openxmlformats.org/drawingml/2006/main">
              <a:ext uri="{FF2B5EF4-FFF2-40B4-BE49-F238E27FC236}">
                <a16:creationId xmlns:a16="http://schemas.microsoft.com/office/drawing/2014/main" id="{63A35C0F-5051-40EF-B468-F7E2EE314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905375"/>
            <a:ext cx="333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67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B6670"/>
                </a:solidFill>
                <a:latin typeface="Aptos"/>
                <a:ea typeface="Aptos"/>
                <a:cs typeface="Aptos"/>
              </a:rPr>
              <a:t>The curve is non-monotonic, and only 5 of 11 sectors have positive mean IC.</a:t>
            </a:r>
          </a:p>
        </p:txBody>
      </p:sp>
    </p:spTree>
    <p:extLst>
      <p:ext uri="{BB962C8B-B14F-4D97-AF65-F5344CB8AC3E}">
        <p14:creationId xmlns:p14="http://schemas.microsoft.com/office/powerpoint/2010/main" val="7167136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-5">
            <a:extLst xmlns:a="http://schemas.openxmlformats.org/drawingml/2006/main">
              <a:ext uri="{FF2B5EF4-FFF2-40B4-BE49-F238E27FC236}">
                <a16:creationId xmlns:a16="http://schemas.microsoft.com/office/drawing/2014/main" id="{EFE127DC-2C41-412C-BD37-A872DE5D4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23850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73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Positive-month breadth is real—but too small and non-monotonic</a:t>
            </a:r>
          </a:p>
        </p:txBody>
      </p:sp>
      <p:sp>
        <p:nvSpPr>
          <p:cNvPr id="2" name="page-5">
            <a:extLst xmlns:a="http://schemas.openxmlformats.org/drawingml/2006/main">
              <a:ext uri="{FF2B5EF4-FFF2-40B4-BE49-F238E27FC236}">
                <a16:creationId xmlns:a16="http://schemas.microsoft.com/office/drawing/2014/main" id="{DA6DAF80-E179-46E8-9C81-EAE77FA37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67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6670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476250" y="1381125"/>
          <a:ext xmlns:a="http://schemas.openxmlformats.org/drawingml/2006/main" cx="6667500" cy="4476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be04f6bd67b4d20"/>
          </a:graphicData>
        </a:graphic>
      </p:graphicFrame>
      <p:sp>
        <p:nvSpPr>
          <p:cNvPr id="4" name="sector-stat">
            <a:extLst xmlns:a="http://schemas.openxmlformats.org/drawingml/2006/main">
              <a:ext uri="{FF2B5EF4-FFF2-40B4-BE49-F238E27FC236}">
                <a16:creationId xmlns:a16="http://schemas.microsoft.com/office/drawing/2014/main" id="{18D7F7F0-4DEC-4827-B057-AA785D5EC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762125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2AA876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2AA876"/>
                </a:solidFill>
                <a:latin typeface="Aptos"/>
                <a:ea typeface="Aptos"/>
                <a:cs typeface="Aptos"/>
              </a:rPr>
              <a:t>9 / 11</a:t>
            </a:r>
          </a:p>
        </p:txBody>
      </p:sp>
      <p:sp>
        <p:nvSpPr>
          <p:cNvPr id="5" name="sector-label">
            <a:extLst xmlns:a="http://schemas.openxmlformats.org/drawingml/2006/main">
              <a:ext uri="{FF2B5EF4-FFF2-40B4-BE49-F238E27FC236}">
                <a16:creationId xmlns:a16="http://schemas.microsoft.com/office/drawing/2014/main" id="{A89DE9D5-FC4B-4EB8-A919-D7C9D5F65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495550"/>
            <a:ext cx="333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sectors with positive mean IC</a:t>
            </a:r>
          </a:p>
        </p:txBody>
      </p:sp>
      <p:sp>
        <p:nvSpPr>
          <p:cNvPr id="6" name="magnitude-stat">
            <a:extLst xmlns:a="http://schemas.openxmlformats.org/drawingml/2006/main">
              <a:ext uri="{FF2B5EF4-FFF2-40B4-BE49-F238E27FC236}">
                <a16:creationId xmlns:a16="http://schemas.microsoft.com/office/drawing/2014/main" id="{B12C34AB-AFEF-4FE0-92C5-288C316B1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524250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5B6670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5B6670"/>
                </a:solidFill>
                <a:latin typeface="Aptos"/>
                <a:ea typeface="Aptos"/>
                <a:cs typeface="Aptos"/>
              </a:rPr>
              <a:t>+0.007</a:t>
            </a:r>
          </a:p>
        </p:txBody>
      </p:sp>
      <p:sp>
        <p:nvSpPr>
          <p:cNvPr id="7" name="magnitude-label">
            <a:extLst xmlns:a="http://schemas.openxmlformats.org/drawingml/2006/main">
              <a:ext uri="{FF2B5EF4-FFF2-40B4-BE49-F238E27FC236}">
                <a16:creationId xmlns:a16="http://schemas.microsoft.com/office/drawing/2014/main" id="{60245CE5-A9A9-4816-B0D0-44BAE43EA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257675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mean IC—economically tiny</a:t>
            </a:r>
          </a:p>
        </p:txBody>
      </p:sp>
      <p:sp>
        <p:nvSpPr>
          <p:cNvPr id="8" name="persist-read">
            <a:extLst xmlns:a="http://schemas.openxmlformats.org/drawingml/2006/main">
              <a:ext uri="{FF2B5EF4-FFF2-40B4-BE49-F238E27FC236}">
                <a16:creationId xmlns:a16="http://schemas.microsoft.com/office/drawing/2014/main" id="{96AC0128-4F61-46A6-8B03-A8E39F37B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905375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67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B6670"/>
                </a:solidFill>
                <a:latin typeface="Aptos"/>
                <a:ea typeface="Aptos"/>
                <a:cs typeface="Aptos"/>
              </a:rPr>
              <a:t>Q2, not Q4, is best. The top decile averages −0.199%.</a:t>
            </a:r>
          </a:p>
        </p:txBody>
      </p:sp>
    </p:spTree>
    <p:extLst>
      <p:ext uri="{BB962C8B-B14F-4D97-AF65-F5344CB8AC3E}">
        <p14:creationId xmlns:p14="http://schemas.microsoft.com/office/powerpoint/2010/main" val="105128407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-6">
            <a:extLst xmlns:a="http://schemas.openxmlformats.org/drawingml/2006/main">
              <a:ext uri="{FF2B5EF4-FFF2-40B4-BE49-F238E27FC236}">
                <a16:creationId xmlns:a16="http://schemas.microsoft.com/office/drawing/2014/main" id="{534FE139-0669-423D-8144-43C4A520D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23850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Trend quality transported with the opposite sign</a:t>
            </a:r>
          </a:p>
        </p:txBody>
      </p:sp>
      <p:sp>
        <p:nvSpPr>
          <p:cNvPr id="2" name="page-6">
            <a:extLst xmlns:a="http://schemas.openxmlformats.org/drawingml/2006/main">
              <a:ext uri="{FF2B5EF4-FFF2-40B4-BE49-F238E27FC236}">
                <a16:creationId xmlns:a16="http://schemas.microsoft.com/office/drawing/2014/main" id="{91845713-1E91-4233-A883-D6F6633B7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67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6670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476250" y="1381125"/>
          <a:ext xmlns:a="http://schemas.openxmlformats.org/drawingml/2006/main" cx="6667500" cy="4476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716f66b07ef4f3d"/>
          </a:graphicData>
        </a:graphic>
      </p:graphicFrame>
      <p:sp>
        <p:nvSpPr>
          <p:cNvPr id="4" name="spread-stat">
            <a:extLst xmlns:a="http://schemas.openxmlformats.org/drawingml/2006/main">
              <a:ext uri="{FF2B5EF4-FFF2-40B4-BE49-F238E27FC236}">
                <a16:creationId xmlns:a16="http://schemas.microsoft.com/office/drawing/2014/main" id="{0CB2A332-2418-42AE-A976-6B1085690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809750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D1495B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D1495B"/>
                </a:solidFill>
                <a:latin typeface="Aptos"/>
                <a:ea typeface="Aptos"/>
                <a:cs typeface="Aptos"/>
              </a:rPr>
              <a:t>−0.944 pp</a:t>
            </a:r>
          </a:p>
        </p:txBody>
      </p:sp>
      <p:sp>
        <p:nvSpPr>
          <p:cNvPr id="5" name="spread-label">
            <a:extLst xmlns:a="http://schemas.openxmlformats.org/drawingml/2006/main">
              <a:ext uri="{FF2B5EF4-FFF2-40B4-BE49-F238E27FC236}">
                <a16:creationId xmlns:a16="http://schemas.microsoft.com/office/drawing/2014/main" id="{1FDCBAB4-921F-44D5-86BF-3E533D098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524125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Q4 minus Q1</a:t>
            </a:r>
          </a:p>
        </p:txBody>
      </p:sp>
      <p:sp>
        <p:nvSpPr>
          <p:cNvPr id="6" name="time-stat">
            <a:extLst xmlns:a="http://schemas.openxmlformats.org/drawingml/2006/main">
              <a:ext uri="{FF2B5EF4-FFF2-40B4-BE49-F238E27FC236}">
                <a16:creationId xmlns:a16="http://schemas.microsoft.com/office/drawing/2014/main" id="{107CED91-7167-4934-B095-FFAA571E4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571875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D1495B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D1495B"/>
                </a:solidFill>
                <a:latin typeface="Aptos"/>
                <a:ea typeface="Aptos"/>
                <a:cs typeface="Aptos"/>
              </a:rPr>
              <a:t>8 / 11</a:t>
            </a:r>
          </a:p>
        </p:txBody>
      </p:sp>
      <p:sp>
        <p:nvSpPr>
          <p:cNvPr id="7" name="time-label">
            <a:extLst xmlns:a="http://schemas.openxmlformats.org/drawingml/2006/main">
              <a:ext uri="{FF2B5EF4-FFF2-40B4-BE49-F238E27FC236}">
                <a16:creationId xmlns:a16="http://schemas.microsoft.com/office/drawing/2014/main" id="{D79901B8-7E9A-4337-A97A-BC26F3EDB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28625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quarters with negative spread</a:t>
            </a:r>
          </a:p>
        </p:txBody>
      </p:sp>
      <p:sp>
        <p:nvSpPr>
          <p:cNvPr id="8" name="r2-read">
            <a:extLst xmlns:a="http://schemas.openxmlformats.org/drawingml/2006/main">
              <a:ext uri="{FF2B5EF4-FFF2-40B4-BE49-F238E27FC236}">
                <a16:creationId xmlns:a16="http://schemas.microsoft.com/office/drawing/2014/main" id="{B216E46D-01C0-41ED-8828-59E23E335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905375"/>
            <a:ext cx="333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778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67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B6670"/>
                </a:solidFill>
                <a:latin typeface="Aptos"/>
                <a:ea typeface="Aptos"/>
                <a:cs typeface="Aptos"/>
              </a:rPr>
              <a:t>Only 3 of 11 sectors had positive mean IC. This is explanatory—not permission to flip the sign.</a:t>
            </a:r>
          </a:p>
        </p:txBody>
      </p:sp>
    </p:spTree>
    <p:extLst>
      <p:ext uri="{BB962C8B-B14F-4D97-AF65-F5344CB8AC3E}">
        <p14:creationId xmlns:p14="http://schemas.microsoft.com/office/powerpoint/2010/main" val="176853162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-7">
            <a:extLst xmlns:a="http://schemas.openxmlformats.org/drawingml/2006/main">
              <a:ext uri="{FF2B5EF4-FFF2-40B4-BE49-F238E27FC236}">
                <a16:creationId xmlns:a16="http://schemas.microsoft.com/office/drawing/2014/main" id="{F5F96472-8781-49BF-813B-7A42C1AB4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23850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937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Three of four frozen TRAIN directions disagreed with DEVELOPMENT</a:t>
            </a:r>
          </a:p>
        </p:txBody>
      </p:sp>
      <p:sp>
        <p:nvSpPr>
          <p:cNvPr id="2" name="page-7">
            <a:extLst xmlns:a="http://schemas.openxmlformats.org/drawingml/2006/main">
              <a:ext uri="{FF2B5EF4-FFF2-40B4-BE49-F238E27FC236}">
                <a16:creationId xmlns:a16="http://schemas.microsoft.com/office/drawing/2014/main" id="{881E2072-A156-45EB-AF23-0D4D758DC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67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6670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66750" y="1571625"/>
          <a:ext xmlns:a="http://schemas.openxmlformats.org/drawingml/2006/main" cx="10668000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00500"/>
                <a:gridCol w="2190750"/>
                <a:gridCol w="2381250"/>
                <a:gridCol w="2095500"/>
              </a:tblGrid>
              <a:tr h="7239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Feature</a:t>
                      </a:r>
                    </a:p>
                  </a:txBody>
                  <a:tcPr marL="91440" marR="91440" marT="45720" marB="45720">
                    <a:solidFill>
                      <a:srgbClr val="1018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TRAIN coefficient</a:t>
                      </a:r>
                    </a:p>
                  </a:txBody>
                  <a:tcPr marL="91440" marR="91440" marT="45720" marB="45720">
                    <a:solidFill>
                      <a:srgbClr val="1018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DEVELOPMENT IC</a:t>
                      </a:r>
                    </a:p>
                  </a:txBody>
                  <a:tcPr marL="91440" marR="91440" marT="45720" marB="45720">
                    <a:solidFill>
                      <a:srgbClr val="1018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Sign</a:t>
                      </a:r>
                    </a:p>
                  </a:txBody>
                  <a:tcPr marL="91440" marR="91440" marT="45720" marB="45720">
                    <a:solidFill>
                      <a:srgbClr val="101820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200"/>
                        <a:t>Sector momentum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/>
                        <a:t>−0.00492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/>
                        <a:t>+0.00415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/>
                        <a:t>Reversed</a:t>
                      </a:r>
                    </a:p>
                  </a:txBody>
                  <a:tcPr marL="91440" marR="91440" marT="45720" marB="45720"/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200"/>
                        <a:t>Trend R²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/>
                        <a:t>+0.00203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/>
                        <a:t>−0.02195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/>
                        <a:t>Reversed</a:t>
                      </a:r>
                    </a:p>
                  </a:txBody>
                  <a:tcPr marL="91440" marR="91440" marT="45720" marB="45720"/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200"/>
                        <a:t>Recovery from low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/>
                        <a:t>+0.00520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/>
                        <a:t>−0.02029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/>
                        <a:t>Reversed</a:t>
                      </a:r>
                    </a:p>
                  </a:txBody>
                  <a:tcPr marL="91440" marR="91440" marT="45720" marB="45720"/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200"/>
                        <a:t>Positive months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/>
                        <a:t>+0.00019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/>
                        <a:t>+0.00724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/>
                        <a:t>Agreed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4" name="coef-caveat">
            <a:extLst xmlns:a="http://schemas.openxmlformats.org/drawingml/2006/main">
              <a:ext uri="{FF2B5EF4-FFF2-40B4-BE49-F238E27FC236}">
                <a16:creationId xmlns:a16="http://schemas.microsoft.com/office/drawing/2014/main" id="{DEDF0DAA-9AD9-462C-9EC2-CFE3C9C44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2450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454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B6670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B6670"/>
                </a:solidFill>
                <a:latin typeface="Aptos"/>
                <a:ea typeface="Aptos"/>
                <a:cs typeface="Aptos"/>
              </a:rPr>
              <a:t>Coefficients are conditional; ICs are marginal. The comparison is mechanical, but it explains why combining TRAIN relationships made the later ranking worse.</a:t>
            </a:r>
          </a:p>
        </p:txBody>
      </p:sp>
    </p:spTree>
    <p:extLst>
      <p:ext uri="{BB962C8B-B14F-4D97-AF65-F5344CB8AC3E}">
        <p14:creationId xmlns:p14="http://schemas.microsoft.com/office/powerpoint/2010/main" val="200174342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-8">
            <a:extLst xmlns:a="http://schemas.openxmlformats.org/drawingml/2006/main">
              <a:ext uri="{FF2B5EF4-FFF2-40B4-BE49-F238E27FC236}">
                <a16:creationId xmlns:a16="http://schemas.microsoft.com/office/drawing/2014/main" id="{7BD796DC-2F23-4184-AD6F-C89368599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23850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Terminal handling did not create the conclusion</a:t>
            </a:r>
          </a:p>
        </p:txBody>
      </p:sp>
      <p:sp>
        <p:nvSpPr>
          <p:cNvPr id="2" name="page-8">
            <a:extLst xmlns:a="http://schemas.openxmlformats.org/drawingml/2006/main">
              <a:ext uri="{FF2B5EF4-FFF2-40B4-BE49-F238E27FC236}">
                <a16:creationId xmlns:a16="http://schemas.microsoft.com/office/drawing/2014/main" id="{705CF37D-DE79-4B75-B80D-40FE29F22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67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6670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graphicFrame>
        <p:nvGraphicFramePr>
          <p:cNvPr id="8" name="Chart"/>
          <p:cNvGraphicFramePr/>
          <p:nvPr/>
        </p:nvGraphicFramePr>
        <p:xfrm>
          <a:off xmlns:a="http://schemas.openxmlformats.org/drawingml/2006/main" x="476250" y="1428750"/>
          <a:ext xmlns:a="http://schemas.openxmlformats.org/drawingml/2006/main" cx="7239000" cy="4286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f94fe5747cc47ff"/>
          </a:graphicData>
        </a:graphic>
      </p:graphicFrame>
      <p:sp>
        <p:nvSpPr>
          <p:cNvPr id="4" name="sens-head">
            <a:extLst xmlns:a="http://schemas.openxmlformats.org/drawingml/2006/main">
              <a:ext uri="{FF2B5EF4-FFF2-40B4-BE49-F238E27FC236}">
                <a16:creationId xmlns:a16="http://schemas.microsoft.com/office/drawing/2014/main" id="{49B1C0B6-62BC-46D6-9B63-3B13C35B1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05000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516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AA876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2AA876"/>
                </a:solidFill>
                <a:latin typeface="Aptos"/>
                <a:ea typeface="Aptos"/>
                <a:cs typeface="Aptos"/>
              </a:rPr>
              <a:t>Same qualitative answer</a:t>
            </a:r>
          </a:p>
        </p:txBody>
      </p:sp>
      <p:sp>
        <p:nvSpPr>
          <p:cNvPr id="5" name="sens-copy">
            <a:extLst xmlns:a="http://schemas.openxmlformats.org/drawingml/2006/main">
              <a:ext uri="{FF2B5EF4-FFF2-40B4-BE49-F238E27FC236}">
                <a16:creationId xmlns:a16="http://schemas.microsoft.com/office/drawing/2014/main" id="{02F3F120-7C0A-4316-8A87-8506516C4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71750"/>
            <a:ext cx="3143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B6670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5B6670"/>
                </a:solidFill>
                <a:latin typeface="Aptos"/>
                <a:ea typeface="Aptos"/>
                <a:cs typeface="Aptos"/>
              </a:rPr>
              <a:t>All four features retain their signs and broad interpretations when terminal rows are removed. The audit is not a corporate-action artifact.</a:t>
            </a:r>
          </a:p>
        </p:txBody>
      </p:sp>
    </p:spTree>
    <p:extLst>
      <p:ext uri="{BB962C8B-B14F-4D97-AF65-F5344CB8AC3E}">
        <p14:creationId xmlns:p14="http://schemas.microsoft.com/office/powerpoint/2010/main" val="72809610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decision">
            <a:extLst xmlns:a="http://schemas.openxmlformats.org/drawingml/2006/main">
              <a:ext uri="{FF2B5EF4-FFF2-40B4-BE49-F238E27FC236}">
                <a16:creationId xmlns:a16="http://schemas.microsoft.com/office/drawing/2014/main" id="{3249F138-5A4F-437D-94B8-C3CA70194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000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979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2979FF"/>
                </a:solidFill>
                <a:latin typeface="Aptos"/>
                <a:ea typeface="Aptos"/>
                <a:cs typeface="Aptos"/>
              </a:rPr>
              <a:t>DECISION</a:t>
            </a:r>
          </a:p>
        </p:txBody>
      </p:sp>
      <p:sp>
        <p:nvSpPr>
          <p:cNvPr id="2" name="close">
            <a:extLst xmlns:a="http://schemas.openxmlformats.org/drawingml/2006/main">
              <a:ext uri="{FF2B5EF4-FFF2-40B4-BE49-F238E27FC236}">
                <a16:creationId xmlns:a16="http://schemas.microsoft.com/office/drawing/2014/main" id="{2ED5A3F5-854A-4508-BC9F-A69E9AD30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19250"/>
            <a:ext cx="10001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510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No feature earns a fresh confirmation run yet</a:t>
            </a:r>
          </a:p>
        </p:txBody>
      </p:sp>
      <p:sp>
        <p:nvSpPr>
          <p:cNvPr id="3" name="close-copy">
            <a:extLst xmlns:a="http://schemas.openxmlformats.org/drawingml/2006/main">
              <a:ext uri="{FF2B5EF4-FFF2-40B4-BE49-F238E27FC236}">
                <a16:creationId xmlns:a16="http://schemas.microsoft.com/office/drawing/2014/main" id="{B7A8A2F1-68F5-42E1-A50D-D71930BAB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524375"/>
            <a:ext cx="9620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B6670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5B6670"/>
                </a:solidFill>
                <a:latin typeface="Aptos"/>
                <a:ea typeface="Aptos"/>
                <a:cs typeface="Aptos"/>
              </a:rPr>
              <a:t>Preserve H04.3B's STOP. The next discussion is whether inverse trend quality has enough theory to become a new minimal hypothesis—or whether to set this supervised branch down.</a:t>
            </a:r>
          </a:p>
        </p:txBody>
      </p:sp>
      <p:sp>
        <p:nvSpPr>
          <p:cNvPr id="4" name="status">
            <a:extLst xmlns:a="http://schemas.openxmlformats.org/drawingml/2006/main">
              <a:ext uri="{FF2B5EF4-FFF2-40B4-BE49-F238E27FC236}">
                <a16:creationId xmlns:a16="http://schemas.microsoft.com/office/drawing/2014/main" id="{9D242F40-99F4-4431-A531-05AACC308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0960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1495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D1495B"/>
                </a:solidFill>
                <a:latin typeface="Aptos"/>
                <a:ea typeface="Aptos"/>
                <a:cs typeface="Aptos"/>
              </a:rPr>
              <a:t>FEATURE_TRANSPORT_AUDIT_COMPLETE_NO_PROMOTION_AUTHORITY</a:t>
            </a:r>
          </a:p>
        </p:txBody>
      </p:sp>
    </p:spTree>
    <p:extLst>
      <p:ext uri="{BB962C8B-B14F-4D97-AF65-F5344CB8AC3E}">
        <p14:creationId xmlns:p14="http://schemas.microsoft.com/office/powerpoint/2010/main" val="50239168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2026-08-12T05:06:12.9730000Z</dcterms:created>
  <dcterms:modified xsi:type="dcterms:W3CDTF">2026-08-12T05:06:12.9730000Z</dcterms:modified>
</coreProperties>
</file>