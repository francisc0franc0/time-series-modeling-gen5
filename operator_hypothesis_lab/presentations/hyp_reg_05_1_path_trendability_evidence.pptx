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02fc1797104792" /><Relationship Type="http://schemas.openxmlformats.org/officeDocument/2006/relationships/extended-properties" Target="/docProps/app.xml" Id="Rc04c0d97d60742ae" /><Relationship Type="http://schemas.openxmlformats.org/officeDocument/2006/relationships/officeDocument" Target="/ppt/presentation.xml" Id="R528415a297874928" /></Relationships>
</file>

<file path=ppt/presentation.xml><?xml version="1.0" encoding="utf-8"?>
<p:presentation xmlns:p="http://schemas.openxmlformats.org/presentationml/2006/main">
  <p:sldMasterIdLst>
    <p:sldMasterId xmlns:r="http://schemas.openxmlformats.org/officeDocument/2006/relationships" id="2147483648" r:id="R34e01c2dcfa84e64"/>
  </p:sldMasterIdLst>
  <p:notesMasterIdLst>
    <p:notesMasterId xmlns:r="http://schemas.openxmlformats.org/officeDocument/2006/relationships" r:id="R146455427f4d45f1"/>
  </p:notesMasterIdLst>
  <p:sldIdLst>
    <p:sldId xmlns:r="http://schemas.openxmlformats.org/officeDocument/2006/relationships" id="256" r:id="R49fa0baaf07d45d0"/>
    <p:sldId xmlns:r="http://schemas.openxmlformats.org/officeDocument/2006/relationships" id="257" r:id="R38ee2159a47043e5"/>
    <p:sldId xmlns:r="http://schemas.openxmlformats.org/officeDocument/2006/relationships" id="258" r:id="Rc964b67aa9c5493b"/>
    <p:sldId xmlns:r="http://schemas.openxmlformats.org/officeDocument/2006/relationships" id="259" r:id="Rd3766ac168724f35"/>
    <p:sldId xmlns:r="http://schemas.openxmlformats.org/officeDocument/2006/relationships" id="260" r:id="R2ca52f18eafe4325"/>
    <p:sldId xmlns:r="http://schemas.openxmlformats.org/officeDocument/2006/relationships" id="261" r:id="R5c187383336a4d52"/>
    <p:sldId xmlns:r="http://schemas.openxmlformats.org/officeDocument/2006/relationships" id="262" r:id="R4dd517869cde407c"/>
    <p:sldId xmlns:r="http://schemas.openxmlformats.org/officeDocument/2006/relationships" id="263" r:id="R276d0a015c214656"/>
    <p:sldId xmlns:r="http://schemas.openxmlformats.org/officeDocument/2006/relationships" id="264" r:id="R12fed634bf484f24"/>
    <p:sldId xmlns:r="http://schemas.openxmlformats.org/officeDocument/2006/relationships" id="265" r:id="R1790348a308e40ac"/>
    <p:sldId xmlns:r="http://schemas.openxmlformats.org/officeDocument/2006/relationships" id="266" r:id="R5326ccfd7a804429"/>
    <p:sldId xmlns:r="http://schemas.openxmlformats.org/officeDocument/2006/relationships" id="267" r:id="Rc0a51ff7129f4a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0dc6f8a9f24a87" /><Relationship Type="http://schemas.openxmlformats.org/officeDocument/2006/relationships/slideMaster" Target="/ppt/slideMasters/slideMaster1.xml" Id="R34e01c2dcfa84e64" /><Relationship Type="http://schemas.openxmlformats.org/officeDocument/2006/relationships/notesMaster" Target="/ppt/notesMasters/notesMaster1.xml" Id="R146455427f4d45f1" /><Relationship Type="http://schemas.openxmlformats.org/officeDocument/2006/relationships/presProps" Target="/ppt/presProps.xml" Id="Rf4b18d3856974ea7" /><Relationship Type="http://schemas.openxmlformats.org/officeDocument/2006/relationships/tableStyles" Target="/ppt/tableStyles.xml" Id="R4184914ef2134f12" /><Relationship Type="http://schemas.openxmlformats.org/officeDocument/2006/relationships/slide" Target="/ppt/slides/slide1.xml" Id="R49fa0baaf07d45d0" /><Relationship Type="http://schemas.openxmlformats.org/officeDocument/2006/relationships/slide" Target="/ppt/slides/slide2.xml" Id="R38ee2159a47043e5" /><Relationship Type="http://schemas.openxmlformats.org/officeDocument/2006/relationships/slide" Target="/ppt/slides/slide3.xml" Id="Rc964b67aa9c5493b" /><Relationship Type="http://schemas.openxmlformats.org/officeDocument/2006/relationships/slide" Target="/ppt/slides/slide4.xml" Id="Rd3766ac168724f35" /><Relationship Type="http://schemas.openxmlformats.org/officeDocument/2006/relationships/slide" Target="/ppt/slides/slide5.xml" Id="R2ca52f18eafe4325" /><Relationship Type="http://schemas.openxmlformats.org/officeDocument/2006/relationships/slide" Target="/ppt/slides/slide6.xml" Id="R5c187383336a4d52" /><Relationship Type="http://schemas.openxmlformats.org/officeDocument/2006/relationships/slide" Target="/ppt/slides/slide7.xml" Id="R4dd517869cde407c" /><Relationship Type="http://schemas.openxmlformats.org/officeDocument/2006/relationships/slide" Target="/ppt/slides/slide8.xml" Id="R276d0a015c214656" /><Relationship Type="http://schemas.openxmlformats.org/officeDocument/2006/relationships/slide" Target="/ppt/slides/slide9.xml" Id="R12fed634bf484f24" /><Relationship Type="http://schemas.openxmlformats.org/officeDocument/2006/relationships/slide" Target="/ppt/slides/slide10.xml" Id="R1790348a308e40ac" /><Relationship Type="http://schemas.openxmlformats.org/officeDocument/2006/relationships/slide" Target="/ppt/slides/slide11.xml" Id="R5326ccfd7a804429" /><Relationship Type="http://schemas.openxmlformats.org/officeDocument/2006/relationships/slide" Target="/ppt/slides/slide12.xml" Id="Rc0a51ff7129f4a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4f7ed757d945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4b67c5f3cd46a5" /><Relationship Type="http://schemas.openxmlformats.org/officeDocument/2006/relationships/notesMaster" Target="/ppt/notesMasters/notesMaster1.xml" Id="R51e5e8927d4e40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65a6f29d5a47e4" /><Relationship Type="http://schemas.openxmlformats.org/officeDocument/2006/relationships/notesMaster" Target="/ppt/notesMasters/notesMaster1.xml" Id="R271a8a84532c44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27a9c4b2a44b37" /><Relationship Type="http://schemas.openxmlformats.org/officeDocument/2006/relationships/notesMaster" Target="/ppt/notesMasters/notesMaster1.xml" Id="Ra6f5e02b799341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658a71499b421f" /><Relationship Type="http://schemas.openxmlformats.org/officeDocument/2006/relationships/notesMaster" Target="/ppt/notesMasters/notesMaster1.xml" Id="Ra4c2733ac4bb4b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fbbec6d3544a64" /><Relationship Type="http://schemas.openxmlformats.org/officeDocument/2006/relationships/notesMaster" Target="/ppt/notesMasters/notesMaster1.xml" Id="R900b60d231a54c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d367892e0c400a" /><Relationship Type="http://schemas.openxmlformats.org/officeDocument/2006/relationships/notesMaster" Target="/ppt/notesMasters/notesMaster1.xml" Id="R2b4623fa298c4a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ed54ed78fe4ee6" /><Relationship Type="http://schemas.openxmlformats.org/officeDocument/2006/relationships/notesMaster" Target="/ppt/notesMasters/notesMaster1.xml" Id="R9d1a36942d274b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e31da9b04c40e8" /><Relationship Type="http://schemas.openxmlformats.org/officeDocument/2006/relationships/notesMaster" Target="/ppt/notesMasters/notesMaster1.xml" Id="Rcfcd485c83ac4e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21ad42bb3242ff" /><Relationship Type="http://schemas.openxmlformats.org/officeDocument/2006/relationships/notesMaster" Target="/ppt/notesMasters/notesMaster1.xml" Id="R2e5385d6754347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b46d81c8ed46cb" /><Relationship Type="http://schemas.openxmlformats.org/officeDocument/2006/relationships/notesMaster" Target="/ppt/notesMasters/notesMaster1.xml" Id="R265fa82499a24f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98234a69b6408c" /><Relationship Type="http://schemas.openxmlformats.org/officeDocument/2006/relationships/notesMaster" Target="/ppt/notesMasters/notesMaster1.xml" Id="R1e1bfcde56fc41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da8f3dd23d4f46" /><Relationship Type="http://schemas.openxmlformats.org/officeDocument/2006/relationships/notesMaster" Target="/ppt/notesMasters/notesMaster1.xml" Id="R00211ce2016442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distinction. ADX produced coherent historical states, and ER contained a small direction-survival clue. The frozen question was harder: do these measurements predict a straighter next-open future path? They did not.</a:t>
            </a:r>
          </a:p>
          <a:p xmlns:a="http://schemas.openxmlformats.org/drawingml/2006/main">
            <a:r>
              <a:t/>
            </a:r>
          </a:p>
          <a:p xmlns:a="http://schemas.openxmlformats.org/drawingml/2006/main">
            <a:r>
              <a:t>[Sources]</a:t>
            </a:r>
          </a:p>
          <a:p xmlns:a="http://schemas.openxmlformats.org/drawingml/2006/main">
            <a:r>
              <a:t>- docs/GEN5_HYP_REG_05_1_PATH_TRENDABILITY_DIAGNOSTIC_CONTRACT.md</a:t>
            </a:r>
          </a:p>
          <a:p xmlns:a="http://schemas.openxmlformats.org/drawingml/2006/main">
            <a:r>
              <a:t>- operator_hypothesis_lab/docs/HYP_REG_05_1_PATH_TRENDABILITY_RESULTS.md</a:t>
            </a:r>
          </a:p>
          <a:p xmlns:a="http://schemas.openxmlformats.org/drawingml/2006/main">
            <a:r>
              <a:t>- C:/Users/Franc/OneDrive/Documents/Francis/Peltata Project/Time-Series-Modeling-Gen5/runs/research_workbench/operator_hypothesis_lab/hyp_reg_05_1_path_trendability_20260815/hyp_reg_05_1_candidate_decision.csv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lane is orthogonal to signed direction. Volatility measures amplitude; direction measures sign; trendability measures path geometry. The ATR% join was explicitly conditional on passing the standalone diagnostic and therefore was not run.</a:t>
            </a:r>
          </a:p>
          <a:p xmlns:a="http://schemas.openxmlformats.org/drawingml/2006/main">
            <a:r>
              <a:t/>
            </a:r>
          </a:p>
          <a:p xmlns:a="http://schemas.openxmlformats.org/drawingml/2006/main">
            <a:r>
              <a:t>[Sources]</a:t>
            </a:r>
          </a:p>
          <a:p xmlns:a="http://schemas.openxmlformats.org/drawingml/2006/main">
            <a:r>
              <a:t>- docs/GEN5_4_DECISION_DIALOGUE_INDEX.md#d134</a:t>
            </a:r>
          </a:p>
          <a:p xmlns:a="http://schemas.openxmlformats.org/drawingml/2006/main">
            <a:r>
              <a:t>- docs/GEN5_HYP_REG_05_1_PATH_TRENDABILITY_DIAGNOSTIC_CONTRACT.md</a:t>
            </a:r>
          </a:p>
          <a:p xmlns:a="http://schemas.openxmlformats.org/drawingml/2006/main">
            <a:r>
              <a:t>- operator_hypothesis_lab/docs/HYP_REG_01_1_ATR_PERCENT_VOLATILITY_RESULTS.md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ER as a route-efficiency ratio. It is bounded between zero and one in ordinary use. The experiment did not use a universal raw ER threshold; it converted ER to an asset-relative percentile from prior observations so the state meaning could travel across assets.</a:t>
            </a:r>
          </a:p>
          <a:p xmlns:a="http://schemas.openxmlformats.org/drawingml/2006/main">
            <a:r>
              <a:t/>
            </a:r>
          </a:p>
          <a:p xmlns:a="http://schemas.openxmlformats.org/drawingml/2006/main">
            <a:r>
              <a:t>[Sources]</a:t>
            </a:r>
          </a:p>
          <a:p xmlns:a="http://schemas.openxmlformats.org/drawingml/2006/main">
            <a:r>
              <a:t>- https://onlinelibrary.wiley.com/doi/book/10.1002/9781119202561</a:t>
            </a:r>
          </a:p>
          <a:p xmlns:a="http://schemas.openxmlformats.org/drawingml/2006/main">
            <a:r>
              <a:t>- docs/GEN5_HYP_REG_05_1_PATH_TRENDABILITY_DIAGNOSTIC_CONTRACT.md</a:t>
            </a:r>
          </a:p>
          <a:p xmlns:a="http://schemas.openxmlformats.org/drawingml/2006/main">
            <a:r>
              <a:t>- operator_hypothesis_lab/registries/hyp_reg_05_1_path_trendability_registry.csv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ADX belongs to Wilder's directional movement system. +DI and -DI encode directional movement; ADX smooths their absolute separation, so it deliberately discards sign. That makes it a sensible benchmark for trend strength, while also explaining its lag risk.</a:t>
            </a:r>
          </a:p>
          <a:p xmlns:a="http://schemas.openxmlformats.org/drawingml/2006/main">
            <a:r>
              <a:t/>
            </a:r>
          </a:p>
          <a:p xmlns:a="http://schemas.openxmlformats.org/drawingml/2006/main">
            <a:r>
              <a:t>[Sources]</a:t>
            </a:r>
          </a:p>
          <a:p xmlns:a="http://schemas.openxmlformats.org/drawingml/2006/main">
            <a:r>
              <a:t>- https://books.google.com/books/about/New_Concepts_in_Technical_Trading_System.html?id=WesJAQAAMAAJ</a:t>
            </a:r>
          </a:p>
          <a:p xmlns:a="http://schemas.openxmlformats.org/drawingml/2006/main">
            <a:r>
              <a:t>- docs/GEN5_HYP_REG_05_1_PATH_TRENDABILITY_DIAGNOSTIC_CONTRACT.md</a:t>
            </a:r>
          </a:p>
          <a:p xmlns:a="http://schemas.openxmlformats.org/drawingml/2006/main">
            <a:r>
              <a:t>- operator_hypothesis_lab/registries/hyp_reg_05_1_path_trendability_registry.csv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future target starts at the next open, so neither the ER close nor the ADX close is inside the measured future path. H10 is primary, H5 tests onset, and H20 tests durability. Direction survival and turn rate verify that a favorable result means what trendability should mean.</a:t>
            </a:r>
          </a:p>
          <a:p xmlns:a="http://schemas.openxmlformats.org/drawingml/2006/main">
            <a:r>
              <a:t/>
            </a:r>
          </a:p>
          <a:p xmlns:a="http://schemas.openxmlformats.org/drawingml/2006/main">
            <a:r>
              <a:t>[Sources]</a:t>
            </a:r>
          </a:p>
          <a:p xmlns:a="http://schemas.openxmlformats.org/drawingml/2006/main">
            <a:r>
              <a:t>- docs/GEN5_HYP_REG_05_1_PATH_TRENDABILITY_DIAGNOSTIC_CONTRACT.md</a:t>
            </a:r>
          </a:p>
          <a:p xmlns:a="http://schemas.openxmlformats.org/drawingml/2006/main">
            <a:r>
              <a:t>- C:/Users/Franc/OneDrive/Documents/Francis/Peltata Project/Time-Series-Modeling-Gen5/runs/research_workbench/operator_hypothesis_lab/hyp_reg_05_1_path_trendability_20260815/hyp_reg_05_1_run_spec.csv</a:t>
            </a:r>
          </a:p>
          <a:p xmlns:a="http://schemas.openxmlformats.org/drawingml/2006/main">
            <a:r>
              <a:t>- C:/Users/Franc/OneDrive/Documents/Francis/Peltata Project/Time-Series-Modeling-Gen5/runs/research_workbench/operator_hypothesis_lab/hyp_reg_05_1_path_trendability_20260815/hyp_reg_05_1_gates.csv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headline test is deliberately simple: within each asset, does a higher prior-relative indicator percentile accompany higher future path efficiency? The median relationship was negative for both candidates, and the HIGH states were slightly less efficient than LOW at H10.</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Project/Time-Series-Modeling-Gen5/runs/research_workbench/operator_hypothesis_lab/hyp_reg_05_1_path_trendability_20260815/hyp_reg_05_1_panel_summary.csv</a:t>
            </a:r>
          </a:p>
          <a:p xmlns:a="http://schemas.openxmlformats.org/drawingml/2006/main">
            <a:r>
              <a:t>- C:/Users/Franc/OneDrive/Documents/Francis/Peltata Project/Time-Series-Modeling-Gen5/runs/research_workbench/operator_hypothesis_lab/hyp_reg_05_1_path_trendability_20260815/hyp_reg_05_1_candidate_decision.csv</a:t>
            </a:r>
          </a:p>
          <a:p xmlns:a="http://schemas.openxmlformats.org/drawingml/2006/main">
            <a:r>
              <a:t>- operator_hypothesis_lab/docs/HYP_REG_05_1_PATH_TRENDABILITY_RESULTS.md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interesting result to retain. HIGH ER states were more likely to preserve their initial future direction, and that gap was broad across assets. But the same paths were not more efficient, offset timing failed, and turn-rate improvement was small. Sign persistence and path smoothness are related but not interchangeable.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Project/Time-Series-Modeling-Gen5/runs/research_workbench/operator_hypothesis_lab/hyp_reg_05_1_path_trendability_20260815/hyp_reg_05_1_state_summary.csv</a:t>
            </a:r>
          </a:p>
          <a:p xmlns:a="http://schemas.openxmlformats.org/drawingml/2006/main">
            <a:r>
              <a:t>- C:/Users/Franc/OneDrive/Documents/Francis/Peltata Project/Time-Series-Modeling-Gen5/runs/research_workbench/operator_hypothesis_lab/hyp_reg_05_1_path_trendability_20260815/hyp_reg_05_1_asset_summary.csv</a:t>
            </a:r>
          </a:p>
          <a:p xmlns:a="http://schemas.openxmlformats.org/drawingml/2006/main">
            <a:r>
              <a:t>- operator_hypothesis_lab/docs/HYP_REG_05_1_PATH_TRENDABILITY_RESULTS.md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asset view prevents one pooled series from hiding heterogeneous behavior. The offset view asks whether the result depends on the arbitrary starting point of a horizon-spaced sample. Neither candidate had a single H10 offset with both positive median rho and a HIGH/LOW ratio above one.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Project/Time-Series-Modeling-Gen5/runs/research_workbench/operator_hypothesis_lab/hyp_reg_05_1_path_trendability_20260815/hyp_reg_05_1_asset_summary.csv</a:t>
            </a:r>
          </a:p>
          <a:p xmlns:a="http://schemas.openxmlformats.org/drawingml/2006/main">
            <a:r>
              <a:t>- C:/Users/Franc/OneDrive/Documents/Francis/Peltata Project/Time-Series-Modeling-Gen5/runs/research_workbench/operator_hypothesis_lab/hyp_reg_05_1_path_trendability_20260815/hyp_reg_05_1_offset_summary.csv</a:t>
            </a:r>
          </a:p>
          <a:p xmlns:a="http://schemas.openxmlformats.org/drawingml/2006/main">
            <a:r>
              <a:t>- operator_hypothesis_lab/docs/HYP_REG_05_1_PATH_TRENDABILITY_RESULTS.md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Circular controls shift the indicator within each asset and year, preserving the calendar distribution while breaking exact timing. For a forward trendability hypothesis, a good signal should rank near the top. ER and ADX ranked near the bottom instead; both temporal halves were also unfavorable.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Project/Time-Series-Modeling-Gen5/runs/research_workbench/operator_hypothesis_lab/hyp_reg_05_1_path_trendability_20260815/hyp_reg_05_1_temporal_summary.csv</a:t>
            </a:r>
          </a:p>
          <a:p xmlns:a="http://schemas.openxmlformats.org/drawingml/2006/main">
            <a:r>
              <a:t>- C:/Users/Franc/OneDrive/Documents/Francis/Peltata Project/Time-Series-Modeling-Gen5/runs/research_workbench/operator_hypothesis_lab/hyp_reg_05_1_path_trendability_20260815/hyp_reg_05_1_calendar_summary.csv</a:t>
            </a:r>
          </a:p>
          <a:p xmlns:a="http://schemas.openxmlformats.org/drawingml/2006/main">
            <a:r>
              <a:t>- C:/Users/Franc/OneDrive/Documents/Francis/Peltata Project/Time-Series-Modeling-Gen5/runs/research_workbench/operator_hypothesis_lab/hyp_reg_05_1_path_trendability_20260815/hyp_reg_05_1_circular_readout.csv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ADX alone passed the state-usability gate: balanced occupancy, about fourteen switches per year, an 11.5-session median run, and no one-session reversals. ER states changed about four times as often. Those operational differences do not reverse the failed predictive evidence.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Project/Time-Series-Modeling-Gen5/runs/research_workbench/operator_hypothesis_lab/hyp_reg_05_1_path_trendability_20260815/hyp_reg_05_1_state_diagnostics.csv</a:t>
            </a:r>
          </a:p>
          <a:p xmlns:a="http://schemas.openxmlformats.org/drawingml/2006/main">
            <a:r>
              <a:t>- operator_hypothesis_lab/docs/HYP_REG_05_1_PATH_TRENDABILITY_RESULTS.md</a:t>
            </a:r>
          </a:p>
          <a:p xmlns:a="http://schemas.openxmlformats.org/drawingml/2006/main">
            <a:r>
              <a:t>- https://books.google.com/books/about/New_Concepts_in_Technical_Trading_System.html?id=WesJAQAAMAAJ</a:t>
            </a:r>
          </a:p>
          <a:p xmlns:a="http://schemas.openxmlformats.org/drawingml/2006/main">
            <a:r>
              <a:t>- https://onlinelibrary.wiley.com/doi/book/10.1002/9781119202561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tapes are deliberately mixed rather than cherry-picked winners. JPM shows a high-ER continuation; AXP shows a high-ER/high-ADX breakdown; AMD shows low-ER chop; JNJ shows strong disagreement between ER and ADX. The vertical line is the signal close and the future target begins next open.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Project/Time-Series-Modeling-Gen5/runs/research_workbench/operator_hypothesis_lab/hyp_reg_05_1_path_trendability_20260815/hyp_reg_05_1_representative_paths.csv</a:t>
            </a:r>
          </a:p>
          <a:p xmlns:a="http://schemas.openxmlformats.org/drawingml/2006/main">
            <a:r>
              <a:t>- operator_hypothesis_lab/docs/HYP_REG_05_1_PATH_TRENDABILITY_RESULTS.md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research boundary. The specification failed, but the exercise clarified two useful dimensions: ADX state stability and ER sign persistence. Neither is strategy authority. A variance-ratio diagnostic would require a new frozen lane because it asks a distinct question about return dependence across scales.</a:t>
            </a:r>
          </a:p>
          <a:p xmlns:a="http://schemas.openxmlformats.org/drawingml/2006/main">
            <a:r>
              <a:t/>
            </a:r>
          </a:p>
          <a:p xmlns:a="http://schemas.openxmlformats.org/drawingml/2006/main">
            <a:r>
              <a:t>[Sources]</a:t>
            </a:r>
          </a:p>
          <a:p xmlns:a="http://schemas.openxmlformats.org/drawingml/2006/main">
            <a:r>
              <a:t>- operator_hypothesis_lab/docs/HYP_REG_05_1_PATH_TRENDABILITY_RESULTS.md</a:t>
            </a:r>
          </a:p>
          <a:p xmlns:a="http://schemas.openxmlformats.org/drawingml/2006/main">
            <a:r>
              <a:t>- docs/GEN5_HYP_REG_05_1_PATH_TRENDABILITY_DIAGNOSTIC_CONTRACT.md</a:t>
            </a:r>
          </a:p>
          <a:p xmlns:a="http://schemas.openxmlformats.org/drawingml/2006/main">
            <a:r>
              <a:t>- docs/GEN5_4_DECISION_DIALOGUE_INDEX.md#d134</a:t>
            </a:r>
          </a:p>
          <a:p xmlns:a="http://schemas.openxmlformats.org/drawingml/2006/main">
            <a:r>
              <a:t>- https://web.mit.edu/Alo/www/Papers/lo-mackinlay-89.html</a:t>
            </a:r>
          </a:p>
          <a:p xmlns:a="http://schemas.openxmlformats.org/drawingml/2006/main">
            <a:r>
              <a:t>- C:/Users/Franc/OneDrive/Documents/Francis/Peltata Project/Time-Series-Modeling-Gen5/runs/research_workbench/operator_hypothesis_lab/hyp_reg_05_1_path_trendability_20260815/hyp_reg_05_1_gates.csv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d33f702bd646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8822e129ba47ba" /><Relationship Type="http://schemas.openxmlformats.org/officeDocument/2006/relationships/slideLayout" Target="/ppt/slideLayouts/slideLayout1.xml" Id="R2634ece339d043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34ece339d043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4c195ae87b4347" /><Relationship Type="http://schemas.openxmlformats.org/officeDocument/2006/relationships/image" Target="/ppt/media/image.png" Id="R4775c33b9a8b4d49" /><Relationship Type="http://schemas.openxmlformats.org/officeDocument/2006/relationships/notesSlide" Target="/ppt/notesSlides/notesSlide1.xml" Id="R850ae3a26b2146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1af9635e2841a1" /><Relationship Type="http://schemas.openxmlformats.org/officeDocument/2006/relationships/notesSlide" Target="/ppt/notesSlides/notesSlide2.xml" Id="R601d70ff829f4e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a4e80dc1f848b0" /><Relationship Type="http://schemas.openxmlformats.org/officeDocument/2006/relationships/notesSlide" Target="/ppt/notesSlides/notesSlide3.xml" Id="Rd8a1c89c4c1e4e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61cefbca53436c" /><Relationship Type="http://schemas.openxmlformats.org/officeDocument/2006/relationships/notesSlide" Target="/ppt/notesSlides/notesSlide4.xml" Id="R6d0f9151fb034a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00e7f0e22d4b5a" /><Relationship Type="http://schemas.openxmlformats.org/officeDocument/2006/relationships/notesSlide" Target="/ppt/notesSlides/notesSlide5.xml" Id="Rba8a4a8621b042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b67d02138a4a04" /><Relationship Type="http://schemas.openxmlformats.org/officeDocument/2006/relationships/notesSlide" Target="/ppt/notesSlides/notesSlide6.xml" Id="Rf6fdb3b0b45242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63498b9ea84290" /><Relationship Type="http://schemas.openxmlformats.org/officeDocument/2006/relationships/image" Target="/ppt/media/image2.png" Id="R781a94c79c8d486a" /><Relationship Type="http://schemas.openxmlformats.org/officeDocument/2006/relationships/notesSlide" Target="/ppt/notesSlides/notesSlide7.xml" Id="R980f70d107034f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b1afcffe4b2420e" /><Relationship Type="http://schemas.openxmlformats.org/officeDocument/2006/relationships/image" Target="/ppt/media/image3.png" Id="R06c95b9ecdb74cd1" /><Relationship Type="http://schemas.openxmlformats.org/officeDocument/2006/relationships/image" Target="/ppt/media/image4.png" Id="R9f7e1cf7b8c743ba" /><Relationship Type="http://schemas.openxmlformats.org/officeDocument/2006/relationships/notesSlide" Target="/ppt/notesSlides/notesSlide8.xml" Id="Rdbd480daca6245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2b085e477a4cb1" /><Relationship Type="http://schemas.openxmlformats.org/officeDocument/2006/relationships/image" Target="/ppt/media/image5.png" Id="Re11ecbbddde949a4" /><Relationship Type="http://schemas.openxmlformats.org/officeDocument/2006/relationships/notesSlide" Target="/ppt/notesSlides/notesSlide9.xml" Id="R4a8ca586d0444c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374b047af54bdf" /><Relationship Type="http://schemas.openxmlformats.org/officeDocument/2006/relationships/image" Target="/ppt/media/image6.png" Id="Rc5135b5291f8492b" /><Relationship Type="http://schemas.openxmlformats.org/officeDocument/2006/relationships/notesSlide" Target="/ppt/notesSlides/notesSlide10.xml" Id="R0e4796adc2cc43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c1a91650944fe1" /><Relationship Type="http://schemas.openxmlformats.org/officeDocument/2006/relationships/image" Target="/ppt/media/image7.png" Id="R77393dd679894b77" /><Relationship Type="http://schemas.openxmlformats.org/officeDocument/2006/relationships/notesSlide" Target="/ppt/notesSlides/notesSlide11.xml" Id="R65e44b2792b843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2445c0f3e14cd3" /><Relationship Type="http://schemas.openxmlformats.org/officeDocument/2006/relationships/notesSlide" Target="/ppt/notesSlides/notesSlide12.xml" Id="R0213560e4f7d444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83C86B-4E17-4E7D-9AD3-07DCA7495AEC}"/>
              </a:ext>
            </a:extLst>
          </p:cNvPr>
          <p:cNvSpPr>
            <a:spLocks xmlns:a="http://schemas.openxmlformats.org/drawingml/2006/main" noGrp="1"/>
          </p:cNvSpPr>
          <p:nvPr/>
        </p:nvSpPr>
        <p:spPr>
          <a:xfrm xmlns:a="http://schemas.openxmlformats.org/drawingml/2006/main">
            <a:off x="476250" y="4000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HYP-REG-05.1</a:t>
            </a:r>
          </a:p>
        </p:txBody>
      </p:sp>
      <p:sp>
        <p:nvSpPr>
          <p:cNvPr id="2" name="">
            <a:extLst xmlns:a="http://schemas.openxmlformats.org/drawingml/2006/main">
              <a:ext uri="{FF2B5EF4-FFF2-40B4-BE49-F238E27FC236}">
                <a16:creationId xmlns:a16="http://schemas.microsoft.com/office/drawing/2014/main" id="{3C7FBDDB-2FEE-4390-9210-EA69EB1F575D}"/>
              </a:ext>
            </a:extLst>
          </p:cNvPr>
          <p:cNvSpPr>
            <a:spLocks xmlns:a="http://schemas.openxmlformats.org/drawingml/2006/main" noGrp="1"/>
          </p:cNvSpPr>
          <p:nvPr/>
        </p:nvSpPr>
        <p:spPr>
          <a:xfrm xmlns:a="http://schemas.openxmlformats.org/drawingml/2006/main">
            <a:off x="476250" y="1066800"/>
            <a:ext cx="5286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7324D"/>
                </a:solidFill>
              </a:defRPr>
            </a:pPr>
            <a:r>
              <a:rPr sz="3450" b="1">
                <a:solidFill>
                  <a:srgbClr val="17324D"/>
                </a:solidFill>
              </a:rPr>
              <a:t>ADX forms usable states—</a:t>
            </a:r>
          </a:p>
          <a:p xmlns:a="http://schemas.openxmlformats.org/drawingml/2006/main">
            <a:pPr algn="l">
              <a:defRPr sz="3450" b="1">
                <a:solidFill>
                  <a:srgbClr val="17324D"/>
                </a:solidFill>
              </a:defRPr>
            </a:pPr>
            <a:r>
              <a:rPr sz="3450" b="1">
                <a:solidFill>
                  <a:srgbClr val="17324D"/>
                </a:solidFill>
              </a:rPr>
              <a:t>but neither ADX nor ER predicts a straighter future path</a:t>
            </a:r>
          </a:p>
        </p:txBody>
      </p:sp>
      <p:sp>
        <p:nvSpPr>
          <p:cNvPr id="3" name="">
            <a:extLst xmlns:a="http://schemas.openxmlformats.org/drawingml/2006/main">
              <a:ext uri="{FF2B5EF4-FFF2-40B4-BE49-F238E27FC236}">
                <a16:creationId xmlns:a16="http://schemas.microsoft.com/office/drawing/2014/main" id="{A7EA594C-0CCF-488F-9C94-BC2AF9DDDCB5}"/>
              </a:ext>
            </a:extLst>
          </p:cNvPr>
          <p:cNvSpPr>
            <a:spLocks xmlns:a="http://schemas.openxmlformats.org/drawingml/2006/main" noGrp="1"/>
          </p:cNvSpPr>
          <p:nvPr/>
        </p:nvSpPr>
        <p:spPr>
          <a:xfrm xmlns:a="http://schemas.openxmlformats.org/drawingml/2006/main">
            <a:off x="476250" y="3857625"/>
            <a:ext cx="514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Kaufman ER(20) primary · Wilder ADX(14) benchmark · 26 assets · 2018–2023</a:t>
            </a:r>
          </a:p>
        </p:txBody>
      </p:sp>
      <p:sp>
        <p:nvSpPr>
          <p:cNvPr id="4" name="">
            <a:extLst xmlns:a="http://schemas.openxmlformats.org/drawingml/2006/main">
              <a:ext uri="{FF2B5EF4-FFF2-40B4-BE49-F238E27FC236}">
                <a16:creationId xmlns:a16="http://schemas.microsoft.com/office/drawing/2014/main" id="{AF5C419F-B1D4-4569-990D-AD799170C352}"/>
              </a:ext>
            </a:extLst>
          </p:cNvPr>
          <p:cNvSpPr>
            <a:spLocks xmlns:a="http://schemas.openxmlformats.org/drawingml/2006/main" noGrp="1"/>
          </p:cNvSpPr>
          <p:nvPr/>
        </p:nvSpPr>
        <p:spPr>
          <a:xfrm xmlns:a="http://schemas.openxmlformats.org/drawingml/2006/main">
            <a:off x="476250" y="5095875"/>
            <a:ext cx="5095875" cy="714375"/>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6334B16-D2E1-41DB-BDB3-D20A93512A5C}"/>
              </a:ext>
            </a:extLst>
          </p:cNvPr>
          <p:cNvSpPr>
            <a:spLocks xmlns:a="http://schemas.openxmlformats.org/drawingml/2006/main" noGrp="1"/>
          </p:cNvSpPr>
          <p:nvPr/>
        </p:nvSpPr>
        <p:spPr>
          <a:xfrm xmlns:a="http://schemas.openxmlformats.org/drawingml/2006/main">
            <a:off x="714375" y="5295900"/>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D95F59"/>
                </a:solidFill>
              </a:defRPr>
            </a:pPr>
            <a:r>
              <a:rPr sz="1725" b="1">
                <a:solidFill>
                  <a:srgbClr val="D95F59"/>
                </a:solidFill>
              </a:rPr>
              <a:t>STOP · ER 1/9 gates · ADX 2/9</a:t>
            </a:r>
          </a:p>
        </p:txBody>
      </p:sp>
      <p:sp>
        <p:nvSpPr>
          <p:cNvPr id="6" name="">
            <a:extLst xmlns:a="http://schemas.openxmlformats.org/drawingml/2006/main">
              <a:ext uri="{FF2B5EF4-FFF2-40B4-BE49-F238E27FC236}">
                <a16:creationId xmlns:a16="http://schemas.microsoft.com/office/drawing/2014/main" id="{FE876E52-2975-4D2E-A2FA-E317A6609FB2}"/>
              </a:ext>
            </a:extLst>
          </p:cNvPr>
          <p:cNvSpPr>
            <a:spLocks xmlns:a="http://schemas.openxmlformats.org/drawingml/2006/main" noGrp="1"/>
          </p:cNvSpPr>
          <p:nvPr/>
        </p:nvSpPr>
        <p:spPr>
          <a:xfrm xmlns:a="http://schemas.openxmlformats.org/drawingml/2006/main">
            <a:off x="6096000" y="419100"/>
            <a:ext cx="5619750" cy="5619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775c33b9a8b4d49"/>
          <a:stretch xmlns:a="http://schemas.openxmlformats.org/drawingml/2006/main"/>
        </p:blipFill>
        <p:spPr>
          <a:xfrm xmlns:a="http://schemas.openxmlformats.org/drawingml/2006/main">
            <a:off x="6096000" y="1158541"/>
            <a:ext cx="5619750" cy="414086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EFA5C0C-E315-4DD1-811E-C08438332D9E}"/>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a:t>
            </a:r>
          </a:p>
        </p:txBody>
      </p:sp>
    </p:spTree>
    <p:extLst>
      <p:ext uri="{BB962C8B-B14F-4D97-AF65-F5344CB8AC3E}">
        <p14:creationId xmlns:p14="http://schemas.microsoft.com/office/powerpoint/2010/main" val="20574945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7D3226-C2C6-4D56-BE5F-35775523CB14}"/>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WHY THIS LANE?</a:t>
            </a:r>
          </a:p>
        </p:txBody>
      </p:sp>
      <p:sp>
        <p:nvSpPr>
          <p:cNvPr id="2" name="">
            <a:extLst xmlns:a="http://schemas.openxmlformats.org/drawingml/2006/main">
              <a:ext uri="{FF2B5EF4-FFF2-40B4-BE49-F238E27FC236}">
                <a16:creationId xmlns:a16="http://schemas.microsoft.com/office/drawing/2014/main" id="{1547EEDD-3282-46A4-A84D-CDF4EB3A0C5A}"/>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question changed from direction to path geometry</a:t>
            </a:r>
          </a:p>
        </p:txBody>
      </p:sp>
      <p:sp>
        <p:nvSpPr>
          <p:cNvPr id="3" name="">
            <a:extLst xmlns:a="http://schemas.openxmlformats.org/drawingml/2006/main">
              <a:ext uri="{FF2B5EF4-FFF2-40B4-BE49-F238E27FC236}">
                <a16:creationId xmlns:a16="http://schemas.microsoft.com/office/drawing/2014/main" id="{7D51C592-242A-437D-A34E-2704AE47ED91}"/>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2</a:t>
            </a:r>
          </a:p>
        </p:txBody>
      </p:sp>
      <p:sp>
        <p:nvSpPr>
          <p:cNvPr id="4" name="">
            <a:extLst xmlns:a="http://schemas.openxmlformats.org/drawingml/2006/main">
              <a:ext uri="{FF2B5EF4-FFF2-40B4-BE49-F238E27FC236}">
                <a16:creationId xmlns:a16="http://schemas.microsoft.com/office/drawing/2014/main" id="{F8FCF8D0-788A-4A59-869D-AEF50A1838D0}"/>
              </a:ext>
            </a:extLst>
          </p:cNvPr>
          <p:cNvSpPr>
            <a:spLocks xmlns:a="http://schemas.openxmlformats.org/drawingml/2006/main" noGrp="1"/>
          </p:cNvSpPr>
          <p:nvPr/>
        </p:nvSpPr>
        <p:spPr>
          <a:xfrm xmlns:a="http://schemas.openxmlformats.org/drawingml/2006/main">
            <a:off x="523875" y="133350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7324D"/>
                </a:solidFill>
              </a:defRPr>
            </a:pPr>
            <a:r>
              <a:rPr sz="1800" b="1">
                <a:solidFill>
                  <a:srgbClr val="17324D"/>
                </a:solidFill>
              </a:rPr>
              <a:t>Recent breadth and trend-field POCs struggled to say whether price would go up or down. ADX and ER offer a different proposition: ask whether movement itself is likely to be orderly.</a:t>
            </a:r>
          </a:p>
        </p:txBody>
      </p:sp>
      <p:sp>
        <p:nvSpPr>
          <p:cNvPr id="5" name="">
            <a:extLst xmlns:a="http://schemas.openxmlformats.org/drawingml/2006/main">
              <a:ext uri="{FF2B5EF4-FFF2-40B4-BE49-F238E27FC236}">
                <a16:creationId xmlns:a16="http://schemas.microsoft.com/office/drawing/2014/main" id="{A4605B4F-2263-4B5D-94FB-6E63489A2DA2}"/>
              </a:ext>
            </a:extLst>
          </p:cNvPr>
          <p:cNvSpPr>
            <a:spLocks xmlns:a="http://schemas.openxmlformats.org/drawingml/2006/main" noGrp="1"/>
          </p:cNvSpPr>
          <p:nvPr/>
        </p:nvSpPr>
        <p:spPr>
          <a:xfrm xmlns:a="http://schemas.openxmlformats.org/drawingml/2006/main">
            <a:off x="523875" y="2667000"/>
            <a:ext cx="3333750" cy="19526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1B95F78-82DB-4390-88D8-5DF4E43B45E8}"/>
              </a:ext>
            </a:extLst>
          </p:cNvPr>
          <p:cNvSpPr>
            <a:spLocks xmlns:a="http://schemas.openxmlformats.org/drawingml/2006/main" noGrp="1"/>
          </p:cNvSpPr>
          <p:nvPr/>
        </p:nvSpPr>
        <p:spPr>
          <a:xfrm xmlns:a="http://schemas.openxmlformats.org/drawingml/2006/main">
            <a:off x="790575" y="29527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3D8DFF"/>
                </a:solidFill>
              </a:defRPr>
            </a:pPr>
            <a:r>
              <a:rPr sz="1950" b="1">
                <a:solidFill>
                  <a:srgbClr val="3D8DFF"/>
                </a:solidFill>
              </a:rPr>
              <a:t>Direction</a:t>
            </a:r>
          </a:p>
        </p:txBody>
      </p:sp>
      <p:sp>
        <p:nvSpPr>
          <p:cNvPr id="7" name="">
            <a:extLst xmlns:a="http://schemas.openxmlformats.org/drawingml/2006/main">
              <a:ext uri="{FF2B5EF4-FFF2-40B4-BE49-F238E27FC236}">
                <a16:creationId xmlns:a16="http://schemas.microsoft.com/office/drawing/2014/main" id="{E97EF257-F049-416B-89DF-6CB2501B58F6}"/>
              </a:ext>
            </a:extLst>
          </p:cNvPr>
          <p:cNvSpPr>
            <a:spLocks xmlns:a="http://schemas.openxmlformats.org/drawingml/2006/main" noGrp="1"/>
          </p:cNvSpPr>
          <p:nvPr/>
        </p:nvSpPr>
        <p:spPr>
          <a:xfrm xmlns:a="http://schemas.openxmlformats.org/drawingml/2006/main">
            <a:off x="790575" y="360045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Will the asset finish higher or lower?</a:t>
            </a:r>
          </a:p>
        </p:txBody>
      </p:sp>
      <p:sp>
        <p:nvSpPr>
          <p:cNvPr id="8" name="">
            <a:extLst xmlns:a="http://schemas.openxmlformats.org/drawingml/2006/main">
              <a:ext uri="{FF2B5EF4-FFF2-40B4-BE49-F238E27FC236}">
                <a16:creationId xmlns:a16="http://schemas.microsoft.com/office/drawing/2014/main" id="{8F87A20A-BF72-4470-95D6-88E8A0D6CDC3}"/>
              </a:ext>
            </a:extLst>
          </p:cNvPr>
          <p:cNvSpPr>
            <a:spLocks xmlns:a="http://schemas.openxmlformats.org/drawingml/2006/main" noGrp="1"/>
          </p:cNvSpPr>
          <p:nvPr/>
        </p:nvSpPr>
        <p:spPr>
          <a:xfrm xmlns:a="http://schemas.openxmlformats.org/drawingml/2006/main">
            <a:off x="4333875" y="2667000"/>
            <a:ext cx="3333750" cy="195262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CE4AB51-E86B-4707-A002-0356B055C3DE}"/>
              </a:ext>
            </a:extLst>
          </p:cNvPr>
          <p:cNvSpPr>
            <a:spLocks xmlns:a="http://schemas.openxmlformats.org/drawingml/2006/main" noGrp="1"/>
          </p:cNvSpPr>
          <p:nvPr/>
        </p:nvSpPr>
        <p:spPr>
          <a:xfrm xmlns:a="http://schemas.openxmlformats.org/drawingml/2006/main">
            <a:off x="4600575" y="29527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F2A65A"/>
                </a:solidFill>
              </a:defRPr>
            </a:pPr>
            <a:r>
              <a:rPr sz="1950" b="1">
                <a:solidFill>
                  <a:srgbClr val="F2A65A"/>
                </a:solidFill>
              </a:rPr>
              <a:t>Volatility</a:t>
            </a:r>
          </a:p>
        </p:txBody>
      </p:sp>
      <p:sp>
        <p:nvSpPr>
          <p:cNvPr id="10" name="">
            <a:extLst xmlns:a="http://schemas.openxmlformats.org/drawingml/2006/main">
              <a:ext uri="{FF2B5EF4-FFF2-40B4-BE49-F238E27FC236}">
                <a16:creationId xmlns:a16="http://schemas.microsoft.com/office/drawing/2014/main" id="{254E1A02-57C9-4E2A-8883-70969B4275EE}"/>
              </a:ext>
            </a:extLst>
          </p:cNvPr>
          <p:cNvSpPr>
            <a:spLocks xmlns:a="http://schemas.openxmlformats.org/drawingml/2006/main" noGrp="1"/>
          </p:cNvSpPr>
          <p:nvPr/>
        </p:nvSpPr>
        <p:spPr>
          <a:xfrm xmlns:a="http://schemas.openxmlformats.org/drawingml/2006/main">
            <a:off x="4600575" y="360045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How large are movements likely to be?</a:t>
            </a:r>
          </a:p>
        </p:txBody>
      </p:sp>
      <p:sp>
        <p:nvSpPr>
          <p:cNvPr id="11" name="">
            <a:extLst xmlns:a="http://schemas.openxmlformats.org/drawingml/2006/main">
              <a:ext uri="{FF2B5EF4-FFF2-40B4-BE49-F238E27FC236}">
                <a16:creationId xmlns:a16="http://schemas.microsoft.com/office/drawing/2014/main" id="{9F2E1C65-D9BA-4814-A99D-59E3A92112CF}"/>
              </a:ext>
            </a:extLst>
          </p:cNvPr>
          <p:cNvSpPr>
            <a:spLocks xmlns:a="http://schemas.openxmlformats.org/drawingml/2006/main" noGrp="1"/>
          </p:cNvSpPr>
          <p:nvPr/>
        </p:nvSpPr>
        <p:spPr>
          <a:xfrm xmlns:a="http://schemas.openxmlformats.org/drawingml/2006/main">
            <a:off x="8143875" y="2667000"/>
            <a:ext cx="3333750" cy="1952625"/>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DFA515-DCB0-4DA0-B71D-2D5F845517E6}"/>
              </a:ext>
            </a:extLst>
          </p:cNvPr>
          <p:cNvSpPr>
            <a:spLocks xmlns:a="http://schemas.openxmlformats.org/drawingml/2006/main" noGrp="1"/>
          </p:cNvSpPr>
          <p:nvPr/>
        </p:nvSpPr>
        <p:spPr>
          <a:xfrm xmlns:a="http://schemas.openxmlformats.org/drawingml/2006/main">
            <a:off x="8410575" y="29527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6C63A8"/>
                </a:solidFill>
              </a:defRPr>
            </a:pPr>
            <a:r>
              <a:rPr sz="1950" b="1">
                <a:solidFill>
                  <a:srgbClr val="6C63A8"/>
                </a:solidFill>
              </a:rPr>
              <a:t>Trendability</a:t>
            </a:r>
          </a:p>
        </p:txBody>
      </p:sp>
      <p:sp>
        <p:nvSpPr>
          <p:cNvPr id="13" name="">
            <a:extLst xmlns:a="http://schemas.openxmlformats.org/drawingml/2006/main">
              <a:ext uri="{FF2B5EF4-FFF2-40B4-BE49-F238E27FC236}">
                <a16:creationId xmlns:a16="http://schemas.microsoft.com/office/drawing/2014/main" id="{93C46814-D607-456D-912C-37BD673B873B}"/>
              </a:ext>
            </a:extLst>
          </p:cNvPr>
          <p:cNvSpPr>
            <a:spLocks xmlns:a="http://schemas.openxmlformats.org/drawingml/2006/main" noGrp="1"/>
          </p:cNvSpPr>
          <p:nvPr/>
        </p:nvSpPr>
        <p:spPr>
          <a:xfrm xmlns:a="http://schemas.openxmlformats.org/drawingml/2006/main">
            <a:off x="8410575" y="360045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Will the path travel efficiently or repeatedly reverse?</a:t>
            </a:r>
          </a:p>
        </p:txBody>
      </p:sp>
      <p:sp>
        <p:nvSpPr>
          <p:cNvPr id="14" name="">
            <a:extLst xmlns:a="http://schemas.openxmlformats.org/drawingml/2006/main">
              <a:ext uri="{FF2B5EF4-FFF2-40B4-BE49-F238E27FC236}">
                <a16:creationId xmlns:a16="http://schemas.microsoft.com/office/drawing/2014/main" id="{1268EC6B-5A0E-42A1-AFEB-491B09384223}"/>
              </a:ext>
            </a:extLst>
          </p:cNvPr>
          <p:cNvSpPr>
            <a:spLocks xmlns:a="http://schemas.openxmlformats.org/drawingml/2006/main" noGrp="1"/>
          </p:cNvSpPr>
          <p:nvPr/>
        </p:nvSpPr>
        <p:spPr>
          <a:xfrm xmlns:a="http://schemas.openxmlformats.org/drawingml/2006/main">
            <a:off x="1571625" y="5334000"/>
            <a:ext cx="9048750" cy="6858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CAB69E0-ADD8-456D-8666-EE2B1779B794}"/>
              </a:ext>
            </a:extLst>
          </p:cNvPr>
          <p:cNvSpPr>
            <a:spLocks xmlns:a="http://schemas.openxmlformats.org/drawingml/2006/main" noGrp="1"/>
          </p:cNvSpPr>
          <p:nvPr/>
        </p:nvSpPr>
        <p:spPr>
          <a:xfrm xmlns:a="http://schemas.openxmlformats.org/drawingml/2006/main">
            <a:off x="1905000" y="55245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7202A"/>
                </a:solidFill>
              </a:defRPr>
            </a:pPr>
            <a:r>
              <a:rPr sz="1575" b="1">
                <a:solidFill>
                  <a:srgbClr val="17202A"/>
                </a:solidFill>
              </a:rPr>
              <a:t>A trendability diagnostic could eventually complement ATR%—but only after it succeeds independently.</a:t>
            </a:r>
          </a:p>
        </p:txBody>
      </p:sp>
    </p:spTree>
    <p:extLst>
      <p:ext uri="{BB962C8B-B14F-4D97-AF65-F5344CB8AC3E}">
        <p14:creationId xmlns:p14="http://schemas.microsoft.com/office/powerpoint/2010/main" val="10806578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544374-01F2-4072-9A00-8DCCA045A356}"/>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PRIMARY CANDIDATE · ER(20)</a:t>
            </a:r>
          </a:p>
        </p:txBody>
      </p:sp>
      <p:sp>
        <p:nvSpPr>
          <p:cNvPr id="2" name="">
            <a:extLst xmlns:a="http://schemas.openxmlformats.org/drawingml/2006/main">
              <a:ext uri="{FF2B5EF4-FFF2-40B4-BE49-F238E27FC236}">
                <a16:creationId xmlns:a16="http://schemas.microsoft.com/office/drawing/2014/main" id="{2C2814F8-6E40-4142-BB20-46ED98FEFB91}"/>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Kaufman ER asks: how direct was the journey?</a:t>
            </a:r>
          </a:p>
        </p:txBody>
      </p:sp>
      <p:sp>
        <p:nvSpPr>
          <p:cNvPr id="3" name="">
            <a:extLst xmlns:a="http://schemas.openxmlformats.org/drawingml/2006/main">
              <a:ext uri="{FF2B5EF4-FFF2-40B4-BE49-F238E27FC236}">
                <a16:creationId xmlns:a16="http://schemas.microsoft.com/office/drawing/2014/main" id="{1B1EAA90-0762-47D6-AC88-34DA12D86561}"/>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3</a:t>
            </a:r>
          </a:p>
        </p:txBody>
      </p:sp>
      <p:sp>
        <p:nvSpPr>
          <p:cNvPr id="4" name="">
            <a:extLst xmlns:a="http://schemas.openxmlformats.org/drawingml/2006/main">
              <a:ext uri="{FF2B5EF4-FFF2-40B4-BE49-F238E27FC236}">
                <a16:creationId xmlns:a16="http://schemas.microsoft.com/office/drawing/2014/main" id="{7D28413D-0203-4F7F-99AB-1937BEB8C861}"/>
              </a:ext>
            </a:extLst>
          </p:cNvPr>
          <p:cNvSpPr>
            <a:spLocks xmlns:a="http://schemas.openxmlformats.org/drawingml/2006/main" noGrp="1"/>
          </p:cNvSpPr>
          <p:nvPr/>
        </p:nvSpPr>
        <p:spPr>
          <a:xfrm xmlns:a="http://schemas.openxmlformats.org/drawingml/2006/main">
            <a:off x="619125" y="1381125"/>
            <a:ext cx="10953750" cy="10001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45FC2C-032B-4F50-9083-86E21F44C165}"/>
              </a:ext>
            </a:extLst>
          </p:cNvPr>
          <p:cNvSpPr>
            <a:spLocks xmlns:a="http://schemas.openxmlformats.org/drawingml/2006/main" noGrp="1"/>
          </p:cNvSpPr>
          <p:nvPr/>
        </p:nvSpPr>
        <p:spPr>
          <a:xfrm xmlns:a="http://schemas.openxmlformats.org/drawingml/2006/main">
            <a:off x="952500" y="1657350"/>
            <a:ext cx="10287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17324D"/>
                </a:solidFill>
              </a:defRPr>
            </a:pPr>
            <a:r>
              <a:rPr sz="2325" b="1">
                <a:solidFill>
                  <a:srgbClr val="17324D"/>
                </a:solidFill>
              </a:rPr>
              <a:t>ER20(t) = |C(t) − C(t−20)|  /  Σ |C(i) − C(i−1)|</a:t>
            </a:r>
          </a:p>
        </p:txBody>
      </p:sp>
      <p:sp>
        <p:nvSpPr>
          <p:cNvPr id="6" name="">
            <a:extLst xmlns:a="http://schemas.openxmlformats.org/drawingml/2006/main">
              <a:ext uri="{FF2B5EF4-FFF2-40B4-BE49-F238E27FC236}">
                <a16:creationId xmlns:a16="http://schemas.microsoft.com/office/drawing/2014/main" id="{3D3DA21C-7D17-4F2E-B358-936EC8991799}"/>
              </a:ext>
            </a:extLst>
          </p:cNvPr>
          <p:cNvSpPr>
            <a:spLocks xmlns:a="http://schemas.openxmlformats.org/drawingml/2006/main" noGrp="1"/>
          </p:cNvSpPr>
          <p:nvPr/>
        </p:nvSpPr>
        <p:spPr>
          <a:xfrm xmlns:a="http://schemas.openxmlformats.org/drawingml/2006/main">
            <a:off x="857250" y="29051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defRPr>
            </a:pPr>
            <a:r>
              <a:rPr sz="1575" b="1">
                <a:solidFill>
                  <a:srgbClr val="3D8DFF"/>
                </a:solidFill>
              </a:rPr>
              <a:t>Numerator</a:t>
            </a:r>
          </a:p>
        </p:txBody>
      </p:sp>
      <p:sp>
        <p:nvSpPr>
          <p:cNvPr id="7" name="">
            <a:extLst xmlns:a="http://schemas.openxmlformats.org/drawingml/2006/main">
              <a:ext uri="{FF2B5EF4-FFF2-40B4-BE49-F238E27FC236}">
                <a16:creationId xmlns:a16="http://schemas.microsoft.com/office/drawing/2014/main" id="{E4637586-37BF-438A-B673-D71DA9B5562E}"/>
              </a:ext>
            </a:extLst>
          </p:cNvPr>
          <p:cNvSpPr>
            <a:spLocks xmlns:a="http://schemas.openxmlformats.org/drawingml/2006/main" noGrp="1"/>
          </p:cNvSpPr>
          <p:nvPr/>
        </p:nvSpPr>
        <p:spPr>
          <a:xfrm xmlns:a="http://schemas.openxmlformats.org/drawingml/2006/main">
            <a:off x="2952750" y="29051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Net distance: how far price ended from where it began.</a:t>
            </a:r>
          </a:p>
        </p:txBody>
      </p:sp>
      <p:sp>
        <p:nvSpPr>
          <p:cNvPr id="8" name="">
            <a:extLst xmlns:a="http://schemas.openxmlformats.org/drawingml/2006/main">
              <a:ext uri="{FF2B5EF4-FFF2-40B4-BE49-F238E27FC236}">
                <a16:creationId xmlns:a16="http://schemas.microsoft.com/office/drawing/2014/main" id="{B7A5C559-64AC-4B77-AC8E-BB379FB3C56B}"/>
              </a:ext>
            </a:extLst>
          </p:cNvPr>
          <p:cNvSpPr>
            <a:spLocks xmlns:a="http://schemas.openxmlformats.org/drawingml/2006/main" noGrp="1"/>
          </p:cNvSpPr>
          <p:nvPr/>
        </p:nvSpPr>
        <p:spPr>
          <a:xfrm xmlns:a="http://schemas.openxmlformats.org/drawingml/2006/main">
            <a:off x="857250" y="35909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F2A65A"/>
                </a:solidFill>
              </a:defRPr>
            </a:pPr>
            <a:r>
              <a:rPr sz="1575" b="1">
                <a:solidFill>
                  <a:srgbClr val="F2A65A"/>
                </a:solidFill>
              </a:rPr>
              <a:t>Denominator</a:t>
            </a:r>
          </a:p>
        </p:txBody>
      </p:sp>
      <p:sp>
        <p:nvSpPr>
          <p:cNvPr id="9" name="">
            <a:extLst xmlns:a="http://schemas.openxmlformats.org/drawingml/2006/main">
              <a:ext uri="{FF2B5EF4-FFF2-40B4-BE49-F238E27FC236}">
                <a16:creationId xmlns:a16="http://schemas.microsoft.com/office/drawing/2014/main" id="{BA9517AE-1FC5-48D9-9BE5-145033D6F577}"/>
              </a:ext>
            </a:extLst>
          </p:cNvPr>
          <p:cNvSpPr>
            <a:spLocks xmlns:a="http://schemas.openxmlformats.org/drawingml/2006/main" noGrp="1"/>
          </p:cNvSpPr>
          <p:nvPr/>
        </p:nvSpPr>
        <p:spPr>
          <a:xfrm xmlns:a="http://schemas.openxmlformats.org/drawingml/2006/main">
            <a:off x="2952750" y="35909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Total distance: every absolute step along the route.</a:t>
            </a:r>
          </a:p>
        </p:txBody>
      </p:sp>
      <p:sp>
        <p:nvSpPr>
          <p:cNvPr id="10" name="">
            <a:extLst xmlns:a="http://schemas.openxmlformats.org/drawingml/2006/main">
              <a:ext uri="{FF2B5EF4-FFF2-40B4-BE49-F238E27FC236}">
                <a16:creationId xmlns:a16="http://schemas.microsoft.com/office/drawing/2014/main" id="{4DBD59AC-5988-4F49-969F-CC2639B93A71}"/>
              </a:ext>
            </a:extLst>
          </p:cNvPr>
          <p:cNvSpPr>
            <a:spLocks xmlns:a="http://schemas.openxmlformats.org/drawingml/2006/main" noGrp="1"/>
          </p:cNvSpPr>
          <p:nvPr/>
        </p:nvSpPr>
        <p:spPr>
          <a:xfrm xmlns:a="http://schemas.openxmlformats.org/drawingml/2006/main">
            <a:off x="857250" y="42767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2E8B57"/>
                </a:solidFill>
              </a:defRPr>
            </a:pPr>
            <a:r>
              <a:rPr sz="1575" b="1">
                <a:solidFill>
                  <a:srgbClr val="2E8B57"/>
                </a:solidFill>
              </a:rPr>
              <a:t>Interpretation</a:t>
            </a:r>
          </a:p>
        </p:txBody>
      </p:sp>
      <p:sp>
        <p:nvSpPr>
          <p:cNvPr id="11" name="">
            <a:extLst xmlns:a="http://schemas.openxmlformats.org/drawingml/2006/main">
              <a:ext uri="{FF2B5EF4-FFF2-40B4-BE49-F238E27FC236}">
                <a16:creationId xmlns:a16="http://schemas.microsoft.com/office/drawing/2014/main" id="{05C10F0D-4A10-4590-AEEB-FC3CFFF32640}"/>
              </a:ext>
            </a:extLst>
          </p:cNvPr>
          <p:cNvSpPr>
            <a:spLocks xmlns:a="http://schemas.openxmlformats.org/drawingml/2006/main" noGrp="1"/>
          </p:cNvSpPr>
          <p:nvPr/>
        </p:nvSpPr>
        <p:spPr>
          <a:xfrm xmlns:a="http://schemas.openxmlformats.org/drawingml/2006/main">
            <a:off x="2952750" y="42767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Near 1 = direct path; near 0 = much travel, little net progress.</a:t>
            </a:r>
          </a:p>
        </p:txBody>
      </p:sp>
      <p:sp>
        <p:nvSpPr>
          <p:cNvPr id="12" name="">
            <a:extLst xmlns:a="http://schemas.openxmlformats.org/drawingml/2006/main">
              <a:ext uri="{FF2B5EF4-FFF2-40B4-BE49-F238E27FC236}">
                <a16:creationId xmlns:a16="http://schemas.microsoft.com/office/drawing/2014/main" id="{14020C69-D532-47F6-AB99-47C78A2A6F8B}"/>
              </a:ext>
            </a:extLst>
          </p:cNvPr>
          <p:cNvSpPr>
            <a:spLocks xmlns:a="http://schemas.openxmlformats.org/drawingml/2006/main" noGrp="1"/>
          </p:cNvSpPr>
          <p:nvPr/>
        </p:nvSpPr>
        <p:spPr>
          <a:xfrm xmlns:a="http://schemas.openxmlformats.org/drawingml/2006/main">
            <a:off x="857250" y="49625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D95F59"/>
                </a:solidFill>
              </a:defRPr>
            </a:pPr>
            <a:r>
              <a:rPr sz="1575" b="1">
                <a:solidFill>
                  <a:srgbClr val="D95F59"/>
                </a:solidFill>
              </a:rPr>
              <a:t>Important</a:t>
            </a:r>
          </a:p>
        </p:txBody>
      </p:sp>
      <p:sp>
        <p:nvSpPr>
          <p:cNvPr id="13" name="">
            <a:extLst xmlns:a="http://schemas.openxmlformats.org/drawingml/2006/main">
              <a:ext uri="{FF2B5EF4-FFF2-40B4-BE49-F238E27FC236}">
                <a16:creationId xmlns:a16="http://schemas.microsoft.com/office/drawing/2014/main" id="{96401763-7C52-4321-91EF-070A6327CC0A}"/>
              </a:ext>
            </a:extLst>
          </p:cNvPr>
          <p:cNvSpPr>
            <a:spLocks xmlns:a="http://schemas.openxmlformats.org/drawingml/2006/main" noGrp="1"/>
          </p:cNvSpPr>
          <p:nvPr/>
        </p:nvSpPr>
        <p:spPr>
          <a:xfrm xmlns:a="http://schemas.openxmlformats.org/drawingml/2006/main">
            <a:off x="2952750" y="496252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ER has no direction. A smooth decline can score just as highly as a smooth rise.</a:t>
            </a:r>
          </a:p>
        </p:txBody>
      </p:sp>
      <p:sp>
        <p:nvSpPr>
          <p:cNvPr id="14" name="">
            <a:extLst xmlns:a="http://schemas.openxmlformats.org/drawingml/2006/main">
              <a:ext uri="{FF2B5EF4-FFF2-40B4-BE49-F238E27FC236}">
                <a16:creationId xmlns:a16="http://schemas.microsoft.com/office/drawing/2014/main" id="{B0FFD438-813D-400E-A50F-57D457E3BEF1}"/>
              </a:ext>
            </a:extLst>
          </p:cNvPr>
          <p:cNvSpPr>
            <a:spLocks xmlns:a="http://schemas.openxmlformats.org/drawingml/2006/main" noGrp="1"/>
          </p:cNvSpPr>
          <p:nvPr/>
        </p:nvSpPr>
        <p:spPr>
          <a:xfrm xmlns:a="http://schemas.openxmlformats.org/drawingml/2006/main">
            <a:off x="904875" y="5762625"/>
            <a:ext cx="10382250" cy="457200"/>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180D6A1-86A4-46E7-AF39-93B4C9A14BCB}"/>
              </a:ext>
            </a:extLst>
          </p:cNvPr>
          <p:cNvSpPr>
            <a:spLocks xmlns:a="http://schemas.openxmlformats.org/drawingml/2006/main" noGrp="1"/>
          </p:cNvSpPr>
          <p:nvPr/>
        </p:nvSpPr>
        <p:spPr>
          <a:xfrm xmlns:a="http://schemas.openxmlformats.org/drawingml/2006/main">
            <a:off x="1190625" y="5886450"/>
            <a:ext cx="981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6C63A8"/>
                </a:solidFill>
              </a:defRPr>
            </a:pPr>
            <a:r>
              <a:rPr sz="1425" b="1">
                <a:solidFill>
                  <a:srgbClr val="6C63A8"/>
                </a:solidFill>
              </a:rPr>
              <a:t>Our ER state was causal: each percentile used only the asset's prior 252 valid ER values.</a:t>
            </a:r>
          </a:p>
        </p:txBody>
      </p:sp>
    </p:spTree>
    <p:extLst>
      <p:ext uri="{BB962C8B-B14F-4D97-AF65-F5344CB8AC3E}">
        <p14:creationId xmlns:p14="http://schemas.microsoft.com/office/powerpoint/2010/main" val="11507688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C8E4067-31B5-4C71-B39A-E1E5A1C48A6B}"/>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BENCHMARK · ADX(14)</a:t>
            </a:r>
          </a:p>
        </p:txBody>
      </p:sp>
      <p:sp>
        <p:nvSpPr>
          <p:cNvPr id="2" name="">
            <a:extLst xmlns:a="http://schemas.openxmlformats.org/drawingml/2006/main">
              <a:ext uri="{FF2B5EF4-FFF2-40B4-BE49-F238E27FC236}">
                <a16:creationId xmlns:a16="http://schemas.microsoft.com/office/drawing/2014/main" id="{0914B630-E37D-4640-9117-5ABFD76C2EEF}"/>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ADX asks: how separated is directional movement?</a:t>
            </a:r>
          </a:p>
        </p:txBody>
      </p:sp>
      <p:sp>
        <p:nvSpPr>
          <p:cNvPr id="3" name="">
            <a:extLst xmlns:a="http://schemas.openxmlformats.org/drawingml/2006/main">
              <a:ext uri="{FF2B5EF4-FFF2-40B4-BE49-F238E27FC236}">
                <a16:creationId xmlns:a16="http://schemas.microsoft.com/office/drawing/2014/main" id="{7EBBAD22-665F-4F9F-AD01-2864E1ACCB00}"/>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4</a:t>
            </a:r>
          </a:p>
        </p:txBody>
      </p:sp>
      <p:sp>
        <p:nvSpPr>
          <p:cNvPr id="4" name="">
            <a:extLst xmlns:a="http://schemas.openxmlformats.org/drawingml/2006/main">
              <a:ext uri="{FF2B5EF4-FFF2-40B4-BE49-F238E27FC236}">
                <a16:creationId xmlns:a16="http://schemas.microsoft.com/office/drawing/2014/main" id="{DB450E15-EC32-47C3-8B16-C1388D8D0F6F}"/>
              </a:ext>
            </a:extLst>
          </p:cNvPr>
          <p:cNvSpPr>
            <a:spLocks xmlns:a="http://schemas.openxmlformats.org/drawingml/2006/main" noGrp="1"/>
          </p:cNvSpPr>
          <p:nvPr/>
        </p:nvSpPr>
        <p:spPr>
          <a:xfrm xmlns:a="http://schemas.openxmlformats.org/drawingml/2006/main">
            <a:off x="619125" y="1381125"/>
            <a:ext cx="10953750" cy="7429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76DA21-6B9C-4BD5-A180-3240D15E2537}"/>
              </a:ext>
            </a:extLst>
          </p:cNvPr>
          <p:cNvSpPr>
            <a:spLocks xmlns:a="http://schemas.openxmlformats.org/drawingml/2006/main" noGrp="1"/>
          </p:cNvSpPr>
          <p:nvPr/>
        </p:nvSpPr>
        <p:spPr>
          <a:xfrm xmlns:a="http://schemas.openxmlformats.org/drawingml/2006/main">
            <a:off x="800100" y="1524000"/>
            <a:ext cx="457200" cy="457200"/>
          </a:xfrm>
          <a:prstGeom xmlns:a="http://schemas.openxmlformats.org/drawingml/2006/main" prst="ellipse">
            <a:avLst/>
          </a:prstGeom>
          <a:solidFill xmlns:a="http://schemas.openxmlformats.org/drawingml/2006/main">
            <a:srgbClr val="17324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EA56C3-113F-4A25-B6DA-12E1CBBDCCD5}"/>
              </a:ext>
            </a:extLst>
          </p:cNvPr>
          <p:cNvSpPr>
            <a:spLocks xmlns:a="http://schemas.openxmlformats.org/drawingml/2006/main" noGrp="1"/>
          </p:cNvSpPr>
          <p:nvPr/>
        </p:nvSpPr>
        <p:spPr>
          <a:xfrm xmlns:a="http://schemas.openxmlformats.org/drawingml/2006/main">
            <a:off x="800100" y="1609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1</a:t>
            </a:r>
          </a:p>
        </p:txBody>
      </p:sp>
      <p:sp>
        <p:nvSpPr>
          <p:cNvPr id="7" name="">
            <a:extLst xmlns:a="http://schemas.openxmlformats.org/drawingml/2006/main">
              <a:ext uri="{FF2B5EF4-FFF2-40B4-BE49-F238E27FC236}">
                <a16:creationId xmlns:a16="http://schemas.microsoft.com/office/drawing/2014/main" id="{A2154124-8CF9-447A-80A1-D5141685CFDE}"/>
              </a:ext>
            </a:extLst>
          </p:cNvPr>
          <p:cNvSpPr>
            <a:spLocks xmlns:a="http://schemas.openxmlformats.org/drawingml/2006/main" noGrp="1"/>
          </p:cNvSpPr>
          <p:nvPr/>
        </p:nvSpPr>
        <p:spPr>
          <a:xfrm xmlns:a="http://schemas.openxmlformats.org/drawingml/2006/main">
            <a:off x="1571625" y="152400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Compare today's high/low extensions</a:t>
            </a:r>
          </a:p>
        </p:txBody>
      </p:sp>
      <p:sp>
        <p:nvSpPr>
          <p:cNvPr id="8" name="">
            <a:extLst xmlns:a="http://schemas.openxmlformats.org/drawingml/2006/main">
              <a:ext uri="{FF2B5EF4-FFF2-40B4-BE49-F238E27FC236}">
                <a16:creationId xmlns:a16="http://schemas.microsoft.com/office/drawing/2014/main" id="{C01397E5-5BE3-49C1-BF77-35B279AF7737}"/>
              </a:ext>
            </a:extLst>
          </p:cNvPr>
          <p:cNvSpPr>
            <a:spLocks xmlns:a="http://schemas.openxmlformats.org/drawingml/2006/main" noGrp="1"/>
          </p:cNvSpPr>
          <p:nvPr/>
        </p:nvSpPr>
        <p:spPr>
          <a:xfrm xmlns:a="http://schemas.openxmlformats.org/drawingml/2006/main">
            <a:off x="5095875" y="152400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derive +DM and −DM</a:t>
            </a:r>
          </a:p>
        </p:txBody>
      </p:sp>
      <p:sp>
        <p:nvSpPr>
          <p:cNvPr id="9" name="">
            <a:extLst xmlns:a="http://schemas.openxmlformats.org/drawingml/2006/main">
              <a:ext uri="{FF2B5EF4-FFF2-40B4-BE49-F238E27FC236}">
                <a16:creationId xmlns:a16="http://schemas.microsoft.com/office/drawing/2014/main" id="{65AA3FA3-A2B3-4C80-ABA2-E43352F098B6}"/>
              </a:ext>
            </a:extLst>
          </p:cNvPr>
          <p:cNvSpPr>
            <a:spLocks xmlns:a="http://schemas.openxmlformats.org/drawingml/2006/main" noGrp="1"/>
          </p:cNvSpPr>
          <p:nvPr/>
        </p:nvSpPr>
        <p:spPr>
          <a:xfrm xmlns:a="http://schemas.openxmlformats.org/drawingml/2006/main">
            <a:off x="619125" y="2333625"/>
            <a:ext cx="10953750" cy="7429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4B62CB-CA41-4F8B-9D13-72BEE0096AA9}"/>
              </a:ext>
            </a:extLst>
          </p:cNvPr>
          <p:cNvSpPr>
            <a:spLocks xmlns:a="http://schemas.openxmlformats.org/drawingml/2006/main" noGrp="1"/>
          </p:cNvSpPr>
          <p:nvPr/>
        </p:nvSpPr>
        <p:spPr>
          <a:xfrm xmlns:a="http://schemas.openxmlformats.org/drawingml/2006/main">
            <a:off x="800100" y="2476500"/>
            <a:ext cx="457200" cy="457200"/>
          </a:xfrm>
          <a:prstGeom xmlns:a="http://schemas.openxmlformats.org/drawingml/2006/main" prst="ellipse">
            <a:avLst/>
          </a:prstGeom>
          <a:solidFill xmlns:a="http://schemas.openxmlformats.org/drawingml/2006/main">
            <a:srgbClr val="1732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1EA7BAC-DFC5-4CC1-83B7-6720396837FA}"/>
              </a:ext>
            </a:extLst>
          </p:cNvPr>
          <p:cNvSpPr>
            <a:spLocks xmlns:a="http://schemas.openxmlformats.org/drawingml/2006/main" noGrp="1"/>
          </p:cNvSpPr>
          <p:nvPr/>
        </p:nvSpPr>
        <p:spPr>
          <a:xfrm xmlns:a="http://schemas.openxmlformats.org/drawingml/2006/main">
            <a:off x="800100" y="25622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2</a:t>
            </a:r>
          </a:p>
        </p:txBody>
      </p:sp>
      <p:sp>
        <p:nvSpPr>
          <p:cNvPr id="12" name="">
            <a:extLst xmlns:a="http://schemas.openxmlformats.org/drawingml/2006/main">
              <a:ext uri="{FF2B5EF4-FFF2-40B4-BE49-F238E27FC236}">
                <a16:creationId xmlns:a16="http://schemas.microsoft.com/office/drawing/2014/main" id="{DF6FC980-2106-4AF9-BD07-D8147CE9E3A7}"/>
              </a:ext>
            </a:extLst>
          </p:cNvPr>
          <p:cNvSpPr>
            <a:spLocks xmlns:a="http://schemas.openxmlformats.org/drawingml/2006/main" noGrp="1"/>
          </p:cNvSpPr>
          <p:nvPr/>
        </p:nvSpPr>
        <p:spPr>
          <a:xfrm xmlns:a="http://schemas.openxmlformats.org/drawingml/2006/main">
            <a:off x="1571625" y="247650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Normalize with Wilder true range</a:t>
            </a:r>
          </a:p>
        </p:txBody>
      </p:sp>
      <p:sp>
        <p:nvSpPr>
          <p:cNvPr id="13" name="">
            <a:extLst xmlns:a="http://schemas.openxmlformats.org/drawingml/2006/main">
              <a:ext uri="{FF2B5EF4-FFF2-40B4-BE49-F238E27FC236}">
                <a16:creationId xmlns:a16="http://schemas.microsoft.com/office/drawing/2014/main" id="{B1132497-CDD9-4037-83C3-9B7F8A3C7DD3}"/>
              </a:ext>
            </a:extLst>
          </p:cNvPr>
          <p:cNvSpPr>
            <a:spLocks xmlns:a="http://schemas.openxmlformats.org/drawingml/2006/main" noGrp="1"/>
          </p:cNvSpPr>
          <p:nvPr/>
        </p:nvSpPr>
        <p:spPr>
          <a:xfrm xmlns:a="http://schemas.openxmlformats.org/drawingml/2006/main">
            <a:off x="5095875" y="247650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+DI = 100 × smoothed +DM / ATR; likewise −DI</a:t>
            </a:r>
          </a:p>
        </p:txBody>
      </p:sp>
      <p:sp>
        <p:nvSpPr>
          <p:cNvPr id="14" name="">
            <a:extLst xmlns:a="http://schemas.openxmlformats.org/drawingml/2006/main">
              <a:ext uri="{FF2B5EF4-FFF2-40B4-BE49-F238E27FC236}">
                <a16:creationId xmlns:a16="http://schemas.microsoft.com/office/drawing/2014/main" id="{96085389-ABAE-4AF1-A7AA-149F45733186}"/>
              </a:ext>
            </a:extLst>
          </p:cNvPr>
          <p:cNvSpPr>
            <a:spLocks xmlns:a="http://schemas.openxmlformats.org/drawingml/2006/main" noGrp="1"/>
          </p:cNvSpPr>
          <p:nvPr/>
        </p:nvSpPr>
        <p:spPr>
          <a:xfrm xmlns:a="http://schemas.openxmlformats.org/drawingml/2006/main">
            <a:off x="619125" y="3286125"/>
            <a:ext cx="10953750" cy="7429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048D7A-4AD7-4CE3-AF1E-1C9E6000CBA2}"/>
              </a:ext>
            </a:extLst>
          </p:cNvPr>
          <p:cNvSpPr>
            <a:spLocks xmlns:a="http://schemas.openxmlformats.org/drawingml/2006/main" noGrp="1"/>
          </p:cNvSpPr>
          <p:nvPr/>
        </p:nvSpPr>
        <p:spPr>
          <a:xfrm xmlns:a="http://schemas.openxmlformats.org/drawingml/2006/main">
            <a:off x="800100" y="3429000"/>
            <a:ext cx="457200" cy="4572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E8B88E8-AB43-4038-9954-D92D7FFEA831}"/>
              </a:ext>
            </a:extLst>
          </p:cNvPr>
          <p:cNvSpPr>
            <a:spLocks xmlns:a="http://schemas.openxmlformats.org/drawingml/2006/main" noGrp="1"/>
          </p:cNvSpPr>
          <p:nvPr/>
        </p:nvSpPr>
        <p:spPr>
          <a:xfrm xmlns:a="http://schemas.openxmlformats.org/drawingml/2006/main">
            <a:off x="800100"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01F0C01C-64C6-43B8-AEC2-47D3BA2C86D8}"/>
              </a:ext>
            </a:extLst>
          </p:cNvPr>
          <p:cNvSpPr>
            <a:spLocks xmlns:a="http://schemas.openxmlformats.org/drawingml/2006/main" noGrp="1"/>
          </p:cNvSpPr>
          <p:nvPr/>
        </p:nvSpPr>
        <p:spPr>
          <a:xfrm xmlns:a="http://schemas.openxmlformats.org/drawingml/2006/main">
            <a:off x="1571625" y="342900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Measure directional separation</a:t>
            </a:r>
          </a:p>
        </p:txBody>
      </p:sp>
      <p:sp>
        <p:nvSpPr>
          <p:cNvPr id="18" name="">
            <a:extLst xmlns:a="http://schemas.openxmlformats.org/drawingml/2006/main">
              <a:ext uri="{FF2B5EF4-FFF2-40B4-BE49-F238E27FC236}">
                <a16:creationId xmlns:a16="http://schemas.microsoft.com/office/drawing/2014/main" id="{1D51494C-A84D-405C-AC17-56668D9BE154}"/>
              </a:ext>
            </a:extLst>
          </p:cNvPr>
          <p:cNvSpPr>
            <a:spLocks xmlns:a="http://schemas.openxmlformats.org/drawingml/2006/main" noGrp="1"/>
          </p:cNvSpPr>
          <p:nvPr/>
        </p:nvSpPr>
        <p:spPr>
          <a:xfrm xmlns:a="http://schemas.openxmlformats.org/drawingml/2006/main">
            <a:off x="5095875" y="342900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DX = 100 × |+DI − −DI| / (+DI + −DI)</a:t>
            </a:r>
          </a:p>
        </p:txBody>
      </p:sp>
      <p:sp>
        <p:nvSpPr>
          <p:cNvPr id="19" name="">
            <a:extLst xmlns:a="http://schemas.openxmlformats.org/drawingml/2006/main">
              <a:ext uri="{FF2B5EF4-FFF2-40B4-BE49-F238E27FC236}">
                <a16:creationId xmlns:a16="http://schemas.microsoft.com/office/drawing/2014/main" id="{613F4D09-6552-4349-9E59-86F9AF6B96F4}"/>
              </a:ext>
            </a:extLst>
          </p:cNvPr>
          <p:cNvSpPr>
            <a:spLocks xmlns:a="http://schemas.openxmlformats.org/drawingml/2006/main" noGrp="1"/>
          </p:cNvSpPr>
          <p:nvPr/>
        </p:nvSpPr>
        <p:spPr>
          <a:xfrm xmlns:a="http://schemas.openxmlformats.org/drawingml/2006/main">
            <a:off x="619125" y="4238625"/>
            <a:ext cx="10953750" cy="7429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D59D091-A7A1-424D-B121-97A1D0193B36}"/>
              </a:ext>
            </a:extLst>
          </p:cNvPr>
          <p:cNvSpPr>
            <a:spLocks xmlns:a="http://schemas.openxmlformats.org/drawingml/2006/main" noGrp="1"/>
          </p:cNvSpPr>
          <p:nvPr/>
        </p:nvSpPr>
        <p:spPr>
          <a:xfrm xmlns:a="http://schemas.openxmlformats.org/drawingml/2006/main">
            <a:off x="800100" y="4381500"/>
            <a:ext cx="457200" cy="457200"/>
          </a:xfrm>
          <a:prstGeom xmlns:a="http://schemas.openxmlformats.org/drawingml/2006/main" prst="ellipse">
            <a:avLst/>
          </a:prstGeom>
          <a:solidFill xmlns:a="http://schemas.openxmlformats.org/drawingml/2006/main">
            <a:srgbClr val="17324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4246CAA-7C57-469E-A489-3B0DC89D020B}"/>
              </a:ext>
            </a:extLst>
          </p:cNvPr>
          <p:cNvSpPr>
            <a:spLocks xmlns:a="http://schemas.openxmlformats.org/drawingml/2006/main" noGrp="1"/>
          </p:cNvSpPr>
          <p:nvPr/>
        </p:nvSpPr>
        <p:spPr>
          <a:xfrm xmlns:a="http://schemas.openxmlformats.org/drawingml/2006/main">
            <a:off x="800100" y="44672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4</a:t>
            </a:r>
          </a:p>
        </p:txBody>
      </p:sp>
      <p:sp>
        <p:nvSpPr>
          <p:cNvPr id="22" name="">
            <a:extLst xmlns:a="http://schemas.openxmlformats.org/drawingml/2006/main">
              <a:ext uri="{FF2B5EF4-FFF2-40B4-BE49-F238E27FC236}">
                <a16:creationId xmlns:a16="http://schemas.microsoft.com/office/drawing/2014/main" id="{152E2C8C-12D3-48B6-ABA6-48F65DEE68C9}"/>
              </a:ext>
            </a:extLst>
          </p:cNvPr>
          <p:cNvSpPr>
            <a:spLocks xmlns:a="http://schemas.openxmlformats.org/drawingml/2006/main" noGrp="1"/>
          </p:cNvSpPr>
          <p:nvPr/>
        </p:nvSpPr>
        <p:spPr>
          <a:xfrm xmlns:a="http://schemas.openxmlformats.org/drawingml/2006/main">
            <a:off x="1571625" y="4381500"/>
            <a:ext cx="3381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Wilder-smooth DX</a:t>
            </a:r>
          </a:p>
        </p:txBody>
      </p:sp>
      <p:sp>
        <p:nvSpPr>
          <p:cNvPr id="23" name="">
            <a:extLst xmlns:a="http://schemas.openxmlformats.org/drawingml/2006/main">
              <a:ext uri="{FF2B5EF4-FFF2-40B4-BE49-F238E27FC236}">
                <a16:creationId xmlns:a16="http://schemas.microsoft.com/office/drawing/2014/main" id="{E0B75BC0-0E2D-465D-8503-F61A7A0FC3BF}"/>
              </a:ext>
            </a:extLst>
          </p:cNvPr>
          <p:cNvSpPr>
            <a:spLocks xmlns:a="http://schemas.openxmlformats.org/drawingml/2006/main" noGrp="1"/>
          </p:cNvSpPr>
          <p:nvPr/>
        </p:nvSpPr>
        <p:spPr>
          <a:xfrm xmlns:a="http://schemas.openxmlformats.org/drawingml/2006/main">
            <a:off x="5095875" y="438150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ADX14 = smoothed trend-strength index</a:t>
            </a:r>
          </a:p>
        </p:txBody>
      </p:sp>
      <p:sp>
        <p:nvSpPr>
          <p:cNvPr id="24" name="">
            <a:extLst xmlns:a="http://schemas.openxmlformats.org/drawingml/2006/main">
              <a:ext uri="{FF2B5EF4-FFF2-40B4-BE49-F238E27FC236}">
                <a16:creationId xmlns:a16="http://schemas.microsoft.com/office/drawing/2014/main" id="{0E483149-5D61-4DBC-931B-BCF50385037E}"/>
              </a:ext>
            </a:extLst>
          </p:cNvPr>
          <p:cNvSpPr>
            <a:spLocks xmlns:a="http://schemas.openxmlformats.org/drawingml/2006/main" noGrp="1"/>
          </p:cNvSpPr>
          <p:nvPr/>
        </p:nvSpPr>
        <p:spPr>
          <a:xfrm xmlns:a="http://schemas.openxmlformats.org/drawingml/2006/main">
            <a:off x="1095375" y="5429250"/>
            <a:ext cx="10001250" cy="685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C12B561-E6FA-4665-8A09-C00758F8DD24}"/>
              </a:ext>
            </a:extLst>
          </p:cNvPr>
          <p:cNvSpPr>
            <a:spLocks xmlns:a="http://schemas.openxmlformats.org/drawingml/2006/main" noGrp="1"/>
          </p:cNvSpPr>
          <p:nvPr/>
        </p:nvSpPr>
        <p:spPr>
          <a:xfrm xmlns:a="http://schemas.openxmlformats.org/drawingml/2006/main">
            <a:off x="1428750" y="5591175"/>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2A65A"/>
                </a:solidFill>
              </a:defRPr>
            </a:pPr>
            <a:r>
              <a:rPr sz="1425" b="1">
                <a:solidFill>
                  <a:srgbClr val="F2A65A"/>
                </a:solidFill>
              </a:rPr>
              <a:t>ADX measures strength, not sign. A high ADX can describe a strong uptrend or a strong downtrend—and it may peak after the trend has matured.</a:t>
            </a:r>
          </a:p>
        </p:txBody>
      </p:sp>
    </p:spTree>
    <p:extLst>
      <p:ext uri="{BB962C8B-B14F-4D97-AF65-F5344CB8AC3E}">
        <p14:creationId xmlns:p14="http://schemas.microsoft.com/office/powerpoint/2010/main" val="43963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5545FF1B-3579-4A1A-B8BD-926714122F70}"/>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DESIGN</a:t>
            </a:r>
          </a:p>
        </p:txBody>
      </p:sp>
      <p:sp>
        <p:nvSpPr>
          <p:cNvPr id="2" name="">
            <a:extLst xmlns:a="http://schemas.openxmlformats.org/drawingml/2006/main">
              <a:ext uri="{FF2B5EF4-FFF2-40B4-BE49-F238E27FC236}">
                <a16:creationId xmlns:a16="http://schemas.microsoft.com/office/drawing/2014/main" id="{99CDCBC2-6146-43D7-AC23-6D332AE0938F}"/>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target begins at next open and measures future path efficiency</a:t>
            </a:r>
          </a:p>
        </p:txBody>
      </p:sp>
      <p:sp>
        <p:nvSpPr>
          <p:cNvPr id="3" name="">
            <a:extLst xmlns:a="http://schemas.openxmlformats.org/drawingml/2006/main">
              <a:ext uri="{FF2B5EF4-FFF2-40B4-BE49-F238E27FC236}">
                <a16:creationId xmlns:a16="http://schemas.microsoft.com/office/drawing/2014/main" id="{62010C02-A478-4522-89C0-52FC2C96CE06}"/>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5</a:t>
            </a:r>
          </a:p>
        </p:txBody>
      </p:sp>
      <p:sp>
        <p:nvSpPr>
          <p:cNvPr id="4" name="">
            <a:extLst xmlns:a="http://schemas.openxmlformats.org/drawingml/2006/main">
              <a:ext uri="{FF2B5EF4-FFF2-40B4-BE49-F238E27FC236}">
                <a16:creationId xmlns:a16="http://schemas.microsoft.com/office/drawing/2014/main" id="{8B1FE3FC-81EC-4E1B-B1B4-4CAE06FA36DE}"/>
              </a:ext>
            </a:extLst>
          </p:cNvPr>
          <p:cNvSpPr>
            <a:spLocks xmlns:a="http://schemas.openxmlformats.org/drawingml/2006/main" noGrp="1"/>
          </p:cNvSpPr>
          <p:nvPr/>
        </p:nvSpPr>
        <p:spPr>
          <a:xfrm xmlns:a="http://schemas.openxmlformats.org/drawingml/2006/main">
            <a:off x="523875" y="1352550"/>
            <a:ext cx="6953250" cy="10001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0B5D65-F3D1-4B3C-BC32-4431B7FA99E8}"/>
              </a:ext>
            </a:extLst>
          </p:cNvPr>
          <p:cNvSpPr>
            <a:spLocks xmlns:a="http://schemas.openxmlformats.org/drawingml/2006/main" noGrp="1"/>
          </p:cNvSpPr>
          <p:nvPr/>
        </p:nvSpPr>
        <p:spPr>
          <a:xfrm xmlns:a="http://schemas.openxmlformats.org/drawingml/2006/main">
            <a:off x="809625" y="1562100"/>
            <a:ext cx="638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7324D"/>
                </a:solidFill>
              </a:defRPr>
            </a:pPr>
            <a:r>
              <a:rPr sz="1875" b="1">
                <a:solidFill>
                  <a:srgbClr val="17324D"/>
                </a:solidFill>
              </a:rPr>
              <a:t>FutureEff(t,H) = |log(C(t+H) / O(t+1))|</a:t>
            </a:r>
          </a:p>
          <a:p xmlns:a="http://schemas.openxmlformats.org/drawingml/2006/main">
            <a:pPr algn="ctr">
              <a:defRPr sz="1875" b="1">
                <a:solidFill>
                  <a:srgbClr val="17324D"/>
                </a:solidFill>
              </a:defRPr>
            </a:pPr>
            <a:r>
              <a:rPr sz="1875" b="1">
                <a:solidFill>
                  <a:srgbClr val="17324D"/>
                </a:solidFill>
              </a:rPr>
              <a:t>÷ sum of absolute future log-price steps</a:t>
            </a:r>
          </a:p>
        </p:txBody>
      </p:sp>
      <p:sp>
        <p:nvSpPr>
          <p:cNvPr id="6" name="">
            <a:extLst xmlns:a="http://schemas.openxmlformats.org/drawingml/2006/main">
              <a:ext uri="{FF2B5EF4-FFF2-40B4-BE49-F238E27FC236}">
                <a16:creationId xmlns:a16="http://schemas.microsoft.com/office/drawing/2014/main" id="{8FB7A719-725D-4BF4-8C13-BDC1FC73993C}"/>
              </a:ext>
            </a:extLst>
          </p:cNvPr>
          <p:cNvSpPr>
            <a:spLocks xmlns:a="http://schemas.openxmlformats.org/drawingml/2006/main" noGrp="1"/>
          </p:cNvSpPr>
          <p:nvPr/>
        </p:nvSpPr>
        <p:spPr>
          <a:xfrm xmlns:a="http://schemas.openxmlformats.org/drawingml/2006/main">
            <a:off x="809625" y="29051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defRPr>
            </a:pPr>
            <a:r>
              <a:rPr sz="1500" b="1">
                <a:solidFill>
                  <a:srgbClr val="3D8DFF"/>
                </a:solidFill>
              </a:rPr>
              <a:t>Signal close</a:t>
            </a:r>
          </a:p>
        </p:txBody>
      </p:sp>
      <p:sp>
        <p:nvSpPr>
          <p:cNvPr id="7" name="">
            <a:extLst xmlns:a="http://schemas.openxmlformats.org/drawingml/2006/main">
              <a:ext uri="{FF2B5EF4-FFF2-40B4-BE49-F238E27FC236}">
                <a16:creationId xmlns:a16="http://schemas.microsoft.com/office/drawing/2014/main" id="{74A7D72B-EC10-4791-9FB2-F7F0690C7CC6}"/>
              </a:ext>
            </a:extLst>
          </p:cNvPr>
          <p:cNvSpPr>
            <a:spLocks xmlns:a="http://schemas.openxmlformats.org/drawingml/2006/main" noGrp="1"/>
          </p:cNvSpPr>
          <p:nvPr/>
        </p:nvSpPr>
        <p:spPr>
          <a:xfrm xmlns:a="http://schemas.openxmlformats.org/drawingml/2006/main">
            <a:off x="2476500" y="28765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52606D"/>
                </a:solidFill>
              </a:defRPr>
            </a:pPr>
            <a:r>
              <a:rPr sz="2100" b="1">
                <a:solidFill>
                  <a:srgbClr val="52606D"/>
                </a:solidFill>
              </a:rPr>
              <a:t>→</a:t>
            </a:r>
          </a:p>
        </p:txBody>
      </p:sp>
      <p:sp>
        <p:nvSpPr>
          <p:cNvPr id="8" name="">
            <a:extLst xmlns:a="http://schemas.openxmlformats.org/drawingml/2006/main">
              <a:ext uri="{FF2B5EF4-FFF2-40B4-BE49-F238E27FC236}">
                <a16:creationId xmlns:a16="http://schemas.microsoft.com/office/drawing/2014/main" id="{07A08E05-8043-4717-AE6E-235C4CA46CBF}"/>
              </a:ext>
            </a:extLst>
          </p:cNvPr>
          <p:cNvSpPr>
            <a:spLocks xmlns:a="http://schemas.openxmlformats.org/drawingml/2006/main" noGrp="1"/>
          </p:cNvSpPr>
          <p:nvPr/>
        </p:nvSpPr>
        <p:spPr>
          <a:xfrm xmlns:a="http://schemas.openxmlformats.org/drawingml/2006/main">
            <a:off x="3000375" y="29051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2E8B57"/>
                </a:solidFill>
              </a:defRPr>
            </a:pPr>
            <a:r>
              <a:rPr sz="1500" b="1">
                <a:solidFill>
                  <a:srgbClr val="2E8B57"/>
                </a:solidFill>
              </a:rPr>
              <a:t>next open</a:t>
            </a:r>
          </a:p>
        </p:txBody>
      </p:sp>
      <p:sp>
        <p:nvSpPr>
          <p:cNvPr id="9" name="">
            <a:extLst xmlns:a="http://schemas.openxmlformats.org/drawingml/2006/main">
              <a:ext uri="{FF2B5EF4-FFF2-40B4-BE49-F238E27FC236}">
                <a16:creationId xmlns:a16="http://schemas.microsoft.com/office/drawing/2014/main" id="{8159E7CD-B500-4E43-B931-5602A50130A9}"/>
              </a:ext>
            </a:extLst>
          </p:cNvPr>
          <p:cNvSpPr>
            <a:spLocks xmlns:a="http://schemas.openxmlformats.org/drawingml/2006/main" noGrp="1"/>
          </p:cNvSpPr>
          <p:nvPr/>
        </p:nvSpPr>
        <p:spPr>
          <a:xfrm xmlns:a="http://schemas.openxmlformats.org/drawingml/2006/main">
            <a:off x="4572000" y="2876550"/>
            <a:ext cx="52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52606D"/>
                </a:solidFill>
              </a:defRPr>
            </a:pPr>
            <a:r>
              <a:rPr sz="2100" b="1">
                <a:solidFill>
                  <a:srgbClr val="52606D"/>
                </a:solidFill>
              </a:rPr>
              <a:t>→</a:t>
            </a:r>
          </a:p>
        </p:txBody>
      </p:sp>
      <p:sp>
        <p:nvSpPr>
          <p:cNvPr id="10" name="">
            <a:extLst xmlns:a="http://schemas.openxmlformats.org/drawingml/2006/main">
              <a:ext uri="{FF2B5EF4-FFF2-40B4-BE49-F238E27FC236}">
                <a16:creationId xmlns:a16="http://schemas.microsoft.com/office/drawing/2014/main" id="{F5AADB39-586D-4256-B90A-16CE8D6CC371}"/>
              </a:ext>
            </a:extLst>
          </p:cNvPr>
          <p:cNvSpPr>
            <a:spLocks xmlns:a="http://schemas.openxmlformats.org/drawingml/2006/main" noGrp="1"/>
          </p:cNvSpPr>
          <p:nvPr/>
        </p:nvSpPr>
        <p:spPr>
          <a:xfrm xmlns:a="http://schemas.openxmlformats.org/drawingml/2006/main">
            <a:off x="5095875" y="2905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6C63A8"/>
                </a:solidFill>
              </a:defRPr>
            </a:pPr>
            <a:r>
              <a:rPr sz="1500" b="1">
                <a:solidFill>
                  <a:srgbClr val="6C63A8"/>
                </a:solidFill>
              </a:rPr>
              <a:t>H5 / H10 / H20 path</a:t>
            </a:r>
          </a:p>
        </p:txBody>
      </p:sp>
      <p:sp>
        <p:nvSpPr>
          <p:cNvPr id="11" name="">
            <a:extLst xmlns:a="http://schemas.openxmlformats.org/drawingml/2006/main">
              <a:ext uri="{FF2B5EF4-FFF2-40B4-BE49-F238E27FC236}">
                <a16:creationId xmlns:a16="http://schemas.microsoft.com/office/drawing/2014/main" id="{1B687867-0AAC-47F9-B199-74B4BAFBC9EA}"/>
              </a:ext>
            </a:extLst>
          </p:cNvPr>
          <p:cNvSpPr>
            <a:spLocks xmlns:a="http://schemas.openxmlformats.org/drawingml/2006/main" noGrp="1"/>
          </p:cNvSpPr>
          <p:nvPr/>
        </p:nvSpPr>
        <p:spPr>
          <a:xfrm xmlns:a="http://schemas.openxmlformats.org/drawingml/2006/main">
            <a:off x="762000" y="3714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7324D"/>
                </a:solidFill>
              </a:defRPr>
            </a:pPr>
            <a:r>
              <a:rPr sz="1725" b="1">
                <a:solidFill>
                  <a:srgbClr val="17324D"/>
                </a:solidFill>
              </a:rPr>
              <a:t>Secondary semantics</a:t>
            </a:r>
          </a:p>
        </p:txBody>
      </p:sp>
      <p:sp>
        <p:nvSpPr>
          <p:cNvPr id="12" name="">
            <a:extLst xmlns:a="http://schemas.openxmlformats.org/drawingml/2006/main">
              <a:ext uri="{FF2B5EF4-FFF2-40B4-BE49-F238E27FC236}">
                <a16:creationId xmlns:a16="http://schemas.microsoft.com/office/drawing/2014/main" id="{250B2605-62A8-406B-B6F6-E24378535A03}"/>
              </a:ext>
            </a:extLst>
          </p:cNvPr>
          <p:cNvSpPr>
            <a:spLocks xmlns:a="http://schemas.openxmlformats.org/drawingml/2006/main" noGrp="1"/>
          </p:cNvSpPr>
          <p:nvPr/>
        </p:nvSpPr>
        <p:spPr>
          <a:xfrm xmlns:a="http://schemas.openxmlformats.org/drawingml/2006/main">
            <a:off x="857250" y="431482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5755A4A-32D2-4EF6-ABF1-1B6E31246BB5}"/>
              </a:ext>
            </a:extLst>
          </p:cNvPr>
          <p:cNvSpPr>
            <a:spLocks xmlns:a="http://schemas.openxmlformats.org/drawingml/2006/main" noGrp="1"/>
          </p:cNvSpPr>
          <p:nvPr/>
        </p:nvSpPr>
        <p:spPr>
          <a:xfrm xmlns:a="http://schemas.openxmlformats.org/drawingml/2006/main">
            <a:off x="1076325" y="4238625"/>
            <a:ext cx="5972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Direction survival: does the initial sign persist?</a:t>
            </a:r>
          </a:p>
        </p:txBody>
      </p:sp>
      <p:sp>
        <p:nvSpPr>
          <p:cNvPr id="14" name="">
            <a:extLst xmlns:a="http://schemas.openxmlformats.org/drawingml/2006/main">
              <a:ext uri="{FF2B5EF4-FFF2-40B4-BE49-F238E27FC236}">
                <a16:creationId xmlns:a16="http://schemas.microsoft.com/office/drawing/2014/main" id="{5A813D94-6D84-4826-B7FB-6E7215B45C11}"/>
              </a:ext>
            </a:extLst>
          </p:cNvPr>
          <p:cNvSpPr>
            <a:spLocks xmlns:a="http://schemas.openxmlformats.org/drawingml/2006/main" noGrp="1"/>
          </p:cNvSpPr>
          <p:nvPr/>
        </p:nvSpPr>
        <p:spPr>
          <a:xfrm xmlns:a="http://schemas.openxmlformats.org/drawingml/2006/main">
            <a:off x="857250" y="48672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0AC61E-CCE2-4960-AAF3-4EDE295A332C}"/>
              </a:ext>
            </a:extLst>
          </p:cNvPr>
          <p:cNvSpPr>
            <a:spLocks xmlns:a="http://schemas.openxmlformats.org/drawingml/2006/main" noGrp="1"/>
          </p:cNvSpPr>
          <p:nvPr/>
        </p:nvSpPr>
        <p:spPr>
          <a:xfrm xmlns:a="http://schemas.openxmlformats.org/drawingml/2006/main">
            <a:off x="1076325" y="4791075"/>
            <a:ext cx="5972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Turn rate: how often does the future path change sign?</a:t>
            </a:r>
          </a:p>
        </p:txBody>
      </p:sp>
      <p:sp>
        <p:nvSpPr>
          <p:cNvPr id="16" name="">
            <a:extLst xmlns:a="http://schemas.openxmlformats.org/drawingml/2006/main">
              <a:ext uri="{FF2B5EF4-FFF2-40B4-BE49-F238E27FC236}">
                <a16:creationId xmlns:a16="http://schemas.microsoft.com/office/drawing/2014/main" id="{B83958CF-9DB5-4281-B88F-CD6A8A6BE545}"/>
              </a:ext>
            </a:extLst>
          </p:cNvPr>
          <p:cNvSpPr>
            <a:spLocks xmlns:a="http://schemas.openxmlformats.org/drawingml/2006/main" noGrp="1"/>
          </p:cNvSpPr>
          <p:nvPr/>
        </p:nvSpPr>
        <p:spPr>
          <a:xfrm xmlns:a="http://schemas.openxmlformats.org/drawingml/2006/main">
            <a:off x="7953375" y="1352550"/>
            <a:ext cx="3619500" cy="4333875"/>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C135E0-115B-4A03-82EA-FCD3FFB43774}"/>
              </a:ext>
            </a:extLst>
          </p:cNvPr>
          <p:cNvSpPr>
            <a:spLocks xmlns:a="http://schemas.openxmlformats.org/drawingml/2006/main" noGrp="1"/>
          </p:cNvSpPr>
          <p:nvPr/>
        </p:nvSpPr>
        <p:spPr>
          <a:xfrm xmlns:a="http://schemas.openxmlformats.org/drawingml/2006/main">
            <a:off x="8286750" y="1638300"/>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Nine gates per candidate</a:t>
            </a:r>
          </a:p>
        </p:txBody>
      </p:sp>
      <p:sp>
        <p:nvSpPr>
          <p:cNvPr id="18" name="">
            <a:extLst xmlns:a="http://schemas.openxmlformats.org/drawingml/2006/main">
              <a:ext uri="{FF2B5EF4-FFF2-40B4-BE49-F238E27FC236}">
                <a16:creationId xmlns:a16="http://schemas.microsoft.com/office/drawing/2014/main" id="{4A0CA58C-3AEA-4E5F-A9A8-5B176B42849E}"/>
              </a:ext>
            </a:extLst>
          </p:cNvPr>
          <p:cNvSpPr>
            <a:spLocks xmlns:a="http://schemas.openxmlformats.org/drawingml/2006/main" noGrp="1"/>
          </p:cNvSpPr>
          <p:nvPr/>
        </p:nvSpPr>
        <p:spPr>
          <a:xfrm xmlns:a="http://schemas.openxmlformats.org/drawingml/2006/main">
            <a:off x="8286750" y="22669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A209C83-EC95-4DF1-A644-A94F96EF48F4}"/>
              </a:ext>
            </a:extLst>
          </p:cNvPr>
          <p:cNvSpPr>
            <a:spLocks xmlns:a="http://schemas.openxmlformats.org/drawingml/2006/main" noGrp="1"/>
          </p:cNvSpPr>
          <p:nvPr/>
        </p:nvSpPr>
        <p:spPr>
          <a:xfrm xmlns:a="http://schemas.openxmlformats.org/drawingml/2006/main">
            <a:off x="8505825" y="2190750"/>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Integrity</a:t>
            </a:r>
          </a:p>
        </p:txBody>
      </p:sp>
      <p:sp>
        <p:nvSpPr>
          <p:cNvPr id="20" name="">
            <a:extLst xmlns:a="http://schemas.openxmlformats.org/drawingml/2006/main">
              <a:ext uri="{FF2B5EF4-FFF2-40B4-BE49-F238E27FC236}">
                <a16:creationId xmlns:a16="http://schemas.microsoft.com/office/drawing/2014/main" id="{70E61E61-2740-40D0-A978-45BAE18650E4}"/>
              </a:ext>
            </a:extLst>
          </p:cNvPr>
          <p:cNvSpPr>
            <a:spLocks xmlns:a="http://schemas.openxmlformats.org/drawingml/2006/main" noGrp="1"/>
          </p:cNvSpPr>
          <p:nvPr/>
        </p:nvSpPr>
        <p:spPr>
          <a:xfrm xmlns:a="http://schemas.openxmlformats.org/drawingml/2006/main">
            <a:off x="8286750" y="261937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9D1E3E2-FB58-423E-9CA4-24C6C2109A6E}"/>
              </a:ext>
            </a:extLst>
          </p:cNvPr>
          <p:cNvSpPr>
            <a:spLocks xmlns:a="http://schemas.openxmlformats.org/drawingml/2006/main" noGrp="1"/>
          </p:cNvSpPr>
          <p:nvPr/>
        </p:nvSpPr>
        <p:spPr>
          <a:xfrm xmlns:a="http://schemas.openxmlformats.org/drawingml/2006/main">
            <a:off x="8505825" y="2543175"/>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H10 continuous order</a:t>
            </a:r>
          </a:p>
        </p:txBody>
      </p:sp>
      <p:sp>
        <p:nvSpPr>
          <p:cNvPr id="22" name="">
            <a:extLst xmlns:a="http://schemas.openxmlformats.org/drawingml/2006/main">
              <a:ext uri="{FF2B5EF4-FFF2-40B4-BE49-F238E27FC236}">
                <a16:creationId xmlns:a16="http://schemas.microsoft.com/office/drawing/2014/main" id="{696CC24E-899E-454D-9A77-03E7DDF38543}"/>
              </a:ext>
            </a:extLst>
          </p:cNvPr>
          <p:cNvSpPr>
            <a:spLocks xmlns:a="http://schemas.openxmlformats.org/drawingml/2006/main" noGrp="1"/>
          </p:cNvSpPr>
          <p:nvPr/>
        </p:nvSpPr>
        <p:spPr>
          <a:xfrm xmlns:a="http://schemas.openxmlformats.org/drawingml/2006/main">
            <a:off x="8286750" y="29718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6BD81A-75E0-4C89-ACAB-3DA03583A02E}"/>
              </a:ext>
            </a:extLst>
          </p:cNvPr>
          <p:cNvSpPr>
            <a:spLocks xmlns:a="http://schemas.openxmlformats.org/drawingml/2006/main" noGrp="1"/>
          </p:cNvSpPr>
          <p:nvPr/>
        </p:nvSpPr>
        <p:spPr>
          <a:xfrm xmlns:a="http://schemas.openxmlformats.org/drawingml/2006/main">
            <a:off x="8505825" y="2895600"/>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H10 state separation</a:t>
            </a:r>
          </a:p>
        </p:txBody>
      </p:sp>
      <p:sp>
        <p:nvSpPr>
          <p:cNvPr id="24" name="">
            <a:extLst xmlns:a="http://schemas.openxmlformats.org/drawingml/2006/main">
              <a:ext uri="{FF2B5EF4-FFF2-40B4-BE49-F238E27FC236}">
                <a16:creationId xmlns:a16="http://schemas.microsoft.com/office/drawing/2014/main" id="{D96A33B8-5331-415F-A297-DBA3A07C55DE}"/>
              </a:ext>
            </a:extLst>
          </p:cNvPr>
          <p:cNvSpPr>
            <a:spLocks xmlns:a="http://schemas.openxmlformats.org/drawingml/2006/main" noGrp="1"/>
          </p:cNvSpPr>
          <p:nvPr/>
        </p:nvSpPr>
        <p:spPr>
          <a:xfrm xmlns:a="http://schemas.openxmlformats.org/drawingml/2006/main">
            <a:off x="8286750" y="33242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E61A8D0-328F-4278-82F0-2B9CEE1D5E97}"/>
              </a:ext>
            </a:extLst>
          </p:cNvPr>
          <p:cNvSpPr>
            <a:spLocks xmlns:a="http://schemas.openxmlformats.org/drawingml/2006/main" noGrp="1"/>
          </p:cNvSpPr>
          <p:nvPr/>
        </p:nvSpPr>
        <p:spPr>
          <a:xfrm xmlns:a="http://schemas.openxmlformats.org/drawingml/2006/main">
            <a:off x="8505825" y="3248025"/>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H20 durability</a:t>
            </a:r>
          </a:p>
        </p:txBody>
      </p:sp>
      <p:sp>
        <p:nvSpPr>
          <p:cNvPr id="26" name="">
            <a:extLst xmlns:a="http://schemas.openxmlformats.org/drawingml/2006/main">
              <a:ext uri="{FF2B5EF4-FFF2-40B4-BE49-F238E27FC236}">
                <a16:creationId xmlns:a16="http://schemas.microsoft.com/office/drawing/2014/main" id="{E0797CF9-0F2F-4C36-9B4E-39E8335A5F6E}"/>
              </a:ext>
            </a:extLst>
          </p:cNvPr>
          <p:cNvSpPr>
            <a:spLocks xmlns:a="http://schemas.openxmlformats.org/drawingml/2006/main" noGrp="1"/>
          </p:cNvSpPr>
          <p:nvPr/>
        </p:nvSpPr>
        <p:spPr>
          <a:xfrm xmlns:a="http://schemas.openxmlformats.org/drawingml/2006/main">
            <a:off x="8286750" y="36766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123003A-D0CA-46B9-BE05-4468D0BB1099}"/>
              </a:ext>
            </a:extLst>
          </p:cNvPr>
          <p:cNvSpPr>
            <a:spLocks xmlns:a="http://schemas.openxmlformats.org/drawingml/2006/main" noGrp="1"/>
          </p:cNvSpPr>
          <p:nvPr/>
        </p:nvSpPr>
        <p:spPr>
          <a:xfrm xmlns:a="http://schemas.openxmlformats.org/drawingml/2006/main">
            <a:off x="8505825" y="3600450"/>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Path semantics</a:t>
            </a:r>
          </a:p>
        </p:txBody>
      </p:sp>
      <p:sp>
        <p:nvSpPr>
          <p:cNvPr id="28" name="">
            <a:extLst xmlns:a="http://schemas.openxmlformats.org/drawingml/2006/main">
              <a:ext uri="{FF2B5EF4-FFF2-40B4-BE49-F238E27FC236}">
                <a16:creationId xmlns:a16="http://schemas.microsoft.com/office/drawing/2014/main" id="{39165A83-4C86-433A-AB14-12126ABA2BEB}"/>
              </a:ext>
            </a:extLst>
          </p:cNvPr>
          <p:cNvSpPr>
            <a:spLocks xmlns:a="http://schemas.openxmlformats.org/drawingml/2006/main" noGrp="1"/>
          </p:cNvSpPr>
          <p:nvPr/>
        </p:nvSpPr>
        <p:spPr>
          <a:xfrm xmlns:a="http://schemas.openxmlformats.org/drawingml/2006/main">
            <a:off x="8286750" y="402907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E71A881-8A65-479A-88C8-6E4F811E1E85}"/>
              </a:ext>
            </a:extLst>
          </p:cNvPr>
          <p:cNvSpPr>
            <a:spLocks xmlns:a="http://schemas.openxmlformats.org/drawingml/2006/main" noGrp="1"/>
          </p:cNvSpPr>
          <p:nvPr/>
        </p:nvSpPr>
        <p:spPr>
          <a:xfrm xmlns:a="http://schemas.openxmlformats.org/drawingml/2006/main">
            <a:off x="8505825" y="3952875"/>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All H10 offsets</a:t>
            </a:r>
          </a:p>
        </p:txBody>
      </p:sp>
      <p:sp>
        <p:nvSpPr>
          <p:cNvPr id="30" name="">
            <a:extLst xmlns:a="http://schemas.openxmlformats.org/drawingml/2006/main">
              <a:ext uri="{FF2B5EF4-FFF2-40B4-BE49-F238E27FC236}">
                <a16:creationId xmlns:a16="http://schemas.microsoft.com/office/drawing/2014/main" id="{2F2D8DC5-645F-4B96-9B07-1B1E000C9E9C}"/>
              </a:ext>
            </a:extLst>
          </p:cNvPr>
          <p:cNvSpPr>
            <a:spLocks xmlns:a="http://schemas.openxmlformats.org/drawingml/2006/main" noGrp="1"/>
          </p:cNvSpPr>
          <p:nvPr/>
        </p:nvSpPr>
        <p:spPr>
          <a:xfrm xmlns:a="http://schemas.openxmlformats.org/drawingml/2006/main">
            <a:off x="8286750" y="43815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DA0CEFF-A4C6-41C0-B640-FBD920A4DB1E}"/>
              </a:ext>
            </a:extLst>
          </p:cNvPr>
          <p:cNvSpPr>
            <a:spLocks xmlns:a="http://schemas.openxmlformats.org/drawingml/2006/main" noGrp="1"/>
          </p:cNvSpPr>
          <p:nvPr/>
        </p:nvSpPr>
        <p:spPr>
          <a:xfrm xmlns:a="http://schemas.openxmlformats.org/drawingml/2006/main">
            <a:off x="8505825" y="4305300"/>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Time/year transport</a:t>
            </a:r>
          </a:p>
        </p:txBody>
      </p:sp>
      <p:sp>
        <p:nvSpPr>
          <p:cNvPr id="32" name="">
            <a:extLst xmlns:a="http://schemas.openxmlformats.org/drawingml/2006/main">
              <a:ext uri="{FF2B5EF4-FFF2-40B4-BE49-F238E27FC236}">
                <a16:creationId xmlns:a16="http://schemas.microsoft.com/office/drawing/2014/main" id="{515DA061-E96F-41E1-B3D1-945BA1283999}"/>
              </a:ext>
            </a:extLst>
          </p:cNvPr>
          <p:cNvSpPr>
            <a:spLocks xmlns:a="http://schemas.openxmlformats.org/drawingml/2006/main" noGrp="1"/>
          </p:cNvSpPr>
          <p:nvPr/>
        </p:nvSpPr>
        <p:spPr>
          <a:xfrm xmlns:a="http://schemas.openxmlformats.org/drawingml/2006/main">
            <a:off x="8286750" y="47339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786B19D-5701-4923-905F-E1CC15FC728F}"/>
              </a:ext>
            </a:extLst>
          </p:cNvPr>
          <p:cNvSpPr>
            <a:spLocks xmlns:a="http://schemas.openxmlformats.org/drawingml/2006/main" noGrp="1"/>
          </p:cNvSpPr>
          <p:nvPr/>
        </p:nvSpPr>
        <p:spPr>
          <a:xfrm xmlns:a="http://schemas.openxmlformats.org/drawingml/2006/main">
            <a:off x="8505825" y="4657725"/>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Circular timing control</a:t>
            </a:r>
          </a:p>
        </p:txBody>
      </p:sp>
      <p:sp>
        <p:nvSpPr>
          <p:cNvPr id="34" name="">
            <a:extLst xmlns:a="http://schemas.openxmlformats.org/drawingml/2006/main">
              <a:ext uri="{FF2B5EF4-FFF2-40B4-BE49-F238E27FC236}">
                <a16:creationId xmlns:a16="http://schemas.microsoft.com/office/drawing/2014/main" id="{4AAC13C1-8252-4AB6-B7DD-58F20B3E4261}"/>
              </a:ext>
            </a:extLst>
          </p:cNvPr>
          <p:cNvSpPr>
            <a:spLocks xmlns:a="http://schemas.openxmlformats.org/drawingml/2006/main" noGrp="1"/>
          </p:cNvSpPr>
          <p:nvPr/>
        </p:nvSpPr>
        <p:spPr>
          <a:xfrm xmlns:a="http://schemas.openxmlformats.org/drawingml/2006/main">
            <a:off x="8286750" y="50863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1405EE8-07A0-42C1-9B33-8F683D146494}"/>
              </a:ext>
            </a:extLst>
          </p:cNvPr>
          <p:cNvSpPr>
            <a:spLocks xmlns:a="http://schemas.openxmlformats.org/drawingml/2006/main" noGrp="1"/>
          </p:cNvSpPr>
          <p:nvPr/>
        </p:nvSpPr>
        <p:spPr>
          <a:xfrm xmlns:a="http://schemas.openxmlformats.org/drawingml/2006/main">
            <a:off x="8505825" y="5010150"/>
            <a:ext cx="27336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State usability</a:t>
            </a:r>
          </a:p>
        </p:txBody>
      </p:sp>
      <p:sp>
        <p:nvSpPr>
          <p:cNvPr id="36" name="">
            <a:extLst xmlns:a="http://schemas.openxmlformats.org/drawingml/2006/main">
              <a:ext uri="{FF2B5EF4-FFF2-40B4-BE49-F238E27FC236}">
                <a16:creationId xmlns:a16="http://schemas.microsoft.com/office/drawing/2014/main" id="{E4B76E36-F8CE-4D09-983C-7B4839544931}"/>
              </a:ext>
            </a:extLst>
          </p:cNvPr>
          <p:cNvSpPr>
            <a:spLocks xmlns:a="http://schemas.openxmlformats.org/drawingml/2006/main" noGrp="1"/>
          </p:cNvSpPr>
          <p:nvPr/>
        </p:nvSpPr>
        <p:spPr>
          <a:xfrm xmlns:a="http://schemas.openxmlformats.org/drawingml/2006/main">
            <a:off x="7905750" y="5905500"/>
            <a:ext cx="3714750" cy="4000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94CF839-20B5-4108-AE0C-DF498C04D524}"/>
              </a:ext>
            </a:extLst>
          </p:cNvPr>
          <p:cNvSpPr>
            <a:spLocks xmlns:a="http://schemas.openxmlformats.org/drawingml/2006/main" noGrp="1"/>
          </p:cNvSpPr>
          <p:nvPr/>
        </p:nvSpPr>
        <p:spPr>
          <a:xfrm xmlns:a="http://schemas.openxmlformats.org/drawingml/2006/main">
            <a:off x="8096250" y="6000750"/>
            <a:ext cx="333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D95F59"/>
                </a:solidFill>
              </a:defRPr>
            </a:pPr>
            <a:r>
              <a:rPr sz="1275" b="1">
                <a:solidFill>
                  <a:srgbClr val="D95F59"/>
                </a:solidFill>
              </a:rPr>
              <a:t>All required · no strategy contact</a:t>
            </a:r>
          </a:p>
        </p:txBody>
      </p:sp>
    </p:spTree>
    <p:extLst>
      <p:ext uri="{BB962C8B-B14F-4D97-AF65-F5344CB8AC3E}">
        <p14:creationId xmlns:p14="http://schemas.microsoft.com/office/powerpoint/2010/main" val="4029610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6EB5301-A115-47BB-A1FC-1646876A8F46}"/>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PRIMARY H10 READOUT</a:t>
            </a:r>
          </a:p>
        </p:txBody>
      </p:sp>
      <p:sp>
        <p:nvSpPr>
          <p:cNvPr id="2" name="">
            <a:extLst xmlns:a="http://schemas.openxmlformats.org/drawingml/2006/main">
              <a:ext uri="{FF2B5EF4-FFF2-40B4-BE49-F238E27FC236}">
                <a16:creationId xmlns:a16="http://schemas.microsoft.com/office/drawing/2014/main" id="{676B860B-1DCE-483D-9BAF-214E0BC32DA8}"/>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Neither indicator ordered future path efficiency</a:t>
            </a:r>
          </a:p>
        </p:txBody>
      </p:sp>
      <p:sp>
        <p:nvSpPr>
          <p:cNvPr id="3" name="">
            <a:extLst xmlns:a="http://schemas.openxmlformats.org/drawingml/2006/main">
              <a:ext uri="{FF2B5EF4-FFF2-40B4-BE49-F238E27FC236}">
                <a16:creationId xmlns:a16="http://schemas.microsoft.com/office/drawing/2014/main" id="{CA33C288-87EA-4F62-AD65-F73E0DEE18D0}"/>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6</a:t>
            </a:r>
          </a:p>
        </p:txBody>
      </p:sp>
      <p:sp>
        <p:nvSpPr>
          <p:cNvPr id="4" name="">
            <a:extLst xmlns:a="http://schemas.openxmlformats.org/drawingml/2006/main">
              <a:ext uri="{FF2B5EF4-FFF2-40B4-BE49-F238E27FC236}">
                <a16:creationId xmlns:a16="http://schemas.microsoft.com/office/drawing/2014/main" id="{14BF800C-7F29-4C1A-A6B5-015B5D55F9F7}"/>
              </a:ext>
            </a:extLst>
          </p:cNvPr>
          <p:cNvSpPr>
            <a:spLocks xmlns:a="http://schemas.openxmlformats.org/drawingml/2006/main" noGrp="1"/>
          </p:cNvSpPr>
          <p:nvPr/>
        </p:nvSpPr>
        <p:spPr>
          <a:xfrm xmlns:a="http://schemas.openxmlformats.org/drawingml/2006/main">
            <a:off x="762000" y="13811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defRPr>
            </a:pPr>
            <a:r>
              <a:rPr sz="2250" b="1">
                <a:solidFill>
                  <a:srgbClr val="3D8DFF"/>
                </a:solidFill>
              </a:rPr>
              <a:t>ER(20)</a:t>
            </a:r>
          </a:p>
        </p:txBody>
      </p:sp>
      <p:sp>
        <p:nvSpPr>
          <p:cNvPr id="5" name="">
            <a:extLst xmlns:a="http://schemas.openxmlformats.org/drawingml/2006/main">
              <a:ext uri="{FF2B5EF4-FFF2-40B4-BE49-F238E27FC236}">
                <a16:creationId xmlns:a16="http://schemas.microsoft.com/office/drawing/2014/main" id="{69FC35A8-6B7F-480B-B614-461A2A0F1EFE}"/>
              </a:ext>
            </a:extLst>
          </p:cNvPr>
          <p:cNvSpPr>
            <a:spLocks xmlns:a="http://schemas.openxmlformats.org/drawingml/2006/main" noGrp="1"/>
          </p:cNvSpPr>
          <p:nvPr/>
        </p:nvSpPr>
        <p:spPr>
          <a:xfrm xmlns:a="http://schemas.openxmlformats.org/drawingml/2006/main">
            <a:off x="6667500" y="13811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6C63A8"/>
                </a:solidFill>
              </a:defRPr>
            </a:pPr>
            <a:r>
              <a:rPr sz="2250" b="1">
                <a:solidFill>
                  <a:srgbClr val="6C63A8"/>
                </a:solidFill>
              </a:rPr>
              <a:t>ADX(14)</a:t>
            </a:r>
          </a:p>
        </p:txBody>
      </p:sp>
      <p:sp>
        <p:nvSpPr>
          <p:cNvPr id="6" name="">
            <a:extLst xmlns:a="http://schemas.openxmlformats.org/drawingml/2006/main">
              <a:ext uri="{FF2B5EF4-FFF2-40B4-BE49-F238E27FC236}">
                <a16:creationId xmlns:a16="http://schemas.microsoft.com/office/drawing/2014/main" id="{71F2057D-2539-40A8-8179-9C9C8437ACB5}"/>
              </a:ext>
            </a:extLst>
          </p:cNvPr>
          <p:cNvSpPr>
            <a:spLocks xmlns:a="http://schemas.openxmlformats.org/drawingml/2006/main" noGrp="1"/>
          </p:cNvSpPr>
          <p:nvPr/>
        </p:nvSpPr>
        <p:spPr>
          <a:xfrm xmlns:a="http://schemas.openxmlformats.org/drawingml/2006/main">
            <a:off x="619125" y="2047875"/>
            <a:ext cx="238125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460FFCD-FD2F-46B0-BC63-CCA9F78EA5A0}"/>
              </a:ext>
            </a:extLst>
          </p:cNvPr>
          <p:cNvSpPr>
            <a:spLocks xmlns:a="http://schemas.openxmlformats.org/drawingml/2006/main" noGrp="1"/>
          </p:cNvSpPr>
          <p:nvPr/>
        </p:nvSpPr>
        <p:spPr>
          <a:xfrm xmlns:a="http://schemas.openxmlformats.org/drawingml/2006/main">
            <a:off x="847725" y="219075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−0.023</a:t>
            </a:r>
          </a:p>
        </p:txBody>
      </p:sp>
      <p:sp>
        <p:nvSpPr>
          <p:cNvPr id="8" name="">
            <a:extLst xmlns:a="http://schemas.openxmlformats.org/drawingml/2006/main">
              <a:ext uri="{FF2B5EF4-FFF2-40B4-BE49-F238E27FC236}">
                <a16:creationId xmlns:a16="http://schemas.microsoft.com/office/drawing/2014/main" id="{32F13A3A-93F8-4792-AF9F-35964919C31F}"/>
              </a:ext>
            </a:extLst>
          </p:cNvPr>
          <p:cNvSpPr>
            <a:spLocks xmlns:a="http://schemas.openxmlformats.org/drawingml/2006/main" noGrp="1"/>
          </p:cNvSpPr>
          <p:nvPr/>
        </p:nvSpPr>
        <p:spPr>
          <a:xfrm xmlns:a="http://schemas.openxmlformats.org/drawingml/2006/main">
            <a:off x="847725" y="266700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per-asset rho</a:t>
            </a:r>
          </a:p>
        </p:txBody>
      </p:sp>
      <p:sp>
        <p:nvSpPr>
          <p:cNvPr id="9" name="">
            <a:extLst xmlns:a="http://schemas.openxmlformats.org/drawingml/2006/main">
              <a:ext uri="{FF2B5EF4-FFF2-40B4-BE49-F238E27FC236}">
                <a16:creationId xmlns:a16="http://schemas.microsoft.com/office/drawing/2014/main" id="{983B2A1E-118B-4990-A6BE-236175CEC82D}"/>
              </a:ext>
            </a:extLst>
          </p:cNvPr>
          <p:cNvSpPr>
            <a:spLocks xmlns:a="http://schemas.openxmlformats.org/drawingml/2006/main" noGrp="1"/>
          </p:cNvSpPr>
          <p:nvPr/>
        </p:nvSpPr>
        <p:spPr>
          <a:xfrm xmlns:a="http://schemas.openxmlformats.org/drawingml/2006/main">
            <a:off x="3190875" y="2047875"/>
            <a:ext cx="238125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4CA1E94-E5AC-46B1-A9E8-E3B9A610FF61}"/>
              </a:ext>
            </a:extLst>
          </p:cNvPr>
          <p:cNvSpPr>
            <a:spLocks xmlns:a="http://schemas.openxmlformats.org/drawingml/2006/main" noGrp="1"/>
          </p:cNvSpPr>
          <p:nvPr/>
        </p:nvSpPr>
        <p:spPr>
          <a:xfrm xmlns:a="http://schemas.openxmlformats.org/drawingml/2006/main">
            <a:off x="3419475" y="219075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6 / 26</a:t>
            </a:r>
          </a:p>
        </p:txBody>
      </p:sp>
      <p:sp>
        <p:nvSpPr>
          <p:cNvPr id="11" name="">
            <a:extLst xmlns:a="http://schemas.openxmlformats.org/drawingml/2006/main">
              <a:ext uri="{FF2B5EF4-FFF2-40B4-BE49-F238E27FC236}">
                <a16:creationId xmlns:a16="http://schemas.microsoft.com/office/drawing/2014/main" id="{8E7A44DB-1371-4409-99C6-271F78C34757}"/>
              </a:ext>
            </a:extLst>
          </p:cNvPr>
          <p:cNvSpPr>
            <a:spLocks xmlns:a="http://schemas.openxmlformats.org/drawingml/2006/main" noGrp="1"/>
          </p:cNvSpPr>
          <p:nvPr/>
        </p:nvSpPr>
        <p:spPr>
          <a:xfrm xmlns:a="http://schemas.openxmlformats.org/drawingml/2006/main">
            <a:off x="3419475" y="266700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assets with rho &gt; 0</a:t>
            </a:r>
          </a:p>
        </p:txBody>
      </p:sp>
      <p:sp>
        <p:nvSpPr>
          <p:cNvPr id="12" name="">
            <a:extLst xmlns:a="http://schemas.openxmlformats.org/drawingml/2006/main">
              <a:ext uri="{FF2B5EF4-FFF2-40B4-BE49-F238E27FC236}">
                <a16:creationId xmlns:a16="http://schemas.microsoft.com/office/drawing/2014/main" id="{CFA17A6A-A595-4F8E-914E-46DE76858224}"/>
              </a:ext>
            </a:extLst>
          </p:cNvPr>
          <p:cNvSpPr>
            <a:spLocks xmlns:a="http://schemas.openxmlformats.org/drawingml/2006/main" noGrp="1"/>
          </p:cNvSpPr>
          <p:nvPr/>
        </p:nvSpPr>
        <p:spPr>
          <a:xfrm xmlns:a="http://schemas.openxmlformats.org/drawingml/2006/main">
            <a:off x="619125" y="3333750"/>
            <a:ext cx="238125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63C9476-2B86-427F-988F-B0F8E0678870}"/>
              </a:ext>
            </a:extLst>
          </p:cNvPr>
          <p:cNvSpPr>
            <a:spLocks xmlns:a="http://schemas.openxmlformats.org/drawingml/2006/main" noGrp="1"/>
          </p:cNvSpPr>
          <p:nvPr/>
        </p:nvSpPr>
        <p:spPr>
          <a:xfrm xmlns:a="http://schemas.openxmlformats.org/drawingml/2006/main">
            <a:off x="847725" y="34766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0.956x</a:t>
            </a:r>
          </a:p>
        </p:txBody>
      </p:sp>
      <p:sp>
        <p:nvSpPr>
          <p:cNvPr id="14" name="">
            <a:extLst xmlns:a="http://schemas.openxmlformats.org/drawingml/2006/main">
              <a:ext uri="{FF2B5EF4-FFF2-40B4-BE49-F238E27FC236}">
                <a16:creationId xmlns:a16="http://schemas.microsoft.com/office/drawing/2014/main" id="{E590B5C9-A4B4-4D96-AE89-A8205B323750}"/>
              </a:ext>
            </a:extLst>
          </p:cNvPr>
          <p:cNvSpPr>
            <a:spLocks xmlns:a="http://schemas.openxmlformats.org/drawingml/2006/main" noGrp="1"/>
          </p:cNvSpPr>
          <p:nvPr/>
        </p:nvSpPr>
        <p:spPr>
          <a:xfrm xmlns:a="http://schemas.openxmlformats.org/drawingml/2006/main">
            <a:off x="847725" y="3952875"/>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HIGH / LOW efficiency</a:t>
            </a:r>
          </a:p>
        </p:txBody>
      </p:sp>
      <p:sp>
        <p:nvSpPr>
          <p:cNvPr id="15" name="">
            <a:extLst xmlns:a="http://schemas.openxmlformats.org/drawingml/2006/main">
              <a:ext uri="{FF2B5EF4-FFF2-40B4-BE49-F238E27FC236}">
                <a16:creationId xmlns:a16="http://schemas.microsoft.com/office/drawing/2014/main" id="{AE33AED3-1F29-4C2B-B5F5-283F905E9542}"/>
              </a:ext>
            </a:extLst>
          </p:cNvPr>
          <p:cNvSpPr>
            <a:spLocks xmlns:a="http://schemas.openxmlformats.org/drawingml/2006/main" noGrp="1"/>
          </p:cNvSpPr>
          <p:nvPr/>
        </p:nvSpPr>
        <p:spPr>
          <a:xfrm xmlns:a="http://schemas.openxmlformats.org/drawingml/2006/main">
            <a:off x="3190875" y="3333750"/>
            <a:ext cx="23812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4E097A-2A40-42BE-B750-5964A2AD025B}"/>
              </a:ext>
            </a:extLst>
          </p:cNvPr>
          <p:cNvSpPr>
            <a:spLocks xmlns:a="http://schemas.openxmlformats.org/drawingml/2006/main" noGrp="1"/>
          </p:cNvSpPr>
          <p:nvPr/>
        </p:nvSpPr>
        <p:spPr>
          <a:xfrm xmlns:a="http://schemas.openxmlformats.org/drawingml/2006/main">
            <a:off x="3419475" y="34766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 / 9</a:t>
            </a:r>
          </a:p>
        </p:txBody>
      </p:sp>
      <p:sp>
        <p:nvSpPr>
          <p:cNvPr id="17" name="">
            <a:extLst xmlns:a="http://schemas.openxmlformats.org/drawingml/2006/main">
              <a:ext uri="{FF2B5EF4-FFF2-40B4-BE49-F238E27FC236}">
                <a16:creationId xmlns:a16="http://schemas.microsoft.com/office/drawing/2014/main" id="{62390DD2-09EC-4F9C-B7F3-814882200574}"/>
              </a:ext>
            </a:extLst>
          </p:cNvPr>
          <p:cNvSpPr>
            <a:spLocks xmlns:a="http://schemas.openxmlformats.org/drawingml/2006/main" noGrp="1"/>
          </p:cNvSpPr>
          <p:nvPr/>
        </p:nvSpPr>
        <p:spPr>
          <a:xfrm xmlns:a="http://schemas.openxmlformats.org/drawingml/2006/main">
            <a:off x="3419475" y="3952875"/>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gates passed</a:t>
            </a:r>
          </a:p>
        </p:txBody>
      </p:sp>
      <p:sp>
        <p:nvSpPr>
          <p:cNvPr id="18" name="">
            <a:extLst xmlns:a="http://schemas.openxmlformats.org/drawingml/2006/main">
              <a:ext uri="{FF2B5EF4-FFF2-40B4-BE49-F238E27FC236}">
                <a16:creationId xmlns:a16="http://schemas.microsoft.com/office/drawing/2014/main" id="{51824C34-A97A-4A76-8CDC-DE0EB6A16F6F}"/>
              </a:ext>
            </a:extLst>
          </p:cNvPr>
          <p:cNvSpPr>
            <a:spLocks xmlns:a="http://schemas.openxmlformats.org/drawingml/2006/main" noGrp="1"/>
          </p:cNvSpPr>
          <p:nvPr/>
        </p:nvSpPr>
        <p:spPr>
          <a:xfrm xmlns:a="http://schemas.openxmlformats.org/drawingml/2006/main">
            <a:off x="6524625" y="2047875"/>
            <a:ext cx="2381250" cy="1066800"/>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8C6B19D-7331-4BC4-85D6-2E4D37BF2F2C}"/>
              </a:ext>
            </a:extLst>
          </p:cNvPr>
          <p:cNvSpPr>
            <a:spLocks xmlns:a="http://schemas.openxmlformats.org/drawingml/2006/main" noGrp="1"/>
          </p:cNvSpPr>
          <p:nvPr/>
        </p:nvSpPr>
        <p:spPr>
          <a:xfrm xmlns:a="http://schemas.openxmlformats.org/drawingml/2006/main">
            <a:off x="6753225" y="219075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6C63A8"/>
                </a:solidFill>
              </a:defRPr>
            </a:pPr>
            <a:r>
              <a:rPr sz="2325" b="1">
                <a:solidFill>
                  <a:srgbClr val="6C63A8"/>
                </a:solidFill>
              </a:rPr>
              <a:t>−0.049</a:t>
            </a:r>
          </a:p>
        </p:txBody>
      </p:sp>
      <p:sp>
        <p:nvSpPr>
          <p:cNvPr id="20" name="">
            <a:extLst xmlns:a="http://schemas.openxmlformats.org/drawingml/2006/main">
              <a:ext uri="{FF2B5EF4-FFF2-40B4-BE49-F238E27FC236}">
                <a16:creationId xmlns:a16="http://schemas.microsoft.com/office/drawing/2014/main" id="{1C2614C2-25DE-4F66-9642-D599A387009E}"/>
              </a:ext>
            </a:extLst>
          </p:cNvPr>
          <p:cNvSpPr>
            <a:spLocks xmlns:a="http://schemas.openxmlformats.org/drawingml/2006/main" noGrp="1"/>
          </p:cNvSpPr>
          <p:nvPr/>
        </p:nvSpPr>
        <p:spPr>
          <a:xfrm xmlns:a="http://schemas.openxmlformats.org/drawingml/2006/main">
            <a:off x="6753225" y="266700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per-asset rho</a:t>
            </a:r>
          </a:p>
        </p:txBody>
      </p:sp>
      <p:sp>
        <p:nvSpPr>
          <p:cNvPr id="21" name="">
            <a:extLst xmlns:a="http://schemas.openxmlformats.org/drawingml/2006/main">
              <a:ext uri="{FF2B5EF4-FFF2-40B4-BE49-F238E27FC236}">
                <a16:creationId xmlns:a16="http://schemas.microsoft.com/office/drawing/2014/main" id="{C7DFC9A3-CEE7-41C8-81F9-8262D1E20D45}"/>
              </a:ext>
            </a:extLst>
          </p:cNvPr>
          <p:cNvSpPr>
            <a:spLocks xmlns:a="http://schemas.openxmlformats.org/drawingml/2006/main" noGrp="1"/>
          </p:cNvSpPr>
          <p:nvPr/>
        </p:nvSpPr>
        <p:spPr>
          <a:xfrm xmlns:a="http://schemas.openxmlformats.org/drawingml/2006/main">
            <a:off x="9096375" y="2047875"/>
            <a:ext cx="2381250" cy="1066800"/>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4FDB8AE-48D6-47A2-A2A1-3684D3C6EBB5}"/>
              </a:ext>
            </a:extLst>
          </p:cNvPr>
          <p:cNvSpPr>
            <a:spLocks xmlns:a="http://schemas.openxmlformats.org/drawingml/2006/main" noGrp="1"/>
          </p:cNvSpPr>
          <p:nvPr/>
        </p:nvSpPr>
        <p:spPr>
          <a:xfrm xmlns:a="http://schemas.openxmlformats.org/drawingml/2006/main">
            <a:off x="9324975" y="219075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6C63A8"/>
                </a:solidFill>
              </a:defRPr>
            </a:pPr>
            <a:r>
              <a:rPr sz="2325" b="1">
                <a:solidFill>
                  <a:srgbClr val="6C63A8"/>
                </a:solidFill>
              </a:rPr>
              <a:t>8 / 26</a:t>
            </a:r>
          </a:p>
        </p:txBody>
      </p:sp>
      <p:sp>
        <p:nvSpPr>
          <p:cNvPr id="23" name="">
            <a:extLst xmlns:a="http://schemas.openxmlformats.org/drawingml/2006/main">
              <a:ext uri="{FF2B5EF4-FFF2-40B4-BE49-F238E27FC236}">
                <a16:creationId xmlns:a16="http://schemas.microsoft.com/office/drawing/2014/main" id="{D21F096F-3E07-4835-A337-37AD6DD1C72A}"/>
              </a:ext>
            </a:extLst>
          </p:cNvPr>
          <p:cNvSpPr>
            <a:spLocks xmlns:a="http://schemas.openxmlformats.org/drawingml/2006/main" noGrp="1"/>
          </p:cNvSpPr>
          <p:nvPr/>
        </p:nvSpPr>
        <p:spPr>
          <a:xfrm xmlns:a="http://schemas.openxmlformats.org/drawingml/2006/main">
            <a:off x="9324975" y="2667000"/>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assets with rho &gt; 0</a:t>
            </a:r>
          </a:p>
        </p:txBody>
      </p:sp>
      <p:sp>
        <p:nvSpPr>
          <p:cNvPr id="24" name="">
            <a:extLst xmlns:a="http://schemas.openxmlformats.org/drawingml/2006/main">
              <a:ext uri="{FF2B5EF4-FFF2-40B4-BE49-F238E27FC236}">
                <a16:creationId xmlns:a16="http://schemas.microsoft.com/office/drawing/2014/main" id="{CCDB448A-51E4-42A8-8CBD-9BBCA611B469}"/>
              </a:ext>
            </a:extLst>
          </p:cNvPr>
          <p:cNvSpPr>
            <a:spLocks xmlns:a="http://schemas.openxmlformats.org/drawingml/2006/main" noGrp="1"/>
          </p:cNvSpPr>
          <p:nvPr/>
        </p:nvSpPr>
        <p:spPr>
          <a:xfrm xmlns:a="http://schemas.openxmlformats.org/drawingml/2006/main">
            <a:off x="6524625" y="3333750"/>
            <a:ext cx="2381250" cy="1066800"/>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9AE8DA1-6146-49C4-A1D2-C7F5A690735E}"/>
              </a:ext>
            </a:extLst>
          </p:cNvPr>
          <p:cNvSpPr>
            <a:spLocks xmlns:a="http://schemas.openxmlformats.org/drawingml/2006/main" noGrp="1"/>
          </p:cNvSpPr>
          <p:nvPr/>
        </p:nvSpPr>
        <p:spPr>
          <a:xfrm xmlns:a="http://schemas.openxmlformats.org/drawingml/2006/main">
            <a:off x="6753225" y="34766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6C63A8"/>
                </a:solidFill>
              </a:defRPr>
            </a:pPr>
            <a:r>
              <a:rPr sz="2325" b="1">
                <a:solidFill>
                  <a:srgbClr val="6C63A8"/>
                </a:solidFill>
              </a:rPr>
              <a:t>0.966x</a:t>
            </a:r>
          </a:p>
        </p:txBody>
      </p:sp>
      <p:sp>
        <p:nvSpPr>
          <p:cNvPr id="26" name="">
            <a:extLst xmlns:a="http://schemas.openxmlformats.org/drawingml/2006/main">
              <a:ext uri="{FF2B5EF4-FFF2-40B4-BE49-F238E27FC236}">
                <a16:creationId xmlns:a16="http://schemas.microsoft.com/office/drawing/2014/main" id="{60717094-2528-454F-8546-0F27DE944934}"/>
              </a:ext>
            </a:extLst>
          </p:cNvPr>
          <p:cNvSpPr>
            <a:spLocks xmlns:a="http://schemas.openxmlformats.org/drawingml/2006/main" noGrp="1"/>
          </p:cNvSpPr>
          <p:nvPr/>
        </p:nvSpPr>
        <p:spPr>
          <a:xfrm xmlns:a="http://schemas.openxmlformats.org/drawingml/2006/main">
            <a:off x="6753225" y="3952875"/>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HIGH / LOW efficiency</a:t>
            </a:r>
          </a:p>
        </p:txBody>
      </p:sp>
      <p:sp>
        <p:nvSpPr>
          <p:cNvPr id="27" name="">
            <a:extLst xmlns:a="http://schemas.openxmlformats.org/drawingml/2006/main">
              <a:ext uri="{FF2B5EF4-FFF2-40B4-BE49-F238E27FC236}">
                <a16:creationId xmlns:a16="http://schemas.microsoft.com/office/drawing/2014/main" id="{4FC0B4D9-6B84-4F51-B265-B17DB7F886B6}"/>
              </a:ext>
            </a:extLst>
          </p:cNvPr>
          <p:cNvSpPr>
            <a:spLocks xmlns:a="http://schemas.openxmlformats.org/drawingml/2006/main" noGrp="1"/>
          </p:cNvSpPr>
          <p:nvPr/>
        </p:nvSpPr>
        <p:spPr>
          <a:xfrm xmlns:a="http://schemas.openxmlformats.org/drawingml/2006/main">
            <a:off x="9096375" y="3333750"/>
            <a:ext cx="23812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95B7CFC-556B-4C51-9350-5272EB0E2304}"/>
              </a:ext>
            </a:extLst>
          </p:cNvPr>
          <p:cNvSpPr>
            <a:spLocks xmlns:a="http://schemas.openxmlformats.org/drawingml/2006/main" noGrp="1"/>
          </p:cNvSpPr>
          <p:nvPr/>
        </p:nvSpPr>
        <p:spPr>
          <a:xfrm xmlns:a="http://schemas.openxmlformats.org/drawingml/2006/main">
            <a:off x="9324975" y="3476625"/>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2 / 9</a:t>
            </a:r>
          </a:p>
        </p:txBody>
      </p:sp>
      <p:sp>
        <p:nvSpPr>
          <p:cNvPr id="29" name="">
            <a:extLst xmlns:a="http://schemas.openxmlformats.org/drawingml/2006/main">
              <a:ext uri="{FF2B5EF4-FFF2-40B4-BE49-F238E27FC236}">
                <a16:creationId xmlns:a16="http://schemas.microsoft.com/office/drawing/2014/main" id="{C7BC7587-9537-4AED-9948-72C32988D529}"/>
              </a:ext>
            </a:extLst>
          </p:cNvPr>
          <p:cNvSpPr>
            <a:spLocks xmlns:a="http://schemas.openxmlformats.org/drawingml/2006/main" noGrp="1"/>
          </p:cNvSpPr>
          <p:nvPr/>
        </p:nvSpPr>
        <p:spPr>
          <a:xfrm xmlns:a="http://schemas.openxmlformats.org/drawingml/2006/main">
            <a:off x="9324975" y="3952875"/>
            <a:ext cx="1924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gates passed</a:t>
            </a:r>
          </a:p>
        </p:txBody>
      </p:sp>
      <p:sp>
        <p:nvSpPr>
          <p:cNvPr id="30" name="">
            <a:extLst xmlns:a="http://schemas.openxmlformats.org/drawingml/2006/main">
              <a:ext uri="{FF2B5EF4-FFF2-40B4-BE49-F238E27FC236}">
                <a16:creationId xmlns:a16="http://schemas.microsoft.com/office/drawing/2014/main" id="{E71947FF-5B8B-45E1-8ABD-26DD77A6B220}"/>
              </a:ext>
            </a:extLst>
          </p:cNvPr>
          <p:cNvSpPr>
            <a:spLocks xmlns:a="http://schemas.openxmlformats.org/drawingml/2006/main" noGrp="1"/>
          </p:cNvSpPr>
          <p:nvPr/>
        </p:nvSpPr>
        <p:spPr>
          <a:xfrm xmlns:a="http://schemas.openxmlformats.org/drawingml/2006/main">
            <a:off x="1143000" y="5191125"/>
            <a:ext cx="9906000" cy="809625"/>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540E57D-A671-4710-91C0-A64570DA6ED4}"/>
              </a:ext>
            </a:extLst>
          </p:cNvPr>
          <p:cNvSpPr>
            <a:spLocks xmlns:a="http://schemas.openxmlformats.org/drawingml/2006/main" noGrp="1"/>
          </p:cNvSpPr>
          <p:nvPr/>
        </p:nvSpPr>
        <p:spPr>
          <a:xfrm xmlns:a="http://schemas.openxmlformats.org/drawingml/2006/main">
            <a:off x="1476375" y="5362575"/>
            <a:ext cx="923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95F59"/>
                </a:solidFill>
              </a:defRPr>
            </a:pPr>
            <a:r>
              <a:rPr sz="1500" b="1">
                <a:solidFill>
                  <a:srgbClr val="D95F59"/>
                </a:solidFill>
              </a:rPr>
              <a:t>Higher recent ER or ADX did not imply a straighter next-open ten-session path.</a:t>
            </a:r>
          </a:p>
          <a:p xmlns:a="http://schemas.openxmlformats.org/drawingml/2006/main">
            <a:pPr algn="ctr">
              <a:defRPr sz="1500" b="1">
                <a:solidFill>
                  <a:srgbClr val="D95F59"/>
                </a:solidFill>
              </a:defRPr>
            </a:pPr>
            <a:r>
              <a:rPr sz="1500" b="1">
                <a:solidFill>
                  <a:srgbClr val="D95F59"/>
                </a:solidFill>
              </a:rPr>
              <a:t>At H20, ER was essentially flat (+0.003 rho) and ADX remained negative (−0.035).</a:t>
            </a:r>
          </a:p>
        </p:txBody>
      </p:sp>
    </p:spTree>
    <p:extLst>
      <p:ext uri="{BB962C8B-B14F-4D97-AF65-F5344CB8AC3E}">
        <p14:creationId xmlns:p14="http://schemas.microsoft.com/office/powerpoint/2010/main" val="2076483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1607B4-533B-4AF0-998F-F58161705B2F}"/>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A CLUE, NOT A PASS</a:t>
            </a:r>
          </a:p>
        </p:txBody>
      </p:sp>
      <p:sp>
        <p:nvSpPr>
          <p:cNvPr id="2" name="">
            <a:extLst xmlns:a="http://schemas.openxmlformats.org/drawingml/2006/main">
              <a:ext uri="{FF2B5EF4-FFF2-40B4-BE49-F238E27FC236}">
                <a16:creationId xmlns:a16="http://schemas.microsoft.com/office/drawing/2014/main" id="{7F8DC0E4-E62B-44AF-B09D-DB003CC4F8DA}"/>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ER preserved sign more often—but did not predict a straighter path</a:t>
            </a:r>
          </a:p>
        </p:txBody>
      </p:sp>
      <p:sp>
        <p:nvSpPr>
          <p:cNvPr id="3" name="">
            <a:extLst xmlns:a="http://schemas.openxmlformats.org/drawingml/2006/main">
              <a:ext uri="{FF2B5EF4-FFF2-40B4-BE49-F238E27FC236}">
                <a16:creationId xmlns:a16="http://schemas.microsoft.com/office/drawing/2014/main" id="{C900AC16-DEB5-4906-8D97-26C9F9E8D298}"/>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7</a:t>
            </a:r>
          </a:p>
        </p:txBody>
      </p:sp>
      <p:sp>
        <p:nvSpPr>
          <p:cNvPr id="4" name="">
            <a:extLst xmlns:a="http://schemas.openxmlformats.org/drawingml/2006/main">
              <a:ext uri="{FF2B5EF4-FFF2-40B4-BE49-F238E27FC236}">
                <a16:creationId xmlns:a16="http://schemas.microsoft.com/office/drawing/2014/main" id="{4E03B6E2-9015-42B0-8C5C-2A3592FF70E6}"/>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81a94c79c8d486a"/>
          <a:stretch xmlns:a="http://schemas.openxmlformats.org/drawingml/2006/main"/>
        </p:blipFill>
        <p:spPr>
          <a:xfrm xmlns:a="http://schemas.openxmlformats.org/drawingml/2006/main">
            <a:off x="428625" y="1635543"/>
            <a:ext cx="7524750" cy="41584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73B1A4-72EB-423E-B7F0-311876C818B0}"/>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EAF0CD-5FED-4CE3-85AB-DA85335793DE}"/>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+5.5 pp</a:t>
            </a:r>
          </a:p>
        </p:txBody>
      </p:sp>
      <p:sp>
        <p:nvSpPr>
          <p:cNvPr id="8" name="">
            <a:extLst xmlns:a="http://schemas.openxmlformats.org/drawingml/2006/main">
              <a:ext uri="{FF2B5EF4-FFF2-40B4-BE49-F238E27FC236}">
                <a16:creationId xmlns:a16="http://schemas.microsoft.com/office/drawing/2014/main" id="{8C8E3180-447D-4E02-8473-6343A714FE0F}"/>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ER HIGH–LOW direction survival</a:t>
            </a:r>
          </a:p>
        </p:txBody>
      </p:sp>
      <p:sp>
        <p:nvSpPr>
          <p:cNvPr id="9" name="">
            <a:extLst xmlns:a="http://schemas.openxmlformats.org/drawingml/2006/main">
              <a:ext uri="{FF2B5EF4-FFF2-40B4-BE49-F238E27FC236}">
                <a16:creationId xmlns:a16="http://schemas.microsoft.com/office/drawing/2014/main" id="{D1614BF5-ECC7-40D6-9EAC-B82C63E10953}"/>
              </a:ext>
            </a:extLst>
          </p:cNvPr>
          <p:cNvSpPr>
            <a:spLocks xmlns:a="http://schemas.openxmlformats.org/drawingml/2006/main" noGrp="1"/>
          </p:cNvSpPr>
          <p:nvPr/>
        </p:nvSpPr>
        <p:spPr>
          <a:xfrm xmlns:a="http://schemas.openxmlformats.org/drawingml/2006/main">
            <a:off x="8191500" y="26479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A3845F-10E4-41C3-BCB0-421FA1CA04A7}"/>
              </a:ext>
            </a:extLst>
          </p:cNvPr>
          <p:cNvSpPr>
            <a:spLocks xmlns:a="http://schemas.openxmlformats.org/drawingml/2006/main" noGrp="1"/>
          </p:cNvSpPr>
          <p:nvPr/>
        </p:nvSpPr>
        <p:spPr>
          <a:xfrm xmlns:a="http://schemas.openxmlformats.org/drawingml/2006/main">
            <a:off x="8420100" y="27908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20 / 26</a:t>
            </a:r>
          </a:p>
        </p:txBody>
      </p:sp>
      <p:sp>
        <p:nvSpPr>
          <p:cNvPr id="11" name="">
            <a:extLst xmlns:a="http://schemas.openxmlformats.org/drawingml/2006/main">
              <a:ext uri="{FF2B5EF4-FFF2-40B4-BE49-F238E27FC236}">
                <a16:creationId xmlns:a16="http://schemas.microsoft.com/office/drawing/2014/main" id="{3EB4287E-CE11-478A-8322-3BC2766E9BE1}"/>
              </a:ext>
            </a:extLst>
          </p:cNvPr>
          <p:cNvSpPr>
            <a:spLocks xmlns:a="http://schemas.openxmlformats.org/drawingml/2006/main" noGrp="1"/>
          </p:cNvSpPr>
          <p:nvPr/>
        </p:nvSpPr>
        <p:spPr>
          <a:xfrm xmlns:a="http://schemas.openxmlformats.org/drawingml/2006/main">
            <a:off x="8420100" y="32670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assets with positive survival gap</a:t>
            </a:r>
          </a:p>
        </p:txBody>
      </p:sp>
      <p:sp>
        <p:nvSpPr>
          <p:cNvPr id="12" name="">
            <a:extLst xmlns:a="http://schemas.openxmlformats.org/drawingml/2006/main">
              <a:ext uri="{FF2B5EF4-FFF2-40B4-BE49-F238E27FC236}">
                <a16:creationId xmlns:a16="http://schemas.microsoft.com/office/drawing/2014/main" id="{5CC2D883-A1EC-41D5-BCFF-C275FA527700}"/>
              </a:ext>
            </a:extLst>
          </p:cNvPr>
          <p:cNvSpPr>
            <a:spLocks xmlns:a="http://schemas.openxmlformats.org/drawingml/2006/main" noGrp="1"/>
          </p:cNvSpPr>
          <p:nvPr/>
        </p:nvSpPr>
        <p:spPr>
          <a:xfrm xmlns:a="http://schemas.openxmlformats.org/drawingml/2006/main">
            <a:off x="8191500" y="38671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20B5D94-237E-4B44-9245-9632417078E1}"/>
              </a:ext>
            </a:extLst>
          </p:cNvPr>
          <p:cNvSpPr>
            <a:spLocks xmlns:a="http://schemas.openxmlformats.org/drawingml/2006/main" noGrp="1"/>
          </p:cNvSpPr>
          <p:nvPr/>
        </p:nvSpPr>
        <p:spPr>
          <a:xfrm xmlns:a="http://schemas.openxmlformats.org/drawingml/2006/main">
            <a:off x="8420100" y="40100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0.956x</a:t>
            </a:r>
          </a:p>
        </p:txBody>
      </p:sp>
      <p:sp>
        <p:nvSpPr>
          <p:cNvPr id="14" name="">
            <a:extLst xmlns:a="http://schemas.openxmlformats.org/drawingml/2006/main">
              <a:ext uri="{FF2B5EF4-FFF2-40B4-BE49-F238E27FC236}">
                <a16:creationId xmlns:a16="http://schemas.microsoft.com/office/drawing/2014/main" id="{04D450D7-4D2A-4FE7-AE6E-4C63CE02087A}"/>
              </a:ext>
            </a:extLst>
          </p:cNvPr>
          <p:cNvSpPr>
            <a:spLocks xmlns:a="http://schemas.openxmlformats.org/drawingml/2006/main" noGrp="1"/>
          </p:cNvSpPr>
          <p:nvPr/>
        </p:nvSpPr>
        <p:spPr>
          <a:xfrm xmlns:a="http://schemas.openxmlformats.org/drawingml/2006/main">
            <a:off x="8420100" y="44862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ER HIGH/LOW future efficiency</a:t>
            </a:r>
          </a:p>
        </p:txBody>
      </p:sp>
      <p:sp>
        <p:nvSpPr>
          <p:cNvPr id="15" name="">
            <a:extLst xmlns:a="http://schemas.openxmlformats.org/drawingml/2006/main">
              <a:ext uri="{FF2B5EF4-FFF2-40B4-BE49-F238E27FC236}">
                <a16:creationId xmlns:a16="http://schemas.microsoft.com/office/drawing/2014/main" id="{A7590318-BE45-482F-AFFB-36EB92B81EBF}"/>
              </a:ext>
            </a:extLst>
          </p:cNvPr>
          <p:cNvSpPr>
            <a:spLocks xmlns:a="http://schemas.openxmlformats.org/drawingml/2006/main" noGrp="1"/>
          </p:cNvSpPr>
          <p:nvPr/>
        </p:nvSpPr>
        <p:spPr>
          <a:xfrm xmlns:a="http://schemas.openxmlformats.org/drawingml/2006/main">
            <a:off x="8096250" y="5219700"/>
            <a:ext cx="3476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5F59"/>
                </a:solidFill>
              </a:defRPr>
            </a:pPr>
            <a:r>
              <a:rPr sz="1350" b="1">
                <a:solidFill>
                  <a:srgbClr val="D95F59"/>
                </a:solidFill>
              </a:rPr>
              <a:t>A path may keep its sign yet still chop repeatedly. Survival alone cannot substitute for the frozen path-efficiency construct.</a:t>
            </a:r>
          </a:p>
        </p:txBody>
      </p:sp>
    </p:spTree>
    <p:extLst>
      <p:ext uri="{BB962C8B-B14F-4D97-AF65-F5344CB8AC3E}">
        <p14:creationId xmlns:p14="http://schemas.microsoft.com/office/powerpoint/2010/main" val="20782056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28AB7B-55CA-4E30-A92D-B14632A59801}"/>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BREADTH + OFFSET AUDIT</a:t>
            </a:r>
          </a:p>
        </p:txBody>
      </p:sp>
      <p:sp>
        <p:nvSpPr>
          <p:cNvPr id="2" name="">
            <a:extLst xmlns:a="http://schemas.openxmlformats.org/drawingml/2006/main">
              <a:ext uri="{FF2B5EF4-FFF2-40B4-BE49-F238E27FC236}">
                <a16:creationId xmlns:a16="http://schemas.microsoft.com/office/drawing/2014/main" id="{D75B18EF-B6A6-4BBF-8E85-1CC18D8EEAB8}"/>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Portability and non-overlapping offsets rejected the timing</a:t>
            </a:r>
          </a:p>
        </p:txBody>
      </p:sp>
      <p:sp>
        <p:nvSpPr>
          <p:cNvPr id="3" name="">
            <a:extLst xmlns:a="http://schemas.openxmlformats.org/drawingml/2006/main">
              <a:ext uri="{FF2B5EF4-FFF2-40B4-BE49-F238E27FC236}">
                <a16:creationId xmlns:a16="http://schemas.microsoft.com/office/drawing/2014/main" id="{911EF35B-F67A-492B-AA21-71DEC56C4587}"/>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8</a:t>
            </a:r>
          </a:p>
        </p:txBody>
      </p:sp>
      <p:sp>
        <p:nvSpPr>
          <p:cNvPr id="4" name="">
            <a:extLst xmlns:a="http://schemas.openxmlformats.org/drawingml/2006/main">
              <a:ext uri="{FF2B5EF4-FFF2-40B4-BE49-F238E27FC236}">
                <a16:creationId xmlns:a16="http://schemas.microsoft.com/office/drawing/2014/main" id="{26C15E82-4258-44AD-B81C-53BCBCC01582}"/>
              </a:ext>
            </a:extLst>
          </p:cNvPr>
          <p:cNvSpPr>
            <a:spLocks xmlns:a="http://schemas.openxmlformats.org/drawingml/2006/main" noGrp="1"/>
          </p:cNvSpPr>
          <p:nvPr/>
        </p:nvSpPr>
        <p:spPr>
          <a:xfrm xmlns:a="http://schemas.openxmlformats.org/drawingml/2006/main">
            <a:off x="428625" y="1352550"/>
            <a:ext cx="552450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c95b9ecdb74cd1"/>
          <a:stretch xmlns:a="http://schemas.openxmlformats.org/drawingml/2006/main"/>
        </p:blipFill>
        <p:spPr>
          <a:xfrm xmlns:a="http://schemas.openxmlformats.org/drawingml/2006/main">
            <a:off x="428625" y="2173514"/>
            <a:ext cx="5524500" cy="302532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71C8D52-79F5-4DB5-ABF1-B40755FC99D7}"/>
              </a:ext>
            </a:extLst>
          </p:cNvPr>
          <p:cNvSpPr>
            <a:spLocks xmlns:a="http://schemas.openxmlformats.org/drawingml/2006/main" noGrp="1"/>
          </p:cNvSpPr>
          <p:nvPr/>
        </p:nvSpPr>
        <p:spPr>
          <a:xfrm xmlns:a="http://schemas.openxmlformats.org/drawingml/2006/main">
            <a:off x="6238875" y="1352550"/>
            <a:ext cx="552450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f7e1cf7b8c743ba"/>
          <a:stretch xmlns:a="http://schemas.openxmlformats.org/drawingml/2006/main"/>
        </p:blipFill>
        <p:spPr>
          <a:xfrm xmlns:a="http://schemas.openxmlformats.org/drawingml/2006/main">
            <a:off x="6238875" y="2159668"/>
            <a:ext cx="5524500" cy="305301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4CD4EF7-85B1-492B-A19E-0E2748BABCBA}"/>
              </a:ext>
            </a:extLst>
          </p:cNvPr>
          <p:cNvSpPr>
            <a:spLocks xmlns:a="http://schemas.openxmlformats.org/drawingml/2006/main" noGrp="1"/>
          </p:cNvSpPr>
          <p:nvPr/>
        </p:nvSpPr>
        <p:spPr>
          <a:xfrm xmlns:a="http://schemas.openxmlformats.org/drawingml/2006/main">
            <a:off x="762000" y="6143625"/>
            <a:ext cx="4762500" cy="3619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810742E-4B98-4FDE-936F-27C1247DD4FD}"/>
              </a:ext>
            </a:extLst>
          </p:cNvPr>
          <p:cNvSpPr>
            <a:spLocks xmlns:a="http://schemas.openxmlformats.org/drawingml/2006/main" noGrp="1"/>
          </p:cNvSpPr>
          <p:nvPr/>
        </p:nvSpPr>
        <p:spPr>
          <a:xfrm xmlns:a="http://schemas.openxmlformats.org/drawingml/2006/main">
            <a:off x="904875" y="6229350"/>
            <a:ext cx="447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D95F59"/>
                </a:solidFill>
              </a:defRPr>
            </a:pPr>
            <a:r>
              <a:rPr sz="1200" b="1">
                <a:solidFill>
                  <a:srgbClr val="D95F59"/>
                </a:solidFill>
              </a:rPr>
              <a:t>ER: 0 / 10 jointly favorable offsets</a:t>
            </a:r>
          </a:p>
        </p:txBody>
      </p:sp>
      <p:sp>
        <p:nvSpPr>
          <p:cNvPr id="10" name="">
            <a:extLst xmlns:a="http://schemas.openxmlformats.org/drawingml/2006/main">
              <a:ext uri="{FF2B5EF4-FFF2-40B4-BE49-F238E27FC236}">
                <a16:creationId xmlns:a16="http://schemas.microsoft.com/office/drawing/2014/main" id="{4A543644-04A4-40E9-89B0-2FE3565E2991}"/>
              </a:ext>
            </a:extLst>
          </p:cNvPr>
          <p:cNvSpPr>
            <a:spLocks xmlns:a="http://schemas.openxmlformats.org/drawingml/2006/main" noGrp="1"/>
          </p:cNvSpPr>
          <p:nvPr/>
        </p:nvSpPr>
        <p:spPr>
          <a:xfrm xmlns:a="http://schemas.openxmlformats.org/drawingml/2006/main">
            <a:off x="6667500" y="6143625"/>
            <a:ext cx="4762500" cy="3619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A1528EA-1F81-41CA-89E7-BE35E4C21247}"/>
              </a:ext>
            </a:extLst>
          </p:cNvPr>
          <p:cNvSpPr>
            <a:spLocks xmlns:a="http://schemas.openxmlformats.org/drawingml/2006/main" noGrp="1"/>
          </p:cNvSpPr>
          <p:nvPr/>
        </p:nvSpPr>
        <p:spPr>
          <a:xfrm xmlns:a="http://schemas.openxmlformats.org/drawingml/2006/main">
            <a:off x="6810375" y="6229350"/>
            <a:ext cx="447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D95F59"/>
                </a:solidFill>
              </a:defRPr>
            </a:pPr>
            <a:r>
              <a:rPr sz="1200" b="1">
                <a:solidFill>
                  <a:srgbClr val="D95F59"/>
                </a:solidFill>
              </a:rPr>
              <a:t>ADX: 0 / 10 jointly favorable offsets</a:t>
            </a:r>
          </a:p>
        </p:txBody>
      </p:sp>
    </p:spTree>
    <p:extLst>
      <p:ext uri="{BB962C8B-B14F-4D97-AF65-F5344CB8AC3E}">
        <p14:creationId xmlns:p14="http://schemas.microsoft.com/office/powerpoint/2010/main" val="8628673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CE89840-BE7C-4EBD-B83F-A21400907896}"/>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FALSIFICATION</a:t>
            </a:r>
          </a:p>
        </p:txBody>
      </p:sp>
      <p:sp>
        <p:nvSpPr>
          <p:cNvPr id="2" name="">
            <a:extLst xmlns:a="http://schemas.openxmlformats.org/drawingml/2006/main">
              <a:ext uri="{FF2B5EF4-FFF2-40B4-BE49-F238E27FC236}">
                <a16:creationId xmlns:a16="http://schemas.microsoft.com/office/drawing/2014/main" id="{AFEF20B2-34B7-4AE9-BC82-EF3E2A21F6AD}"/>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Temporal and circular controls placed both signals near the bottom</a:t>
            </a:r>
          </a:p>
        </p:txBody>
      </p:sp>
      <p:sp>
        <p:nvSpPr>
          <p:cNvPr id="3" name="">
            <a:extLst xmlns:a="http://schemas.openxmlformats.org/drawingml/2006/main">
              <a:ext uri="{FF2B5EF4-FFF2-40B4-BE49-F238E27FC236}">
                <a16:creationId xmlns:a16="http://schemas.microsoft.com/office/drawing/2014/main" id="{A4EA1786-F809-4E2C-9BAE-1DE6A5B865BD}"/>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9</a:t>
            </a:r>
          </a:p>
        </p:txBody>
      </p:sp>
      <p:sp>
        <p:nvSpPr>
          <p:cNvPr id="4" name="">
            <a:extLst xmlns:a="http://schemas.openxmlformats.org/drawingml/2006/main">
              <a:ext uri="{FF2B5EF4-FFF2-40B4-BE49-F238E27FC236}">
                <a16:creationId xmlns:a16="http://schemas.microsoft.com/office/drawing/2014/main" id="{2892AAA4-1651-4242-B728-3E133DDF9F38}"/>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11ecbbddde949a4"/>
          <a:stretch xmlns:a="http://schemas.openxmlformats.org/drawingml/2006/main"/>
        </p:blipFill>
        <p:spPr>
          <a:xfrm xmlns:a="http://schemas.openxmlformats.org/drawingml/2006/main">
            <a:off x="428625" y="1635543"/>
            <a:ext cx="7524750" cy="41584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F29D11E-D3E5-4CEF-B9B1-91B9054A1BB3}"/>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D90340-1480-4623-9580-DB0A470EF844}"/>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 / 6</a:t>
            </a:r>
          </a:p>
        </p:txBody>
      </p:sp>
      <p:sp>
        <p:nvSpPr>
          <p:cNvPr id="8" name="">
            <a:extLst xmlns:a="http://schemas.openxmlformats.org/drawingml/2006/main">
              <a:ext uri="{FF2B5EF4-FFF2-40B4-BE49-F238E27FC236}">
                <a16:creationId xmlns:a16="http://schemas.microsoft.com/office/drawing/2014/main" id="{77639CC6-DD5F-4E26-ABBF-EF1B77533FF6}"/>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ER favorable years</a:t>
            </a:r>
          </a:p>
        </p:txBody>
      </p:sp>
      <p:sp>
        <p:nvSpPr>
          <p:cNvPr id="9" name="">
            <a:extLst xmlns:a="http://schemas.openxmlformats.org/drawingml/2006/main">
              <a:ext uri="{FF2B5EF4-FFF2-40B4-BE49-F238E27FC236}">
                <a16:creationId xmlns:a16="http://schemas.microsoft.com/office/drawing/2014/main" id="{B772905D-E42A-432E-A94B-50939118A07D}"/>
              </a:ext>
            </a:extLst>
          </p:cNvPr>
          <p:cNvSpPr>
            <a:spLocks xmlns:a="http://schemas.openxmlformats.org/drawingml/2006/main" noGrp="1"/>
          </p:cNvSpPr>
          <p:nvPr/>
        </p:nvSpPr>
        <p:spPr>
          <a:xfrm xmlns:a="http://schemas.openxmlformats.org/drawingml/2006/main">
            <a:off x="8191500" y="26479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8CA2B6D-AEFA-4119-9AA8-4D1F13BD5656}"/>
              </a:ext>
            </a:extLst>
          </p:cNvPr>
          <p:cNvSpPr>
            <a:spLocks xmlns:a="http://schemas.openxmlformats.org/drawingml/2006/main" noGrp="1"/>
          </p:cNvSpPr>
          <p:nvPr/>
        </p:nvSpPr>
        <p:spPr>
          <a:xfrm xmlns:a="http://schemas.openxmlformats.org/drawingml/2006/main">
            <a:off x="8420100" y="27908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 / 6</a:t>
            </a:r>
          </a:p>
        </p:txBody>
      </p:sp>
      <p:sp>
        <p:nvSpPr>
          <p:cNvPr id="11" name="">
            <a:extLst xmlns:a="http://schemas.openxmlformats.org/drawingml/2006/main">
              <a:ext uri="{FF2B5EF4-FFF2-40B4-BE49-F238E27FC236}">
                <a16:creationId xmlns:a16="http://schemas.microsoft.com/office/drawing/2014/main" id="{8C1B3246-1F86-41F8-B2A6-7BA9E9279A0B}"/>
              </a:ext>
            </a:extLst>
          </p:cNvPr>
          <p:cNvSpPr>
            <a:spLocks xmlns:a="http://schemas.openxmlformats.org/drawingml/2006/main" noGrp="1"/>
          </p:cNvSpPr>
          <p:nvPr/>
        </p:nvSpPr>
        <p:spPr>
          <a:xfrm xmlns:a="http://schemas.openxmlformats.org/drawingml/2006/main">
            <a:off x="8420100" y="32670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ADX favorable years</a:t>
            </a:r>
          </a:p>
        </p:txBody>
      </p:sp>
      <p:sp>
        <p:nvSpPr>
          <p:cNvPr id="12" name="">
            <a:extLst xmlns:a="http://schemas.openxmlformats.org/drawingml/2006/main">
              <a:ext uri="{FF2B5EF4-FFF2-40B4-BE49-F238E27FC236}">
                <a16:creationId xmlns:a16="http://schemas.microsoft.com/office/drawing/2014/main" id="{0631FBC0-CE95-4158-A8B4-031556FCFD9F}"/>
              </a:ext>
            </a:extLst>
          </p:cNvPr>
          <p:cNvSpPr>
            <a:spLocks xmlns:a="http://schemas.openxmlformats.org/drawingml/2006/main" noGrp="1"/>
          </p:cNvSpPr>
          <p:nvPr/>
        </p:nvSpPr>
        <p:spPr>
          <a:xfrm xmlns:a="http://schemas.openxmlformats.org/drawingml/2006/main">
            <a:off x="8191500" y="386715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DD87341-9CC8-4B98-A47D-F95480E46C5F}"/>
              </a:ext>
            </a:extLst>
          </p:cNvPr>
          <p:cNvSpPr>
            <a:spLocks xmlns:a="http://schemas.openxmlformats.org/drawingml/2006/main" noGrp="1"/>
          </p:cNvSpPr>
          <p:nvPr/>
        </p:nvSpPr>
        <p:spPr>
          <a:xfrm xmlns:a="http://schemas.openxmlformats.org/drawingml/2006/main">
            <a:off x="8420100" y="40100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0.5th / 0th</a:t>
            </a:r>
          </a:p>
        </p:txBody>
      </p:sp>
      <p:sp>
        <p:nvSpPr>
          <p:cNvPr id="14" name="">
            <a:extLst xmlns:a="http://schemas.openxmlformats.org/drawingml/2006/main">
              <a:ext uri="{FF2B5EF4-FFF2-40B4-BE49-F238E27FC236}">
                <a16:creationId xmlns:a16="http://schemas.microsoft.com/office/drawing/2014/main" id="{AEF92E1E-A033-4286-80A1-C432633C8D74}"/>
              </a:ext>
            </a:extLst>
          </p:cNvPr>
          <p:cNvSpPr>
            <a:spLocks xmlns:a="http://schemas.openxmlformats.org/drawingml/2006/main" noGrp="1"/>
          </p:cNvSpPr>
          <p:nvPr/>
        </p:nvSpPr>
        <p:spPr>
          <a:xfrm xmlns:a="http://schemas.openxmlformats.org/drawingml/2006/main">
            <a:off x="8420100" y="44862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ER / ADX circular rho percentile</a:t>
            </a:r>
          </a:p>
        </p:txBody>
      </p:sp>
      <p:sp>
        <p:nvSpPr>
          <p:cNvPr id="15" name="">
            <a:extLst xmlns:a="http://schemas.openxmlformats.org/drawingml/2006/main">
              <a:ext uri="{FF2B5EF4-FFF2-40B4-BE49-F238E27FC236}">
                <a16:creationId xmlns:a16="http://schemas.microsoft.com/office/drawing/2014/main" id="{429E7589-9FA0-4141-B493-F8BB26CC0800}"/>
              </a:ext>
            </a:extLst>
          </p:cNvPr>
          <p:cNvSpPr>
            <a:spLocks xmlns:a="http://schemas.openxmlformats.org/drawingml/2006/main" noGrp="1"/>
          </p:cNvSpPr>
          <p:nvPr/>
        </p:nvSpPr>
        <p:spPr>
          <a:xfrm xmlns:a="http://schemas.openxmlformats.org/drawingml/2006/main">
            <a:off x="8096250" y="5219700"/>
            <a:ext cx="3476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5F59"/>
                </a:solidFill>
              </a:defRPr>
            </a:pPr>
            <a:r>
              <a:rPr sz="1350" b="1">
                <a:solidFill>
                  <a:srgbClr val="D95F59"/>
                </a:solidFill>
              </a:rPr>
              <a:t>A clean-looking historical state is not evidence of useful timing. The actual alignment was worse than almost every calendar-preserving pseudo-signal.</a:t>
            </a:r>
          </a:p>
        </p:txBody>
      </p:sp>
    </p:spTree>
    <p:extLst>
      <p:ext uri="{BB962C8B-B14F-4D97-AF65-F5344CB8AC3E}">
        <p14:creationId xmlns:p14="http://schemas.microsoft.com/office/powerpoint/2010/main" val="4475393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B9866E1-6B55-4038-8393-DDFBAE67D562}"/>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USABILITY ≠ PREDICTIVE VALIDITY</a:t>
            </a:r>
          </a:p>
        </p:txBody>
      </p:sp>
      <p:sp>
        <p:nvSpPr>
          <p:cNvPr id="2" name="">
            <a:extLst xmlns:a="http://schemas.openxmlformats.org/drawingml/2006/main">
              <a:ext uri="{FF2B5EF4-FFF2-40B4-BE49-F238E27FC236}">
                <a16:creationId xmlns:a16="http://schemas.microsoft.com/office/drawing/2014/main" id="{FDD28E13-F6D2-4C25-A019-DF396BF0979F}"/>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ADX is the better state machine; ER is the more reactive descriptor</a:t>
            </a:r>
          </a:p>
        </p:txBody>
      </p:sp>
      <p:sp>
        <p:nvSpPr>
          <p:cNvPr id="3" name="">
            <a:extLst xmlns:a="http://schemas.openxmlformats.org/drawingml/2006/main">
              <a:ext uri="{FF2B5EF4-FFF2-40B4-BE49-F238E27FC236}">
                <a16:creationId xmlns:a16="http://schemas.microsoft.com/office/drawing/2014/main" id="{3B24C40A-EEA2-4AB0-8858-23F458CD0972}"/>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10</a:t>
            </a:r>
          </a:p>
        </p:txBody>
      </p:sp>
      <p:sp>
        <p:nvSpPr>
          <p:cNvPr id="4" name="">
            <a:extLst xmlns:a="http://schemas.openxmlformats.org/drawingml/2006/main">
              <a:ext uri="{FF2B5EF4-FFF2-40B4-BE49-F238E27FC236}">
                <a16:creationId xmlns:a16="http://schemas.microsoft.com/office/drawing/2014/main" id="{24094854-36D8-4409-89A9-D8A805A434E0}"/>
              </a:ext>
            </a:extLst>
          </p:cNvPr>
          <p:cNvSpPr>
            <a:spLocks xmlns:a="http://schemas.openxmlformats.org/drawingml/2006/main" noGrp="1"/>
          </p:cNvSpPr>
          <p:nvPr/>
        </p:nvSpPr>
        <p:spPr>
          <a:xfrm xmlns:a="http://schemas.openxmlformats.org/drawingml/2006/main">
            <a:off x="428625" y="1381125"/>
            <a:ext cx="69532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5135b5291f8492b"/>
          <a:stretch xmlns:a="http://schemas.openxmlformats.org/drawingml/2006/main"/>
        </p:blipFill>
        <p:spPr>
          <a:xfrm xmlns:a="http://schemas.openxmlformats.org/drawingml/2006/main">
            <a:off x="428625" y="1793457"/>
            <a:ext cx="6953250" cy="384258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C179B11-B630-4B1B-92A4-789446B4CB75}"/>
              </a:ext>
            </a:extLst>
          </p:cNvPr>
          <p:cNvSpPr>
            <a:spLocks xmlns:a="http://schemas.openxmlformats.org/drawingml/2006/main" noGrp="1"/>
          </p:cNvSpPr>
          <p:nvPr/>
        </p:nvSpPr>
        <p:spPr>
          <a:xfrm xmlns:a="http://schemas.openxmlformats.org/drawingml/2006/main">
            <a:off x="7715250" y="1428750"/>
            <a:ext cx="1809750" cy="1066800"/>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9C05C7-2E5A-4C98-905D-474056A6B335}"/>
              </a:ext>
            </a:extLst>
          </p:cNvPr>
          <p:cNvSpPr>
            <a:spLocks xmlns:a="http://schemas.openxmlformats.org/drawingml/2006/main" noGrp="1"/>
          </p:cNvSpPr>
          <p:nvPr/>
        </p:nvSpPr>
        <p:spPr>
          <a:xfrm xmlns:a="http://schemas.openxmlformats.org/drawingml/2006/main">
            <a:off x="7943850" y="1571625"/>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6C63A8"/>
                </a:solidFill>
              </a:defRPr>
            </a:pPr>
            <a:r>
              <a:rPr sz="2325" b="1">
                <a:solidFill>
                  <a:srgbClr val="6C63A8"/>
                </a:solidFill>
              </a:rPr>
              <a:t>14 / year</a:t>
            </a:r>
          </a:p>
        </p:txBody>
      </p:sp>
      <p:sp>
        <p:nvSpPr>
          <p:cNvPr id="8" name="">
            <a:extLst xmlns:a="http://schemas.openxmlformats.org/drawingml/2006/main">
              <a:ext uri="{FF2B5EF4-FFF2-40B4-BE49-F238E27FC236}">
                <a16:creationId xmlns:a16="http://schemas.microsoft.com/office/drawing/2014/main" id="{A0D20FBE-9115-4476-9FB0-6B491C541F4F}"/>
              </a:ext>
            </a:extLst>
          </p:cNvPr>
          <p:cNvSpPr>
            <a:spLocks xmlns:a="http://schemas.openxmlformats.org/drawingml/2006/main" noGrp="1"/>
          </p:cNvSpPr>
          <p:nvPr/>
        </p:nvSpPr>
        <p:spPr>
          <a:xfrm xmlns:a="http://schemas.openxmlformats.org/drawingml/2006/main">
            <a:off x="7943850" y="2047875"/>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ADX switches</a:t>
            </a:r>
          </a:p>
        </p:txBody>
      </p:sp>
      <p:sp>
        <p:nvSpPr>
          <p:cNvPr id="9" name="">
            <a:extLst xmlns:a="http://schemas.openxmlformats.org/drawingml/2006/main">
              <a:ext uri="{FF2B5EF4-FFF2-40B4-BE49-F238E27FC236}">
                <a16:creationId xmlns:a16="http://schemas.microsoft.com/office/drawing/2014/main" id="{1344502F-CB36-417D-9E83-F7684A47A125}"/>
              </a:ext>
            </a:extLst>
          </p:cNvPr>
          <p:cNvSpPr>
            <a:spLocks xmlns:a="http://schemas.openxmlformats.org/drawingml/2006/main" noGrp="1"/>
          </p:cNvSpPr>
          <p:nvPr/>
        </p:nvSpPr>
        <p:spPr>
          <a:xfrm xmlns:a="http://schemas.openxmlformats.org/drawingml/2006/main">
            <a:off x="9620250" y="1428750"/>
            <a:ext cx="1809750" cy="1066800"/>
          </a:xfrm>
          <a:prstGeom xmlns:a="http://schemas.openxmlformats.org/drawingml/2006/main" prst="rect">
            <a:avLst/>
          </a:prstGeom>
          <a:solidFill xmlns:a="http://schemas.openxmlformats.org/drawingml/2006/main">
            <a:srgbClr val="F0EE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B7E56A-A145-4969-BCF5-875FDD8F014E}"/>
              </a:ext>
            </a:extLst>
          </p:cNvPr>
          <p:cNvSpPr>
            <a:spLocks xmlns:a="http://schemas.openxmlformats.org/drawingml/2006/main" noGrp="1"/>
          </p:cNvSpPr>
          <p:nvPr/>
        </p:nvSpPr>
        <p:spPr>
          <a:xfrm xmlns:a="http://schemas.openxmlformats.org/drawingml/2006/main">
            <a:off x="9848850" y="1571625"/>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6C63A8"/>
                </a:solidFill>
              </a:defRPr>
            </a:pPr>
            <a:r>
              <a:rPr sz="2325" b="1">
                <a:solidFill>
                  <a:srgbClr val="6C63A8"/>
                </a:solidFill>
              </a:rPr>
              <a:t>11.5</a:t>
            </a:r>
          </a:p>
        </p:txBody>
      </p:sp>
      <p:sp>
        <p:nvSpPr>
          <p:cNvPr id="11" name="">
            <a:extLst xmlns:a="http://schemas.openxmlformats.org/drawingml/2006/main">
              <a:ext uri="{FF2B5EF4-FFF2-40B4-BE49-F238E27FC236}">
                <a16:creationId xmlns:a16="http://schemas.microsoft.com/office/drawing/2014/main" id="{3CA38404-502B-4081-A8B2-F021086A1D30}"/>
              </a:ext>
            </a:extLst>
          </p:cNvPr>
          <p:cNvSpPr>
            <a:spLocks xmlns:a="http://schemas.openxmlformats.org/drawingml/2006/main" noGrp="1"/>
          </p:cNvSpPr>
          <p:nvPr/>
        </p:nvSpPr>
        <p:spPr>
          <a:xfrm xmlns:a="http://schemas.openxmlformats.org/drawingml/2006/main">
            <a:off x="9848850" y="2047875"/>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ADX median run</a:t>
            </a:r>
          </a:p>
        </p:txBody>
      </p:sp>
      <p:sp>
        <p:nvSpPr>
          <p:cNvPr id="12" name="">
            <a:extLst xmlns:a="http://schemas.openxmlformats.org/drawingml/2006/main">
              <a:ext uri="{FF2B5EF4-FFF2-40B4-BE49-F238E27FC236}">
                <a16:creationId xmlns:a16="http://schemas.microsoft.com/office/drawing/2014/main" id="{877B0071-928F-4124-8866-C7D5C9C6918C}"/>
              </a:ext>
            </a:extLst>
          </p:cNvPr>
          <p:cNvSpPr>
            <a:spLocks xmlns:a="http://schemas.openxmlformats.org/drawingml/2006/main" noGrp="1"/>
          </p:cNvSpPr>
          <p:nvPr/>
        </p:nvSpPr>
        <p:spPr>
          <a:xfrm xmlns:a="http://schemas.openxmlformats.org/drawingml/2006/main">
            <a:off x="7715250" y="2714625"/>
            <a:ext cx="180975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14FBB4-7AE6-4CAF-8DB2-37F5E0551CAF}"/>
              </a:ext>
            </a:extLst>
          </p:cNvPr>
          <p:cNvSpPr>
            <a:spLocks xmlns:a="http://schemas.openxmlformats.org/drawingml/2006/main" noGrp="1"/>
          </p:cNvSpPr>
          <p:nvPr/>
        </p:nvSpPr>
        <p:spPr>
          <a:xfrm xmlns:a="http://schemas.openxmlformats.org/drawingml/2006/main">
            <a:off x="7943850" y="2857500"/>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54 / year</a:t>
            </a:r>
          </a:p>
        </p:txBody>
      </p:sp>
      <p:sp>
        <p:nvSpPr>
          <p:cNvPr id="14" name="">
            <a:extLst xmlns:a="http://schemas.openxmlformats.org/drawingml/2006/main">
              <a:ext uri="{FF2B5EF4-FFF2-40B4-BE49-F238E27FC236}">
                <a16:creationId xmlns:a16="http://schemas.microsoft.com/office/drawing/2014/main" id="{D0DF2B93-AA42-44E4-A9AA-FA8AC484B8BB}"/>
              </a:ext>
            </a:extLst>
          </p:cNvPr>
          <p:cNvSpPr>
            <a:spLocks xmlns:a="http://schemas.openxmlformats.org/drawingml/2006/main" noGrp="1"/>
          </p:cNvSpPr>
          <p:nvPr/>
        </p:nvSpPr>
        <p:spPr>
          <a:xfrm xmlns:a="http://schemas.openxmlformats.org/drawingml/2006/main">
            <a:off x="7943850" y="3333750"/>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ER switches</a:t>
            </a:r>
          </a:p>
        </p:txBody>
      </p:sp>
      <p:sp>
        <p:nvSpPr>
          <p:cNvPr id="15" name="">
            <a:extLst xmlns:a="http://schemas.openxmlformats.org/drawingml/2006/main">
              <a:ext uri="{FF2B5EF4-FFF2-40B4-BE49-F238E27FC236}">
                <a16:creationId xmlns:a16="http://schemas.microsoft.com/office/drawing/2014/main" id="{153ADED7-D83E-4399-924D-810AAF9EC1AA}"/>
              </a:ext>
            </a:extLst>
          </p:cNvPr>
          <p:cNvSpPr>
            <a:spLocks xmlns:a="http://schemas.openxmlformats.org/drawingml/2006/main" noGrp="1"/>
          </p:cNvSpPr>
          <p:nvPr/>
        </p:nvSpPr>
        <p:spPr>
          <a:xfrm xmlns:a="http://schemas.openxmlformats.org/drawingml/2006/main">
            <a:off x="9620250" y="2714625"/>
            <a:ext cx="180975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D7966E-6CE3-4B65-94F1-2290C4201E42}"/>
              </a:ext>
            </a:extLst>
          </p:cNvPr>
          <p:cNvSpPr>
            <a:spLocks xmlns:a="http://schemas.openxmlformats.org/drawingml/2006/main" noGrp="1"/>
          </p:cNvSpPr>
          <p:nvPr/>
        </p:nvSpPr>
        <p:spPr>
          <a:xfrm xmlns:a="http://schemas.openxmlformats.org/drawingml/2006/main">
            <a:off x="9848850" y="2857500"/>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3</a:t>
            </a:r>
          </a:p>
        </p:txBody>
      </p:sp>
      <p:sp>
        <p:nvSpPr>
          <p:cNvPr id="17" name="">
            <a:extLst xmlns:a="http://schemas.openxmlformats.org/drawingml/2006/main">
              <a:ext uri="{FF2B5EF4-FFF2-40B4-BE49-F238E27FC236}">
                <a16:creationId xmlns:a16="http://schemas.microsoft.com/office/drawing/2014/main" id="{33D17DBE-F3ED-475A-8481-A39F5D3DDF47}"/>
              </a:ext>
            </a:extLst>
          </p:cNvPr>
          <p:cNvSpPr>
            <a:spLocks xmlns:a="http://schemas.openxmlformats.org/drawingml/2006/main" noGrp="1"/>
          </p:cNvSpPr>
          <p:nvPr/>
        </p:nvSpPr>
        <p:spPr>
          <a:xfrm xmlns:a="http://schemas.openxmlformats.org/drawingml/2006/main">
            <a:off x="9848850" y="3333750"/>
            <a:ext cx="135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ER median run</a:t>
            </a:r>
          </a:p>
        </p:txBody>
      </p:sp>
      <p:sp>
        <p:nvSpPr>
          <p:cNvPr id="18" name="">
            <a:extLst xmlns:a="http://schemas.openxmlformats.org/drawingml/2006/main">
              <a:ext uri="{FF2B5EF4-FFF2-40B4-BE49-F238E27FC236}">
                <a16:creationId xmlns:a16="http://schemas.microsoft.com/office/drawing/2014/main" id="{6E2CB14B-6E60-4FD2-BFC9-9C31AFDF687D}"/>
              </a:ext>
            </a:extLst>
          </p:cNvPr>
          <p:cNvSpPr>
            <a:spLocks xmlns:a="http://schemas.openxmlformats.org/drawingml/2006/main" noGrp="1"/>
          </p:cNvSpPr>
          <p:nvPr/>
        </p:nvSpPr>
        <p:spPr>
          <a:xfrm xmlns:a="http://schemas.openxmlformats.org/drawingml/2006/main">
            <a:off x="7667625" y="4238625"/>
            <a:ext cx="3810000" cy="138112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80E49DD-B756-47A9-9ED8-D19184877154}"/>
              </a:ext>
            </a:extLst>
          </p:cNvPr>
          <p:cNvSpPr>
            <a:spLocks xmlns:a="http://schemas.openxmlformats.org/drawingml/2006/main" noGrp="1"/>
          </p:cNvSpPr>
          <p:nvPr/>
        </p:nvSpPr>
        <p:spPr>
          <a:xfrm xmlns:a="http://schemas.openxmlformats.org/drawingml/2006/main">
            <a:off x="7953375" y="44767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2A65A"/>
                </a:solidFill>
              </a:defRPr>
            </a:pPr>
            <a:r>
              <a:rPr sz="1650" b="1">
                <a:solidFill>
                  <a:srgbClr val="F2A65A"/>
                </a:solidFill>
              </a:rPr>
              <a:t>Operational lesson</a:t>
            </a:r>
          </a:p>
        </p:txBody>
      </p:sp>
      <p:sp>
        <p:nvSpPr>
          <p:cNvPr id="20" name="">
            <a:extLst xmlns:a="http://schemas.openxmlformats.org/drawingml/2006/main">
              <a:ext uri="{FF2B5EF4-FFF2-40B4-BE49-F238E27FC236}">
                <a16:creationId xmlns:a16="http://schemas.microsoft.com/office/drawing/2014/main" id="{9F1A77D7-C69E-48DE-89B1-4E5FD537AF37}"/>
              </a:ext>
            </a:extLst>
          </p:cNvPr>
          <p:cNvSpPr>
            <a:spLocks xmlns:a="http://schemas.openxmlformats.org/drawingml/2006/main" noGrp="1"/>
          </p:cNvSpPr>
          <p:nvPr/>
        </p:nvSpPr>
        <p:spPr>
          <a:xfrm xmlns:a="http://schemas.openxmlformats.org/drawingml/2006/main">
            <a:off x="7953375" y="4905375"/>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06D"/>
                </a:solidFill>
              </a:defRPr>
            </a:pPr>
            <a:r>
              <a:rPr sz="1275" b="0">
                <a:solidFill>
                  <a:srgbClr val="52606D"/>
                </a:solidFill>
              </a:rPr>
              <a:t>A stable label can be convenient without being predictive. A reactive label can contain a clue while chattering too much to gate behavior.</a:t>
            </a:r>
          </a:p>
        </p:txBody>
      </p:sp>
    </p:spTree>
    <p:extLst>
      <p:ext uri="{BB962C8B-B14F-4D97-AF65-F5344CB8AC3E}">
        <p14:creationId xmlns:p14="http://schemas.microsoft.com/office/powerpoint/2010/main" val="958539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29F51D-9360-4ADA-8A3F-8E4A8CA8D15A}"/>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PATH TAPES</a:t>
            </a:r>
          </a:p>
        </p:txBody>
      </p:sp>
      <p:sp>
        <p:nvSpPr>
          <p:cNvPr id="2" name="">
            <a:extLst xmlns:a="http://schemas.openxmlformats.org/drawingml/2006/main">
              <a:ext uri="{FF2B5EF4-FFF2-40B4-BE49-F238E27FC236}">
                <a16:creationId xmlns:a16="http://schemas.microsoft.com/office/drawing/2014/main" id="{42C23BA3-9E0F-4999-B426-CB4A11E07AE6}"/>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Representative paths show why a high score is not a promise</a:t>
            </a:r>
          </a:p>
        </p:txBody>
      </p:sp>
      <p:sp>
        <p:nvSpPr>
          <p:cNvPr id="3" name="">
            <a:extLst xmlns:a="http://schemas.openxmlformats.org/drawingml/2006/main">
              <a:ext uri="{FF2B5EF4-FFF2-40B4-BE49-F238E27FC236}">
                <a16:creationId xmlns:a16="http://schemas.microsoft.com/office/drawing/2014/main" id="{8397DE9C-9CA6-4EC7-BC2A-F9F95DD240A6}"/>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11</a:t>
            </a:r>
          </a:p>
        </p:txBody>
      </p:sp>
      <p:sp>
        <p:nvSpPr>
          <p:cNvPr id="4" name="">
            <a:extLst xmlns:a="http://schemas.openxmlformats.org/drawingml/2006/main">
              <a:ext uri="{FF2B5EF4-FFF2-40B4-BE49-F238E27FC236}">
                <a16:creationId xmlns:a16="http://schemas.microsoft.com/office/drawing/2014/main" id="{F6ECA004-E615-4238-815F-5DB73DBBC20F}"/>
              </a:ext>
            </a:extLst>
          </p:cNvPr>
          <p:cNvSpPr>
            <a:spLocks xmlns:a="http://schemas.openxmlformats.org/drawingml/2006/main" noGrp="1"/>
          </p:cNvSpPr>
          <p:nvPr/>
        </p:nvSpPr>
        <p:spPr>
          <a:xfrm xmlns:a="http://schemas.openxmlformats.org/drawingml/2006/main">
            <a:off x="523875" y="1219200"/>
            <a:ext cx="11144250" cy="509587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7393dd679894b77"/>
          <a:stretch xmlns:a="http://schemas.openxmlformats.org/drawingml/2006/main"/>
        </p:blipFill>
        <p:spPr>
          <a:xfrm xmlns:a="http://schemas.openxmlformats.org/drawingml/2006/main">
            <a:off x="2510014" y="1219200"/>
            <a:ext cx="7171972" cy="5095875"/>
          </a:xfrm>
          <a:prstGeom xmlns:a="http://schemas.openxmlformats.org/drawingml/2006/main" prst="rect">
            <a:avLst/>
          </a:prstGeom>
        </p:spPr>
      </p:pic>
    </p:spTree>
    <p:extLst>
      <p:ext uri="{BB962C8B-B14F-4D97-AF65-F5344CB8AC3E}">
        <p14:creationId xmlns:p14="http://schemas.microsoft.com/office/powerpoint/2010/main" val="202455419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249113D-F1CD-4670-A1E0-FA6E2D5C6F55}"/>
              </a:ext>
            </a:extLst>
          </p:cNvPr>
          <p:cNvSpPr>
            <a:spLocks xmlns:a="http://schemas.openxmlformats.org/drawingml/2006/main" noGrp="1"/>
          </p:cNvSpPr>
          <p:nvPr/>
        </p:nvSpPr>
        <p:spPr>
          <a:xfrm xmlns:a="http://schemas.openxmlformats.org/drawingml/2006/main">
            <a:off x="476250" y="266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DECISION BOUNDARY</a:t>
            </a:r>
          </a:p>
        </p:txBody>
      </p:sp>
      <p:sp>
        <p:nvSpPr>
          <p:cNvPr id="2" name="">
            <a:extLst xmlns:a="http://schemas.openxmlformats.org/drawingml/2006/main">
              <a:ext uri="{FF2B5EF4-FFF2-40B4-BE49-F238E27FC236}">
                <a16:creationId xmlns:a16="http://schemas.microsoft.com/office/drawing/2014/main" id="{39E7AA73-3646-46AF-BE6E-5AE4F6811DDE}"/>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Set down this specification without discarding the concepts</a:t>
            </a:r>
          </a:p>
        </p:txBody>
      </p:sp>
      <p:sp>
        <p:nvSpPr>
          <p:cNvPr id="3" name="">
            <a:extLst xmlns:a="http://schemas.openxmlformats.org/drawingml/2006/main">
              <a:ext uri="{FF2B5EF4-FFF2-40B4-BE49-F238E27FC236}">
                <a16:creationId xmlns:a16="http://schemas.microsoft.com/office/drawing/2014/main" id="{C6C6B61F-B01C-4833-872C-53A02CB9892A}"/>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12</a:t>
            </a:r>
          </a:p>
        </p:txBody>
      </p:sp>
      <p:sp>
        <p:nvSpPr>
          <p:cNvPr id="4" name="">
            <a:extLst xmlns:a="http://schemas.openxmlformats.org/drawingml/2006/main">
              <a:ext uri="{FF2B5EF4-FFF2-40B4-BE49-F238E27FC236}">
                <a16:creationId xmlns:a16="http://schemas.microsoft.com/office/drawing/2014/main" id="{49D56167-AF1A-4A1D-B45E-4E3014329AF2}"/>
              </a:ext>
            </a:extLst>
          </p:cNvPr>
          <p:cNvSpPr>
            <a:spLocks xmlns:a="http://schemas.openxmlformats.org/drawingml/2006/main" noGrp="1"/>
          </p:cNvSpPr>
          <p:nvPr/>
        </p:nvSpPr>
        <p:spPr>
          <a:xfrm xmlns:a="http://schemas.openxmlformats.org/drawingml/2006/main">
            <a:off x="523875" y="1381125"/>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D95F59"/>
                </a:solidFill>
              </a:defRPr>
            </a:pPr>
            <a:r>
              <a:rPr sz="3525" b="1">
                <a:solidFill>
                  <a:srgbClr val="D95F59"/>
                </a:solidFill>
              </a:rPr>
              <a:t>ER 1 / 9</a:t>
            </a:r>
          </a:p>
        </p:txBody>
      </p:sp>
      <p:sp>
        <p:nvSpPr>
          <p:cNvPr id="5" name="">
            <a:extLst xmlns:a="http://schemas.openxmlformats.org/drawingml/2006/main">
              <a:ext uri="{FF2B5EF4-FFF2-40B4-BE49-F238E27FC236}">
                <a16:creationId xmlns:a16="http://schemas.microsoft.com/office/drawing/2014/main" id="{2B3F4F80-702E-491C-A829-93834149F82E}"/>
              </a:ext>
            </a:extLst>
          </p:cNvPr>
          <p:cNvSpPr>
            <a:spLocks xmlns:a="http://schemas.openxmlformats.org/drawingml/2006/main" noGrp="1"/>
          </p:cNvSpPr>
          <p:nvPr/>
        </p:nvSpPr>
        <p:spPr>
          <a:xfrm xmlns:a="http://schemas.openxmlformats.org/drawingml/2006/main">
            <a:off x="3619500" y="1381125"/>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D95F59"/>
                </a:solidFill>
              </a:defRPr>
            </a:pPr>
            <a:r>
              <a:rPr sz="3525" b="1">
                <a:solidFill>
                  <a:srgbClr val="D95F59"/>
                </a:solidFill>
              </a:rPr>
              <a:t>ADX 2 / 9</a:t>
            </a:r>
          </a:p>
        </p:txBody>
      </p:sp>
      <p:sp>
        <p:nvSpPr>
          <p:cNvPr id="6" name="">
            <a:extLst xmlns:a="http://schemas.openxmlformats.org/drawingml/2006/main">
              <a:ext uri="{FF2B5EF4-FFF2-40B4-BE49-F238E27FC236}">
                <a16:creationId xmlns:a16="http://schemas.microsoft.com/office/drawing/2014/main" id="{78F1DE81-F502-460A-A104-D867E97F1B17}"/>
              </a:ext>
            </a:extLst>
          </p:cNvPr>
          <p:cNvSpPr>
            <a:spLocks xmlns:a="http://schemas.openxmlformats.org/drawingml/2006/main" noGrp="1"/>
          </p:cNvSpPr>
          <p:nvPr/>
        </p:nvSpPr>
        <p:spPr>
          <a:xfrm xmlns:a="http://schemas.openxmlformats.org/drawingml/2006/main">
            <a:off x="523875" y="2524125"/>
            <a:ext cx="5905500" cy="14097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A06FBC-6DB1-410C-BF54-70F419DD0DC4}"/>
              </a:ext>
            </a:extLst>
          </p:cNvPr>
          <p:cNvSpPr>
            <a:spLocks xmlns:a="http://schemas.openxmlformats.org/drawingml/2006/main" noGrp="1"/>
          </p:cNvSpPr>
          <p:nvPr/>
        </p:nvSpPr>
        <p:spPr>
          <a:xfrm xmlns:a="http://schemas.openxmlformats.org/drawingml/2006/main">
            <a:off x="809625" y="2867025"/>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D95F59"/>
                </a:solidFill>
              </a:defRPr>
            </a:pPr>
            <a:r>
              <a:rPr sz="1725" b="1">
                <a:solidFill>
                  <a:srgbClr val="D95F59"/>
                </a:solidFill>
              </a:rPr>
              <a:t>STOP_PATH_TRENDABILITY_GATES_FAILED</a:t>
            </a:r>
          </a:p>
          <a:p xmlns:a="http://schemas.openxmlformats.org/drawingml/2006/main">
            <a:pPr algn="ctr">
              <a:defRPr sz="1725" b="1">
                <a:solidFill>
                  <a:srgbClr val="D95F59"/>
                </a:solidFill>
              </a:defRPr>
            </a:pPr>
            <a:r>
              <a:rPr sz="1725" b="1">
                <a:solidFill>
                  <a:srgbClr val="D95F59"/>
                </a:solidFill>
              </a:rPr>
              <a:t>NO_ATR_JOIN_OR_STRATEGY</a:t>
            </a:r>
          </a:p>
        </p:txBody>
      </p:sp>
      <p:sp>
        <p:nvSpPr>
          <p:cNvPr id="8" name="">
            <a:extLst xmlns:a="http://schemas.openxmlformats.org/drawingml/2006/main">
              <a:ext uri="{FF2B5EF4-FFF2-40B4-BE49-F238E27FC236}">
                <a16:creationId xmlns:a16="http://schemas.microsoft.com/office/drawing/2014/main" id="{9202CA87-5433-43A9-905C-35E068CFBA91}"/>
              </a:ext>
            </a:extLst>
          </p:cNvPr>
          <p:cNvSpPr>
            <a:spLocks xmlns:a="http://schemas.openxmlformats.org/drawingml/2006/main" noGrp="1"/>
          </p:cNvSpPr>
          <p:nvPr/>
        </p:nvSpPr>
        <p:spPr>
          <a:xfrm xmlns:a="http://schemas.openxmlformats.org/drawingml/2006/main">
            <a:off x="7000875" y="1428750"/>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E8B57"/>
                </a:solidFill>
              </a:defRPr>
            </a:pPr>
            <a:r>
              <a:rPr sz="1950" b="1">
                <a:solidFill>
                  <a:srgbClr val="2E8B57"/>
                </a:solidFill>
              </a:rPr>
              <a:t>Preserve</a:t>
            </a:r>
          </a:p>
        </p:txBody>
      </p:sp>
      <p:sp>
        <p:nvSpPr>
          <p:cNvPr id="9" name="">
            <a:extLst xmlns:a="http://schemas.openxmlformats.org/drawingml/2006/main">
              <a:ext uri="{FF2B5EF4-FFF2-40B4-BE49-F238E27FC236}">
                <a16:creationId xmlns:a16="http://schemas.microsoft.com/office/drawing/2014/main" id="{F3CD1AE1-24AD-4D66-A4AE-1D0AFE233819}"/>
              </a:ext>
            </a:extLst>
          </p:cNvPr>
          <p:cNvSpPr>
            <a:spLocks xmlns:a="http://schemas.openxmlformats.org/drawingml/2006/main" noGrp="1"/>
          </p:cNvSpPr>
          <p:nvPr/>
        </p:nvSpPr>
        <p:spPr>
          <a:xfrm xmlns:a="http://schemas.openxmlformats.org/drawingml/2006/main">
            <a:off x="7096125" y="2076450"/>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75A73B7-0C91-40F4-9E30-F075B8826AB6}"/>
              </a:ext>
            </a:extLst>
          </p:cNvPr>
          <p:cNvSpPr>
            <a:spLocks xmlns:a="http://schemas.openxmlformats.org/drawingml/2006/main" noGrp="1"/>
          </p:cNvSpPr>
          <p:nvPr/>
        </p:nvSpPr>
        <p:spPr>
          <a:xfrm xmlns:a="http://schemas.openxmlformats.org/drawingml/2006/main">
            <a:off x="7315200" y="2000250"/>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ADX as a coherent descriptive state label</a:t>
            </a:r>
          </a:p>
        </p:txBody>
      </p:sp>
      <p:sp>
        <p:nvSpPr>
          <p:cNvPr id="11" name="">
            <a:extLst xmlns:a="http://schemas.openxmlformats.org/drawingml/2006/main">
              <a:ext uri="{FF2B5EF4-FFF2-40B4-BE49-F238E27FC236}">
                <a16:creationId xmlns:a16="http://schemas.microsoft.com/office/drawing/2014/main" id="{2F621566-CAA8-4635-A8BB-F7ECF21D884B}"/>
              </a:ext>
            </a:extLst>
          </p:cNvPr>
          <p:cNvSpPr>
            <a:spLocks xmlns:a="http://schemas.openxmlformats.org/drawingml/2006/main" noGrp="1"/>
          </p:cNvSpPr>
          <p:nvPr/>
        </p:nvSpPr>
        <p:spPr>
          <a:xfrm xmlns:a="http://schemas.openxmlformats.org/drawingml/2006/main">
            <a:off x="7096125" y="261937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B1F1672-4C5C-42B8-B723-98F464CCD141}"/>
              </a:ext>
            </a:extLst>
          </p:cNvPr>
          <p:cNvSpPr>
            <a:spLocks xmlns:a="http://schemas.openxmlformats.org/drawingml/2006/main" noGrp="1"/>
          </p:cNvSpPr>
          <p:nvPr/>
        </p:nvSpPr>
        <p:spPr>
          <a:xfrm xmlns:a="http://schemas.openxmlformats.org/drawingml/2006/main">
            <a:off x="7315200" y="2543175"/>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ER's broad direction-survival clue</a:t>
            </a:r>
          </a:p>
        </p:txBody>
      </p:sp>
      <p:sp>
        <p:nvSpPr>
          <p:cNvPr id="13" name="">
            <a:extLst xmlns:a="http://schemas.openxmlformats.org/drawingml/2006/main">
              <a:ext uri="{FF2B5EF4-FFF2-40B4-BE49-F238E27FC236}">
                <a16:creationId xmlns:a16="http://schemas.microsoft.com/office/drawing/2014/main" id="{A939B56B-EB41-4B02-8336-6559F7FACD6D}"/>
              </a:ext>
            </a:extLst>
          </p:cNvPr>
          <p:cNvSpPr>
            <a:spLocks xmlns:a="http://schemas.openxmlformats.org/drawingml/2006/main" noGrp="1"/>
          </p:cNvSpPr>
          <p:nvPr/>
        </p:nvSpPr>
        <p:spPr>
          <a:xfrm xmlns:a="http://schemas.openxmlformats.org/drawingml/2006/main">
            <a:off x="7096125" y="3162300"/>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794306-199E-4F14-BA90-A07C9D9F3F8E}"/>
              </a:ext>
            </a:extLst>
          </p:cNvPr>
          <p:cNvSpPr>
            <a:spLocks xmlns:a="http://schemas.openxmlformats.org/drawingml/2006/main" noGrp="1"/>
          </p:cNvSpPr>
          <p:nvPr/>
        </p:nvSpPr>
        <p:spPr>
          <a:xfrm xmlns:a="http://schemas.openxmlformats.org/drawingml/2006/main">
            <a:off x="7315200" y="3086100"/>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The separation of amplitude, sign, and path geometry</a:t>
            </a:r>
          </a:p>
        </p:txBody>
      </p:sp>
      <p:sp>
        <p:nvSpPr>
          <p:cNvPr id="15" name="">
            <a:extLst xmlns:a="http://schemas.openxmlformats.org/drawingml/2006/main">
              <a:ext uri="{FF2B5EF4-FFF2-40B4-BE49-F238E27FC236}">
                <a16:creationId xmlns:a16="http://schemas.microsoft.com/office/drawing/2014/main" id="{7181A55D-5913-4441-896D-18C3F85BE47B}"/>
              </a:ext>
            </a:extLst>
          </p:cNvPr>
          <p:cNvSpPr>
            <a:spLocks xmlns:a="http://schemas.openxmlformats.org/drawingml/2006/main" noGrp="1"/>
          </p:cNvSpPr>
          <p:nvPr/>
        </p:nvSpPr>
        <p:spPr>
          <a:xfrm xmlns:a="http://schemas.openxmlformats.org/drawingml/2006/main">
            <a:off x="7000875" y="3905250"/>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D95F59"/>
                </a:solidFill>
              </a:defRPr>
            </a:pPr>
            <a:r>
              <a:rPr sz="1950" b="1">
                <a:solidFill>
                  <a:srgbClr val="D95F59"/>
                </a:solidFill>
              </a:rPr>
              <a:t>Do not do</a:t>
            </a:r>
          </a:p>
        </p:txBody>
      </p:sp>
      <p:sp>
        <p:nvSpPr>
          <p:cNvPr id="16" name="">
            <a:extLst xmlns:a="http://schemas.openxmlformats.org/drawingml/2006/main">
              <a:ext uri="{FF2B5EF4-FFF2-40B4-BE49-F238E27FC236}">
                <a16:creationId xmlns:a16="http://schemas.microsoft.com/office/drawing/2014/main" id="{774E5A95-2271-4BED-BD95-AE585771AA7B}"/>
              </a:ext>
            </a:extLst>
          </p:cNvPr>
          <p:cNvSpPr>
            <a:spLocks xmlns:a="http://schemas.openxmlformats.org/drawingml/2006/main" noGrp="1"/>
          </p:cNvSpPr>
          <p:nvPr/>
        </p:nvSpPr>
        <p:spPr>
          <a:xfrm xmlns:a="http://schemas.openxmlformats.org/drawingml/2006/main">
            <a:off x="7096125" y="45529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C334A4B-F123-497B-9668-D2EDAF3FFA9B}"/>
              </a:ext>
            </a:extLst>
          </p:cNvPr>
          <p:cNvSpPr>
            <a:spLocks xmlns:a="http://schemas.openxmlformats.org/drawingml/2006/main" noGrp="1"/>
          </p:cNvSpPr>
          <p:nvPr/>
        </p:nvSpPr>
        <p:spPr>
          <a:xfrm xmlns:a="http://schemas.openxmlformats.org/drawingml/2006/main">
            <a:off x="7315200" y="4476750"/>
            <a:ext cx="4114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Tune lengths or hysteresis after inspection</a:t>
            </a:r>
          </a:p>
        </p:txBody>
      </p:sp>
      <p:sp>
        <p:nvSpPr>
          <p:cNvPr id="18" name="">
            <a:extLst xmlns:a="http://schemas.openxmlformats.org/drawingml/2006/main">
              <a:ext uri="{FF2B5EF4-FFF2-40B4-BE49-F238E27FC236}">
                <a16:creationId xmlns:a16="http://schemas.microsoft.com/office/drawing/2014/main" id="{9507847A-1466-4090-839C-6D65D7ACA7EB}"/>
              </a:ext>
            </a:extLst>
          </p:cNvPr>
          <p:cNvSpPr>
            <a:spLocks xmlns:a="http://schemas.openxmlformats.org/drawingml/2006/main" noGrp="1"/>
          </p:cNvSpPr>
          <p:nvPr/>
        </p:nvSpPr>
        <p:spPr>
          <a:xfrm xmlns:a="http://schemas.openxmlformats.org/drawingml/2006/main">
            <a:off x="7096125" y="50768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13166CA-1C4F-4D9C-96F2-FB9BF06F3757}"/>
              </a:ext>
            </a:extLst>
          </p:cNvPr>
          <p:cNvSpPr>
            <a:spLocks xmlns:a="http://schemas.openxmlformats.org/drawingml/2006/main" noGrp="1"/>
          </p:cNvSpPr>
          <p:nvPr/>
        </p:nvSpPr>
        <p:spPr>
          <a:xfrm xmlns:a="http://schemas.openxmlformats.org/drawingml/2006/main">
            <a:off x="7315200" y="5000625"/>
            <a:ext cx="4114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Invert into mean reversion or select favorable assets</a:t>
            </a:r>
          </a:p>
        </p:txBody>
      </p:sp>
      <p:sp>
        <p:nvSpPr>
          <p:cNvPr id="20" name="">
            <a:extLst xmlns:a="http://schemas.openxmlformats.org/drawingml/2006/main">
              <a:ext uri="{FF2B5EF4-FFF2-40B4-BE49-F238E27FC236}">
                <a16:creationId xmlns:a16="http://schemas.microsoft.com/office/drawing/2014/main" id="{EAF1F2D5-0DA3-45C1-837A-F438955DE5CF}"/>
              </a:ext>
            </a:extLst>
          </p:cNvPr>
          <p:cNvSpPr>
            <a:spLocks xmlns:a="http://schemas.openxmlformats.org/drawingml/2006/main" noGrp="1"/>
          </p:cNvSpPr>
          <p:nvPr/>
        </p:nvSpPr>
        <p:spPr>
          <a:xfrm xmlns:a="http://schemas.openxmlformats.org/drawingml/2006/main">
            <a:off x="7096125" y="56007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0FEF737-6FA5-42B6-BD6D-41C3D0CE27FB}"/>
              </a:ext>
            </a:extLst>
          </p:cNvPr>
          <p:cNvSpPr>
            <a:spLocks xmlns:a="http://schemas.openxmlformats.org/drawingml/2006/main" noGrp="1"/>
          </p:cNvSpPr>
          <p:nvPr/>
        </p:nvSpPr>
        <p:spPr>
          <a:xfrm xmlns:a="http://schemas.openxmlformats.org/drawingml/2006/main">
            <a:off x="7315200" y="5524500"/>
            <a:ext cx="4114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Join ATR%, run a strategy, or inspect 2024+</a:t>
            </a:r>
          </a:p>
        </p:txBody>
      </p:sp>
      <p:sp>
        <p:nvSpPr>
          <p:cNvPr id="22" name="">
            <a:extLst xmlns:a="http://schemas.openxmlformats.org/drawingml/2006/main">
              <a:ext uri="{FF2B5EF4-FFF2-40B4-BE49-F238E27FC236}">
                <a16:creationId xmlns:a16="http://schemas.microsoft.com/office/drawing/2014/main" id="{724EC858-0D65-4553-A2D2-8034C356A1BB}"/>
              </a:ext>
            </a:extLst>
          </p:cNvPr>
          <p:cNvSpPr>
            <a:spLocks xmlns:a="http://schemas.openxmlformats.org/drawingml/2006/main" noGrp="1"/>
          </p:cNvSpPr>
          <p:nvPr/>
        </p:nvSpPr>
        <p:spPr>
          <a:xfrm xmlns:a="http://schemas.openxmlformats.org/drawingml/2006/main">
            <a:off x="523875" y="4619625"/>
            <a:ext cx="5905500" cy="11430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062B055-A777-4F49-9BF8-2CD746D6F7E5}"/>
              </a:ext>
            </a:extLst>
          </p:cNvPr>
          <p:cNvSpPr>
            <a:spLocks xmlns:a="http://schemas.openxmlformats.org/drawingml/2006/main" noGrp="1"/>
          </p:cNvSpPr>
          <p:nvPr/>
        </p:nvSpPr>
        <p:spPr>
          <a:xfrm xmlns:a="http://schemas.openxmlformats.org/drawingml/2006/main">
            <a:off x="809625" y="4857750"/>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7324D"/>
                </a:solidFill>
              </a:defRPr>
            </a:pPr>
            <a:r>
              <a:rPr sz="1350" b="1">
                <a:solidFill>
                  <a:srgbClr val="17324D"/>
                </a:solidFill>
              </a:rPr>
              <a:t>Variance ratio remains a serious separate literature-based diagnostic because it tests multi-scale return dependence. It is not authorized as a rescue of 05.1.</a:t>
            </a:r>
          </a:p>
        </p:txBody>
      </p:sp>
      <p:sp>
        <p:nvSpPr>
          <p:cNvPr id="24" name="">
            <a:extLst xmlns:a="http://schemas.openxmlformats.org/drawingml/2006/main">
              <a:ext uri="{FF2B5EF4-FFF2-40B4-BE49-F238E27FC236}">
                <a16:creationId xmlns:a16="http://schemas.microsoft.com/office/drawing/2014/main" id="{BE73F724-4E43-4A6B-9396-673F2A215DFC}"/>
              </a:ext>
            </a:extLst>
          </p:cNvPr>
          <p:cNvSpPr>
            <a:spLocks xmlns:a="http://schemas.openxmlformats.org/drawingml/2006/main" noGrp="1"/>
          </p:cNvSpPr>
          <p:nvPr/>
        </p:nvSpPr>
        <p:spPr>
          <a:xfrm xmlns:a="http://schemas.openxmlformats.org/drawingml/2006/main">
            <a:off x="647700" y="6096000"/>
            <a:ext cx="342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E8B57"/>
                </a:solidFill>
              </a:defRPr>
            </a:pPr>
            <a:r>
              <a:rPr sz="1425" b="1">
                <a:solidFill>
                  <a:srgbClr val="2E8B57"/>
                </a:solidFill>
              </a:rPr>
              <a:t>2024+ remained sealed</a:t>
            </a:r>
          </a:p>
        </p:txBody>
      </p:sp>
    </p:spTree>
    <p:extLst>
      <p:ext uri="{BB962C8B-B14F-4D97-AF65-F5344CB8AC3E}">
        <p14:creationId xmlns:p14="http://schemas.microsoft.com/office/powerpoint/2010/main" val="419451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2026-08-15T23:52:13.3130000Z</dcterms:created>
  <dcterms:modified xsi:type="dcterms:W3CDTF">2026-08-15T23:52:13.3130000Z</dcterms:modified>
</coreProperties>
</file>