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b9268dcef5e470c" /><Relationship Type="http://schemas.openxmlformats.org/officeDocument/2006/relationships/extended-properties" Target="/docProps/app.xml" Id="R985ffdd71a2b48ca" /><Relationship Type="http://schemas.openxmlformats.org/officeDocument/2006/relationships/officeDocument" Target="/ppt/presentation.xml" Id="R578ca012122241a4" /></Relationships>
</file>

<file path=ppt/presentation.xml><?xml version="1.0" encoding="utf-8"?>
<p:presentation xmlns:p="http://schemas.openxmlformats.org/presentationml/2006/main">
  <p:sldMasterIdLst>
    <p:sldMasterId xmlns:r="http://schemas.openxmlformats.org/officeDocument/2006/relationships" id="2147483648" r:id="Rcc820b863f914c66"/>
  </p:sldMasterIdLst>
  <p:notesMasterIdLst>
    <p:notesMasterId xmlns:r="http://schemas.openxmlformats.org/officeDocument/2006/relationships" r:id="R69e6f21f2528423e"/>
  </p:notesMasterIdLst>
  <p:sldIdLst>
    <p:sldId xmlns:r="http://schemas.openxmlformats.org/officeDocument/2006/relationships" id="256" r:id="Rf09a795170f14c0d"/>
    <p:sldId xmlns:r="http://schemas.openxmlformats.org/officeDocument/2006/relationships" id="257" r:id="Ref8d304d7fd84ae2"/>
    <p:sldId xmlns:r="http://schemas.openxmlformats.org/officeDocument/2006/relationships" id="258" r:id="R116ffff06da94741"/>
    <p:sldId xmlns:r="http://schemas.openxmlformats.org/officeDocument/2006/relationships" id="259" r:id="R2bc610bc514a4449"/>
    <p:sldId xmlns:r="http://schemas.openxmlformats.org/officeDocument/2006/relationships" id="260" r:id="R5c6ce4eb09a84cda"/>
    <p:sldId xmlns:r="http://schemas.openxmlformats.org/officeDocument/2006/relationships" id="261" r:id="Rae06cc2d43f04f31"/>
    <p:sldId xmlns:r="http://schemas.openxmlformats.org/officeDocument/2006/relationships" id="262" r:id="Rfd30aa13da024739"/>
    <p:sldId xmlns:r="http://schemas.openxmlformats.org/officeDocument/2006/relationships" id="263" r:id="R1f0098957b744009"/>
    <p:sldId xmlns:r="http://schemas.openxmlformats.org/officeDocument/2006/relationships" id="264" r:id="R36d4e8a20ba74ecf"/>
    <p:sldId xmlns:r="http://schemas.openxmlformats.org/officeDocument/2006/relationships" id="265" r:id="Rccdb4ee00d39439e"/>
    <p:sldId xmlns:r="http://schemas.openxmlformats.org/officeDocument/2006/relationships" id="266" r:id="R9803ae5c9e8a480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652f197d8f3445f" /><Relationship Type="http://schemas.openxmlformats.org/officeDocument/2006/relationships/slideMaster" Target="/ppt/slideMasters/slideMaster1.xml" Id="Rcc820b863f914c66" /><Relationship Type="http://schemas.openxmlformats.org/officeDocument/2006/relationships/notesMaster" Target="/ppt/notesMasters/notesMaster1.xml" Id="R69e6f21f2528423e" /><Relationship Type="http://schemas.openxmlformats.org/officeDocument/2006/relationships/presProps" Target="/ppt/presProps.xml" Id="R50e279696f404c3b" /><Relationship Type="http://schemas.openxmlformats.org/officeDocument/2006/relationships/tableStyles" Target="/ppt/tableStyles.xml" Id="R8403b7229185465e" /><Relationship Type="http://schemas.openxmlformats.org/officeDocument/2006/relationships/slide" Target="/ppt/slides/slide1.xml" Id="Rf09a795170f14c0d" /><Relationship Type="http://schemas.openxmlformats.org/officeDocument/2006/relationships/slide" Target="/ppt/slides/slide2.xml" Id="Ref8d304d7fd84ae2" /><Relationship Type="http://schemas.openxmlformats.org/officeDocument/2006/relationships/slide" Target="/ppt/slides/slide3.xml" Id="R116ffff06da94741" /><Relationship Type="http://schemas.openxmlformats.org/officeDocument/2006/relationships/slide" Target="/ppt/slides/slide4.xml" Id="R2bc610bc514a4449" /><Relationship Type="http://schemas.openxmlformats.org/officeDocument/2006/relationships/slide" Target="/ppt/slides/slide5.xml" Id="R5c6ce4eb09a84cda" /><Relationship Type="http://schemas.openxmlformats.org/officeDocument/2006/relationships/slide" Target="/ppt/slides/slide6.xml" Id="Rae06cc2d43f04f31" /><Relationship Type="http://schemas.openxmlformats.org/officeDocument/2006/relationships/slide" Target="/ppt/slides/slide7.xml" Id="Rfd30aa13da024739" /><Relationship Type="http://schemas.openxmlformats.org/officeDocument/2006/relationships/slide" Target="/ppt/slides/slide8.xml" Id="R1f0098957b744009" /><Relationship Type="http://schemas.openxmlformats.org/officeDocument/2006/relationships/slide" Target="/ppt/slides/slide9.xml" Id="R36d4e8a20ba74ecf" /><Relationship Type="http://schemas.openxmlformats.org/officeDocument/2006/relationships/slide" Target="/ppt/slides/slide10.xml" Id="Rccdb4ee00d39439e" /><Relationship Type="http://schemas.openxmlformats.org/officeDocument/2006/relationships/slide" Target="/ppt/slides/slide11.xml" Id="R9803ae5c9e8a48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5f9d806e3a14a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56c3b08932439e" /><Relationship Type="http://schemas.openxmlformats.org/officeDocument/2006/relationships/notesMaster" Target="/ppt/notesMasters/notesMaster1.xml" Id="R803bc893238d43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4d0de3900043ed" /><Relationship Type="http://schemas.openxmlformats.org/officeDocument/2006/relationships/notesMaster" Target="/ppt/notesMasters/notesMaster1.xml" Id="Rf7d68c1b435b44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1eb2f75e264cb9" /><Relationship Type="http://schemas.openxmlformats.org/officeDocument/2006/relationships/notesMaster" Target="/ppt/notesMasters/notesMaster1.xml" Id="R5231cb28fb954f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0e4977dfca4142" /><Relationship Type="http://schemas.openxmlformats.org/officeDocument/2006/relationships/notesMaster" Target="/ppt/notesMasters/notesMaster1.xml" Id="R371129dd22be48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6c755fef7a3b4635" /><Relationship Type="http://schemas.openxmlformats.org/officeDocument/2006/relationships/notesMaster" Target="/ppt/notesMasters/notesMaster1.xml" Id="R51a183ee8c8d4b2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e8818fe433140bc" /><Relationship Type="http://schemas.openxmlformats.org/officeDocument/2006/relationships/notesMaster" Target="/ppt/notesMasters/notesMaster1.xml" Id="R8dcfc66533c4454d" /></Relationships>
</file>

<file path=ppt/notesSlides/_rels/notesSlide7.xml.rels>&#65279;<?xml version="1.0" encoding="utf-8"?><Relationships xmlns="http://schemas.openxmlformats.org/package/2006/relationships"><Relationship Type="http://schemas.openxmlformats.org/officeDocument/2006/relationships/slide" Target="/ppt/slides/slide7.xml" Id="R57e06b08f044464e" /><Relationship Type="http://schemas.openxmlformats.org/officeDocument/2006/relationships/notesMaster" Target="/ppt/notesMasters/notesMaster1.xml" Id="R2895908a4aed4f9a" /></Relationships>
</file>

<file path=ppt/notesSlides/_rels/notesSlide8.xml.rels>&#65279;<?xml version="1.0" encoding="utf-8"?><Relationships xmlns="http://schemas.openxmlformats.org/package/2006/relationships"><Relationship Type="http://schemas.openxmlformats.org/officeDocument/2006/relationships/slide" Target="/ppt/slides/slide8.xml" Id="Re7669482f57240aa" /><Relationship Type="http://schemas.openxmlformats.org/officeDocument/2006/relationships/notesMaster" Target="/ppt/notesMasters/notesMaster1.xml" Id="Ra939bd2b127844a7" /></Relationships>
</file>

<file path=ppt/notesSlides/_rels/notesSlide9.xml.rels>&#65279;<?xml version="1.0" encoding="utf-8"?><Relationships xmlns="http://schemas.openxmlformats.org/package/2006/relationships"><Relationship Type="http://schemas.openxmlformats.org/officeDocument/2006/relationships/slide" Target="/ppt/slides/slide9.xml" Id="R500140ef6c8f42f9" /><Relationship Type="http://schemas.openxmlformats.org/officeDocument/2006/relationships/notesMaster" Target="/ppt/notesMasters/notesMaster1.xml" Id="Ra0898eb30264412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96917aa950a40b3" /><Relationship Type="http://schemas.openxmlformats.org/officeDocument/2006/relationships/notesMaster" Target="/ppt/notesMasters/notesMaster1.xml" Id="R05e14f0ceacb446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ec36856d2244949" /><Relationship Type="http://schemas.openxmlformats.org/officeDocument/2006/relationships/notesMaster" Target="/ppt/notesMasters/notesMaster1.xml" Id="Rade098fe37c04a7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central distinction. The state is a successful measurement artifact, but the precommitted hard entry policy is not useful.</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Project/Time-Series-Modeling-Gen5/docs/GEN5_HYP_REG_12_1_RANGE_PERSISTENCE_CONTRACT.md</a:t>
            </a:r>
          </a:p>
          <a:p xmlns:a="http://schemas.openxmlformats.org/drawingml/2006/main">
            <a:r>
              <a:t>- C:/Users/Franc/OneDrive/Documents/Francis/Peltata Project/Time-Series-Modeling-Gen5/operator_hypothesis_lab/docs/HYP_REG_12_1_RANGE_PERSISTENCE_RESULTS.md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Brock, Lakonishok, and LeBaron motivate treating trading-range rules as testable hypotheses. Time-series momentum makes persistence economically plausible, while data-snooping evidence argues against searching many channel lengths.</a:t>
            </a:r>
          </a:p>
          <a:p xmlns:a="http://schemas.openxmlformats.org/drawingml/2006/main">
            <a:r>
              <a:t/>
            </a:r>
          </a:p>
          <a:p xmlns:a="http://schemas.openxmlformats.org/drawingml/2006/main">
            <a:r>
              <a:t>[Sources]</a:t>
            </a:r>
          </a:p>
          <a:p xmlns:a="http://schemas.openxmlformats.org/drawingml/2006/main">
            <a:r>
              <a:t>- https://doi.org/10.1111/j.1540-6261.1992.tb04681.x</a:t>
            </a:r>
          </a:p>
          <a:p xmlns:a="http://schemas.openxmlformats.org/drawingml/2006/main">
            <a:r>
              <a:t>- https://doi.org/10.1016/j.jfineco.2011.11.003</a:t>
            </a:r>
          </a:p>
          <a:p xmlns:a="http://schemas.openxmlformats.org/drawingml/2006/main">
            <a:r>
              <a:t>- https://doi.org/10.1111/0022-1082.00163</a:t>
            </a:r>
          </a:p>
          <a:p xmlns:a="http://schemas.openxmlformats.org/drawingml/2006/main">
            <a:r>
              <a:t>- C:/Users/Franc/OneDrive/Documents/Francis/Peltata Project/Time-Series-Modeling-Gen5/docs/GEN5_HYP_REG_12_1_RANGE_PERSISTENCE_CONTRACT.md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63-session range approximates one trading quarter and was selected before execution. Using preceding closes makes the boundary causal and avoids letting today's close move the goalpost it is tested against.</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Project/Time-Series-Modeling-Gen5/docs/GEN5_HYP_REG_12_1_RANGE_PERSISTENCE_CONTRACT.md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event ledger preserves breakout age and fixed-boundary behavior without turning the event into an entry. A new high cannot restart or lengthen the event window.</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Project/Time-Series-Modeling-Gen5/docs/GEN5_HYP_REG_12_1_RANGE_PERSISTENCE_CONTRACT.md</a:t>
            </a:r>
          </a:p>
          <a:p xmlns:a="http://schemas.openxmlformats.org/drawingml/2006/main">
            <a:r>
              <a:t>- C:/Users/Franc/OneDrive/Documents/Francis/Peltata Project/Time-Series-Modeling-Gen5/runs/research_workbench/operator_hypothesis_lab/hyp_reg_12_1_range_persistence_20260817/hyp_reg_12_1_breakout_outcomes.csv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Construction, causality, semantic validity, and opportunity contact were all adequate. This is a genuine positive measurement result, even though the policy later fails.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Project/Time-Series-Modeling-Gen5/runs/research_workbench/operator_hypothesis_lab/hyp_reg_12_1_range_persistence_20260817/hyp_reg_12_1_stage_a_gates.csv</a:t>
            </a:r>
          </a:p>
          <a:p xmlns:a="http://schemas.openxmlformats.org/drawingml/2006/main">
            <a:r>
              <a:t>- C:/Users/Franc/OneDrive/Documents/Francis/Peltata Project/Time-Series-Modeling-Gen5/operator_hypothesis_lab/docs/HYP_REG_12_1_RANGE_PERSISTENCE_RESULTS.md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Unlike the prior CUSUM lane, this state is not too sparse. Every primary stock had multiple opportunities, and the strategy overlay ultimately contained 480 trades.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Project/Time-Series-Modeling-Gen5/runs/research_workbench/operator_hypothesis_lab/hyp_reg_12_1_range_persistence_20260817/hyp_reg_12_1_state_diagnostics.csv</a:t>
            </a:r>
          </a:p>
          <a:p xmlns:a="http://schemas.openxmlformats.org/drawingml/2006/main">
            <a:r>
              <a:t>- C:/Users/Franc/OneDrive/Documents/Francis/Peltata Project/Time-Series-Modeling-Gen5/runs/research_workbench/operator_hypothesis_lab/hyp_reg_12_1_range_persistence_20260817/visuals/state_usability.png</a:t>
            </a:r>
          </a:p>
          <a:p xmlns:a="http://schemas.openxmlformats.org/drawingml/2006/main">
            <a:r>
              <a:t>- C:/Users/Franc/OneDrive/Documents/Francis/Peltata Project/Time-Series-Modeling-Gen5/runs/research_workbench/operator_hypothesis_lab/hyp_reg_12_1_range_persistence_20260817/hyp_reg_12_1_trades.csv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event ledger confirms that breakouts are neither uniformly durable nor meaningless. Median hold fraction was 80%, but more than one-third failed rapidly. These are path outcomes, not trading returns.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Project/Time-Series-Modeling-Gen5/runs/research_workbench/operator_hypothesis_lab/hyp_reg_12_1_range_persistence_20260817/hyp_reg_12_1_breakout_outcomes.csv</a:t>
            </a:r>
          </a:p>
          <a:p xmlns:a="http://schemas.openxmlformats.org/drawingml/2006/main">
            <a:r>
              <a:t>- C:/Users/Franc/OneDrive/Documents/Francis/Peltata Project/Time-Series-Modeling-Gen5/runs/research_workbench/operator_hypothesis_lab/hyp_reg_12_1_range_persistence_20260817/visuals/breakout_behavior.png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parent strategy and accounting are identical to the earlier trend-indicator lanes. Parent reproduction passed for all 156 annual cells within 4.44e-15.</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Project/Time-Series-Modeling-Gen5/docs/GEN5_HYP_REG_12_1_RANGE_PERSISTENCE_CONTRACT.md</a:t>
            </a:r>
          </a:p>
          <a:p xmlns:a="http://schemas.openxmlformats.org/drawingml/2006/main">
            <a:r>
              <a:t>- C:/Users/Franc/OneDrive/Documents/Francis/Peltata Project/Time-Series-Modeling-Gen5/runs/research_workbench/operator_hypothesis_lab/hyp_reg_12_1_range_persistence_20260817/hyp_reg_12_1_parent_reproduction.csv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Only JPM improved over the six-year compound comparison. Only 2018 had positive median excess. At 10 bp per side, the overlay median annual return was -0.18%.</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Project/Time-Series-Modeling-Gen5/runs/research_workbench/operator_hypothesis_lab/hyp_reg_12_1_range_persistence_20260817/hyp_reg_12_1_policy_panel.csv</a:t>
            </a:r>
          </a:p>
          <a:p xmlns:a="http://schemas.openxmlformats.org/drawingml/2006/main">
            <a:r>
              <a:t>- C:/Users/Franc/OneDrive/Documents/Francis/Peltata Project/Time-Series-Modeling-Gen5/runs/research_workbench/operator_hypothesis_lab/hyp_reg_12_1_range_persistence_20260817/hyp_reg_12_1_asset_summary.csv</a:t>
            </a:r>
          </a:p>
          <a:p xmlns:a="http://schemas.openxmlformats.org/drawingml/2006/main">
            <a:r>
              <a:t>- C:/Users/Franc/OneDrive/Documents/Francis/Peltata Project/Time-Series-Modeling-Gen5/runs/research_workbench/operator_hypothesis_lab/hyp_reg_12_1_range_persistence_20260817/hyp_reg_12_1_year_summary.csv</a:t>
            </a:r>
          </a:p>
          <a:p xmlns:a="http://schemas.openxmlformats.org/drawingml/2006/main">
            <a:r>
              <a:t>- C:/Users/Franc/OneDrive/Documents/Francis/Peltata Project/Time-Series-Modeling-Gen5/runs/research_workbench/operator_hypothesis_lab/hyp_reg_12_1_range_persistence_20260817/hyp_reg_12_1_placebo_readout.csv</a:t>
            </a:r>
          </a:p>
          <a:p xmlns:a="http://schemas.openxmlformats.org/drawingml/2006/main">
            <a:r>
              <a:t>- C:/Users/Franc/OneDrive/Documents/Francis/Peltata Project/Time-Series-Modeling-Gen5/runs/research_workbench/operator_hypothesis_lab/hyp_reg_12_1_range_persistence_20260817/visuals/policy_performance.png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trade audit argues against blaming the failure solely on low opportunity count. The admitted set contains 480 trades and has the weakest hit rate and median trade of the three predeclared descriptive groups.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Project/Time-Series-Modeling-Gen5/runs/research_workbench/operator_hypothesis_lab/hyp_reg_12_1_range_persistence_20260817/hyp_reg_12_1_entry_state_audit.csv</a:t>
            </a:r>
          </a:p>
          <a:p xmlns:a="http://schemas.openxmlformats.org/drawingml/2006/main">
            <a:r>
              <a:t>- C:/Users/Franc/OneDrive/Documents/Francis/Peltata Project/Time-Series-Modeling-Gen5/runs/research_workbench/operator_hypothesis_lab/hyp_reg_12_1_range_persistence_20260817/visuals/entry_state_audit.png</a:t>
            </a:r>
          </a:p>
          <a:p xmlns:a="http://schemas.openxmlformats.org/drawingml/2006/main">
            <a:r>
              <a:t>- C:/Users/Franc/OneDrive/Documents/Francis/Peltata Project/Time-Series-Modeling-Gen5/operator_hypothesis_lab/docs/HYP_REG_12_1_RANGE_PERSISTENCE_RESULTS.md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series ends with a useful general lesson: causal descriptors can be valid without improving a particular action. HMM is now eligible for discussion, not implementation, and must be grounded before any state model is frozen.</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Project/Time-Series-Modeling-Gen5/operator_hypothesis_lab/docs/HYP_REG_12_1_RANGE_PERSISTENCE_RESULTS.md</a:t>
            </a:r>
          </a:p>
          <a:p xmlns:a="http://schemas.openxmlformats.org/drawingml/2006/main">
            <a:r>
              <a:t>- C:/Users/Franc/OneDrive/Documents/Francis/Peltata Project/Time-Series-Modeling-Gen5/docs/GEN5_TREND_INDICATOR_POC_ROADMAP.md</a:t>
            </a:r>
          </a:p>
          <a:p xmlns:a="http://schemas.openxmlformats.org/drawingml/2006/main">
            <a:r>
              <a:t>- C:/Users/Franc/OneDrive/Documents/Francis/Peltata Project/Time-Series-Modeling-Gen5/docs/GEN5_HYP_REG_12_1_RANGE_PERSISTENCE_CONTRACT.md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ca7aed709d8419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da7630d2c64aab" /><Relationship Type="http://schemas.openxmlformats.org/officeDocument/2006/relationships/slideLayout" Target="/ppt/slideLayouts/slideLayout1.xml" Id="R90579ecd861f467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0579ecd861f467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6701768cb634d65" /><Relationship Type="http://schemas.openxmlformats.org/officeDocument/2006/relationships/image" Target="/ppt/media/image.png" Id="R4648e3bc3bc243d8" /><Relationship Type="http://schemas.openxmlformats.org/officeDocument/2006/relationships/notesSlide" Target="/ppt/notesSlides/notesSlide1.xml" Id="R36135282cf3d40d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d1a78acd5034210" /><Relationship Type="http://schemas.openxmlformats.org/officeDocument/2006/relationships/notesSlide" Target="/ppt/notesSlides/notesSlide2.xml" Id="Rd0094699229b49a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f04cc6b6d224729" /><Relationship Type="http://schemas.openxmlformats.org/officeDocument/2006/relationships/notesSlide" Target="/ppt/notesSlides/notesSlide3.xml" Id="Rd04058facd374fe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babf1dfa97d499d" /><Relationship Type="http://schemas.openxmlformats.org/officeDocument/2006/relationships/notesSlide" Target="/ppt/notesSlides/notesSlide4.xml" Id="R62fc7feee7af49f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f1f6ad3e32749a5" /><Relationship Type="http://schemas.openxmlformats.org/officeDocument/2006/relationships/notesSlide" Target="/ppt/notesSlides/notesSlide5.xml" Id="R8e19d2707871495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114a70439374650" /><Relationship Type="http://schemas.openxmlformats.org/officeDocument/2006/relationships/image" Target="/ppt/media/image2.png" Id="R4f179d5b00a644f4" /><Relationship Type="http://schemas.openxmlformats.org/officeDocument/2006/relationships/notesSlide" Target="/ppt/notesSlides/notesSlide6.xml" Id="R4787058bc3be403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0d3ff381c2c445e" /><Relationship Type="http://schemas.openxmlformats.org/officeDocument/2006/relationships/image" Target="/ppt/media/image3.png" Id="R80a15af13ab24f7a" /><Relationship Type="http://schemas.openxmlformats.org/officeDocument/2006/relationships/notesSlide" Target="/ppt/notesSlides/notesSlide7.xml" Id="R0f5dc548c00e42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3af6d5e099a4062" /><Relationship Type="http://schemas.openxmlformats.org/officeDocument/2006/relationships/notesSlide" Target="/ppt/notesSlides/notesSlide8.xml" Id="R15731b662ecf4eb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f8a212f003540e9" /><Relationship Type="http://schemas.openxmlformats.org/officeDocument/2006/relationships/image" Target="/ppt/media/image4.png" Id="Ra155ae1b5dcd4460" /><Relationship Type="http://schemas.openxmlformats.org/officeDocument/2006/relationships/notesSlide" Target="/ppt/notesSlides/notesSlide9.xml" Id="R04f1668e6465464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b45e774fd004d55" /><Relationship Type="http://schemas.openxmlformats.org/officeDocument/2006/relationships/image" Target="/ppt/media/image5.png" Id="R83fbcfd6f2c649e3" /><Relationship Type="http://schemas.openxmlformats.org/officeDocument/2006/relationships/notesSlide" Target="/ppt/notesSlides/notesSlide10.xml" Id="R487b01d256ea410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f085d493879499d" /><Relationship Type="http://schemas.openxmlformats.org/officeDocument/2006/relationships/notesSlide" Target="/ppt/notesSlides/notesSlide11.xml" Id="Rfbd6e316c73547b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0C409F1-51E0-4B43-9E50-CDC6380BC363}"/>
              </a:ext>
            </a:extLst>
          </p:cNvPr>
          <p:cNvSpPr>
            <a:spLocks xmlns:a="http://schemas.openxmlformats.org/drawingml/2006/main" noGrp="1"/>
          </p:cNvSpPr>
          <p:nvPr/>
        </p:nvSpPr>
        <p:spPr>
          <a:xfrm xmlns:a="http://schemas.openxmlformats.org/drawingml/2006/main">
            <a:off x="457200" y="40005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HYP-REG-12.1</a:t>
            </a:r>
          </a:p>
        </p:txBody>
      </p:sp>
      <p:sp>
        <p:nvSpPr>
          <p:cNvPr id="2" name="">
            <a:extLst xmlns:a="http://schemas.openxmlformats.org/drawingml/2006/main">
              <a:ext uri="{FF2B5EF4-FFF2-40B4-BE49-F238E27FC236}">
                <a16:creationId xmlns:a16="http://schemas.microsoft.com/office/drawing/2014/main" id="{84AFFAF6-EC0D-4CCA-870A-D16F0E9181B9}"/>
              </a:ext>
            </a:extLst>
          </p:cNvPr>
          <p:cNvSpPr>
            <a:spLocks xmlns:a="http://schemas.openxmlformats.org/drawingml/2006/main" noGrp="1"/>
          </p:cNvSpPr>
          <p:nvPr/>
        </p:nvSpPr>
        <p:spPr>
          <a:xfrm xmlns:a="http://schemas.openxmlformats.org/drawingml/2006/main">
            <a:off x="457200" y="1123950"/>
            <a:ext cx="5429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750" b="1">
                <a:solidFill>
                  <a:srgbClr val="17202A"/>
                </a:solidFill>
                <a:latin typeface="Arial"/>
                <a:ea typeface="Arial"/>
                <a:cs typeface="Arial"/>
              </a:defRPr>
            </a:pPr>
            <a:r>
              <a:rPr sz="3750" b="1">
                <a:solidFill>
                  <a:srgbClr val="17202A"/>
                </a:solidFill>
                <a:latin typeface="Arial"/>
                <a:ea typeface="Arial"/>
                <a:cs typeface="Arial"/>
              </a:rPr>
              <a:t>A good description—</a:t>
            </a:r>
          </a:p>
          <a:p xmlns:a="http://schemas.openxmlformats.org/drawingml/2006/main">
            <a:pPr algn="l">
              <a:defRPr sz="3750" b="1">
                <a:solidFill>
                  <a:srgbClr val="17202A"/>
                </a:solidFill>
                <a:latin typeface="Arial"/>
                <a:ea typeface="Arial"/>
                <a:cs typeface="Arial"/>
              </a:defRPr>
            </a:pPr>
            <a:r>
              <a:rPr sz="3750" b="1">
                <a:solidFill>
                  <a:srgbClr val="17202A"/>
                </a:solidFill>
                <a:latin typeface="Arial"/>
                <a:ea typeface="Arial"/>
                <a:cs typeface="Arial"/>
              </a:rPr>
              <a:t>and a bad entry gate</a:t>
            </a:r>
          </a:p>
        </p:txBody>
      </p:sp>
      <p:sp>
        <p:nvSpPr>
          <p:cNvPr id="3" name="">
            <a:extLst xmlns:a="http://schemas.openxmlformats.org/drawingml/2006/main">
              <a:ext uri="{FF2B5EF4-FFF2-40B4-BE49-F238E27FC236}">
                <a16:creationId xmlns:a16="http://schemas.microsoft.com/office/drawing/2014/main" id="{E369F54D-CA31-4898-BEBE-0D220DB984F6}"/>
              </a:ext>
            </a:extLst>
          </p:cNvPr>
          <p:cNvSpPr>
            <a:spLocks xmlns:a="http://schemas.openxmlformats.org/drawingml/2006/main" noGrp="1"/>
          </p:cNvSpPr>
          <p:nvPr/>
        </p:nvSpPr>
        <p:spPr>
          <a:xfrm xmlns:a="http://schemas.openxmlformats.org/drawingml/2006/main">
            <a:off x="457200" y="3257550"/>
            <a:ext cx="514350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68727D"/>
                </a:solidFill>
                <a:latin typeface="Arial"/>
                <a:ea typeface="Arial"/>
                <a:cs typeface="Arial"/>
              </a:defRPr>
            </a:pPr>
            <a:r>
              <a:rPr sz="1800" b="0">
                <a:solidFill>
                  <a:srgbClr val="68727D"/>
                </a:solidFill>
                <a:latin typeface="Arial"/>
                <a:ea typeface="Arial"/>
                <a:cs typeface="Arial"/>
              </a:rPr>
              <a:t>Upper-range persistence was causal, interpretable, and broadly usable. Requiring it at fresh SMA8/14 crosses destroyed return and failed transport.</a:t>
            </a:r>
          </a:p>
        </p:txBody>
      </p:sp>
      <p:sp>
        <p:nvSpPr>
          <p:cNvPr id="4" name="">
            <a:extLst xmlns:a="http://schemas.openxmlformats.org/drawingml/2006/main">
              <a:ext uri="{FF2B5EF4-FFF2-40B4-BE49-F238E27FC236}">
                <a16:creationId xmlns:a16="http://schemas.microsoft.com/office/drawing/2014/main" id="{4505D289-CFC7-4A3C-9469-7A9852EF29F3}"/>
              </a:ext>
            </a:extLst>
          </p:cNvPr>
          <p:cNvSpPr>
            <a:spLocks xmlns:a="http://schemas.openxmlformats.org/drawingml/2006/main" noGrp="1"/>
          </p:cNvSpPr>
          <p:nvPr/>
        </p:nvSpPr>
        <p:spPr>
          <a:xfrm xmlns:a="http://schemas.openxmlformats.org/drawingml/2006/main">
            <a:off x="6191250" y="381000"/>
            <a:ext cx="5543550" cy="5619750"/>
          </a:xfrm>
          <a:prstGeom xmlns:a="http://schemas.openxmlformats.org/drawingml/2006/main" prst="rect">
            <a:avLst/>
          </a:prstGeom>
          <a:solidFill xmlns:a="http://schemas.openxmlformats.org/drawingml/2006/main">
            <a:srgbClr val="F4F6F8"/>
          </a:solidFill>
          <a:ln xmlns:a="http://schemas.openxmlformats.org/drawingml/2006/main" w="0">
            <a:no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648e3bc3bc243d8"/>
          <a:srcRect xmlns:a="http://schemas.openxmlformats.org/drawingml/2006/main" l="2803" t="0" r="2803" b="0"/>
          <a:stretch xmlns:a="http://schemas.openxmlformats.org/drawingml/2006/main">
            <a:fillRect l="0" t="0" r="0" b="0"/>
          </a:stretch>
        </p:blipFill>
        <p:spPr>
          <a:xfrm xmlns:a="http://schemas.openxmlformats.org/drawingml/2006/main">
            <a:off x="6419850" y="628650"/>
            <a:ext cx="5086350" cy="5143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271FE06-1FBD-4F47-BCC3-1C299D335A40}"/>
              </a:ext>
            </a:extLst>
          </p:cNvPr>
          <p:cNvSpPr>
            <a:spLocks xmlns:a="http://schemas.openxmlformats.org/drawingml/2006/main" noGrp="1"/>
          </p:cNvSpPr>
          <p:nvPr/>
        </p:nvSpPr>
        <p:spPr>
          <a:xfrm xmlns:a="http://schemas.openxmlformats.org/drawingml/2006/main">
            <a:off x="457200" y="5886450"/>
            <a:ext cx="885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D95F59"/>
                </a:solidFill>
                <a:latin typeface="Arial"/>
                <a:ea typeface="Arial"/>
                <a:cs typeface="Arial"/>
              </a:defRPr>
            </a:pPr>
            <a:r>
              <a:rPr sz="1200" b="1">
                <a:solidFill>
                  <a:srgbClr val="D95F59"/>
                </a:solidFill>
                <a:latin typeface="Arial"/>
                <a:ea typeface="Arial"/>
                <a:cs typeface="Arial"/>
              </a:rPr>
              <a:t>MEASUREMENT 7/7 · STRATEGY 3/9 · STOP · 2024+ SEALED</a:t>
            </a:r>
          </a:p>
        </p:txBody>
      </p:sp>
    </p:spTree>
    <p:extLst>
      <p:ext uri="{BB962C8B-B14F-4D97-AF65-F5344CB8AC3E}">
        <p14:creationId xmlns:p14="http://schemas.microsoft.com/office/powerpoint/2010/main" val="204077672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A33AAB5-3174-49A2-8ED0-156F34168E7F}"/>
              </a:ext>
            </a:extLst>
          </p:cNvPr>
          <p:cNvSpPr>
            <a:spLocks xmlns:a="http://schemas.openxmlformats.org/drawingml/2006/main" noGrp="1"/>
          </p:cNvSpPr>
          <p:nvPr/>
        </p:nvSpPr>
        <p:spPr>
          <a:xfrm xmlns:a="http://schemas.openxmlformats.org/drawingml/2006/main">
            <a:off x="457200" y="19050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3D8DFF"/>
                </a:solidFill>
                <a:latin typeface="Arial"/>
                <a:ea typeface="Arial"/>
                <a:cs typeface="Arial"/>
              </a:defRPr>
            </a:pPr>
            <a:r>
              <a:rPr sz="975" b="1">
                <a:solidFill>
                  <a:srgbClr val="3D8DFF"/>
                </a:solidFill>
                <a:latin typeface="Arial"/>
                <a:ea typeface="Arial"/>
                <a:cs typeface="Arial"/>
              </a:rPr>
              <a:t>QUESTION AND TAXONOMY</a:t>
            </a:r>
          </a:p>
        </p:txBody>
      </p:sp>
      <p:sp>
        <p:nvSpPr>
          <p:cNvPr id="2" name="">
            <a:extLst xmlns:a="http://schemas.openxmlformats.org/drawingml/2006/main">
              <a:ext uri="{FF2B5EF4-FFF2-40B4-BE49-F238E27FC236}">
                <a16:creationId xmlns:a16="http://schemas.microsoft.com/office/drawing/2014/main" id="{22EBB09A-35BD-4504-B95C-82C362383B03}"/>
              </a:ext>
            </a:extLst>
          </p:cNvPr>
          <p:cNvSpPr>
            <a:spLocks xmlns:a="http://schemas.openxmlformats.org/drawingml/2006/main" noGrp="1"/>
          </p:cNvSpPr>
          <p:nvPr/>
        </p:nvSpPr>
        <p:spPr>
          <a:xfrm xmlns:a="http://schemas.openxmlformats.org/drawingml/2006/main">
            <a:off x="457200" y="466725"/>
            <a:ext cx="110490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17202A"/>
                </a:solidFill>
                <a:latin typeface="Arial"/>
                <a:ea typeface="Arial"/>
                <a:cs typeface="Arial"/>
              </a:defRPr>
            </a:pPr>
            <a:r>
              <a:rPr sz="2700" b="1">
                <a:solidFill>
                  <a:srgbClr val="17202A"/>
                </a:solidFill>
                <a:latin typeface="Arial"/>
                <a:ea typeface="Arial"/>
                <a:cs typeface="Arial"/>
              </a:rPr>
              <a:t>Regime context and breakout entry are different hypotheses</a:t>
            </a:r>
          </a:p>
        </p:txBody>
      </p:sp>
      <p:sp>
        <p:nvSpPr>
          <p:cNvPr id="3" name="">
            <a:extLst xmlns:a="http://schemas.openxmlformats.org/drawingml/2006/main">
              <a:ext uri="{FF2B5EF4-FFF2-40B4-BE49-F238E27FC236}">
                <a16:creationId xmlns:a16="http://schemas.microsoft.com/office/drawing/2014/main" id="{16486979-E1CB-4CF5-8568-6FD1BC7175A6}"/>
              </a:ext>
            </a:extLst>
          </p:cNvPr>
          <p:cNvSpPr>
            <a:spLocks xmlns:a="http://schemas.openxmlformats.org/drawingml/2006/main" noGrp="1"/>
          </p:cNvSpPr>
          <p:nvPr/>
        </p:nvSpPr>
        <p:spPr>
          <a:xfrm xmlns:a="http://schemas.openxmlformats.org/drawingml/2006/main">
            <a:off x="457200" y="1295400"/>
            <a:ext cx="112776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F242DDE-F4A6-4E29-9E1C-F8FE3A3B9C4E}"/>
              </a:ext>
            </a:extLst>
          </p:cNvPr>
          <p:cNvSpPr>
            <a:spLocks xmlns:a="http://schemas.openxmlformats.org/drawingml/2006/main" noGrp="1"/>
          </p:cNvSpPr>
          <p:nvPr/>
        </p:nvSpPr>
        <p:spPr>
          <a:xfrm xmlns:a="http://schemas.openxmlformats.org/drawingml/2006/main">
            <a:off x="112585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68727D"/>
                </a:solidFill>
                <a:latin typeface="Arial"/>
                <a:ea typeface="Arial"/>
                <a:cs typeface="Arial"/>
              </a:defRPr>
            </a:pPr>
            <a:r>
              <a:rPr sz="975" b="0">
                <a:solidFill>
                  <a:srgbClr val="68727D"/>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82460455-D9B9-4345-B780-2740ED43F49A}"/>
              </a:ext>
            </a:extLst>
          </p:cNvPr>
          <p:cNvSpPr>
            <a:spLocks xmlns:a="http://schemas.openxmlformats.org/drawingml/2006/main" noGrp="1"/>
          </p:cNvSpPr>
          <p:nvPr/>
        </p:nvSpPr>
        <p:spPr>
          <a:xfrm xmlns:a="http://schemas.openxmlformats.org/drawingml/2006/main">
            <a:off x="457200" y="1676400"/>
            <a:ext cx="5095875" cy="3333750"/>
          </a:xfrm>
          <a:prstGeom xmlns:a="http://schemas.openxmlformats.org/drawingml/2006/main" prst="rect">
            <a:avLst/>
          </a:prstGeom>
          <a:solidFill xmlns:a="http://schemas.openxmlformats.org/drawingml/2006/main">
            <a:srgbClr val="E7F0F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FA55390-A2F8-42EE-AD38-87E9867EBF83}"/>
              </a:ext>
            </a:extLst>
          </p:cNvPr>
          <p:cNvSpPr>
            <a:spLocks xmlns:a="http://schemas.openxmlformats.org/drawingml/2006/main" noGrp="1"/>
          </p:cNvSpPr>
          <p:nvPr/>
        </p:nvSpPr>
        <p:spPr>
          <a:xfrm xmlns:a="http://schemas.openxmlformats.org/drawingml/2006/main">
            <a:off x="800100" y="2038350"/>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3D8DFF"/>
                </a:solidFill>
                <a:latin typeface="Arial"/>
                <a:ea typeface="Arial"/>
                <a:cs typeface="Arial"/>
              </a:defRPr>
            </a:pPr>
            <a:r>
              <a:rPr sz="2100" b="1">
                <a:solidFill>
                  <a:srgbClr val="3D8DFF"/>
                </a:solidFill>
                <a:latin typeface="Arial"/>
                <a:ea typeface="Arial"/>
                <a:cs typeface="Arial"/>
              </a:rPr>
              <a:t>Contextual HYP-REG</a:t>
            </a:r>
          </a:p>
        </p:txBody>
      </p:sp>
      <p:sp>
        <p:nvSpPr>
          <p:cNvPr id="7" name="">
            <a:extLst xmlns:a="http://schemas.openxmlformats.org/drawingml/2006/main">
              <a:ext uri="{FF2B5EF4-FFF2-40B4-BE49-F238E27FC236}">
                <a16:creationId xmlns:a16="http://schemas.microsoft.com/office/drawing/2014/main" id="{2F9CEFEC-4DB9-400A-9DFD-915E82F12C73}"/>
              </a:ext>
            </a:extLst>
          </p:cNvPr>
          <p:cNvSpPr>
            <a:spLocks xmlns:a="http://schemas.openxmlformats.org/drawingml/2006/main" noGrp="1"/>
          </p:cNvSpPr>
          <p:nvPr/>
        </p:nvSpPr>
        <p:spPr>
          <a:xfrm xmlns:a="http://schemas.openxmlformats.org/drawingml/2006/main">
            <a:off x="800100" y="2686050"/>
            <a:ext cx="4191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7202A"/>
                </a:solidFill>
                <a:latin typeface="Arial"/>
                <a:ea typeface="Arial"/>
                <a:cs typeface="Arial"/>
              </a:defRPr>
            </a:pPr>
            <a:r>
              <a:rPr sz="1650" b="0">
                <a:solidFill>
                  <a:srgbClr val="17202A"/>
                </a:solidFill>
                <a:latin typeface="Arial"/>
                <a:ea typeface="Arial"/>
                <a:cs typeface="Arial"/>
              </a:rPr>
              <a:t>Measure whether price has resided near the top of its recent range.</a:t>
            </a:r>
          </a:p>
          <a:p xmlns:a="http://schemas.openxmlformats.org/drawingml/2006/main">
            <a:r>
              <a:t/>
            </a:r>
          </a:p>
          <a:p xmlns:a="http://schemas.openxmlformats.org/drawingml/2006/main">
            <a:pPr algn="l">
              <a:defRPr sz="1650" b="0">
                <a:solidFill>
                  <a:srgbClr val="17202A"/>
                </a:solidFill>
                <a:latin typeface="Arial"/>
                <a:ea typeface="Arial"/>
                <a:cs typeface="Arial"/>
              </a:defRPr>
            </a:pPr>
            <a:r>
              <a:rPr sz="1650" b="0">
                <a:solidFill>
                  <a:srgbClr val="17202A"/>
                </a:solidFill>
                <a:latin typeface="Arial"/>
                <a:ea typeface="Arial"/>
                <a:cs typeface="Arial"/>
              </a:rPr>
              <a:t>Use the state only to admit or reject a separate, unchanged SMA entry.</a:t>
            </a:r>
          </a:p>
          <a:p xmlns:a="http://schemas.openxmlformats.org/drawingml/2006/main">
            <a:r>
              <a:t/>
            </a:r>
          </a:p>
          <a:p xmlns:a="http://schemas.openxmlformats.org/drawingml/2006/main">
            <a:pPr algn="l">
              <a:defRPr sz="1650" b="0">
                <a:solidFill>
                  <a:srgbClr val="17202A"/>
                </a:solidFill>
                <a:latin typeface="Arial"/>
                <a:ea typeface="Arial"/>
                <a:cs typeface="Arial"/>
              </a:defRPr>
            </a:pPr>
            <a:r>
              <a:rPr sz="1650" b="0">
                <a:solidFill>
                  <a:srgbClr val="17202A"/>
                </a:solidFill>
                <a:latin typeface="Arial"/>
                <a:ea typeface="Arial"/>
                <a:cs typeface="Arial"/>
              </a:rPr>
              <a:t>This is the lane we froze.</a:t>
            </a:r>
          </a:p>
        </p:txBody>
      </p:sp>
      <p:sp>
        <p:nvSpPr>
          <p:cNvPr id="8" name="">
            <a:extLst xmlns:a="http://schemas.openxmlformats.org/drawingml/2006/main">
              <a:ext uri="{FF2B5EF4-FFF2-40B4-BE49-F238E27FC236}">
                <a16:creationId xmlns:a16="http://schemas.microsoft.com/office/drawing/2014/main" id="{DD3A834A-0DDD-4735-84A1-6209312F6FFB}"/>
              </a:ext>
            </a:extLst>
          </p:cNvPr>
          <p:cNvSpPr>
            <a:spLocks xmlns:a="http://schemas.openxmlformats.org/drawingml/2006/main" noGrp="1"/>
          </p:cNvSpPr>
          <p:nvPr/>
        </p:nvSpPr>
        <p:spPr>
          <a:xfrm xmlns:a="http://schemas.openxmlformats.org/drawingml/2006/main">
            <a:off x="6181725" y="1676400"/>
            <a:ext cx="5095875" cy="3333750"/>
          </a:xfrm>
          <a:prstGeom xmlns:a="http://schemas.openxmlformats.org/drawingml/2006/main" prst="rect">
            <a:avLst/>
          </a:prstGeom>
          <a:solidFill xmlns:a="http://schemas.openxmlformats.org/drawingml/2006/main">
            <a:srgbClr val="F4F6F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3C54885-CEDA-4ED7-A392-241CD8CD022E}"/>
              </a:ext>
            </a:extLst>
          </p:cNvPr>
          <p:cNvSpPr>
            <a:spLocks xmlns:a="http://schemas.openxmlformats.org/drawingml/2006/main" noGrp="1"/>
          </p:cNvSpPr>
          <p:nvPr/>
        </p:nvSpPr>
        <p:spPr>
          <a:xfrm xmlns:a="http://schemas.openxmlformats.org/drawingml/2006/main">
            <a:off x="6524625" y="2038350"/>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8666B8"/>
                </a:solidFill>
                <a:latin typeface="Arial"/>
                <a:ea typeface="Arial"/>
                <a:cs typeface="Arial"/>
              </a:defRPr>
            </a:pPr>
            <a:r>
              <a:rPr sz="2100" b="1">
                <a:solidFill>
                  <a:srgbClr val="8666B8"/>
                </a:solidFill>
                <a:latin typeface="Arial"/>
                <a:ea typeface="Arial"/>
                <a:cs typeface="Arial"/>
              </a:rPr>
              <a:t>Direct HYP-MOM</a:t>
            </a:r>
          </a:p>
        </p:txBody>
      </p:sp>
      <p:sp>
        <p:nvSpPr>
          <p:cNvPr id="10" name="">
            <a:extLst xmlns:a="http://schemas.openxmlformats.org/drawingml/2006/main">
              <a:ext uri="{FF2B5EF4-FFF2-40B4-BE49-F238E27FC236}">
                <a16:creationId xmlns:a16="http://schemas.microsoft.com/office/drawing/2014/main" id="{18DF2A24-8114-42C3-9615-D3558196F782}"/>
              </a:ext>
            </a:extLst>
          </p:cNvPr>
          <p:cNvSpPr>
            <a:spLocks xmlns:a="http://schemas.openxmlformats.org/drawingml/2006/main" noGrp="1"/>
          </p:cNvSpPr>
          <p:nvPr/>
        </p:nvSpPr>
        <p:spPr>
          <a:xfrm xmlns:a="http://schemas.openxmlformats.org/drawingml/2006/main">
            <a:off x="6524625" y="2686050"/>
            <a:ext cx="4191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7202A"/>
                </a:solidFill>
                <a:latin typeface="Arial"/>
                <a:ea typeface="Arial"/>
                <a:cs typeface="Arial"/>
              </a:defRPr>
            </a:pPr>
            <a:r>
              <a:rPr sz="1650" b="0">
                <a:solidFill>
                  <a:srgbClr val="17202A"/>
                </a:solidFill>
                <a:latin typeface="Arial"/>
                <a:ea typeface="Arial"/>
                <a:cs typeface="Arial"/>
              </a:rPr>
              <a:t>Buy because price escaped a prior range.</a:t>
            </a:r>
          </a:p>
          <a:p xmlns:a="http://schemas.openxmlformats.org/drawingml/2006/main">
            <a:r>
              <a:t/>
            </a:r>
          </a:p>
          <a:p xmlns:a="http://schemas.openxmlformats.org/drawingml/2006/main">
            <a:pPr algn="l">
              <a:defRPr sz="1650" b="0">
                <a:solidFill>
                  <a:srgbClr val="17202A"/>
                </a:solidFill>
                <a:latin typeface="Arial"/>
                <a:ea typeface="Arial"/>
                <a:cs typeface="Arial"/>
              </a:defRPr>
            </a:pPr>
            <a:r>
              <a:rPr sz="1650" b="0">
                <a:solidFill>
                  <a:srgbClr val="17202A"/>
                </a:solidFill>
                <a:latin typeface="Arial"/>
                <a:ea typeface="Arial"/>
                <a:cs typeface="Arial"/>
              </a:rPr>
              <a:t>The breakout itself supplies direction and timing.</a:t>
            </a:r>
          </a:p>
          <a:p xmlns:a="http://schemas.openxmlformats.org/drawingml/2006/main">
            <a:r>
              <a:t/>
            </a:r>
          </a:p>
          <a:p xmlns:a="http://schemas.openxmlformats.org/drawingml/2006/main">
            <a:pPr algn="l">
              <a:defRPr sz="1650" b="0">
                <a:solidFill>
                  <a:srgbClr val="17202A"/>
                </a:solidFill>
                <a:latin typeface="Arial"/>
                <a:ea typeface="Arial"/>
                <a:cs typeface="Arial"/>
              </a:defRPr>
            </a:pPr>
            <a:r>
              <a:rPr sz="1650" b="0">
                <a:solidFill>
                  <a:srgbClr val="17202A"/>
                </a:solidFill>
                <a:latin typeface="Arial"/>
                <a:ea typeface="Arial"/>
                <a:cs typeface="Arial"/>
              </a:rPr>
              <a:t>That remains a separate, unopened strategy question.</a:t>
            </a:r>
          </a:p>
        </p:txBody>
      </p:sp>
      <p:sp>
        <p:nvSpPr>
          <p:cNvPr id="11" name="">
            <a:extLst xmlns:a="http://schemas.openxmlformats.org/drawingml/2006/main">
              <a:ext uri="{FF2B5EF4-FFF2-40B4-BE49-F238E27FC236}">
                <a16:creationId xmlns:a16="http://schemas.microsoft.com/office/drawing/2014/main" id="{1AA383AF-EAAC-48E4-BDFE-202AB4277B42}"/>
              </a:ext>
            </a:extLst>
          </p:cNvPr>
          <p:cNvSpPr>
            <a:spLocks xmlns:a="http://schemas.openxmlformats.org/drawingml/2006/main" noGrp="1"/>
          </p:cNvSpPr>
          <p:nvPr/>
        </p:nvSpPr>
        <p:spPr>
          <a:xfrm xmlns:a="http://schemas.openxmlformats.org/drawingml/2006/main">
            <a:off x="457200" y="54673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D95F59"/>
                </a:solidFill>
                <a:latin typeface="Arial"/>
                <a:ea typeface="Arial"/>
                <a:cs typeface="Arial"/>
              </a:defRPr>
            </a:pPr>
            <a:r>
              <a:rPr sz="1725" b="1">
                <a:solidFill>
                  <a:srgbClr val="D95F59"/>
                </a:solidFill>
                <a:latin typeface="Arial"/>
                <a:ea typeface="Arial"/>
                <a:cs typeface="Arial"/>
              </a:rPr>
              <a:t>Keeping the actions separate prevents a failed filter from quietly becoming a new strategy after outcomes are visible.</a:t>
            </a:r>
          </a:p>
        </p:txBody>
      </p:sp>
    </p:spTree>
    <p:extLst>
      <p:ext uri="{BB962C8B-B14F-4D97-AF65-F5344CB8AC3E}">
        <p14:creationId xmlns:p14="http://schemas.microsoft.com/office/powerpoint/2010/main" val="128510145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B46A785-861B-44C9-ACAB-D1892CBF7D2F}"/>
              </a:ext>
            </a:extLst>
          </p:cNvPr>
          <p:cNvSpPr>
            <a:spLocks xmlns:a="http://schemas.openxmlformats.org/drawingml/2006/main" noGrp="1"/>
          </p:cNvSpPr>
          <p:nvPr/>
        </p:nvSpPr>
        <p:spPr>
          <a:xfrm xmlns:a="http://schemas.openxmlformats.org/drawingml/2006/main">
            <a:off x="457200" y="19050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3D8DFF"/>
                </a:solidFill>
                <a:latin typeface="Arial"/>
                <a:ea typeface="Arial"/>
                <a:cs typeface="Arial"/>
              </a:defRPr>
            </a:pPr>
            <a:r>
              <a:rPr sz="975" b="1">
                <a:solidFill>
                  <a:srgbClr val="3D8DFF"/>
                </a:solidFill>
                <a:latin typeface="Arial"/>
                <a:ea typeface="Arial"/>
                <a:cs typeface="Arial"/>
              </a:rPr>
              <a:t>CONSTRUCTION</a:t>
            </a:r>
          </a:p>
        </p:txBody>
      </p:sp>
      <p:sp>
        <p:nvSpPr>
          <p:cNvPr id="2" name="">
            <a:extLst xmlns:a="http://schemas.openxmlformats.org/drawingml/2006/main">
              <a:ext uri="{FF2B5EF4-FFF2-40B4-BE49-F238E27FC236}">
                <a16:creationId xmlns:a16="http://schemas.microsoft.com/office/drawing/2014/main" id="{8BA04DFC-E9D8-49DE-9C0A-BD46C0E1227A}"/>
              </a:ext>
            </a:extLst>
          </p:cNvPr>
          <p:cNvSpPr>
            <a:spLocks xmlns:a="http://schemas.openxmlformats.org/drawingml/2006/main" noGrp="1"/>
          </p:cNvSpPr>
          <p:nvPr/>
        </p:nvSpPr>
        <p:spPr>
          <a:xfrm xmlns:a="http://schemas.openxmlformats.org/drawingml/2006/main">
            <a:off x="457200" y="466725"/>
            <a:ext cx="110490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17202A"/>
                </a:solidFill>
                <a:latin typeface="Arial"/>
                <a:ea typeface="Arial"/>
                <a:cs typeface="Arial"/>
              </a:defRPr>
            </a:pPr>
            <a:r>
              <a:rPr sz="2700" b="1">
                <a:solidFill>
                  <a:srgbClr val="17202A"/>
                </a:solidFill>
                <a:latin typeface="Arial"/>
                <a:ea typeface="Arial"/>
                <a:cs typeface="Arial"/>
              </a:rPr>
              <a:t>Range position asks where today sits relative to the prior quarter</a:t>
            </a:r>
          </a:p>
        </p:txBody>
      </p:sp>
      <p:sp>
        <p:nvSpPr>
          <p:cNvPr id="3" name="">
            <a:extLst xmlns:a="http://schemas.openxmlformats.org/drawingml/2006/main">
              <a:ext uri="{FF2B5EF4-FFF2-40B4-BE49-F238E27FC236}">
                <a16:creationId xmlns:a16="http://schemas.microsoft.com/office/drawing/2014/main" id="{E7535068-3552-4121-869A-F4253DB159B2}"/>
              </a:ext>
            </a:extLst>
          </p:cNvPr>
          <p:cNvSpPr>
            <a:spLocks xmlns:a="http://schemas.openxmlformats.org/drawingml/2006/main" noGrp="1"/>
          </p:cNvSpPr>
          <p:nvPr/>
        </p:nvSpPr>
        <p:spPr>
          <a:xfrm xmlns:a="http://schemas.openxmlformats.org/drawingml/2006/main">
            <a:off x="457200" y="1295400"/>
            <a:ext cx="112776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0C1794D-A5BD-45A9-9461-BB464577CBD1}"/>
              </a:ext>
            </a:extLst>
          </p:cNvPr>
          <p:cNvSpPr>
            <a:spLocks xmlns:a="http://schemas.openxmlformats.org/drawingml/2006/main" noGrp="1"/>
          </p:cNvSpPr>
          <p:nvPr/>
        </p:nvSpPr>
        <p:spPr>
          <a:xfrm xmlns:a="http://schemas.openxmlformats.org/drawingml/2006/main">
            <a:off x="112585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68727D"/>
                </a:solidFill>
                <a:latin typeface="Arial"/>
                <a:ea typeface="Arial"/>
                <a:cs typeface="Arial"/>
              </a:defRPr>
            </a:pPr>
            <a:r>
              <a:rPr sz="975" b="0">
                <a:solidFill>
                  <a:srgbClr val="68727D"/>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E3053045-CE05-41C1-864C-9A83D9AE328D}"/>
              </a:ext>
            </a:extLst>
          </p:cNvPr>
          <p:cNvSpPr>
            <a:spLocks xmlns:a="http://schemas.openxmlformats.org/drawingml/2006/main" noGrp="1"/>
          </p:cNvSpPr>
          <p:nvPr/>
        </p:nvSpPr>
        <p:spPr>
          <a:xfrm xmlns:a="http://schemas.openxmlformats.org/drawingml/2006/main">
            <a:off x="457200" y="1657350"/>
            <a:ext cx="6743700" cy="3638550"/>
          </a:xfrm>
          <a:prstGeom xmlns:a="http://schemas.openxmlformats.org/drawingml/2006/main" prst="rect">
            <a:avLst/>
          </a:prstGeom>
          <a:solidFill xmlns:a="http://schemas.openxmlformats.org/drawingml/2006/main">
            <a:srgbClr val="F4F6F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40F083C-4C9C-4326-8B71-B3E149EDE4E4}"/>
              </a:ext>
            </a:extLst>
          </p:cNvPr>
          <p:cNvSpPr>
            <a:spLocks xmlns:a="http://schemas.openxmlformats.org/drawingml/2006/main" noGrp="1"/>
          </p:cNvSpPr>
          <p:nvPr/>
        </p:nvSpPr>
        <p:spPr>
          <a:xfrm xmlns:a="http://schemas.openxmlformats.org/drawingml/2006/main">
            <a:off x="781050" y="2038350"/>
            <a:ext cx="5905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17202A"/>
                </a:solidFill>
                <a:latin typeface="Arial"/>
                <a:ea typeface="Arial"/>
                <a:cs typeface="Arial"/>
              </a:defRPr>
            </a:pPr>
            <a:r>
              <a:rPr sz="2175" b="1">
                <a:solidFill>
                  <a:srgbClr val="17202A"/>
                </a:solidFill>
                <a:latin typeface="Arial"/>
                <a:ea typeface="Arial"/>
                <a:cs typeface="Arial"/>
              </a:rPr>
              <a:t>Lₜ = min(Pₜ₋₆₃, …, Pₜ₋₁)</a:t>
            </a:r>
          </a:p>
        </p:txBody>
      </p:sp>
      <p:sp>
        <p:nvSpPr>
          <p:cNvPr id="7" name="">
            <a:extLst xmlns:a="http://schemas.openxmlformats.org/drawingml/2006/main">
              <a:ext uri="{FF2B5EF4-FFF2-40B4-BE49-F238E27FC236}">
                <a16:creationId xmlns:a16="http://schemas.microsoft.com/office/drawing/2014/main" id="{34AA5AE5-FCC9-4456-98D3-F9D924A970FB}"/>
              </a:ext>
            </a:extLst>
          </p:cNvPr>
          <p:cNvSpPr>
            <a:spLocks xmlns:a="http://schemas.openxmlformats.org/drawingml/2006/main" noGrp="1"/>
          </p:cNvSpPr>
          <p:nvPr/>
        </p:nvSpPr>
        <p:spPr>
          <a:xfrm xmlns:a="http://schemas.openxmlformats.org/drawingml/2006/main">
            <a:off x="781050" y="2800350"/>
            <a:ext cx="5905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17202A"/>
                </a:solidFill>
                <a:latin typeface="Arial"/>
                <a:ea typeface="Arial"/>
                <a:cs typeface="Arial"/>
              </a:defRPr>
            </a:pPr>
            <a:r>
              <a:rPr sz="2175" b="1">
                <a:solidFill>
                  <a:srgbClr val="17202A"/>
                </a:solidFill>
                <a:latin typeface="Arial"/>
                <a:ea typeface="Arial"/>
                <a:cs typeface="Arial"/>
              </a:rPr>
              <a:t>Hₜ = max(Pₜ₋₆₃, …, Pₜ₋₁)</a:t>
            </a:r>
          </a:p>
        </p:txBody>
      </p:sp>
      <p:sp>
        <p:nvSpPr>
          <p:cNvPr id="8" name="">
            <a:extLst xmlns:a="http://schemas.openxmlformats.org/drawingml/2006/main">
              <a:ext uri="{FF2B5EF4-FFF2-40B4-BE49-F238E27FC236}">
                <a16:creationId xmlns:a16="http://schemas.microsoft.com/office/drawing/2014/main" id="{F6D13071-D876-4B69-871D-4FA0DD21A9FC}"/>
              </a:ext>
            </a:extLst>
          </p:cNvPr>
          <p:cNvSpPr>
            <a:spLocks xmlns:a="http://schemas.openxmlformats.org/drawingml/2006/main" noGrp="1"/>
          </p:cNvSpPr>
          <p:nvPr/>
        </p:nvSpPr>
        <p:spPr>
          <a:xfrm xmlns:a="http://schemas.openxmlformats.org/drawingml/2006/main">
            <a:off x="781050" y="3638550"/>
            <a:ext cx="590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a:solidFill>
                  <a:srgbClr val="3D8DFF"/>
                </a:solidFill>
                <a:latin typeface="Arial"/>
                <a:ea typeface="Arial"/>
                <a:cs typeface="Arial"/>
              </a:defRPr>
            </a:pPr>
            <a:r>
              <a:rPr sz="2400" b="1">
                <a:solidFill>
                  <a:srgbClr val="3D8DFF"/>
                </a:solidFill>
                <a:latin typeface="Arial"/>
                <a:ea typeface="Arial"/>
                <a:cs typeface="Arial"/>
              </a:rPr>
              <a:t>RPₜ = (Pₜ − Lₜ) / (Hₜ − Lₜ)</a:t>
            </a:r>
          </a:p>
        </p:txBody>
      </p:sp>
      <p:sp>
        <p:nvSpPr>
          <p:cNvPr id="9" name="">
            <a:extLst xmlns:a="http://schemas.openxmlformats.org/drawingml/2006/main">
              <a:ext uri="{FF2B5EF4-FFF2-40B4-BE49-F238E27FC236}">
                <a16:creationId xmlns:a16="http://schemas.microsoft.com/office/drawing/2014/main" id="{5019880B-E205-47AD-99DE-A3B98E120378}"/>
              </a:ext>
            </a:extLst>
          </p:cNvPr>
          <p:cNvSpPr>
            <a:spLocks xmlns:a="http://schemas.openxmlformats.org/drawingml/2006/main" noGrp="1"/>
          </p:cNvSpPr>
          <p:nvPr/>
        </p:nvSpPr>
        <p:spPr>
          <a:xfrm xmlns:a="http://schemas.openxmlformats.org/drawingml/2006/main">
            <a:off x="781050" y="4533900"/>
            <a:ext cx="590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D95F59"/>
                </a:solidFill>
                <a:latin typeface="Arial"/>
                <a:ea typeface="Arial"/>
                <a:cs typeface="Arial"/>
              </a:defRPr>
            </a:pPr>
            <a:r>
              <a:rPr sz="1725" b="1">
                <a:solidFill>
                  <a:srgbClr val="D95F59"/>
                </a:solidFill>
                <a:latin typeface="Arial"/>
                <a:ea typeface="Arial"/>
                <a:cs typeface="Arial"/>
              </a:rPr>
              <a:t>Today is excluded from both boundaries</a:t>
            </a:r>
          </a:p>
        </p:txBody>
      </p:sp>
      <p:sp>
        <p:nvSpPr>
          <p:cNvPr id="10" name="">
            <a:extLst xmlns:a="http://schemas.openxmlformats.org/drawingml/2006/main">
              <a:ext uri="{FF2B5EF4-FFF2-40B4-BE49-F238E27FC236}">
                <a16:creationId xmlns:a16="http://schemas.microsoft.com/office/drawing/2014/main" id="{D5C38FA0-A22F-472F-982E-97607EE3F8EF}"/>
              </a:ext>
            </a:extLst>
          </p:cNvPr>
          <p:cNvSpPr>
            <a:spLocks xmlns:a="http://schemas.openxmlformats.org/drawingml/2006/main" noGrp="1"/>
          </p:cNvSpPr>
          <p:nvPr/>
        </p:nvSpPr>
        <p:spPr>
          <a:xfrm xmlns:a="http://schemas.openxmlformats.org/drawingml/2006/main">
            <a:off x="7867650" y="1771650"/>
            <a:ext cx="85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D95F59"/>
                </a:solidFill>
                <a:latin typeface="Arial"/>
                <a:ea typeface="Arial"/>
                <a:cs typeface="Arial"/>
              </a:defRPr>
            </a:pPr>
            <a:r>
              <a:rPr sz="2550" b="1">
                <a:solidFill>
                  <a:srgbClr val="D95F59"/>
                </a:solidFill>
                <a:latin typeface="Arial"/>
                <a:ea typeface="Arial"/>
                <a:cs typeface="Arial"/>
              </a:rPr>
              <a:t>0</a:t>
            </a:r>
          </a:p>
        </p:txBody>
      </p:sp>
      <p:sp>
        <p:nvSpPr>
          <p:cNvPr id="11" name="">
            <a:extLst xmlns:a="http://schemas.openxmlformats.org/drawingml/2006/main">
              <a:ext uri="{FF2B5EF4-FFF2-40B4-BE49-F238E27FC236}">
                <a16:creationId xmlns:a16="http://schemas.microsoft.com/office/drawing/2014/main" id="{DBDB62FC-EE45-471C-9DFE-33DFCBEF3FA2}"/>
              </a:ext>
            </a:extLst>
          </p:cNvPr>
          <p:cNvSpPr>
            <a:spLocks xmlns:a="http://schemas.openxmlformats.org/drawingml/2006/main" noGrp="1"/>
          </p:cNvSpPr>
          <p:nvPr/>
        </p:nvSpPr>
        <p:spPr>
          <a:xfrm xmlns:a="http://schemas.openxmlformats.org/drawingml/2006/main">
            <a:off x="8667750" y="18383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68727D"/>
                </a:solidFill>
                <a:latin typeface="Arial"/>
                <a:ea typeface="Arial"/>
                <a:cs typeface="Arial"/>
              </a:defRPr>
            </a:pPr>
            <a:r>
              <a:rPr sz="1500" b="0">
                <a:solidFill>
                  <a:srgbClr val="68727D"/>
                </a:solidFill>
                <a:latin typeface="Arial"/>
                <a:ea typeface="Arial"/>
                <a:cs typeface="Arial"/>
              </a:rPr>
              <a:t>prior range low</a:t>
            </a:r>
          </a:p>
        </p:txBody>
      </p:sp>
      <p:sp>
        <p:nvSpPr>
          <p:cNvPr id="12" name="">
            <a:extLst xmlns:a="http://schemas.openxmlformats.org/drawingml/2006/main">
              <a:ext uri="{FF2B5EF4-FFF2-40B4-BE49-F238E27FC236}">
                <a16:creationId xmlns:a16="http://schemas.microsoft.com/office/drawing/2014/main" id="{3FFAE25F-468E-4079-99FD-183F766D4C43}"/>
              </a:ext>
            </a:extLst>
          </p:cNvPr>
          <p:cNvSpPr>
            <a:spLocks xmlns:a="http://schemas.openxmlformats.org/drawingml/2006/main" noGrp="1"/>
          </p:cNvSpPr>
          <p:nvPr/>
        </p:nvSpPr>
        <p:spPr>
          <a:xfrm xmlns:a="http://schemas.openxmlformats.org/drawingml/2006/main">
            <a:off x="7867650" y="2705100"/>
            <a:ext cx="85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17202A"/>
                </a:solidFill>
                <a:latin typeface="Arial"/>
                <a:ea typeface="Arial"/>
                <a:cs typeface="Arial"/>
              </a:defRPr>
            </a:pPr>
            <a:r>
              <a:rPr sz="2550" b="1">
                <a:solidFill>
                  <a:srgbClr val="17202A"/>
                </a:solidFill>
                <a:latin typeface="Arial"/>
                <a:ea typeface="Arial"/>
                <a:cs typeface="Arial"/>
              </a:rPr>
              <a:t>0.5</a:t>
            </a:r>
          </a:p>
        </p:txBody>
      </p:sp>
      <p:sp>
        <p:nvSpPr>
          <p:cNvPr id="13" name="">
            <a:extLst xmlns:a="http://schemas.openxmlformats.org/drawingml/2006/main">
              <a:ext uri="{FF2B5EF4-FFF2-40B4-BE49-F238E27FC236}">
                <a16:creationId xmlns:a16="http://schemas.microsoft.com/office/drawing/2014/main" id="{A3CCA402-700F-47DA-83B8-7E9FA067D597}"/>
              </a:ext>
            </a:extLst>
          </p:cNvPr>
          <p:cNvSpPr>
            <a:spLocks xmlns:a="http://schemas.openxmlformats.org/drawingml/2006/main" noGrp="1"/>
          </p:cNvSpPr>
          <p:nvPr/>
        </p:nvSpPr>
        <p:spPr>
          <a:xfrm xmlns:a="http://schemas.openxmlformats.org/drawingml/2006/main">
            <a:off x="8667750" y="277177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68727D"/>
                </a:solidFill>
                <a:latin typeface="Arial"/>
                <a:ea typeface="Arial"/>
                <a:cs typeface="Arial"/>
              </a:defRPr>
            </a:pPr>
            <a:r>
              <a:rPr sz="1500" b="0">
                <a:solidFill>
                  <a:srgbClr val="68727D"/>
                </a:solidFill>
                <a:latin typeface="Arial"/>
                <a:ea typeface="Arial"/>
                <a:cs typeface="Arial"/>
              </a:rPr>
              <a:t>middle of range</a:t>
            </a:r>
          </a:p>
        </p:txBody>
      </p:sp>
      <p:sp>
        <p:nvSpPr>
          <p:cNvPr id="14" name="">
            <a:extLst xmlns:a="http://schemas.openxmlformats.org/drawingml/2006/main">
              <a:ext uri="{FF2B5EF4-FFF2-40B4-BE49-F238E27FC236}">
                <a16:creationId xmlns:a16="http://schemas.microsoft.com/office/drawing/2014/main" id="{17C210F3-8D77-40B3-9DEF-17132614205E}"/>
              </a:ext>
            </a:extLst>
          </p:cNvPr>
          <p:cNvSpPr>
            <a:spLocks xmlns:a="http://schemas.openxmlformats.org/drawingml/2006/main" noGrp="1"/>
          </p:cNvSpPr>
          <p:nvPr/>
        </p:nvSpPr>
        <p:spPr>
          <a:xfrm xmlns:a="http://schemas.openxmlformats.org/drawingml/2006/main">
            <a:off x="7867650" y="3638550"/>
            <a:ext cx="85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2E8B57"/>
                </a:solidFill>
                <a:latin typeface="Arial"/>
                <a:ea typeface="Arial"/>
                <a:cs typeface="Arial"/>
              </a:defRPr>
            </a:pPr>
            <a:r>
              <a:rPr sz="2550" b="1">
                <a:solidFill>
                  <a:srgbClr val="2E8B57"/>
                </a:solidFill>
                <a:latin typeface="Arial"/>
                <a:ea typeface="Arial"/>
                <a:cs typeface="Arial"/>
              </a:rPr>
              <a:t>1</a:t>
            </a:r>
          </a:p>
        </p:txBody>
      </p:sp>
      <p:sp>
        <p:nvSpPr>
          <p:cNvPr id="15" name="">
            <a:extLst xmlns:a="http://schemas.openxmlformats.org/drawingml/2006/main">
              <a:ext uri="{FF2B5EF4-FFF2-40B4-BE49-F238E27FC236}">
                <a16:creationId xmlns:a16="http://schemas.microsoft.com/office/drawing/2014/main" id="{2FA042C3-6520-4C4F-8A15-B33191549111}"/>
              </a:ext>
            </a:extLst>
          </p:cNvPr>
          <p:cNvSpPr>
            <a:spLocks xmlns:a="http://schemas.openxmlformats.org/drawingml/2006/main" noGrp="1"/>
          </p:cNvSpPr>
          <p:nvPr/>
        </p:nvSpPr>
        <p:spPr>
          <a:xfrm xmlns:a="http://schemas.openxmlformats.org/drawingml/2006/main">
            <a:off x="8667750" y="37052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68727D"/>
                </a:solidFill>
                <a:latin typeface="Arial"/>
                <a:ea typeface="Arial"/>
                <a:cs typeface="Arial"/>
              </a:defRPr>
            </a:pPr>
            <a:r>
              <a:rPr sz="1500" b="0">
                <a:solidFill>
                  <a:srgbClr val="68727D"/>
                </a:solidFill>
                <a:latin typeface="Arial"/>
                <a:ea typeface="Arial"/>
                <a:cs typeface="Arial"/>
              </a:rPr>
              <a:t>prior range high</a:t>
            </a:r>
          </a:p>
        </p:txBody>
      </p:sp>
      <p:sp>
        <p:nvSpPr>
          <p:cNvPr id="16" name="">
            <a:extLst xmlns:a="http://schemas.openxmlformats.org/drawingml/2006/main">
              <a:ext uri="{FF2B5EF4-FFF2-40B4-BE49-F238E27FC236}">
                <a16:creationId xmlns:a16="http://schemas.microsoft.com/office/drawing/2014/main" id="{86EC8262-AA63-4054-B149-70272F9C5539}"/>
              </a:ext>
            </a:extLst>
          </p:cNvPr>
          <p:cNvSpPr>
            <a:spLocks xmlns:a="http://schemas.openxmlformats.org/drawingml/2006/main" noGrp="1"/>
          </p:cNvSpPr>
          <p:nvPr/>
        </p:nvSpPr>
        <p:spPr>
          <a:xfrm xmlns:a="http://schemas.openxmlformats.org/drawingml/2006/main">
            <a:off x="7867650" y="4572000"/>
            <a:ext cx="85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3D8DFF"/>
                </a:solidFill>
                <a:latin typeface="Arial"/>
                <a:ea typeface="Arial"/>
                <a:cs typeface="Arial"/>
              </a:defRPr>
            </a:pPr>
            <a:r>
              <a:rPr sz="2550" b="1">
                <a:solidFill>
                  <a:srgbClr val="3D8DFF"/>
                </a:solidFill>
                <a:latin typeface="Arial"/>
                <a:ea typeface="Arial"/>
                <a:cs typeface="Arial"/>
              </a:rPr>
              <a:t>&gt;1</a:t>
            </a:r>
          </a:p>
        </p:txBody>
      </p:sp>
      <p:sp>
        <p:nvSpPr>
          <p:cNvPr id="17" name="">
            <a:extLst xmlns:a="http://schemas.openxmlformats.org/drawingml/2006/main">
              <a:ext uri="{FF2B5EF4-FFF2-40B4-BE49-F238E27FC236}">
                <a16:creationId xmlns:a16="http://schemas.microsoft.com/office/drawing/2014/main" id="{D83B65D5-F431-47B2-85B9-1AFBC96A5158}"/>
              </a:ext>
            </a:extLst>
          </p:cNvPr>
          <p:cNvSpPr>
            <a:spLocks xmlns:a="http://schemas.openxmlformats.org/drawingml/2006/main" noGrp="1"/>
          </p:cNvSpPr>
          <p:nvPr/>
        </p:nvSpPr>
        <p:spPr>
          <a:xfrm xmlns:a="http://schemas.openxmlformats.org/drawingml/2006/main">
            <a:off x="8667750" y="463867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68727D"/>
                </a:solidFill>
                <a:latin typeface="Arial"/>
                <a:ea typeface="Arial"/>
                <a:cs typeface="Arial"/>
              </a:defRPr>
            </a:pPr>
            <a:r>
              <a:rPr sz="1500" b="0">
                <a:solidFill>
                  <a:srgbClr val="68727D"/>
                </a:solidFill>
                <a:latin typeface="Arial"/>
                <a:ea typeface="Arial"/>
                <a:cs typeface="Arial"/>
              </a:rPr>
              <a:t>upside range escape</a:t>
            </a:r>
          </a:p>
        </p:txBody>
      </p:sp>
      <p:sp>
        <p:nvSpPr>
          <p:cNvPr id="18" name="">
            <a:extLst xmlns:a="http://schemas.openxmlformats.org/drawingml/2006/main">
              <a:ext uri="{FF2B5EF4-FFF2-40B4-BE49-F238E27FC236}">
                <a16:creationId xmlns:a16="http://schemas.microsoft.com/office/drawing/2014/main" id="{AD73502F-6C2A-4C3C-93BB-769A8EC69A18}"/>
              </a:ext>
            </a:extLst>
          </p:cNvPr>
          <p:cNvSpPr>
            <a:spLocks xmlns:a="http://schemas.openxmlformats.org/drawingml/2006/main" noGrp="1"/>
          </p:cNvSpPr>
          <p:nvPr/>
        </p:nvSpPr>
        <p:spPr>
          <a:xfrm xmlns:a="http://schemas.openxmlformats.org/drawingml/2006/main">
            <a:off x="457200" y="575310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8666B8"/>
                </a:solidFill>
                <a:latin typeface="Arial"/>
                <a:ea typeface="Arial"/>
                <a:cs typeface="Arial"/>
              </a:defRPr>
            </a:pPr>
            <a:r>
              <a:rPr sz="1650" b="1">
                <a:solidFill>
                  <a:srgbClr val="8666B8"/>
                </a:solidFill>
                <a:latin typeface="Arial"/>
                <a:ea typeface="Arial"/>
                <a:cs typeface="Arial"/>
              </a:rPr>
              <a:t>The statistic remains uncapped; escape magnitude is retained for audit.</a:t>
            </a:r>
          </a:p>
        </p:txBody>
      </p:sp>
    </p:spTree>
    <p:extLst>
      <p:ext uri="{BB962C8B-B14F-4D97-AF65-F5344CB8AC3E}">
        <p14:creationId xmlns:p14="http://schemas.microsoft.com/office/powerpoint/2010/main" val="108856471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E259446-3E71-4BB0-918E-E226CD7745BF}"/>
              </a:ext>
            </a:extLst>
          </p:cNvPr>
          <p:cNvSpPr>
            <a:spLocks xmlns:a="http://schemas.openxmlformats.org/drawingml/2006/main" noGrp="1"/>
          </p:cNvSpPr>
          <p:nvPr/>
        </p:nvSpPr>
        <p:spPr>
          <a:xfrm xmlns:a="http://schemas.openxmlformats.org/drawingml/2006/main">
            <a:off x="457200" y="19050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3D8DFF"/>
                </a:solidFill>
                <a:latin typeface="Arial"/>
                <a:ea typeface="Arial"/>
                <a:cs typeface="Arial"/>
              </a:defRPr>
            </a:pPr>
            <a:r>
              <a:rPr sz="975" b="1">
                <a:solidFill>
                  <a:srgbClr val="3D8DFF"/>
                </a:solidFill>
                <a:latin typeface="Arial"/>
                <a:ea typeface="Arial"/>
                <a:cs typeface="Arial"/>
              </a:rPr>
              <a:t>CAUSAL MECHANICS</a:t>
            </a:r>
          </a:p>
        </p:txBody>
      </p:sp>
      <p:sp>
        <p:nvSpPr>
          <p:cNvPr id="2" name="">
            <a:extLst xmlns:a="http://schemas.openxmlformats.org/drawingml/2006/main">
              <a:ext uri="{FF2B5EF4-FFF2-40B4-BE49-F238E27FC236}">
                <a16:creationId xmlns:a16="http://schemas.microsoft.com/office/drawing/2014/main" id="{F8F59B00-5858-4765-BFE4-204610F3A14D}"/>
              </a:ext>
            </a:extLst>
          </p:cNvPr>
          <p:cNvSpPr>
            <a:spLocks xmlns:a="http://schemas.openxmlformats.org/drawingml/2006/main" noGrp="1"/>
          </p:cNvSpPr>
          <p:nvPr/>
        </p:nvSpPr>
        <p:spPr>
          <a:xfrm xmlns:a="http://schemas.openxmlformats.org/drawingml/2006/main">
            <a:off x="457200" y="466725"/>
            <a:ext cx="110490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17202A"/>
                </a:solidFill>
                <a:latin typeface="Arial"/>
                <a:ea typeface="Arial"/>
                <a:cs typeface="Arial"/>
              </a:defRPr>
            </a:pPr>
            <a:r>
              <a:rPr sz="2700" b="1">
                <a:solidFill>
                  <a:srgbClr val="17202A"/>
                </a:solidFill>
                <a:latin typeface="Arial"/>
                <a:ea typeface="Arial"/>
                <a:cs typeface="Arial"/>
              </a:rPr>
              <a:t>Persistence and breakout events answer different questions</a:t>
            </a:r>
          </a:p>
        </p:txBody>
      </p:sp>
      <p:sp>
        <p:nvSpPr>
          <p:cNvPr id="3" name="">
            <a:extLst xmlns:a="http://schemas.openxmlformats.org/drawingml/2006/main">
              <a:ext uri="{FF2B5EF4-FFF2-40B4-BE49-F238E27FC236}">
                <a16:creationId xmlns:a16="http://schemas.microsoft.com/office/drawing/2014/main" id="{2A1E8C61-9DE1-4D41-B362-BBE41947184F}"/>
              </a:ext>
            </a:extLst>
          </p:cNvPr>
          <p:cNvSpPr>
            <a:spLocks xmlns:a="http://schemas.openxmlformats.org/drawingml/2006/main" noGrp="1"/>
          </p:cNvSpPr>
          <p:nvPr/>
        </p:nvSpPr>
        <p:spPr>
          <a:xfrm xmlns:a="http://schemas.openxmlformats.org/drawingml/2006/main">
            <a:off x="457200" y="1295400"/>
            <a:ext cx="112776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2D047CF-AD3E-4E93-AC4B-303B9B689BF0}"/>
              </a:ext>
            </a:extLst>
          </p:cNvPr>
          <p:cNvSpPr>
            <a:spLocks xmlns:a="http://schemas.openxmlformats.org/drawingml/2006/main" noGrp="1"/>
          </p:cNvSpPr>
          <p:nvPr/>
        </p:nvSpPr>
        <p:spPr>
          <a:xfrm xmlns:a="http://schemas.openxmlformats.org/drawingml/2006/main">
            <a:off x="112585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68727D"/>
                </a:solidFill>
                <a:latin typeface="Arial"/>
                <a:ea typeface="Arial"/>
                <a:cs typeface="Arial"/>
              </a:defRPr>
            </a:pPr>
            <a:r>
              <a:rPr sz="975" b="0">
                <a:solidFill>
                  <a:srgbClr val="68727D"/>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5C0352CA-F88F-40FD-8A45-9513DEE80306}"/>
              </a:ext>
            </a:extLst>
          </p:cNvPr>
          <p:cNvSpPr>
            <a:spLocks xmlns:a="http://schemas.openxmlformats.org/drawingml/2006/main" noGrp="1"/>
          </p:cNvSpPr>
          <p:nvPr/>
        </p:nvSpPr>
        <p:spPr>
          <a:xfrm xmlns:a="http://schemas.openxmlformats.org/drawingml/2006/main">
            <a:off x="457200" y="165735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2E8B57"/>
                </a:solidFill>
                <a:latin typeface="Arial"/>
                <a:ea typeface="Arial"/>
                <a:cs typeface="Arial"/>
              </a:defRPr>
            </a:pPr>
            <a:r>
              <a:rPr sz="2025" b="1">
                <a:solidFill>
                  <a:srgbClr val="2E8B57"/>
                </a:solidFill>
                <a:latin typeface="Arial"/>
                <a:ea typeface="Arial"/>
                <a:cs typeface="Arial"/>
              </a:rPr>
              <a:t>Primary state</a:t>
            </a:r>
          </a:p>
        </p:txBody>
      </p:sp>
      <p:sp>
        <p:nvSpPr>
          <p:cNvPr id="6" name="">
            <a:extLst xmlns:a="http://schemas.openxmlformats.org/drawingml/2006/main">
              <a:ext uri="{FF2B5EF4-FFF2-40B4-BE49-F238E27FC236}">
                <a16:creationId xmlns:a16="http://schemas.microsoft.com/office/drawing/2014/main" id="{A123ED5A-3DE4-4F3F-9FEC-5B770504216B}"/>
              </a:ext>
            </a:extLst>
          </p:cNvPr>
          <p:cNvSpPr>
            <a:spLocks xmlns:a="http://schemas.openxmlformats.org/drawingml/2006/main" noGrp="1"/>
          </p:cNvSpPr>
          <p:nvPr/>
        </p:nvSpPr>
        <p:spPr>
          <a:xfrm xmlns:a="http://schemas.openxmlformats.org/drawingml/2006/main">
            <a:off x="457200" y="2209800"/>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17202A"/>
                </a:solidFill>
                <a:latin typeface="Arial"/>
                <a:ea typeface="Arial"/>
                <a:cs typeface="Arial"/>
              </a:defRPr>
            </a:pPr>
            <a:r>
              <a:rPr sz="2250" b="1">
                <a:solidFill>
                  <a:srgbClr val="17202A"/>
                </a:solidFill>
                <a:latin typeface="Arial"/>
                <a:ea typeface="Arial"/>
                <a:cs typeface="Arial"/>
              </a:rPr>
              <a:t>UPPER_PERSISTENT</a:t>
            </a:r>
          </a:p>
        </p:txBody>
      </p:sp>
      <p:sp>
        <p:nvSpPr>
          <p:cNvPr id="7" name="">
            <a:extLst xmlns:a="http://schemas.openxmlformats.org/drawingml/2006/main">
              <a:ext uri="{FF2B5EF4-FFF2-40B4-BE49-F238E27FC236}">
                <a16:creationId xmlns:a16="http://schemas.microsoft.com/office/drawing/2014/main" id="{E790A7CA-7D6E-4F88-B428-04A6E89D8F32}"/>
              </a:ext>
            </a:extLst>
          </p:cNvPr>
          <p:cNvSpPr>
            <a:spLocks xmlns:a="http://schemas.openxmlformats.org/drawingml/2006/main" noGrp="1"/>
          </p:cNvSpPr>
          <p:nvPr/>
        </p:nvSpPr>
        <p:spPr>
          <a:xfrm xmlns:a="http://schemas.openxmlformats.org/drawingml/2006/main">
            <a:off x="457200" y="2819400"/>
            <a:ext cx="4762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68727D"/>
                </a:solidFill>
                <a:latin typeface="Arial"/>
                <a:ea typeface="Arial"/>
                <a:cs typeface="Arial"/>
              </a:defRPr>
            </a:pPr>
            <a:r>
              <a:rPr sz="1800" b="0">
                <a:solidFill>
                  <a:srgbClr val="68727D"/>
                </a:solidFill>
                <a:latin typeface="Arial"/>
                <a:ea typeface="Arial"/>
                <a:cs typeface="Arial"/>
              </a:rPr>
              <a:t>RP ≥ 0.75 today</a:t>
            </a:r>
          </a:p>
          <a:p xmlns:a="http://schemas.openxmlformats.org/drawingml/2006/main">
            <a:pPr algn="l">
              <a:defRPr sz="1800" b="0">
                <a:solidFill>
                  <a:srgbClr val="68727D"/>
                </a:solidFill>
                <a:latin typeface="Arial"/>
                <a:ea typeface="Arial"/>
                <a:cs typeface="Arial"/>
              </a:defRPr>
            </a:pPr>
            <a:r>
              <a:rPr sz="1800" b="0">
                <a:solidFill>
                  <a:srgbClr val="68727D"/>
                </a:solidFill>
                <a:latin typeface="Arial"/>
                <a:ea typeface="Arial"/>
                <a:cs typeface="Arial"/>
              </a:rPr>
              <a:t>and at least 3 of the latest 5 observations</a:t>
            </a:r>
          </a:p>
        </p:txBody>
      </p:sp>
      <p:sp>
        <p:nvSpPr>
          <p:cNvPr id="8" name="">
            <a:extLst xmlns:a="http://schemas.openxmlformats.org/drawingml/2006/main">
              <a:ext uri="{FF2B5EF4-FFF2-40B4-BE49-F238E27FC236}">
                <a16:creationId xmlns:a16="http://schemas.microsoft.com/office/drawing/2014/main" id="{DB9784F6-4686-4449-BF80-CB8E0B237079}"/>
              </a:ext>
            </a:extLst>
          </p:cNvPr>
          <p:cNvSpPr>
            <a:spLocks xmlns:a="http://schemas.openxmlformats.org/drawingml/2006/main" noGrp="1"/>
          </p:cNvSpPr>
          <p:nvPr/>
        </p:nvSpPr>
        <p:spPr>
          <a:xfrm xmlns:a="http://schemas.openxmlformats.org/drawingml/2006/main">
            <a:off x="457200" y="42862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This state can gate a fresh SMA cross.</a:t>
            </a:r>
          </a:p>
        </p:txBody>
      </p:sp>
      <p:sp>
        <p:nvSpPr>
          <p:cNvPr id="9" name="">
            <a:extLst xmlns:a="http://schemas.openxmlformats.org/drawingml/2006/main">
              <a:ext uri="{FF2B5EF4-FFF2-40B4-BE49-F238E27FC236}">
                <a16:creationId xmlns:a16="http://schemas.microsoft.com/office/drawing/2014/main" id="{70A9F1BB-6D53-4AE8-BB31-FFA0462D7C17}"/>
              </a:ext>
            </a:extLst>
          </p:cNvPr>
          <p:cNvSpPr>
            <a:spLocks xmlns:a="http://schemas.openxmlformats.org/drawingml/2006/main" noGrp="1"/>
          </p:cNvSpPr>
          <p:nvPr/>
        </p:nvSpPr>
        <p:spPr>
          <a:xfrm xmlns:a="http://schemas.openxmlformats.org/drawingml/2006/main">
            <a:off x="5715000" y="1619250"/>
            <a:ext cx="19050" cy="40005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AFAD6AD-F54B-4822-88DD-05DE72EC1748}"/>
              </a:ext>
            </a:extLst>
          </p:cNvPr>
          <p:cNvSpPr>
            <a:spLocks xmlns:a="http://schemas.openxmlformats.org/drawingml/2006/main" noGrp="1"/>
          </p:cNvSpPr>
          <p:nvPr/>
        </p:nvSpPr>
        <p:spPr>
          <a:xfrm xmlns:a="http://schemas.openxmlformats.org/drawingml/2006/main">
            <a:off x="6229350" y="1657350"/>
            <a:ext cx="485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Descriptive event ledger</a:t>
            </a:r>
          </a:p>
        </p:txBody>
      </p:sp>
      <p:sp>
        <p:nvSpPr>
          <p:cNvPr id="11" name="">
            <a:extLst xmlns:a="http://schemas.openxmlformats.org/drawingml/2006/main">
              <a:ext uri="{FF2B5EF4-FFF2-40B4-BE49-F238E27FC236}">
                <a16:creationId xmlns:a16="http://schemas.microsoft.com/office/drawing/2014/main" id="{2666D598-FCD7-466D-AD35-42CAC0DCC5CC}"/>
              </a:ext>
            </a:extLst>
          </p:cNvPr>
          <p:cNvSpPr>
            <a:spLocks xmlns:a="http://schemas.openxmlformats.org/drawingml/2006/main" noGrp="1"/>
          </p:cNvSpPr>
          <p:nvPr/>
        </p:nvSpPr>
        <p:spPr>
          <a:xfrm xmlns:a="http://schemas.openxmlformats.org/drawingml/2006/main">
            <a:off x="6229350" y="226695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7202A"/>
                </a:solidFill>
                <a:latin typeface="Arial"/>
                <a:ea typeface="Arial"/>
                <a:cs typeface="Arial"/>
              </a:defRPr>
            </a:pPr>
            <a:r>
              <a:rPr sz="1650" b="1">
                <a:solidFill>
                  <a:srgbClr val="17202A"/>
                </a:solidFill>
                <a:latin typeface="Arial"/>
                <a:ea typeface="Arial"/>
                <a:cs typeface="Arial"/>
              </a:rPr>
              <a:t>Start</a:t>
            </a:r>
          </a:p>
        </p:txBody>
      </p:sp>
      <p:sp>
        <p:nvSpPr>
          <p:cNvPr id="12" name="">
            <a:extLst xmlns:a="http://schemas.openxmlformats.org/drawingml/2006/main">
              <a:ext uri="{FF2B5EF4-FFF2-40B4-BE49-F238E27FC236}">
                <a16:creationId xmlns:a16="http://schemas.microsoft.com/office/drawing/2014/main" id="{304A8CCB-11F1-4EEA-9353-F4A511E22BF0}"/>
              </a:ext>
            </a:extLst>
          </p:cNvPr>
          <p:cNvSpPr>
            <a:spLocks xmlns:a="http://schemas.openxmlformats.org/drawingml/2006/main" noGrp="1"/>
          </p:cNvSpPr>
          <p:nvPr/>
        </p:nvSpPr>
        <p:spPr>
          <a:xfrm xmlns:a="http://schemas.openxmlformats.org/drawingml/2006/main">
            <a:off x="7715250" y="2266950"/>
            <a:ext cx="3524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68727D"/>
                </a:solidFill>
                <a:latin typeface="Arial"/>
                <a:ea typeface="Arial"/>
                <a:cs typeface="Arial"/>
              </a:defRPr>
            </a:pPr>
            <a:r>
              <a:rPr sz="1575" b="0">
                <a:solidFill>
                  <a:srgbClr val="68727D"/>
                </a:solidFill>
                <a:latin typeface="Arial"/>
                <a:ea typeface="Arial"/>
                <a:cs typeface="Arial"/>
              </a:rPr>
              <a:t>RP crosses above 1</a:t>
            </a:r>
          </a:p>
        </p:txBody>
      </p:sp>
      <p:sp>
        <p:nvSpPr>
          <p:cNvPr id="13" name="">
            <a:extLst xmlns:a="http://schemas.openxmlformats.org/drawingml/2006/main">
              <a:ext uri="{FF2B5EF4-FFF2-40B4-BE49-F238E27FC236}">
                <a16:creationId xmlns:a16="http://schemas.microsoft.com/office/drawing/2014/main" id="{B2650385-9ECE-42DB-866B-07E67E17A74D}"/>
              </a:ext>
            </a:extLst>
          </p:cNvPr>
          <p:cNvSpPr>
            <a:spLocks xmlns:a="http://schemas.openxmlformats.org/drawingml/2006/main" noGrp="1"/>
          </p:cNvSpPr>
          <p:nvPr/>
        </p:nvSpPr>
        <p:spPr>
          <a:xfrm xmlns:a="http://schemas.openxmlformats.org/drawingml/2006/main">
            <a:off x="6229350" y="300990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7202A"/>
                </a:solidFill>
                <a:latin typeface="Arial"/>
                <a:ea typeface="Arial"/>
                <a:cs typeface="Arial"/>
              </a:defRPr>
            </a:pPr>
            <a:r>
              <a:rPr sz="1650" b="1">
                <a:solidFill>
                  <a:srgbClr val="17202A"/>
                </a:solidFill>
                <a:latin typeface="Arial"/>
                <a:ea typeface="Arial"/>
                <a:cs typeface="Arial"/>
              </a:rPr>
              <a:t>Boundary</a:t>
            </a:r>
          </a:p>
        </p:txBody>
      </p:sp>
      <p:sp>
        <p:nvSpPr>
          <p:cNvPr id="14" name="">
            <a:extLst xmlns:a="http://schemas.openxmlformats.org/drawingml/2006/main">
              <a:ext uri="{FF2B5EF4-FFF2-40B4-BE49-F238E27FC236}">
                <a16:creationId xmlns:a16="http://schemas.microsoft.com/office/drawing/2014/main" id="{A892F788-FB47-45B8-9914-19A89A148492}"/>
              </a:ext>
            </a:extLst>
          </p:cNvPr>
          <p:cNvSpPr>
            <a:spLocks xmlns:a="http://schemas.openxmlformats.org/drawingml/2006/main" noGrp="1"/>
          </p:cNvSpPr>
          <p:nvPr/>
        </p:nvSpPr>
        <p:spPr>
          <a:xfrm xmlns:a="http://schemas.openxmlformats.org/drawingml/2006/main">
            <a:off x="7715250" y="3009900"/>
            <a:ext cx="3524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68727D"/>
                </a:solidFill>
                <a:latin typeface="Arial"/>
                <a:ea typeface="Arial"/>
                <a:cs typeface="Arial"/>
              </a:defRPr>
            </a:pPr>
            <a:r>
              <a:rPr sz="1575" b="0">
                <a:solidFill>
                  <a:srgbClr val="68727D"/>
                </a:solidFill>
                <a:latin typeface="Arial"/>
                <a:ea typeface="Arial"/>
                <a:cs typeface="Arial"/>
              </a:rPr>
              <a:t>freeze the old 63-day high</a:t>
            </a:r>
          </a:p>
        </p:txBody>
      </p:sp>
      <p:sp>
        <p:nvSpPr>
          <p:cNvPr id="15" name="">
            <a:extLst xmlns:a="http://schemas.openxmlformats.org/drawingml/2006/main">
              <a:ext uri="{FF2B5EF4-FFF2-40B4-BE49-F238E27FC236}">
                <a16:creationId xmlns:a16="http://schemas.microsoft.com/office/drawing/2014/main" id="{C50B0549-CCFD-4458-9D15-C0211B48A60E}"/>
              </a:ext>
            </a:extLst>
          </p:cNvPr>
          <p:cNvSpPr>
            <a:spLocks xmlns:a="http://schemas.openxmlformats.org/drawingml/2006/main" noGrp="1"/>
          </p:cNvSpPr>
          <p:nvPr/>
        </p:nvSpPr>
        <p:spPr>
          <a:xfrm xmlns:a="http://schemas.openxmlformats.org/drawingml/2006/main">
            <a:off x="6229350" y="375285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7202A"/>
                </a:solidFill>
                <a:latin typeface="Arial"/>
                <a:ea typeface="Arial"/>
                <a:cs typeface="Arial"/>
              </a:defRPr>
            </a:pPr>
            <a:r>
              <a:rPr sz="1650" b="1">
                <a:solidFill>
                  <a:srgbClr val="17202A"/>
                </a:solidFill>
                <a:latin typeface="Arial"/>
                <a:ea typeface="Arial"/>
                <a:cs typeface="Arial"/>
              </a:rPr>
              <a:t>Age</a:t>
            </a:r>
          </a:p>
        </p:txBody>
      </p:sp>
      <p:sp>
        <p:nvSpPr>
          <p:cNvPr id="16" name="">
            <a:extLst xmlns:a="http://schemas.openxmlformats.org/drawingml/2006/main">
              <a:ext uri="{FF2B5EF4-FFF2-40B4-BE49-F238E27FC236}">
                <a16:creationId xmlns:a16="http://schemas.microsoft.com/office/drawing/2014/main" id="{45AA1544-F63A-4996-A686-4C7C3A0B8CF1}"/>
              </a:ext>
            </a:extLst>
          </p:cNvPr>
          <p:cNvSpPr>
            <a:spLocks xmlns:a="http://schemas.openxmlformats.org/drawingml/2006/main" noGrp="1"/>
          </p:cNvSpPr>
          <p:nvPr/>
        </p:nvSpPr>
        <p:spPr>
          <a:xfrm xmlns:a="http://schemas.openxmlformats.org/drawingml/2006/main">
            <a:off x="7715250" y="3752850"/>
            <a:ext cx="3524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68727D"/>
                </a:solidFill>
                <a:latin typeface="Arial"/>
                <a:ea typeface="Arial"/>
                <a:cs typeface="Arial"/>
              </a:defRPr>
            </a:pPr>
            <a:r>
              <a:rPr sz="1575" b="0">
                <a:solidFill>
                  <a:srgbClr val="68727D"/>
                </a:solidFill>
                <a:latin typeface="Arial"/>
                <a:ea typeface="Arial"/>
                <a:cs typeface="Arial"/>
              </a:rPr>
              <a:t>0 through 9; never extended</a:t>
            </a:r>
          </a:p>
        </p:txBody>
      </p:sp>
      <p:sp>
        <p:nvSpPr>
          <p:cNvPr id="17" name="">
            <a:extLst xmlns:a="http://schemas.openxmlformats.org/drawingml/2006/main">
              <a:ext uri="{FF2B5EF4-FFF2-40B4-BE49-F238E27FC236}">
                <a16:creationId xmlns:a16="http://schemas.microsoft.com/office/drawing/2014/main" id="{3BDA3143-3545-418B-9A5C-3D8E529C193A}"/>
              </a:ext>
            </a:extLst>
          </p:cNvPr>
          <p:cNvSpPr>
            <a:spLocks xmlns:a="http://schemas.openxmlformats.org/drawingml/2006/main" noGrp="1"/>
          </p:cNvSpPr>
          <p:nvPr/>
        </p:nvSpPr>
        <p:spPr>
          <a:xfrm xmlns:a="http://schemas.openxmlformats.org/drawingml/2006/main">
            <a:off x="6229350" y="449580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7202A"/>
                </a:solidFill>
                <a:latin typeface="Arial"/>
                <a:ea typeface="Arial"/>
                <a:cs typeface="Arial"/>
              </a:defRPr>
            </a:pPr>
            <a:r>
              <a:rPr sz="1650" b="1">
                <a:solidFill>
                  <a:srgbClr val="17202A"/>
                </a:solidFill>
                <a:latin typeface="Arial"/>
                <a:ea typeface="Arial"/>
                <a:cs typeface="Arial"/>
              </a:rPr>
              <a:t>Track</a:t>
            </a:r>
          </a:p>
        </p:txBody>
      </p:sp>
      <p:sp>
        <p:nvSpPr>
          <p:cNvPr id="18" name="">
            <a:extLst xmlns:a="http://schemas.openxmlformats.org/drawingml/2006/main">
              <a:ext uri="{FF2B5EF4-FFF2-40B4-BE49-F238E27FC236}">
                <a16:creationId xmlns:a16="http://schemas.microsoft.com/office/drawing/2014/main" id="{9209E496-7E1F-4166-8312-EC843C2AACCA}"/>
              </a:ext>
            </a:extLst>
          </p:cNvPr>
          <p:cNvSpPr>
            <a:spLocks xmlns:a="http://schemas.openxmlformats.org/drawingml/2006/main" noGrp="1"/>
          </p:cNvSpPr>
          <p:nvPr/>
        </p:nvSpPr>
        <p:spPr>
          <a:xfrm xmlns:a="http://schemas.openxmlformats.org/drawingml/2006/main">
            <a:off x="7715250" y="4495800"/>
            <a:ext cx="3524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68727D"/>
                </a:solidFill>
                <a:latin typeface="Arial"/>
                <a:ea typeface="Arial"/>
                <a:cs typeface="Arial"/>
              </a:defRPr>
            </a:pPr>
            <a:r>
              <a:rPr sz="1575" b="0">
                <a:solidFill>
                  <a:srgbClr val="68727D"/>
                </a:solidFill>
                <a:latin typeface="Arial"/>
                <a:ea typeface="Arial"/>
                <a:cs typeface="Arial"/>
              </a:rPr>
              <a:t>hold fraction, deepest breach, retests</a:t>
            </a:r>
          </a:p>
        </p:txBody>
      </p:sp>
      <p:sp>
        <p:nvSpPr>
          <p:cNvPr id="19" name="">
            <a:extLst xmlns:a="http://schemas.openxmlformats.org/drawingml/2006/main">
              <a:ext uri="{FF2B5EF4-FFF2-40B4-BE49-F238E27FC236}">
                <a16:creationId xmlns:a16="http://schemas.microsoft.com/office/drawing/2014/main" id="{5E522ED8-D441-411C-A396-BE7FA398E244}"/>
              </a:ext>
            </a:extLst>
          </p:cNvPr>
          <p:cNvSpPr>
            <a:spLocks xmlns:a="http://schemas.openxmlformats.org/drawingml/2006/main" noGrp="1"/>
          </p:cNvSpPr>
          <p:nvPr/>
        </p:nvSpPr>
        <p:spPr>
          <a:xfrm xmlns:a="http://schemas.openxmlformats.org/drawingml/2006/main">
            <a:off x="6229350" y="533400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D95F59"/>
                </a:solidFill>
                <a:latin typeface="Arial"/>
                <a:ea typeface="Arial"/>
                <a:cs typeface="Arial"/>
              </a:defRPr>
            </a:pPr>
            <a:r>
              <a:rPr sz="1650" b="1">
                <a:solidFill>
                  <a:srgbClr val="D95F59"/>
                </a:solidFill>
                <a:latin typeface="Arial"/>
                <a:ea typeface="Arial"/>
                <a:cs typeface="Arial"/>
              </a:rPr>
              <a:t>Completed outcomes validate meaning; they never flow backward into the live state.</a:t>
            </a:r>
          </a:p>
        </p:txBody>
      </p:sp>
    </p:spTree>
    <p:extLst>
      <p:ext uri="{BB962C8B-B14F-4D97-AF65-F5344CB8AC3E}">
        <p14:creationId xmlns:p14="http://schemas.microsoft.com/office/powerpoint/2010/main" val="174647597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2ABE0F21-2C30-4450-963C-EA441CF59DAA}"/>
              </a:ext>
            </a:extLst>
          </p:cNvPr>
          <p:cNvSpPr>
            <a:spLocks xmlns:a="http://schemas.openxmlformats.org/drawingml/2006/main" noGrp="1"/>
          </p:cNvSpPr>
          <p:nvPr/>
        </p:nvSpPr>
        <p:spPr>
          <a:xfrm xmlns:a="http://schemas.openxmlformats.org/drawingml/2006/main">
            <a:off x="457200" y="19050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3D8DFF"/>
                </a:solidFill>
                <a:latin typeface="Arial"/>
                <a:ea typeface="Arial"/>
                <a:cs typeface="Arial"/>
              </a:defRPr>
            </a:pPr>
            <a:r>
              <a:rPr sz="975" b="1">
                <a:solidFill>
                  <a:srgbClr val="3D8DFF"/>
                </a:solidFill>
                <a:latin typeface="Arial"/>
                <a:ea typeface="Arial"/>
                <a:cs typeface="Arial"/>
              </a:rPr>
              <a:t>STAGE A GATES</a:t>
            </a:r>
          </a:p>
        </p:txBody>
      </p:sp>
      <p:sp>
        <p:nvSpPr>
          <p:cNvPr id="2" name="">
            <a:extLst xmlns:a="http://schemas.openxmlformats.org/drawingml/2006/main">
              <a:ext uri="{FF2B5EF4-FFF2-40B4-BE49-F238E27FC236}">
                <a16:creationId xmlns:a16="http://schemas.microsoft.com/office/drawing/2014/main" id="{6DB7A9F9-C97B-4DAD-BF90-88BA458D97F0}"/>
              </a:ext>
            </a:extLst>
          </p:cNvPr>
          <p:cNvSpPr>
            <a:spLocks xmlns:a="http://schemas.openxmlformats.org/drawingml/2006/main" noGrp="1"/>
          </p:cNvSpPr>
          <p:nvPr/>
        </p:nvSpPr>
        <p:spPr>
          <a:xfrm xmlns:a="http://schemas.openxmlformats.org/drawingml/2006/main">
            <a:off x="457200" y="466725"/>
            <a:ext cx="110490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17202A"/>
                </a:solidFill>
                <a:latin typeface="Arial"/>
                <a:ea typeface="Arial"/>
                <a:cs typeface="Arial"/>
              </a:defRPr>
            </a:pPr>
            <a:r>
              <a:rPr sz="2700" b="1">
                <a:solidFill>
                  <a:srgbClr val="17202A"/>
                </a:solidFill>
                <a:latin typeface="Arial"/>
                <a:ea typeface="Arial"/>
                <a:cs typeface="Arial"/>
              </a:rPr>
              <a:t>The measurement passed every construction and usability gate</a:t>
            </a:r>
          </a:p>
        </p:txBody>
      </p:sp>
      <p:sp>
        <p:nvSpPr>
          <p:cNvPr id="3" name="">
            <a:extLst xmlns:a="http://schemas.openxmlformats.org/drawingml/2006/main">
              <a:ext uri="{FF2B5EF4-FFF2-40B4-BE49-F238E27FC236}">
                <a16:creationId xmlns:a16="http://schemas.microsoft.com/office/drawing/2014/main" id="{013626A6-DD21-45F5-BCBE-E9C2BA2D4093}"/>
              </a:ext>
            </a:extLst>
          </p:cNvPr>
          <p:cNvSpPr>
            <a:spLocks xmlns:a="http://schemas.openxmlformats.org/drawingml/2006/main" noGrp="1"/>
          </p:cNvSpPr>
          <p:nvPr/>
        </p:nvSpPr>
        <p:spPr>
          <a:xfrm xmlns:a="http://schemas.openxmlformats.org/drawingml/2006/main">
            <a:off x="457200" y="1295400"/>
            <a:ext cx="112776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CC54C3A-C0CD-4312-8558-1BDE794A3481}"/>
              </a:ext>
            </a:extLst>
          </p:cNvPr>
          <p:cNvSpPr>
            <a:spLocks xmlns:a="http://schemas.openxmlformats.org/drawingml/2006/main" noGrp="1"/>
          </p:cNvSpPr>
          <p:nvPr/>
        </p:nvSpPr>
        <p:spPr>
          <a:xfrm xmlns:a="http://schemas.openxmlformats.org/drawingml/2006/main">
            <a:off x="112585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68727D"/>
                </a:solidFill>
                <a:latin typeface="Arial"/>
                <a:ea typeface="Arial"/>
                <a:cs typeface="Arial"/>
              </a:defRPr>
            </a:pPr>
            <a:r>
              <a:rPr sz="975" b="0">
                <a:solidFill>
                  <a:srgbClr val="68727D"/>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2BBD26F5-F985-4D01-8D42-637E112CD8A3}"/>
              </a:ext>
            </a:extLst>
          </p:cNvPr>
          <p:cNvSpPr>
            <a:spLocks xmlns:a="http://schemas.openxmlformats.org/drawingml/2006/main" noGrp="1"/>
          </p:cNvSpPr>
          <p:nvPr/>
        </p:nvSpPr>
        <p:spPr>
          <a:xfrm xmlns:a="http://schemas.openxmlformats.org/drawingml/2006/main">
            <a:off x="457200" y="1562100"/>
            <a:ext cx="1257300" cy="476250"/>
          </a:xfrm>
          <a:prstGeom xmlns:a="http://schemas.openxmlformats.org/drawingml/2006/main" prst="rect">
            <a:avLst/>
          </a:prstGeom>
          <a:solidFill xmlns:a="http://schemas.openxmlformats.org/drawingml/2006/main">
            <a:srgbClr val="17202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51A4B35-50D1-424B-BABE-F4795C65114A}"/>
              </a:ext>
            </a:extLst>
          </p:cNvPr>
          <p:cNvSpPr>
            <a:spLocks xmlns:a="http://schemas.openxmlformats.org/drawingml/2006/main" noGrp="1"/>
          </p:cNvSpPr>
          <p:nvPr/>
        </p:nvSpPr>
        <p:spPr>
          <a:xfrm xmlns:a="http://schemas.openxmlformats.org/drawingml/2006/main">
            <a:off x="590550" y="1676400"/>
            <a:ext cx="99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Result</a:t>
            </a:r>
          </a:p>
        </p:txBody>
      </p:sp>
      <p:sp>
        <p:nvSpPr>
          <p:cNvPr id="7" name="">
            <a:extLst xmlns:a="http://schemas.openxmlformats.org/drawingml/2006/main">
              <a:ext uri="{FF2B5EF4-FFF2-40B4-BE49-F238E27FC236}">
                <a16:creationId xmlns:a16="http://schemas.microsoft.com/office/drawing/2014/main" id="{325D1324-9965-44DF-929B-E8BFBDD00B3B}"/>
              </a:ext>
            </a:extLst>
          </p:cNvPr>
          <p:cNvSpPr>
            <a:spLocks xmlns:a="http://schemas.openxmlformats.org/drawingml/2006/main" noGrp="1"/>
          </p:cNvSpPr>
          <p:nvPr/>
        </p:nvSpPr>
        <p:spPr>
          <a:xfrm xmlns:a="http://schemas.openxmlformats.org/drawingml/2006/main">
            <a:off x="1714500" y="1562100"/>
            <a:ext cx="3238500" cy="476250"/>
          </a:xfrm>
          <a:prstGeom xmlns:a="http://schemas.openxmlformats.org/drawingml/2006/main" prst="rect">
            <a:avLst/>
          </a:prstGeom>
          <a:solidFill xmlns:a="http://schemas.openxmlformats.org/drawingml/2006/main">
            <a:srgbClr val="17202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3E61F7A-8CBC-45DE-945C-1C280DF56811}"/>
              </a:ext>
            </a:extLst>
          </p:cNvPr>
          <p:cNvSpPr>
            <a:spLocks xmlns:a="http://schemas.openxmlformats.org/drawingml/2006/main" noGrp="1"/>
          </p:cNvSpPr>
          <p:nvPr/>
        </p:nvSpPr>
        <p:spPr>
          <a:xfrm xmlns:a="http://schemas.openxmlformats.org/drawingml/2006/main">
            <a:off x="1847850" y="1676400"/>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Gate</a:t>
            </a:r>
          </a:p>
        </p:txBody>
      </p:sp>
      <p:sp>
        <p:nvSpPr>
          <p:cNvPr id="9" name="">
            <a:extLst xmlns:a="http://schemas.openxmlformats.org/drawingml/2006/main">
              <a:ext uri="{FF2B5EF4-FFF2-40B4-BE49-F238E27FC236}">
                <a16:creationId xmlns:a16="http://schemas.microsoft.com/office/drawing/2014/main" id="{36E5C1E2-8738-446D-B834-C8BF9A04BD3D}"/>
              </a:ext>
            </a:extLst>
          </p:cNvPr>
          <p:cNvSpPr>
            <a:spLocks xmlns:a="http://schemas.openxmlformats.org/drawingml/2006/main" noGrp="1"/>
          </p:cNvSpPr>
          <p:nvPr/>
        </p:nvSpPr>
        <p:spPr>
          <a:xfrm xmlns:a="http://schemas.openxmlformats.org/drawingml/2006/main">
            <a:off x="4953000" y="1562100"/>
            <a:ext cx="6477000" cy="476250"/>
          </a:xfrm>
          <a:prstGeom xmlns:a="http://schemas.openxmlformats.org/drawingml/2006/main" prst="rect">
            <a:avLst/>
          </a:prstGeom>
          <a:solidFill xmlns:a="http://schemas.openxmlformats.org/drawingml/2006/main">
            <a:srgbClr val="17202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C0208FA-D457-4090-8262-B701BCE1F02F}"/>
              </a:ext>
            </a:extLst>
          </p:cNvPr>
          <p:cNvSpPr>
            <a:spLocks xmlns:a="http://schemas.openxmlformats.org/drawingml/2006/main" noGrp="1"/>
          </p:cNvSpPr>
          <p:nvPr/>
        </p:nvSpPr>
        <p:spPr>
          <a:xfrm xmlns:a="http://schemas.openxmlformats.org/drawingml/2006/main">
            <a:off x="5086350" y="1676400"/>
            <a:ext cx="621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Observed</a:t>
            </a:r>
          </a:p>
        </p:txBody>
      </p:sp>
      <p:sp>
        <p:nvSpPr>
          <p:cNvPr id="11" name="">
            <a:extLst xmlns:a="http://schemas.openxmlformats.org/drawingml/2006/main">
              <a:ext uri="{FF2B5EF4-FFF2-40B4-BE49-F238E27FC236}">
                <a16:creationId xmlns:a16="http://schemas.microsoft.com/office/drawing/2014/main" id="{2B2B84E0-708E-4722-9756-DE1B9DD430C4}"/>
              </a:ext>
            </a:extLst>
          </p:cNvPr>
          <p:cNvSpPr>
            <a:spLocks xmlns:a="http://schemas.openxmlformats.org/drawingml/2006/main" noGrp="1"/>
          </p:cNvSpPr>
          <p:nvPr/>
        </p:nvSpPr>
        <p:spPr>
          <a:xfrm xmlns:a="http://schemas.openxmlformats.org/drawingml/2006/main">
            <a:off x="457200" y="2038350"/>
            <a:ext cx="1257300" cy="561975"/>
          </a:xfrm>
          <a:prstGeom xmlns:a="http://schemas.openxmlformats.org/drawingml/2006/main" prst="rect">
            <a:avLst/>
          </a:prstGeom>
          <a:solidFill xmlns:a="http://schemas.openxmlformats.org/drawingml/2006/main">
            <a:srgbClr val="F4F6F8"/>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90F17EEE-5A8C-4EBD-9D90-6C5057268A46}"/>
              </a:ext>
            </a:extLst>
          </p:cNvPr>
          <p:cNvSpPr>
            <a:spLocks xmlns:a="http://schemas.openxmlformats.org/drawingml/2006/main" noGrp="1"/>
          </p:cNvSpPr>
          <p:nvPr/>
        </p:nvSpPr>
        <p:spPr>
          <a:xfrm xmlns:a="http://schemas.openxmlformats.org/drawingml/2006/main">
            <a:off x="590550" y="2190750"/>
            <a:ext cx="99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E8B57"/>
                </a:solidFill>
                <a:latin typeface="Arial"/>
                <a:ea typeface="Arial"/>
                <a:cs typeface="Arial"/>
              </a:defRPr>
            </a:pPr>
            <a:r>
              <a:rPr sz="1350" b="1">
                <a:solidFill>
                  <a:srgbClr val="2E8B57"/>
                </a:solidFill>
                <a:latin typeface="Arial"/>
                <a:ea typeface="Arial"/>
                <a:cs typeface="Arial"/>
              </a:rPr>
              <a:t>PASS</a:t>
            </a:r>
          </a:p>
        </p:txBody>
      </p:sp>
      <p:sp>
        <p:nvSpPr>
          <p:cNvPr id="13" name="">
            <a:extLst xmlns:a="http://schemas.openxmlformats.org/drawingml/2006/main">
              <a:ext uri="{FF2B5EF4-FFF2-40B4-BE49-F238E27FC236}">
                <a16:creationId xmlns:a16="http://schemas.microsoft.com/office/drawing/2014/main" id="{806A4B3B-EEAA-472C-A863-6AF7CD1F59E5}"/>
              </a:ext>
            </a:extLst>
          </p:cNvPr>
          <p:cNvSpPr>
            <a:spLocks xmlns:a="http://schemas.openxmlformats.org/drawingml/2006/main" noGrp="1"/>
          </p:cNvSpPr>
          <p:nvPr/>
        </p:nvSpPr>
        <p:spPr>
          <a:xfrm xmlns:a="http://schemas.openxmlformats.org/drawingml/2006/main">
            <a:off x="1714500" y="2038350"/>
            <a:ext cx="3238500" cy="561975"/>
          </a:xfrm>
          <a:prstGeom xmlns:a="http://schemas.openxmlformats.org/drawingml/2006/main" prst="rect">
            <a:avLst/>
          </a:prstGeom>
          <a:solidFill xmlns:a="http://schemas.openxmlformats.org/drawingml/2006/main">
            <a:srgbClr val="F4F6F8"/>
          </a:solidFill>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EFF3BD07-3DB9-4E6F-B409-1F600B5AAA4D}"/>
              </a:ext>
            </a:extLst>
          </p:cNvPr>
          <p:cNvSpPr>
            <a:spLocks xmlns:a="http://schemas.openxmlformats.org/drawingml/2006/main" noGrp="1"/>
          </p:cNvSpPr>
          <p:nvPr/>
        </p:nvSpPr>
        <p:spPr>
          <a:xfrm xmlns:a="http://schemas.openxmlformats.org/drawingml/2006/main">
            <a:off x="1847850" y="2190750"/>
            <a:ext cx="297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7202A"/>
                </a:solidFill>
                <a:latin typeface="Arial"/>
                <a:ea typeface="Arial"/>
                <a:cs typeface="Arial"/>
              </a:defRPr>
            </a:pPr>
            <a:r>
              <a:rPr sz="1350" b="0">
                <a:solidFill>
                  <a:srgbClr val="17202A"/>
                </a:solidFill>
                <a:latin typeface="Arial"/>
                <a:ea typeface="Arial"/>
                <a:cs typeface="Arial"/>
              </a:rPr>
              <a:t>Data boundary</a:t>
            </a:r>
          </a:p>
        </p:txBody>
      </p:sp>
      <p:sp>
        <p:nvSpPr>
          <p:cNvPr id="15" name="">
            <a:extLst xmlns:a="http://schemas.openxmlformats.org/drawingml/2006/main">
              <a:ext uri="{FF2B5EF4-FFF2-40B4-BE49-F238E27FC236}">
                <a16:creationId xmlns:a16="http://schemas.microsoft.com/office/drawing/2014/main" id="{F17039B9-ECBF-4732-84E4-C77D34291F8E}"/>
              </a:ext>
            </a:extLst>
          </p:cNvPr>
          <p:cNvSpPr>
            <a:spLocks xmlns:a="http://schemas.openxmlformats.org/drawingml/2006/main" noGrp="1"/>
          </p:cNvSpPr>
          <p:nvPr/>
        </p:nvSpPr>
        <p:spPr>
          <a:xfrm xmlns:a="http://schemas.openxmlformats.org/drawingml/2006/main">
            <a:off x="4953000" y="2038350"/>
            <a:ext cx="6477000" cy="561975"/>
          </a:xfrm>
          <a:prstGeom xmlns:a="http://schemas.openxmlformats.org/drawingml/2006/main" prst="rect">
            <a:avLst/>
          </a:prstGeom>
          <a:solidFill xmlns:a="http://schemas.openxmlformats.org/drawingml/2006/main">
            <a:srgbClr val="F4F6F8"/>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2A66E965-B9ED-490F-B7BD-7C994F755239}"/>
              </a:ext>
            </a:extLst>
          </p:cNvPr>
          <p:cNvSpPr>
            <a:spLocks xmlns:a="http://schemas.openxmlformats.org/drawingml/2006/main" noGrp="1"/>
          </p:cNvSpPr>
          <p:nvPr/>
        </p:nvSpPr>
        <p:spPr>
          <a:xfrm xmlns:a="http://schemas.openxmlformats.org/drawingml/2006/main">
            <a:off x="5086350" y="2190750"/>
            <a:ext cx="621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7202A"/>
                </a:solidFill>
                <a:latin typeface="Arial"/>
                <a:ea typeface="Arial"/>
                <a:cs typeface="Arial"/>
              </a:defRPr>
            </a:pPr>
            <a:r>
              <a:rPr sz="1350" b="0">
                <a:solidFill>
                  <a:srgbClr val="17202A"/>
                </a:solidFill>
                <a:latin typeface="Arial"/>
                <a:ea typeface="Arial"/>
                <a:cs typeface="Arial"/>
              </a:rPr>
              <a:t>26/26 complete; 2024+ absent</a:t>
            </a:r>
          </a:p>
        </p:txBody>
      </p:sp>
      <p:sp>
        <p:nvSpPr>
          <p:cNvPr id="17" name="">
            <a:extLst xmlns:a="http://schemas.openxmlformats.org/drawingml/2006/main">
              <a:ext uri="{FF2B5EF4-FFF2-40B4-BE49-F238E27FC236}">
                <a16:creationId xmlns:a16="http://schemas.microsoft.com/office/drawing/2014/main" id="{9B19D792-31C5-4E4D-A22A-B8A62F4869E8}"/>
              </a:ext>
            </a:extLst>
          </p:cNvPr>
          <p:cNvSpPr>
            <a:spLocks xmlns:a="http://schemas.openxmlformats.org/drawingml/2006/main" noGrp="1"/>
          </p:cNvSpPr>
          <p:nvPr/>
        </p:nvSpPr>
        <p:spPr>
          <a:xfrm xmlns:a="http://schemas.openxmlformats.org/drawingml/2006/main">
            <a:off x="457200" y="2600325"/>
            <a:ext cx="1257300" cy="56197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06079ACC-FCBD-4C84-AD46-111B9A7EAEED}"/>
              </a:ext>
            </a:extLst>
          </p:cNvPr>
          <p:cNvSpPr>
            <a:spLocks xmlns:a="http://schemas.openxmlformats.org/drawingml/2006/main" noGrp="1"/>
          </p:cNvSpPr>
          <p:nvPr/>
        </p:nvSpPr>
        <p:spPr>
          <a:xfrm xmlns:a="http://schemas.openxmlformats.org/drawingml/2006/main">
            <a:off x="590550" y="2752725"/>
            <a:ext cx="99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E8B57"/>
                </a:solidFill>
                <a:latin typeface="Arial"/>
                <a:ea typeface="Arial"/>
                <a:cs typeface="Arial"/>
              </a:defRPr>
            </a:pPr>
            <a:r>
              <a:rPr sz="1350" b="1">
                <a:solidFill>
                  <a:srgbClr val="2E8B57"/>
                </a:solidFill>
                <a:latin typeface="Arial"/>
                <a:ea typeface="Arial"/>
                <a:cs typeface="Arial"/>
              </a:rPr>
              <a:t>PASS</a:t>
            </a:r>
          </a:p>
        </p:txBody>
      </p:sp>
      <p:sp>
        <p:nvSpPr>
          <p:cNvPr id="19" name="">
            <a:extLst xmlns:a="http://schemas.openxmlformats.org/drawingml/2006/main">
              <a:ext uri="{FF2B5EF4-FFF2-40B4-BE49-F238E27FC236}">
                <a16:creationId xmlns:a16="http://schemas.microsoft.com/office/drawing/2014/main" id="{9913E852-E862-4F08-AC0A-3BA2D2514AF0}"/>
              </a:ext>
            </a:extLst>
          </p:cNvPr>
          <p:cNvSpPr>
            <a:spLocks xmlns:a="http://schemas.openxmlformats.org/drawingml/2006/main" noGrp="1"/>
          </p:cNvSpPr>
          <p:nvPr/>
        </p:nvSpPr>
        <p:spPr>
          <a:xfrm xmlns:a="http://schemas.openxmlformats.org/drawingml/2006/main">
            <a:off x="1714500" y="2600325"/>
            <a:ext cx="3238500" cy="56197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0" name="">
            <a:extLst xmlns:a="http://schemas.openxmlformats.org/drawingml/2006/main">
              <a:ext uri="{FF2B5EF4-FFF2-40B4-BE49-F238E27FC236}">
                <a16:creationId xmlns:a16="http://schemas.microsoft.com/office/drawing/2014/main" id="{15EDD44C-5FBD-4B97-BD27-875D33DA7EBC}"/>
              </a:ext>
            </a:extLst>
          </p:cNvPr>
          <p:cNvSpPr>
            <a:spLocks xmlns:a="http://schemas.openxmlformats.org/drawingml/2006/main" noGrp="1"/>
          </p:cNvSpPr>
          <p:nvPr/>
        </p:nvSpPr>
        <p:spPr>
          <a:xfrm xmlns:a="http://schemas.openxmlformats.org/drawingml/2006/main">
            <a:off x="1847850" y="2752725"/>
            <a:ext cx="297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7202A"/>
                </a:solidFill>
                <a:latin typeface="Arial"/>
                <a:ea typeface="Arial"/>
                <a:cs typeface="Arial"/>
              </a:defRPr>
            </a:pPr>
            <a:r>
              <a:rPr sz="1350" b="0">
                <a:solidFill>
                  <a:srgbClr val="17202A"/>
                </a:solidFill>
                <a:latin typeface="Arial"/>
                <a:ea typeface="Arial"/>
                <a:cs typeface="Arial"/>
              </a:rPr>
              <a:t>Synthetic trend</a:t>
            </a:r>
          </a:p>
        </p:txBody>
      </p:sp>
      <p:sp>
        <p:nvSpPr>
          <p:cNvPr id="21" name="">
            <a:extLst xmlns:a="http://schemas.openxmlformats.org/drawingml/2006/main">
              <a:ext uri="{FF2B5EF4-FFF2-40B4-BE49-F238E27FC236}">
                <a16:creationId xmlns:a16="http://schemas.microsoft.com/office/drawing/2014/main" id="{56A5022A-E14F-41CC-A1BF-96859E931226}"/>
              </a:ext>
            </a:extLst>
          </p:cNvPr>
          <p:cNvSpPr>
            <a:spLocks xmlns:a="http://schemas.openxmlformats.org/drawingml/2006/main" noGrp="1"/>
          </p:cNvSpPr>
          <p:nvPr/>
        </p:nvSpPr>
        <p:spPr>
          <a:xfrm xmlns:a="http://schemas.openxmlformats.org/drawingml/2006/main">
            <a:off x="4953000" y="2600325"/>
            <a:ext cx="6477000" cy="56197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2" name="">
            <a:extLst xmlns:a="http://schemas.openxmlformats.org/drawingml/2006/main">
              <a:ext uri="{FF2B5EF4-FFF2-40B4-BE49-F238E27FC236}">
                <a16:creationId xmlns:a16="http://schemas.microsoft.com/office/drawing/2014/main" id="{37BF4A91-BFF2-4CAD-890A-1615AE0B99DF}"/>
              </a:ext>
            </a:extLst>
          </p:cNvPr>
          <p:cNvSpPr>
            <a:spLocks xmlns:a="http://schemas.openxmlformats.org/drawingml/2006/main" noGrp="1"/>
          </p:cNvSpPr>
          <p:nvPr/>
        </p:nvSpPr>
        <p:spPr>
          <a:xfrm xmlns:a="http://schemas.openxmlformats.org/drawingml/2006/main">
            <a:off x="5086350" y="2752725"/>
            <a:ext cx="621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7202A"/>
                </a:solidFill>
                <a:latin typeface="Arial"/>
                <a:ea typeface="Arial"/>
                <a:cs typeface="Arial"/>
              </a:defRPr>
            </a:pPr>
            <a:r>
              <a:rPr sz="1350" b="0">
                <a:solidFill>
                  <a:srgbClr val="17202A"/>
                </a:solidFill>
                <a:latin typeface="Arial"/>
                <a:ea typeface="Arial"/>
                <a:cs typeface="Arial"/>
              </a:rPr>
              <a:t>100% clean-up / clean-down recovery</a:t>
            </a:r>
          </a:p>
        </p:txBody>
      </p:sp>
      <p:sp>
        <p:nvSpPr>
          <p:cNvPr id="23" name="">
            <a:extLst xmlns:a="http://schemas.openxmlformats.org/drawingml/2006/main">
              <a:ext uri="{FF2B5EF4-FFF2-40B4-BE49-F238E27FC236}">
                <a16:creationId xmlns:a16="http://schemas.microsoft.com/office/drawing/2014/main" id="{6FBF496D-FDAA-4F5B-A96C-BEE355135A0C}"/>
              </a:ext>
            </a:extLst>
          </p:cNvPr>
          <p:cNvSpPr>
            <a:spLocks xmlns:a="http://schemas.openxmlformats.org/drawingml/2006/main" noGrp="1"/>
          </p:cNvSpPr>
          <p:nvPr/>
        </p:nvSpPr>
        <p:spPr>
          <a:xfrm xmlns:a="http://schemas.openxmlformats.org/drawingml/2006/main">
            <a:off x="457200" y="3162300"/>
            <a:ext cx="1257300" cy="561975"/>
          </a:xfrm>
          <a:prstGeom xmlns:a="http://schemas.openxmlformats.org/drawingml/2006/main" prst="rect">
            <a:avLst/>
          </a:prstGeom>
          <a:solidFill xmlns:a="http://schemas.openxmlformats.org/drawingml/2006/main">
            <a:srgbClr val="F4F6F8"/>
          </a:solidFill>
          <a:ln xmlns:a="http://schemas.openxmlformats.org/drawingml/2006/main" w="9525">
            <a:solidFill>
              <a:srgbClr val="B8BCC4"/>
            </a:solidFill>
            <a:prstDash val="solid"/>
          </a:ln>
        </p:spPr>
      </p:sp>
      <p:sp>
        <p:nvSpPr>
          <p:cNvPr id="24" name="">
            <a:extLst xmlns:a="http://schemas.openxmlformats.org/drawingml/2006/main">
              <a:ext uri="{FF2B5EF4-FFF2-40B4-BE49-F238E27FC236}">
                <a16:creationId xmlns:a16="http://schemas.microsoft.com/office/drawing/2014/main" id="{AB6AB17B-180E-44B5-9F74-95428B46A325}"/>
              </a:ext>
            </a:extLst>
          </p:cNvPr>
          <p:cNvSpPr>
            <a:spLocks xmlns:a="http://schemas.openxmlformats.org/drawingml/2006/main" noGrp="1"/>
          </p:cNvSpPr>
          <p:nvPr/>
        </p:nvSpPr>
        <p:spPr>
          <a:xfrm xmlns:a="http://schemas.openxmlformats.org/drawingml/2006/main">
            <a:off x="590550" y="3314700"/>
            <a:ext cx="99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E8B57"/>
                </a:solidFill>
                <a:latin typeface="Arial"/>
                <a:ea typeface="Arial"/>
                <a:cs typeface="Arial"/>
              </a:defRPr>
            </a:pPr>
            <a:r>
              <a:rPr sz="1350" b="1">
                <a:solidFill>
                  <a:srgbClr val="2E8B57"/>
                </a:solidFill>
                <a:latin typeface="Arial"/>
                <a:ea typeface="Arial"/>
                <a:cs typeface="Arial"/>
              </a:rPr>
              <a:t>PASS</a:t>
            </a:r>
          </a:p>
        </p:txBody>
      </p:sp>
      <p:sp>
        <p:nvSpPr>
          <p:cNvPr id="25" name="">
            <a:extLst xmlns:a="http://schemas.openxmlformats.org/drawingml/2006/main">
              <a:ext uri="{FF2B5EF4-FFF2-40B4-BE49-F238E27FC236}">
                <a16:creationId xmlns:a16="http://schemas.microsoft.com/office/drawing/2014/main" id="{6E7EFF15-24C0-4EBD-974F-FBF92B6ADA95}"/>
              </a:ext>
            </a:extLst>
          </p:cNvPr>
          <p:cNvSpPr>
            <a:spLocks xmlns:a="http://schemas.openxmlformats.org/drawingml/2006/main" noGrp="1"/>
          </p:cNvSpPr>
          <p:nvPr/>
        </p:nvSpPr>
        <p:spPr>
          <a:xfrm xmlns:a="http://schemas.openxmlformats.org/drawingml/2006/main">
            <a:off x="1714500" y="3162300"/>
            <a:ext cx="3238500" cy="561975"/>
          </a:xfrm>
          <a:prstGeom xmlns:a="http://schemas.openxmlformats.org/drawingml/2006/main" prst="rect">
            <a:avLst/>
          </a:prstGeom>
          <a:solidFill xmlns:a="http://schemas.openxmlformats.org/drawingml/2006/main">
            <a:srgbClr val="F4F6F8"/>
          </a:solidFill>
          <a:ln xmlns:a="http://schemas.openxmlformats.org/drawingml/2006/main" w="9525">
            <a:solidFill>
              <a:srgbClr val="B8BCC4"/>
            </a:solidFill>
            <a:prstDash val="solid"/>
          </a:ln>
        </p:spPr>
      </p:sp>
      <p:sp>
        <p:nvSpPr>
          <p:cNvPr id="26" name="">
            <a:extLst xmlns:a="http://schemas.openxmlformats.org/drawingml/2006/main">
              <a:ext uri="{FF2B5EF4-FFF2-40B4-BE49-F238E27FC236}">
                <a16:creationId xmlns:a16="http://schemas.microsoft.com/office/drawing/2014/main" id="{79F375C7-99C1-4E7B-B9D6-D6C3E8955F9A}"/>
              </a:ext>
            </a:extLst>
          </p:cNvPr>
          <p:cNvSpPr>
            <a:spLocks xmlns:a="http://schemas.openxmlformats.org/drawingml/2006/main" noGrp="1"/>
          </p:cNvSpPr>
          <p:nvPr/>
        </p:nvSpPr>
        <p:spPr>
          <a:xfrm xmlns:a="http://schemas.openxmlformats.org/drawingml/2006/main">
            <a:off x="1847850" y="3314700"/>
            <a:ext cx="297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7202A"/>
                </a:solidFill>
                <a:latin typeface="Arial"/>
                <a:ea typeface="Arial"/>
                <a:cs typeface="Arial"/>
              </a:defRPr>
            </a:pPr>
            <a:r>
              <a:rPr sz="1350" b="0">
                <a:solidFill>
                  <a:srgbClr val="17202A"/>
                </a:solidFill>
                <a:latin typeface="Arial"/>
                <a:ea typeface="Arial"/>
                <a:cs typeface="Arial"/>
              </a:rPr>
              <a:t>Hold / fail semantics</a:t>
            </a:r>
          </a:p>
        </p:txBody>
      </p:sp>
      <p:sp>
        <p:nvSpPr>
          <p:cNvPr id="27" name="">
            <a:extLst xmlns:a="http://schemas.openxmlformats.org/drawingml/2006/main">
              <a:ext uri="{FF2B5EF4-FFF2-40B4-BE49-F238E27FC236}">
                <a16:creationId xmlns:a16="http://schemas.microsoft.com/office/drawing/2014/main" id="{3CCD9E73-323D-4A99-9B4B-67BF38363CF9}"/>
              </a:ext>
            </a:extLst>
          </p:cNvPr>
          <p:cNvSpPr>
            <a:spLocks xmlns:a="http://schemas.openxmlformats.org/drawingml/2006/main" noGrp="1"/>
          </p:cNvSpPr>
          <p:nvPr/>
        </p:nvSpPr>
        <p:spPr>
          <a:xfrm xmlns:a="http://schemas.openxmlformats.org/drawingml/2006/main">
            <a:off x="4953000" y="3162300"/>
            <a:ext cx="6477000" cy="561975"/>
          </a:xfrm>
          <a:prstGeom xmlns:a="http://schemas.openxmlformats.org/drawingml/2006/main" prst="rect">
            <a:avLst/>
          </a:prstGeom>
          <a:solidFill xmlns:a="http://schemas.openxmlformats.org/drawingml/2006/main">
            <a:srgbClr val="F4F6F8"/>
          </a:solidFill>
          <a:ln xmlns:a="http://schemas.openxmlformats.org/drawingml/2006/main" w="9525">
            <a:solidFill>
              <a:srgbClr val="B8BCC4"/>
            </a:solidFill>
            <a:prstDash val="solid"/>
          </a:ln>
        </p:spPr>
      </p:sp>
      <p:sp>
        <p:nvSpPr>
          <p:cNvPr id="28" name="">
            <a:extLst xmlns:a="http://schemas.openxmlformats.org/drawingml/2006/main">
              <a:ext uri="{FF2B5EF4-FFF2-40B4-BE49-F238E27FC236}">
                <a16:creationId xmlns:a16="http://schemas.microsoft.com/office/drawing/2014/main" id="{2BE698C1-182B-46FC-A206-9B5A772AB83A}"/>
              </a:ext>
            </a:extLst>
          </p:cNvPr>
          <p:cNvSpPr>
            <a:spLocks xmlns:a="http://schemas.openxmlformats.org/drawingml/2006/main" noGrp="1"/>
          </p:cNvSpPr>
          <p:nvPr/>
        </p:nvSpPr>
        <p:spPr>
          <a:xfrm xmlns:a="http://schemas.openxmlformats.org/drawingml/2006/main">
            <a:off x="5086350" y="3314700"/>
            <a:ext cx="621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7202A"/>
                </a:solidFill>
                <a:latin typeface="Arial"/>
                <a:ea typeface="Arial"/>
                <a:cs typeface="Arial"/>
              </a:defRPr>
            </a:pPr>
            <a:r>
              <a:rPr sz="1350" b="0">
                <a:solidFill>
                  <a:srgbClr val="17202A"/>
                </a:solidFill>
                <a:latin typeface="Arial"/>
                <a:ea typeface="Arial"/>
                <a:cs typeface="Arial"/>
              </a:rPr>
              <a:t>100% intended outcome recovery</a:t>
            </a:r>
          </a:p>
        </p:txBody>
      </p:sp>
      <p:sp>
        <p:nvSpPr>
          <p:cNvPr id="29" name="">
            <a:extLst xmlns:a="http://schemas.openxmlformats.org/drawingml/2006/main">
              <a:ext uri="{FF2B5EF4-FFF2-40B4-BE49-F238E27FC236}">
                <a16:creationId xmlns:a16="http://schemas.microsoft.com/office/drawing/2014/main" id="{80EEBDA7-1F7A-45BE-A267-83C98C9FF375}"/>
              </a:ext>
            </a:extLst>
          </p:cNvPr>
          <p:cNvSpPr>
            <a:spLocks xmlns:a="http://schemas.openxmlformats.org/drawingml/2006/main" noGrp="1"/>
          </p:cNvSpPr>
          <p:nvPr/>
        </p:nvSpPr>
        <p:spPr>
          <a:xfrm xmlns:a="http://schemas.openxmlformats.org/drawingml/2006/main">
            <a:off x="457200" y="3724275"/>
            <a:ext cx="1257300" cy="56197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0" name="">
            <a:extLst xmlns:a="http://schemas.openxmlformats.org/drawingml/2006/main">
              <a:ext uri="{FF2B5EF4-FFF2-40B4-BE49-F238E27FC236}">
                <a16:creationId xmlns:a16="http://schemas.microsoft.com/office/drawing/2014/main" id="{59CC1F88-B626-49AE-9483-131B26E4E4C3}"/>
              </a:ext>
            </a:extLst>
          </p:cNvPr>
          <p:cNvSpPr>
            <a:spLocks xmlns:a="http://schemas.openxmlformats.org/drawingml/2006/main" noGrp="1"/>
          </p:cNvSpPr>
          <p:nvPr/>
        </p:nvSpPr>
        <p:spPr>
          <a:xfrm xmlns:a="http://schemas.openxmlformats.org/drawingml/2006/main">
            <a:off x="590550" y="3876675"/>
            <a:ext cx="99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E8B57"/>
                </a:solidFill>
                <a:latin typeface="Arial"/>
                <a:ea typeface="Arial"/>
                <a:cs typeface="Arial"/>
              </a:defRPr>
            </a:pPr>
            <a:r>
              <a:rPr sz="1350" b="1">
                <a:solidFill>
                  <a:srgbClr val="2E8B57"/>
                </a:solidFill>
                <a:latin typeface="Arial"/>
                <a:ea typeface="Arial"/>
                <a:cs typeface="Arial"/>
              </a:rPr>
              <a:t>PASS</a:t>
            </a:r>
          </a:p>
        </p:txBody>
      </p:sp>
      <p:sp>
        <p:nvSpPr>
          <p:cNvPr id="31" name="">
            <a:extLst xmlns:a="http://schemas.openxmlformats.org/drawingml/2006/main">
              <a:ext uri="{FF2B5EF4-FFF2-40B4-BE49-F238E27FC236}">
                <a16:creationId xmlns:a16="http://schemas.microsoft.com/office/drawing/2014/main" id="{9499B7BE-E26F-4DB6-B8EA-5E2CE583D9A5}"/>
              </a:ext>
            </a:extLst>
          </p:cNvPr>
          <p:cNvSpPr>
            <a:spLocks xmlns:a="http://schemas.openxmlformats.org/drawingml/2006/main" noGrp="1"/>
          </p:cNvSpPr>
          <p:nvPr/>
        </p:nvSpPr>
        <p:spPr>
          <a:xfrm xmlns:a="http://schemas.openxmlformats.org/drawingml/2006/main">
            <a:off x="1714500" y="3724275"/>
            <a:ext cx="3238500" cy="56197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2" name="">
            <a:extLst xmlns:a="http://schemas.openxmlformats.org/drawingml/2006/main">
              <a:ext uri="{FF2B5EF4-FFF2-40B4-BE49-F238E27FC236}">
                <a16:creationId xmlns:a16="http://schemas.microsoft.com/office/drawing/2014/main" id="{46C3BD33-A65A-4FA1-9C2C-4D73E55961E5}"/>
              </a:ext>
            </a:extLst>
          </p:cNvPr>
          <p:cNvSpPr>
            <a:spLocks xmlns:a="http://schemas.openxmlformats.org/drawingml/2006/main" noGrp="1"/>
          </p:cNvSpPr>
          <p:nvPr/>
        </p:nvSpPr>
        <p:spPr>
          <a:xfrm xmlns:a="http://schemas.openxmlformats.org/drawingml/2006/main">
            <a:off x="1847850" y="3876675"/>
            <a:ext cx="297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7202A"/>
                </a:solidFill>
                <a:latin typeface="Arial"/>
                <a:ea typeface="Arial"/>
                <a:cs typeface="Arial"/>
              </a:defRPr>
            </a:pPr>
            <a:r>
              <a:rPr sz="1350" b="0">
                <a:solidFill>
                  <a:srgbClr val="17202A"/>
                </a:solidFill>
                <a:latin typeface="Arial"/>
                <a:ea typeface="Arial"/>
                <a:cs typeface="Arial"/>
              </a:rPr>
              <a:t>Scale invariance</a:t>
            </a:r>
          </a:p>
        </p:txBody>
      </p:sp>
      <p:sp>
        <p:nvSpPr>
          <p:cNvPr id="33" name="">
            <a:extLst xmlns:a="http://schemas.openxmlformats.org/drawingml/2006/main">
              <a:ext uri="{FF2B5EF4-FFF2-40B4-BE49-F238E27FC236}">
                <a16:creationId xmlns:a16="http://schemas.microsoft.com/office/drawing/2014/main" id="{363BC526-B940-4A88-A375-72181AE73C0A}"/>
              </a:ext>
            </a:extLst>
          </p:cNvPr>
          <p:cNvSpPr>
            <a:spLocks xmlns:a="http://schemas.openxmlformats.org/drawingml/2006/main" noGrp="1"/>
          </p:cNvSpPr>
          <p:nvPr/>
        </p:nvSpPr>
        <p:spPr>
          <a:xfrm xmlns:a="http://schemas.openxmlformats.org/drawingml/2006/main">
            <a:off x="4953000" y="3724275"/>
            <a:ext cx="6477000" cy="56197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4" name="">
            <a:extLst xmlns:a="http://schemas.openxmlformats.org/drawingml/2006/main">
              <a:ext uri="{FF2B5EF4-FFF2-40B4-BE49-F238E27FC236}">
                <a16:creationId xmlns:a16="http://schemas.microsoft.com/office/drawing/2014/main" id="{464A4709-A049-4C19-ABB3-05AC49A8D81B}"/>
              </a:ext>
            </a:extLst>
          </p:cNvPr>
          <p:cNvSpPr>
            <a:spLocks xmlns:a="http://schemas.openxmlformats.org/drawingml/2006/main" noGrp="1"/>
          </p:cNvSpPr>
          <p:nvPr/>
        </p:nvSpPr>
        <p:spPr>
          <a:xfrm xmlns:a="http://schemas.openxmlformats.org/drawingml/2006/main">
            <a:off x="5086350" y="3876675"/>
            <a:ext cx="621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7202A"/>
                </a:solidFill>
                <a:latin typeface="Arial"/>
                <a:ea typeface="Arial"/>
                <a:cs typeface="Arial"/>
              </a:defRPr>
            </a:pPr>
            <a:r>
              <a:rPr sz="1350" b="0">
                <a:solidFill>
                  <a:srgbClr val="17202A"/>
                </a:solidFill>
                <a:latin typeface="Arial"/>
                <a:ea typeface="Arial"/>
                <a:cs typeface="Arial"/>
              </a:rPr>
              <a:t>max difference 2.44e−15</a:t>
            </a:r>
          </a:p>
        </p:txBody>
      </p:sp>
      <p:sp>
        <p:nvSpPr>
          <p:cNvPr id="35" name="">
            <a:extLst xmlns:a="http://schemas.openxmlformats.org/drawingml/2006/main">
              <a:ext uri="{FF2B5EF4-FFF2-40B4-BE49-F238E27FC236}">
                <a16:creationId xmlns:a16="http://schemas.microsoft.com/office/drawing/2014/main" id="{1B0DD81F-9D5F-499C-A4E0-31BB54520C69}"/>
              </a:ext>
            </a:extLst>
          </p:cNvPr>
          <p:cNvSpPr>
            <a:spLocks xmlns:a="http://schemas.openxmlformats.org/drawingml/2006/main" noGrp="1"/>
          </p:cNvSpPr>
          <p:nvPr/>
        </p:nvSpPr>
        <p:spPr>
          <a:xfrm xmlns:a="http://schemas.openxmlformats.org/drawingml/2006/main">
            <a:off x="457200" y="4286250"/>
            <a:ext cx="1257300" cy="561975"/>
          </a:xfrm>
          <a:prstGeom xmlns:a="http://schemas.openxmlformats.org/drawingml/2006/main" prst="rect">
            <a:avLst/>
          </a:prstGeom>
          <a:solidFill xmlns:a="http://schemas.openxmlformats.org/drawingml/2006/main">
            <a:srgbClr val="F4F6F8"/>
          </a:solidFill>
          <a:ln xmlns:a="http://schemas.openxmlformats.org/drawingml/2006/main" w="9525">
            <a:solidFill>
              <a:srgbClr val="B8BCC4"/>
            </a:solidFill>
            <a:prstDash val="solid"/>
          </a:ln>
        </p:spPr>
      </p:sp>
      <p:sp>
        <p:nvSpPr>
          <p:cNvPr id="36" name="">
            <a:extLst xmlns:a="http://schemas.openxmlformats.org/drawingml/2006/main">
              <a:ext uri="{FF2B5EF4-FFF2-40B4-BE49-F238E27FC236}">
                <a16:creationId xmlns:a16="http://schemas.microsoft.com/office/drawing/2014/main" id="{2EF0A9A2-1A8D-417A-B984-FF75BA173294}"/>
              </a:ext>
            </a:extLst>
          </p:cNvPr>
          <p:cNvSpPr>
            <a:spLocks xmlns:a="http://schemas.openxmlformats.org/drawingml/2006/main" noGrp="1"/>
          </p:cNvSpPr>
          <p:nvPr/>
        </p:nvSpPr>
        <p:spPr>
          <a:xfrm xmlns:a="http://schemas.openxmlformats.org/drawingml/2006/main">
            <a:off x="590550" y="4438650"/>
            <a:ext cx="99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E8B57"/>
                </a:solidFill>
                <a:latin typeface="Arial"/>
                <a:ea typeface="Arial"/>
                <a:cs typeface="Arial"/>
              </a:defRPr>
            </a:pPr>
            <a:r>
              <a:rPr sz="1350" b="1">
                <a:solidFill>
                  <a:srgbClr val="2E8B57"/>
                </a:solidFill>
                <a:latin typeface="Arial"/>
                <a:ea typeface="Arial"/>
                <a:cs typeface="Arial"/>
              </a:rPr>
              <a:t>PASS</a:t>
            </a:r>
          </a:p>
        </p:txBody>
      </p:sp>
      <p:sp>
        <p:nvSpPr>
          <p:cNvPr id="37" name="">
            <a:extLst xmlns:a="http://schemas.openxmlformats.org/drawingml/2006/main">
              <a:ext uri="{FF2B5EF4-FFF2-40B4-BE49-F238E27FC236}">
                <a16:creationId xmlns:a16="http://schemas.microsoft.com/office/drawing/2014/main" id="{E680F42C-6D74-474D-8B11-F5970F17BF7C}"/>
              </a:ext>
            </a:extLst>
          </p:cNvPr>
          <p:cNvSpPr>
            <a:spLocks xmlns:a="http://schemas.openxmlformats.org/drawingml/2006/main" noGrp="1"/>
          </p:cNvSpPr>
          <p:nvPr/>
        </p:nvSpPr>
        <p:spPr>
          <a:xfrm xmlns:a="http://schemas.openxmlformats.org/drawingml/2006/main">
            <a:off x="1714500" y="4286250"/>
            <a:ext cx="3238500" cy="561975"/>
          </a:xfrm>
          <a:prstGeom xmlns:a="http://schemas.openxmlformats.org/drawingml/2006/main" prst="rect">
            <a:avLst/>
          </a:prstGeom>
          <a:solidFill xmlns:a="http://schemas.openxmlformats.org/drawingml/2006/main">
            <a:srgbClr val="F4F6F8"/>
          </a:solidFill>
          <a:ln xmlns:a="http://schemas.openxmlformats.org/drawingml/2006/main" w="9525">
            <a:solidFill>
              <a:srgbClr val="B8BCC4"/>
            </a:solidFill>
            <a:prstDash val="solid"/>
          </a:ln>
        </p:spPr>
      </p:sp>
      <p:sp>
        <p:nvSpPr>
          <p:cNvPr id="38" name="">
            <a:extLst xmlns:a="http://schemas.openxmlformats.org/drawingml/2006/main">
              <a:ext uri="{FF2B5EF4-FFF2-40B4-BE49-F238E27FC236}">
                <a16:creationId xmlns:a16="http://schemas.microsoft.com/office/drawing/2014/main" id="{27B697D4-8C94-4A1A-A780-D909755FA109}"/>
              </a:ext>
            </a:extLst>
          </p:cNvPr>
          <p:cNvSpPr>
            <a:spLocks xmlns:a="http://schemas.openxmlformats.org/drawingml/2006/main" noGrp="1"/>
          </p:cNvSpPr>
          <p:nvPr/>
        </p:nvSpPr>
        <p:spPr>
          <a:xfrm xmlns:a="http://schemas.openxmlformats.org/drawingml/2006/main">
            <a:off x="1847850" y="4438650"/>
            <a:ext cx="297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7202A"/>
                </a:solidFill>
                <a:latin typeface="Arial"/>
                <a:ea typeface="Arial"/>
                <a:cs typeface="Arial"/>
              </a:defRPr>
            </a:pPr>
            <a:r>
              <a:rPr sz="1350" b="0">
                <a:solidFill>
                  <a:srgbClr val="17202A"/>
                </a:solidFill>
                <a:latin typeface="Arial"/>
                <a:ea typeface="Arial"/>
                <a:cs typeface="Arial"/>
              </a:rPr>
              <a:t>Append causality</a:t>
            </a:r>
          </a:p>
        </p:txBody>
      </p:sp>
      <p:sp>
        <p:nvSpPr>
          <p:cNvPr id="39" name="">
            <a:extLst xmlns:a="http://schemas.openxmlformats.org/drawingml/2006/main">
              <a:ext uri="{FF2B5EF4-FFF2-40B4-BE49-F238E27FC236}">
                <a16:creationId xmlns:a16="http://schemas.microsoft.com/office/drawing/2014/main" id="{E7620EFC-293D-493B-8AC6-B6B727C85D24}"/>
              </a:ext>
            </a:extLst>
          </p:cNvPr>
          <p:cNvSpPr>
            <a:spLocks xmlns:a="http://schemas.openxmlformats.org/drawingml/2006/main" noGrp="1"/>
          </p:cNvSpPr>
          <p:nvPr/>
        </p:nvSpPr>
        <p:spPr>
          <a:xfrm xmlns:a="http://schemas.openxmlformats.org/drawingml/2006/main">
            <a:off x="4953000" y="4286250"/>
            <a:ext cx="6477000" cy="561975"/>
          </a:xfrm>
          <a:prstGeom xmlns:a="http://schemas.openxmlformats.org/drawingml/2006/main" prst="rect">
            <a:avLst/>
          </a:prstGeom>
          <a:solidFill xmlns:a="http://schemas.openxmlformats.org/drawingml/2006/main">
            <a:srgbClr val="F4F6F8"/>
          </a:solidFill>
          <a:ln xmlns:a="http://schemas.openxmlformats.org/drawingml/2006/main" w="9525">
            <a:solidFill>
              <a:srgbClr val="B8BCC4"/>
            </a:solidFill>
            <a:prstDash val="solid"/>
          </a:ln>
        </p:spPr>
      </p:sp>
      <p:sp>
        <p:nvSpPr>
          <p:cNvPr id="40" name="">
            <a:extLst xmlns:a="http://schemas.openxmlformats.org/drawingml/2006/main">
              <a:ext uri="{FF2B5EF4-FFF2-40B4-BE49-F238E27FC236}">
                <a16:creationId xmlns:a16="http://schemas.microsoft.com/office/drawing/2014/main" id="{C84F848A-8B69-4D3A-B63F-8E356DDCAA63}"/>
              </a:ext>
            </a:extLst>
          </p:cNvPr>
          <p:cNvSpPr>
            <a:spLocks xmlns:a="http://schemas.openxmlformats.org/drawingml/2006/main" noGrp="1"/>
          </p:cNvSpPr>
          <p:nvPr/>
        </p:nvSpPr>
        <p:spPr>
          <a:xfrm xmlns:a="http://schemas.openxmlformats.org/drawingml/2006/main">
            <a:off x="5086350" y="4438650"/>
            <a:ext cx="621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7202A"/>
                </a:solidFill>
                <a:latin typeface="Arial"/>
                <a:ea typeface="Arial"/>
                <a:cs typeface="Arial"/>
              </a:defRPr>
            </a:pPr>
            <a:r>
              <a:rPr sz="1350" b="0">
                <a:solidFill>
                  <a:srgbClr val="17202A"/>
                </a:solidFill>
                <a:latin typeface="Arial"/>
                <a:ea typeface="Arial"/>
                <a:cs typeface="Arial"/>
              </a:rPr>
              <a:t>19/19 columns exact</a:t>
            </a:r>
          </a:p>
        </p:txBody>
      </p:sp>
      <p:sp>
        <p:nvSpPr>
          <p:cNvPr id="41" name="">
            <a:extLst xmlns:a="http://schemas.openxmlformats.org/drawingml/2006/main">
              <a:ext uri="{FF2B5EF4-FFF2-40B4-BE49-F238E27FC236}">
                <a16:creationId xmlns:a16="http://schemas.microsoft.com/office/drawing/2014/main" id="{13CBBB5A-CA84-42AE-B549-C773901F2B62}"/>
              </a:ext>
            </a:extLst>
          </p:cNvPr>
          <p:cNvSpPr>
            <a:spLocks xmlns:a="http://schemas.openxmlformats.org/drawingml/2006/main" noGrp="1"/>
          </p:cNvSpPr>
          <p:nvPr/>
        </p:nvSpPr>
        <p:spPr>
          <a:xfrm xmlns:a="http://schemas.openxmlformats.org/drawingml/2006/main">
            <a:off x="457200" y="4848225"/>
            <a:ext cx="1257300" cy="56197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42" name="">
            <a:extLst xmlns:a="http://schemas.openxmlformats.org/drawingml/2006/main">
              <a:ext uri="{FF2B5EF4-FFF2-40B4-BE49-F238E27FC236}">
                <a16:creationId xmlns:a16="http://schemas.microsoft.com/office/drawing/2014/main" id="{F451C072-B190-452F-951A-138E1C94B8A4}"/>
              </a:ext>
            </a:extLst>
          </p:cNvPr>
          <p:cNvSpPr>
            <a:spLocks xmlns:a="http://schemas.openxmlformats.org/drawingml/2006/main" noGrp="1"/>
          </p:cNvSpPr>
          <p:nvPr/>
        </p:nvSpPr>
        <p:spPr>
          <a:xfrm xmlns:a="http://schemas.openxmlformats.org/drawingml/2006/main">
            <a:off x="590550" y="5000625"/>
            <a:ext cx="99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E8B57"/>
                </a:solidFill>
                <a:latin typeface="Arial"/>
                <a:ea typeface="Arial"/>
                <a:cs typeface="Arial"/>
              </a:defRPr>
            </a:pPr>
            <a:r>
              <a:rPr sz="1350" b="1">
                <a:solidFill>
                  <a:srgbClr val="2E8B57"/>
                </a:solidFill>
                <a:latin typeface="Arial"/>
                <a:ea typeface="Arial"/>
                <a:cs typeface="Arial"/>
              </a:rPr>
              <a:t>PASS</a:t>
            </a:r>
          </a:p>
        </p:txBody>
      </p:sp>
      <p:sp>
        <p:nvSpPr>
          <p:cNvPr id="43" name="">
            <a:extLst xmlns:a="http://schemas.openxmlformats.org/drawingml/2006/main">
              <a:ext uri="{FF2B5EF4-FFF2-40B4-BE49-F238E27FC236}">
                <a16:creationId xmlns:a16="http://schemas.microsoft.com/office/drawing/2014/main" id="{E51D1184-725D-4118-9685-A493DADEDEC7}"/>
              </a:ext>
            </a:extLst>
          </p:cNvPr>
          <p:cNvSpPr>
            <a:spLocks xmlns:a="http://schemas.openxmlformats.org/drawingml/2006/main" noGrp="1"/>
          </p:cNvSpPr>
          <p:nvPr/>
        </p:nvSpPr>
        <p:spPr>
          <a:xfrm xmlns:a="http://schemas.openxmlformats.org/drawingml/2006/main">
            <a:off x="1714500" y="4848225"/>
            <a:ext cx="3238500" cy="56197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44" name="">
            <a:extLst xmlns:a="http://schemas.openxmlformats.org/drawingml/2006/main">
              <a:ext uri="{FF2B5EF4-FFF2-40B4-BE49-F238E27FC236}">
                <a16:creationId xmlns:a16="http://schemas.microsoft.com/office/drawing/2014/main" id="{CE883360-C18D-4655-AD0D-C71F3D935A14}"/>
              </a:ext>
            </a:extLst>
          </p:cNvPr>
          <p:cNvSpPr>
            <a:spLocks xmlns:a="http://schemas.openxmlformats.org/drawingml/2006/main" noGrp="1"/>
          </p:cNvSpPr>
          <p:nvPr/>
        </p:nvSpPr>
        <p:spPr>
          <a:xfrm xmlns:a="http://schemas.openxmlformats.org/drawingml/2006/main">
            <a:off x="1847850" y="5000625"/>
            <a:ext cx="297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7202A"/>
                </a:solidFill>
                <a:latin typeface="Arial"/>
                <a:ea typeface="Arial"/>
                <a:cs typeface="Arial"/>
              </a:defRPr>
            </a:pPr>
            <a:r>
              <a:rPr sz="1350" b="0">
                <a:solidFill>
                  <a:srgbClr val="17202A"/>
                </a:solidFill>
                <a:latin typeface="Arial"/>
                <a:ea typeface="Arial"/>
                <a:cs typeface="Arial"/>
              </a:rPr>
              <a:t>State and event rules</a:t>
            </a:r>
          </a:p>
        </p:txBody>
      </p:sp>
      <p:sp>
        <p:nvSpPr>
          <p:cNvPr id="45" name="">
            <a:extLst xmlns:a="http://schemas.openxmlformats.org/drawingml/2006/main">
              <a:ext uri="{FF2B5EF4-FFF2-40B4-BE49-F238E27FC236}">
                <a16:creationId xmlns:a16="http://schemas.microsoft.com/office/drawing/2014/main" id="{33AEDB37-18D5-4700-82BD-D95E36C57161}"/>
              </a:ext>
            </a:extLst>
          </p:cNvPr>
          <p:cNvSpPr>
            <a:spLocks xmlns:a="http://schemas.openxmlformats.org/drawingml/2006/main" noGrp="1"/>
          </p:cNvSpPr>
          <p:nvPr/>
        </p:nvSpPr>
        <p:spPr>
          <a:xfrm xmlns:a="http://schemas.openxmlformats.org/drawingml/2006/main">
            <a:off x="4953000" y="4848225"/>
            <a:ext cx="6477000" cy="561975"/>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46" name="">
            <a:extLst xmlns:a="http://schemas.openxmlformats.org/drawingml/2006/main">
              <a:ext uri="{FF2B5EF4-FFF2-40B4-BE49-F238E27FC236}">
                <a16:creationId xmlns:a16="http://schemas.microsoft.com/office/drawing/2014/main" id="{B2D77F26-0B5C-4449-870A-D105D2DB3D11}"/>
              </a:ext>
            </a:extLst>
          </p:cNvPr>
          <p:cNvSpPr>
            <a:spLocks xmlns:a="http://schemas.openxmlformats.org/drawingml/2006/main" noGrp="1"/>
          </p:cNvSpPr>
          <p:nvPr/>
        </p:nvSpPr>
        <p:spPr>
          <a:xfrm xmlns:a="http://schemas.openxmlformats.org/drawingml/2006/main">
            <a:off x="5086350" y="5000625"/>
            <a:ext cx="621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7202A"/>
                </a:solidFill>
                <a:latin typeface="Arial"/>
                <a:ea typeface="Arial"/>
                <a:cs typeface="Arial"/>
              </a:defRPr>
            </a:pPr>
            <a:r>
              <a:rPr sz="1350" b="0">
                <a:solidFill>
                  <a:srgbClr val="17202A"/>
                </a:solidFill>
                <a:latin typeface="Arial"/>
                <a:ea typeface="Arial"/>
                <a:cs typeface="Arial"/>
              </a:rPr>
              <a:t>0 semantic violations</a:t>
            </a:r>
          </a:p>
        </p:txBody>
      </p:sp>
      <p:sp>
        <p:nvSpPr>
          <p:cNvPr id="47" name="">
            <a:extLst xmlns:a="http://schemas.openxmlformats.org/drawingml/2006/main">
              <a:ext uri="{FF2B5EF4-FFF2-40B4-BE49-F238E27FC236}">
                <a16:creationId xmlns:a16="http://schemas.microsoft.com/office/drawing/2014/main" id="{F993230E-66E4-415D-91B6-A6946CC9529F}"/>
              </a:ext>
            </a:extLst>
          </p:cNvPr>
          <p:cNvSpPr>
            <a:spLocks xmlns:a="http://schemas.openxmlformats.org/drawingml/2006/main" noGrp="1"/>
          </p:cNvSpPr>
          <p:nvPr/>
        </p:nvSpPr>
        <p:spPr>
          <a:xfrm xmlns:a="http://schemas.openxmlformats.org/drawingml/2006/main">
            <a:off x="457200" y="5410200"/>
            <a:ext cx="1257300" cy="561975"/>
          </a:xfrm>
          <a:prstGeom xmlns:a="http://schemas.openxmlformats.org/drawingml/2006/main" prst="rect">
            <a:avLst/>
          </a:prstGeom>
          <a:solidFill xmlns:a="http://schemas.openxmlformats.org/drawingml/2006/main">
            <a:srgbClr val="F4F6F8"/>
          </a:solidFill>
          <a:ln xmlns:a="http://schemas.openxmlformats.org/drawingml/2006/main" w="9525">
            <a:solidFill>
              <a:srgbClr val="B8BCC4"/>
            </a:solidFill>
            <a:prstDash val="solid"/>
          </a:ln>
        </p:spPr>
      </p:sp>
      <p:sp>
        <p:nvSpPr>
          <p:cNvPr id="48" name="">
            <a:extLst xmlns:a="http://schemas.openxmlformats.org/drawingml/2006/main">
              <a:ext uri="{FF2B5EF4-FFF2-40B4-BE49-F238E27FC236}">
                <a16:creationId xmlns:a16="http://schemas.microsoft.com/office/drawing/2014/main" id="{7BFF5E0A-3DB4-4B0C-86DF-82441BA27626}"/>
              </a:ext>
            </a:extLst>
          </p:cNvPr>
          <p:cNvSpPr>
            <a:spLocks xmlns:a="http://schemas.openxmlformats.org/drawingml/2006/main" noGrp="1"/>
          </p:cNvSpPr>
          <p:nvPr/>
        </p:nvSpPr>
        <p:spPr>
          <a:xfrm xmlns:a="http://schemas.openxmlformats.org/drawingml/2006/main">
            <a:off x="590550" y="5562600"/>
            <a:ext cx="99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2E8B57"/>
                </a:solidFill>
                <a:latin typeface="Arial"/>
                <a:ea typeface="Arial"/>
                <a:cs typeface="Arial"/>
              </a:defRPr>
            </a:pPr>
            <a:r>
              <a:rPr sz="1350" b="1">
                <a:solidFill>
                  <a:srgbClr val="2E8B57"/>
                </a:solidFill>
                <a:latin typeface="Arial"/>
                <a:ea typeface="Arial"/>
                <a:cs typeface="Arial"/>
              </a:rPr>
              <a:t>PASS</a:t>
            </a:r>
          </a:p>
        </p:txBody>
      </p:sp>
      <p:sp>
        <p:nvSpPr>
          <p:cNvPr id="49" name="">
            <a:extLst xmlns:a="http://schemas.openxmlformats.org/drawingml/2006/main">
              <a:ext uri="{FF2B5EF4-FFF2-40B4-BE49-F238E27FC236}">
                <a16:creationId xmlns:a16="http://schemas.microsoft.com/office/drawing/2014/main" id="{1D020937-F9A9-4695-BA78-4D44AF98217B}"/>
              </a:ext>
            </a:extLst>
          </p:cNvPr>
          <p:cNvSpPr>
            <a:spLocks xmlns:a="http://schemas.openxmlformats.org/drawingml/2006/main" noGrp="1"/>
          </p:cNvSpPr>
          <p:nvPr/>
        </p:nvSpPr>
        <p:spPr>
          <a:xfrm xmlns:a="http://schemas.openxmlformats.org/drawingml/2006/main">
            <a:off x="1714500" y="5410200"/>
            <a:ext cx="3238500" cy="561975"/>
          </a:xfrm>
          <a:prstGeom xmlns:a="http://schemas.openxmlformats.org/drawingml/2006/main" prst="rect">
            <a:avLst/>
          </a:prstGeom>
          <a:solidFill xmlns:a="http://schemas.openxmlformats.org/drawingml/2006/main">
            <a:srgbClr val="F4F6F8"/>
          </a:solidFill>
          <a:ln xmlns:a="http://schemas.openxmlformats.org/drawingml/2006/main" w="9525">
            <a:solidFill>
              <a:srgbClr val="B8BCC4"/>
            </a:solidFill>
            <a:prstDash val="solid"/>
          </a:ln>
        </p:spPr>
      </p:sp>
      <p:sp>
        <p:nvSpPr>
          <p:cNvPr id="50" name="">
            <a:extLst xmlns:a="http://schemas.openxmlformats.org/drawingml/2006/main">
              <a:ext uri="{FF2B5EF4-FFF2-40B4-BE49-F238E27FC236}">
                <a16:creationId xmlns:a16="http://schemas.microsoft.com/office/drawing/2014/main" id="{9E9DD727-480C-484B-BE3A-EB631B802EC2}"/>
              </a:ext>
            </a:extLst>
          </p:cNvPr>
          <p:cNvSpPr>
            <a:spLocks xmlns:a="http://schemas.openxmlformats.org/drawingml/2006/main" noGrp="1"/>
          </p:cNvSpPr>
          <p:nvPr/>
        </p:nvSpPr>
        <p:spPr>
          <a:xfrm xmlns:a="http://schemas.openxmlformats.org/drawingml/2006/main">
            <a:off x="1847850" y="5562600"/>
            <a:ext cx="297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7202A"/>
                </a:solidFill>
                <a:latin typeface="Arial"/>
                <a:ea typeface="Arial"/>
                <a:cs typeface="Arial"/>
              </a:defRPr>
            </a:pPr>
            <a:r>
              <a:rPr sz="1350" b="0">
                <a:solidFill>
                  <a:srgbClr val="17202A"/>
                </a:solidFill>
                <a:latin typeface="Arial"/>
                <a:ea typeface="Arial"/>
                <a:cs typeface="Arial"/>
              </a:rPr>
              <a:t>Real-panel usability</a:t>
            </a:r>
          </a:p>
        </p:txBody>
      </p:sp>
      <p:sp>
        <p:nvSpPr>
          <p:cNvPr id="51" name="">
            <a:extLst xmlns:a="http://schemas.openxmlformats.org/drawingml/2006/main">
              <a:ext uri="{FF2B5EF4-FFF2-40B4-BE49-F238E27FC236}">
                <a16:creationId xmlns:a16="http://schemas.microsoft.com/office/drawing/2014/main" id="{26B0A76B-967E-4C6A-A035-35C7590265D2}"/>
              </a:ext>
            </a:extLst>
          </p:cNvPr>
          <p:cNvSpPr>
            <a:spLocks xmlns:a="http://schemas.openxmlformats.org/drawingml/2006/main" noGrp="1"/>
          </p:cNvSpPr>
          <p:nvPr/>
        </p:nvSpPr>
        <p:spPr>
          <a:xfrm xmlns:a="http://schemas.openxmlformats.org/drawingml/2006/main">
            <a:off x="4953000" y="5410200"/>
            <a:ext cx="6477000" cy="561975"/>
          </a:xfrm>
          <a:prstGeom xmlns:a="http://schemas.openxmlformats.org/drawingml/2006/main" prst="rect">
            <a:avLst/>
          </a:prstGeom>
          <a:solidFill xmlns:a="http://schemas.openxmlformats.org/drawingml/2006/main">
            <a:srgbClr val="F4F6F8"/>
          </a:solidFill>
          <a:ln xmlns:a="http://schemas.openxmlformats.org/drawingml/2006/main" w="9525">
            <a:solidFill>
              <a:srgbClr val="B8BCC4"/>
            </a:solidFill>
            <a:prstDash val="solid"/>
          </a:ln>
        </p:spPr>
      </p:sp>
      <p:sp>
        <p:nvSpPr>
          <p:cNvPr id="52" name="">
            <a:extLst xmlns:a="http://schemas.openxmlformats.org/drawingml/2006/main">
              <a:ext uri="{FF2B5EF4-FFF2-40B4-BE49-F238E27FC236}">
                <a16:creationId xmlns:a16="http://schemas.microsoft.com/office/drawing/2014/main" id="{513515D9-A193-4736-9CC6-EFF2CB8CF251}"/>
              </a:ext>
            </a:extLst>
          </p:cNvPr>
          <p:cNvSpPr>
            <a:spLocks xmlns:a="http://schemas.openxmlformats.org/drawingml/2006/main" noGrp="1"/>
          </p:cNvSpPr>
          <p:nvPr/>
        </p:nvSpPr>
        <p:spPr>
          <a:xfrm xmlns:a="http://schemas.openxmlformats.org/drawingml/2006/main">
            <a:off x="5086350" y="5562600"/>
            <a:ext cx="621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7202A"/>
                </a:solidFill>
                <a:latin typeface="Arial"/>
                <a:ea typeface="Arial"/>
                <a:cs typeface="Arial"/>
              </a:defRPr>
            </a:pPr>
            <a:r>
              <a:rPr sz="1350" b="0">
                <a:solidFill>
                  <a:srgbClr val="17202A"/>
                </a:solidFill>
                <a:latin typeface="Arial"/>
                <a:ea typeface="Arial"/>
                <a:cs typeface="Arial"/>
              </a:rPr>
              <a:t>24/24 occupancy and cross usable</a:t>
            </a:r>
          </a:p>
        </p:txBody>
      </p:sp>
      <p:sp>
        <p:nvSpPr>
          <p:cNvPr id="53" name="">
            <a:extLst xmlns:a="http://schemas.openxmlformats.org/drawingml/2006/main">
              <a:ext uri="{FF2B5EF4-FFF2-40B4-BE49-F238E27FC236}">
                <a16:creationId xmlns:a16="http://schemas.microsoft.com/office/drawing/2014/main" id="{A361991A-110C-4302-AB6E-1F566188AA95}"/>
              </a:ext>
            </a:extLst>
          </p:cNvPr>
          <p:cNvSpPr>
            <a:spLocks xmlns:a="http://schemas.openxmlformats.org/drawingml/2006/main" noGrp="1"/>
          </p:cNvSpPr>
          <p:nvPr/>
        </p:nvSpPr>
        <p:spPr>
          <a:xfrm xmlns:a="http://schemas.openxmlformats.org/drawingml/2006/main">
            <a:off x="457200" y="61150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Stage A authorized strategy contact; it did not predict strategy success.</a:t>
            </a:r>
          </a:p>
        </p:txBody>
      </p:sp>
    </p:spTree>
    <p:extLst>
      <p:ext uri="{BB962C8B-B14F-4D97-AF65-F5344CB8AC3E}">
        <p14:creationId xmlns:p14="http://schemas.microsoft.com/office/powerpoint/2010/main" val="36673113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FED91AB-363A-4688-8D63-2B5CB4C82894}"/>
              </a:ext>
            </a:extLst>
          </p:cNvPr>
          <p:cNvSpPr>
            <a:spLocks xmlns:a="http://schemas.openxmlformats.org/drawingml/2006/main" noGrp="1"/>
          </p:cNvSpPr>
          <p:nvPr/>
        </p:nvSpPr>
        <p:spPr>
          <a:xfrm xmlns:a="http://schemas.openxmlformats.org/drawingml/2006/main">
            <a:off x="457200" y="19050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3D8DFF"/>
                </a:solidFill>
                <a:latin typeface="Arial"/>
                <a:ea typeface="Arial"/>
                <a:cs typeface="Arial"/>
              </a:defRPr>
            </a:pPr>
            <a:r>
              <a:rPr sz="975" b="1">
                <a:solidFill>
                  <a:srgbClr val="3D8DFF"/>
                </a:solidFill>
                <a:latin typeface="Arial"/>
                <a:ea typeface="Arial"/>
                <a:cs typeface="Arial"/>
              </a:rPr>
              <a:t>REAL-PANEL MEASUREMENT</a:t>
            </a:r>
          </a:p>
        </p:txBody>
      </p:sp>
      <p:sp>
        <p:nvSpPr>
          <p:cNvPr id="2" name="">
            <a:extLst xmlns:a="http://schemas.openxmlformats.org/drawingml/2006/main">
              <a:ext uri="{FF2B5EF4-FFF2-40B4-BE49-F238E27FC236}">
                <a16:creationId xmlns:a16="http://schemas.microsoft.com/office/drawing/2014/main" id="{1261A952-7CB2-4FBB-BDB7-0F9C27169D3D}"/>
              </a:ext>
            </a:extLst>
          </p:cNvPr>
          <p:cNvSpPr>
            <a:spLocks xmlns:a="http://schemas.openxmlformats.org/drawingml/2006/main" noGrp="1"/>
          </p:cNvSpPr>
          <p:nvPr/>
        </p:nvSpPr>
        <p:spPr>
          <a:xfrm xmlns:a="http://schemas.openxmlformats.org/drawingml/2006/main">
            <a:off x="457200" y="466725"/>
            <a:ext cx="110490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17202A"/>
                </a:solidFill>
                <a:latin typeface="Arial"/>
                <a:ea typeface="Arial"/>
                <a:cs typeface="Arial"/>
              </a:defRPr>
            </a:pPr>
            <a:r>
              <a:rPr sz="2700" b="1">
                <a:solidFill>
                  <a:srgbClr val="17202A"/>
                </a:solidFill>
                <a:latin typeface="Arial"/>
                <a:ea typeface="Arial"/>
                <a:cs typeface="Arial"/>
              </a:rPr>
              <a:t>Upper-range residence was common and broadly observable</a:t>
            </a:r>
          </a:p>
        </p:txBody>
      </p:sp>
      <p:sp>
        <p:nvSpPr>
          <p:cNvPr id="3" name="">
            <a:extLst xmlns:a="http://schemas.openxmlformats.org/drawingml/2006/main">
              <a:ext uri="{FF2B5EF4-FFF2-40B4-BE49-F238E27FC236}">
                <a16:creationId xmlns:a16="http://schemas.microsoft.com/office/drawing/2014/main" id="{92BE3AB7-1DDE-48EB-9165-30CF617C94E6}"/>
              </a:ext>
            </a:extLst>
          </p:cNvPr>
          <p:cNvSpPr>
            <a:spLocks xmlns:a="http://schemas.openxmlformats.org/drawingml/2006/main" noGrp="1"/>
          </p:cNvSpPr>
          <p:nvPr/>
        </p:nvSpPr>
        <p:spPr>
          <a:xfrm xmlns:a="http://schemas.openxmlformats.org/drawingml/2006/main">
            <a:off x="457200" y="1295400"/>
            <a:ext cx="112776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440DB69-1322-441B-9C01-6FEFA2E0A340}"/>
              </a:ext>
            </a:extLst>
          </p:cNvPr>
          <p:cNvSpPr>
            <a:spLocks xmlns:a="http://schemas.openxmlformats.org/drawingml/2006/main" noGrp="1"/>
          </p:cNvSpPr>
          <p:nvPr/>
        </p:nvSpPr>
        <p:spPr>
          <a:xfrm xmlns:a="http://schemas.openxmlformats.org/drawingml/2006/main">
            <a:off x="112585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68727D"/>
                </a:solidFill>
                <a:latin typeface="Arial"/>
                <a:ea typeface="Arial"/>
                <a:cs typeface="Arial"/>
              </a:defRPr>
            </a:pPr>
            <a:r>
              <a:rPr sz="975" b="0">
                <a:solidFill>
                  <a:srgbClr val="68727D"/>
                </a:solidFill>
                <a:latin typeface="Arial"/>
                <a:ea typeface="Arial"/>
                <a:cs typeface="Arial"/>
              </a:rPr>
              <a:t>06</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f179d5b00a644f4"/>
          <a:stretch xmlns:a="http://schemas.openxmlformats.org/drawingml/2006/main"/>
        </p:blipFill>
        <p:spPr>
          <a:xfrm xmlns:a="http://schemas.openxmlformats.org/drawingml/2006/main">
            <a:off x="457200" y="1620441"/>
            <a:ext cx="7858125" cy="4321969"/>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584331D-1409-4BD0-9F2B-C3AA1C9F7BA8}"/>
              </a:ext>
            </a:extLst>
          </p:cNvPr>
          <p:cNvSpPr>
            <a:spLocks xmlns:a="http://schemas.openxmlformats.org/drawingml/2006/main" noGrp="1"/>
          </p:cNvSpPr>
          <p:nvPr/>
        </p:nvSpPr>
        <p:spPr>
          <a:xfrm xmlns:a="http://schemas.openxmlformats.org/drawingml/2006/main">
            <a:off x="8763000" y="1657350"/>
            <a:ext cx="2428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2E8B57"/>
                </a:solidFill>
                <a:latin typeface="Arial"/>
                <a:ea typeface="Arial"/>
                <a:cs typeface="Arial"/>
              </a:defRPr>
            </a:pPr>
            <a:r>
              <a:rPr sz="3000" b="1">
                <a:solidFill>
                  <a:srgbClr val="2E8B57"/>
                </a:solidFill>
                <a:latin typeface="Arial"/>
                <a:ea typeface="Arial"/>
                <a:cs typeface="Arial"/>
              </a:rPr>
              <a:t>38.3%</a:t>
            </a:r>
          </a:p>
        </p:txBody>
      </p:sp>
      <p:sp>
        <p:nvSpPr>
          <p:cNvPr id="7" name="">
            <a:extLst xmlns:a="http://schemas.openxmlformats.org/drawingml/2006/main">
              <a:ext uri="{FF2B5EF4-FFF2-40B4-BE49-F238E27FC236}">
                <a16:creationId xmlns:a16="http://schemas.microsoft.com/office/drawing/2014/main" id="{CF0E3043-6E89-442A-9719-AB506A331692}"/>
              </a:ext>
            </a:extLst>
          </p:cNvPr>
          <p:cNvSpPr>
            <a:spLocks xmlns:a="http://schemas.openxmlformats.org/drawingml/2006/main" noGrp="1"/>
          </p:cNvSpPr>
          <p:nvPr/>
        </p:nvSpPr>
        <p:spPr>
          <a:xfrm xmlns:a="http://schemas.openxmlformats.org/drawingml/2006/main">
            <a:off x="8763000" y="226695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68727D"/>
                </a:solidFill>
                <a:latin typeface="Arial"/>
                <a:ea typeface="Arial"/>
                <a:cs typeface="Arial"/>
              </a:defRPr>
            </a:pPr>
            <a:r>
              <a:rPr sz="1500" b="0">
                <a:solidFill>
                  <a:srgbClr val="68727D"/>
                </a:solidFill>
                <a:latin typeface="Arial"/>
                <a:ea typeface="Arial"/>
                <a:cs typeface="Arial"/>
              </a:rPr>
              <a:t>median session occupancy</a:t>
            </a:r>
          </a:p>
        </p:txBody>
      </p:sp>
      <p:sp>
        <p:nvSpPr>
          <p:cNvPr id="8" name="">
            <a:extLst xmlns:a="http://schemas.openxmlformats.org/drawingml/2006/main">
              <a:ext uri="{FF2B5EF4-FFF2-40B4-BE49-F238E27FC236}">
                <a16:creationId xmlns:a16="http://schemas.microsoft.com/office/drawing/2014/main" id="{922EFA1F-F073-42D0-BE92-CA36D943303D}"/>
              </a:ext>
            </a:extLst>
          </p:cNvPr>
          <p:cNvSpPr>
            <a:spLocks xmlns:a="http://schemas.openxmlformats.org/drawingml/2006/main" noGrp="1"/>
          </p:cNvSpPr>
          <p:nvPr/>
        </p:nvSpPr>
        <p:spPr>
          <a:xfrm xmlns:a="http://schemas.openxmlformats.org/drawingml/2006/main">
            <a:off x="8763000" y="3333750"/>
            <a:ext cx="2428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3D8DFF"/>
                </a:solidFill>
                <a:latin typeface="Arial"/>
                <a:ea typeface="Arial"/>
                <a:cs typeface="Arial"/>
              </a:defRPr>
            </a:pPr>
            <a:r>
              <a:rPr sz="3000" b="1">
                <a:solidFill>
                  <a:srgbClr val="3D8DFF"/>
                </a:solidFill>
                <a:latin typeface="Arial"/>
                <a:ea typeface="Arial"/>
                <a:cs typeface="Arial"/>
              </a:rPr>
              <a:t>24 / 24</a:t>
            </a:r>
          </a:p>
        </p:txBody>
      </p:sp>
      <p:sp>
        <p:nvSpPr>
          <p:cNvPr id="9" name="">
            <a:extLst xmlns:a="http://schemas.openxmlformats.org/drawingml/2006/main">
              <a:ext uri="{FF2B5EF4-FFF2-40B4-BE49-F238E27FC236}">
                <a16:creationId xmlns:a16="http://schemas.microsoft.com/office/drawing/2014/main" id="{AF0CEBB7-6B9E-40B9-AB33-3044C8A98334}"/>
              </a:ext>
            </a:extLst>
          </p:cNvPr>
          <p:cNvSpPr>
            <a:spLocks xmlns:a="http://schemas.openxmlformats.org/drawingml/2006/main" noGrp="1"/>
          </p:cNvSpPr>
          <p:nvPr/>
        </p:nvSpPr>
        <p:spPr>
          <a:xfrm xmlns:a="http://schemas.openxmlformats.org/drawingml/2006/main">
            <a:off x="8763000" y="3943350"/>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68727D"/>
                </a:solidFill>
                <a:latin typeface="Arial"/>
                <a:ea typeface="Arial"/>
                <a:cs typeface="Arial"/>
              </a:defRPr>
            </a:pPr>
            <a:r>
              <a:rPr sz="1500" b="0">
                <a:solidFill>
                  <a:srgbClr val="68727D"/>
                </a:solidFill>
                <a:latin typeface="Arial"/>
                <a:ea typeface="Arial"/>
                <a:cs typeface="Arial"/>
              </a:rPr>
              <a:t>stocks met the occupancy and fresh-cross usability gates</a:t>
            </a:r>
          </a:p>
        </p:txBody>
      </p:sp>
      <p:sp>
        <p:nvSpPr>
          <p:cNvPr id="10" name="">
            <a:extLst xmlns:a="http://schemas.openxmlformats.org/drawingml/2006/main">
              <a:ext uri="{FF2B5EF4-FFF2-40B4-BE49-F238E27FC236}">
                <a16:creationId xmlns:a16="http://schemas.microsoft.com/office/drawing/2014/main" id="{C6BDCB2C-B6C6-49B8-84AB-CAD028D3068B}"/>
              </a:ext>
            </a:extLst>
          </p:cNvPr>
          <p:cNvSpPr>
            <a:spLocks xmlns:a="http://schemas.openxmlformats.org/drawingml/2006/main" noGrp="1"/>
          </p:cNvSpPr>
          <p:nvPr/>
        </p:nvSpPr>
        <p:spPr>
          <a:xfrm xmlns:a="http://schemas.openxmlformats.org/drawingml/2006/main">
            <a:off x="8763000" y="5162550"/>
            <a:ext cx="2428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17202A"/>
                </a:solidFill>
                <a:latin typeface="Arial"/>
                <a:ea typeface="Arial"/>
                <a:cs typeface="Arial"/>
              </a:defRPr>
            </a:pPr>
            <a:r>
              <a:rPr sz="2550" b="1">
                <a:solidFill>
                  <a:srgbClr val="17202A"/>
                </a:solidFill>
                <a:latin typeface="Arial"/>
                <a:ea typeface="Arial"/>
                <a:cs typeface="Arial"/>
              </a:rPr>
              <a:t>480</a:t>
            </a:r>
          </a:p>
        </p:txBody>
      </p:sp>
      <p:sp>
        <p:nvSpPr>
          <p:cNvPr id="11" name="">
            <a:extLst xmlns:a="http://schemas.openxmlformats.org/drawingml/2006/main">
              <a:ext uri="{FF2B5EF4-FFF2-40B4-BE49-F238E27FC236}">
                <a16:creationId xmlns:a16="http://schemas.microsoft.com/office/drawing/2014/main" id="{CA0E4427-87C4-411C-B655-1596C35AB73F}"/>
              </a:ext>
            </a:extLst>
          </p:cNvPr>
          <p:cNvSpPr>
            <a:spLocks xmlns:a="http://schemas.openxmlformats.org/drawingml/2006/main" noGrp="1"/>
          </p:cNvSpPr>
          <p:nvPr/>
        </p:nvSpPr>
        <p:spPr>
          <a:xfrm xmlns:a="http://schemas.openxmlformats.org/drawingml/2006/main">
            <a:off x="8763000" y="565785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68727D"/>
                </a:solidFill>
                <a:latin typeface="Arial"/>
                <a:ea typeface="Arial"/>
                <a:cs typeface="Arial"/>
              </a:defRPr>
            </a:pPr>
            <a:r>
              <a:rPr sz="1425" b="0">
                <a:solidFill>
                  <a:srgbClr val="68727D"/>
                </a:solidFill>
                <a:latin typeface="Arial"/>
                <a:ea typeface="Arial"/>
                <a:cs typeface="Arial"/>
              </a:rPr>
              <a:t>parent entries ultimately admitted by the state</a:t>
            </a:r>
          </a:p>
        </p:txBody>
      </p:sp>
    </p:spTree>
    <p:extLst>
      <p:ext uri="{BB962C8B-B14F-4D97-AF65-F5344CB8AC3E}">
        <p14:creationId xmlns:p14="http://schemas.microsoft.com/office/powerpoint/2010/main" val="77237827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EC95733-8B2A-4298-BEEE-2BA8EE8F56C4}"/>
              </a:ext>
            </a:extLst>
          </p:cNvPr>
          <p:cNvSpPr>
            <a:spLocks xmlns:a="http://schemas.openxmlformats.org/drawingml/2006/main" noGrp="1"/>
          </p:cNvSpPr>
          <p:nvPr/>
        </p:nvSpPr>
        <p:spPr>
          <a:xfrm xmlns:a="http://schemas.openxmlformats.org/drawingml/2006/main">
            <a:off x="457200" y="19050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3D8DFF"/>
                </a:solidFill>
                <a:latin typeface="Arial"/>
                <a:ea typeface="Arial"/>
                <a:cs typeface="Arial"/>
              </a:defRPr>
            </a:pPr>
            <a:r>
              <a:rPr sz="975" b="1">
                <a:solidFill>
                  <a:srgbClr val="3D8DFF"/>
                </a:solidFill>
                <a:latin typeface="Arial"/>
                <a:ea typeface="Arial"/>
                <a:cs typeface="Arial"/>
              </a:rPr>
              <a:t>BREAKOUT EVENT AUDIT</a:t>
            </a:r>
          </a:p>
        </p:txBody>
      </p:sp>
      <p:sp>
        <p:nvSpPr>
          <p:cNvPr id="2" name="">
            <a:extLst xmlns:a="http://schemas.openxmlformats.org/drawingml/2006/main">
              <a:ext uri="{FF2B5EF4-FFF2-40B4-BE49-F238E27FC236}">
                <a16:creationId xmlns:a16="http://schemas.microsoft.com/office/drawing/2014/main" id="{3EC31363-7DE2-4A7F-BDCD-2764DEC91A51}"/>
              </a:ext>
            </a:extLst>
          </p:cNvPr>
          <p:cNvSpPr>
            <a:spLocks xmlns:a="http://schemas.openxmlformats.org/drawingml/2006/main" noGrp="1"/>
          </p:cNvSpPr>
          <p:nvPr/>
        </p:nvSpPr>
        <p:spPr>
          <a:xfrm xmlns:a="http://schemas.openxmlformats.org/drawingml/2006/main">
            <a:off x="457200" y="466725"/>
            <a:ext cx="110490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17202A"/>
                </a:solidFill>
                <a:latin typeface="Arial"/>
                <a:ea typeface="Arial"/>
                <a:cs typeface="Arial"/>
              </a:defRPr>
            </a:pPr>
            <a:r>
              <a:rPr sz="2700" b="1">
                <a:solidFill>
                  <a:srgbClr val="17202A"/>
                </a:solidFill>
                <a:latin typeface="Arial"/>
                <a:ea typeface="Arial"/>
                <a:cs typeface="Arial"/>
              </a:rPr>
              <a:t>Range escapes often held, but failures were still common</a:t>
            </a:r>
          </a:p>
        </p:txBody>
      </p:sp>
      <p:sp>
        <p:nvSpPr>
          <p:cNvPr id="3" name="">
            <a:extLst xmlns:a="http://schemas.openxmlformats.org/drawingml/2006/main">
              <a:ext uri="{FF2B5EF4-FFF2-40B4-BE49-F238E27FC236}">
                <a16:creationId xmlns:a16="http://schemas.microsoft.com/office/drawing/2014/main" id="{456568DB-6C20-49FB-B53B-B6CE2346E5EA}"/>
              </a:ext>
            </a:extLst>
          </p:cNvPr>
          <p:cNvSpPr>
            <a:spLocks xmlns:a="http://schemas.openxmlformats.org/drawingml/2006/main" noGrp="1"/>
          </p:cNvSpPr>
          <p:nvPr/>
        </p:nvSpPr>
        <p:spPr>
          <a:xfrm xmlns:a="http://schemas.openxmlformats.org/drawingml/2006/main">
            <a:off x="457200" y="1295400"/>
            <a:ext cx="112776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2BEE62F-8539-4499-81DA-979D1B97F51F}"/>
              </a:ext>
            </a:extLst>
          </p:cNvPr>
          <p:cNvSpPr>
            <a:spLocks xmlns:a="http://schemas.openxmlformats.org/drawingml/2006/main" noGrp="1"/>
          </p:cNvSpPr>
          <p:nvPr/>
        </p:nvSpPr>
        <p:spPr>
          <a:xfrm xmlns:a="http://schemas.openxmlformats.org/drawingml/2006/main">
            <a:off x="112585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68727D"/>
                </a:solidFill>
                <a:latin typeface="Arial"/>
                <a:ea typeface="Arial"/>
                <a:cs typeface="Arial"/>
              </a:defRPr>
            </a:pPr>
            <a:r>
              <a:rPr sz="975" b="0">
                <a:solidFill>
                  <a:srgbClr val="68727D"/>
                </a:solidFill>
                <a:latin typeface="Arial"/>
                <a:ea typeface="Arial"/>
                <a:cs typeface="Arial"/>
              </a:rPr>
              <a:t>07</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0a15af13ab24f7a"/>
          <a:stretch xmlns:a="http://schemas.openxmlformats.org/drawingml/2006/main"/>
        </p:blipFill>
        <p:spPr>
          <a:xfrm xmlns:a="http://schemas.openxmlformats.org/drawingml/2006/main">
            <a:off x="457200" y="1598613"/>
            <a:ext cx="7858125" cy="43656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4BB6669-8C61-47E1-BD9B-98D19CCA0C30}"/>
              </a:ext>
            </a:extLst>
          </p:cNvPr>
          <p:cNvSpPr>
            <a:spLocks xmlns:a="http://schemas.openxmlformats.org/drawingml/2006/main" noGrp="1"/>
          </p:cNvSpPr>
          <p:nvPr/>
        </p:nvSpPr>
        <p:spPr>
          <a:xfrm xmlns:a="http://schemas.openxmlformats.org/drawingml/2006/main">
            <a:off x="8763000" y="1657350"/>
            <a:ext cx="2428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3D8DFF"/>
                </a:solidFill>
                <a:latin typeface="Arial"/>
                <a:ea typeface="Arial"/>
                <a:cs typeface="Arial"/>
              </a:defRPr>
            </a:pPr>
            <a:r>
              <a:rPr sz="3000" b="1">
                <a:solidFill>
                  <a:srgbClr val="3D8DFF"/>
                </a:solidFill>
                <a:latin typeface="Arial"/>
                <a:ea typeface="Arial"/>
                <a:cs typeface="Arial"/>
              </a:rPr>
              <a:t>940</a:t>
            </a:r>
          </a:p>
        </p:txBody>
      </p:sp>
      <p:sp>
        <p:nvSpPr>
          <p:cNvPr id="7" name="">
            <a:extLst xmlns:a="http://schemas.openxmlformats.org/drawingml/2006/main">
              <a:ext uri="{FF2B5EF4-FFF2-40B4-BE49-F238E27FC236}">
                <a16:creationId xmlns:a16="http://schemas.microsoft.com/office/drawing/2014/main" id="{7E380F2F-614C-494D-AA28-D26D8F4CAF54}"/>
              </a:ext>
            </a:extLst>
          </p:cNvPr>
          <p:cNvSpPr>
            <a:spLocks xmlns:a="http://schemas.openxmlformats.org/drawingml/2006/main" noGrp="1"/>
          </p:cNvSpPr>
          <p:nvPr/>
        </p:nvSpPr>
        <p:spPr>
          <a:xfrm xmlns:a="http://schemas.openxmlformats.org/drawingml/2006/main">
            <a:off x="8763000" y="226695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68727D"/>
                </a:solidFill>
                <a:latin typeface="Arial"/>
                <a:ea typeface="Arial"/>
                <a:cs typeface="Arial"/>
              </a:defRPr>
            </a:pPr>
            <a:r>
              <a:rPr sz="1500" b="0">
                <a:solidFill>
                  <a:srgbClr val="68727D"/>
                </a:solidFill>
                <a:latin typeface="Arial"/>
                <a:ea typeface="Arial"/>
                <a:cs typeface="Arial"/>
              </a:rPr>
              <a:t>completed primary-stock events</a:t>
            </a:r>
          </a:p>
        </p:txBody>
      </p:sp>
      <p:sp>
        <p:nvSpPr>
          <p:cNvPr id="8" name="">
            <a:extLst xmlns:a="http://schemas.openxmlformats.org/drawingml/2006/main">
              <a:ext uri="{FF2B5EF4-FFF2-40B4-BE49-F238E27FC236}">
                <a16:creationId xmlns:a16="http://schemas.microsoft.com/office/drawing/2014/main" id="{831B03C7-643F-4967-8794-89BA03EB85FF}"/>
              </a:ext>
            </a:extLst>
          </p:cNvPr>
          <p:cNvSpPr>
            <a:spLocks xmlns:a="http://schemas.openxmlformats.org/drawingml/2006/main" noGrp="1"/>
          </p:cNvSpPr>
          <p:nvPr/>
        </p:nvSpPr>
        <p:spPr>
          <a:xfrm xmlns:a="http://schemas.openxmlformats.org/drawingml/2006/main">
            <a:off x="8763000" y="3333750"/>
            <a:ext cx="2428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D95F59"/>
                </a:solidFill>
                <a:latin typeface="Arial"/>
                <a:ea typeface="Arial"/>
                <a:cs typeface="Arial"/>
              </a:defRPr>
            </a:pPr>
            <a:r>
              <a:rPr sz="3000" b="1">
                <a:solidFill>
                  <a:srgbClr val="D95F59"/>
                </a:solidFill>
                <a:latin typeface="Arial"/>
                <a:ea typeface="Arial"/>
                <a:cs typeface="Arial"/>
              </a:rPr>
              <a:t>36.1%</a:t>
            </a:r>
          </a:p>
        </p:txBody>
      </p:sp>
      <p:sp>
        <p:nvSpPr>
          <p:cNvPr id="9" name="">
            <a:extLst xmlns:a="http://schemas.openxmlformats.org/drawingml/2006/main">
              <a:ext uri="{FF2B5EF4-FFF2-40B4-BE49-F238E27FC236}">
                <a16:creationId xmlns:a16="http://schemas.microsoft.com/office/drawing/2014/main" id="{F4242D40-DA44-40F6-A797-FA3066371FB2}"/>
              </a:ext>
            </a:extLst>
          </p:cNvPr>
          <p:cNvSpPr>
            <a:spLocks xmlns:a="http://schemas.openxmlformats.org/drawingml/2006/main" noGrp="1"/>
          </p:cNvSpPr>
          <p:nvPr/>
        </p:nvSpPr>
        <p:spPr>
          <a:xfrm xmlns:a="http://schemas.openxmlformats.org/drawingml/2006/main">
            <a:off x="8763000" y="3943350"/>
            <a:ext cx="2381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68727D"/>
                </a:solidFill>
                <a:latin typeface="Arial"/>
                <a:ea typeface="Arial"/>
                <a:cs typeface="Arial"/>
              </a:defRPr>
            </a:pPr>
            <a:r>
              <a:rPr sz="1500" b="0">
                <a:solidFill>
                  <a:srgbClr val="68727D"/>
                </a:solidFill>
                <a:latin typeface="Arial"/>
                <a:ea typeface="Arial"/>
                <a:cs typeface="Arial"/>
              </a:rPr>
              <a:t>fell back through the frozen boundary within three sessions</a:t>
            </a:r>
          </a:p>
        </p:txBody>
      </p:sp>
      <p:sp>
        <p:nvSpPr>
          <p:cNvPr id="10" name="">
            <a:extLst xmlns:a="http://schemas.openxmlformats.org/drawingml/2006/main">
              <a:ext uri="{FF2B5EF4-FFF2-40B4-BE49-F238E27FC236}">
                <a16:creationId xmlns:a16="http://schemas.microsoft.com/office/drawing/2014/main" id="{3578417F-4A84-4D97-8FE7-A1A0917FA306}"/>
              </a:ext>
            </a:extLst>
          </p:cNvPr>
          <p:cNvSpPr>
            <a:spLocks xmlns:a="http://schemas.openxmlformats.org/drawingml/2006/main" noGrp="1"/>
          </p:cNvSpPr>
          <p:nvPr/>
        </p:nvSpPr>
        <p:spPr>
          <a:xfrm xmlns:a="http://schemas.openxmlformats.org/drawingml/2006/main">
            <a:off x="8763000" y="5162550"/>
            <a:ext cx="2428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2E8B57"/>
                </a:solidFill>
                <a:latin typeface="Arial"/>
                <a:ea typeface="Arial"/>
                <a:cs typeface="Arial"/>
              </a:defRPr>
            </a:pPr>
            <a:r>
              <a:rPr sz="2550" b="1">
                <a:solidFill>
                  <a:srgbClr val="2E8B57"/>
                </a:solidFill>
                <a:latin typeface="Arial"/>
                <a:ea typeface="Arial"/>
                <a:cs typeface="Arial"/>
              </a:rPr>
              <a:t>63.1%</a:t>
            </a:r>
          </a:p>
        </p:txBody>
      </p:sp>
      <p:sp>
        <p:nvSpPr>
          <p:cNvPr id="11" name="">
            <a:extLst xmlns:a="http://schemas.openxmlformats.org/drawingml/2006/main">
              <a:ext uri="{FF2B5EF4-FFF2-40B4-BE49-F238E27FC236}">
                <a16:creationId xmlns:a16="http://schemas.microsoft.com/office/drawing/2014/main" id="{701B60C5-7BCA-441C-8EB7-7C710AA1FBD8}"/>
              </a:ext>
            </a:extLst>
          </p:cNvPr>
          <p:cNvSpPr>
            <a:spLocks xmlns:a="http://schemas.openxmlformats.org/drawingml/2006/main" noGrp="1"/>
          </p:cNvSpPr>
          <p:nvPr/>
        </p:nvSpPr>
        <p:spPr>
          <a:xfrm xmlns:a="http://schemas.openxmlformats.org/drawingml/2006/main">
            <a:off x="8763000" y="565785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68727D"/>
                </a:solidFill>
                <a:latin typeface="Arial"/>
                <a:ea typeface="Arial"/>
                <a:cs typeface="Arial"/>
              </a:defRPr>
            </a:pPr>
            <a:r>
              <a:rPr sz="1425" b="0">
                <a:solidFill>
                  <a:srgbClr val="68727D"/>
                </a:solidFill>
                <a:latin typeface="Arial"/>
                <a:ea typeface="Arial"/>
                <a:cs typeface="Arial"/>
              </a:rPr>
              <a:t>still above the boundary on session ten</a:t>
            </a:r>
          </a:p>
        </p:txBody>
      </p:sp>
    </p:spTree>
    <p:extLst>
      <p:ext uri="{BB962C8B-B14F-4D97-AF65-F5344CB8AC3E}">
        <p14:creationId xmlns:p14="http://schemas.microsoft.com/office/powerpoint/2010/main" val="120184728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289099E-C647-43D6-9DF3-84DAF3BDD1AB}"/>
              </a:ext>
            </a:extLst>
          </p:cNvPr>
          <p:cNvSpPr>
            <a:spLocks xmlns:a="http://schemas.openxmlformats.org/drawingml/2006/main" noGrp="1"/>
          </p:cNvSpPr>
          <p:nvPr/>
        </p:nvSpPr>
        <p:spPr>
          <a:xfrm xmlns:a="http://schemas.openxmlformats.org/drawingml/2006/main">
            <a:off x="457200" y="19050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3D8DFF"/>
                </a:solidFill>
                <a:latin typeface="Arial"/>
                <a:ea typeface="Arial"/>
                <a:cs typeface="Arial"/>
              </a:defRPr>
            </a:pPr>
            <a:r>
              <a:rPr sz="975" b="1">
                <a:solidFill>
                  <a:srgbClr val="3D8DFF"/>
                </a:solidFill>
                <a:latin typeface="Arial"/>
                <a:ea typeface="Arial"/>
                <a:cs typeface="Arial"/>
              </a:rPr>
              <a:t>STAGE B POLICY</a:t>
            </a:r>
          </a:p>
        </p:txBody>
      </p:sp>
      <p:sp>
        <p:nvSpPr>
          <p:cNvPr id="2" name="">
            <a:extLst xmlns:a="http://schemas.openxmlformats.org/drawingml/2006/main">
              <a:ext uri="{FF2B5EF4-FFF2-40B4-BE49-F238E27FC236}">
                <a16:creationId xmlns:a16="http://schemas.microsoft.com/office/drawing/2014/main" id="{5E1F4AD5-60EE-4855-B596-903207A2924F}"/>
              </a:ext>
            </a:extLst>
          </p:cNvPr>
          <p:cNvSpPr>
            <a:spLocks xmlns:a="http://schemas.openxmlformats.org/drawingml/2006/main" noGrp="1"/>
          </p:cNvSpPr>
          <p:nvPr/>
        </p:nvSpPr>
        <p:spPr>
          <a:xfrm xmlns:a="http://schemas.openxmlformats.org/drawingml/2006/main">
            <a:off x="457200" y="466725"/>
            <a:ext cx="110490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17202A"/>
                </a:solidFill>
                <a:latin typeface="Arial"/>
                <a:ea typeface="Arial"/>
                <a:cs typeface="Arial"/>
              </a:defRPr>
            </a:pPr>
            <a:r>
              <a:rPr sz="2700" b="1">
                <a:solidFill>
                  <a:srgbClr val="17202A"/>
                </a:solidFill>
                <a:latin typeface="Arial"/>
                <a:ea typeface="Arial"/>
                <a:cs typeface="Arial"/>
              </a:rPr>
              <a:t>The policy changed entry permission—and nothing else</a:t>
            </a:r>
          </a:p>
        </p:txBody>
      </p:sp>
      <p:sp>
        <p:nvSpPr>
          <p:cNvPr id="3" name="">
            <a:extLst xmlns:a="http://schemas.openxmlformats.org/drawingml/2006/main">
              <a:ext uri="{FF2B5EF4-FFF2-40B4-BE49-F238E27FC236}">
                <a16:creationId xmlns:a16="http://schemas.microsoft.com/office/drawing/2014/main" id="{AAF48A2E-10A9-41A0-B477-5C5444AF6F1F}"/>
              </a:ext>
            </a:extLst>
          </p:cNvPr>
          <p:cNvSpPr>
            <a:spLocks xmlns:a="http://schemas.openxmlformats.org/drawingml/2006/main" noGrp="1"/>
          </p:cNvSpPr>
          <p:nvPr/>
        </p:nvSpPr>
        <p:spPr>
          <a:xfrm xmlns:a="http://schemas.openxmlformats.org/drawingml/2006/main">
            <a:off x="457200" y="1295400"/>
            <a:ext cx="112776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85D5686-B65B-4506-9FDA-24F09258F922}"/>
              </a:ext>
            </a:extLst>
          </p:cNvPr>
          <p:cNvSpPr>
            <a:spLocks xmlns:a="http://schemas.openxmlformats.org/drawingml/2006/main" noGrp="1"/>
          </p:cNvSpPr>
          <p:nvPr/>
        </p:nvSpPr>
        <p:spPr>
          <a:xfrm xmlns:a="http://schemas.openxmlformats.org/drawingml/2006/main">
            <a:off x="112585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68727D"/>
                </a:solidFill>
                <a:latin typeface="Arial"/>
                <a:ea typeface="Arial"/>
                <a:cs typeface="Arial"/>
              </a:defRPr>
            </a:pPr>
            <a:r>
              <a:rPr sz="975" b="0">
                <a:solidFill>
                  <a:srgbClr val="68727D"/>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6970C1D8-4FD7-4780-BEB1-7D7DCE54B1BE}"/>
              </a:ext>
            </a:extLst>
          </p:cNvPr>
          <p:cNvSpPr>
            <a:spLocks xmlns:a="http://schemas.openxmlformats.org/drawingml/2006/main" noGrp="1"/>
          </p:cNvSpPr>
          <p:nvPr/>
        </p:nvSpPr>
        <p:spPr>
          <a:xfrm xmlns:a="http://schemas.openxmlformats.org/drawingml/2006/main">
            <a:off x="495300" y="1638300"/>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F93D8E47-9D35-46B2-87CB-0E08C193601C}"/>
              </a:ext>
            </a:extLst>
          </p:cNvPr>
          <p:cNvSpPr>
            <a:spLocks xmlns:a="http://schemas.openxmlformats.org/drawingml/2006/main" noGrp="1"/>
          </p:cNvSpPr>
          <p:nvPr/>
        </p:nvSpPr>
        <p:spPr>
          <a:xfrm xmlns:a="http://schemas.openxmlformats.org/drawingml/2006/main">
            <a:off x="1200150" y="1543050"/>
            <a:ext cx="9953625" cy="590550"/>
          </a:xfrm>
          <a:prstGeom xmlns:a="http://schemas.openxmlformats.org/drawingml/2006/main" prst="rect">
            <a:avLst/>
          </a:prstGeom>
          <a:solidFill xmlns:a="http://schemas.openxmlformats.org/drawingml/2006/main">
            <a:srgbClr val="F4F6F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8301497-B5B6-4960-A5B8-403A64BEDF7E}"/>
              </a:ext>
            </a:extLst>
          </p:cNvPr>
          <p:cNvSpPr>
            <a:spLocks xmlns:a="http://schemas.openxmlformats.org/drawingml/2006/main" noGrp="1"/>
          </p:cNvSpPr>
          <p:nvPr/>
        </p:nvSpPr>
        <p:spPr>
          <a:xfrm xmlns:a="http://schemas.openxmlformats.org/drawingml/2006/main">
            <a:off x="1466850" y="16954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7202A"/>
                </a:solidFill>
                <a:latin typeface="Arial"/>
                <a:ea typeface="Arial"/>
                <a:cs typeface="Arial"/>
              </a:defRPr>
            </a:pPr>
            <a:r>
              <a:rPr sz="1650" b="1">
                <a:solidFill>
                  <a:srgbClr val="17202A"/>
                </a:solidFill>
                <a:latin typeface="Arial"/>
                <a:ea typeface="Arial"/>
                <a:cs typeface="Arial"/>
              </a:rPr>
              <a:t>Signal</a:t>
            </a:r>
          </a:p>
        </p:txBody>
      </p:sp>
      <p:sp>
        <p:nvSpPr>
          <p:cNvPr id="8" name="">
            <a:extLst xmlns:a="http://schemas.openxmlformats.org/drawingml/2006/main">
              <a:ext uri="{FF2B5EF4-FFF2-40B4-BE49-F238E27FC236}">
                <a16:creationId xmlns:a16="http://schemas.microsoft.com/office/drawing/2014/main" id="{80E568B6-FCCC-4709-ABE3-875DF3374410}"/>
              </a:ext>
            </a:extLst>
          </p:cNvPr>
          <p:cNvSpPr>
            <a:spLocks xmlns:a="http://schemas.openxmlformats.org/drawingml/2006/main" noGrp="1"/>
          </p:cNvSpPr>
          <p:nvPr/>
        </p:nvSpPr>
        <p:spPr>
          <a:xfrm xmlns:a="http://schemas.openxmlformats.org/drawingml/2006/main">
            <a:off x="3028950" y="1695450"/>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68727D"/>
                </a:solidFill>
                <a:latin typeface="Arial"/>
                <a:ea typeface="Arial"/>
                <a:cs typeface="Arial"/>
              </a:defRPr>
            </a:pPr>
            <a:r>
              <a:rPr sz="1575" b="0">
                <a:solidFill>
                  <a:srgbClr val="68727D"/>
                </a:solidFill>
                <a:latin typeface="Arial"/>
                <a:ea typeface="Arial"/>
                <a:cs typeface="Arial"/>
              </a:rPr>
              <a:t>Fresh SMA8 cross above SMA14 at close t</a:t>
            </a:r>
          </a:p>
        </p:txBody>
      </p:sp>
      <p:sp>
        <p:nvSpPr>
          <p:cNvPr id="9" name="">
            <a:extLst xmlns:a="http://schemas.openxmlformats.org/drawingml/2006/main">
              <a:ext uri="{FF2B5EF4-FFF2-40B4-BE49-F238E27FC236}">
                <a16:creationId xmlns:a16="http://schemas.microsoft.com/office/drawing/2014/main" id="{AD7DB4CC-270B-4B91-93C2-0EFA39891306}"/>
              </a:ext>
            </a:extLst>
          </p:cNvPr>
          <p:cNvSpPr>
            <a:spLocks xmlns:a="http://schemas.openxmlformats.org/drawingml/2006/main" noGrp="1"/>
          </p:cNvSpPr>
          <p:nvPr/>
        </p:nvSpPr>
        <p:spPr>
          <a:xfrm xmlns:a="http://schemas.openxmlformats.org/drawingml/2006/main">
            <a:off x="495300" y="2362200"/>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5E72D357-D5F2-40F9-9708-9B2ECBF524C3}"/>
              </a:ext>
            </a:extLst>
          </p:cNvPr>
          <p:cNvSpPr>
            <a:spLocks xmlns:a="http://schemas.openxmlformats.org/drawingml/2006/main" noGrp="1"/>
          </p:cNvSpPr>
          <p:nvPr/>
        </p:nvSpPr>
        <p:spPr>
          <a:xfrm xmlns:a="http://schemas.openxmlformats.org/drawingml/2006/main">
            <a:off x="1200150" y="2266950"/>
            <a:ext cx="9953625" cy="590550"/>
          </a:xfrm>
          <a:prstGeom xmlns:a="http://schemas.openxmlformats.org/drawingml/2006/main" prst="rect">
            <a:avLst/>
          </a:prstGeom>
          <a:solidFill xmlns:a="http://schemas.openxmlformats.org/drawingml/2006/main">
            <a:srgbClr val="E7F0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CDC40F1-3DF7-4108-AF85-00AE4F191A6A}"/>
              </a:ext>
            </a:extLst>
          </p:cNvPr>
          <p:cNvSpPr>
            <a:spLocks xmlns:a="http://schemas.openxmlformats.org/drawingml/2006/main" noGrp="1"/>
          </p:cNvSpPr>
          <p:nvPr/>
        </p:nvSpPr>
        <p:spPr>
          <a:xfrm xmlns:a="http://schemas.openxmlformats.org/drawingml/2006/main">
            <a:off x="1466850" y="24193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7202A"/>
                </a:solidFill>
                <a:latin typeface="Arial"/>
                <a:ea typeface="Arial"/>
                <a:cs typeface="Arial"/>
              </a:defRPr>
            </a:pPr>
            <a:r>
              <a:rPr sz="1650" b="1">
                <a:solidFill>
                  <a:srgbClr val="17202A"/>
                </a:solidFill>
                <a:latin typeface="Arial"/>
                <a:ea typeface="Arial"/>
                <a:cs typeface="Arial"/>
              </a:rPr>
              <a:t>Gate</a:t>
            </a:r>
          </a:p>
        </p:txBody>
      </p:sp>
      <p:sp>
        <p:nvSpPr>
          <p:cNvPr id="12" name="">
            <a:extLst xmlns:a="http://schemas.openxmlformats.org/drawingml/2006/main">
              <a:ext uri="{FF2B5EF4-FFF2-40B4-BE49-F238E27FC236}">
                <a16:creationId xmlns:a16="http://schemas.microsoft.com/office/drawing/2014/main" id="{A2DBFD01-0FD9-437A-BA82-D8984D41B4B4}"/>
              </a:ext>
            </a:extLst>
          </p:cNvPr>
          <p:cNvSpPr>
            <a:spLocks xmlns:a="http://schemas.openxmlformats.org/drawingml/2006/main" noGrp="1"/>
          </p:cNvSpPr>
          <p:nvPr/>
        </p:nvSpPr>
        <p:spPr>
          <a:xfrm xmlns:a="http://schemas.openxmlformats.org/drawingml/2006/main">
            <a:off x="3028950" y="2419350"/>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68727D"/>
                </a:solidFill>
                <a:latin typeface="Arial"/>
                <a:ea typeface="Arial"/>
                <a:cs typeface="Arial"/>
              </a:defRPr>
            </a:pPr>
            <a:r>
              <a:rPr sz="1575" b="0">
                <a:solidFill>
                  <a:srgbClr val="68727D"/>
                </a:solidFill>
                <a:latin typeface="Arial"/>
                <a:ea typeface="Arial"/>
                <a:cs typeface="Arial"/>
              </a:rPr>
              <a:t>UPPER_PERSISTENT must already be known at close t</a:t>
            </a:r>
          </a:p>
        </p:txBody>
      </p:sp>
      <p:sp>
        <p:nvSpPr>
          <p:cNvPr id="13" name="">
            <a:extLst xmlns:a="http://schemas.openxmlformats.org/drawingml/2006/main">
              <a:ext uri="{FF2B5EF4-FFF2-40B4-BE49-F238E27FC236}">
                <a16:creationId xmlns:a16="http://schemas.microsoft.com/office/drawing/2014/main" id="{C9E5860E-C357-4EA1-8308-49D7471C07C2}"/>
              </a:ext>
            </a:extLst>
          </p:cNvPr>
          <p:cNvSpPr>
            <a:spLocks xmlns:a="http://schemas.openxmlformats.org/drawingml/2006/main" noGrp="1"/>
          </p:cNvSpPr>
          <p:nvPr/>
        </p:nvSpPr>
        <p:spPr>
          <a:xfrm xmlns:a="http://schemas.openxmlformats.org/drawingml/2006/main">
            <a:off x="495300" y="3086100"/>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8E9166B3-2777-44EE-B476-2F339AEAE275}"/>
              </a:ext>
            </a:extLst>
          </p:cNvPr>
          <p:cNvSpPr>
            <a:spLocks xmlns:a="http://schemas.openxmlformats.org/drawingml/2006/main" noGrp="1"/>
          </p:cNvSpPr>
          <p:nvPr/>
        </p:nvSpPr>
        <p:spPr>
          <a:xfrm xmlns:a="http://schemas.openxmlformats.org/drawingml/2006/main">
            <a:off x="1200150" y="2990850"/>
            <a:ext cx="9953625" cy="590550"/>
          </a:xfrm>
          <a:prstGeom xmlns:a="http://schemas.openxmlformats.org/drawingml/2006/main" prst="rect">
            <a:avLst/>
          </a:prstGeom>
          <a:solidFill xmlns:a="http://schemas.openxmlformats.org/drawingml/2006/main">
            <a:srgbClr val="F4F6F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33F11D3-84D8-4B90-959E-46CC8DDB7EA1}"/>
              </a:ext>
            </a:extLst>
          </p:cNvPr>
          <p:cNvSpPr>
            <a:spLocks xmlns:a="http://schemas.openxmlformats.org/drawingml/2006/main" noGrp="1"/>
          </p:cNvSpPr>
          <p:nvPr/>
        </p:nvSpPr>
        <p:spPr>
          <a:xfrm xmlns:a="http://schemas.openxmlformats.org/drawingml/2006/main">
            <a:off x="1466850" y="31432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7202A"/>
                </a:solidFill>
                <a:latin typeface="Arial"/>
                <a:ea typeface="Arial"/>
                <a:cs typeface="Arial"/>
              </a:defRPr>
            </a:pPr>
            <a:r>
              <a:rPr sz="1650" b="1">
                <a:solidFill>
                  <a:srgbClr val="17202A"/>
                </a:solidFill>
                <a:latin typeface="Arial"/>
                <a:ea typeface="Arial"/>
                <a:cs typeface="Arial"/>
              </a:rPr>
              <a:t>Entry</a:t>
            </a:r>
          </a:p>
        </p:txBody>
      </p:sp>
      <p:sp>
        <p:nvSpPr>
          <p:cNvPr id="16" name="">
            <a:extLst xmlns:a="http://schemas.openxmlformats.org/drawingml/2006/main">
              <a:ext uri="{FF2B5EF4-FFF2-40B4-BE49-F238E27FC236}">
                <a16:creationId xmlns:a16="http://schemas.microsoft.com/office/drawing/2014/main" id="{DB2217ED-FFD9-450F-BDDD-A7963BF5FBC3}"/>
              </a:ext>
            </a:extLst>
          </p:cNvPr>
          <p:cNvSpPr>
            <a:spLocks xmlns:a="http://schemas.openxmlformats.org/drawingml/2006/main" noGrp="1"/>
          </p:cNvSpPr>
          <p:nvPr/>
        </p:nvSpPr>
        <p:spPr>
          <a:xfrm xmlns:a="http://schemas.openxmlformats.org/drawingml/2006/main">
            <a:off x="3028950" y="3143250"/>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68727D"/>
                </a:solidFill>
                <a:latin typeface="Arial"/>
                <a:ea typeface="Arial"/>
                <a:cs typeface="Arial"/>
              </a:defRPr>
            </a:pPr>
            <a:r>
              <a:rPr sz="1575" b="0">
                <a:solidFill>
                  <a:srgbClr val="68727D"/>
                </a:solidFill>
                <a:latin typeface="Arial"/>
                <a:ea typeface="Arial"/>
                <a:cs typeface="Arial"/>
              </a:rPr>
              <a:t>Next open at 1×; rejected signals are skipped</a:t>
            </a:r>
          </a:p>
        </p:txBody>
      </p:sp>
      <p:sp>
        <p:nvSpPr>
          <p:cNvPr id="17" name="">
            <a:extLst xmlns:a="http://schemas.openxmlformats.org/drawingml/2006/main">
              <a:ext uri="{FF2B5EF4-FFF2-40B4-BE49-F238E27FC236}">
                <a16:creationId xmlns:a16="http://schemas.microsoft.com/office/drawing/2014/main" id="{679CED60-C26F-4720-BD88-E20236E4EEBF}"/>
              </a:ext>
            </a:extLst>
          </p:cNvPr>
          <p:cNvSpPr>
            <a:spLocks xmlns:a="http://schemas.openxmlformats.org/drawingml/2006/main" noGrp="1"/>
          </p:cNvSpPr>
          <p:nvPr/>
        </p:nvSpPr>
        <p:spPr>
          <a:xfrm xmlns:a="http://schemas.openxmlformats.org/drawingml/2006/main">
            <a:off x="495300" y="3810000"/>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DFC77490-3131-4EA4-AD59-F848621898B0}"/>
              </a:ext>
            </a:extLst>
          </p:cNvPr>
          <p:cNvSpPr>
            <a:spLocks xmlns:a="http://schemas.openxmlformats.org/drawingml/2006/main" noGrp="1"/>
          </p:cNvSpPr>
          <p:nvPr/>
        </p:nvSpPr>
        <p:spPr>
          <a:xfrm xmlns:a="http://schemas.openxmlformats.org/drawingml/2006/main">
            <a:off x="1200150" y="3714750"/>
            <a:ext cx="9953625" cy="590550"/>
          </a:xfrm>
          <a:prstGeom xmlns:a="http://schemas.openxmlformats.org/drawingml/2006/main" prst="rect">
            <a:avLst/>
          </a:prstGeom>
          <a:solidFill xmlns:a="http://schemas.openxmlformats.org/drawingml/2006/main">
            <a:srgbClr val="F4F6F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0D2E71A-D7E8-4F93-94E8-220DFA62A8B3}"/>
              </a:ext>
            </a:extLst>
          </p:cNvPr>
          <p:cNvSpPr>
            <a:spLocks xmlns:a="http://schemas.openxmlformats.org/drawingml/2006/main" noGrp="1"/>
          </p:cNvSpPr>
          <p:nvPr/>
        </p:nvSpPr>
        <p:spPr>
          <a:xfrm xmlns:a="http://schemas.openxmlformats.org/drawingml/2006/main">
            <a:off x="1466850" y="38671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7202A"/>
                </a:solidFill>
                <a:latin typeface="Arial"/>
                <a:ea typeface="Arial"/>
                <a:cs typeface="Arial"/>
              </a:defRPr>
            </a:pPr>
            <a:r>
              <a:rPr sz="1650" b="1">
                <a:solidFill>
                  <a:srgbClr val="17202A"/>
                </a:solidFill>
                <a:latin typeface="Arial"/>
                <a:ea typeface="Arial"/>
                <a:cs typeface="Arial"/>
              </a:rPr>
              <a:t>Exit</a:t>
            </a:r>
          </a:p>
        </p:txBody>
      </p:sp>
      <p:sp>
        <p:nvSpPr>
          <p:cNvPr id="20" name="">
            <a:extLst xmlns:a="http://schemas.openxmlformats.org/drawingml/2006/main">
              <a:ext uri="{FF2B5EF4-FFF2-40B4-BE49-F238E27FC236}">
                <a16:creationId xmlns:a16="http://schemas.microsoft.com/office/drawing/2014/main" id="{CEAE8FD0-F439-4018-9338-91F1AC1207B6}"/>
              </a:ext>
            </a:extLst>
          </p:cNvPr>
          <p:cNvSpPr>
            <a:spLocks xmlns:a="http://schemas.openxmlformats.org/drawingml/2006/main" noGrp="1"/>
          </p:cNvSpPr>
          <p:nvPr/>
        </p:nvSpPr>
        <p:spPr>
          <a:xfrm xmlns:a="http://schemas.openxmlformats.org/drawingml/2006/main">
            <a:off x="3028950" y="3867150"/>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68727D"/>
                </a:solidFill>
                <a:latin typeface="Arial"/>
                <a:ea typeface="Arial"/>
                <a:cs typeface="Arial"/>
              </a:defRPr>
            </a:pPr>
            <a:r>
              <a:rPr sz="1575" b="0">
                <a:solidFill>
                  <a:srgbClr val="68727D"/>
                </a:solidFill>
                <a:latin typeface="Arial"/>
                <a:ea typeface="Arial"/>
                <a:cs typeface="Arial"/>
              </a:rPr>
              <a:t>Unchanged next-open parent SMA cross-down</a:t>
            </a:r>
          </a:p>
        </p:txBody>
      </p:sp>
      <p:sp>
        <p:nvSpPr>
          <p:cNvPr id="21" name="">
            <a:extLst xmlns:a="http://schemas.openxmlformats.org/drawingml/2006/main">
              <a:ext uri="{FF2B5EF4-FFF2-40B4-BE49-F238E27FC236}">
                <a16:creationId xmlns:a16="http://schemas.microsoft.com/office/drawing/2014/main" id="{E2DEA537-CFCE-4ECE-A1BB-02863CF19481}"/>
              </a:ext>
            </a:extLst>
          </p:cNvPr>
          <p:cNvSpPr>
            <a:spLocks xmlns:a="http://schemas.openxmlformats.org/drawingml/2006/main" noGrp="1"/>
          </p:cNvSpPr>
          <p:nvPr/>
        </p:nvSpPr>
        <p:spPr>
          <a:xfrm xmlns:a="http://schemas.openxmlformats.org/drawingml/2006/main">
            <a:off x="495300" y="4533900"/>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05</a:t>
            </a:r>
          </a:p>
        </p:txBody>
      </p:sp>
      <p:sp>
        <p:nvSpPr>
          <p:cNvPr id="22" name="">
            <a:extLst xmlns:a="http://schemas.openxmlformats.org/drawingml/2006/main">
              <a:ext uri="{FF2B5EF4-FFF2-40B4-BE49-F238E27FC236}">
                <a16:creationId xmlns:a16="http://schemas.microsoft.com/office/drawing/2014/main" id="{1C969396-0E81-409F-A2B3-C0D79586C4EB}"/>
              </a:ext>
            </a:extLst>
          </p:cNvPr>
          <p:cNvSpPr>
            <a:spLocks xmlns:a="http://schemas.openxmlformats.org/drawingml/2006/main" noGrp="1"/>
          </p:cNvSpPr>
          <p:nvPr/>
        </p:nvSpPr>
        <p:spPr>
          <a:xfrm xmlns:a="http://schemas.openxmlformats.org/drawingml/2006/main">
            <a:off x="1200150" y="4438650"/>
            <a:ext cx="9953625" cy="590550"/>
          </a:xfrm>
          <a:prstGeom xmlns:a="http://schemas.openxmlformats.org/drawingml/2006/main" prst="rect">
            <a:avLst/>
          </a:prstGeom>
          <a:solidFill xmlns:a="http://schemas.openxmlformats.org/drawingml/2006/main">
            <a:srgbClr val="F4F6F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D010133-F3F4-4627-9B75-ACB6F6534E31}"/>
              </a:ext>
            </a:extLst>
          </p:cNvPr>
          <p:cNvSpPr>
            <a:spLocks xmlns:a="http://schemas.openxmlformats.org/drawingml/2006/main" noGrp="1"/>
          </p:cNvSpPr>
          <p:nvPr/>
        </p:nvSpPr>
        <p:spPr>
          <a:xfrm xmlns:a="http://schemas.openxmlformats.org/drawingml/2006/main">
            <a:off x="1466850" y="45910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7202A"/>
                </a:solidFill>
                <a:latin typeface="Arial"/>
                <a:ea typeface="Arial"/>
                <a:cs typeface="Arial"/>
              </a:defRPr>
            </a:pPr>
            <a:r>
              <a:rPr sz="1650" b="1">
                <a:solidFill>
                  <a:srgbClr val="17202A"/>
                </a:solidFill>
                <a:latin typeface="Arial"/>
                <a:ea typeface="Arial"/>
                <a:cs typeface="Arial"/>
              </a:rPr>
              <a:t>Costs</a:t>
            </a:r>
          </a:p>
        </p:txBody>
      </p:sp>
      <p:sp>
        <p:nvSpPr>
          <p:cNvPr id="24" name="">
            <a:extLst xmlns:a="http://schemas.openxmlformats.org/drawingml/2006/main">
              <a:ext uri="{FF2B5EF4-FFF2-40B4-BE49-F238E27FC236}">
                <a16:creationId xmlns:a16="http://schemas.microsoft.com/office/drawing/2014/main" id="{51974859-ACEE-4D72-BBC5-52A5864E0C03}"/>
              </a:ext>
            </a:extLst>
          </p:cNvPr>
          <p:cNvSpPr>
            <a:spLocks xmlns:a="http://schemas.openxmlformats.org/drawingml/2006/main" noGrp="1"/>
          </p:cNvSpPr>
          <p:nvPr/>
        </p:nvSpPr>
        <p:spPr>
          <a:xfrm xmlns:a="http://schemas.openxmlformats.org/drawingml/2006/main">
            <a:off x="3028950" y="4591050"/>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68727D"/>
                </a:solidFill>
                <a:latin typeface="Arial"/>
                <a:ea typeface="Arial"/>
                <a:cs typeface="Arial"/>
              </a:defRPr>
            </a:pPr>
            <a:r>
              <a:rPr sz="1575" b="0">
                <a:solidFill>
                  <a:srgbClr val="68727D"/>
                </a:solidFill>
                <a:latin typeface="Arial"/>
                <a:ea typeface="Arial"/>
                <a:cs typeface="Arial"/>
              </a:rPr>
              <a:t>5 bp per side primary; 10 bp stress</a:t>
            </a:r>
          </a:p>
        </p:txBody>
      </p:sp>
      <p:sp>
        <p:nvSpPr>
          <p:cNvPr id="25" name="">
            <a:extLst xmlns:a="http://schemas.openxmlformats.org/drawingml/2006/main">
              <a:ext uri="{FF2B5EF4-FFF2-40B4-BE49-F238E27FC236}">
                <a16:creationId xmlns:a16="http://schemas.microsoft.com/office/drawing/2014/main" id="{C24A5C57-A68A-41C6-A763-A59A01A6087D}"/>
              </a:ext>
            </a:extLst>
          </p:cNvPr>
          <p:cNvSpPr>
            <a:spLocks xmlns:a="http://schemas.openxmlformats.org/drawingml/2006/main" noGrp="1"/>
          </p:cNvSpPr>
          <p:nvPr/>
        </p:nvSpPr>
        <p:spPr>
          <a:xfrm xmlns:a="http://schemas.openxmlformats.org/drawingml/2006/main">
            <a:off x="495300" y="5257800"/>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06</a:t>
            </a:r>
          </a:p>
        </p:txBody>
      </p:sp>
      <p:sp>
        <p:nvSpPr>
          <p:cNvPr id="26" name="">
            <a:extLst xmlns:a="http://schemas.openxmlformats.org/drawingml/2006/main">
              <a:ext uri="{FF2B5EF4-FFF2-40B4-BE49-F238E27FC236}">
                <a16:creationId xmlns:a16="http://schemas.microsoft.com/office/drawing/2014/main" id="{571880EA-8D8E-4121-81FA-EE1CE4D4CF3A}"/>
              </a:ext>
            </a:extLst>
          </p:cNvPr>
          <p:cNvSpPr>
            <a:spLocks xmlns:a="http://schemas.openxmlformats.org/drawingml/2006/main" noGrp="1"/>
          </p:cNvSpPr>
          <p:nvPr/>
        </p:nvSpPr>
        <p:spPr>
          <a:xfrm xmlns:a="http://schemas.openxmlformats.org/drawingml/2006/main">
            <a:off x="1200150" y="5162550"/>
            <a:ext cx="9953625" cy="590550"/>
          </a:xfrm>
          <a:prstGeom xmlns:a="http://schemas.openxmlformats.org/drawingml/2006/main" prst="rect">
            <a:avLst/>
          </a:prstGeom>
          <a:solidFill xmlns:a="http://schemas.openxmlformats.org/drawingml/2006/main">
            <a:srgbClr val="F4F6F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C2F578B-1BDF-44E8-9AAB-B33EBF7F3FFF}"/>
              </a:ext>
            </a:extLst>
          </p:cNvPr>
          <p:cNvSpPr>
            <a:spLocks xmlns:a="http://schemas.openxmlformats.org/drawingml/2006/main" noGrp="1"/>
          </p:cNvSpPr>
          <p:nvPr/>
        </p:nvSpPr>
        <p:spPr>
          <a:xfrm xmlns:a="http://schemas.openxmlformats.org/drawingml/2006/main">
            <a:off x="1466850" y="53149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7202A"/>
                </a:solidFill>
                <a:latin typeface="Arial"/>
                <a:ea typeface="Arial"/>
                <a:cs typeface="Arial"/>
              </a:defRPr>
            </a:pPr>
            <a:r>
              <a:rPr sz="1650" b="1">
                <a:solidFill>
                  <a:srgbClr val="17202A"/>
                </a:solidFill>
                <a:latin typeface="Arial"/>
                <a:ea typeface="Arial"/>
                <a:cs typeface="Arial"/>
              </a:rPr>
              <a:t>Controls</a:t>
            </a:r>
          </a:p>
        </p:txBody>
      </p:sp>
      <p:sp>
        <p:nvSpPr>
          <p:cNvPr id="28" name="">
            <a:extLst xmlns:a="http://schemas.openxmlformats.org/drawingml/2006/main">
              <a:ext uri="{FF2B5EF4-FFF2-40B4-BE49-F238E27FC236}">
                <a16:creationId xmlns:a16="http://schemas.microsoft.com/office/drawing/2014/main" id="{94EB7635-1BE8-427C-A450-91F5BB2DDCF3}"/>
              </a:ext>
            </a:extLst>
          </p:cNvPr>
          <p:cNvSpPr>
            <a:spLocks xmlns:a="http://schemas.openxmlformats.org/drawingml/2006/main" noGrp="1"/>
          </p:cNvSpPr>
          <p:nvPr/>
        </p:nvSpPr>
        <p:spPr>
          <a:xfrm xmlns:a="http://schemas.openxmlformats.org/drawingml/2006/main">
            <a:off x="3028950" y="5314950"/>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68727D"/>
                </a:solidFill>
                <a:latin typeface="Arial"/>
                <a:ea typeface="Arial"/>
                <a:cs typeface="Arial"/>
              </a:defRPr>
            </a:pPr>
            <a:r>
              <a:rPr sz="1575" b="0">
                <a:solidFill>
                  <a:srgbClr val="68727D"/>
                </a:solidFill>
                <a:latin typeface="Arial"/>
                <a:ea typeface="Arial"/>
                <a:cs typeface="Arial"/>
              </a:rPr>
              <a:t>200 circular schedules; compare 40 exposure-nearest</a:t>
            </a:r>
          </a:p>
        </p:txBody>
      </p:sp>
      <p:sp>
        <p:nvSpPr>
          <p:cNvPr id="29" name="">
            <a:extLst xmlns:a="http://schemas.openxmlformats.org/drawingml/2006/main">
              <a:ext uri="{FF2B5EF4-FFF2-40B4-BE49-F238E27FC236}">
                <a16:creationId xmlns:a16="http://schemas.microsoft.com/office/drawing/2014/main" id="{BA485DC3-7134-48E7-85C6-FC12FBCA2F2D}"/>
              </a:ext>
            </a:extLst>
          </p:cNvPr>
          <p:cNvSpPr>
            <a:spLocks xmlns:a="http://schemas.openxmlformats.org/drawingml/2006/main" noGrp="1"/>
          </p:cNvSpPr>
          <p:nvPr/>
        </p:nvSpPr>
        <p:spPr>
          <a:xfrm xmlns:a="http://schemas.openxmlformats.org/drawingml/2006/main">
            <a:off x="457200" y="60960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D95F59"/>
                </a:solidFill>
                <a:latin typeface="Arial"/>
                <a:ea typeface="Arial"/>
                <a:cs typeface="Arial"/>
              </a:defRPr>
            </a:pPr>
            <a:r>
              <a:rPr sz="1500" b="1">
                <a:solidFill>
                  <a:srgbClr val="D95F59"/>
                </a:solidFill>
                <a:latin typeface="Arial"/>
                <a:ea typeface="Arial"/>
                <a:cs typeface="Arial"/>
              </a:rPr>
              <a:t>No direct breakout entry, range-driven exit, leverage, ATR join, or parameter search.</a:t>
            </a:r>
          </a:p>
        </p:txBody>
      </p:sp>
    </p:spTree>
    <p:extLst>
      <p:ext uri="{BB962C8B-B14F-4D97-AF65-F5344CB8AC3E}">
        <p14:creationId xmlns:p14="http://schemas.microsoft.com/office/powerpoint/2010/main" val="166114587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4F5062B-3F67-4C29-AD29-A89EB1F9FB5A}"/>
              </a:ext>
            </a:extLst>
          </p:cNvPr>
          <p:cNvSpPr>
            <a:spLocks xmlns:a="http://schemas.openxmlformats.org/drawingml/2006/main" noGrp="1"/>
          </p:cNvSpPr>
          <p:nvPr/>
        </p:nvSpPr>
        <p:spPr>
          <a:xfrm xmlns:a="http://schemas.openxmlformats.org/drawingml/2006/main">
            <a:off x="457200" y="19050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3D8DFF"/>
                </a:solidFill>
                <a:latin typeface="Arial"/>
                <a:ea typeface="Arial"/>
                <a:cs typeface="Arial"/>
              </a:defRPr>
            </a:pPr>
            <a:r>
              <a:rPr sz="975" b="1">
                <a:solidFill>
                  <a:srgbClr val="3D8DFF"/>
                </a:solidFill>
                <a:latin typeface="Arial"/>
                <a:ea typeface="Arial"/>
                <a:cs typeface="Arial"/>
              </a:rPr>
              <a:t>STRATEGY EVIDENCE</a:t>
            </a:r>
          </a:p>
        </p:txBody>
      </p:sp>
      <p:sp>
        <p:nvSpPr>
          <p:cNvPr id="2" name="">
            <a:extLst xmlns:a="http://schemas.openxmlformats.org/drawingml/2006/main">
              <a:ext uri="{FF2B5EF4-FFF2-40B4-BE49-F238E27FC236}">
                <a16:creationId xmlns:a16="http://schemas.microsoft.com/office/drawing/2014/main" id="{A0A41EEB-3534-4290-BEFD-55D1F26B8B21}"/>
              </a:ext>
            </a:extLst>
          </p:cNvPr>
          <p:cNvSpPr>
            <a:spLocks xmlns:a="http://schemas.openxmlformats.org/drawingml/2006/main" noGrp="1"/>
          </p:cNvSpPr>
          <p:nvPr/>
        </p:nvSpPr>
        <p:spPr>
          <a:xfrm xmlns:a="http://schemas.openxmlformats.org/drawingml/2006/main">
            <a:off x="457200" y="466725"/>
            <a:ext cx="110490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17202A"/>
                </a:solidFill>
                <a:latin typeface="Arial"/>
                <a:ea typeface="Arial"/>
                <a:cs typeface="Arial"/>
              </a:defRPr>
            </a:pPr>
            <a:r>
              <a:rPr sz="2700" b="1">
                <a:solidFill>
                  <a:srgbClr val="17202A"/>
                </a:solidFill>
                <a:latin typeface="Arial"/>
                <a:ea typeface="Arial"/>
                <a:cs typeface="Arial"/>
              </a:rPr>
              <a:t>The gate cut drawdown by holding cash, not by earning return</a:t>
            </a:r>
          </a:p>
        </p:txBody>
      </p:sp>
      <p:sp>
        <p:nvSpPr>
          <p:cNvPr id="3" name="">
            <a:extLst xmlns:a="http://schemas.openxmlformats.org/drawingml/2006/main">
              <a:ext uri="{FF2B5EF4-FFF2-40B4-BE49-F238E27FC236}">
                <a16:creationId xmlns:a16="http://schemas.microsoft.com/office/drawing/2014/main" id="{E9473297-A79E-4CA1-8EF7-FD6A119A852C}"/>
              </a:ext>
            </a:extLst>
          </p:cNvPr>
          <p:cNvSpPr>
            <a:spLocks xmlns:a="http://schemas.openxmlformats.org/drawingml/2006/main" noGrp="1"/>
          </p:cNvSpPr>
          <p:nvPr/>
        </p:nvSpPr>
        <p:spPr>
          <a:xfrm xmlns:a="http://schemas.openxmlformats.org/drawingml/2006/main">
            <a:off x="457200" y="1295400"/>
            <a:ext cx="112776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B03F316-F9A0-4D86-A123-C4011189FFC1}"/>
              </a:ext>
            </a:extLst>
          </p:cNvPr>
          <p:cNvSpPr>
            <a:spLocks xmlns:a="http://schemas.openxmlformats.org/drawingml/2006/main" noGrp="1"/>
          </p:cNvSpPr>
          <p:nvPr/>
        </p:nvSpPr>
        <p:spPr>
          <a:xfrm xmlns:a="http://schemas.openxmlformats.org/drawingml/2006/main">
            <a:off x="112585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68727D"/>
                </a:solidFill>
                <a:latin typeface="Arial"/>
                <a:ea typeface="Arial"/>
                <a:cs typeface="Arial"/>
              </a:defRPr>
            </a:pPr>
            <a:r>
              <a:rPr sz="975" b="0">
                <a:solidFill>
                  <a:srgbClr val="68727D"/>
                </a:solidFill>
                <a:latin typeface="Arial"/>
                <a:ea typeface="Arial"/>
                <a:cs typeface="Arial"/>
              </a:rPr>
              <a:t>09</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a155ae1b5dcd4460"/>
          <a:stretch xmlns:a="http://schemas.openxmlformats.org/drawingml/2006/main"/>
        </p:blipFill>
        <p:spPr>
          <a:xfrm xmlns:a="http://schemas.openxmlformats.org/drawingml/2006/main">
            <a:off x="457200" y="1691217"/>
            <a:ext cx="7524750" cy="418041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A316B28-CBA9-4142-881F-F5E6A7D6F91B}"/>
              </a:ext>
            </a:extLst>
          </p:cNvPr>
          <p:cNvSpPr>
            <a:spLocks xmlns:a="http://schemas.openxmlformats.org/drawingml/2006/main" noGrp="1"/>
          </p:cNvSpPr>
          <p:nvPr/>
        </p:nvSpPr>
        <p:spPr>
          <a:xfrm xmlns:a="http://schemas.openxmlformats.org/drawingml/2006/main">
            <a:off x="8429625" y="1600200"/>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550" b="1">
                <a:solidFill>
                  <a:srgbClr val="D95F59"/>
                </a:solidFill>
                <a:latin typeface="Arial"/>
                <a:ea typeface="Arial"/>
                <a:cs typeface="Arial"/>
              </a:defRPr>
            </a:pPr>
            <a:r>
              <a:rPr sz="2550" b="1">
                <a:solidFill>
                  <a:srgbClr val="D95F59"/>
                </a:solidFill>
                <a:latin typeface="Arial"/>
                <a:ea typeface="Arial"/>
                <a:cs typeface="Arial"/>
              </a:rPr>
              <a:t>8.95% → 0.00%</a:t>
            </a:r>
          </a:p>
        </p:txBody>
      </p:sp>
      <p:sp>
        <p:nvSpPr>
          <p:cNvPr id="7" name="">
            <a:extLst xmlns:a="http://schemas.openxmlformats.org/drawingml/2006/main">
              <a:ext uri="{FF2B5EF4-FFF2-40B4-BE49-F238E27FC236}">
                <a16:creationId xmlns:a16="http://schemas.microsoft.com/office/drawing/2014/main" id="{D1E5C994-D5DA-4064-90FE-59CD383E7C61}"/>
              </a:ext>
            </a:extLst>
          </p:cNvPr>
          <p:cNvSpPr>
            <a:spLocks xmlns:a="http://schemas.openxmlformats.org/drawingml/2006/main" noGrp="1"/>
          </p:cNvSpPr>
          <p:nvPr/>
        </p:nvSpPr>
        <p:spPr>
          <a:xfrm xmlns:a="http://schemas.openxmlformats.org/drawingml/2006/main">
            <a:off x="8429625" y="215265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68727D"/>
                </a:solidFill>
                <a:latin typeface="Arial"/>
                <a:ea typeface="Arial"/>
                <a:cs typeface="Arial"/>
              </a:defRPr>
            </a:pPr>
            <a:r>
              <a:rPr sz="1500" b="0">
                <a:solidFill>
                  <a:srgbClr val="68727D"/>
                </a:solidFill>
                <a:latin typeface="Arial"/>
                <a:ea typeface="Arial"/>
                <a:cs typeface="Arial"/>
              </a:rPr>
              <a:t>median annual return</a:t>
            </a:r>
          </a:p>
        </p:txBody>
      </p:sp>
      <p:sp>
        <p:nvSpPr>
          <p:cNvPr id="8" name="">
            <a:extLst xmlns:a="http://schemas.openxmlformats.org/drawingml/2006/main">
              <a:ext uri="{FF2B5EF4-FFF2-40B4-BE49-F238E27FC236}">
                <a16:creationId xmlns:a16="http://schemas.microsoft.com/office/drawing/2014/main" id="{47968C00-D539-42FC-A825-97905DF0196A}"/>
              </a:ext>
            </a:extLst>
          </p:cNvPr>
          <p:cNvSpPr>
            <a:spLocks xmlns:a="http://schemas.openxmlformats.org/drawingml/2006/main" noGrp="1"/>
          </p:cNvSpPr>
          <p:nvPr/>
        </p:nvSpPr>
        <p:spPr>
          <a:xfrm xmlns:a="http://schemas.openxmlformats.org/drawingml/2006/main">
            <a:off x="8429625" y="291465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2E8B57"/>
                </a:solidFill>
                <a:latin typeface="Arial"/>
                <a:ea typeface="Arial"/>
                <a:cs typeface="Arial"/>
              </a:defRPr>
            </a:pPr>
            <a:r>
              <a:rPr sz="2325" b="1">
                <a:solidFill>
                  <a:srgbClr val="2E8B57"/>
                </a:solidFill>
                <a:latin typeface="Arial"/>
                <a:ea typeface="Arial"/>
                <a:cs typeface="Arial"/>
              </a:rPr>
              <a:t>−14.59% → −8.04%</a:t>
            </a:r>
          </a:p>
        </p:txBody>
      </p:sp>
      <p:sp>
        <p:nvSpPr>
          <p:cNvPr id="9" name="">
            <a:extLst xmlns:a="http://schemas.openxmlformats.org/drawingml/2006/main">
              <a:ext uri="{FF2B5EF4-FFF2-40B4-BE49-F238E27FC236}">
                <a16:creationId xmlns:a16="http://schemas.microsoft.com/office/drawing/2014/main" id="{F3BBDCAA-0F7F-448C-97BB-C8C597D76853}"/>
              </a:ext>
            </a:extLst>
          </p:cNvPr>
          <p:cNvSpPr>
            <a:spLocks xmlns:a="http://schemas.openxmlformats.org/drawingml/2006/main" noGrp="1"/>
          </p:cNvSpPr>
          <p:nvPr/>
        </p:nvSpPr>
        <p:spPr>
          <a:xfrm xmlns:a="http://schemas.openxmlformats.org/drawingml/2006/main">
            <a:off x="8429625" y="34671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68727D"/>
                </a:solidFill>
                <a:latin typeface="Arial"/>
                <a:ea typeface="Arial"/>
                <a:cs typeface="Arial"/>
              </a:defRPr>
            </a:pPr>
            <a:r>
              <a:rPr sz="1500" b="0">
                <a:solidFill>
                  <a:srgbClr val="68727D"/>
                </a:solidFill>
                <a:latin typeface="Arial"/>
                <a:ea typeface="Arial"/>
                <a:cs typeface="Arial"/>
              </a:rPr>
              <a:t>median maximum drawdown</a:t>
            </a:r>
          </a:p>
        </p:txBody>
      </p:sp>
      <p:sp>
        <p:nvSpPr>
          <p:cNvPr id="10" name="">
            <a:extLst xmlns:a="http://schemas.openxmlformats.org/drawingml/2006/main">
              <a:ext uri="{FF2B5EF4-FFF2-40B4-BE49-F238E27FC236}">
                <a16:creationId xmlns:a16="http://schemas.microsoft.com/office/drawing/2014/main" id="{EBE10BB0-50E8-4E70-A4CA-5080B63AD67E}"/>
              </a:ext>
            </a:extLst>
          </p:cNvPr>
          <p:cNvSpPr>
            <a:spLocks xmlns:a="http://schemas.openxmlformats.org/drawingml/2006/main" noGrp="1"/>
          </p:cNvSpPr>
          <p:nvPr/>
        </p:nvSpPr>
        <p:spPr>
          <a:xfrm xmlns:a="http://schemas.openxmlformats.org/drawingml/2006/main">
            <a:off x="8429625" y="4229100"/>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latin typeface="Arial"/>
                <a:ea typeface="Arial"/>
                <a:cs typeface="Arial"/>
              </a:defRPr>
            </a:pPr>
            <a:r>
              <a:rPr sz="2325" b="1">
                <a:solidFill>
                  <a:srgbClr val="D95F59"/>
                </a:solidFill>
                <a:latin typeface="Arial"/>
                <a:ea typeface="Arial"/>
                <a:cs typeface="Arial"/>
              </a:rPr>
              <a:t>0.642 → −0.132</a:t>
            </a:r>
          </a:p>
        </p:txBody>
      </p:sp>
      <p:sp>
        <p:nvSpPr>
          <p:cNvPr id="11" name="">
            <a:extLst xmlns:a="http://schemas.openxmlformats.org/drawingml/2006/main">
              <a:ext uri="{FF2B5EF4-FFF2-40B4-BE49-F238E27FC236}">
                <a16:creationId xmlns:a16="http://schemas.microsoft.com/office/drawing/2014/main" id="{E23186D4-65D0-48C5-9490-1E80215771BE}"/>
              </a:ext>
            </a:extLst>
          </p:cNvPr>
          <p:cNvSpPr>
            <a:spLocks xmlns:a="http://schemas.openxmlformats.org/drawingml/2006/main" noGrp="1"/>
          </p:cNvSpPr>
          <p:nvPr/>
        </p:nvSpPr>
        <p:spPr>
          <a:xfrm xmlns:a="http://schemas.openxmlformats.org/drawingml/2006/main">
            <a:off x="8429625" y="478155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68727D"/>
                </a:solidFill>
                <a:latin typeface="Arial"/>
                <a:ea typeface="Arial"/>
                <a:cs typeface="Arial"/>
              </a:defRPr>
            </a:pPr>
            <a:r>
              <a:rPr sz="1500" b="0">
                <a:solidFill>
                  <a:srgbClr val="68727D"/>
                </a:solidFill>
                <a:latin typeface="Arial"/>
                <a:ea typeface="Arial"/>
                <a:cs typeface="Arial"/>
              </a:rPr>
              <a:t>median Sharpe</a:t>
            </a:r>
          </a:p>
        </p:txBody>
      </p:sp>
      <p:sp>
        <p:nvSpPr>
          <p:cNvPr id="12" name="">
            <a:extLst xmlns:a="http://schemas.openxmlformats.org/drawingml/2006/main">
              <a:ext uri="{FF2B5EF4-FFF2-40B4-BE49-F238E27FC236}">
                <a16:creationId xmlns:a16="http://schemas.microsoft.com/office/drawing/2014/main" id="{A3970DC1-C24C-45C9-8A2E-D0F0DC8B36CC}"/>
              </a:ext>
            </a:extLst>
          </p:cNvPr>
          <p:cNvSpPr>
            <a:spLocks xmlns:a="http://schemas.openxmlformats.org/drawingml/2006/main" noGrp="1"/>
          </p:cNvSpPr>
          <p:nvPr/>
        </p:nvSpPr>
        <p:spPr>
          <a:xfrm xmlns:a="http://schemas.openxmlformats.org/drawingml/2006/main">
            <a:off x="8429625" y="54292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D95F59"/>
                </a:solidFill>
                <a:latin typeface="Arial"/>
                <a:ea typeface="Arial"/>
                <a:cs typeface="Arial"/>
              </a:defRPr>
            </a:pPr>
            <a:r>
              <a:rPr sz="1500" b="1">
                <a:solidFill>
                  <a:srgbClr val="D95F59"/>
                </a:solidFill>
                <a:latin typeface="Arial"/>
                <a:ea typeface="Arial"/>
                <a:cs typeface="Arial"/>
              </a:rPr>
              <a:t>1 / 24 assets · 1 / 6 years · 61.3rd timing percentile</a:t>
            </a:r>
          </a:p>
        </p:txBody>
      </p:sp>
    </p:spTree>
    <p:extLst>
      <p:ext uri="{BB962C8B-B14F-4D97-AF65-F5344CB8AC3E}">
        <p14:creationId xmlns:p14="http://schemas.microsoft.com/office/powerpoint/2010/main" val="144755632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03FEBE6-BC14-4262-B19A-D735DEAA8650}"/>
              </a:ext>
            </a:extLst>
          </p:cNvPr>
          <p:cNvSpPr>
            <a:spLocks xmlns:a="http://schemas.openxmlformats.org/drawingml/2006/main" noGrp="1"/>
          </p:cNvSpPr>
          <p:nvPr/>
        </p:nvSpPr>
        <p:spPr>
          <a:xfrm xmlns:a="http://schemas.openxmlformats.org/drawingml/2006/main">
            <a:off x="457200" y="19050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3D8DFF"/>
                </a:solidFill>
                <a:latin typeface="Arial"/>
                <a:ea typeface="Arial"/>
                <a:cs typeface="Arial"/>
              </a:defRPr>
            </a:pPr>
            <a:r>
              <a:rPr sz="975" b="1">
                <a:solidFill>
                  <a:srgbClr val="3D8DFF"/>
                </a:solidFill>
                <a:latin typeface="Arial"/>
                <a:ea typeface="Arial"/>
                <a:cs typeface="Arial"/>
              </a:rPr>
              <a:t>TRADE-LEVEL AUDIT</a:t>
            </a:r>
          </a:p>
        </p:txBody>
      </p:sp>
      <p:sp>
        <p:nvSpPr>
          <p:cNvPr id="2" name="">
            <a:extLst xmlns:a="http://schemas.openxmlformats.org/drawingml/2006/main">
              <a:ext uri="{FF2B5EF4-FFF2-40B4-BE49-F238E27FC236}">
                <a16:creationId xmlns:a16="http://schemas.microsoft.com/office/drawing/2014/main" id="{963FEB39-6AD3-4C02-9C4E-31868345B3E1}"/>
              </a:ext>
            </a:extLst>
          </p:cNvPr>
          <p:cNvSpPr>
            <a:spLocks xmlns:a="http://schemas.openxmlformats.org/drawingml/2006/main" noGrp="1"/>
          </p:cNvSpPr>
          <p:nvPr/>
        </p:nvSpPr>
        <p:spPr>
          <a:xfrm xmlns:a="http://schemas.openxmlformats.org/drawingml/2006/main">
            <a:off x="457200" y="466725"/>
            <a:ext cx="110490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17202A"/>
                </a:solidFill>
                <a:latin typeface="Arial"/>
                <a:ea typeface="Arial"/>
                <a:cs typeface="Arial"/>
              </a:defRPr>
            </a:pPr>
            <a:r>
              <a:rPr sz="2700" b="1">
                <a:solidFill>
                  <a:srgbClr val="17202A"/>
                </a:solidFill>
                <a:latin typeface="Arial"/>
                <a:ea typeface="Arial"/>
                <a:cs typeface="Arial"/>
              </a:rPr>
              <a:t>Upper-range persistence weakened fresh SMA-cross outcomes</a:t>
            </a:r>
          </a:p>
        </p:txBody>
      </p:sp>
      <p:sp>
        <p:nvSpPr>
          <p:cNvPr id="3" name="">
            <a:extLst xmlns:a="http://schemas.openxmlformats.org/drawingml/2006/main">
              <a:ext uri="{FF2B5EF4-FFF2-40B4-BE49-F238E27FC236}">
                <a16:creationId xmlns:a16="http://schemas.microsoft.com/office/drawing/2014/main" id="{7C9C2658-2199-4A3D-9A90-A59D0E3F79E5}"/>
              </a:ext>
            </a:extLst>
          </p:cNvPr>
          <p:cNvSpPr>
            <a:spLocks xmlns:a="http://schemas.openxmlformats.org/drawingml/2006/main" noGrp="1"/>
          </p:cNvSpPr>
          <p:nvPr/>
        </p:nvSpPr>
        <p:spPr>
          <a:xfrm xmlns:a="http://schemas.openxmlformats.org/drawingml/2006/main">
            <a:off x="457200" y="1295400"/>
            <a:ext cx="112776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5A5FE10-826A-434D-ADED-D08835E331AA}"/>
              </a:ext>
            </a:extLst>
          </p:cNvPr>
          <p:cNvSpPr>
            <a:spLocks xmlns:a="http://schemas.openxmlformats.org/drawingml/2006/main" noGrp="1"/>
          </p:cNvSpPr>
          <p:nvPr/>
        </p:nvSpPr>
        <p:spPr>
          <a:xfrm xmlns:a="http://schemas.openxmlformats.org/drawingml/2006/main">
            <a:off x="112585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68727D"/>
                </a:solidFill>
                <a:latin typeface="Arial"/>
                <a:ea typeface="Arial"/>
                <a:cs typeface="Arial"/>
              </a:defRPr>
            </a:pPr>
            <a:r>
              <a:rPr sz="975" b="0">
                <a:solidFill>
                  <a:srgbClr val="68727D"/>
                </a:solidFill>
                <a:latin typeface="Arial"/>
                <a:ea typeface="Arial"/>
                <a:cs typeface="Arial"/>
              </a:rPr>
              <a:t>10</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83fbcfd6f2c649e3"/>
          <a:stretch xmlns:a="http://schemas.openxmlformats.org/drawingml/2006/main"/>
        </p:blipFill>
        <p:spPr>
          <a:xfrm xmlns:a="http://schemas.openxmlformats.org/drawingml/2006/main">
            <a:off x="457200" y="1717675"/>
            <a:ext cx="7429500" cy="4127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D3507CA-5678-4C9A-8BD6-A37441F079DD}"/>
              </a:ext>
            </a:extLst>
          </p:cNvPr>
          <p:cNvSpPr>
            <a:spLocks xmlns:a="http://schemas.openxmlformats.org/drawingml/2006/main" noGrp="1"/>
          </p:cNvSpPr>
          <p:nvPr/>
        </p:nvSpPr>
        <p:spPr>
          <a:xfrm xmlns:a="http://schemas.openxmlformats.org/drawingml/2006/main">
            <a:off x="8334375" y="16192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68727D"/>
                </a:solidFill>
                <a:latin typeface="Arial"/>
                <a:ea typeface="Arial"/>
                <a:cs typeface="Arial"/>
              </a:defRPr>
            </a:pPr>
            <a:r>
              <a:rPr sz="1350" b="1">
                <a:solidFill>
                  <a:srgbClr val="68727D"/>
                </a:solidFill>
                <a:latin typeface="Arial"/>
                <a:ea typeface="Arial"/>
                <a:cs typeface="Arial"/>
              </a:rPr>
              <a:t>Context</a:t>
            </a:r>
          </a:p>
        </p:txBody>
      </p:sp>
      <p:sp>
        <p:nvSpPr>
          <p:cNvPr id="7" name="">
            <a:extLst xmlns:a="http://schemas.openxmlformats.org/drawingml/2006/main">
              <a:ext uri="{FF2B5EF4-FFF2-40B4-BE49-F238E27FC236}">
                <a16:creationId xmlns:a16="http://schemas.microsoft.com/office/drawing/2014/main" id="{F6F6B7CC-E7C9-4F99-B882-73E8C3867408}"/>
              </a:ext>
            </a:extLst>
          </p:cNvPr>
          <p:cNvSpPr>
            <a:spLocks xmlns:a="http://schemas.openxmlformats.org/drawingml/2006/main" noGrp="1"/>
          </p:cNvSpPr>
          <p:nvPr/>
        </p:nvSpPr>
        <p:spPr>
          <a:xfrm xmlns:a="http://schemas.openxmlformats.org/drawingml/2006/main">
            <a:off x="10096500" y="161925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68727D"/>
                </a:solidFill>
                <a:latin typeface="Arial"/>
                <a:ea typeface="Arial"/>
                <a:cs typeface="Arial"/>
              </a:defRPr>
            </a:pPr>
            <a:r>
              <a:rPr sz="1350" b="1">
                <a:solidFill>
                  <a:srgbClr val="68727D"/>
                </a:solidFill>
                <a:latin typeface="Arial"/>
                <a:ea typeface="Arial"/>
                <a:cs typeface="Arial"/>
              </a:rPr>
              <a:t>Trades</a:t>
            </a:r>
          </a:p>
        </p:txBody>
      </p:sp>
      <p:sp>
        <p:nvSpPr>
          <p:cNvPr id="8" name="">
            <a:extLst xmlns:a="http://schemas.openxmlformats.org/drawingml/2006/main">
              <a:ext uri="{FF2B5EF4-FFF2-40B4-BE49-F238E27FC236}">
                <a16:creationId xmlns:a16="http://schemas.microsoft.com/office/drawing/2014/main" id="{441E6C41-4F5C-4D12-B4A2-F14E3950506C}"/>
              </a:ext>
            </a:extLst>
          </p:cNvPr>
          <p:cNvSpPr>
            <a:spLocks xmlns:a="http://schemas.openxmlformats.org/drawingml/2006/main" noGrp="1"/>
          </p:cNvSpPr>
          <p:nvPr/>
        </p:nvSpPr>
        <p:spPr>
          <a:xfrm xmlns:a="http://schemas.openxmlformats.org/drawingml/2006/main">
            <a:off x="10877550" y="16192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68727D"/>
                </a:solidFill>
                <a:latin typeface="Arial"/>
                <a:ea typeface="Arial"/>
                <a:cs typeface="Arial"/>
              </a:defRPr>
            </a:pPr>
            <a:r>
              <a:rPr sz="1350" b="1">
                <a:solidFill>
                  <a:srgbClr val="68727D"/>
                </a:solidFill>
                <a:latin typeface="Arial"/>
                <a:ea typeface="Arial"/>
                <a:cs typeface="Arial"/>
              </a:rPr>
              <a:t>Hit</a:t>
            </a:r>
          </a:p>
        </p:txBody>
      </p:sp>
      <p:sp>
        <p:nvSpPr>
          <p:cNvPr id="9" name="">
            <a:extLst xmlns:a="http://schemas.openxmlformats.org/drawingml/2006/main">
              <a:ext uri="{FF2B5EF4-FFF2-40B4-BE49-F238E27FC236}">
                <a16:creationId xmlns:a16="http://schemas.microsoft.com/office/drawing/2014/main" id="{1441EBA4-A024-41A8-85D7-C10603E3EA17}"/>
              </a:ext>
            </a:extLst>
          </p:cNvPr>
          <p:cNvSpPr>
            <a:spLocks xmlns:a="http://schemas.openxmlformats.org/drawingml/2006/main" noGrp="1"/>
          </p:cNvSpPr>
          <p:nvPr/>
        </p:nvSpPr>
        <p:spPr>
          <a:xfrm xmlns:a="http://schemas.openxmlformats.org/drawingml/2006/main">
            <a:off x="8191500" y="2095500"/>
            <a:ext cx="3333750" cy="838200"/>
          </a:xfrm>
          <a:prstGeom xmlns:a="http://schemas.openxmlformats.org/drawingml/2006/main" prst="rect">
            <a:avLst/>
          </a:prstGeom>
          <a:solidFill xmlns:a="http://schemas.openxmlformats.org/drawingml/2006/main">
            <a:srgbClr val="F4F6F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38FF00B-869A-44A7-98BF-0214001271CB}"/>
              </a:ext>
            </a:extLst>
          </p:cNvPr>
          <p:cNvSpPr>
            <a:spLocks xmlns:a="http://schemas.openxmlformats.org/drawingml/2006/main" noGrp="1"/>
          </p:cNvSpPr>
          <p:nvPr/>
        </p:nvSpPr>
        <p:spPr>
          <a:xfrm xmlns:a="http://schemas.openxmlformats.org/drawingml/2006/main">
            <a:off x="8401050" y="22288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7202A"/>
                </a:solidFill>
                <a:latin typeface="Arial"/>
                <a:ea typeface="Arial"/>
                <a:cs typeface="Arial"/>
              </a:defRPr>
            </a:pPr>
            <a:r>
              <a:rPr sz="1425" b="1">
                <a:solidFill>
                  <a:srgbClr val="17202A"/>
                </a:solidFill>
                <a:latin typeface="Arial"/>
                <a:ea typeface="Arial"/>
                <a:cs typeface="Arial"/>
              </a:rPr>
              <a:t>Other</a:t>
            </a:r>
          </a:p>
        </p:txBody>
      </p:sp>
      <p:sp>
        <p:nvSpPr>
          <p:cNvPr id="11" name="">
            <a:extLst xmlns:a="http://schemas.openxmlformats.org/drawingml/2006/main">
              <a:ext uri="{FF2B5EF4-FFF2-40B4-BE49-F238E27FC236}">
                <a16:creationId xmlns:a16="http://schemas.microsoft.com/office/drawing/2014/main" id="{22B91029-1780-4079-8BD0-967B573608F4}"/>
              </a:ext>
            </a:extLst>
          </p:cNvPr>
          <p:cNvSpPr>
            <a:spLocks xmlns:a="http://schemas.openxmlformats.org/drawingml/2006/main" noGrp="1"/>
          </p:cNvSpPr>
          <p:nvPr/>
        </p:nvSpPr>
        <p:spPr>
          <a:xfrm xmlns:a="http://schemas.openxmlformats.org/drawingml/2006/main">
            <a:off x="10191750" y="22288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350" b="0">
                <a:solidFill>
                  <a:srgbClr val="17202A"/>
                </a:solidFill>
                <a:latin typeface="Arial"/>
                <a:ea typeface="Arial"/>
                <a:cs typeface="Arial"/>
              </a:defRPr>
            </a:pPr>
            <a:r>
              <a:rPr sz="1350" b="0">
                <a:solidFill>
                  <a:srgbClr val="17202A"/>
                </a:solidFill>
                <a:latin typeface="Arial"/>
                <a:ea typeface="Arial"/>
                <a:cs typeface="Arial"/>
              </a:rPr>
              <a:t>811 · 48.0%</a:t>
            </a:r>
          </a:p>
        </p:txBody>
      </p:sp>
      <p:sp>
        <p:nvSpPr>
          <p:cNvPr id="12" name="">
            <a:extLst xmlns:a="http://schemas.openxmlformats.org/drawingml/2006/main">
              <a:ext uri="{FF2B5EF4-FFF2-40B4-BE49-F238E27FC236}">
                <a16:creationId xmlns:a16="http://schemas.microsoft.com/office/drawing/2014/main" id="{DADBE3AC-15D0-439C-8486-B6AFC1AFFC5C}"/>
              </a:ext>
            </a:extLst>
          </p:cNvPr>
          <p:cNvSpPr>
            <a:spLocks xmlns:a="http://schemas.openxmlformats.org/drawingml/2006/main" noGrp="1"/>
          </p:cNvSpPr>
          <p:nvPr/>
        </p:nvSpPr>
        <p:spPr>
          <a:xfrm xmlns:a="http://schemas.openxmlformats.org/drawingml/2006/main">
            <a:off x="8401050" y="25527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8727D"/>
                </a:solidFill>
                <a:latin typeface="Arial"/>
                <a:ea typeface="Arial"/>
                <a:cs typeface="Arial"/>
              </a:defRPr>
            </a:pPr>
            <a:r>
              <a:rPr sz="1350" b="0">
                <a:solidFill>
                  <a:srgbClr val="68727D"/>
                </a:solidFill>
                <a:latin typeface="Arial"/>
                <a:ea typeface="Arial"/>
                <a:cs typeface="Arial"/>
              </a:rPr>
              <a:t>median −0.15%</a:t>
            </a:r>
          </a:p>
        </p:txBody>
      </p:sp>
      <p:sp>
        <p:nvSpPr>
          <p:cNvPr id="13" name="">
            <a:extLst xmlns:a="http://schemas.openxmlformats.org/drawingml/2006/main">
              <a:ext uri="{FF2B5EF4-FFF2-40B4-BE49-F238E27FC236}">
                <a16:creationId xmlns:a16="http://schemas.microsoft.com/office/drawing/2014/main" id="{B88F1DE8-EB05-461E-8E93-97DFA297707F}"/>
              </a:ext>
            </a:extLst>
          </p:cNvPr>
          <p:cNvSpPr>
            <a:spLocks xmlns:a="http://schemas.openxmlformats.org/drawingml/2006/main" noGrp="1"/>
          </p:cNvSpPr>
          <p:nvPr/>
        </p:nvSpPr>
        <p:spPr>
          <a:xfrm xmlns:a="http://schemas.openxmlformats.org/drawingml/2006/main">
            <a:off x="8191500" y="3162300"/>
            <a:ext cx="3333750" cy="838200"/>
          </a:xfrm>
          <a:prstGeom xmlns:a="http://schemas.openxmlformats.org/drawingml/2006/main" prst="rect">
            <a:avLst/>
          </a:prstGeom>
          <a:solidFill xmlns:a="http://schemas.openxmlformats.org/drawingml/2006/main">
            <a:srgbClr val="F4F6F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EC7505B-111F-47A5-BACC-EDE4614A2573}"/>
              </a:ext>
            </a:extLst>
          </p:cNvPr>
          <p:cNvSpPr>
            <a:spLocks xmlns:a="http://schemas.openxmlformats.org/drawingml/2006/main" noGrp="1"/>
          </p:cNvSpPr>
          <p:nvPr/>
        </p:nvSpPr>
        <p:spPr>
          <a:xfrm xmlns:a="http://schemas.openxmlformats.org/drawingml/2006/main">
            <a:off x="8401050" y="32956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7202A"/>
                </a:solidFill>
                <a:latin typeface="Arial"/>
                <a:ea typeface="Arial"/>
                <a:cs typeface="Arial"/>
              </a:defRPr>
            </a:pPr>
            <a:r>
              <a:rPr sz="1425" b="1">
                <a:solidFill>
                  <a:srgbClr val="17202A"/>
                </a:solidFill>
                <a:latin typeface="Arial"/>
                <a:ea typeface="Arial"/>
                <a:cs typeface="Arial"/>
              </a:rPr>
              <a:t>Upper only</a:t>
            </a:r>
          </a:p>
        </p:txBody>
      </p:sp>
      <p:sp>
        <p:nvSpPr>
          <p:cNvPr id="15" name="">
            <a:extLst xmlns:a="http://schemas.openxmlformats.org/drawingml/2006/main">
              <a:ext uri="{FF2B5EF4-FFF2-40B4-BE49-F238E27FC236}">
                <a16:creationId xmlns:a16="http://schemas.microsoft.com/office/drawing/2014/main" id="{7D695B4A-D21B-4072-9652-4B9F40CED000}"/>
              </a:ext>
            </a:extLst>
          </p:cNvPr>
          <p:cNvSpPr>
            <a:spLocks xmlns:a="http://schemas.openxmlformats.org/drawingml/2006/main" noGrp="1"/>
          </p:cNvSpPr>
          <p:nvPr/>
        </p:nvSpPr>
        <p:spPr>
          <a:xfrm xmlns:a="http://schemas.openxmlformats.org/drawingml/2006/main">
            <a:off x="10191750" y="32956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350" b="0">
                <a:solidFill>
                  <a:srgbClr val="17202A"/>
                </a:solidFill>
                <a:latin typeface="Arial"/>
                <a:ea typeface="Arial"/>
                <a:cs typeface="Arial"/>
              </a:defRPr>
            </a:pPr>
            <a:r>
              <a:rPr sz="1350" b="0">
                <a:solidFill>
                  <a:srgbClr val="17202A"/>
                </a:solidFill>
                <a:latin typeface="Arial"/>
                <a:ea typeface="Arial"/>
                <a:cs typeface="Arial"/>
              </a:rPr>
              <a:t>103 · 45.6%</a:t>
            </a:r>
          </a:p>
        </p:txBody>
      </p:sp>
      <p:sp>
        <p:nvSpPr>
          <p:cNvPr id="16" name="">
            <a:extLst xmlns:a="http://schemas.openxmlformats.org/drawingml/2006/main">
              <a:ext uri="{FF2B5EF4-FFF2-40B4-BE49-F238E27FC236}">
                <a16:creationId xmlns:a16="http://schemas.microsoft.com/office/drawing/2014/main" id="{3579B196-AB02-499F-A412-6B08BED43C42}"/>
              </a:ext>
            </a:extLst>
          </p:cNvPr>
          <p:cNvSpPr>
            <a:spLocks xmlns:a="http://schemas.openxmlformats.org/drawingml/2006/main" noGrp="1"/>
          </p:cNvSpPr>
          <p:nvPr/>
        </p:nvSpPr>
        <p:spPr>
          <a:xfrm xmlns:a="http://schemas.openxmlformats.org/drawingml/2006/main">
            <a:off x="8401050" y="36195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8727D"/>
                </a:solidFill>
                <a:latin typeface="Arial"/>
                <a:ea typeface="Arial"/>
                <a:cs typeface="Arial"/>
              </a:defRPr>
            </a:pPr>
            <a:r>
              <a:rPr sz="1350" b="0">
                <a:solidFill>
                  <a:srgbClr val="68727D"/>
                </a:solidFill>
                <a:latin typeface="Arial"/>
                <a:ea typeface="Arial"/>
                <a:cs typeface="Arial"/>
              </a:rPr>
              <a:t>median −0.28%</a:t>
            </a:r>
          </a:p>
        </p:txBody>
      </p:sp>
      <p:sp>
        <p:nvSpPr>
          <p:cNvPr id="17" name="">
            <a:extLst xmlns:a="http://schemas.openxmlformats.org/drawingml/2006/main">
              <a:ext uri="{FF2B5EF4-FFF2-40B4-BE49-F238E27FC236}">
                <a16:creationId xmlns:a16="http://schemas.microsoft.com/office/drawing/2014/main" id="{5B6A20B5-CCBA-4C76-8A4F-CF3D5AAD70DA}"/>
              </a:ext>
            </a:extLst>
          </p:cNvPr>
          <p:cNvSpPr>
            <a:spLocks xmlns:a="http://schemas.openxmlformats.org/drawingml/2006/main" noGrp="1"/>
          </p:cNvSpPr>
          <p:nvPr/>
        </p:nvSpPr>
        <p:spPr>
          <a:xfrm xmlns:a="http://schemas.openxmlformats.org/drawingml/2006/main">
            <a:off x="8191500" y="4229100"/>
            <a:ext cx="3333750" cy="838200"/>
          </a:xfrm>
          <a:prstGeom xmlns:a="http://schemas.openxmlformats.org/drawingml/2006/main" prst="rect">
            <a:avLst/>
          </a:prstGeom>
          <a:solidFill xmlns:a="http://schemas.openxmlformats.org/drawingml/2006/main">
            <a:srgbClr val="FBE8E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874C9C6-A864-4347-B380-BC02F07BA78B}"/>
              </a:ext>
            </a:extLst>
          </p:cNvPr>
          <p:cNvSpPr>
            <a:spLocks xmlns:a="http://schemas.openxmlformats.org/drawingml/2006/main" noGrp="1"/>
          </p:cNvSpPr>
          <p:nvPr/>
        </p:nvSpPr>
        <p:spPr>
          <a:xfrm xmlns:a="http://schemas.openxmlformats.org/drawingml/2006/main">
            <a:off x="8401050" y="43624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D95F59"/>
                </a:solidFill>
                <a:latin typeface="Arial"/>
                <a:ea typeface="Arial"/>
                <a:cs typeface="Arial"/>
              </a:defRPr>
            </a:pPr>
            <a:r>
              <a:rPr sz="1425" b="1">
                <a:solidFill>
                  <a:srgbClr val="D95F59"/>
                </a:solidFill>
                <a:latin typeface="Arial"/>
                <a:ea typeface="Arial"/>
                <a:cs typeface="Arial"/>
              </a:rPr>
              <a:t>Upper persistent</a:t>
            </a:r>
          </a:p>
        </p:txBody>
      </p:sp>
      <p:sp>
        <p:nvSpPr>
          <p:cNvPr id="19" name="">
            <a:extLst xmlns:a="http://schemas.openxmlformats.org/drawingml/2006/main">
              <a:ext uri="{FF2B5EF4-FFF2-40B4-BE49-F238E27FC236}">
                <a16:creationId xmlns:a16="http://schemas.microsoft.com/office/drawing/2014/main" id="{788382D2-0771-4E26-836A-AA3DC997E6E5}"/>
              </a:ext>
            </a:extLst>
          </p:cNvPr>
          <p:cNvSpPr>
            <a:spLocks xmlns:a="http://schemas.openxmlformats.org/drawingml/2006/main" noGrp="1"/>
          </p:cNvSpPr>
          <p:nvPr/>
        </p:nvSpPr>
        <p:spPr>
          <a:xfrm xmlns:a="http://schemas.openxmlformats.org/drawingml/2006/main">
            <a:off x="10191750" y="43624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350" b="0">
                <a:solidFill>
                  <a:srgbClr val="17202A"/>
                </a:solidFill>
                <a:latin typeface="Arial"/>
                <a:ea typeface="Arial"/>
                <a:cs typeface="Arial"/>
              </a:defRPr>
            </a:pPr>
            <a:r>
              <a:rPr sz="1350" b="0">
                <a:solidFill>
                  <a:srgbClr val="17202A"/>
                </a:solidFill>
                <a:latin typeface="Arial"/>
                <a:ea typeface="Arial"/>
                <a:cs typeface="Arial"/>
              </a:rPr>
              <a:t>480 · 43.1%</a:t>
            </a:r>
          </a:p>
        </p:txBody>
      </p:sp>
      <p:sp>
        <p:nvSpPr>
          <p:cNvPr id="20" name="">
            <a:extLst xmlns:a="http://schemas.openxmlformats.org/drawingml/2006/main">
              <a:ext uri="{FF2B5EF4-FFF2-40B4-BE49-F238E27FC236}">
                <a16:creationId xmlns:a16="http://schemas.microsoft.com/office/drawing/2014/main" id="{36B8CF54-4B02-4E6C-B3F8-4B3D8818C8C7}"/>
              </a:ext>
            </a:extLst>
          </p:cNvPr>
          <p:cNvSpPr>
            <a:spLocks xmlns:a="http://schemas.openxmlformats.org/drawingml/2006/main" noGrp="1"/>
          </p:cNvSpPr>
          <p:nvPr/>
        </p:nvSpPr>
        <p:spPr>
          <a:xfrm xmlns:a="http://schemas.openxmlformats.org/drawingml/2006/main">
            <a:off x="8401050" y="46863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8727D"/>
                </a:solidFill>
                <a:latin typeface="Arial"/>
                <a:ea typeface="Arial"/>
                <a:cs typeface="Arial"/>
              </a:defRPr>
            </a:pPr>
            <a:r>
              <a:rPr sz="1350" b="0">
                <a:solidFill>
                  <a:srgbClr val="68727D"/>
                </a:solidFill>
                <a:latin typeface="Arial"/>
                <a:ea typeface="Arial"/>
                <a:cs typeface="Arial"/>
              </a:rPr>
              <a:t>median −0.68%</a:t>
            </a:r>
          </a:p>
        </p:txBody>
      </p:sp>
      <p:sp>
        <p:nvSpPr>
          <p:cNvPr id="21" name="">
            <a:extLst xmlns:a="http://schemas.openxmlformats.org/drawingml/2006/main">
              <a:ext uri="{FF2B5EF4-FFF2-40B4-BE49-F238E27FC236}">
                <a16:creationId xmlns:a16="http://schemas.microsoft.com/office/drawing/2014/main" id="{BFCF236F-3DB6-4B8C-95C5-93098651919B}"/>
              </a:ext>
            </a:extLst>
          </p:cNvPr>
          <p:cNvSpPr>
            <a:spLocks xmlns:a="http://schemas.openxmlformats.org/drawingml/2006/main" noGrp="1"/>
          </p:cNvSpPr>
          <p:nvPr/>
        </p:nvSpPr>
        <p:spPr>
          <a:xfrm xmlns:a="http://schemas.openxmlformats.org/drawingml/2006/main">
            <a:off x="8191500" y="55245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3D8DFF"/>
                </a:solidFill>
                <a:latin typeface="Arial"/>
                <a:ea typeface="Arial"/>
                <a:cs typeface="Arial"/>
              </a:defRPr>
            </a:pPr>
            <a:r>
              <a:rPr sz="1725" b="1">
                <a:solidFill>
                  <a:srgbClr val="3D8DFF"/>
                </a:solidFill>
                <a:latin typeface="Arial"/>
                <a:ea typeface="Arial"/>
                <a:cs typeface="Arial"/>
              </a:rPr>
              <a:t>Interpretation</a:t>
            </a:r>
          </a:p>
        </p:txBody>
      </p:sp>
      <p:sp>
        <p:nvSpPr>
          <p:cNvPr id="22" name="">
            <a:extLst xmlns:a="http://schemas.openxmlformats.org/drawingml/2006/main">
              <a:ext uri="{FF2B5EF4-FFF2-40B4-BE49-F238E27FC236}">
                <a16:creationId xmlns:a16="http://schemas.microsoft.com/office/drawing/2014/main" id="{A40E202C-7874-48FC-B634-B7F2803BFD19}"/>
              </a:ext>
            </a:extLst>
          </p:cNvPr>
          <p:cNvSpPr>
            <a:spLocks xmlns:a="http://schemas.openxmlformats.org/drawingml/2006/main" noGrp="1"/>
          </p:cNvSpPr>
          <p:nvPr/>
        </p:nvSpPr>
        <p:spPr>
          <a:xfrm xmlns:a="http://schemas.openxmlformats.org/drawingml/2006/main">
            <a:off x="8191500" y="5886450"/>
            <a:ext cx="333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17202A"/>
                </a:solidFill>
                <a:latin typeface="Arial"/>
                <a:ea typeface="Arial"/>
                <a:cs typeface="Arial"/>
              </a:defRPr>
            </a:pPr>
            <a:r>
              <a:rPr sz="1425" b="0">
                <a:solidFill>
                  <a:srgbClr val="17202A"/>
                </a:solidFill>
                <a:latin typeface="Arial"/>
                <a:ea typeface="Arial"/>
                <a:cs typeface="Arial"/>
              </a:rPr>
              <a:t>The state describes strength, but requiring a new short-SMA cross after sustained upper-range residence appears late or extended.</a:t>
            </a:r>
          </a:p>
        </p:txBody>
      </p:sp>
    </p:spTree>
    <p:extLst>
      <p:ext uri="{BB962C8B-B14F-4D97-AF65-F5344CB8AC3E}">
        <p14:creationId xmlns:p14="http://schemas.microsoft.com/office/powerpoint/2010/main" val="137225389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3452B02-FC24-4711-BDAA-9F2DCA99B227}"/>
              </a:ext>
            </a:extLst>
          </p:cNvPr>
          <p:cNvSpPr>
            <a:spLocks xmlns:a="http://schemas.openxmlformats.org/drawingml/2006/main" noGrp="1"/>
          </p:cNvSpPr>
          <p:nvPr/>
        </p:nvSpPr>
        <p:spPr>
          <a:xfrm xmlns:a="http://schemas.openxmlformats.org/drawingml/2006/main">
            <a:off x="457200" y="19050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3D8DFF"/>
                </a:solidFill>
                <a:latin typeface="Arial"/>
                <a:ea typeface="Arial"/>
                <a:cs typeface="Arial"/>
              </a:defRPr>
            </a:pPr>
            <a:r>
              <a:rPr sz="975" b="1">
                <a:solidFill>
                  <a:srgbClr val="3D8DFF"/>
                </a:solidFill>
                <a:latin typeface="Arial"/>
                <a:ea typeface="Arial"/>
                <a:cs typeface="Arial"/>
              </a:rPr>
              <a:t>DECISION</a:t>
            </a:r>
          </a:p>
        </p:txBody>
      </p:sp>
      <p:sp>
        <p:nvSpPr>
          <p:cNvPr id="2" name="">
            <a:extLst xmlns:a="http://schemas.openxmlformats.org/drawingml/2006/main">
              <a:ext uri="{FF2B5EF4-FFF2-40B4-BE49-F238E27FC236}">
                <a16:creationId xmlns:a16="http://schemas.microsoft.com/office/drawing/2014/main" id="{4DEF1D5C-C946-4172-8C08-EA3FFE8619B5}"/>
              </a:ext>
            </a:extLst>
          </p:cNvPr>
          <p:cNvSpPr>
            <a:spLocks xmlns:a="http://schemas.openxmlformats.org/drawingml/2006/main" noGrp="1"/>
          </p:cNvSpPr>
          <p:nvPr/>
        </p:nvSpPr>
        <p:spPr>
          <a:xfrm xmlns:a="http://schemas.openxmlformats.org/drawingml/2006/main">
            <a:off x="457200" y="466725"/>
            <a:ext cx="110490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17202A"/>
                </a:solidFill>
                <a:latin typeface="Arial"/>
                <a:ea typeface="Arial"/>
                <a:cs typeface="Arial"/>
              </a:defRPr>
            </a:pPr>
            <a:r>
              <a:rPr sz="2700" b="1">
                <a:solidFill>
                  <a:srgbClr val="17202A"/>
                </a:solidFill>
                <a:latin typeface="Arial"/>
                <a:ea typeface="Arial"/>
                <a:cs typeface="Arial"/>
              </a:rPr>
              <a:t>Keep the measurement, stop the gate, and move to HMM theory</a:t>
            </a:r>
          </a:p>
        </p:txBody>
      </p:sp>
      <p:sp>
        <p:nvSpPr>
          <p:cNvPr id="3" name="">
            <a:extLst xmlns:a="http://schemas.openxmlformats.org/drawingml/2006/main">
              <a:ext uri="{FF2B5EF4-FFF2-40B4-BE49-F238E27FC236}">
                <a16:creationId xmlns:a16="http://schemas.microsoft.com/office/drawing/2014/main" id="{FC71649E-3F19-4C82-ADF2-3C01C5E06CD2}"/>
              </a:ext>
            </a:extLst>
          </p:cNvPr>
          <p:cNvSpPr>
            <a:spLocks xmlns:a="http://schemas.openxmlformats.org/drawingml/2006/main" noGrp="1"/>
          </p:cNvSpPr>
          <p:nvPr/>
        </p:nvSpPr>
        <p:spPr>
          <a:xfrm xmlns:a="http://schemas.openxmlformats.org/drawingml/2006/main">
            <a:off x="457200" y="1295400"/>
            <a:ext cx="112776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E449084-2939-4325-8CB1-3ED22B7B6CA5}"/>
              </a:ext>
            </a:extLst>
          </p:cNvPr>
          <p:cNvSpPr>
            <a:spLocks xmlns:a="http://schemas.openxmlformats.org/drawingml/2006/main" noGrp="1"/>
          </p:cNvSpPr>
          <p:nvPr/>
        </p:nvSpPr>
        <p:spPr>
          <a:xfrm xmlns:a="http://schemas.openxmlformats.org/drawingml/2006/main">
            <a:off x="11258550" y="6381750"/>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68727D"/>
                </a:solidFill>
                <a:latin typeface="Arial"/>
                <a:ea typeface="Arial"/>
                <a:cs typeface="Arial"/>
              </a:defRPr>
            </a:pPr>
            <a:r>
              <a:rPr sz="975" b="0">
                <a:solidFill>
                  <a:srgbClr val="68727D"/>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074E274B-75E9-40D5-BBEF-8D358F31B13A}"/>
              </a:ext>
            </a:extLst>
          </p:cNvPr>
          <p:cNvSpPr>
            <a:spLocks xmlns:a="http://schemas.openxmlformats.org/drawingml/2006/main" noGrp="1"/>
          </p:cNvSpPr>
          <p:nvPr/>
        </p:nvSpPr>
        <p:spPr>
          <a:xfrm xmlns:a="http://schemas.openxmlformats.org/drawingml/2006/main">
            <a:off x="457200" y="1695450"/>
            <a:ext cx="2476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050" b="1">
                <a:solidFill>
                  <a:srgbClr val="D95F59"/>
                </a:solidFill>
                <a:latin typeface="Arial"/>
                <a:ea typeface="Arial"/>
                <a:cs typeface="Arial"/>
              </a:defRPr>
            </a:pPr>
            <a:r>
              <a:rPr sz="4050" b="1">
                <a:solidFill>
                  <a:srgbClr val="D95F59"/>
                </a:solidFill>
                <a:latin typeface="Arial"/>
                <a:ea typeface="Arial"/>
                <a:cs typeface="Arial"/>
              </a:rPr>
              <a:t>STOP</a:t>
            </a:r>
          </a:p>
        </p:txBody>
      </p:sp>
      <p:sp>
        <p:nvSpPr>
          <p:cNvPr id="6" name="">
            <a:extLst xmlns:a="http://schemas.openxmlformats.org/drawingml/2006/main">
              <a:ext uri="{FF2B5EF4-FFF2-40B4-BE49-F238E27FC236}">
                <a16:creationId xmlns:a16="http://schemas.microsoft.com/office/drawing/2014/main" id="{F814E229-3D73-40A7-8709-E0ADA8DB5CF9}"/>
              </a:ext>
            </a:extLst>
          </p:cNvPr>
          <p:cNvSpPr>
            <a:spLocks xmlns:a="http://schemas.openxmlformats.org/drawingml/2006/main" noGrp="1"/>
          </p:cNvSpPr>
          <p:nvPr/>
        </p:nvSpPr>
        <p:spPr>
          <a:xfrm xmlns:a="http://schemas.openxmlformats.org/drawingml/2006/main">
            <a:off x="457200" y="24574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17202A"/>
                </a:solidFill>
                <a:latin typeface="Arial"/>
                <a:ea typeface="Arial"/>
                <a:cs typeface="Arial"/>
              </a:defRPr>
            </a:pPr>
            <a:r>
              <a:rPr sz="2025" b="1">
                <a:solidFill>
                  <a:srgbClr val="17202A"/>
                </a:solidFill>
                <a:latin typeface="Arial"/>
                <a:ea typeface="Arial"/>
                <a:cs typeface="Arial"/>
              </a:rPr>
              <a:t>Strategy: 3 / 9</a:t>
            </a:r>
          </a:p>
        </p:txBody>
      </p:sp>
      <p:sp>
        <p:nvSpPr>
          <p:cNvPr id="7" name="">
            <a:extLst xmlns:a="http://schemas.openxmlformats.org/drawingml/2006/main">
              <a:ext uri="{FF2B5EF4-FFF2-40B4-BE49-F238E27FC236}">
                <a16:creationId xmlns:a16="http://schemas.microsoft.com/office/drawing/2014/main" id="{50102073-2799-47D4-BD14-5113406F4202}"/>
              </a:ext>
            </a:extLst>
          </p:cNvPr>
          <p:cNvSpPr>
            <a:spLocks xmlns:a="http://schemas.openxmlformats.org/drawingml/2006/main" noGrp="1"/>
          </p:cNvSpPr>
          <p:nvPr/>
        </p:nvSpPr>
        <p:spPr>
          <a:xfrm xmlns:a="http://schemas.openxmlformats.org/drawingml/2006/main">
            <a:off x="457200" y="32194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2E8B57"/>
                </a:solidFill>
                <a:latin typeface="Arial"/>
                <a:ea typeface="Arial"/>
                <a:cs typeface="Arial"/>
              </a:defRPr>
            </a:pPr>
            <a:r>
              <a:rPr sz="1800" b="1">
                <a:solidFill>
                  <a:srgbClr val="2E8B57"/>
                </a:solidFill>
                <a:latin typeface="Arial"/>
                <a:ea typeface="Arial"/>
                <a:cs typeface="Arial"/>
              </a:rPr>
              <a:t>Retain</a:t>
            </a:r>
          </a:p>
        </p:txBody>
      </p:sp>
      <p:sp>
        <p:nvSpPr>
          <p:cNvPr id="8" name="">
            <a:extLst xmlns:a="http://schemas.openxmlformats.org/drawingml/2006/main">
              <a:ext uri="{FF2B5EF4-FFF2-40B4-BE49-F238E27FC236}">
                <a16:creationId xmlns:a16="http://schemas.microsoft.com/office/drawing/2014/main" id="{03948375-83B2-4F92-81CC-5615BC991E31}"/>
              </a:ext>
            </a:extLst>
          </p:cNvPr>
          <p:cNvSpPr>
            <a:spLocks xmlns:a="http://schemas.openxmlformats.org/drawingml/2006/main" noGrp="1"/>
          </p:cNvSpPr>
          <p:nvPr/>
        </p:nvSpPr>
        <p:spPr>
          <a:xfrm xmlns:a="http://schemas.openxmlformats.org/drawingml/2006/main">
            <a:off x="457200" y="3657600"/>
            <a:ext cx="4953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7202A"/>
                </a:solidFill>
                <a:latin typeface="Arial"/>
                <a:ea typeface="Arial"/>
                <a:cs typeface="Arial"/>
              </a:defRPr>
            </a:pPr>
            <a:r>
              <a:rPr sz="1650" b="0">
                <a:solidFill>
                  <a:srgbClr val="17202A"/>
                </a:solidFill>
                <a:latin typeface="Arial"/>
                <a:ea typeface="Arial"/>
                <a:cs typeface="Arial"/>
              </a:rPr>
              <a:t>• uncapped causal range-position ledger</a:t>
            </a:r>
          </a:p>
          <a:p xmlns:a="http://schemas.openxmlformats.org/drawingml/2006/main">
            <a:pPr algn="l">
              <a:defRPr sz="1650" b="0">
                <a:solidFill>
                  <a:srgbClr val="17202A"/>
                </a:solidFill>
                <a:latin typeface="Arial"/>
                <a:ea typeface="Arial"/>
                <a:cs typeface="Arial"/>
              </a:defRPr>
            </a:pPr>
            <a:r>
              <a:rPr sz="1650" b="0">
                <a:solidFill>
                  <a:srgbClr val="17202A"/>
                </a:solidFill>
                <a:latin typeface="Arial"/>
                <a:ea typeface="Arial"/>
                <a:cs typeface="Arial"/>
              </a:rPr>
              <a:t>• symmetric persistence states</a:t>
            </a:r>
          </a:p>
          <a:p xmlns:a="http://schemas.openxmlformats.org/drawingml/2006/main">
            <a:pPr algn="l">
              <a:defRPr sz="1650" b="0">
                <a:solidFill>
                  <a:srgbClr val="17202A"/>
                </a:solidFill>
                <a:latin typeface="Arial"/>
                <a:ea typeface="Arial"/>
                <a:cs typeface="Arial"/>
              </a:defRPr>
            </a:pPr>
            <a:r>
              <a:rPr sz="1650" b="0">
                <a:solidFill>
                  <a:srgbClr val="17202A"/>
                </a:solidFill>
                <a:latin typeface="Arial"/>
                <a:ea typeface="Arial"/>
                <a:cs typeface="Arial"/>
              </a:rPr>
              <a:t>• fixed-boundary breakout events</a:t>
            </a:r>
          </a:p>
          <a:p xmlns:a="http://schemas.openxmlformats.org/drawingml/2006/main">
            <a:pPr algn="l">
              <a:defRPr sz="1650" b="0">
                <a:solidFill>
                  <a:srgbClr val="17202A"/>
                </a:solidFill>
                <a:latin typeface="Arial"/>
                <a:ea typeface="Arial"/>
                <a:cs typeface="Arial"/>
              </a:defRPr>
            </a:pPr>
            <a:r>
              <a:rPr sz="1650" b="0">
                <a:solidFill>
                  <a:srgbClr val="17202A"/>
                </a:solidFill>
                <a:latin typeface="Arial"/>
                <a:ea typeface="Arial"/>
                <a:cs typeface="Arial"/>
              </a:rPr>
              <a:t>• synthetic and real usability harness</a:t>
            </a:r>
          </a:p>
        </p:txBody>
      </p:sp>
      <p:sp>
        <p:nvSpPr>
          <p:cNvPr id="9" name="">
            <a:extLst xmlns:a="http://schemas.openxmlformats.org/drawingml/2006/main">
              <a:ext uri="{FF2B5EF4-FFF2-40B4-BE49-F238E27FC236}">
                <a16:creationId xmlns:a16="http://schemas.microsoft.com/office/drawing/2014/main" id="{198D73F2-DAAE-48A6-8D6A-851A7A252730}"/>
              </a:ext>
            </a:extLst>
          </p:cNvPr>
          <p:cNvSpPr>
            <a:spLocks xmlns:a="http://schemas.openxmlformats.org/drawingml/2006/main" noGrp="1"/>
          </p:cNvSpPr>
          <p:nvPr/>
        </p:nvSpPr>
        <p:spPr>
          <a:xfrm xmlns:a="http://schemas.openxmlformats.org/drawingml/2006/main">
            <a:off x="5953125" y="1600200"/>
            <a:ext cx="19050" cy="40957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2D33018-48F9-4F3E-BECD-116744F37C86}"/>
              </a:ext>
            </a:extLst>
          </p:cNvPr>
          <p:cNvSpPr>
            <a:spLocks xmlns:a="http://schemas.openxmlformats.org/drawingml/2006/main" noGrp="1"/>
          </p:cNvSpPr>
          <p:nvPr/>
        </p:nvSpPr>
        <p:spPr>
          <a:xfrm xmlns:a="http://schemas.openxmlformats.org/drawingml/2006/main">
            <a:off x="6477000" y="16954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D95F59"/>
                </a:solidFill>
                <a:latin typeface="Arial"/>
                <a:ea typeface="Arial"/>
                <a:cs typeface="Arial"/>
              </a:defRPr>
            </a:pPr>
            <a:r>
              <a:rPr sz="2025" b="1">
                <a:solidFill>
                  <a:srgbClr val="D95F59"/>
                </a:solidFill>
                <a:latin typeface="Arial"/>
                <a:ea typeface="Arial"/>
                <a:cs typeface="Arial"/>
              </a:rPr>
              <a:t>Do not rescue</a:t>
            </a:r>
          </a:p>
        </p:txBody>
      </p:sp>
      <p:sp>
        <p:nvSpPr>
          <p:cNvPr id="11" name="">
            <a:extLst xmlns:a="http://schemas.openxmlformats.org/drawingml/2006/main">
              <a:ext uri="{FF2B5EF4-FFF2-40B4-BE49-F238E27FC236}">
                <a16:creationId xmlns:a16="http://schemas.microsoft.com/office/drawing/2014/main" id="{FBB3A168-6D49-4D4A-A3A6-9F1724F5AF45}"/>
              </a:ext>
            </a:extLst>
          </p:cNvPr>
          <p:cNvSpPr>
            <a:spLocks xmlns:a="http://schemas.openxmlformats.org/drawingml/2006/main" noGrp="1"/>
          </p:cNvSpPr>
          <p:nvPr/>
        </p:nvSpPr>
        <p:spPr>
          <a:xfrm xmlns:a="http://schemas.openxmlformats.org/drawingml/2006/main">
            <a:off x="6477000" y="2286000"/>
            <a:ext cx="4762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7202A"/>
                </a:solidFill>
                <a:latin typeface="Arial"/>
                <a:ea typeface="Arial"/>
                <a:cs typeface="Arial"/>
              </a:defRPr>
            </a:pPr>
            <a:r>
              <a:rPr sz="1650" b="0">
                <a:solidFill>
                  <a:srgbClr val="17202A"/>
                </a:solidFill>
                <a:latin typeface="Arial"/>
                <a:ea typeface="Arial"/>
                <a:cs typeface="Arial"/>
              </a:rPr>
              <a:t>Do not alter 63 sessions, thresholds, persistence, parent mechanics, costs, assets, or ATR%. Do not reinterpret this result as authority for a direct breakout strategy.</a:t>
            </a:r>
          </a:p>
        </p:txBody>
      </p:sp>
      <p:sp>
        <p:nvSpPr>
          <p:cNvPr id="12" name="">
            <a:extLst xmlns:a="http://schemas.openxmlformats.org/drawingml/2006/main">
              <a:ext uri="{FF2B5EF4-FFF2-40B4-BE49-F238E27FC236}">
                <a16:creationId xmlns:a16="http://schemas.microsoft.com/office/drawing/2014/main" id="{56331027-A1F2-4D5A-BA1B-1EE2FA48A4D8}"/>
              </a:ext>
            </a:extLst>
          </p:cNvPr>
          <p:cNvSpPr>
            <a:spLocks xmlns:a="http://schemas.openxmlformats.org/drawingml/2006/main" noGrp="1"/>
          </p:cNvSpPr>
          <p:nvPr/>
        </p:nvSpPr>
        <p:spPr>
          <a:xfrm xmlns:a="http://schemas.openxmlformats.org/drawingml/2006/main">
            <a:off x="6477000" y="421005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Next gate</a:t>
            </a:r>
          </a:p>
        </p:txBody>
      </p:sp>
      <p:sp>
        <p:nvSpPr>
          <p:cNvPr id="13" name="">
            <a:extLst xmlns:a="http://schemas.openxmlformats.org/drawingml/2006/main">
              <a:ext uri="{FF2B5EF4-FFF2-40B4-BE49-F238E27FC236}">
                <a16:creationId xmlns:a16="http://schemas.microsoft.com/office/drawing/2014/main" id="{6D864096-0876-4082-9FDF-255AE995E410}"/>
              </a:ext>
            </a:extLst>
          </p:cNvPr>
          <p:cNvSpPr>
            <a:spLocks xmlns:a="http://schemas.openxmlformats.org/drawingml/2006/main" noGrp="1"/>
          </p:cNvSpPr>
          <p:nvPr/>
        </p:nvSpPr>
        <p:spPr>
          <a:xfrm xmlns:a="http://schemas.openxmlformats.org/drawingml/2006/main">
            <a:off x="6477000" y="4686300"/>
            <a:ext cx="47625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68727D"/>
                </a:solidFill>
                <a:latin typeface="Arial"/>
                <a:ea typeface="Arial"/>
                <a:cs typeface="Arial"/>
              </a:defRPr>
            </a:pPr>
            <a:r>
              <a:rPr sz="1575" b="0">
                <a:solidFill>
                  <a:srgbClr val="68727D"/>
                </a:solidFill>
                <a:latin typeface="Arial"/>
                <a:ea typeface="Arial"/>
                <a:cs typeface="Arial"/>
              </a:rPr>
              <a:t>T1–T5 are complete without promotion. Begin a literature-first HMM discussion: filtered versus smoothed states, identifiability, label stability, state count, and the boundary between description and trading authority.</a:t>
            </a:r>
          </a:p>
        </p:txBody>
      </p:sp>
    </p:spTree>
    <p:extLst>
      <p:ext uri="{BB962C8B-B14F-4D97-AF65-F5344CB8AC3E}">
        <p14:creationId xmlns:p14="http://schemas.microsoft.com/office/powerpoint/2010/main" val="9198485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2026-08-17T20:20:02.0400000Z</dcterms:created>
  <dcterms:modified xsi:type="dcterms:W3CDTF">2026-08-17T20:20:02.0400000Z</dcterms:modified>
</coreProperties>
</file>