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6254a1690ea4321" /><Relationship Type="http://schemas.openxmlformats.org/officeDocument/2006/relationships/extended-properties" Target="/docProps/app.xml" Id="R669a58f491f64cd5" /><Relationship Type="http://schemas.openxmlformats.org/officeDocument/2006/relationships/officeDocument" Target="/ppt/presentation.xml" Id="Rd4167a1100b14e0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d601f1046cb46b9"/>
  </p:sldMasterIdLst>
  <p:notesMasterIdLst>
    <p:notesMasterId xmlns:r="http://schemas.openxmlformats.org/officeDocument/2006/relationships" r:id="R0e5c78d638cc4086"/>
  </p:notesMasterIdLst>
  <p:sldIdLst>
    <p:sldId xmlns:r="http://schemas.openxmlformats.org/officeDocument/2006/relationships" id="256" r:id="Re48daee387964eb4"/>
    <p:sldId xmlns:r="http://schemas.openxmlformats.org/officeDocument/2006/relationships" id="257" r:id="Rf144b341476c44a9"/>
    <p:sldId xmlns:r="http://schemas.openxmlformats.org/officeDocument/2006/relationships" id="258" r:id="R649fdf25139440a7"/>
    <p:sldId xmlns:r="http://schemas.openxmlformats.org/officeDocument/2006/relationships" id="259" r:id="R50ed35f4378a45f6"/>
    <p:sldId xmlns:r="http://schemas.openxmlformats.org/officeDocument/2006/relationships" id="260" r:id="Ra413532f5ec846e4"/>
    <p:sldId xmlns:r="http://schemas.openxmlformats.org/officeDocument/2006/relationships" id="261" r:id="Rb62e354e0f1a43e9"/>
    <p:sldId xmlns:r="http://schemas.openxmlformats.org/officeDocument/2006/relationships" id="262" r:id="Rbff16c94c599419f"/>
    <p:sldId xmlns:r="http://schemas.openxmlformats.org/officeDocument/2006/relationships" id="263" r:id="Ra1a2262bc51d45b3"/>
    <p:sldId xmlns:r="http://schemas.openxmlformats.org/officeDocument/2006/relationships" id="264" r:id="R602bd826e13b4c0d"/>
    <p:sldId xmlns:r="http://schemas.openxmlformats.org/officeDocument/2006/relationships" id="265" r:id="R2c50709b429940ed"/>
    <p:sldId xmlns:r="http://schemas.openxmlformats.org/officeDocument/2006/relationships" id="266" r:id="Re726c227608f40cd"/>
    <p:sldId xmlns:r="http://schemas.openxmlformats.org/officeDocument/2006/relationships" id="267" r:id="R04969df2e1344cab"/>
    <p:sldId xmlns:r="http://schemas.openxmlformats.org/officeDocument/2006/relationships" id="268" r:id="Rd2e7a9331c2c456c"/>
    <p:sldId xmlns:r="http://schemas.openxmlformats.org/officeDocument/2006/relationships" id="269" r:id="Rc5fba628b8254697"/>
    <p:sldId xmlns:r="http://schemas.openxmlformats.org/officeDocument/2006/relationships" id="270" r:id="R6d8aa32ecc40446c"/>
    <p:sldId xmlns:r="http://schemas.openxmlformats.org/officeDocument/2006/relationships" id="271" r:id="R2e743a8500a44e97"/>
    <p:sldId xmlns:r="http://schemas.openxmlformats.org/officeDocument/2006/relationships" id="272" r:id="R99bc98b72f9d4c7a"/>
    <p:sldId xmlns:r="http://schemas.openxmlformats.org/officeDocument/2006/relationships" id="273" r:id="R6a321ea00bd4439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df03e95716c4ac6" /><Relationship Type="http://schemas.openxmlformats.org/officeDocument/2006/relationships/slideMaster" Target="/ppt/slideMasters/slideMaster1.xml" Id="R5d601f1046cb46b9" /><Relationship Type="http://schemas.openxmlformats.org/officeDocument/2006/relationships/notesMaster" Target="/ppt/notesMasters/notesMaster1.xml" Id="R0e5c78d638cc4086" /><Relationship Type="http://schemas.openxmlformats.org/officeDocument/2006/relationships/presProps" Target="/ppt/presProps.xml" Id="Rb5cad52dbd394a82" /><Relationship Type="http://schemas.openxmlformats.org/officeDocument/2006/relationships/tableStyles" Target="/ppt/tableStyles.xml" Id="R8d56ff1728274a17" /><Relationship Type="http://schemas.openxmlformats.org/officeDocument/2006/relationships/slide" Target="/ppt/slides/slide1.xml" Id="Re48daee387964eb4" /><Relationship Type="http://schemas.openxmlformats.org/officeDocument/2006/relationships/slide" Target="/ppt/slides/slide2.xml" Id="Rf144b341476c44a9" /><Relationship Type="http://schemas.openxmlformats.org/officeDocument/2006/relationships/slide" Target="/ppt/slides/slide3.xml" Id="R649fdf25139440a7" /><Relationship Type="http://schemas.openxmlformats.org/officeDocument/2006/relationships/slide" Target="/ppt/slides/slide4.xml" Id="R50ed35f4378a45f6" /><Relationship Type="http://schemas.openxmlformats.org/officeDocument/2006/relationships/slide" Target="/ppt/slides/slide5.xml" Id="Ra413532f5ec846e4" /><Relationship Type="http://schemas.openxmlformats.org/officeDocument/2006/relationships/slide" Target="/ppt/slides/slide6.xml" Id="Rb62e354e0f1a43e9" /><Relationship Type="http://schemas.openxmlformats.org/officeDocument/2006/relationships/slide" Target="/ppt/slides/slide7.xml" Id="Rbff16c94c599419f" /><Relationship Type="http://schemas.openxmlformats.org/officeDocument/2006/relationships/slide" Target="/ppt/slides/slide8.xml" Id="Ra1a2262bc51d45b3" /><Relationship Type="http://schemas.openxmlformats.org/officeDocument/2006/relationships/slide" Target="/ppt/slides/slide9.xml" Id="R602bd826e13b4c0d" /><Relationship Type="http://schemas.openxmlformats.org/officeDocument/2006/relationships/slide" Target="/ppt/slides/slide10.xml" Id="R2c50709b429940ed" /><Relationship Type="http://schemas.openxmlformats.org/officeDocument/2006/relationships/slide" Target="/ppt/slides/slide11.xml" Id="Re726c227608f40cd" /><Relationship Type="http://schemas.openxmlformats.org/officeDocument/2006/relationships/slide" Target="/ppt/slides/slide12.xml" Id="R04969df2e1344cab" /><Relationship Type="http://schemas.openxmlformats.org/officeDocument/2006/relationships/slide" Target="/ppt/slides/slide13.xml" Id="Rd2e7a9331c2c456c" /><Relationship Type="http://schemas.openxmlformats.org/officeDocument/2006/relationships/slide" Target="/ppt/slides/slide14.xml" Id="Rc5fba628b8254697" /><Relationship Type="http://schemas.openxmlformats.org/officeDocument/2006/relationships/slide" Target="/ppt/slides/slide15.xml" Id="R6d8aa32ecc40446c" /><Relationship Type="http://schemas.openxmlformats.org/officeDocument/2006/relationships/slide" Target="/ppt/slides/slide16.xml" Id="R2e743a8500a44e97" /><Relationship Type="http://schemas.openxmlformats.org/officeDocument/2006/relationships/slide" Target="/ppt/slides/slide17.xml" Id="R99bc98b72f9d4c7a" /><Relationship Type="http://schemas.openxmlformats.org/officeDocument/2006/relationships/slide" Target="/ppt/slides/slide18.xml" Id="R6a321ea00bd4439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f97884b403346a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817480fa5e74ce2" /><Relationship Type="http://schemas.openxmlformats.org/officeDocument/2006/relationships/notesMaster" Target="/ppt/notesMasters/notesMaster1.xml" Id="R7abe31df87514f1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8ee9eeb317941f9" /><Relationship Type="http://schemas.openxmlformats.org/officeDocument/2006/relationships/notesMaster" Target="/ppt/notesMasters/notesMaster1.xml" Id="R40144c45e3c34fa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a876ea9dbe54c46" /><Relationship Type="http://schemas.openxmlformats.org/officeDocument/2006/relationships/notesMaster" Target="/ppt/notesMasters/notesMaster1.xml" Id="Rbd5a5541ab6d4cd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e25ec93d96642d5" /><Relationship Type="http://schemas.openxmlformats.org/officeDocument/2006/relationships/notesMaster" Target="/ppt/notesMasters/notesMaster1.xml" Id="R544c55e594d547d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34ad30ba57a4b96" /><Relationship Type="http://schemas.openxmlformats.org/officeDocument/2006/relationships/notesMaster" Target="/ppt/notesMasters/notesMaster1.xml" Id="Re762af902ac04a3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af8522158f94b5b" /><Relationship Type="http://schemas.openxmlformats.org/officeDocument/2006/relationships/notesMaster" Target="/ppt/notesMasters/notesMaster1.xml" Id="R3b42847313d3459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a9049f5cc20472c" /><Relationship Type="http://schemas.openxmlformats.org/officeDocument/2006/relationships/notesMaster" Target="/ppt/notesMasters/notesMaster1.xml" Id="Rbd867eb6a4f8428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2e26f9457954ae3" /><Relationship Type="http://schemas.openxmlformats.org/officeDocument/2006/relationships/notesMaster" Target="/ppt/notesMasters/notesMaster1.xml" Id="R2076198b306443d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a80b8bc81d248c5" /><Relationship Type="http://schemas.openxmlformats.org/officeDocument/2006/relationships/notesMaster" Target="/ppt/notesMasters/notesMaster1.xml" Id="Rd1ce0c7738e84bc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0e76f17a6ea4e32" /><Relationship Type="http://schemas.openxmlformats.org/officeDocument/2006/relationships/notesMaster" Target="/ppt/notesMasters/notesMaster1.xml" Id="Raff59e874593438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515206cea8f4eb1" /><Relationship Type="http://schemas.openxmlformats.org/officeDocument/2006/relationships/notesMaster" Target="/ppt/notesMasters/notesMaster1.xml" Id="R6e0a77c96c0b417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62c3d891de64ea8" /><Relationship Type="http://schemas.openxmlformats.org/officeDocument/2006/relationships/notesMaster" Target="/ppt/notesMasters/notesMaster1.xml" Id="Rce0d3e366fd34c2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f233b29e6be430f" /><Relationship Type="http://schemas.openxmlformats.org/officeDocument/2006/relationships/notesMaster" Target="/ppt/notesMasters/notesMaster1.xml" Id="Rcf7c9292881d443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7853ee3a703475f" /><Relationship Type="http://schemas.openxmlformats.org/officeDocument/2006/relationships/notesMaster" Target="/ppt/notesMasters/notesMaster1.xml" Id="R017baf5abbcf438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70d2ecbe248407a" /><Relationship Type="http://schemas.openxmlformats.org/officeDocument/2006/relationships/notesMaster" Target="/ppt/notesMasters/notesMaster1.xml" Id="Rdda7def22eab4e0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c9da333707049b8" /><Relationship Type="http://schemas.openxmlformats.org/officeDocument/2006/relationships/notesMaster" Target="/ppt/notesMasters/notesMaster1.xml" Id="Rb9793626bb4949de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10be212135b4fc9" /><Relationship Type="http://schemas.openxmlformats.org/officeDocument/2006/relationships/notesMaster" Target="/ppt/notesMasters/notesMaster1.xml" Id="R4dfd3f7dd9af463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ee19c33d8e541b0" /><Relationship Type="http://schemas.openxmlformats.org/officeDocument/2006/relationships/notesMaster" Target="/ppt/notesMasters/notesMaster1.xml" Id="R30d3e98a5506478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deck answers a deliberately simple question across a wide frozen panel. The causal next-open SMA200 rule reduced drawdowns more broadly than it improved returns. Its cost was substantial upside capture loss and frequent whipsaw.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C:\Users\Franc\OneDrive\Documents\Francis\Peltata Project\Time-Series-Modeling-Gen5\operator_hypothesis_lab\docs\HYP_MOM_02_1_SMA200_CROSS_WIDE_DISCOVERY_CONTRACT.md</a:t>
            </a:r>
          </a:p>
          <a:p xmlns:a="http://schemas.openxmlformats.org/drawingml/2006/main">
            <a:r>
              <a:t>- C:\Users\Franc\OneDrive\Documents\Francis\Peltata Project\Time-Series-Modeling-Gen5\operator_hypothesis_lab\docs\HYP_MOM_02_1_SMA200_CROSS_WIDE_DISCOVERY_RESULTS.md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rule uses only a completed adjusted close and its contemporaneous 200-session simple average. Orders occur at the following open. Warm-start and final liquidation rules prevent the arbitrary evaluation boundary from manufacturing or suppressing exposure.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C:\Users\Franc\OneDrive\Documents\Francis\Peltata Project\Time-Series-Modeling-Gen5\operator_hypothesis_lab\docs\HYP_MOM_02_1_SMA200_CROSS_WIDE_DISCOVERY_CONTRACT.md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SMA200 is a lagging state rule. It trades responsiveness for noise reduction. The relevant question is not whether every cross predicts the next return, but whether the full long/cash path offers a worthwhile exchange among return, drawdown, exposure, and whipsaw.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C:\Users\Franc\OneDrive\Documents\Francis\Peltata Project\Time-Series-Modeling-Gen5\operator_hypothesis_lab\docs\HYP_MOM_02_1_SMA200_CROSS_WIDE_DISCOVERY_CONTRACT.md</a:t>
            </a:r>
          </a:p>
          <a:p xmlns:a="http://schemas.openxmlformats.org/drawingml/2006/main">
            <a:r>
              <a:t>- C:\Users\Franc\OneDrive\Documents\Francis\Peltata Project\Time-Series-Modeling-Gen5\operator_hypothesis_lab\docs\HYP_MOM_02_1_SMA200_CROSS_WIDE_DISCOVERY_RESULTS.md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combined registry contains the original 22-stock panel plus a previously frozen 100-stock breadth-attention registry. APHA and SNE lack the full discovery window; LI lacks the required prehistory. A bounded provider refresh left the same 119 eligible assets. No failure was replaced.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C:\Users\Franc\OneDrive\Documents\Francis\Peltata Project\Time-Series-Modeling-Gen5\runs\research_workbench\operator_hypothesis_lab\hyp_mom_02_1_sma200_cross_wide_discovery_20260808\hyp_mom_02_1_coverage.csv</a:t>
            </a:r>
          </a:p>
          <a:p xmlns:a="http://schemas.openxmlformats.org/drawingml/2006/main">
            <a:r>
              <a:t>- C:\Users\Franc\OneDrive\Documents\Francis\Peltata Project\Time-Series-Modeling-Gen5\runs\research_workbench\operator_hypothesis_lab\hyp_mom_02_1_sma200_cross_wide_discovery_20260808\hyp_mom_02_1_query_health.csv</a:t>
            </a:r>
          </a:p>
          <a:p xmlns:a="http://schemas.openxmlformats.org/drawingml/2006/main">
            <a:r>
              <a:t>- C:\Users\Franc\OneDrive\Documents\Francis\Peltata Project\Time-Series-Modeling-Gen5\runs\research_workbench\operator_hypothesis_lab\hyp_mom_02_1_sma200_cross_wide_discovery_20260808\visuals\coverage_and_composition.png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wide result is a return-versus-protection tradeoff. The median strategy gained 6.24%, but the median stock gained 20.79% under buy-and-hold. Maximum drawdown improved in 79 assets, while only 30 beat ownership. Lower risk was much broader than better return.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C:\Users\Franc\OneDrive\Documents\Francis\Peltata Project\Time-Series-Modeling-Gen5\runs\research_workbench\operator_hypothesis_lab\hyp_mom_02_1_sma200_cross_wide_discovery_20260808\hyp_mom_02_1_panel_summary.csv</a:t>
            </a:r>
          </a:p>
          <a:p xmlns:a="http://schemas.openxmlformats.org/drawingml/2006/main">
            <a:r>
              <a:t>- C:\Users\Franc\OneDrive\Documents\Francis\Peltata Project\Time-Series-Modeling-Gen5\runs\research_workbench\operator_hypothesis_lab\hyp_mom_02_1_sma200_cross_wide_discovery_20260808\hyp_mom_02_1_asset_summary.csv</a:t>
            </a:r>
          </a:p>
          <a:p xmlns:a="http://schemas.openxmlformats.org/drawingml/2006/main">
            <a:r>
              <a:t>- C:\Users\Franc\OneDrive\Documents\Francis\Peltata Project\Time-Series-Modeling-Gen5\operator_hypothesis_lab\docs\HYP_MOM_02_1_SMA200_CROSS_WIDE_DISCOVERY_RESULTS.md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left panel compares full-window returns with the diagonal marking equality. The right compares maximum drawdowns; points above the diagonal are less negative and therefore improved. Only 30 assets beat buy-and-hold, while 79 reduced maximum drawdown.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C:\Users\Franc\OneDrive\Documents\Francis\Peltata Project\Time-Series-Modeling-Gen5\runs\research_workbench\operator_hypothesis_lab\hyp_mom_02_1_sma200_cross_wide_discovery_20260808\hyp_mom_02_1_asset_summary.csv</a:t>
            </a:r>
          </a:p>
          <a:p xmlns:a="http://schemas.openxmlformats.org/drawingml/2006/main">
            <a:r>
              <a:t>- C:\Users\Franc\OneDrive\Documents\Francis\Peltata Project\Time-Series-Modeling-Gen5\runs\research_workbench\operator_hypothesis_lab\hyp_mom_02_1_sma200_cross_wide_discovery_20260808\visuals\strategy_vs_buy_hold.png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Every point is one asset. The upper-right quadrant improves both return and maximum drawdown and contains 30 assets. Many more points sit upper-left: the rule reduced drawdown but lagged ownership. Point size reflects exposure fraction.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C:\Users\Franc\OneDrive\Documents\Francis\Peltata Project\Time-Series-Modeling-Gen5\runs\research_workbench\operator_hypothesis_lab\hyp_mom_02_1_sma200_cross_wide_discovery_20260808\hyp_mom_02_1_asset_summary.csv</a:t>
            </a:r>
          </a:p>
          <a:p xmlns:a="http://schemas.openxmlformats.org/drawingml/2006/main">
            <a:r>
              <a:t>- C:\Users\Franc\OneDrive\Documents\Francis\Peltata Project\Time-Series-Modeling-Gen5\runs\research_workbench\operator_hypothesis_lab\hyp_mom_02_1_sma200_cross_wide_discovery_20260808\visuals\return_drawdown_tradeoff.png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trade distribution is convex. Price repeatedly crosses a lagging average, producing many short losing trades. A small minority of long-lived winners lifts the mean above zero even though the median trade is negative and only 25% win. Hit rate is therefore a poor standalone score for this strategy family.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C:\Users\Franc\OneDrive\Documents\Francis\Peltata Project\Time-Series-Modeling-Gen5\runs\research_workbench\operator_hypothesis_lab\hyp_mom_02_1_sma200_cross_wide_discovery_20260808\hyp_mom_02_1_trades.csv</a:t>
            </a:r>
          </a:p>
          <a:p xmlns:a="http://schemas.openxmlformats.org/drawingml/2006/main">
            <a:r>
              <a:t>- C:\Users\Franc\OneDrive\Documents\Francis\Peltata Project\Time-Series-Modeling-Gen5\runs\research_workbench\operator_hypothesis_lab\hyp_mom_02_1_sma200_cross_wide_discovery_20260808\visuals\trade_mechanics_distribution.png</a:t>
            </a:r>
          </a:p>
          <a:p xmlns:a="http://schemas.openxmlformats.org/drawingml/2006/main">
            <a:r>
              <a:t>- C:\Users\Franc\OneDrive\Documents\Francis\Peltata Project\Time-Series-Modeling-Gen5\operator_hypothesis_lab\docs\HYP_MOM_02_1_SMA200_CROSS_WIDE_DISCOVERY_RESULTS.md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Each of 500 circular shifts preserves the asset's exposure fraction and serial block structure while changing alignment with returns. The median observed percentile is 33.8%; only 36 assets exceed the median shift and only MMM and GE exceed the 80th percentile. Shifted states are diagnostics, not executable strategies or independent p-values.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C:\Users\Franc\OneDrive\Documents\Francis\Peltata Project\Time-Series-Modeling-Gen5\runs\research_workbench\operator_hypothesis_lab\hyp_mom_02_1_sma200_cross_wide_discovery_20260808\hyp_mom_02_1_asset_summary.csv</a:t>
            </a:r>
          </a:p>
          <a:p xmlns:a="http://schemas.openxmlformats.org/drawingml/2006/main">
            <a:r>
              <a:t>- C:\Users\Franc\OneDrive\Documents\Francis\Peltata Project\Time-Series-Modeling-Gen5\runs\research_workbench\operator_hypothesis_lab\hyp_mom_02_1_sma200_cross_wide_discovery_20260808\hyp_mom_02_1_random_controls.csv</a:t>
            </a:r>
          </a:p>
          <a:p xmlns:a="http://schemas.openxmlformats.org/drawingml/2006/main">
            <a:r>
              <a:t>- C:\Users\Franc\OneDrive\Documents\Francis\Peltata Project\Time-Series-Modeling-Gen5\runs\research_workbench\operator_hypothesis_lab\hyp_mom_02_1_sma200_cross_wide_discovery_20260808\visuals\timing_controls_and_exposure.png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retail-attention cohort illustrates protection rather than success: the median strategy still lost 22.3%, but less than continuous ownership. Energy illustrates the opposite cost: the filter captured only part of a powerful rally. Cohorts and sectors were not randomized and cannot be promoted as filters.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C:\Users\Franc\OneDrive\Documents\Francis\Peltata Project\Time-Series-Modeling-Gen5\runs\research_workbench\operator_hypothesis_lab\hyp_mom_02_1_sma200_cross_wide_discovery_20260808\hyp_mom_02_1_panel_summary.csv</a:t>
            </a:r>
          </a:p>
          <a:p xmlns:a="http://schemas.openxmlformats.org/drawingml/2006/main">
            <a:r>
              <a:t>- C:\Users\Franc\OneDrive\Documents\Francis\Peltata Project\Time-Series-Modeling-Gen5\runs\research_workbench\operator_hypothesis_lab\hyp_mom_02_1_sma200_cross_wide_discovery_20260808\hyp_mom_02_1_sector_summary.csv</a:t>
            </a:r>
          </a:p>
          <a:p xmlns:a="http://schemas.openxmlformats.org/drawingml/2006/main">
            <a:r>
              <a:t>- C:\Users\Franc\OneDrive\Documents\Francis\Peltata Project\Time-Series-Modeling-Gen5\runs\research_workbench\operator_hypothesis_lab\hyp_mom_02_1_sma200_cross_wide_discovery_20260808\visuals\sector_descriptive_outcomes.png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six archetypes were frozen in the contract: median excess, highest excess, lowest excess, best drawdown improvement, highest trade count, and longest median holding duration. They are audit examples, not candidate assets.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C:\Users\Franc\OneDrive\Documents\Francis\Peltata Project\Time-Series-Modeling-Gen5\operator_hypothesis_lab\docs\HYP_MOM_02_1_SMA200_CROSS_WIDE_DISCOVERY_CONTRACT.md</a:t>
            </a:r>
          </a:p>
          <a:p xmlns:a="http://schemas.openxmlformats.org/drawingml/2006/main">
            <a:r>
              <a:t>- C:\Users\Franc\OneDrive\Documents\Francis\Peltata Project\Time-Series-Modeling-Gen5\runs\research_workbench\operator_hypothesis_lab\hyp_mom_02_1_sma200_cross_wide_discovery_20260808\hyp_mom_02_1_tape_manifest.csv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 returned -19.1% under the strategy versus approximately flat ownership. The repeated green state segments show that a slow filter can still churn around the anchor and lose both absolute and relative value.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C:\Users\Franc\OneDrive\Documents\Francis\Peltata Project\Time-Series-Modeling-Gen5\runs\research_workbench\operator_hypothesis_lab\hyp_mom_02_1_sma200_cross_wide_discovery_20260808\hyp_mom_02_1_tape_manifest.csv</a:t>
            </a:r>
          </a:p>
          <a:p xmlns:a="http://schemas.openxmlformats.org/drawingml/2006/main">
            <a:r>
              <a:t>- C:\Users\Franc\OneDrive\Documents\Francis\Peltata Project\Time-Series-Modeling-Gen5\runs\research_workbench\operator_hypothesis_lab\hyp_mom_02_1_sma200_cross_wide_discovery_20260808\visuals\sma200_tape_01_median_excess_cl.png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CGC's strategy loss was -15.2% versus -97.9% for ownership, producing the highest excess return. This is dramatic protection, not a profitable trade path. Relative and absolute success must remain separate.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C:\Users\Franc\OneDrive\Documents\Francis\Peltata Project\Time-Series-Modeling-Gen5\runs\research_workbench\operator_hypothesis_lab\hyp_mom_02_1_sma200_cross_wide_discovery_20260808\hyp_mom_02_1_tape_manifest.csv</a:t>
            </a:r>
          </a:p>
          <a:p xmlns:a="http://schemas.openxmlformats.org/drawingml/2006/main">
            <a:r>
              <a:t>- C:\Users\Franc\OneDrive\Documents\Francis\Peltata Project\Time-Series-Modeling-Gen5\runs\research_workbench\operator_hypothesis_lab\hyp_mom_02_1_sma200_cross_wide_discovery_20260808\visuals\sma200_tape_02_highest_excess_cgc.png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CPRX gained 173.9% under the strategy, but ownership gained 416.0%. The filter exited and re-entered during a powerful trend, missing about 242 percentage points. A positive strategy return is not evidence of value-add.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C:\Users\Franc\OneDrive\Documents\Francis\Peltata Project\Time-Series-Modeling-Gen5\runs\research_workbench\operator_hypothesis_lab\hyp_mom_02_1_sma200_cross_wide_discovery_20260808\hyp_mom_02_1_tape_manifest.csv</a:t>
            </a:r>
          </a:p>
          <a:p xmlns:a="http://schemas.openxmlformats.org/drawingml/2006/main">
            <a:r>
              <a:t>- C:\Users\Franc\OneDrive\Documents\Francis\Peltata Project\Time-Series-Modeling-Gen5\runs\research_workbench\operator_hypothesis_lab\hyp_mom_02_1_sma200_cross_wide_discovery_20260808\visuals\sma200_tape_03_lowest_excess_cprx.png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META gained 89.7% under the filter versus 30.7% for ownership, while avoiding much of the 2022 collapse. It is the strongest drawdown-improvement archetype, but one favorable asset does not authorize selection.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C:\Users\Franc\OneDrive\Documents\Francis\Peltata Project\Time-Series-Modeling-Gen5\runs\research_workbench\operator_hypothesis_lab\hyp_mom_02_1_sma200_cross_wide_discovery_20260808\hyp_mom_02_1_tape_manifest.csv</a:t>
            </a:r>
          </a:p>
          <a:p xmlns:a="http://schemas.openxmlformats.org/drawingml/2006/main">
            <a:r>
              <a:t>- C:\Users\Franc\OneDrive\Documents\Francis\Peltata Project\Time-Series-Modeling-Gen5\runs\research_workbench\operator_hypothesis_lab\hyp_mom_02_1_sma200_cross_wide_discovery_20260808\visuals\sma200_tape_04_best_drawdown_improvement_meta.png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VZ generated the most round trips. Strategy and ownership both lost about 25%, while strategy drawdown was slightly worse. The rule's simple mechanics do not guarantee useful risk reduction when price oscillates near the anchor.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C:\Users\Franc\OneDrive\Documents\Francis\Peltata Project\Time-Series-Modeling-Gen5\runs\research_workbench\operator_hypothesis_lab\hyp_mom_02_1_sma200_cross_wide_discovery_20260808\hyp_mom_02_1_tape_manifest.csv</a:t>
            </a:r>
          </a:p>
          <a:p xmlns:a="http://schemas.openxmlformats.org/drawingml/2006/main">
            <a:r>
              <a:t>- C:\Users\Franc\OneDrive\Documents\Francis\Peltata Project\Time-Series-Modeling-Gen5\runs\research_workbench\operator_hypothesis_lab\hyp_mom_02_1_sma200_cross_wide_discovery_20260808\visuals\sma200_tape_05_highest_trade_count_vz.png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JPM's long-lived states produced 65.3% versus 45.8% ownership with a smaller maximum drawdown. This is the behavior the rule seeks, but the wide panel shows it is not the typical relative outcome.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C:\Users\Franc\OneDrive\Documents\Francis\Peltata Project\Time-Series-Modeling-Gen5\runs\research_workbench\operator_hypothesis_lab\hyp_mom_02_1_sma200_cross_wide_discovery_20260808\hyp_mom_02_1_tape_manifest.csv</a:t>
            </a:r>
          </a:p>
          <a:p xmlns:a="http://schemas.openxmlformats.org/drawingml/2006/main">
            <a:r>
              <a:t>- C:\Users\Franc\OneDrive\Documents\Francis\Peltata Project\Time-Series-Modeling-Gen5\runs\research_workbench\operator_hypothesis_lab\hyp_mom_02_1_sma200_cross_wide_discovery_20260808\visuals\sma200_tape_06_longest_median_hold_jpm.png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Record WIDE_DISCOVERY_COMPLETE_NO_PROMOTION_AUTHORITY. The experiment is successful as an educational POC: it shows exactly what this classic rule bought and what it cost. Do not tune the average, add a buffer, select favorable sectors, or promote the attention cohort from this reused discovery packet.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C:\Users\Franc\OneDrive\Documents\Francis\Peltata Project\Time-Series-Modeling-Gen5\operator_hypothesis_lab\docs\HYP_MOM_02_1_SMA200_CROSS_WIDE_DISCOVERY_RESULTS.md</a:t>
            </a:r>
          </a:p>
          <a:p xmlns:a="http://schemas.openxmlformats.org/drawingml/2006/main">
            <a:r>
              <a:t>- C:\Users\Franc\OneDrive\Documents\Francis\Peltata Project\Time-Series-Modeling-Gen5\operator_hypothesis_lab\docs\HYP_MOM_02_1_SMA200_CROSS_WIDE_DISCOVERY_CONTRACT.md</a:t>
            </a:r>
          </a:p>
          <a:p xmlns:a="http://schemas.openxmlformats.org/drawingml/2006/main">
            <a:r>
              <a:t>- C:\Users\Franc\OneDrive\Documents\Francis\Peltata Project\Time-Series-Modeling-Gen5\runs\research_workbench\operator_hypothesis_lab\hyp_mom_02_1_sma200_cross_wide_discovery_20260808\hyp_mom_02_1_panel_summary.csv</a:t>
            </a:r>
          </a:p>
          <a:p xmlns:a="http://schemas.openxmlformats.org/drawingml/2006/main">
            <a:r>
              <a:t>- C:\Users\Franc\OneDrive\Documents\Francis\Peltata Project\Time-Series-Modeling-Gen5\runs\research_workbench\operator_hypothesis_lab\hyp_mom_02_1_sma200_cross_wide_discovery_20260808\hyp_mom_02_1_asset_summary.csv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8549e6c88f4ad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25aa4e99d0b451e" /><Relationship Type="http://schemas.openxmlformats.org/officeDocument/2006/relationships/slideLayout" Target="/ppt/slideLayouts/slideLayout1.xml" Id="R1d39c4469db848e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d39c4469db848e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49908e01e64d8d" /><Relationship Type="http://schemas.openxmlformats.org/officeDocument/2006/relationships/notesSlide" Target="/ppt/notesSlides/notesSlide1.xml" Id="Reb9a4997bd494ad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0d2565d30c43a3" /><Relationship Type="http://schemas.openxmlformats.org/officeDocument/2006/relationships/notesSlide" Target="/ppt/notesSlides/notesSlide2.xml" Id="Rfc9c7b7a8140438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9fee5eeb994844" /><Relationship Type="http://schemas.openxmlformats.org/officeDocument/2006/relationships/notesSlide" Target="/ppt/notesSlides/notesSlide3.xml" Id="R30c47a0a55ed43d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5546eaeb02407a" /><Relationship Type="http://schemas.openxmlformats.org/officeDocument/2006/relationships/image" Target="/ppt/media/image.png" Id="R7778e6f38bf34f2e" /><Relationship Type="http://schemas.openxmlformats.org/officeDocument/2006/relationships/notesSlide" Target="/ppt/notesSlides/notesSlide4.xml" Id="R405c6f3bcb04485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ee6f3043cb4c70" /><Relationship Type="http://schemas.openxmlformats.org/officeDocument/2006/relationships/notesSlide" Target="/ppt/notesSlides/notesSlide5.xml" Id="R3409603561cd425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c3973831154b09" /><Relationship Type="http://schemas.openxmlformats.org/officeDocument/2006/relationships/image" Target="/ppt/media/image2.png" Id="R405dbce345d1447f" /><Relationship Type="http://schemas.openxmlformats.org/officeDocument/2006/relationships/notesSlide" Target="/ppt/notesSlides/notesSlide6.xml" Id="Rb80095cd3326434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10fd65831b43c1" /><Relationship Type="http://schemas.openxmlformats.org/officeDocument/2006/relationships/image" Target="/ppt/media/image3.png" Id="Rc6bdfdeb13f342c1" /><Relationship Type="http://schemas.openxmlformats.org/officeDocument/2006/relationships/notesSlide" Target="/ppt/notesSlides/notesSlide7.xml" Id="Re677d4f1a82a480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3f59e1f0da4db9" /><Relationship Type="http://schemas.openxmlformats.org/officeDocument/2006/relationships/image" Target="/ppt/media/image4.png" Id="Re9dfcb0f805c40f4" /><Relationship Type="http://schemas.openxmlformats.org/officeDocument/2006/relationships/notesSlide" Target="/ppt/notesSlides/notesSlide8.xml" Id="R418c8a42b6ec4fa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462cd66c2041b9" /><Relationship Type="http://schemas.openxmlformats.org/officeDocument/2006/relationships/image" Target="/ppt/media/image5.png" Id="R3eb4088bca384355" /><Relationship Type="http://schemas.openxmlformats.org/officeDocument/2006/relationships/notesSlide" Target="/ppt/notesSlides/notesSlide9.xml" Id="R70c66a86c607471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c1cd02b3194c41" /><Relationship Type="http://schemas.openxmlformats.org/officeDocument/2006/relationships/image" Target="/ppt/media/image6.png" Id="Rb36697c009bb4fb5" /><Relationship Type="http://schemas.openxmlformats.org/officeDocument/2006/relationships/notesSlide" Target="/ppt/notesSlides/notesSlide10.xml" Id="Rd6e264fdf0cc459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4544a839fb4609" /><Relationship Type="http://schemas.openxmlformats.org/officeDocument/2006/relationships/notesSlide" Target="/ppt/notesSlides/notesSlide11.xml" Id="R9ae9426362b34bf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72b639021a4b30" /><Relationship Type="http://schemas.openxmlformats.org/officeDocument/2006/relationships/image" Target="/ppt/media/image7.png" Id="Ra77270c8600b4973" /><Relationship Type="http://schemas.openxmlformats.org/officeDocument/2006/relationships/notesSlide" Target="/ppt/notesSlides/notesSlide12.xml" Id="R3d0bbd5d8b794af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5bc059b6ed4b01" /><Relationship Type="http://schemas.openxmlformats.org/officeDocument/2006/relationships/image" Target="/ppt/media/image8.png" Id="R5eeee2a0501e485f" /><Relationship Type="http://schemas.openxmlformats.org/officeDocument/2006/relationships/notesSlide" Target="/ppt/notesSlides/notesSlide13.xml" Id="Rb9f9e6dcc9a34ee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185350a2ab4642" /><Relationship Type="http://schemas.openxmlformats.org/officeDocument/2006/relationships/image" Target="/ppt/media/image9.png" Id="R47b27189ee0348e2" /><Relationship Type="http://schemas.openxmlformats.org/officeDocument/2006/relationships/notesSlide" Target="/ppt/notesSlides/notesSlide14.xml" Id="R851f0175b9c14c3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52b2adb1e44124" /><Relationship Type="http://schemas.openxmlformats.org/officeDocument/2006/relationships/image" Target="/ppt/media/image10.png" Id="Rf42becb3bd7049af" /><Relationship Type="http://schemas.openxmlformats.org/officeDocument/2006/relationships/notesSlide" Target="/ppt/notesSlides/notesSlide15.xml" Id="R585e3c47ccf74c3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73c2357a5d45bb" /><Relationship Type="http://schemas.openxmlformats.org/officeDocument/2006/relationships/image" Target="/ppt/media/image11.png" Id="R7dcdd44608ad4152" /><Relationship Type="http://schemas.openxmlformats.org/officeDocument/2006/relationships/notesSlide" Target="/ppt/notesSlides/notesSlide16.xml" Id="R9f235beaf040443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752be2188a4ea3" /><Relationship Type="http://schemas.openxmlformats.org/officeDocument/2006/relationships/image" Target="/ppt/media/image12.png" Id="R4f87e0b245b24ce8" /><Relationship Type="http://schemas.openxmlformats.org/officeDocument/2006/relationships/notesSlide" Target="/ppt/notesSlides/notesSlide17.xml" Id="R95fe4dd4e3574ca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2b735dedc348b8" /><Relationship Type="http://schemas.openxmlformats.org/officeDocument/2006/relationships/notesSlide" Target="/ppt/notesSlides/notesSlide18.xml" Id="R7077247f8b4a44c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FF2850D6-626C-4702-B3A5-913242C91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90525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OPERATOR HYPOTHESIS LAB | HYP-MOM-02.1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920E502F-6535-4055-A9BE-D12FF5E8D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19250"/>
            <a:ext cx="100012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1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61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Protection,</a:t>
            </a:r>
          </a:p>
          <a:p xmlns:a="http://schemas.openxmlformats.org/drawingml/2006/main">
            <a:pPr algn="l">
              <a:defRPr sz="61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61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 a price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091618E6-EA10-4AA1-A9D9-ECA1B594B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95300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happened when 119 stocks crossed their 200-session average?</a:t>
            </a:r>
          </a:p>
        </p:txBody>
      </p:sp>
    </p:spTree>
    <p:extLst>
      <p:ext uri="{BB962C8B-B14F-4D97-AF65-F5344CB8AC3E}">
        <p14:creationId xmlns:p14="http://schemas.microsoft.com/office/powerpoint/2010/main" val="162591339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8AF7DF4-6FAB-47AE-8237-62C39698A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11410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3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03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One completed-close state determines the next-open position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19FFFBB4-A1C4-49DB-A263-E993A3922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98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98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DB48B739-0D0E-4DBC-916A-0FCE83C1C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66875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SMA200(t) = mean[Close(t-199), ..., Close(t)]</a:t>
            </a:r>
          </a:p>
        </p:txBody>
      </p:sp>
      <p:sp>
        <p:nvSpPr>
          <p:cNvPr id="4" name="long">
            <a:extLst xmlns:a="http://schemas.openxmlformats.org/drawingml/2006/main">
              <a:ext uri="{FF2B5EF4-FFF2-40B4-BE49-F238E27FC236}">
                <a16:creationId xmlns:a16="http://schemas.microsoft.com/office/drawing/2014/main" id="{EC69CAE6-8AAD-4FBA-9F38-5A42F1D1D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14625"/>
            <a:ext cx="48577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EF"/>
          </a:solidFill>
          <a:ln xmlns:a="http://schemas.openxmlformats.org/drawingml/2006/main" w="9525">
            <a:solidFill>
              <a:srgbClr val="2F855A"/>
            </a:solidFill>
            <a:prstDash val="solid"/>
          </a:ln>
        </p:spPr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145D2253-738C-4C43-B15B-FFABEA24A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95625"/>
            <a:ext cx="428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855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2F855A"/>
                </a:solidFill>
                <a:latin typeface="Helvetica Neue"/>
                <a:ea typeface="Helvetica Neue"/>
                <a:cs typeface="Helvetica Neue"/>
              </a:rPr>
              <a:t>CLOSE &gt; SMA200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031AE6AA-54D4-4AF2-BF94-9FEBE769F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62375"/>
            <a:ext cx="4286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Buy or remain long</a:t>
            </a:r>
          </a:p>
          <a:p xmlns:a="http://schemas.openxmlformats.org/drawingml/2006/main">
            <a:pPr algn="ctr">
              <a:defRPr sz="24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 the next open</a:t>
            </a:r>
          </a:p>
        </p:txBody>
      </p:sp>
      <p:sp>
        <p:nvSpPr>
          <p:cNvPr id="7" name="cash">
            <a:extLst xmlns:a="http://schemas.openxmlformats.org/drawingml/2006/main">
              <a:ext uri="{FF2B5EF4-FFF2-40B4-BE49-F238E27FC236}">
                <a16:creationId xmlns:a16="http://schemas.microsoft.com/office/drawing/2014/main" id="{DF4ED67E-87F9-4CE6-BD51-1F5D02C0C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14625"/>
            <a:ext cx="48577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C4DBE980-1F7B-4CCF-817A-10B500F67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095625"/>
            <a:ext cx="428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CLOSE &lt;= SMA200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225FCCA3-2F8D-4472-B008-94B724ED3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762375"/>
            <a:ext cx="4286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Sell or remain cash</a:t>
            </a:r>
          </a:p>
          <a:p xmlns:a="http://schemas.openxmlformats.org/drawingml/2006/main">
            <a:pPr algn="ctr">
              <a:defRPr sz="24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 the next open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AF4BABD4-738B-4AA3-A8DE-07D878B06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715000"/>
            <a:ext cx="10858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Adjusted daily bars | 5 bp/side primary | 10 bp/side stress | full capital within each asset</a:t>
            </a:r>
          </a:p>
        </p:txBody>
      </p:sp>
    </p:spTree>
    <p:extLst>
      <p:ext uri="{BB962C8B-B14F-4D97-AF65-F5344CB8AC3E}">
        <p14:creationId xmlns:p14="http://schemas.microsoft.com/office/powerpoint/2010/main" val="66547147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EAD3D8F-1749-4DA4-A303-F2B21B168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11410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3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03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slow average changes the ownership path; it does not promise prediction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E8E76104-542E-40EF-89AB-D53E568EE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98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98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4517C6FA-7BB3-4584-BCCD-2B5BA3B11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4667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855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2F855A"/>
                </a:solidFill>
                <a:latin typeface="Helvetica Neue"/>
                <a:ea typeface="Helvetica Neue"/>
                <a:cs typeface="Helvetica Neue"/>
              </a:rPr>
              <a:t>WHAT IT CAN DO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348A8FEB-3623-4314-B754-2D9229501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86000"/>
            <a:ext cx="47625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Avoid parts of prolonged declines</a:t>
            </a:r>
          </a:p>
          <a:p xmlns:a="http://schemas.openxmlformats.org/drawingml/2006/main">
            <a:pPr algn="l">
              <a:defRPr sz="22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Stay with unusually persistent trends</a:t>
            </a:r>
          </a:p>
          <a:p xmlns:a="http://schemas.openxmlformats.org/drawingml/2006/main">
            <a:pPr algn="l">
              <a:defRPr sz="22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Reduce time exposed to the market</a:t>
            </a:r>
          </a:p>
        </p:txBody>
      </p:sp>
      <p:sp>
        <p:nvSpPr>
          <p:cNvPr id="5" name="divider">
            <a:extLst xmlns:a="http://schemas.openxmlformats.org/drawingml/2006/main">
              <a:ext uri="{FF2B5EF4-FFF2-40B4-BE49-F238E27FC236}">
                <a16:creationId xmlns:a16="http://schemas.microsoft.com/office/drawing/2014/main" id="{700598C8-1073-453A-8A05-BCE145110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476375"/>
            <a:ext cx="19050" cy="38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95C4ED6F-0040-42CA-A182-D715D5F42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19250"/>
            <a:ext cx="476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30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C53030"/>
                </a:solidFill>
                <a:latin typeface="Helvetica Neue"/>
                <a:ea typeface="Helvetica Neue"/>
                <a:cs typeface="Helvetica Neue"/>
              </a:rPr>
              <a:t>WHAT IT CANNOT GUARANTEE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BDC4D926-3E9A-4BDB-BC3D-96DEEEF22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86000"/>
            <a:ext cx="4762500" cy="2047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high hit rate</a:t>
            </a:r>
          </a:p>
          <a:p xmlns:a="http://schemas.openxmlformats.org/drawingml/2006/main">
            <a:pPr algn="l">
              <a:defRPr sz="22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Fast reaction to reversals</a:t>
            </a:r>
          </a:p>
          <a:p xmlns:a="http://schemas.openxmlformats.org/drawingml/2006/main">
            <a:pPr algn="l">
              <a:defRPr sz="22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Better returns than ownership</a:t>
            </a:r>
          </a:p>
          <a:p xmlns:a="http://schemas.openxmlformats.org/drawingml/2006/main">
            <a:pPr algn="l">
              <a:defRPr sz="22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Independence from market regime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7FA95FDB-D703-40E3-ACCA-B5D711597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715000"/>
            <a:ext cx="1047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The correct estimand is the full return / drawdown / exposure tradeoff after costs.</a:t>
            </a:r>
          </a:p>
        </p:txBody>
      </p:sp>
    </p:spTree>
    <p:extLst>
      <p:ext uri="{BB962C8B-B14F-4D97-AF65-F5344CB8AC3E}">
        <p14:creationId xmlns:p14="http://schemas.microsoft.com/office/powerpoint/2010/main" val="127923253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B115DA8-0B49-414F-8EA5-9A3C1C298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11410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3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03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study began wide: 119 of 122 frozen stocks were eligible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DA0702F4-335F-40B5-968D-FDD0FEEF7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98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98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78e6f38bf34f2e"/>
          <a:stretch xmlns:a="http://schemas.openxmlformats.org/drawingml/2006/main"/>
        </p:blipFill>
        <p:spPr>
          <a:xfrm xmlns:a="http://schemas.openxmlformats.org/drawingml/2006/main">
            <a:off x="1423988" y="1000125"/>
            <a:ext cx="9344025" cy="51911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802061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7A6F2C5-0CC7-42C4-9022-9DA92B161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11410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3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03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typical path earned less, spent less time exposed, and drew down less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744C0E72-CD70-442F-9D6D-AEBE9E5B9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98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98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00D0EC92-420F-4225-9A4B-89834E0AD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476500"/>
            <a:ext cx="2476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2F855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2F855A"/>
                </a:solidFill>
                <a:latin typeface="Helvetica Neue"/>
                <a:ea typeface="Helvetica Neue"/>
                <a:cs typeface="Helvetica Neue"/>
              </a:rPr>
              <a:t>+6.24%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F121FA81-C2AD-4EBF-9DC5-1AAFBB192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6195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median strategy return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B6ACE0D4-36D8-46BF-A408-7B9A807EA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33875"/>
            <a:ext cx="219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versus +20.79% buy-and-hold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5B0110C4-F44C-4338-8384-0A89F3A04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476500"/>
            <a:ext cx="2476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C530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C53030"/>
                </a:solidFill>
                <a:latin typeface="Helvetica Neue"/>
                <a:ea typeface="Helvetica Neue"/>
                <a:cs typeface="Helvetica Neue"/>
              </a:rPr>
              <a:t>-19.33 pp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AFBA501D-AB05-46C6-BBB6-CA2135415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6195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median excess return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8121E076-08FE-4819-B497-165DA6ABB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333875"/>
            <a:ext cx="219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only 30 of 119 beat ownership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006A699B-6F49-446B-83C3-94FF4CF1C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2476500"/>
            <a:ext cx="2476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60.82%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8F0CD3EF-A914-4DE0-A1B6-DCA839195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36195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median exposure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1BCE0E9C-837F-4206-BC72-11AD8BFCD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333875"/>
            <a:ext cx="219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cash for roughly two sessions in five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7A4F7651-3EC4-4FE3-A7DA-05254B5C0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476500"/>
            <a:ext cx="2476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+4.31 pp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346A4F30-BE1B-4581-96BF-339249E2E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6195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median DD improvement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D79E203C-E445-4C39-9180-2B4626A0C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4333875"/>
            <a:ext cx="219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-30.12% versus -36.73% ownership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5BFB91CC-7BC8-4D0B-B421-4BCE0BDC5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10250"/>
            <a:ext cx="1104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70/119 positive paths | 79/119 reduced drawdown | 64/119 remained positive at stress costs</a:t>
            </a:r>
          </a:p>
        </p:txBody>
      </p:sp>
    </p:spTree>
    <p:extLst>
      <p:ext uri="{BB962C8B-B14F-4D97-AF65-F5344CB8AC3E}">
        <p14:creationId xmlns:p14="http://schemas.microsoft.com/office/powerpoint/2010/main" val="198047337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608E408-4D3B-4862-A73E-70E9667B7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11410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3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03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Return improvement was rare; drawdown improvement was common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B4C00EF8-4249-48AA-8215-C070CF376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98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98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6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5dbce345d1447f"/>
          <a:stretch xmlns:a="http://schemas.openxmlformats.org/drawingml/2006/main"/>
        </p:blipFill>
        <p:spPr>
          <a:xfrm xmlns:a="http://schemas.openxmlformats.org/drawingml/2006/main">
            <a:off x="1423988" y="1000125"/>
            <a:ext cx="9344025" cy="51911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249013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809ECF7-3932-4125-A123-3FBCB7F76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11410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3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03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Most assets paid for protection with foregone upside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28E34D83-D41D-40E5-A401-C27B318EE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98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98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7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bdfdeb13f342c1"/>
          <a:stretch xmlns:a="http://schemas.openxmlformats.org/drawingml/2006/main"/>
        </p:blipFill>
        <p:spPr>
          <a:xfrm xmlns:a="http://schemas.openxmlformats.org/drawingml/2006/main">
            <a:off x="1423988" y="1000125"/>
            <a:ext cx="9344025" cy="51911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253127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0DF868F-DF55-400F-9466-CF993B9D6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11410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3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03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rule won only one trade in four—and still had a positive mean trade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3005745E-988C-4F9D-9DEA-604F73375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98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98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8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dfcb0f805c40f4"/>
          <a:stretch xmlns:a="http://schemas.openxmlformats.org/drawingml/2006/main"/>
        </p:blipFill>
        <p:spPr>
          <a:xfrm xmlns:a="http://schemas.openxmlformats.org/drawingml/2006/main">
            <a:off x="390525" y="1465792"/>
            <a:ext cx="7239000" cy="4021667"/>
          </a:xfrm>
          <a:prstGeom xmlns:a="http://schemas.openxmlformats.org/drawingml/2006/main" prst="rect">
            <a:avLst/>
          </a:prstGeom>
        </p:spPr>
      </p:pic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EC311A58-7168-4D51-A1F5-3FE924F00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1450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750" b="1">
                <a:solidFill>
                  <a:srgbClr val="C530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750" b="1">
                <a:solidFill>
                  <a:srgbClr val="C53030"/>
                </a:solidFill>
                <a:latin typeface="Helvetica Neue"/>
                <a:ea typeface="Helvetica Neue"/>
                <a:cs typeface="Helvetica Neue"/>
              </a:rPr>
              <a:t>25.0%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3ABE12B6-150E-4FE1-9F29-2DD88EBF0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71750"/>
            <a:ext cx="285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pooled hit rate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05DAABF8-5BC7-44E4-8849-90B3D7077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333750"/>
            <a:ext cx="28575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-1.35% median trade</a:t>
            </a:r>
          </a:p>
          <a:p xmlns:a="http://schemas.openxmlformats.org/drawingml/2006/main">
            <a:pPr algn="ctr">
              <a:defRPr sz="18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+0.86% mean trade</a:t>
            </a:r>
          </a:p>
          <a:p xmlns:a="http://schemas.openxmlformats.org/drawingml/2006/main">
            <a:pPr algn="ctr">
              <a:defRPr sz="18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5-session median hold</a:t>
            </a:r>
          </a:p>
          <a:p xmlns:a="http://schemas.openxmlformats.org/drawingml/2006/main">
            <a:pPr algn="ctr">
              <a:defRPr sz="18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71% lasted &lt;=20 sessions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A74D2FE1-37E6-4C84-A03F-1EA74A28D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524500"/>
            <a:ext cx="342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A few long trends paid for many short false starts.</a:t>
            </a:r>
          </a:p>
        </p:txBody>
      </p:sp>
    </p:spTree>
    <p:extLst>
      <p:ext uri="{BB962C8B-B14F-4D97-AF65-F5344CB8AC3E}">
        <p14:creationId xmlns:p14="http://schemas.microsoft.com/office/powerpoint/2010/main" val="191781676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0E32F83-A780-447D-AE31-866F49F57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11410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445"/>
          </a:bodyPr>
          <a:lstStyle xmlns:a="http://schemas.openxmlformats.org/drawingml/2006/main"/>
          <a:p xmlns:a="http://schemas.openxmlformats.org/drawingml/2006/main">
            <a:pPr algn="l">
              <a:defRPr sz="2903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03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actual SMA timing usually lagged matched placements of the same exposure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21107342-151B-4BC4-8DD4-C11A5DEE7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98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98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9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b4088bca384355"/>
          <a:stretch xmlns:a="http://schemas.openxmlformats.org/drawingml/2006/main"/>
        </p:blipFill>
        <p:spPr>
          <a:xfrm xmlns:a="http://schemas.openxmlformats.org/drawingml/2006/main">
            <a:off x="1423988" y="1000125"/>
            <a:ext cx="9344025" cy="51911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788416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70F81FE-FEFE-4FAF-B00A-6BAA56BF5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11410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3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03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filter helped collapsing stocks lose less and strong sectors capture less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3ABF6AF2-C009-4F9F-BB3A-193809F34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98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98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6697c009bb4fb5"/>
          <a:stretch xmlns:a="http://schemas.openxmlformats.org/drawingml/2006/main"/>
        </p:blipFill>
        <p:spPr>
          <a:xfrm xmlns:a="http://schemas.openxmlformats.org/drawingml/2006/main">
            <a:off x="390525" y="1465792"/>
            <a:ext cx="7239000" cy="4021667"/>
          </a:xfrm>
          <a:prstGeom xmlns:a="http://schemas.openxmlformats.org/drawingml/2006/main" prst="rect">
            <a:avLst/>
          </a:prstGeom>
        </p:spPr>
      </p:pic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3917ED90-C4A7-4258-B2DB-4A22F2D84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71625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ATTENTION COHORT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C124B708-920C-4F20-8DD1-166DEBF1C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143125"/>
            <a:ext cx="3143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-22.3% strategy</a:t>
            </a:r>
          </a:p>
          <a:p xmlns:a="http://schemas.openxmlformats.org/drawingml/2006/main">
            <a:pPr algn="ctr">
              <a:defRPr sz="18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-31.3% ownership</a:t>
            </a:r>
          </a:p>
          <a:p xmlns:a="http://schemas.openxmlformats.org/drawingml/2006/main">
            <a:pPr algn="ctr">
              <a:defRPr sz="18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+21.8 pp median DD improvement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3561A219-B3E5-4991-A434-BF2DD8DBA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857625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530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C53030"/>
                </a:solidFill>
                <a:latin typeface="Helvetica Neue"/>
                <a:ea typeface="Helvetica Neue"/>
                <a:cs typeface="Helvetica Neue"/>
              </a:rPr>
              <a:t>ENERGY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C29B3317-1143-4CAE-B502-8AECB72FA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381500"/>
            <a:ext cx="285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+59% strategy</a:t>
            </a:r>
          </a:p>
          <a:p xmlns:a="http://schemas.openxmlformats.org/drawingml/2006/main">
            <a:pPr algn="ctr">
              <a:defRPr sz="20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+167% ownership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9F9F7BDD-CF08-4C90-AB1C-80F8E175F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6197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Descriptive context—not a sector-selection rule.</a:t>
            </a:r>
          </a:p>
        </p:txBody>
      </p:sp>
    </p:spTree>
    <p:extLst>
      <p:ext uri="{BB962C8B-B14F-4D97-AF65-F5344CB8AC3E}">
        <p14:creationId xmlns:p14="http://schemas.microsoft.com/office/powerpoint/2010/main" val="1993878754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88D0AD1C-2382-453F-B146-6CAC28A85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90525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PATH AUDIT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33393986-0A74-4753-87AC-8DDD3E18C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476375"/>
            <a:ext cx="104775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51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51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“Better” depends on</a:t>
            </a:r>
          </a:p>
          <a:p xmlns:a="http://schemas.openxmlformats.org/drawingml/2006/main">
            <a:pPr algn="l">
              <a:defRPr sz="51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51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the path avoided—</a:t>
            </a:r>
          </a:p>
          <a:p xmlns:a="http://schemas.openxmlformats.org/drawingml/2006/main">
            <a:pPr algn="l">
              <a:defRPr sz="51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51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and what it missed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25A15E20-EF6B-40D6-B6F6-5D4356175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2387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Six mechanically selected tapes separate absolute return, relative return, and drawdown protection.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CE0504D3-E372-4FC6-9924-4E54F8A41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98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98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776150227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310C7D0-FC49-4B06-B30D-188DD2AEA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11410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3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03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median asset paid 19 points of return for modest protection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1B7F8726-F4FD-42B3-89C1-5E3B730E8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98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98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12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7270c8600b4973"/>
          <a:stretch xmlns:a="http://schemas.openxmlformats.org/drawingml/2006/main"/>
        </p:blipFill>
        <p:spPr>
          <a:xfrm xmlns:a="http://schemas.openxmlformats.org/drawingml/2006/main">
            <a:off x="1848716" y="1000125"/>
            <a:ext cx="8494568" cy="51911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4657605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FF806EC-F583-4249-85FA-1D9F1452F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11410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3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03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best relative rescue still lost money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619819A8-B060-4A5B-A04C-4A53B0920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98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98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13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eee2a0501e485f"/>
          <a:stretch xmlns:a="http://schemas.openxmlformats.org/drawingml/2006/main"/>
        </p:blipFill>
        <p:spPr>
          <a:xfrm xmlns:a="http://schemas.openxmlformats.org/drawingml/2006/main">
            <a:off x="1848716" y="1000125"/>
            <a:ext cx="8494568" cy="51911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248354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00E8C37-7525-4F20-A4C3-731FF28F5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11410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3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03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huge absolute gain can still be the worst relative result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060347F1-4713-4651-AE5C-46D2E5566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98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98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14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b27189ee0348e2"/>
          <a:stretch xmlns:a="http://schemas.openxmlformats.org/drawingml/2006/main"/>
        </p:blipFill>
        <p:spPr>
          <a:xfrm xmlns:a="http://schemas.openxmlformats.org/drawingml/2006/main">
            <a:off x="1848716" y="1000125"/>
            <a:ext cx="8494568" cy="51911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856833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C413D4F-450E-444E-8F37-DF97CB720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11410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3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03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META shows the rare case where return and drawdown both improved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E4664ED8-963A-4756-B5F9-19FC78766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98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98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15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2becb3bd7049af"/>
          <a:stretch xmlns:a="http://schemas.openxmlformats.org/drawingml/2006/main"/>
        </p:blipFill>
        <p:spPr>
          <a:xfrm xmlns:a="http://schemas.openxmlformats.org/drawingml/2006/main">
            <a:off x="1848716" y="1000125"/>
            <a:ext cx="8494568" cy="51911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2484268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9514F0F-C643-416F-A574-55A174D5D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11410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3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03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Frequent crossings can add activity without adding value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13DF7B3C-6768-44A3-818C-2FF700FAD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98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98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16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cdd44608ad4152"/>
          <a:stretch xmlns:a="http://schemas.openxmlformats.org/drawingml/2006/main"/>
        </p:blipFill>
        <p:spPr>
          <a:xfrm xmlns:a="http://schemas.openxmlformats.org/drawingml/2006/main">
            <a:off x="1848716" y="1000125"/>
            <a:ext cx="8494568" cy="51911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4108408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EDAF461-0161-4190-BDF1-667198FF8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11410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3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03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persistent trend can make the simple rule look clean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B9582212-D7D5-4681-AB54-F60B81747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98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98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17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87e0b245b24ce8"/>
          <a:stretch xmlns:a="http://schemas.openxmlformats.org/drawingml/2006/main"/>
        </p:blipFill>
        <p:spPr>
          <a:xfrm xmlns:a="http://schemas.openxmlformats.org/drawingml/2006/main">
            <a:off x="1848716" y="1000125"/>
            <a:ext cx="8494568" cy="51911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1509346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99DC0BE-7D7C-438B-A7A5-20C6BCE1D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11410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993"/>
          </a:bodyPr>
          <a:lstStyle xmlns:a="http://schemas.openxmlformats.org/drawingml/2006/main"/>
          <a:p xmlns:a="http://schemas.openxmlformats.org/drawingml/2006/main">
            <a:pPr algn="l">
              <a:defRPr sz="2903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03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200-session cross is a defensible risk filter—not a demonstrated timing edge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59E354D2-2831-41A9-97B5-BEB09D259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98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98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18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5E3D82B9-96A4-4AF2-B4F1-1EFBFC07F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7162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F855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2F855A"/>
                </a:solidFill>
                <a:latin typeface="Helvetica Neue"/>
                <a:ea typeface="Helvetica Neue"/>
                <a:cs typeface="Helvetica Neue"/>
              </a:rPr>
              <a:t>WHAT THE WIDE STUDY SUPPORTS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F7C2B1F2-ED44-427B-9B2F-87F26F407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38375"/>
            <a:ext cx="47625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Drawdown improved in 79/119 assets</a:t>
            </a:r>
          </a:p>
          <a:p xmlns:a="http://schemas.openxmlformats.org/drawingml/2006/main">
            <a:pPr algn="l">
              <a:defRPr sz="21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Long cash intervals softened some collapses</a:t>
            </a:r>
          </a:p>
          <a:p xmlns:a="http://schemas.openxmlformats.org/drawingml/2006/main">
            <a:pPr algn="l">
              <a:defRPr sz="21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few persistent trends paid for many losses</a:t>
            </a:r>
          </a:p>
        </p:txBody>
      </p:sp>
      <p:sp>
        <p:nvSpPr>
          <p:cNvPr id="5" name="divider">
            <a:extLst xmlns:a="http://schemas.openxmlformats.org/drawingml/2006/main">
              <a:ext uri="{FF2B5EF4-FFF2-40B4-BE49-F238E27FC236}">
                <a16:creationId xmlns:a16="http://schemas.microsoft.com/office/drawing/2014/main" id="{4C0FC27B-CFCD-427C-8FA1-D20FF191B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428750"/>
            <a:ext cx="1905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ACC8E39E-F8D0-459F-BC1E-17F794F6A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57162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530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C53030"/>
                </a:solidFill>
                <a:latin typeface="Helvetica Neue"/>
                <a:ea typeface="Helvetica Neue"/>
                <a:cs typeface="Helvetica Neue"/>
              </a:rPr>
              <a:t>WHAT IT DOES NOT SUPPORT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43AA6304-8804-4F58-BBB3-56FE196EC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38375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Generic outperformance versus ownership</a:t>
            </a:r>
          </a:p>
          <a:p xmlns:a="http://schemas.openxmlformats.org/drawingml/2006/main">
            <a:pPr algn="l">
              <a:defRPr sz="21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Favorable alignment versus matched shifts</a:t>
            </a:r>
          </a:p>
          <a:p xmlns:a="http://schemas.openxmlformats.org/drawingml/2006/main">
            <a:pPr algn="l">
              <a:defRPr sz="21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Sector, cohort, buffer, or SMA-length selection</a:t>
            </a:r>
          </a:p>
          <a:p xmlns:a="http://schemas.openxmlformats.org/drawingml/2006/main">
            <a:pPr algn="l">
              <a:defRPr sz="21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Portfolio or live authority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D41BEB97-ECD4-4DE9-BEEF-2B163AAFA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1975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667085"/>
                </a:solidFill>
                <a:latin typeface="Helvetica Neue"/>
                <a:ea typeface="Helvetica Neue"/>
                <a:cs typeface="Helvetica Neue"/>
              </a:rPr>
              <a:t>Next research must declare whether its objective is growth, protection, or a frozen combination of both.</a:t>
            </a:r>
          </a:p>
        </p:txBody>
      </p:sp>
    </p:spTree>
    <p:extLst>
      <p:ext uri="{BB962C8B-B14F-4D97-AF65-F5344CB8AC3E}">
        <p14:creationId xmlns:p14="http://schemas.microsoft.com/office/powerpoint/2010/main" val="76045594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2026-08-08T12:48:48.7790000Z</dcterms:created>
  <dcterms:modified xsi:type="dcterms:W3CDTF">2026-08-08T12:48:48.7790000Z</dcterms:modified>
</coreProperties>
</file>