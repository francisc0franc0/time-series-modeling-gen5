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4249b2dc5149ba" /><Relationship Type="http://schemas.openxmlformats.org/officeDocument/2006/relationships/extended-properties" Target="/docProps/app.xml" Id="R838fb509ef8e4b69" /><Relationship Type="http://schemas.openxmlformats.org/officeDocument/2006/relationships/officeDocument" Target="/ppt/presentation.xml" Id="Rcb388ad8ecd24e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6c43ce828c48e0"/>
  </p:sldMasterIdLst>
  <p:notesMasterIdLst>
    <p:notesMasterId xmlns:r="http://schemas.openxmlformats.org/officeDocument/2006/relationships" r:id="Rcb0b0318ec85483f"/>
  </p:notesMasterIdLst>
  <p:sldIdLst>
    <p:sldId xmlns:r="http://schemas.openxmlformats.org/officeDocument/2006/relationships" id="256" r:id="R2e60ea4c02194508"/>
    <p:sldId xmlns:r="http://schemas.openxmlformats.org/officeDocument/2006/relationships" id="257" r:id="R35d70f6d24e846ef"/>
    <p:sldId xmlns:r="http://schemas.openxmlformats.org/officeDocument/2006/relationships" id="258" r:id="Re0f104ca932c4c49"/>
    <p:sldId xmlns:r="http://schemas.openxmlformats.org/officeDocument/2006/relationships" id="259" r:id="R15787070ce6f48a9"/>
    <p:sldId xmlns:r="http://schemas.openxmlformats.org/officeDocument/2006/relationships" id="260" r:id="Rfc86a593a4744037"/>
    <p:sldId xmlns:r="http://schemas.openxmlformats.org/officeDocument/2006/relationships" id="261" r:id="R5c360e59dfa04e4e"/>
    <p:sldId xmlns:r="http://schemas.openxmlformats.org/officeDocument/2006/relationships" id="262" r:id="R32277df9c21d4e7c"/>
    <p:sldId xmlns:r="http://schemas.openxmlformats.org/officeDocument/2006/relationships" id="263" r:id="Rc94030e40a804938"/>
    <p:sldId xmlns:r="http://schemas.openxmlformats.org/officeDocument/2006/relationships" id="264" r:id="R95badff4363c46ed"/>
    <p:sldId xmlns:r="http://schemas.openxmlformats.org/officeDocument/2006/relationships" id="265" r:id="R85a3037c98f2472b"/>
    <p:sldId xmlns:r="http://schemas.openxmlformats.org/officeDocument/2006/relationships" id="266" r:id="R08d7efae9f17403f"/>
    <p:sldId xmlns:r="http://schemas.openxmlformats.org/officeDocument/2006/relationships" id="267" r:id="Rd28e323137da4aa5"/>
    <p:sldId xmlns:r="http://schemas.openxmlformats.org/officeDocument/2006/relationships" id="268" r:id="R2d748a2a1b8d4426"/>
    <p:sldId xmlns:r="http://schemas.openxmlformats.org/officeDocument/2006/relationships" id="269" r:id="R7c70feffba4d4ba6"/>
    <p:sldId xmlns:r="http://schemas.openxmlformats.org/officeDocument/2006/relationships" id="270" r:id="Rb492049b55b64c33"/>
    <p:sldId xmlns:r="http://schemas.openxmlformats.org/officeDocument/2006/relationships" id="271" r:id="Ra8be76a588ac4de2"/>
    <p:sldId xmlns:r="http://schemas.openxmlformats.org/officeDocument/2006/relationships" id="272" r:id="R4b2b23b967c54e9f"/>
    <p:sldId xmlns:r="http://schemas.openxmlformats.org/officeDocument/2006/relationships" id="273" r:id="Re9614b0bac974d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99c6bb0d1942ac" /><Relationship Type="http://schemas.openxmlformats.org/officeDocument/2006/relationships/slideMaster" Target="/ppt/slideMasters/slideMaster1.xml" Id="Rb86c43ce828c48e0" /><Relationship Type="http://schemas.openxmlformats.org/officeDocument/2006/relationships/notesMaster" Target="/ppt/notesMasters/notesMaster1.xml" Id="Rcb0b0318ec85483f" /><Relationship Type="http://schemas.openxmlformats.org/officeDocument/2006/relationships/presProps" Target="/ppt/presProps.xml" Id="R4c162ad623f54f88" /><Relationship Type="http://schemas.openxmlformats.org/officeDocument/2006/relationships/tableStyles" Target="/ppt/tableStyles.xml" Id="Re4490391559e48b4" /><Relationship Type="http://schemas.openxmlformats.org/officeDocument/2006/relationships/slide" Target="/ppt/slides/slide1.xml" Id="R2e60ea4c02194508" /><Relationship Type="http://schemas.openxmlformats.org/officeDocument/2006/relationships/slide" Target="/ppt/slides/slide2.xml" Id="R35d70f6d24e846ef" /><Relationship Type="http://schemas.openxmlformats.org/officeDocument/2006/relationships/slide" Target="/ppt/slides/slide3.xml" Id="Re0f104ca932c4c49" /><Relationship Type="http://schemas.openxmlformats.org/officeDocument/2006/relationships/slide" Target="/ppt/slides/slide4.xml" Id="R15787070ce6f48a9" /><Relationship Type="http://schemas.openxmlformats.org/officeDocument/2006/relationships/slide" Target="/ppt/slides/slide5.xml" Id="Rfc86a593a4744037" /><Relationship Type="http://schemas.openxmlformats.org/officeDocument/2006/relationships/slide" Target="/ppt/slides/slide6.xml" Id="R5c360e59dfa04e4e" /><Relationship Type="http://schemas.openxmlformats.org/officeDocument/2006/relationships/slide" Target="/ppt/slides/slide7.xml" Id="R32277df9c21d4e7c" /><Relationship Type="http://schemas.openxmlformats.org/officeDocument/2006/relationships/slide" Target="/ppt/slides/slide8.xml" Id="Rc94030e40a804938" /><Relationship Type="http://schemas.openxmlformats.org/officeDocument/2006/relationships/slide" Target="/ppt/slides/slide9.xml" Id="R95badff4363c46ed" /><Relationship Type="http://schemas.openxmlformats.org/officeDocument/2006/relationships/slide" Target="/ppt/slides/slide10.xml" Id="R85a3037c98f2472b" /><Relationship Type="http://schemas.openxmlformats.org/officeDocument/2006/relationships/slide" Target="/ppt/slides/slide11.xml" Id="R08d7efae9f17403f" /><Relationship Type="http://schemas.openxmlformats.org/officeDocument/2006/relationships/slide" Target="/ppt/slides/slide12.xml" Id="Rd28e323137da4aa5" /><Relationship Type="http://schemas.openxmlformats.org/officeDocument/2006/relationships/slide" Target="/ppt/slides/slide13.xml" Id="R2d748a2a1b8d4426" /><Relationship Type="http://schemas.openxmlformats.org/officeDocument/2006/relationships/slide" Target="/ppt/slides/slide14.xml" Id="R7c70feffba4d4ba6" /><Relationship Type="http://schemas.openxmlformats.org/officeDocument/2006/relationships/slide" Target="/ppt/slides/slide15.xml" Id="Rb492049b55b64c33" /><Relationship Type="http://schemas.openxmlformats.org/officeDocument/2006/relationships/slide" Target="/ppt/slides/slide16.xml" Id="Ra8be76a588ac4de2" /><Relationship Type="http://schemas.openxmlformats.org/officeDocument/2006/relationships/slide" Target="/ppt/slides/slide17.xml" Id="R4b2b23b967c54e9f" /><Relationship Type="http://schemas.openxmlformats.org/officeDocument/2006/relationships/slide" Target="/ppt/slides/slide18.xml" Id="Re9614b0bac974d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dfd9e65bfc4b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9295da666f4ae3" /><Relationship Type="http://schemas.openxmlformats.org/officeDocument/2006/relationships/notesMaster" Target="/ppt/notesMasters/notesMaster1.xml" Id="R6614471e27624f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79020806174bc7" /><Relationship Type="http://schemas.openxmlformats.org/officeDocument/2006/relationships/notesMaster" Target="/ppt/notesMasters/notesMaster1.xml" Id="R82f323c44be24b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01676fa2314c61" /><Relationship Type="http://schemas.openxmlformats.org/officeDocument/2006/relationships/notesMaster" Target="/ppt/notesMasters/notesMaster1.xml" Id="R03a84bca605c4d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c3c5a1ddd84885" /><Relationship Type="http://schemas.openxmlformats.org/officeDocument/2006/relationships/notesMaster" Target="/ppt/notesMasters/notesMaster1.xml" Id="Ra648df326c994a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6ac486e6094aa5" /><Relationship Type="http://schemas.openxmlformats.org/officeDocument/2006/relationships/notesMaster" Target="/ppt/notesMasters/notesMaster1.xml" Id="R489f61ecce7c4a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c88b62ac7b44be" /><Relationship Type="http://schemas.openxmlformats.org/officeDocument/2006/relationships/notesMaster" Target="/ppt/notesMasters/notesMaster1.xml" Id="Rcbe96e0e532147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af1e595c8a4008" /><Relationship Type="http://schemas.openxmlformats.org/officeDocument/2006/relationships/notesMaster" Target="/ppt/notesMasters/notesMaster1.xml" Id="R0dc9a6337a5a46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ceac1627c745af" /><Relationship Type="http://schemas.openxmlformats.org/officeDocument/2006/relationships/notesMaster" Target="/ppt/notesMasters/notesMaster1.xml" Id="R669870c566914c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471434ec364eaa" /><Relationship Type="http://schemas.openxmlformats.org/officeDocument/2006/relationships/notesMaster" Target="/ppt/notesMasters/notesMaster1.xml" Id="Rdce85c58873844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20e8b707064561" /><Relationship Type="http://schemas.openxmlformats.org/officeDocument/2006/relationships/notesMaster" Target="/ppt/notesMasters/notesMaster1.xml" Id="R6b3d60deea014f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1a1c765d48485e" /><Relationship Type="http://schemas.openxmlformats.org/officeDocument/2006/relationships/notesMaster" Target="/ppt/notesMasters/notesMaster1.xml" Id="Rb810e8c1d21b4f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b2f2f2b1db4f6a" /><Relationship Type="http://schemas.openxmlformats.org/officeDocument/2006/relationships/notesMaster" Target="/ppt/notesMasters/notesMaster1.xml" Id="R41c785303f8149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16c2d8625d466d" /><Relationship Type="http://schemas.openxmlformats.org/officeDocument/2006/relationships/notesMaster" Target="/ppt/notesMasters/notesMaster1.xml" Id="R4cf8f98294154a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cf11ebc1524228" /><Relationship Type="http://schemas.openxmlformats.org/officeDocument/2006/relationships/notesMaster" Target="/ppt/notesMasters/notesMaster1.xml" Id="R8c4c9fcb33864f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b4445b5a08412b" /><Relationship Type="http://schemas.openxmlformats.org/officeDocument/2006/relationships/notesMaster" Target="/ppt/notesMasters/notesMaster1.xml" Id="Rb8e29cb6346a46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7639f953894879" /><Relationship Type="http://schemas.openxmlformats.org/officeDocument/2006/relationships/notesMaster" Target="/ppt/notesMasters/notesMaster1.xml" Id="Ra665b4ac7f904e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aef3e311e04b2e" /><Relationship Type="http://schemas.openxmlformats.org/officeDocument/2006/relationships/notesMaster" Target="/ppt/notesMasters/notesMaster1.xml" Id="R03bb52a74dc045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bef108f4cf74df9" /><Relationship Type="http://schemas.openxmlformats.org/officeDocument/2006/relationships/notesMaster" Target="/ppt/notesMasters/notesMaster1.xml" Id="R4771e846a39442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corrected deck begins every asset in cash and admits only fresh in-window crosses. Removing warm starts materially lowered exposure and return, while strengthening the drawdown-defense interpretation.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Project\Time-Series-Modeling-Gen5\operator_hypothesis_lab\docs\HYP_MOM_02_1_SMA200_CROSS_WIDE_DISCOVERY_CONTRACT.md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Project\Time-Series-Modeling-Gen5\operator_hypothesis_lab\docs\HYP_MOM_02_1_SMA200_CROSS_WIDE_DISCOVERY_RESULTS.md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SMA uses 200 completed adjusted closes. A cross above completed after the discovery window begins triggers entry at the following open; a cross below triggers exit at the following open. Being above at the boundary is ignored, so no warm-start trade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Project\Time-Series-Modeling-Gen5\operator_hypothesis_lab\docs\HYP_MOM_02_1_SMA200_CROSS_WIDE_DISCOVERY_CONTRACT.md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SMA200 is a lagging trigger. The corrected question is not whether every above-SMA state earns a return, but whether trades begun by fresh crosses create a worthwhile return, drawdown, exposure, and whipsaw exchange.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Project\Time-Series-Modeling-Gen5\operator_hypothesis_lab\docs\HYP_MOM_02_1_SMA200_CROSS_WIDE_DISCOVERY_CONTRACT.md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Project\Time-Series-Modeling-Gen5\operator_hypothesis_lab\docs\HYP_MOM_02_1_SMA200_CROSS_WIDE_DISCOVERY_RESULTS.md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combined registry contains the original 22-stock panel plus a previously frozen 100-stock breadth-attention registry. APHA and SNE lack the full discovery window; LI lacks the required prehistory. A bounded provider refresh left the same 119 eligible assets. No failure was replaced.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Project\Time-Series-Modeling-Gen5\runs\research_workbench\operator_hypothesis_lab\hyp_mom_02_1_sma200_cross_wide_discovery_20260808\hyp_mom_02_1_coverage.csv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Project\Time-Series-Modeling-Gen5\runs\research_workbench\operator_hypothesis_lab\hyp_mom_02_1_sma200_cross_wide_discovery_20260808\hyp_mom_02_1_query_health.csv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Project\Time-Series-Modeling-Gen5\runs\research_workbench\operator_hypothesis_lab\hyp_mom_02_1_sma200_cross_wide_discovery_20260808\visuals\coverage_and_composition.png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cross-only result is more defensive and less profitable than the warm-start readout. Median strategy return was -2.73% versus +20.79% ownership. Drawdown improved in 88 assets, but only 26 beat ownership.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Project\Time-Series-Modeling-Gen5\runs\research_workbench\operator_hypothesis_lab\hyp_mom_02_1_sma200_cross_wide_discovery_20260808\hyp_mom_02_1_panel_summary.csv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Project\Time-Series-Modeling-Gen5\runs\research_workbench\operator_hypothesis_lab\hyp_mom_02_1_sma200_cross_wide_discovery_20260808\hyp_mom_02_1_asset_summary.csv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Project\Time-Series-Modeling-Gen5\operator_hypothesis_lab\docs\HYP_MOM_02_1_SMA200_CROSS_WIDE_DISCOVERY_RESULTS.md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left panel compares full-window returns; the right compares maximum drawdowns. Only 26 assets beat buy-and-hold, while 88 reduced maximum drawdown. All 26 return winners also improved drawdown.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Project\Time-Series-Modeling-Gen5\runs\research_workbench\operator_hypothesis_lab\hyp_mom_02_1_sma200_cross_wide_discovery_20260808\hyp_mom_02_1_asset_summary.csv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Project\Time-Series-Modeling-Gen5\runs\research_workbench\operator_hypothesis_lab\hyp_mom_02_1_sma200_cross_wide_discovery_20260808\visuals\strategy_vs_buy_hold.png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point is one asset. The upper-right quadrant contains 26 assets that improved both return and maximum drawdown. Another 62 reduced drawdown while still lagging ownership. Point size reflects corrected cross-only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Project\Time-Series-Modeling-Gen5\runs\research_workbench\operator_hypothesis_lab\hyp_mom_02_1_sma200_cross_wide_discovery_20260808\hyp_mom_02_1_asset_summary.csv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Project\Time-Series-Modeling-Gen5\runs\research_workbench\operator_hypothesis_lab\hyp_mom_02_1_sma200_cross_wide_discovery_20260808\visuals\return_drawdown_tradeoff.png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observed trade distribution is right-skewed: the median trade lost 1.35%, while a smaller set of longer winners lifted the mean to only +0.15%. In mathematics, convexity means increasing payoff slope, or positive second derivative where defined. This run demonstrates asymmetric right-skewed outcomes; it does not formally estimate payoff curvature.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Project\Time-Series-Modeling-Gen5\runs\research_workbench\operator_hypothesis_lab\hyp_mom_02_1_sma200_cross_wide_discovery_20260808\hyp_mom_02_1_trades.csv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Project\Time-Series-Modeling-Gen5\runs\research_workbench\operator_hypothesis_lab\hyp_mom_02_1_sma200_cross_wide_discovery_20260808\visuals\trade_mechanics_distribution.png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Project\Time-Series-Modeling-Gen5\operator_hypothesis_lab\docs\HYP_MOM_02_1_SMA200_CROSS_WIDE_DISCOVERY_RESULTS.md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circular shift preserves the corrected cross-triggered exposure fraction and serial block structure. The median observed percentile is 27.4%; 34 assets exceed the median shift, while ADBE, CHTR, and GE exceed the 80th percentile. These are diagnostics, not executable strategies or p-values.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Project\Time-Series-Modeling-Gen5\runs\research_workbench\operator_hypothesis_lab\hyp_mom_02_1_sma200_cross_wide_discovery_20260808\hyp_mom_02_1_asset_summary.csv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Project\Time-Series-Modeling-Gen5\runs\research_workbench\operator_hypothesis_lab\hyp_mom_02_1_sma200_cross_wide_discovery_20260808\hyp_mom_02_1_random_controls.csv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Project\Time-Series-Modeling-Gen5\runs\research_workbench\operator_hypothesis_lab\hyp_mom_02_1_sma200_cross_wide_discovery_20260808\visuals\timing_controls_and_exposure.png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attention cohort illustrates protection rather than success: median strategy return was -18.7%, but less negative than ownership. Energy illustrates foregone upside: median strategy return was about +25% versus +167% ownership. Neither view authorizes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Project\Time-Series-Modeling-Gen5\runs\research_workbench\operator_hypothesis_lab\hyp_mom_02_1_sma200_cross_wide_discovery_20260808\hyp_mom_02_1_panel_summary.csv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Project\Time-Series-Modeling-Gen5\runs\research_workbench\operator_hypothesis_lab\hyp_mom_02_1_sma200_cross_wide_discovery_20260808\hyp_mom_02_1_sector_summary.csv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Project\Time-Series-Modeling-Gen5\runs\research_workbench\operator_hypothesis_lab\hyp_mom_02_1_sma200_cross_wide_discovery_20260808\visuals\sector_descriptive_outcomes.png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six archetype roles remain exactly as frozen. The corrected outcomes cause CGC to occupy both highest-excess and best-drawdown roles, while MPC occupies both lowest-excess and longest-hold roles. Duplicates are retained transparently rather than replaced after inspection.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Project\Time-Series-Modeling-Gen5\operator_hypothesis_lab\docs\HYP_MOM_02_1_SMA200_CROSS_WIDE_DISCOVERY_CONTRACT.md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Project\Time-Series-Modeling-Gen5\runs\research_workbench\operator_hypothesis_lab\hyp_mom_02_1_sma200_cross_wide_discovery_20260808\hyp_mom_02_1_tape_manifest.csv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AEP is the corrected median-excess asset. The strategy lost 13.4% while ownership gained 8.3%, a 21.8-point relative shortfall despite modest drawdown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Project\Time-Series-Modeling-Gen5\runs\research_workbench\operator_hypothesis_lab\hyp_mom_02_1_sma200_cross_wide_discovery_20260808\visuals\sma200_tape_01_median_excess_cl.png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CGC's corrected strategy loss was -16.4% versus -97.9% ownership. It is both the highest-excess and best-drawdown-improvement asset. That is dramatic protection, not a profitable strategy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Project\Time-Series-Modeling-Gen5\runs\research_workbench\operator_hypothesis_lab\hyp_mom_02_1_sma200_cross_wide_discovery_20260808\visuals\sma200_tape_02_highest_excess_cgc.png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MPC gained 23.1% under the cross-only rule, but ownership gained 286.8%. Waiting for the first fresh cross left the strategy in cash through most of the exceptional trend.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Project\Time-Series-Modeling-Gen5\runs\research_workbench\operator_hypothesis_lab\hyp_mom_02_1_sma200_cross_wide_discovery_20260808\visuals\sma200_tape_03_lowest_excess_cprx.png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CGC legitimately repeats because it also has the greatest drawdown improvement. The duplicate is evidence about the frozen selection rules, not a second independent success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Project\Time-Series-Modeling-Gen5\runs\research_workbench\operator_hypothesis_lab\hyp_mom_02_1_sma200_cross_wide_discovery_20260808\visuals\sma200_tape_04_best_drawdown_improvement_meta.png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VZ generated 26 round trips, the most in the panel. The strategy lost 22.7% versus -25.1% ownership and reduced drawdown, but frequent crossings still failed to produce a profitable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Project\Time-Series-Modeling-Gen5\runs\research_workbench\operator_hypothesis_lab\hyp_mom_02_1_sma200_cross_wide_discovery_20260808\visuals\sma200_tape_05_highest_trade_count_vz.png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MPC legitimately repeats because its two trades had the longest median holding duration. It is also the worst relative result, showing that a long hold is useful only when it captures enough of the trend.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Project\Time-Series-Modeling-Gen5\runs\research_workbench\operator_hypothesis_lab\hyp_mom_02_1_sma200_cross_wide_discovery_20260808\visuals\sma200_tape_06_longest_median_hold_jpm.png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 WIDE_DISCOVERY_COMPLETE_NO_PROMOTION_AUTHORITY with CROSS_TRIGGERED_ONLY_NO_WARM_START as authoritative. Fresh crosses did not demonstrate generic timing value. Do not tune the average, add buffers, select favorable groups, or inspect 2024+ from this reused discovery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Project\Time-Series-Modeling-Gen5\operator_hypothesis_lab\docs\HYP_MOM_02_1_SMA200_CROSS_WIDE_DISCOVERY_RESULTS.md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Project\Time-Series-Modeling-Gen5\operator_hypothesis_lab\docs\HYP_MOM_02_1_SMA200_CROSS_WIDE_DISCOVERY_CONTRACT.md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Project\Time-Series-Modeling-Gen5\runs\research_workbench\operator_hypothesis_lab\hyp_mom_02_1_sma200_cross_wide_discovery_20260808\hyp_mom_02_1_panel_summary.csv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Project\Time-Series-Modeling-Gen5\runs\research_workbench\operator_hypothesis_lab\hyp_mom_02_1_sma200_cross_wide_discovery_20260808\hyp_mom_02_1_asset_summary.csv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e8371ff9f48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10429786114260" /><Relationship Type="http://schemas.openxmlformats.org/officeDocument/2006/relationships/slideLayout" Target="/ppt/slideLayouts/slideLayout1.xml" Id="R40dce56403d247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dce56403d247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047e9956944a2" /><Relationship Type="http://schemas.openxmlformats.org/officeDocument/2006/relationships/notesSlide" Target="/ppt/notesSlides/notesSlide1.xml" Id="R0175b28e444244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e2c9a61d249dc" /><Relationship Type="http://schemas.openxmlformats.org/officeDocument/2006/relationships/notesSlide" Target="/ppt/notesSlides/notesSlide2.xml" Id="R517de2b5ed444b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9e116834c4c9a" /><Relationship Type="http://schemas.openxmlformats.org/officeDocument/2006/relationships/notesSlide" Target="/ppt/notesSlides/notesSlide3.xml" Id="R9f0452d5d6194b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c9fe9077d4f96" /><Relationship Type="http://schemas.openxmlformats.org/officeDocument/2006/relationships/image" Target="/ppt/media/image.png" Id="R13c793c27be444a8" /><Relationship Type="http://schemas.openxmlformats.org/officeDocument/2006/relationships/notesSlide" Target="/ppt/notesSlides/notesSlide4.xml" Id="Rf0be6e52997246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524804e44445f" /><Relationship Type="http://schemas.openxmlformats.org/officeDocument/2006/relationships/notesSlide" Target="/ppt/notesSlides/notesSlide5.xml" Id="R6863cb9c293946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a0ff53b714103" /><Relationship Type="http://schemas.openxmlformats.org/officeDocument/2006/relationships/image" Target="/ppt/media/image2.png" Id="R5e5f6e5a4956436e" /><Relationship Type="http://schemas.openxmlformats.org/officeDocument/2006/relationships/notesSlide" Target="/ppt/notesSlides/notesSlide6.xml" Id="R84e64cc9ebfd48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51d13926e40e5" /><Relationship Type="http://schemas.openxmlformats.org/officeDocument/2006/relationships/image" Target="/ppt/media/image3.png" Id="R5dad24e0ecd2466c" /><Relationship Type="http://schemas.openxmlformats.org/officeDocument/2006/relationships/notesSlide" Target="/ppt/notesSlides/notesSlide7.xml" Id="R82ddfd84dd6148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c96e533064149" /><Relationship Type="http://schemas.openxmlformats.org/officeDocument/2006/relationships/image" Target="/ppt/media/image4.png" Id="R0f2fb97d305d43d5" /><Relationship Type="http://schemas.openxmlformats.org/officeDocument/2006/relationships/notesSlide" Target="/ppt/notesSlides/notesSlide8.xml" Id="R45b46a94ebef41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f58f67cf34627" /><Relationship Type="http://schemas.openxmlformats.org/officeDocument/2006/relationships/image" Target="/ppt/media/image5.png" Id="R1df4a00f743d4ae7" /><Relationship Type="http://schemas.openxmlformats.org/officeDocument/2006/relationships/notesSlide" Target="/ppt/notesSlides/notesSlide9.xml" Id="Rcedf7edecb7a48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8850d59c2453a" /><Relationship Type="http://schemas.openxmlformats.org/officeDocument/2006/relationships/image" Target="/ppt/media/image6.png" Id="Rb78ead3923c84b2d" /><Relationship Type="http://schemas.openxmlformats.org/officeDocument/2006/relationships/notesSlide" Target="/ppt/notesSlides/notesSlide10.xml" Id="Rb3836e8903e04d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11a25decd4ecd" /><Relationship Type="http://schemas.openxmlformats.org/officeDocument/2006/relationships/notesSlide" Target="/ppt/notesSlides/notesSlide11.xml" Id="Rbdbb185cc57e49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efab2d4384910" /><Relationship Type="http://schemas.openxmlformats.org/officeDocument/2006/relationships/image" Target="/ppt/media/image7.png" Id="Rfbaccf6fd71345e5" /><Relationship Type="http://schemas.openxmlformats.org/officeDocument/2006/relationships/notesSlide" Target="/ppt/notesSlides/notesSlide12.xml" Id="Rcae8cfa1e0874e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59f0200ea4a21" /><Relationship Type="http://schemas.openxmlformats.org/officeDocument/2006/relationships/image" Target="/ppt/media/image8.png" Id="Rc2dbf4616048473b" /><Relationship Type="http://schemas.openxmlformats.org/officeDocument/2006/relationships/notesSlide" Target="/ppt/notesSlides/notesSlide13.xml" Id="R3815a30524fa4e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57b703d0d45f8" /><Relationship Type="http://schemas.openxmlformats.org/officeDocument/2006/relationships/image" Target="/ppt/media/image9.png" Id="Rda70fcb171654325" /><Relationship Type="http://schemas.openxmlformats.org/officeDocument/2006/relationships/notesSlide" Target="/ppt/notesSlides/notesSlide14.xml" Id="Rb86358a9c8514a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b7f5ab7504b7a" /><Relationship Type="http://schemas.openxmlformats.org/officeDocument/2006/relationships/image" Target="/ppt/media/image10.png" Id="Rcb09e623324d45cc" /><Relationship Type="http://schemas.openxmlformats.org/officeDocument/2006/relationships/notesSlide" Target="/ppt/notesSlides/notesSlide15.xml" Id="R3a68151f71be43d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da281d0204ec3" /><Relationship Type="http://schemas.openxmlformats.org/officeDocument/2006/relationships/image" Target="/ppt/media/image11.png" Id="Rf9df4d99b941478e" /><Relationship Type="http://schemas.openxmlformats.org/officeDocument/2006/relationships/notesSlide" Target="/ppt/notesSlides/notesSlide16.xml" Id="R980d08e89b5144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b493dc7344faa" /><Relationship Type="http://schemas.openxmlformats.org/officeDocument/2006/relationships/image" Target="/ppt/media/image12.png" Id="R43085d3fb6cc4083" /><Relationship Type="http://schemas.openxmlformats.org/officeDocument/2006/relationships/notesSlide" Target="/ppt/notesSlides/notesSlide17.xml" Id="R6f50a2a4c87e42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be4b0b0c24c27" /><Relationship Type="http://schemas.openxmlformats.org/officeDocument/2006/relationships/notesSlide" Target="/ppt/notesSlides/notesSlide18.xml" Id="R49047cbac93b47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F2850D6-626C-4702-B3A5-913242C9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OPERATOR HYPOTHESIS LAB | HYP-MOM-02.1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20E502F-6535-4055-A9BE-D12FF5E8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10001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Fresh crosses,</a:t>
            </a:r>
          </a:p>
          <a:p xmlns:a="http://schemas.openxmlformats.org/drawingml/2006/main">
            <a:pPr algn="l">
              <a:buNone/>
              <a:defRPr sz="6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 a price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91618E6-EA10-4AA1-A9D9-ECA1B594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happened when 119 stocks waited for a new SMA200 cross?</a:t>
            </a:r>
          </a:p>
        </p:txBody>
      </p:sp>
    </p:spTree>
    <p:extLst>
      <p:ext uri="{BB962C8B-B14F-4D97-AF65-F5344CB8AC3E}">
        <p14:creationId xmlns:p14="http://schemas.microsoft.com/office/powerpoint/2010/main" val="16259133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AF7DF4-6FAB-47AE-8237-62C39698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fresh completed-close cross determines the next-open trade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9FFFBB4-A1C4-49DB-A263-E993A392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B48B739-0D0E-4DBC-916A-0FCE83C1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SMA200(t) = mean[Close(t-199), ..., Close(t)]</a:t>
            </a:r>
          </a:p>
        </p:txBody>
      </p:sp>
      <p:sp>
        <p:nvSpPr>
          <p:cNvPr id="4" name="long">
            <a:extLst xmlns:a="http://schemas.openxmlformats.org/drawingml/2006/main">
              <a:ext uri="{FF2B5EF4-FFF2-40B4-BE49-F238E27FC236}">
                <a16:creationId xmlns:a16="http://schemas.microsoft.com/office/drawing/2014/main" id="{EC69CAE6-8AAD-4FBA-9F38-5A42F1D1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4857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5D2253-738C-4C43-B15B-FFABEA24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CROSS ABOVE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31AE6AA-54D4-4AF2-BF94-9FEBE769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Buy at the next open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then remain long</a:t>
            </a:r>
          </a:p>
        </p:txBody>
      </p:sp>
      <p:sp>
        <p:nvSpPr>
          <p:cNvPr id="7" name="cash">
            <a:extLst xmlns:a="http://schemas.openxmlformats.org/drawingml/2006/main">
              <a:ext uri="{FF2B5EF4-FFF2-40B4-BE49-F238E27FC236}">
                <a16:creationId xmlns:a16="http://schemas.microsoft.com/office/drawing/2014/main" id="{DF4ED67E-87F9-4CE6-BD51-1F5D02C0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4857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4DBE980-1F7B-4CCF-817A-10B500F6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CROSS BELOW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25FCCA3-2F8D-4472-B008-94B724ED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6237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Sell at the next open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then remain cash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F4BABD4-738B-4AA3-A8DE-07D878B0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Every path starts in cash | adjusted daily | 5 bp/side primary | 10 bp/side stress</a:t>
            </a:r>
          </a:p>
        </p:txBody>
      </p:sp>
    </p:spTree>
    <p:extLst>
      <p:ext uri="{BB962C8B-B14F-4D97-AF65-F5344CB8AC3E}">
        <p14:creationId xmlns:p14="http://schemas.microsoft.com/office/powerpoint/2010/main" val="6654714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AD3D8F-1749-4DA4-A303-F2B21B16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slow average changes the ownership path; it does not promise prediction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8E76104-542E-40EF-89AB-D53E568E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517C6FA-7BB3-4584-BCCD-2B5BA3B1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WHAT IT CAN DO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48A8FEB-3623-4314-B754-2D922950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4762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Avoid parts of prolonged declines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Stay with unusually persistent trends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Reduce time exposed to the market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700598C8-1073-453A-8A05-BCE14511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76375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5C4ED6F-0040-42CA-A182-D715D5F4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rPr>
              <a:t>WHAT IT CANNOT GUARANTEE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DC4D926-3E9A-4BDB-BC3D-96DEEEF2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762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high hit rate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Fast reaction to reversals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Better returns than ownership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Independence from market regime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FA95FDB-D703-40E3-ACCA-B5D71159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estimand is the cross-triggered return / drawdown / exposure tradeoff after costs.</a:t>
            </a:r>
          </a:p>
        </p:txBody>
      </p:sp>
    </p:spTree>
    <p:extLst>
      <p:ext uri="{BB962C8B-B14F-4D97-AF65-F5344CB8AC3E}">
        <p14:creationId xmlns:p14="http://schemas.microsoft.com/office/powerpoint/2010/main" val="12792325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115DA8-0B49-414F-8EA5-9A3C1C2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study began wide: 119 of 122 frozen stocks were eligible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0702F4-335F-40B5-968D-FDD0FEEF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793c27be444a8"/>
          <a:stretch xmlns:a="http://schemas.openxmlformats.org/drawingml/2006/main"/>
        </p:blipFill>
        <p:spPr>
          <a:xfrm xmlns:a="http://schemas.openxmlformats.org/drawingml/2006/main" flipH="0" flipV="0">
            <a:off x="1423988" y="1000125"/>
            <a:ext cx="9344025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206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A6F2C5-0CC7-42C4-9022-9DA92B16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Fresh-cross paths lost money typically and still reduced drawdown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44C0E72-CD70-442F-9D6D-AEBE9E5B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0D0EC92-420F-4225-9A4B-89834E0A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-2.73%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121FA81-C2AD-4EBF-9DC5-1AAFBB19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 strategy return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ACE0D4-36D8-46BF-A408-7B9A807E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versus +20.79% buy-and-hold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B0110C4-F44C-4338-8384-0A89F3A0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rPr>
              <a:t>-21.76 pp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FBA501D-AB05-46C6-BBB6-CA213541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 excess return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21E076-08FE-4819-B497-165DA6AB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338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only 26 of 119 beat ownership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06A699B-6F49-446B-83C3-94FF4CF1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76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43.48%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F0CD3EF-A914-4DE0-A1B6-DCA83919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19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 exposure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BCE0E9C-837F-4206-BC72-11AD8BFC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338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cash for more than half of sessions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4F7651-3EC4-4FE3-A7DA-05254B5C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76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+5.98 pp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46A4F30-BE1B-4581-96BF-339249E2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19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 DD improvement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79E203C-E445-4C39-9180-2B4626A0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3338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-28.11% versus -36.73% ownership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BFB91CC-7BC8-4D0B-B421-4BCE0BDC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52/119 positive paths | 88/119 reduced drawdown | 50/119 remained positive at stress costs</a:t>
            </a:r>
          </a:p>
        </p:txBody>
      </p:sp>
    </p:spTree>
    <p:extLst>
      <p:ext uri="{BB962C8B-B14F-4D97-AF65-F5344CB8AC3E}">
        <p14:creationId xmlns:p14="http://schemas.microsoft.com/office/powerpoint/2010/main" val="19804733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08E408-4D3B-4862-A73E-70E9667B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Return improvement was rare; drawdown improvement was common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4C00EF8-4249-48AA-8215-C070CF37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f6e5a4956436e"/>
          <a:stretch xmlns:a="http://schemas.openxmlformats.org/drawingml/2006/main"/>
        </p:blipFill>
        <p:spPr>
          <a:xfrm xmlns:a="http://schemas.openxmlformats.org/drawingml/2006/main" flipH="0" flipV="0">
            <a:off x="1423988" y="1000125"/>
            <a:ext cx="9344025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901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09ECF7-3932-4125-A123-3FBCB7F7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Most assets paid for protection with foregone upside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8E34D83-D41D-40E5-A401-C27B318E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d24e0ecd2466c"/>
          <a:stretch xmlns:a="http://schemas.openxmlformats.org/drawingml/2006/main"/>
        </p:blipFill>
        <p:spPr>
          <a:xfrm xmlns:a="http://schemas.openxmlformats.org/drawingml/2006/main" flipH="0" flipV="0">
            <a:off x="1423988" y="1000125"/>
            <a:ext cx="9344025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5312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DF868F-DF55-400F-9466-CF993B9D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23% of fresh crosses won—and the mean trade was barely positive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005745E-988C-4F9D-9DEA-604F7337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fb97d305d43d5"/>
          <a:stretch xmlns:a="http://schemas.openxmlformats.org/drawingml/2006/main"/>
        </p:blipFill>
        <p:spPr>
          <a:xfrm xmlns:a="http://schemas.openxmlformats.org/drawingml/2006/main" flipH="0" flipV="0">
            <a:off x="390525" y="1465792"/>
            <a:ext cx="7239000" cy="4021667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C311A58-7168-4D51-A1F5-3FE924F0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rPr>
              <a:t>23.2%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ABE12B6-150E-4FE1-9F29-2DD88EBF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pooled hit rate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5DAABF8-5BC7-44E4-8849-90B3D707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85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-1.35% median trade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+0.15% mean trade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4-session median hold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74.7% lasted &lt;=20 sessions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74D2FE1-37E6-4C84-A03F-1EA74A28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 few longer trends barely offset many short false starts.</a:t>
            </a:r>
          </a:p>
        </p:txBody>
      </p:sp>
    </p:spTree>
    <p:extLst>
      <p:ext uri="{BB962C8B-B14F-4D97-AF65-F5344CB8AC3E}">
        <p14:creationId xmlns:p14="http://schemas.microsoft.com/office/powerpoint/2010/main" val="19178167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E32F83-A780-447D-AE31-866F49F5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5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actual SMA timing usually lagged matched placements of the same exposure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1107342-151B-4BC4-8DD4-C11A5DEE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4a00f743d4ae7"/>
          <a:stretch xmlns:a="http://schemas.openxmlformats.org/drawingml/2006/main"/>
        </p:blipFill>
        <p:spPr>
          <a:xfrm xmlns:a="http://schemas.openxmlformats.org/drawingml/2006/main" flipH="0" flipV="0">
            <a:off x="1423988" y="1000125"/>
            <a:ext cx="9344025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841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0F81FE-FEFE-4FAF-B00A-6BAA56BF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filter helped collapsing stocks lose less and strong sectors capture less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ABF6AF2-C009-4F9F-BB3A-193809F3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ead3923c84b2d"/>
          <a:stretch xmlns:a="http://schemas.openxmlformats.org/drawingml/2006/main"/>
        </p:blipFill>
        <p:spPr>
          <a:xfrm xmlns:a="http://schemas.openxmlformats.org/drawingml/2006/main" flipH="0" flipV="0">
            <a:off x="390525" y="1465792"/>
            <a:ext cx="7239000" cy="4021667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917ED90-C4A7-4258-B2DB-4A22F2D8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ATTENTION COHORT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124B708-920C-4F20-8DD1-166DEBF1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43125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-18.7% strategy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-31.3% ownership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+27.9 pp median DD improvement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561A219-B3E5-4991-A434-BF2DD8DB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rPr>
              <a:t>ENERGY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29B3317-1143-4CAE-B502-8AECB72F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+25% strategy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+167% ownership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F9F7BDD-CF08-4C90-AB1C-80F8E175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9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Descriptive context—not a sector-selection rule.</a:t>
            </a:r>
          </a:p>
        </p:txBody>
      </p:sp>
    </p:spTree>
    <p:extLst>
      <p:ext uri="{BB962C8B-B14F-4D97-AF65-F5344CB8AC3E}">
        <p14:creationId xmlns:p14="http://schemas.microsoft.com/office/powerpoint/2010/main" val="199387875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8D0AD1C-2382-453F-B146-6CAC28A8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PATH AUDIT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3393986-0A74-4753-87AC-8DDD3E18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“Better” depends on</a:t>
            </a:r>
          </a:p>
          <a:p xmlns:a="http://schemas.openxmlformats.org/drawingml/2006/main">
            <a:pPr algn="l">
              <a:buNone/>
              <a:def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the path avoided—</a:t>
            </a:r>
          </a:p>
          <a:p xmlns:a="http://schemas.openxmlformats.org/drawingml/2006/main">
            <a:pPr algn="l">
              <a:buNone/>
              <a:def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 what it missed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5A15E20-EF6B-40D6-B6F6-5D435617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Six frozen roles map to four unique assets—duplicates remain visible, not replaced.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0504D3-E372-4FC6-9924-4E54F8A4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761502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10C7D0-FC49-4B06-B30D-188DD2AE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median asset lost 13% while ownership gained 8%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B7F8726-F4FD-42B3-89C1-5E3B730E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ccf6fd71345e5"/>
          <a:stretch xmlns:a="http://schemas.openxmlformats.org/drawingml/2006/main"/>
        </p:blipFill>
        <p:spPr>
          <a:xfrm xmlns:a="http://schemas.openxmlformats.org/drawingml/2006/main" flipH="0" flipV="0">
            <a:off x="1848716" y="1000125"/>
            <a:ext cx="849456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5760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F806EC-F583-4249-85FA-1D9F1452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best relative rescue still lost money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19819A8-B060-4A5B-A04C-4A53B092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bf4616048473b"/>
          <a:stretch xmlns:a="http://schemas.openxmlformats.org/drawingml/2006/main"/>
        </p:blipFill>
        <p:spPr>
          <a:xfrm xmlns:a="http://schemas.openxmlformats.org/drawingml/2006/main" flipH="0" flipV="0">
            <a:off x="1848716" y="1000125"/>
            <a:ext cx="849456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835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0E8C37-7525-4F20-A4C3-731FF28F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profitable path can still miss almost the entire trend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60347F1-4713-4651-AE5C-46D2E556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0fcb171654325"/>
          <a:stretch xmlns:a="http://schemas.openxmlformats.org/drawingml/2006/main"/>
        </p:blipFill>
        <p:spPr>
          <a:xfrm xmlns:a="http://schemas.openxmlformats.org/drawingml/2006/main" flipH="0" flipV="0">
            <a:off x="1848716" y="1000125"/>
            <a:ext cx="849456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6833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413D4F-450E-444E-8F37-DF97CB72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strongest drawdown rescue is the same losing CGC path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4664ED8-963A-4756-B5F9-19FC7876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9e623324d45cc"/>
          <a:stretch xmlns:a="http://schemas.openxmlformats.org/drawingml/2006/main"/>
        </p:blipFill>
        <p:spPr>
          <a:xfrm xmlns:a="http://schemas.openxmlformats.org/drawingml/2006/main" flipH="0" flipV="0">
            <a:off x="1848716" y="1000125"/>
            <a:ext cx="849456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8426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514F0F-C643-416F-A574-55A174D5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Frequent crossings can add activity without adding value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3DF7B3C-6768-44A3-818C-2FF700FA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f4d99b941478e"/>
          <a:stretch xmlns:a="http://schemas.openxmlformats.org/drawingml/2006/main"/>
        </p:blipFill>
        <p:spPr>
          <a:xfrm xmlns:a="http://schemas.openxmlformats.org/drawingml/2006/main" flipH="0" flipV="0">
            <a:off x="1848716" y="1000125"/>
            <a:ext cx="849456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10840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DAF461-0161-4190-BDF1-667198FF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longest median hold is also the worst relative miss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9582212-D7D5-4681-AB54-F60B8174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85d3fb6cc4083"/>
          <a:stretch xmlns:a="http://schemas.openxmlformats.org/drawingml/2006/main"/>
        </p:blipFill>
        <p:spPr>
          <a:xfrm xmlns:a="http://schemas.openxmlformats.org/drawingml/2006/main" flipH="0" flipV="0">
            <a:off x="1848716" y="1000125"/>
            <a:ext cx="849456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0934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9DC0BE-7D7C-438B-A7A5-20C6BCE1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Fresh SMA200 crosses reduced drawdown—but did not show a timing edge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9E354D2-2831-41A9-97B5-BEB09D25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E3D82B9-96A4-4AF2-B4F1-1EFBFC07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WHAT THE WIDE STUDY SUPPORTS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7C2B1F2-ED44-427B-9B2F-87F26F40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762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Drawdown improved in 88/119 assets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Cross-only paths spent 43% invested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Cash intervals softened some collapses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4C0FC27B-CFCD-427C-8FA1-D20FF191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C8E39E-F8D0-459F-BC1E-17F794F6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rPr>
              <a:t>WHAT IT DOES NOT SUPPORT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3AA6304-8804-4F58-BBB3-56FE196E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Generic outperformance versus ownership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Favorable alignment versus matched shifts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Sector, cohort, buffer, or SMA-length selection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Portfolio or live authority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41BEB97-ECD4-4DE9-BEEF-2B163AAF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Next research must declare whether its objective is growth, protection, or a frozen combination of both.</a:t>
            </a:r>
          </a:p>
        </p:txBody>
      </p:sp>
    </p:spTree>
    <p:extLst>
      <p:ext uri="{BB962C8B-B14F-4D97-AF65-F5344CB8AC3E}">
        <p14:creationId xmlns:p14="http://schemas.microsoft.com/office/powerpoint/2010/main" val="760455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2026-08-08T13:27:35.5220000Z</dcterms:created>
  <dcterms:modified xsi:type="dcterms:W3CDTF">2026-08-08T13:27:35.5220000Z</dcterms:modified>
</coreProperties>
</file>