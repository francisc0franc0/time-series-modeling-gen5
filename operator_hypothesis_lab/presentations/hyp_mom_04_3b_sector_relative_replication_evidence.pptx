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a5dc4c7f8d45a7" /><Relationship Type="http://schemas.openxmlformats.org/officeDocument/2006/relationships/extended-properties" Target="/docProps/app.xml" Id="R0e5f5f4af8ce4a2f" /><Relationship Type="http://schemas.openxmlformats.org/officeDocument/2006/relationships/officeDocument" Target="/ppt/presentation.xml" Id="R2eb074c9b6374d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46cdc56f33473d"/>
  </p:sldMasterIdLst>
  <p:notesMasterIdLst>
    <p:notesMasterId xmlns:r="http://schemas.openxmlformats.org/officeDocument/2006/relationships" r:id="R6aded877edc1449c"/>
  </p:notesMasterIdLst>
  <p:sldIdLst>
    <p:sldId xmlns:r="http://schemas.openxmlformats.org/officeDocument/2006/relationships" id="256" r:id="Red698d3340894e2c"/>
    <p:sldId xmlns:r="http://schemas.openxmlformats.org/officeDocument/2006/relationships" id="257" r:id="Rf822752f504c4d84"/>
    <p:sldId xmlns:r="http://schemas.openxmlformats.org/officeDocument/2006/relationships" id="258" r:id="Rb74f16b08c344cc3"/>
    <p:sldId xmlns:r="http://schemas.openxmlformats.org/officeDocument/2006/relationships" id="259" r:id="R16b7161e51824874"/>
    <p:sldId xmlns:r="http://schemas.openxmlformats.org/officeDocument/2006/relationships" id="260" r:id="Rbf9d865ee4334cf9"/>
    <p:sldId xmlns:r="http://schemas.openxmlformats.org/officeDocument/2006/relationships" id="261" r:id="R2ab80d3a660941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f710e7f0954b54" /><Relationship Type="http://schemas.openxmlformats.org/officeDocument/2006/relationships/slideMaster" Target="/ppt/slideMasters/slideMaster1.xml" Id="R8f46cdc56f33473d" /><Relationship Type="http://schemas.openxmlformats.org/officeDocument/2006/relationships/notesMaster" Target="/ppt/notesMasters/notesMaster1.xml" Id="R6aded877edc1449c" /><Relationship Type="http://schemas.openxmlformats.org/officeDocument/2006/relationships/presProps" Target="/ppt/presProps.xml" Id="R10944a8412644efc" /><Relationship Type="http://schemas.openxmlformats.org/officeDocument/2006/relationships/tableStyles" Target="/ppt/tableStyles.xml" Id="R090ca9e78fd94a83" /><Relationship Type="http://schemas.openxmlformats.org/officeDocument/2006/relationships/slide" Target="/ppt/slides/slide1.xml" Id="Red698d3340894e2c" /><Relationship Type="http://schemas.openxmlformats.org/officeDocument/2006/relationships/slide" Target="/ppt/slides/slide2.xml" Id="Rf822752f504c4d84" /><Relationship Type="http://schemas.openxmlformats.org/officeDocument/2006/relationships/slide" Target="/ppt/slides/slide3.xml" Id="Rb74f16b08c344cc3" /><Relationship Type="http://schemas.openxmlformats.org/officeDocument/2006/relationships/slide" Target="/ppt/slides/slide4.xml" Id="R16b7161e51824874" /><Relationship Type="http://schemas.openxmlformats.org/officeDocument/2006/relationships/slide" Target="/ppt/slides/slide5.xml" Id="Rbf9d865ee4334cf9" /><Relationship Type="http://schemas.openxmlformats.org/officeDocument/2006/relationships/slide" Target="/ppt/slides/slide6.xml" Id="R2ab80d3a660941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a9488e0a6f43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1f56042351455c" /><Relationship Type="http://schemas.openxmlformats.org/officeDocument/2006/relationships/notesMaster" Target="/ppt/notesMasters/notesMaster1.xml" Id="R4394e41a0e2548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49959d3f1d4602" /><Relationship Type="http://schemas.openxmlformats.org/officeDocument/2006/relationships/notesMaster" Target="/ppt/notesMasters/notesMaster1.xml" Id="R161fd187f70640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a0c76f135344e9" /><Relationship Type="http://schemas.openxmlformats.org/officeDocument/2006/relationships/notesMaster" Target="/ppt/notesMasters/notesMaster1.xml" Id="R738241ebc2ee4f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c7e3efddcf4367" /><Relationship Type="http://schemas.openxmlformats.org/officeDocument/2006/relationships/notesMaster" Target="/ppt/notesMasters/notesMaster1.xml" Id="Ra50e434752fc44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e02cd2d0604716" /><Relationship Type="http://schemas.openxmlformats.org/officeDocument/2006/relationships/notesMaster" Target="/ppt/notesMasters/notesMaster1.xml" Id="R8414e6adcd2843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b8ed853151426d" /><Relationship Type="http://schemas.openxmlformats.org/officeDocument/2006/relationships/notesMaster" Target="/ppt/notesMasters/notesMaster1.xml" Id="R259547f6de2a43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target audit improved the economic question. This deck tests whether the frozen four-feature Ridge model transports to later data.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operator_hypothesis_lab/docs/HYP_MOM_04_3B_SECTOR_RELATIVE_REPLICATION_CONTRACT.md</a:t>
            </a:r>
          </a:p>
          <a:p xmlns:a="http://schemas.openxmlformats.org/drawingml/2006/main">
            <a:r>
              <a:t>- runs/research_workbench/operator_hypothesis_lab/hyp_mom_04_3b_sector_relative_replication_20260811/status.txt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formula is computed within each signal-quarter and sector after eligibility checks. This changes the economic question, not the future-return horizon.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operator_hypothesis_lab/docs/HYP_MOM_04_3B_SECTOR_RELATIVE_REPLICATION_CONTRACT.md</a:t>
            </a:r>
          </a:p>
          <a:p xmlns:a="http://schemas.openxmlformats.org/drawingml/2006/main">
            <a:r>
              <a:t>- operator_hypothesis_lab/docs/HYP_MOM_04_3A_TARGET_STRUCTURE_AUDIT_RESULTS.md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Terminal policy was frozen after the cache audit and before model scoring. FRC and SIVB use zero recovery; other corporate-action endpoints use the final available adjusted close. No row was silently deleted.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runs/research_workbench/operator_hypothesis_lab/hyp_mom_04_3b_sector_relative_replication_20260811/data_gate_matrix.csv</a:t>
            </a:r>
          </a:p>
          <a:p xmlns:a="http://schemas.openxmlformats.org/drawingml/2006/main">
            <a:r>
              <a:t>- runs/research_workbench/operator_hypothesis_lab/hyp_mom_04_3b_sector_relative_replication_20260811/terminal_resolution_ledger.csv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Rank IC measures whether higher model scores correspond to higher realized sector-relative returns within each quarter. A negative IC means the ordering was wrong on average.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runs/research_workbench/operator_hypothesis_lab/hyp_mom_04_3b_sector_relative_replication_20260811/development_primary_metrics.csv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momentum comparator is prior 126-session stock return minus the eligible same-sector mean. It was the least bad candidate, not a promoted strategy: mean IC was near zero and it missed the 7-of-11 positive-IC standard.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runs/research_workbench/operator_hypothesis_lab/hyp_mom_04_3b_sector_relative_replication_20260811/development_primary_metrics.csv</a:t>
            </a:r>
          </a:p>
          <a:p xmlns:a="http://schemas.openxmlformats.org/drawingml/2006/main">
            <a:r>
              <a:t>- runs/research_workbench/operator_hypothesis_lab/hyp_mom_04_3b_sector_relative_replication_20260811/development_fixed_metrics.csv</a:t>
            </a:r>
          </a:p>
          <a:p xmlns:a="http://schemas.openxmlformats.org/drawingml/2006/main">
            <a:r>
              <a:t>- runs/research_workbench/operator_hypothesis_lab/hyp_mom_04_3b_sector_relative_replication_20260811/development_momentum_metrics.csv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conceptual target recommendation survives; the feature/model evidence does not. The correct next step is discussion, not rescue tuning.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operator_hypothesis_lab/docs/HYP_MOM_04_3B_SECTOR_RELATIVE_REPLICATION_RESULTS.md</a:t>
            </a:r>
          </a:p>
          <a:p xmlns:a="http://schemas.openxmlformats.org/drawingml/2006/main">
            <a:r>
              <a:t>- runs/research_workbench/operator_hypothesis_lab/hyp_mom_04_3b_sector_relative_replication_20260811/replication_gate_matrix.csv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a5c397efc4d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2f219d955e4c79" /><Relationship Type="http://schemas.openxmlformats.org/officeDocument/2006/relationships/slideLayout" Target="/ppt/slideLayouts/slideLayout1.xml" Id="R2d112d30571d46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112d30571d46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94a2263024098" /><Relationship Type="http://schemas.openxmlformats.org/officeDocument/2006/relationships/notesSlide" Target="/ppt/notesSlides/notesSlide1.xml" Id="R295a45194add43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f7ddac92940a1" /><Relationship Type="http://schemas.openxmlformats.org/officeDocument/2006/relationships/notesSlide" Target="/ppt/notesSlides/notesSlide2.xml" Id="R58cf8f486a8d4c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00efccc0a4744" /><Relationship Type="http://schemas.openxmlformats.org/officeDocument/2006/relationships/notesSlide" Target="/ppt/notesSlides/notesSlide3.xml" Id="R45ed83ae6d0a4f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abd1827bf45d5" /><Relationship Type="http://schemas.openxmlformats.org/officeDocument/2006/relationships/chart" Target="/ppt/slides/charts/chart1.xml" Id="R3e0bb92b3dc5444c" /><Relationship Type="http://schemas.openxmlformats.org/officeDocument/2006/relationships/notesSlide" Target="/ppt/notesSlides/notesSlide4.xml" Id="R7e7e7eac436f4b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59cd1e6364448" /><Relationship Type="http://schemas.openxmlformats.org/officeDocument/2006/relationships/chart" Target="/ppt/slides/charts/chart2.xml" Id="Rb8763913799d4dad" /><Relationship Type="http://schemas.openxmlformats.org/officeDocument/2006/relationships/notesSlide" Target="/ppt/notesSlides/notesSlide5.xml" Id="R6ad261a34c4641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7bf0189664c32" /><Relationship Type="http://schemas.openxmlformats.org/officeDocument/2006/relationships/notesSlide" Target="/ppt/notesSlides/notesSlide6.xml" Id="Rf98255fb74e64136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Rank IC</c:v>
          </c:tx>
          <c:spPr>
            <a:ln xmlns:a="http://schemas.openxmlformats.org/drawingml/2006/main" w="28575">
              <a:solidFill>
                <a:srgbClr val="2979FF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979FF"/>
              </a:solidFill>
            </c:spPr>
          </c:marker>
          <c:cat>
            <c:strLit>
              <c:ptCount val="11"/>
              <c:pt idx="0">
                <c:v>21Q1</c:v>
              </c:pt>
              <c:pt idx="1">
                <c:v>21Q2</c:v>
              </c:pt>
              <c:pt idx="2">
                <c:v>21Q3</c:v>
              </c:pt>
              <c:pt idx="3">
                <c:v>21Q4</c:v>
              </c:pt>
              <c:pt idx="4">
                <c:v>22Q1</c:v>
              </c:pt>
              <c:pt idx="5">
                <c:v>22Q2</c:v>
              </c:pt>
              <c:pt idx="6">
                <c:v>22Q3</c:v>
              </c:pt>
              <c:pt idx="7">
                <c:v>22Q4</c:v>
              </c:pt>
              <c:pt idx="8">
                <c:v>23Q1</c:v>
              </c:pt>
              <c:pt idx="9">
                <c:v>23Q2</c:v>
              </c:pt>
              <c:pt idx="10">
                <c:v>23Q3</c:v>
              </c:pt>
            </c:strLit>
          </c:cat>
          <c:val>
            <c:numLit>
              <c:formatCode>General</c:formatCode>
              <c:ptCount val="11"/>
              <c:pt idx="0">
                <c:v>0.0838</c:v>
              </c:pt>
              <c:pt idx="1">
                <c:v>-0.0202</c:v>
              </c:pt>
              <c:pt idx="2">
                <c:v>-0.1691</c:v>
              </c:pt>
              <c:pt idx="3">
                <c:v>-0.1048</c:v>
              </c:pt>
              <c:pt idx="4">
                <c:v>-0.1692</c:v>
              </c:pt>
              <c:pt idx="5">
                <c:v>0.0707</c:v>
              </c:pt>
              <c:pt idx="6">
                <c:v>-0.1</c:v>
              </c:pt>
              <c:pt idx="7">
                <c:v>-0.0461</c:v>
              </c:pt>
              <c:pt idx="8">
                <c:v>-0.0373</c:v>
              </c:pt>
              <c:pt idx="9">
                <c:v>-0.0028</c:v>
              </c:pt>
              <c:pt idx="10">
                <c:v>0.1185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8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15"/>
          <c:min val="-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8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IC</c:v>
          </c:tx>
          <c:spPr>
            <a:solidFill xmlns:a="http://schemas.openxmlformats.org/drawingml/2006/main">
              <a:srgbClr val="2979FF"/>
            </a:solidFill>
          </c:spPr>
          <c:invertIfNegative val="0"/>
          <c:cat>
            <c:strLit>
              <c:ptCount val="3"/>
              <c:pt idx="0">
                <c:v>Ridge</c:v>
              </c:pt>
              <c:pt idx="1">
                <c:v>Equal weight</c:v>
              </c:pt>
              <c:pt idx="2">
                <c:v>Sector momentum</c:v>
              </c:pt>
            </c:strLit>
          </c:cat>
          <c:val>
            <c:numLit>
              <c:formatCode>General</c:formatCode>
              <c:ptCount val="3"/>
              <c:pt idx="0">
                <c:v>-0.0342</c:v>
              </c:pt>
              <c:pt idx="1">
                <c:v>-0.0083</c:v>
              </c:pt>
              <c:pt idx="2">
                <c:v>0.0042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8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015"/>
          <c:min val="-0.0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8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1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lane">
            <a:extLst xmlns:a="http://schemas.openxmlformats.org/drawingml/2006/main">
              <a:ext uri="{FF2B5EF4-FFF2-40B4-BE49-F238E27FC236}">
                <a16:creationId xmlns:a16="http://schemas.microsoft.com/office/drawing/2014/main" id="{DABFAB94-26C9-4651-BD3E-426FD2D4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79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79FF"/>
                </a:solidFill>
                <a:latin typeface="Aptos"/>
                <a:ea typeface="Aptos"/>
                <a:cs typeface="Aptos"/>
              </a:rPr>
              <a:t>OPERATOR HYPOTHESIS LAB · HYP-MOM-04.3B</a:t>
            </a:r>
          </a:p>
        </p:txBody>
      </p:sp>
      <p:sp>
        <p:nvSpPr>
          <p:cNvPr id="2" name="main-title">
            <a:extLst xmlns:a="http://schemas.openxmlformats.org/drawingml/2006/main">
              <a:ext uri="{FF2B5EF4-FFF2-40B4-BE49-F238E27FC236}">
                <a16:creationId xmlns:a16="http://schemas.microsoft.com/office/drawing/2014/main" id="{076CFEB1-D2DA-4C50-82B7-45E9EE55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81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 cleaner target did not rescue the model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9801082-53DB-40DC-97AD-048972BE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Sector-relative temporal replication · 2021Q1–2023Q3 · 2024+ sealed</a:t>
            </a:r>
          </a:p>
        </p:txBody>
      </p:sp>
    </p:spTree>
    <p:extLst>
      <p:ext uri="{BB962C8B-B14F-4D97-AF65-F5344CB8AC3E}">
        <p14:creationId xmlns:p14="http://schemas.microsoft.com/office/powerpoint/2010/main" val="14509262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3197096-9EF7-4D37-A899-63A2527F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target now asks a narrower stock-selection question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B27000DD-D2B2-4820-9150-89F3BAD6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before-band">
            <a:extLst xmlns:a="http://schemas.openxmlformats.org/drawingml/2006/main">
              <a:ext uri="{FF2B5EF4-FFF2-40B4-BE49-F238E27FC236}">
                <a16:creationId xmlns:a16="http://schemas.microsoft.com/office/drawing/2014/main" id="{A1869611-7451-4022-95E5-D56461A3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334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fter-band">
            <a:extLst xmlns:a="http://schemas.openxmlformats.org/drawingml/2006/main">
              <a:ext uri="{FF2B5EF4-FFF2-40B4-BE49-F238E27FC236}">
                <a16:creationId xmlns:a16="http://schemas.microsoft.com/office/drawing/2014/main" id="{D843C27B-AE0C-4F7A-963E-D54919BA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85900"/>
            <a:ext cx="5715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efore-head">
            <a:extLst xmlns:a="http://schemas.openxmlformats.org/drawingml/2006/main">
              <a:ext uri="{FF2B5EF4-FFF2-40B4-BE49-F238E27FC236}">
                <a16:creationId xmlns:a16="http://schemas.microsoft.com/office/drawing/2014/main" id="{5939CBF3-3604-4A5A-8137-9321F34C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811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670"/>
                </a:solidFill>
                <a:latin typeface="Aptos"/>
                <a:ea typeface="Aptos"/>
                <a:cs typeface="Aptos"/>
              </a:rPr>
              <a:t>BEFORE: UNIVERSE-RELATIVE</a:t>
            </a:r>
          </a:p>
        </p:txBody>
      </p:sp>
      <p:sp>
        <p:nvSpPr>
          <p:cNvPr id="6" name="before-formula">
            <a:extLst xmlns:a="http://schemas.openxmlformats.org/drawingml/2006/main">
              <a:ext uri="{FF2B5EF4-FFF2-40B4-BE49-F238E27FC236}">
                <a16:creationId xmlns:a16="http://schemas.microsoft.com/office/drawing/2014/main" id="{59C22718-7105-4124-B1F9-BA7A5778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rᵢ,q − mean(r·,q)</a:t>
            </a:r>
          </a:p>
        </p:txBody>
      </p:sp>
      <p:sp>
        <p:nvSpPr>
          <p:cNvPr id="7" name="before-body">
            <a:extLst xmlns:a="http://schemas.openxmlformats.org/drawingml/2006/main">
              <a:ext uri="{FF2B5EF4-FFF2-40B4-BE49-F238E27FC236}">
                <a16:creationId xmlns:a16="http://schemas.microsoft.com/office/drawing/2014/main" id="{94EEF81F-E41B-45AD-A461-31AC96C3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524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A stock could rank well because its whole sector led the market. The target mixed stock selection with sector allocation.</a:t>
            </a:r>
          </a:p>
        </p:txBody>
      </p:sp>
      <p:sp>
        <p:nvSpPr>
          <p:cNvPr id="8" name="after-head">
            <a:extLst xmlns:a="http://schemas.openxmlformats.org/drawingml/2006/main">
              <a:ext uri="{FF2B5EF4-FFF2-40B4-BE49-F238E27FC236}">
                <a16:creationId xmlns:a16="http://schemas.microsoft.com/office/drawing/2014/main" id="{BD49929D-13F6-4B4F-BDFE-E13784D7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7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979FF"/>
                </a:solidFill>
                <a:latin typeface="Aptos"/>
                <a:ea typeface="Aptos"/>
                <a:cs typeface="Aptos"/>
              </a:rPr>
              <a:t>NOW: SECTOR-RELATIVE</a:t>
            </a:r>
          </a:p>
        </p:txBody>
      </p:sp>
      <p:sp>
        <p:nvSpPr>
          <p:cNvPr id="9" name="after-formula">
            <a:extLst xmlns:a="http://schemas.openxmlformats.org/drawingml/2006/main">
              <a:ext uri="{FF2B5EF4-FFF2-40B4-BE49-F238E27FC236}">
                <a16:creationId xmlns:a16="http://schemas.microsoft.com/office/drawing/2014/main" id="{A22E1840-CCF1-4D98-9124-7FEED74D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rᵢ,q − mean(rsector(i),q)</a:t>
            </a:r>
          </a:p>
        </p:txBody>
      </p:sp>
      <p:sp>
        <p:nvSpPr>
          <p:cNvPr id="10" name="after-body">
            <a:extLst xmlns:a="http://schemas.openxmlformats.org/drawingml/2006/main">
              <a:ext uri="{FF2B5EF4-FFF2-40B4-BE49-F238E27FC236}">
                <a16:creationId xmlns:a16="http://schemas.microsoft.com/office/drawing/2014/main" id="{74FBDFF6-7AB5-40DC-924A-FD1BEBB4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The model must identify which stock will beat eligible peers in the same sector. Sector-relative return is the primary target; beta residualization stays diagnostic.</a:t>
            </a:r>
          </a:p>
        </p:txBody>
      </p:sp>
    </p:spTree>
    <p:extLst>
      <p:ext uri="{BB962C8B-B14F-4D97-AF65-F5344CB8AC3E}">
        <p14:creationId xmlns:p14="http://schemas.microsoft.com/office/powerpoint/2010/main" val="1441222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134D62F-2230-48C7-A003-78AC3EAE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71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data gate passed before any DEVELOPMENT score was computed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9AED0C50-069A-41BF-8593-C968E11B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stat-box-0">
            <a:extLst xmlns:a="http://schemas.openxmlformats.org/drawingml/2006/main">
              <a:ext uri="{FF2B5EF4-FFF2-40B4-BE49-F238E27FC236}">
                <a16:creationId xmlns:a16="http://schemas.microsoft.com/office/drawing/2014/main" id="{EA200469-0EA5-417E-B8CC-AF0A5B3E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219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at-0">
            <a:extLst xmlns:a="http://schemas.openxmlformats.org/drawingml/2006/main">
              <a:ext uri="{FF2B5EF4-FFF2-40B4-BE49-F238E27FC236}">
                <a16:creationId xmlns:a16="http://schemas.microsoft.com/office/drawing/2014/main" id="{DFCD6324-6031-4C8B-A5C3-689AD871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479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EB6F47B5-92A9-4086-ACB8-C300FBB2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signal-eligible identities</a:t>
            </a:r>
          </a:p>
        </p:txBody>
      </p:sp>
      <p:sp>
        <p:nvSpPr>
          <p:cNvPr id="6" name="detail-0">
            <a:extLst xmlns:a="http://schemas.openxmlformats.org/drawingml/2006/main">
              <a:ext uri="{FF2B5EF4-FFF2-40B4-BE49-F238E27FC236}">
                <a16:creationId xmlns:a16="http://schemas.microsoft.com/office/drawing/2014/main" id="{72FFD504-D3DA-45E2-8382-24D96AC6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Fixed September 2020 SPY cohort</a:t>
            </a:r>
          </a:p>
        </p:txBody>
      </p:sp>
      <p:sp>
        <p:nvSpPr>
          <p:cNvPr id="7" name="stat-box-1">
            <a:extLst xmlns:a="http://schemas.openxmlformats.org/drawingml/2006/main">
              <a:ext uri="{FF2B5EF4-FFF2-40B4-BE49-F238E27FC236}">
                <a16:creationId xmlns:a16="http://schemas.microsoft.com/office/drawing/2014/main" id="{EBEC91C5-38A3-445D-8F6F-3F01E383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219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-1">
            <a:extLst xmlns:a="http://schemas.openxmlformats.org/drawingml/2006/main">
              <a:ext uri="{FF2B5EF4-FFF2-40B4-BE49-F238E27FC236}">
                <a16:creationId xmlns:a16="http://schemas.microsoft.com/office/drawing/2014/main" id="{FCCC85A9-BA27-42E5-8565-A9A8D0E3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335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5,124</a:t>
            </a:r>
          </a:p>
        </p:txBody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D107062F-EE5B-48FD-B791-C200FDAE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193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realized asset-quarters</a:t>
            </a:r>
          </a:p>
        </p:txBody>
      </p:sp>
      <p:sp>
        <p:nvSpPr>
          <p:cNvPr id="10" name="detail-1">
            <a:extLst xmlns:a="http://schemas.openxmlformats.org/drawingml/2006/main">
              <a:ext uri="{FF2B5EF4-FFF2-40B4-BE49-F238E27FC236}">
                <a16:creationId xmlns:a16="http://schemas.microsoft.com/office/drawing/2014/main" id="{6ED46C1B-90F1-4341-A9FA-4E006AD8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08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Exactly matches eligible rows</a:t>
            </a:r>
          </a:p>
        </p:txBody>
      </p:sp>
      <p:sp>
        <p:nvSpPr>
          <p:cNvPr id="11" name="stat-box-2">
            <a:extLst xmlns:a="http://schemas.openxmlformats.org/drawingml/2006/main">
              <a:ext uri="{FF2B5EF4-FFF2-40B4-BE49-F238E27FC236}">
                <a16:creationId xmlns:a16="http://schemas.microsoft.com/office/drawing/2014/main" id="{0CD507A2-C9A9-4546-A2BC-9B904B6C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219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t-2">
            <a:extLst xmlns:a="http://schemas.openxmlformats.org/drawingml/2006/main">
              <a:ext uri="{FF2B5EF4-FFF2-40B4-BE49-F238E27FC236}">
                <a16:creationId xmlns:a16="http://schemas.microsoft.com/office/drawing/2014/main" id="{DA773B99-715E-42AA-9666-48F3E37B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26 / 26</a:t>
            </a:r>
          </a:p>
        </p:txBody>
      </p:sp>
      <p:sp>
        <p:nvSpPr>
          <p:cNvPr id="13" name="label-2">
            <a:extLst xmlns:a="http://schemas.openxmlformats.org/drawingml/2006/main">
              <a:ext uri="{FF2B5EF4-FFF2-40B4-BE49-F238E27FC236}">
                <a16:creationId xmlns:a16="http://schemas.microsoft.com/office/drawing/2014/main" id="{6E0C2E4B-83BB-45AA-AEAA-396BBDF5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terminal rows resolved</a:t>
            </a:r>
          </a:p>
        </p:txBody>
      </p:sp>
      <p:sp>
        <p:nvSpPr>
          <p:cNvPr id="14" name="detail-2">
            <a:extLst xmlns:a="http://schemas.openxmlformats.org/drawingml/2006/main">
              <a:ext uri="{FF2B5EF4-FFF2-40B4-BE49-F238E27FC236}">
                <a16:creationId xmlns:a16="http://schemas.microsoft.com/office/drawing/2014/main" id="{91B55EA0-9F2A-4690-A856-6CBEB21D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24 final closes · 2 zero recoveries</a:t>
            </a:r>
          </a:p>
        </p:txBody>
      </p:sp>
      <p:sp>
        <p:nvSpPr>
          <p:cNvPr id="15" name="stat-box-3">
            <a:extLst xmlns:a="http://schemas.openxmlformats.org/drawingml/2006/main">
              <a:ext uri="{FF2B5EF4-FFF2-40B4-BE49-F238E27FC236}">
                <a16:creationId xmlns:a16="http://schemas.microsoft.com/office/drawing/2014/main" id="{C11A951B-690C-4D52-A049-2AC91A3D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5219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t-3">
            <a:extLst xmlns:a="http://schemas.openxmlformats.org/drawingml/2006/main">
              <a:ext uri="{FF2B5EF4-FFF2-40B4-BE49-F238E27FC236}">
                <a16:creationId xmlns:a16="http://schemas.microsoft.com/office/drawing/2014/main" id="{11205090-CE59-4D3B-A7F9-6058D3DC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14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979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979FF"/>
                </a:solidFill>
                <a:latin typeface="Aptos"/>
                <a:ea typeface="Aptos"/>
                <a:cs typeface="Aptos"/>
              </a:rPr>
              <a:t>2024+</a:t>
            </a:r>
          </a:p>
        </p:txBody>
      </p:sp>
      <p:sp>
        <p:nvSpPr>
          <p:cNvPr id="17" name="label-3">
            <a:extLst xmlns:a="http://schemas.openxmlformats.org/drawingml/2006/main">
              <a:ext uri="{FF2B5EF4-FFF2-40B4-BE49-F238E27FC236}">
                <a16:creationId xmlns:a16="http://schemas.microsoft.com/office/drawing/2014/main" id="{7899438B-865F-4F7E-A178-7ADE4501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00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still sealed</a:t>
            </a:r>
          </a:p>
        </p:txBody>
      </p:sp>
      <p:sp>
        <p:nvSpPr>
          <p:cNvPr id="18" name="detail-3">
            <a:extLst xmlns:a="http://schemas.openxmlformats.org/drawingml/2006/main">
              <a:ext uri="{FF2B5EF4-FFF2-40B4-BE49-F238E27FC236}">
                <a16:creationId xmlns:a16="http://schemas.microsoft.com/office/drawing/2014/main" id="{2032F7A1-936B-4709-86CE-CF24F284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720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Last accessed bar: 2023-12-29</a:t>
            </a:r>
          </a:p>
        </p:txBody>
      </p:sp>
    </p:spTree>
    <p:extLst>
      <p:ext uri="{BB962C8B-B14F-4D97-AF65-F5344CB8AC3E}">
        <p14:creationId xmlns:p14="http://schemas.microsoft.com/office/powerpoint/2010/main" val="606743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7782065-CD75-4628-A12B-B17635E7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Quarterly transport was negative and unstable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A86066C1-2363-4439-B12E-7960E563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00050" y="1285875"/>
          <a:ext xmlns:a="http://schemas.openxmlformats.org/drawingml/2006/main" cx="6667500" cy="4714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0bb92b3dc5444c"/>
          </a:graphicData>
        </a:graphic>
      </p:graphicFrame>
      <p:sp>
        <p:nvSpPr>
          <p:cNvPr id="4" name="ic-callout">
            <a:extLst xmlns:a="http://schemas.openxmlformats.org/drawingml/2006/main">
              <a:ext uri="{FF2B5EF4-FFF2-40B4-BE49-F238E27FC236}">
                <a16:creationId xmlns:a16="http://schemas.microsoft.com/office/drawing/2014/main" id="{DAAD7A5C-69C2-4158-A58B-F51F4A4C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3905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c-value">
            <a:extLst xmlns:a="http://schemas.openxmlformats.org/drawingml/2006/main">
              <a:ext uri="{FF2B5EF4-FFF2-40B4-BE49-F238E27FC236}">
                <a16:creationId xmlns:a16="http://schemas.microsoft.com/office/drawing/2014/main" id="{E46C8D6C-2FFF-48EB-AC0E-6E931A8E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57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−0.034</a:t>
            </a:r>
          </a:p>
        </p:txBody>
      </p:sp>
      <p:sp>
        <p:nvSpPr>
          <p:cNvPr id="6" name="ic-label">
            <a:extLst xmlns:a="http://schemas.openxmlformats.org/drawingml/2006/main">
              <a:ext uri="{FF2B5EF4-FFF2-40B4-BE49-F238E27FC236}">
                <a16:creationId xmlns:a16="http://schemas.microsoft.com/office/drawing/2014/main" id="{1A1D83B1-A65B-4049-B086-FBBB26AE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mean DEVELOPMENT IC</a:t>
            </a:r>
          </a:p>
        </p:txBody>
      </p:sp>
      <p:sp>
        <p:nvSpPr>
          <p:cNvPr id="7" name="ic-detail">
            <a:extLst xmlns:a="http://schemas.openxmlformats.org/drawingml/2006/main">
              <a:ext uri="{FF2B5EF4-FFF2-40B4-BE49-F238E27FC236}">
                <a16:creationId xmlns:a16="http://schemas.microsoft.com/office/drawing/2014/main" id="{492449B8-0A6C-46AB-8433-70694F36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Only 3 of 11 quarters were positive</a:t>
            </a:r>
          </a:p>
        </p:txBody>
      </p:sp>
      <p:sp>
        <p:nvSpPr>
          <p:cNvPr id="8" name="top-callout">
            <a:extLst xmlns:a="http://schemas.openxmlformats.org/drawingml/2006/main">
              <a:ext uri="{FF2B5EF4-FFF2-40B4-BE49-F238E27FC236}">
                <a16:creationId xmlns:a16="http://schemas.microsoft.com/office/drawing/2014/main" id="{A836DCE7-DD26-4989-BB44-1665E3B5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905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op-value">
            <a:extLst xmlns:a="http://schemas.openxmlformats.org/drawingml/2006/main">
              <a:ext uri="{FF2B5EF4-FFF2-40B4-BE49-F238E27FC236}">
                <a16:creationId xmlns:a16="http://schemas.microsoft.com/office/drawing/2014/main" id="{CF66A6DF-4E26-4359-A868-43D11D6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−0.58%</a:t>
            </a:r>
          </a:p>
        </p:txBody>
      </p:sp>
      <p:sp>
        <p:nvSpPr>
          <p:cNvPr id="10" name="top-label">
            <a:extLst xmlns:a="http://schemas.openxmlformats.org/drawingml/2006/main">
              <a:ext uri="{FF2B5EF4-FFF2-40B4-BE49-F238E27FC236}">
                <a16:creationId xmlns:a16="http://schemas.microsoft.com/office/drawing/2014/main" id="{CA18D28C-0074-49DA-8F20-74FE5858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101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mean top-quartile target</a:t>
            </a:r>
          </a:p>
        </p:txBody>
      </p:sp>
      <p:sp>
        <p:nvSpPr>
          <p:cNvPr id="11" name="top-detail">
            <a:extLst xmlns:a="http://schemas.openxmlformats.org/drawingml/2006/main">
              <a:ext uri="{FF2B5EF4-FFF2-40B4-BE49-F238E27FC236}">
                <a16:creationId xmlns:a16="http://schemas.microsoft.com/office/drawing/2014/main" id="{A1A42F92-55E3-433B-A7C9-0B086DE5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91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Positive in 5 of 11 quarters</a:t>
            </a:r>
          </a:p>
        </p:txBody>
      </p:sp>
    </p:spTree>
    <p:extLst>
      <p:ext uri="{BB962C8B-B14F-4D97-AF65-F5344CB8AC3E}">
        <p14:creationId xmlns:p14="http://schemas.microsoft.com/office/powerpoint/2010/main" val="20027865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0EA4F060-CFCC-4ADE-8455-8CDF9108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615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simple momentum comparator beat the Ridge combination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26DDFF25-3F73-4A4E-83D8-9BF98AD7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333500"/>
          <a:ext xmlns:a="http://schemas.openxmlformats.org/drawingml/2006/main" cx="6191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763913799d4dad"/>
          </a:graphicData>
        </a:graphic>
      </p:graphicFrame>
      <p:sp>
        <p:nvSpPr>
          <p:cNvPr id="4" name="ridge-card">
            <a:extLst xmlns:a="http://schemas.openxmlformats.org/drawingml/2006/main">
              <a:ext uri="{FF2B5EF4-FFF2-40B4-BE49-F238E27FC236}">
                <a16:creationId xmlns:a16="http://schemas.microsoft.com/office/drawing/2014/main" id="{6F6FF7B3-70E0-453B-B38D-E4B28747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381125"/>
            <a:ext cx="4381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idge-head">
            <a:extLst xmlns:a="http://schemas.openxmlformats.org/drawingml/2006/main">
              <a:ext uri="{FF2B5EF4-FFF2-40B4-BE49-F238E27FC236}">
                <a16:creationId xmlns:a16="http://schemas.microsoft.com/office/drawing/2014/main" id="{870E396B-5CA3-4B33-9B40-2EFE8020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RIDGE</a:t>
            </a:r>
          </a:p>
        </p:txBody>
      </p:sp>
      <p:sp>
        <p:nvSpPr>
          <p:cNvPr id="6" name="ridge-copy">
            <a:extLst xmlns:a="http://schemas.openxmlformats.org/drawingml/2006/main">
              <a:ext uri="{FF2B5EF4-FFF2-40B4-BE49-F238E27FC236}">
                <a16:creationId xmlns:a16="http://schemas.microsoft.com/office/drawing/2014/main" id="{81C7FF06-90FC-425F-B812-833B8148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−0.034 IC · 3/11 positive</a:t>
            </a:r>
          </a:p>
        </p:txBody>
      </p:sp>
      <p:sp>
        <p:nvSpPr>
          <p:cNvPr id="7" name="fixed-card">
            <a:extLst xmlns:a="http://schemas.openxmlformats.org/drawingml/2006/main">
              <a:ext uri="{FF2B5EF4-FFF2-40B4-BE49-F238E27FC236}">
                <a16:creationId xmlns:a16="http://schemas.microsoft.com/office/drawing/2014/main" id="{A38880E0-909D-4D60-B0D9-4878A820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4381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xed-head">
            <a:extLst xmlns:a="http://schemas.openxmlformats.org/drawingml/2006/main">
              <a:ext uri="{FF2B5EF4-FFF2-40B4-BE49-F238E27FC236}">
                <a16:creationId xmlns:a16="http://schemas.microsoft.com/office/drawing/2014/main" id="{873254EA-1591-418B-A487-35ECB8E3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718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EQUAL WEIGHT</a:t>
            </a:r>
          </a:p>
        </p:txBody>
      </p:sp>
      <p:sp>
        <p:nvSpPr>
          <p:cNvPr id="9" name="fixed-copy">
            <a:extLst xmlns:a="http://schemas.openxmlformats.org/drawingml/2006/main">
              <a:ext uri="{FF2B5EF4-FFF2-40B4-BE49-F238E27FC236}">
                <a16:creationId xmlns:a16="http://schemas.microsoft.com/office/drawing/2014/main" id="{B31BB8CA-6B48-49DD-B552-DBBC6150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528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6670"/>
                </a:solidFill>
                <a:latin typeface="Aptos"/>
                <a:ea typeface="Aptos"/>
                <a:cs typeface="Aptos"/>
              </a:rPr>
              <a:t>−0.008 IC · 5/11 positive</a:t>
            </a:r>
          </a:p>
        </p:txBody>
      </p:sp>
      <p:sp>
        <p:nvSpPr>
          <p:cNvPr id="10" name="mom-card">
            <a:extLst xmlns:a="http://schemas.openxmlformats.org/drawingml/2006/main">
              <a:ext uri="{FF2B5EF4-FFF2-40B4-BE49-F238E27FC236}">
                <a16:creationId xmlns:a16="http://schemas.microsoft.com/office/drawing/2014/main" id="{AA7616DC-1336-4343-8640-C0275324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24375"/>
            <a:ext cx="4381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om-head">
            <a:extLst xmlns:a="http://schemas.openxmlformats.org/drawingml/2006/main">
              <a:ext uri="{FF2B5EF4-FFF2-40B4-BE49-F238E27FC236}">
                <a16:creationId xmlns:a16="http://schemas.microsoft.com/office/drawing/2014/main" id="{816AC0BB-4D06-4DDA-AEEF-2CA09007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43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79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979FF"/>
                </a:solidFill>
                <a:latin typeface="Aptos"/>
                <a:ea typeface="Aptos"/>
                <a:cs typeface="Aptos"/>
              </a:rPr>
              <a:t>SECTOR MOMENTUM</a:t>
            </a:r>
          </a:p>
        </p:txBody>
      </p:sp>
      <p:sp>
        <p:nvSpPr>
          <p:cNvPr id="12" name="mom-copy">
            <a:extLst xmlns:a="http://schemas.openxmlformats.org/drawingml/2006/main">
              <a:ext uri="{FF2B5EF4-FFF2-40B4-BE49-F238E27FC236}">
                <a16:creationId xmlns:a16="http://schemas.microsoft.com/office/drawing/2014/main" id="{F87DC5A4-17EF-4BDD-9C1E-0E76597F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244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A87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AA876"/>
                </a:solidFill>
                <a:latin typeface="Aptos"/>
                <a:ea typeface="Aptos"/>
                <a:cs typeface="Aptos"/>
              </a:rPr>
              <a:t>+0.004 IC · 6/11 positive</a:t>
            </a:r>
          </a:p>
        </p:txBody>
      </p:sp>
    </p:spTree>
    <p:extLst>
      <p:ext uri="{BB962C8B-B14F-4D97-AF65-F5344CB8AC3E}">
        <p14:creationId xmlns:p14="http://schemas.microsoft.com/office/powerpoint/2010/main" val="10812214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B3B5C7D9-91A9-405E-8F7E-41B61D01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79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79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86BAF78-02F5-4E36-BC72-2E8328C9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Keep the target. Stop this model.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15E2D427-97CA-460A-B2FC-9EECA4DF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904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H04.3B does not earn 2024+ confirmation. A future lane may diagnose individual sector-relative features, but it must be frozen separately—without tuning this inspected result.</a:t>
            </a:r>
          </a:p>
        </p:txBody>
      </p:sp>
      <p:sp>
        <p:nvSpPr>
          <p:cNvPr id="4" name="close-status">
            <a:extLst xmlns:a="http://schemas.openxmlformats.org/drawingml/2006/main">
              <a:ext uri="{FF2B5EF4-FFF2-40B4-BE49-F238E27FC236}">
                <a16:creationId xmlns:a16="http://schemas.microsoft.com/office/drawing/2014/main" id="{A363660D-35B7-46CF-9C1D-F40EDB25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STOP_DEVELOPMENT_REPLICATION_FAILED_CONFIRMATION_NOT_RUN</a:t>
            </a:r>
          </a:p>
        </p:txBody>
      </p:sp>
    </p:spTree>
    <p:extLst>
      <p:ext uri="{BB962C8B-B14F-4D97-AF65-F5344CB8AC3E}">
        <p14:creationId xmlns:p14="http://schemas.microsoft.com/office/powerpoint/2010/main" val="1483492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2026-08-12T02:52:22.6030000Z</dcterms:created>
  <dcterms:modified xsi:type="dcterms:W3CDTF">2026-08-12T02:52:22.6030000Z</dcterms:modified>
</coreProperties>
</file>