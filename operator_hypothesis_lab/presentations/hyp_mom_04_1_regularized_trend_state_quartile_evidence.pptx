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b3d086dab494c" /><Relationship Type="http://schemas.openxmlformats.org/officeDocument/2006/relationships/extended-properties" Target="/docProps/app.xml" Id="Rfda6c483fa9c419f" /><Relationship Type="http://schemas.openxmlformats.org/officeDocument/2006/relationships/officeDocument" Target="/ppt/presentation.xml" Id="Rff33b9ff40e9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fd02f38e3b46e4"/>
  </p:sldMasterIdLst>
  <p:notesMasterIdLst>
    <p:notesMasterId xmlns:r="http://schemas.openxmlformats.org/officeDocument/2006/relationships" r:id="R0bdb9d1a753443c8"/>
  </p:notesMasterIdLst>
  <p:sldIdLst>
    <p:sldId xmlns:r="http://schemas.openxmlformats.org/officeDocument/2006/relationships" id="256" r:id="Rf79163358b5647ea"/>
    <p:sldId xmlns:r="http://schemas.openxmlformats.org/officeDocument/2006/relationships" id="257" r:id="R5c03c186a5874cde"/>
    <p:sldId xmlns:r="http://schemas.openxmlformats.org/officeDocument/2006/relationships" id="258" r:id="R28a57b7771994744"/>
    <p:sldId xmlns:r="http://schemas.openxmlformats.org/officeDocument/2006/relationships" id="259" r:id="R2982b7145aee4b47"/>
    <p:sldId xmlns:r="http://schemas.openxmlformats.org/officeDocument/2006/relationships" id="260" r:id="Ra61b4916d961478e"/>
    <p:sldId xmlns:r="http://schemas.openxmlformats.org/officeDocument/2006/relationships" id="261" r:id="Rf7e2068706554298"/>
    <p:sldId xmlns:r="http://schemas.openxmlformats.org/officeDocument/2006/relationships" id="262" r:id="Rb7d3105f3b124b4e"/>
    <p:sldId xmlns:r="http://schemas.openxmlformats.org/officeDocument/2006/relationships" id="263" r:id="Rbf9f2fe669054a2f"/>
    <p:sldId xmlns:r="http://schemas.openxmlformats.org/officeDocument/2006/relationships" id="264" r:id="R176e096c9e6f4cfa"/>
    <p:sldId xmlns:r="http://schemas.openxmlformats.org/officeDocument/2006/relationships" id="265" r:id="R4f5a7979054b421d"/>
    <p:sldId xmlns:r="http://schemas.openxmlformats.org/officeDocument/2006/relationships" id="266" r:id="R5320ed48ea0a4a4e"/>
    <p:sldId xmlns:r="http://schemas.openxmlformats.org/officeDocument/2006/relationships" id="267" r:id="R4d54ba12cce746e6"/>
    <p:sldId xmlns:r="http://schemas.openxmlformats.org/officeDocument/2006/relationships" id="268" r:id="R4d3ce85edd0e43d3"/>
    <p:sldId xmlns:r="http://schemas.openxmlformats.org/officeDocument/2006/relationships" id="269" r:id="R2757b386ebc9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e8714e2c3f4d34" /><Relationship Type="http://schemas.openxmlformats.org/officeDocument/2006/relationships/slideMaster" Target="/ppt/slideMasters/slideMaster1.xml" Id="R52fd02f38e3b46e4" /><Relationship Type="http://schemas.openxmlformats.org/officeDocument/2006/relationships/notesMaster" Target="/ppt/notesMasters/notesMaster1.xml" Id="R0bdb9d1a753443c8" /><Relationship Type="http://schemas.openxmlformats.org/officeDocument/2006/relationships/presProps" Target="/ppt/presProps.xml" Id="Rf97c33d43aa84dab" /><Relationship Type="http://schemas.openxmlformats.org/officeDocument/2006/relationships/tableStyles" Target="/ppt/tableStyles.xml" Id="Ra2ed4ab2c6e94be3" /><Relationship Type="http://schemas.openxmlformats.org/officeDocument/2006/relationships/slide" Target="/ppt/slides/slide1.xml" Id="Rf79163358b5647ea" /><Relationship Type="http://schemas.openxmlformats.org/officeDocument/2006/relationships/slide" Target="/ppt/slides/slide2.xml" Id="R5c03c186a5874cde" /><Relationship Type="http://schemas.openxmlformats.org/officeDocument/2006/relationships/slide" Target="/ppt/slides/slide3.xml" Id="R28a57b7771994744" /><Relationship Type="http://schemas.openxmlformats.org/officeDocument/2006/relationships/slide" Target="/ppt/slides/slide4.xml" Id="R2982b7145aee4b47" /><Relationship Type="http://schemas.openxmlformats.org/officeDocument/2006/relationships/slide" Target="/ppt/slides/slide5.xml" Id="Ra61b4916d961478e" /><Relationship Type="http://schemas.openxmlformats.org/officeDocument/2006/relationships/slide" Target="/ppt/slides/slide6.xml" Id="Rf7e2068706554298" /><Relationship Type="http://schemas.openxmlformats.org/officeDocument/2006/relationships/slide" Target="/ppt/slides/slide7.xml" Id="Rb7d3105f3b124b4e" /><Relationship Type="http://schemas.openxmlformats.org/officeDocument/2006/relationships/slide" Target="/ppt/slides/slide8.xml" Id="Rbf9f2fe669054a2f" /><Relationship Type="http://schemas.openxmlformats.org/officeDocument/2006/relationships/slide" Target="/ppt/slides/slide9.xml" Id="R176e096c9e6f4cfa" /><Relationship Type="http://schemas.openxmlformats.org/officeDocument/2006/relationships/slide" Target="/ppt/slides/slide10.xml" Id="R4f5a7979054b421d" /><Relationship Type="http://schemas.openxmlformats.org/officeDocument/2006/relationships/slide" Target="/ppt/slides/slide11.xml" Id="R5320ed48ea0a4a4e" /><Relationship Type="http://schemas.openxmlformats.org/officeDocument/2006/relationships/slide" Target="/ppt/slides/slide12.xml" Id="R4d54ba12cce746e6" /><Relationship Type="http://schemas.openxmlformats.org/officeDocument/2006/relationships/slide" Target="/ppt/slides/slide13.xml" Id="R4d3ce85edd0e43d3" /><Relationship Type="http://schemas.openxmlformats.org/officeDocument/2006/relationships/slide" Target="/ppt/slides/slide14.xml" Id="R2757b386ebc9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5e0688f4ec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3e979c40634eee" /><Relationship Type="http://schemas.openxmlformats.org/officeDocument/2006/relationships/notesMaster" Target="/ppt/notesMasters/notesMaster1.xml" Id="Rde8fa9bca81943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459747160470c" /><Relationship Type="http://schemas.openxmlformats.org/officeDocument/2006/relationships/notesMaster" Target="/ppt/notesMasters/notesMaster1.xml" Id="Re71e3a8fe86e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f22ea69cdc4809" /><Relationship Type="http://schemas.openxmlformats.org/officeDocument/2006/relationships/notesMaster" Target="/ppt/notesMasters/notesMaster1.xml" Id="R7a4ce5113b36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b84e3b12f4312" /><Relationship Type="http://schemas.openxmlformats.org/officeDocument/2006/relationships/notesMaster" Target="/ppt/notesMasters/notesMaster1.xml" Id="R95df60a1761e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31dc1092245fb" /><Relationship Type="http://schemas.openxmlformats.org/officeDocument/2006/relationships/notesMaster" Target="/ppt/notesMasters/notesMaster1.xml" Id="R14fb3f51cbf946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dbecf250c04142" /><Relationship Type="http://schemas.openxmlformats.org/officeDocument/2006/relationships/notesMaster" Target="/ppt/notesMasters/notesMaster1.xml" Id="R11b0af162a544a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98a9be0244033" /><Relationship Type="http://schemas.openxmlformats.org/officeDocument/2006/relationships/notesMaster" Target="/ppt/notesMasters/notesMaster1.xml" Id="R7884f1a24bca42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38bbceb33496e" /><Relationship Type="http://schemas.openxmlformats.org/officeDocument/2006/relationships/notesMaster" Target="/ppt/notesMasters/notesMaster1.xml" Id="Rcc42d5f4153b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20b362efc04c7d" /><Relationship Type="http://schemas.openxmlformats.org/officeDocument/2006/relationships/notesMaster" Target="/ppt/notesMasters/notesMaster1.xml" Id="Ra516aa9ab3d545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32580a2b9f4f11" /><Relationship Type="http://schemas.openxmlformats.org/officeDocument/2006/relationships/notesMaster" Target="/ppt/notesMasters/notesMaster1.xml" Id="R6d204bef89d747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171ae9bdcf47a6" /><Relationship Type="http://schemas.openxmlformats.org/officeDocument/2006/relationships/notesMaster" Target="/ppt/notesMasters/notesMaster1.xml" Id="R27d503afc63b4e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136285a10340ed" /><Relationship Type="http://schemas.openxmlformats.org/officeDocument/2006/relationships/notesMaster" Target="/ppt/notesMasters/notesMaster1.xml" Id="Re0d4b31e9ff044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1b3be72e0f469d" /><Relationship Type="http://schemas.openxmlformats.org/officeDocument/2006/relationships/notesMaster" Target="/ppt/notesMasters/notesMaster1.xml" Id="R3aca903f61414c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c71f19723b4a7b" /><Relationship Type="http://schemas.openxmlformats.org/officeDocument/2006/relationships/notesMaster" Target="/ppt/notesMasters/notesMaster1.xml" Id="R31c23195fdfb48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follows the question from frozen design through the TRAIN stop.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HYP_MOM_04_1_REGULARIZED_TREND_STATE_QUARTILE_CONTRACT.md</a:t>
            </a:r>
          </a:p>
          <a:p xmlns:a="http://schemas.openxmlformats.org/drawingml/2006/main">
            <a:r>
              <a:t>- HYP_MOM_04_1_REGULARIZED_TREND_STATE_QUARTILE_RESULTS.md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remains useful for state description; it was not the best primary method for this supervised ranking question.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Research question and Ridge model sections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TRAIN runner could query only through 2020-12-31. This is a structural boundary, not an analyst promise.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Evidence sequence and data 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input uses only completed adjusted closes as of the quarter-end signal date.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Frozen features 1–3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compact state descriptors—not six independent trading strategies.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Frozen features 4–6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Cross-sectional rank-normalization reduces scale dominance and remains causal because it uses only that quarter's contemporaneous panel.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Causal observation and return timing; Frozen preprocessing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 is deliberately independent of the full-sample quartile chart. That separation becomes decisive.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HYP-MOM-04.1 contract, TRAIN nomination gates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bounded network refresh reproduced the cached panel and outcome exactly.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hyp_mom_04_1_train_run_spec.csv</a:t>
            </a:r>
          </a:p>
          <a:p xmlns:a="http://schemas.openxmlformats.org/drawingml/2006/main">
            <a:r>
              <a:t>- hyp_mom_04_1_train_integrity.csv</a:t>
            </a:r>
          </a:p>
          <a:p xmlns:a="http://schemas.openxmlformats.org/drawingml/2006/main">
            <a:r>
              <a:t>- hyp_mom_04_1_train_coverage.csv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one-standard-error rule correctly preferred the most regularized model, but regularization could not turn the forward relationship positive.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hyp_mom_04_1_train_cv_summary.csv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temporal instability, not insufficient cross-sectional sample size.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hyp_mom_04_1_train_cv_details.csv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Permutation significance asks whether the pooled mapping contains structure. It does not prove that coefficients learned earlier transport to the next quarter.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hyp_mom_04_1_train_quarter_summary.csv</a:t>
            </a:r>
          </a:p>
          <a:p xmlns:a="http://schemas.openxmlformats.org/drawingml/2006/main">
            <a:r>
              <a:t>- hyp_mom_04_1_train_block_bootstrap.csv</a:t>
            </a:r>
          </a:p>
          <a:p xmlns:a="http://schemas.openxmlformats.org/drawingml/2006/main">
            <a:r>
              <a:t>- hyp_mom_04_1_train_permutation.csv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failed G3 gate overrides attractive G4–G6 pooled evidence by design.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hyp_mom_04_1_train_gates.csv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one serious next question suggested by the lane; it is not a post-hoc rescue of 04.1.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hyp_mom_04_1_train_theory_quarter_summary.csv</a:t>
            </a:r>
          </a:p>
          <a:p xmlns:a="http://schemas.openxmlformats.org/drawingml/2006/main">
            <a:r>
              <a:t>- HYP-MOM-04.1 results, Feature-level interpretation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lane succeeded methodologically: it exposed a seductive pooled fit and stopped it before retrospective OOS could influence the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HYP_MOM_04_1_REGULARIZED_TREND_STATE_QUARTILE_RESULTS.md</a:t>
            </a:r>
          </a:p>
          <a:p xmlns:a="http://schemas.openxmlformats.org/drawingml/2006/main">
            <a:r>
              <a:t>- hyp_mom_04_1_train_gates.csv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6d39688da41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752a362e34c1f" /><Relationship Type="http://schemas.openxmlformats.org/officeDocument/2006/relationships/slideLayout" Target="/ppt/slideLayouts/slideLayout1.xml" Id="Rbb8500d0c1ed4c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500d0c1ed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8a5852cd4750" /><Relationship Type="http://schemas.openxmlformats.org/officeDocument/2006/relationships/notesSlide" Target="/ppt/notesSlides/notesSlide1.xml" Id="R75826fa9c3ab4f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f9deda3ab4654" /><Relationship Type="http://schemas.openxmlformats.org/officeDocument/2006/relationships/notesSlide" Target="/ppt/notesSlides/notesSlide2.xml" Id="Rf3562dfe1468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81f507a3e4fa7" /><Relationship Type="http://schemas.openxmlformats.org/officeDocument/2006/relationships/notesSlide" Target="/ppt/notesSlides/notesSlide3.xml" Id="R7973cb2c82ec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24789f37a4bd2" /><Relationship Type="http://schemas.openxmlformats.org/officeDocument/2006/relationships/notesSlide" Target="/ppt/notesSlides/notesSlide4.xml" Id="R64c3bf25802547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1ae4c00584ad7" /><Relationship Type="http://schemas.openxmlformats.org/officeDocument/2006/relationships/notesSlide" Target="/ppt/notesSlides/notesSlide5.xml" Id="R557c174dbef248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767540da247c2" /><Relationship Type="http://schemas.openxmlformats.org/officeDocument/2006/relationships/notesSlide" Target="/ppt/notesSlides/notesSlide6.xml" Id="R55217b5bb8314a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fccf32b24bdd" /><Relationship Type="http://schemas.openxmlformats.org/officeDocument/2006/relationships/notesSlide" Target="/ppt/notesSlides/notesSlide7.xml" Id="Rd196f40feb9f46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32583145743fc" /><Relationship Type="http://schemas.openxmlformats.org/officeDocument/2006/relationships/notesSlide" Target="/ppt/notesSlides/notesSlide8.xml" Id="R60cafb9fdddb40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186fff3454cc4" /><Relationship Type="http://schemas.openxmlformats.org/officeDocument/2006/relationships/image" Target="/ppt/media/image.png" Id="Rf5f53eadbd184844" /><Relationship Type="http://schemas.openxmlformats.org/officeDocument/2006/relationships/notesSlide" Target="/ppt/notesSlides/notesSlide9.xml" Id="Re5d54d9acd774e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88f8abb684216" /><Relationship Type="http://schemas.openxmlformats.org/officeDocument/2006/relationships/image" Target="/ppt/media/image2.png" Id="R6b73c81c42414db1" /><Relationship Type="http://schemas.openxmlformats.org/officeDocument/2006/relationships/notesSlide" Target="/ppt/notesSlides/notesSlide10.xml" Id="Reabd2b6cc7f44c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c1853e994989" /><Relationship Type="http://schemas.openxmlformats.org/officeDocument/2006/relationships/notesSlide" Target="/ppt/notesSlides/notesSlide11.xml" Id="R9823efffa8dd49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26988b7b54d06" /><Relationship Type="http://schemas.openxmlformats.org/officeDocument/2006/relationships/image" Target="/ppt/media/image3.png" Id="Rf681c99ca2a04063" /><Relationship Type="http://schemas.openxmlformats.org/officeDocument/2006/relationships/notesSlide" Target="/ppt/notesSlides/notesSlide12.xml" Id="R55869a27112d42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6eb36ef41479c" /><Relationship Type="http://schemas.openxmlformats.org/officeDocument/2006/relationships/notesSlide" Target="/ppt/notesSlides/notesSlide13.xml" Id="Rcd4b77e5eda94d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a9b92ba6a46be" /><Relationship Type="http://schemas.openxmlformats.org/officeDocument/2006/relationships/notesSlide" Target="/ppt/notesSlides/notesSlide14.xml" Id="R674eaf7c93424f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637ED47-6A0B-4B44-B0E3-2DB546A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six simple features rank next quarter?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B033605-F7FC-4AE2-87D4-79AFFA0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HYP-MOM-04.1 · Regularized Trend-State Quartile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CBEB287-1520-4775-BBE6-E50F2F6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 HYPOTHESIS LAB</a:t>
            </a:r>
          </a:p>
        </p:txBody>
      </p:sp>
    </p:spTree>
    <p:extLst>
      <p:ext uri="{BB962C8B-B14F-4D97-AF65-F5344CB8AC3E}">
        <p14:creationId xmlns:p14="http://schemas.microsoft.com/office/powerpoint/2010/main" val="1454352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1AFDE12-2583-47BC-A44B-68AE61A8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98850E-7721-49F2-B974-FFE560E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Ridge answers the prediction question more directly than PCA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946E83D-1AD3-40F1-8304-1BFC367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PCA asks: what varies together?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compresses correlated features without looking at next-quarter return. A high-variance component need not be predictive, and component meaning may drift across samples.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1488031-24E6-494B-A789-1BD7D94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Ridge asks: what predicts, with restraint?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estimates a signed linear ranking while shrinking unstable coefficients. Time-ordered validation—not pooled fit—decides whether the relationship travels forward.</a:t>
            </a:r>
          </a:p>
        </p:txBody>
      </p:sp>
    </p:spTree>
    <p:extLst>
      <p:ext uri="{BB962C8B-B14F-4D97-AF65-F5344CB8AC3E}">
        <p14:creationId xmlns:p14="http://schemas.microsoft.com/office/powerpoint/2010/main" val="8701948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4D3255-66D6-4A8C-98C8-699D8C1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5FA72C1-6972-494D-9400-5BAD16F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boundary was frozen before any outcome was visible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36AEC3B-C048-4552-91A7-A041A57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096155C-85AC-4590-8B0B-D6D4759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02E53A1-4C89-4571-90AA-56F740A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6E4560C-3B10-4C4F-B9BD-48BF6E49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2016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ADC04CF-61C0-4848-BB8F-5D05357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2017–2020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8CE2CCE-AACF-4A2B-B7C6-9FB3770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2021–2023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44534A2-8A5F-47C9-ADCE-8992BBC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 signal quarters. Fit, validate, gate, then freeze.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F4969B-D3F7-4F6C-A6C3-33A82084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Warm-up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Indicators only. No target or selection authority.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60300E2-3A3C-414E-8BD2-9F38F9B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OOS lock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Accessible only if every TRAIN gate passes.</a:t>
            </a:r>
          </a:p>
        </p:txBody>
      </p:sp>
    </p:spTree>
    <p:extLst>
      <p:ext uri="{BB962C8B-B14F-4D97-AF65-F5344CB8AC3E}">
        <p14:creationId xmlns:p14="http://schemas.microsoft.com/office/powerpoint/2010/main" val="779058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04A8CB-F2A8-4B45-BDB8-034023C7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5B2509C-704C-4AA9-9EAB-0C2399D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features capture persistent trend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D53BBDF-7F30-43A1-B92A-F0849D33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12–1 momentum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log(C[t−21] / C[t−252])
Skips the most recent month to reduce short-run reversal contamination.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867C7B59-B2E4-4E03-8531-713D5ED5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5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Slow slope / ATR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(SMA200[t] − SMA200[t−20]) / ATR20[t]
Trend direction scaled to the asset's own movement.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F2BCC425-CD46-46F2-8C46-5A605BD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Sector-relative 126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Asset six-month log return minus the same-sector cross-sectional mean.</a:t>
            </a:r>
          </a:p>
        </p:txBody>
      </p:sp>
    </p:spTree>
    <p:extLst>
      <p:ext uri="{BB962C8B-B14F-4D97-AF65-F5344CB8AC3E}">
        <p14:creationId xmlns:p14="http://schemas.microsoft.com/office/powerpoint/2010/main" val="5454119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F7F7627-E717-4460-A036-20D2F6EA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99FA577-4024-4A93-80BA-AAF5C57B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features describe extension, volatility, and trend location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18C0C28-C0A9-4C7A-8608-BB9E4124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20-session extension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log price as a z-score of its last 20 closes. Theory sign: negative.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35F3CA12-3BFA-46F2-88EB-5F66947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252-session high proximity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C[t] / max252(C)
Measures whether price is near its one-year high.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FAE9B73B-7AAA-4B64-8287-08E8E76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Volatility ratio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RV20 / RV126
Asks whether short-run volatility has expanded relative to the slower state.</a:t>
            </a:r>
          </a:p>
        </p:txBody>
      </p:sp>
    </p:spTree>
    <p:extLst>
      <p:ext uri="{BB962C8B-B14F-4D97-AF65-F5344CB8AC3E}">
        <p14:creationId xmlns:p14="http://schemas.microsoft.com/office/powerpoint/2010/main" val="476807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9D7E226-8653-4211-B710-C120D82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E51D1C-18DB-4515-9914-87773A02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Relative return is the target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AF50458-FB0C-4B5E-B372-0AA6DD93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Target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Next-quarter first-open to last-open return
minus
equal-weight eligible-universe return.
A positive target means the stock beat its contemporaneous cross-section.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5EC59B8-FA48-4458-B661-E61F404C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Preprocessing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Within each signal quarter:
z = Φ⁻¹((rank − 0.5) / n)
TRAIN pooled center and scale are then frozen for later scoring.</a:t>
            </a:r>
          </a:p>
        </p:txBody>
      </p:sp>
    </p:spTree>
    <p:extLst>
      <p:ext uri="{BB962C8B-B14F-4D97-AF65-F5344CB8AC3E}">
        <p14:creationId xmlns:p14="http://schemas.microsoft.com/office/powerpoint/2010/main" val="9201912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137B4BF-95D1-47E0-AC6C-626979E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E376405-9293-43D3-BA29-5624310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Seven gates stand between an attractive TRAIN fit and OOS access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E4BD331-A16E-40D8-99AB-A29B8E1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G5 · Ordering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Q4 − Q1 &gt; 0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DA2FCBE-A172-4A51-BC33-1D126A2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G6 · Permutation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≥ 90th percentile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5968EE07-BE5D-4277-AC32-332A3E50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G7 · Breadth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Largest sector ≤ 35%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A464DC06-7E22-4578-A5CA-5ABF7EBD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OOS lock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seven—or no query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36C583E-8916-4C9A-8B24-035E137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G1 · Integrity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Dates, bars, registry, target timing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18733E52-9A04-4859-B8BC-DD6903D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G2 · Support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≥12 quarters; ≥20 assets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932ECA6-67E6-4692-8358-C1105B49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G3 · Forward IC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&gt;0 mean; ≥60% positive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4186F682-B2DC-43F6-A234-CA3E3D86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G4 · Q4 excess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&gt;0 mean; ≥60% positive</a:t>
            </a:r>
          </a:p>
        </p:txBody>
      </p:sp>
    </p:spTree>
    <p:extLst>
      <p:ext uri="{BB962C8B-B14F-4D97-AF65-F5344CB8AC3E}">
        <p14:creationId xmlns:p14="http://schemas.microsoft.com/office/powerpoint/2010/main" val="20888805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7C06F09-B532-40B9-873C-AD56327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76997C6-7E75-4EFF-936A-64F4F95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8D56EED-C6DF-4DA7-A0E7-7C5D61C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9E8DBE8-6D28-41F2-9BD8-37100FA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18E5C8A-76FA-4CAC-98DA-5A7A9F6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refreshed TRAIN panel retained broad cross-sectional support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A7CC687-51E6-4229-872C-B6942E8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eligible identities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F2E6233-6148-44B6-BC9B-AC29EE5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assets per quarter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0AB6F37B-1200-4568-B7D0-7C921DB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asset-quarter rows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1B9BFDF-77E4-4D5B-B66D-B2DAABE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F12B4DA-8032-4549-A667-3A1D907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1,693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19B1259-0AB2-4856-A40D-583403F7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111–114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682C315-7A82-47BB-BF71-C98DC45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Coverage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later-history identities lacked the full 2016–2020 range and were excluded without replacement. All 15 causal integrity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1261341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99AC72A-98AF-491E-954F-2743BD1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427B33-1EDE-40C6-ACB4-A2BD3AB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ridge penalty stayed negative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BE467DC-724A-465C-A53C-C3DCF3F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53eadbd184844"/>
          <a:stretch xmlns:a="http://schemas.openxmlformats.org/drawingml/2006/main"/>
        </p:blipFill>
        <p:spPr>
          <a:xfrm xmlns:a="http://schemas.openxmlformats.org/drawingml/2006/main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AE9434C-7245-4684-82EF-C0CE705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Selected: λ = 100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one-standard-error rule preferred the strongest shrinkage.
Mean forward rank IC still ended at −0.0176.
Regularization reduced variance; it could not create temporal stability.</a:t>
            </a:r>
          </a:p>
        </p:txBody>
      </p:sp>
    </p:spTree>
    <p:extLst>
      <p:ext uri="{BB962C8B-B14F-4D97-AF65-F5344CB8AC3E}">
        <p14:creationId xmlns:p14="http://schemas.microsoft.com/office/powerpoint/2010/main" val="6481345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32BA42-F0B8-4FC4-99CA-302C4043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AD7EF99-6D87-4274-86C6-DDD7782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Pooled fit did not travel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1117806-76B2-4297-BDE1-ED11D119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3c81c42414db1"/>
          <a:stretch xmlns:a="http://schemas.openxmlformats.org/drawingml/2006/main"/>
        </p:blipFill>
        <p:spPr>
          <a:xfrm xmlns:a="http://schemas.openxmlformats.org/drawingml/2006/main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689FA6A-5AF0-4DFC-AD51-0B83F77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views of TRAIN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fit: +2.98 pp mean Q4 excess.
Expanding validation: 5 / 9 positive IC quarters.
The same feature set can look ordered in pooled data while failing chronological transport.</a:t>
            </a:r>
          </a:p>
        </p:txBody>
      </p:sp>
    </p:spTree>
    <p:extLst>
      <p:ext uri="{BB962C8B-B14F-4D97-AF65-F5344CB8AC3E}">
        <p14:creationId xmlns:p14="http://schemas.microsoft.com/office/powerpoint/2010/main" val="1934358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D19FCC8-53AA-46DF-A251-D1A745DB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DF609DA-3BCF-42FE-B33F-4D03F41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B0FF1E8-056E-4FBF-BE6B-E556E44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2C2768D-B243-464B-AA45-2DD1CDA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7B6AFD2-B610-4DB0-B122-028D1249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Pooled TRAIN looked compelling—and that is why the gate mattered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1FADD2-3E90-4D86-8A1E-A534BFF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Q4 excess / quarter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ED74C0B-E768-4F8C-A362-E41BD50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permutation percentile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5BBE91F-921E-4AAE-8407-F5A5296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Q4 minus Q1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7AE3187-6953-43BA-B70B-253F1B02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+2.98 pp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3E46665-91D9-4BAE-ACAD-2A3BBA05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+3.64 pp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39D32D0-E3EF-4865-9E90-349932CC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98.8th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14FC25-81C0-4E4C-BBFA-63E84B8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Full-sample association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 fitting all 15 TRAIN quarters, the top score quartile separated strongly. Those same rows helped estimate the coefficients, so this is descriptive fit, not forward evidence.</a:t>
            </a:r>
          </a:p>
        </p:txBody>
      </p:sp>
    </p:spTree>
    <p:extLst>
      <p:ext uri="{BB962C8B-B14F-4D97-AF65-F5344CB8AC3E}">
        <p14:creationId xmlns:p14="http://schemas.microsoft.com/office/powerpoint/2010/main" val="3024943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90E47CE-7A88-4A4A-B0FD-EA7A943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459ABB-C903-4143-9E3A-A3143EA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failed gate kept OOS sealed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C68C4C5-7574-4ABC-BF6E-D72562F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1c99ca2a04063"/>
          <a:stretch xmlns:a="http://schemas.openxmlformats.org/drawingml/2006/main"/>
        </p:blipFill>
        <p:spPr>
          <a:xfrm xmlns:a="http://schemas.openxmlformats.org/drawingml/2006/main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554B745-CC5E-4B39-9F8D-CF3E1C5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 / 7 passed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Integrity, support, pooled separation, permutation, and sector breadth all passed.
G3 failed: −0.0176 mean forward IC and 55.6% positive quarters.
A conjunction is not a vote.</a:t>
            </a:r>
          </a:p>
        </p:txBody>
      </p:sp>
    </p:spTree>
    <p:extLst>
      <p:ext uri="{BB962C8B-B14F-4D97-AF65-F5344CB8AC3E}">
        <p14:creationId xmlns:p14="http://schemas.microsoft.com/office/powerpoint/2010/main" val="1609520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CCE1A990-C9A5-450B-96E1-3B793E8D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caught our eye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predeclared, non-learned composite averaged +0.041 rank IC across all 15 TRAIN quarters.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was positive in 9 / 15 quarters and its top quartile beat the universe by +1.74 pp on average.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That is more stable-looking than the fitted ridge replay.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4A76C4B8-F6CC-408D-AABB-9B40E65F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78E516F2-4357-424D-B869-C53D8FA1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fixed-sign composite is interesting—but it is a new question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CA356D5-52A2-45A4-906D-E01B8621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we still stop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composite was declared as a diagnostic comparator, not the nomination policy. It was not given its own expanding selection gate.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 it later requires a new identifier, frozen contract, and evidence-boundary decision before any 2021+ query.</a:t>
            </a:r>
          </a:p>
        </p:txBody>
      </p:sp>
    </p:spTree>
    <p:extLst>
      <p:ext uri="{BB962C8B-B14F-4D97-AF65-F5344CB8AC3E}">
        <p14:creationId xmlns:p14="http://schemas.microsoft.com/office/powerpoint/2010/main" val="6792239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649AA3-9160-44EC-A2EE-5A216C82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before OOS.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7DBBC56-104D-44B8-8CFD-424F63B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Pooled structure ≠ temporal transport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2021–2023 was not queried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strategy authority created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8D810BC-5A11-4227-93CC-73F62CE1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165951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2026-08-10T19:06:01.4450000Z</dcterms:created>
  <dcterms:modified xsi:type="dcterms:W3CDTF">2026-08-10T19:06:01.4460000Z</dcterms:modified>
</coreProperties>
</file>