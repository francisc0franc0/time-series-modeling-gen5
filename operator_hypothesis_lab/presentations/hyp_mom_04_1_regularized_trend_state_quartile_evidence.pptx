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d157b512f74a68" /><Relationship Type="http://schemas.openxmlformats.org/officeDocument/2006/relationships/extended-properties" Target="/docProps/app.xml" Id="R1823c4841bff48df" /><Relationship Type="http://schemas.openxmlformats.org/officeDocument/2006/relationships/officeDocument" Target="/ppt/presentation.xml" Id="Rd65a2d9ea9854c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0664ad23c04d32"/>
  </p:sldMasterIdLst>
  <p:notesMasterIdLst>
    <p:notesMasterId xmlns:r="http://schemas.openxmlformats.org/officeDocument/2006/relationships" r:id="Rc78b0e399ac74f4e"/>
  </p:notesMasterIdLst>
  <p:sldIdLst>
    <p:sldId xmlns:r="http://schemas.openxmlformats.org/officeDocument/2006/relationships" id="256" r:id="R15e7beb2dbcb45a2"/>
    <p:sldId xmlns:r="http://schemas.openxmlformats.org/officeDocument/2006/relationships" id="257" r:id="R0aa3183b22d24116"/>
    <p:sldId xmlns:r="http://schemas.openxmlformats.org/officeDocument/2006/relationships" id="258" r:id="R2ed1910bbf324461"/>
    <p:sldId xmlns:r="http://schemas.openxmlformats.org/officeDocument/2006/relationships" id="259" r:id="Rbf48b1566eac4d93"/>
    <p:sldId xmlns:r="http://schemas.openxmlformats.org/officeDocument/2006/relationships" id="260" r:id="Rfcc7f25aa76b458f"/>
    <p:sldId xmlns:r="http://schemas.openxmlformats.org/officeDocument/2006/relationships" id="261" r:id="R6483e49b44094754"/>
    <p:sldId xmlns:r="http://schemas.openxmlformats.org/officeDocument/2006/relationships" id="262" r:id="R66b7b321aa5f4fe3"/>
    <p:sldId xmlns:r="http://schemas.openxmlformats.org/officeDocument/2006/relationships" id="263" r:id="R1a86883303e8456b"/>
    <p:sldId xmlns:r="http://schemas.openxmlformats.org/officeDocument/2006/relationships" id="264" r:id="R71717aa749194f73"/>
    <p:sldId xmlns:r="http://schemas.openxmlformats.org/officeDocument/2006/relationships" id="265" r:id="R9d6b99e28ce4401e"/>
    <p:sldId xmlns:r="http://schemas.openxmlformats.org/officeDocument/2006/relationships" id="266" r:id="Ra46a950403804405"/>
    <p:sldId xmlns:r="http://schemas.openxmlformats.org/officeDocument/2006/relationships" id="267" r:id="Ra6d7f06f89584dd7"/>
    <p:sldId xmlns:r="http://schemas.openxmlformats.org/officeDocument/2006/relationships" id="268" r:id="Reabe526fab0f49a6"/>
    <p:sldId xmlns:r="http://schemas.openxmlformats.org/officeDocument/2006/relationships" id="269" r:id="Rfd2c3477ffa34a4c"/>
    <p:sldId xmlns:r="http://schemas.openxmlformats.org/officeDocument/2006/relationships" id="270" r:id="Rf68bf597c4b44257"/>
    <p:sldId xmlns:r="http://schemas.openxmlformats.org/officeDocument/2006/relationships" id="271" r:id="R611fb78fb7bc44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6a138efb484449" /><Relationship Type="http://schemas.openxmlformats.org/officeDocument/2006/relationships/slideMaster" Target="/ppt/slideMasters/slideMaster1.xml" Id="Rf70664ad23c04d32" /><Relationship Type="http://schemas.openxmlformats.org/officeDocument/2006/relationships/notesMaster" Target="/ppt/notesMasters/notesMaster1.xml" Id="Rc78b0e399ac74f4e" /><Relationship Type="http://schemas.openxmlformats.org/officeDocument/2006/relationships/presProps" Target="/ppt/presProps.xml" Id="R79f575c632534b44" /><Relationship Type="http://schemas.openxmlformats.org/officeDocument/2006/relationships/tableStyles" Target="/ppt/tableStyles.xml" Id="R8c6175c946a64306" /><Relationship Type="http://schemas.openxmlformats.org/officeDocument/2006/relationships/slide" Target="/ppt/slides/slide1.xml" Id="R15e7beb2dbcb45a2" /><Relationship Type="http://schemas.openxmlformats.org/officeDocument/2006/relationships/slide" Target="/ppt/slides/slide2.xml" Id="R0aa3183b22d24116" /><Relationship Type="http://schemas.openxmlformats.org/officeDocument/2006/relationships/slide" Target="/ppt/slides/slide3.xml" Id="R2ed1910bbf324461" /><Relationship Type="http://schemas.openxmlformats.org/officeDocument/2006/relationships/slide" Target="/ppt/slides/slide4.xml" Id="Rbf48b1566eac4d93" /><Relationship Type="http://schemas.openxmlformats.org/officeDocument/2006/relationships/slide" Target="/ppt/slides/slide5.xml" Id="Rfcc7f25aa76b458f" /><Relationship Type="http://schemas.openxmlformats.org/officeDocument/2006/relationships/slide" Target="/ppt/slides/slide6.xml" Id="R6483e49b44094754" /><Relationship Type="http://schemas.openxmlformats.org/officeDocument/2006/relationships/slide" Target="/ppt/slides/slide7.xml" Id="R66b7b321aa5f4fe3" /><Relationship Type="http://schemas.openxmlformats.org/officeDocument/2006/relationships/slide" Target="/ppt/slides/slide8.xml" Id="R1a86883303e8456b" /><Relationship Type="http://schemas.openxmlformats.org/officeDocument/2006/relationships/slide" Target="/ppt/slides/slide9.xml" Id="R71717aa749194f73" /><Relationship Type="http://schemas.openxmlformats.org/officeDocument/2006/relationships/slide" Target="/ppt/slides/slide10.xml" Id="R9d6b99e28ce4401e" /><Relationship Type="http://schemas.openxmlformats.org/officeDocument/2006/relationships/slide" Target="/ppt/slides/slide11.xml" Id="Ra46a950403804405" /><Relationship Type="http://schemas.openxmlformats.org/officeDocument/2006/relationships/slide" Target="/ppt/slides/slide12.xml" Id="Ra6d7f06f89584dd7" /><Relationship Type="http://schemas.openxmlformats.org/officeDocument/2006/relationships/slide" Target="/ppt/slides/slide13.xml" Id="Reabe526fab0f49a6" /><Relationship Type="http://schemas.openxmlformats.org/officeDocument/2006/relationships/slide" Target="/ppt/slides/slide14.xml" Id="Rfd2c3477ffa34a4c" /><Relationship Type="http://schemas.openxmlformats.org/officeDocument/2006/relationships/slide" Target="/ppt/slides/slide15.xml" Id="Rf68bf597c4b44257" /><Relationship Type="http://schemas.openxmlformats.org/officeDocument/2006/relationships/slide" Target="/ppt/slides/slide16.xml" Id="R611fb78fb7bc44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d4b96076ab4a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69dff1b8854bc0" /><Relationship Type="http://schemas.openxmlformats.org/officeDocument/2006/relationships/notesMaster" Target="/ppt/notesMasters/notesMaster1.xml" Id="Rb95219023ff84d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bd41abd98742c5" /><Relationship Type="http://schemas.openxmlformats.org/officeDocument/2006/relationships/notesMaster" Target="/ppt/notesMasters/notesMaster1.xml" Id="R455d31a9440b43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895922749145c8" /><Relationship Type="http://schemas.openxmlformats.org/officeDocument/2006/relationships/notesMaster" Target="/ppt/notesMasters/notesMaster1.xml" Id="R4e672144584044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5dd241e86e43e6" /><Relationship Type="http://schemas.openxmlformats.org/officeDocument/2006/relationships/notesMaster" Target="/ppt/notesMasters/notesMaster1.xml" Id="R68655bd6b40543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38ae12109143ad" /><Relationship Type="http://schemas.openxmlformats.org/officeDocument/2006/relationships/notesMaster" Target="/ppt/notesMasters/notesMaster1.xml" Id="Ra4537157335b4b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79c1bafabd444c" /><Relationship Type="http://schemas.openxmlformats.org/officeDocument/2006/relationships/notesMaster" Target="/ppt/notesMasters/notesMaster1.xml" Id="Rc9d502429a5749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966bc25f0c4e91" /><Relationship Type="http://schemas.openxmlformats.org/officeDocument/2006/relationships/notesMaster" Target="/ppt/notesMasters/notesMaster1.xml" Id="Rb6c1d0972a9a4c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0d6b3c04154dcd" /><Relationship Type="http://schemas.openxmlformats.org/officeDocument/2006/relationships/notesMaster" Target="/ppt/notesMasters/notesMaster1.xml" Id="Rb2e13128111e43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9ff8db29f34e31" /><Relationship Type="http://schemas.openxmlformats.org/officeDocument/2006/relationships/notesMaster" Target="/ppt/notesMasters/notesMaster1.xml" Id="R0d813051e04b47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67e002fc004f27" /><Relationship Type="http://schemas.openxmlformats.org/officeDocument/2006/relationships/notesMaster" Target="/ppt/notesMasters/notesMaster1.xml" Id="R1d33d24e42b14e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d84946376b4a60" /><Relationship Type="http://schemas.openxmlformats.org/officeDocument/2006/relationships/notesMaster" Target="/ppt/notesMasters/notesMaster1.xml" Id="R335f2f32ad304b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63cb78b7f34182" /><Relationship Type="http://schemas.openxmlformats.org/officeDocument/2006/relationships/notesMaster" Target="/ppt/notesMasters/notesMaster1.xml" Id="R7c2ec0b636a943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e367f266c34383" /><Relationship Type="http://schemas.openxmlformats.org/officeDocument/2006/relationships/notesMaster" Target="/ppt/notesMasters/notesMaster1.xml" Id="R17b9f7d8a09547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35766085694a7f" /><Relationship Type="http://schemas.openxmlformats.org/officeDocument/2006/relationships/notesMaster" Target="/ppt/notesMasters/notesMaster1.xml" Id="R70bec48986ec48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e7f2e3eff24470" /><Relationship Type="http://schemas.openxmlformats.org/officeDocument/2006/relationships/notesMaster" Target="/ppt/notesMasters/notesMaster1.xml" Id="R53ef0782185948c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96e1a3d40ac4e71" /><Relationship Type="http://schemas.openxmlformats.org/officeDocument/2006/relationships/notesMaster" Target="/ppt/notesMasters/notesMaster1.xml" Id="R6a2a854c6ef34d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deck follows the question from frozen design through the TRAIN stop.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HYP_MOM_04_1_REGULARIZED_TREND_STATE_QUARTILE_CONTRACT.md</a:t>
            </a:r>
          </a:p>
          <a:p xmlns:a="http://schemas.openxmlformats.org/drawingml/2006/main">
            <a:r>
              <a:t>- HYP_MOM_04_1_REGULARIZED_TREND_STATE_QUARTILE_RESULTS.md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PCA remains useful for state description; it was not the best primary method for this supervised ranking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Research question and Ridge model sections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Chat reference: Codex task 019f741e-615f-7fd0-90f7-edce12b5cb66, 2026-08-10 plain-English Ridge explanation; decision index D113.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Ridge predicts a continuous relative-return score; it is not a direct up/down classifier.</a:t>
            </a:r>
          </a:p>
          <a:p xmlns:a="http://schemas.openxmlformats.org/drawingml/2006/main">
            <a:r>
              <a:t>The penalty shrinks feature weights toward zero, especially when predictors overlap or the sample is small.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frozen contract, sections ‘Frozen features’ and ‘Ridge model and TRAIN selection’.</a:t>
            </a:r>
          </a:p>
          <a:p xmlns:a="http://schemas.openxmlformats.org/drawingml/2006/main">
            <a:r>
              <a:t>- Codex task 019f741e-615f-7fd0-90f7-edce12b5cb66, operator question and plain-English Ridge explanation on 2026-08-10; indexed in GEN5_4_DECISION_DIALOGUE_INDEX.md at D113.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Pooled fit measures association within the complete TRAIN sample. It is useful, but the same rows help estimate and judge the coefficients.</a:t>
            </a:r>
          </a:p>
          <a:p xmlns:a="http://schemas.openxmlformats.org/drawingml/2006/main">
            <a:r>
              <a:t>Expanding validation is the transfer test: learn from earlier quarters and score later TRAIN quarters.</a:t>
            </a:r>
          </a:p>
          <a:p xmlns:a="http://schemas.openxmlformats.org/drawingml/2006/main">
            <a:r>
              <a:t>OOS remains untouched until all frozen TRAIN gates pass.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frozen contract, ‘Evidence sequence and data boundary’ and ‘TRAIN nomination gates’.</a:t>
            </a:r>
          </a:p>
          <a:p xmlns:a="http://schemas.openxmlformats.org/drawingml/2006/main">
            <a:r>
              <a:t>- Codex task 019f741e-615f-7fd0-90f7-edce12b5cb66, plain-English pooled-versus-chronological explanation on 2026-08-10; indexed in GEN5_4_DECISION_DIALOGUE_INDEX.md at D113.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TRAIN runner could query only through 2020-12-31. This is a structural boundary, not an analyst promise.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Evidence sequence and data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input uses only completed adjusted closes as of the quarter-end signal date.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Frozen features 1–3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compact state descriptors—not six independent trading strategies.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Frozen features 4–6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Cross-sectional rank-normalization reduces scale dominance and remains causal because it uses only that quarter's contemporaneous panel.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Causal observation and return timing; Frozen preprocessing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G3 is deliberately independent of the full-sample quartile chart. That separation becomes decisive.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HYP-MOM-04.1 contract, TRAIN nomination gates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bounded network refresh reproduced the cached panel and outcome exactly.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hyp_mom_04_1_train_run_spec.csv</a:t>
            </a:r>
          </a:p>
          <a:p xmlns:a="http://schemas.openxmlformats.org/drawingml/2006/main">
            <a:r>
              <a:t>- hyp_mom_04_1_train_integrity.csv</a:t>
            </a:r>
          </a:p>
          <a:p xmlns:a="http://schemas.openxmlformats.org/drawingml/2006/main">
            <a:r>
              <a:t>- hyp_mom_04_1_train_coverage.csv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one-standard-error rule correctly preferred the most regularized model, but regularization could not turn the forward relationship positive.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hyp_mom_04_1_train_cv_summary.csv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failure is temporal instability, not insufficient cross-sectional sample size.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hyp_mom_04_1_train_cv_details.csv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Chat reference: Codex task 019f741e-615f-7fd0-90f7-edce12b5cb66, 2026-08-10 explanation of why pooled fit did not override chronological failure; decision index D113.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Permutation significance asks whether the pooled mapping contains structure. It does not prove that coefficients learned earlier transport to the next quarter.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hyp_mom_04_1_train_quarter_summary.csv</a:t>
            </a:r>
          </a:p>
          <a:p xmlns:a="http://schemas.openxmlformats.org/drawingml/2006/main">
            <a:r>
              <a:t>- hyp_mom_04_1_train_block_bootstrap.csv</a:t>
            </a:r>
          </a:p>
          <a:p xmlns:a="http://schemas.openxmlformats.org/drawingml/2006/main">
            <a:r>
              <a:t>- hyp_mom_04_1_train_permutation.csv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failed G3 gate overrides attractive G4–G6 pooled evidence by design.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hyp_mom_04_1_train_gates.csv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Chat reference: Codex task 019f741e-615f-7fd0-90f7-edce12b5cb66, 2026-08-10 explanation of the conjunction gate and OOS lock; decision index D113.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one serious next question suggested by the lane; it is not a post-hoc rescue of 04.1.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hyp_mom_04_1_train_theory_quarter_summary.csv</a:t>
            </a:r>
          </a:p>
          <a:p xmlns:a="http://schemas.openxmlformats.org/drawingml/2006/main">
            <a:r>
              <a:t>- HYP-MOM-04.1 results, Feature-level interpretation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lane succeeded methodologically: it exposed a seductive pooled fit and stopped it before retrospective OOS could influence the model.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HYP_MOM_04_1_REGULARIZED_TREND_STATE_QUARTILE_RESULTS.md</a:t>
            </a:r>
          </a:p>
          <a:p xmlns:a="http://schemas.openxmlformats.org/drawingml/2006/main">
            <a:r>
              <a:t>- hyp_mom_04_1_train_gates.csv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3702cd9a1d43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b15f9c69af43c6" /><Relationship Type="http://schemas.openxmlformats.org/officeDocument/2006/relationships/slideLayout" Target="/ppt/slideLayouts/slideLayout1.xml" Id="Rdd83754f3cac41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83754f3cac41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ce298df5a48b0" /><Relationship Type="http://schemas.openxmlformats.org/officeDocument/2006/relationships/notesSlide" Target="/ppt/notesSlides/notesSlide1.xml" Id="R2b15bbe1ddd045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ac631edaf497d" /><Relationship Type="http://schemas.openxmlformats.org/officeDocument/2006/relationships/notesSlide" Target="/ppt/notesSlides/notesSlide2.xml" Id="R4bd83641afba4d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75a55b3dd40dd" /><Relationship Type="http://schemas.openxmlformats.org/officeDocument/2006/relationships/notesSlide" Target="/ppt/notesSlides/notesSlide3.xml" Id="R734f1eaaead14e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656ec926a4093" /><Relationship Type="http://schemas.openxmlformats.org/officeDocument/2006/relationships/notesSlide" Target="/ppt/notesSlides/notesSlide4.xml" Id="R5e142c972a9b40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5e8d37b2d4472" /><Relationship Type="http://schemas.openxmlformats.org/officeDocument/2006/relationships/notesSlide" Target="/ppt/notesSlides/notesSlide5.xml" Id="Re0da00acd1b049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f03feac5d4cda" /><Relationship Type="http://schemas.openxmlformats.org/officeDocument/2006/relationships/notesSlide" Target="/ppt/notesSlides/notesSlide6.xml" Id="R45edeb45d42c4b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093652bce4864" /><Relationship Type="http://schemas.openxmlformats.org/officeDocument/2006/relationships/notesSlide" Target="/ppt/notesSlides/notesSlide7.xml" Id="R886d3567534e4e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cb13c970447ff" /><Relationship Type="http://schemas.openxmlformats.org/officeDocument/2006/relationships/notesSlide" Target="/ppt/notesSlides/notesSlide8.xml" Id="Rfb8fdfcde4f74e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1be80481e4eca" /><Relationship Type="http://schemas.openxmlformats.org/officeDocument/2006/relationships/notesSlide" Target="/ppt/notesSlides/notesSlide9.xml" Id="R39cbe2601fd347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41379d1434b65" /><Relationship Type="http://schemas.openxmlformats.org/officeDocument/2006/relationships/notesSlide" Target="/ppt/notesSlides/notesSlide10.xml" Id="Ra549d6ea9c2d49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d8fddc78d46b0" /><Relationship Type="http://schemas.openxmlformats.org/officeDocument/2006/relationships/image" Target="/ppt/media/image.png" Id="Rb09090bfb3884164" /><Relationship Type="http://schemas.openxmlformats.org/officeDocument/2006/relationships/notesSlide" Target="/ppt/notesSlides/notesSlide11.xml" Id="R73efd277ae8448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b8094ddb34aaf" /><Relationship Type="http://schemas.openxmlformats.org/officeDocument/2006/relationships/image" Target="/ppt/media/image2.png" Id="Re0f618cfac5349a0" /><Relationship Type="http://schemas.openxmlformats.org/officeDocument/2006/relationships/notesSlide" Target="/ppt/notesSlides/notesSlide12.xml" Id="R074f9a7974cb49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2e133a2a84ffa" /><Relationship Type="http://schemas.openxmlformats.org/officeDocument/2006/relationships/notesSlide" Target="/ppt/notesSlides/notesSlide13.xml" Id="R14cf9002cb8242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88d0e309c43f4" /><Relationship Type="http://schemas.openxmlformats.org/officeDocument/2006/relationships/image" Target="/ppt/media/image3.png" Id="R02074961db0d4e57" /><Relationship Type="http://schemas.openxmlformats.org/officeDocument/2006/relationships/notesSlide" Target="/ppt/notesSlides/notesSlide14.xml" Id="R373f7b3e7dec480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b5886f44542d3" /><Relationship Type="http://schemas.openxmlformats.org/officeDocument/2006/relationships/notesSlide" Target="/ppt/notesSlides/notesSlide15.xml" Id="R8b6d48e5e41a47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9b34c37064f98" /><Relationship Type="http://schemas.openxmlformats.org/officeDocument/2006/relationships/notesSlide" Target="/ppt/notesSlides/notesSlide16.xml" Id="R62020e856767488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637ED47-6A0B-4B44-B0E3-2DB546AC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Can six simple features rank next quarter?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0B033605-F7FC-4AE2-87D4-79AFFA04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HYP-MOM-04.1 · Regularized Trend-State Quartile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CBEB287-1520-4775-BBE6-E50F2F6D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OPERATOR HYPOTHESIS LAB</a:t>
            </a:r>
          </a:p>
        </p:txBody>
      </p:sp>
    </p:spTree>
    <p:extLst>
      <p:ext uri="{BB962C8B-B14F-4D97-AF65-F5344CB8AC3E}">
        <p14:creationId xmlns:p14="http://schemas.microsoft.com/office/powerpoint/2010/main" val="14543527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1AFDE12-2583-47BC-A44B-68AE61A8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F98850E-7721-49F2-B974-FFE560E9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Ridge answers the prediction question more directly than PCA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2946E83D-1AD3-40F1-8304-1BFC367A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PCA asks: what varies together?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It compresses correlated features without looking at next-quarter return. A high-variance component need not be predictive, and component meaning may drift across samples.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01488031-24E6-494B-A789-1BD7D942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Ridge asks: what predicts, with restraint?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It estimates a signed linear ranking while shrinking unstable coefficients. Time-ordered validation—not pooled fit—decides whether the relationship travels forward.</a:t>
            </a:r>
          </a:p>
        </p:txBody>
      </p:sp>
    </p:spTree>
    <p:extLst>
      <p:ext uri="{BB962C8B-B14F-4D97-AF65-F5344CB8AC3E}">
        <p14:creationId xmlns:p14="http://schemas.microsoft.com/office/powerpoint/2010/main" val="8701948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9D7E226-8653-4211-B710-C120D823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0E51D1C-18DB-4515-9914-87773A02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Ridge turns six clues into one restrained score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6AF50458-FB0C-4B5E-B372-0AA6DD93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Think of it as a scoring rule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Each feature receives a weight. Add the six weighted clues to produce one stock score.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higher score means “more likely to beat peers next quarter”—not a guaranteed return.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75EC59B8-FA48-4458-B661-E61F404C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‘Ridge’ matters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Ordinary regression can chase noisy relationships. Ridge charges a penalty for large weights: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error + λ × Σ weight²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Larger λ means more restraint.</a:t>
            </a:r>
          </a:p>
        </p:txBody>
      </p:sp>
    </p:spTree>
    <p:extLst>
      <p:ext uri="{BB962C8B-B14F-4D97-AF65-F5344CB8AC3E}">
        <p14:creationId xmlns:p14="http://schemas.microsoft.com/office/powerpoint/2010/main" val="92019125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54D3255-66D6-4A8C-98C8-699D8C15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5FA72C1-6972-494D-9400-5BAD16F3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evidence layers ask progressively harder questions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F36AEC3B-C048-4552-91A7-A041A570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E096155C-85AC-4590-8B0B-D6D47593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02E53A1-4C89-4571-90AA-56F740AD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6E4560C-3B10-4C4F-B9BD-48BF6E49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Pooled TRAIN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2ADC04CF-61C0-4848-BB8F-5D05357F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Forward folds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F8CE2CCE-AACF-4A2B-B7C6-9FB37705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OOS lock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44534A2-8A5F-47C9-ADCE-8992BBC5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Fit only earlier quarters. Does its ranking work in genuinely later TRAIN quarters?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BF4969B-D3F7-4F6C-A6C3-33A8208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Can one formula describe all 15 TRAIN quarters after seeing them together?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60300E2-3A3C-414E-8BD2-9F38F9B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Only if every TRAIN gate passes may the untouched 2021–2023 period be queried.</a:t>
            </a:r>
          </a:p>
        </p:txBody>
      </p:sp>
    </p:spTree>
    <p:extLst>
      <p:ext uri="{BB962C8B-B14F-4D97-AF65-F5344CB8AC3E}">
        <p14:creationId xmlns:p14="http://schemas.microsoft.com/office/powerpoint/2010/main" val="7790588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54D3255-66D6-4A8C-98C8-699D8C15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5FA72C1-6972-494D-9400-5BAD16F3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evidence boundary was frozen before any outcome was visible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F36AEC3B-C048-4552-91A7-A041A570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E096155C-85AC-4590-8B0B-D6D47593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02E53A1-4C89-4571-90AA-56F740AD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6E4560C-3B10-4C4F-B9BD-48BF6E49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2016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2ADC04CF-61C0-4848-BB8F-5D05357F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2017–2020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F8CE2CCE-AACF-4A2B-B7C6-9FB37705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2021–2023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44534A2-8A5F-47C9-ADCE-8992BBC5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 signal quarters. Fit, validate, gate, then freeze.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BF4969B-D3F7-4F6C-A6C3-33A8208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Warm-up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Indicators only. No target or selection authority.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60300E2-3A3C-414E-8BD2-9F38F9B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OOS lock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Accessible only if every TRAIN gate passes.</a:t>
            </a:r>
          </a:p>
        </p:txBody>
      </p:sp>
    </p:spTree>
    <p:extLst>
      <p:ext uri="{BB962C8B-B14F-4D97-AF65-F5344CB8AC3E}">
        <p14:creationId xmlns:p14="http://schemas.microsoft.com/office/powerpoint/2010/main" val="77905883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F04A8CB-F2A8-4B45-BDB8-034023C7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5B2509C-704C-4AA9-9EAB-0C2399D5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4043"/>
            <a:ext cx="11277600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features capture persistent trend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BD53BBDF-7F30-43A1-B92A-F0849D33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12–1 momentum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log(C[t−21] / C[t−252])
Skips the most recent month to reduce short-run reversal contamination.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867C7B59-B2E4-4E03-8531-713D5ED5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Slow slope / ATR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(SMA200[t] − SMA200[t−20]) / ATR20[t]
Trend direction scaled to the asset's own movement.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F2BCC425-CD46-46F2-8C46-5A605BDC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Sector-relative 126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Asset six-month log return minus the same-sector cross-sectional mean.</a:t>
            </a:r>
          </a:p>
        </p:txBody>
      </p:sp>
    </p:spTree>
    <p:extLst>
      <p:ext uri="{BB962C8B-B14F-4D97-AF65-F5344CB8AC3E}">
        <p14:creationId xmlns:p14="http://schemas.microsoft.com/office/powerpoint/2010/main" val="5454119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F7F7627-E717-4460-A036-20D2F6EA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799FA577-4024-4A93-80BA-AAF5C57B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features describe extension, volatility, and trend location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18C0C28-C0A9-4C7A-8608-BB9E4124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20-session extension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log price as a z-score of its last 20 closes. Theory sign: negative.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35F3CA12-3BFA-46F2-88EB-5F669472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252-session high proximity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C[t] / max252(C)
Measures whether price is near its one-year high.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FAE9B73B-7AAA-4B64-8287-08E8E768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Volatility ratio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RV20 / RV126
Asks whether short-run volatility has expanded relative to the slower state.</a:t>
            </a:r>
          </a:p>
        </p:txBody>
      </p:sp>
    </p:spTree>
    <p:extLst>
      <p:ext uri="{BB962C8B-B14F-4D97-AF65-F5344CB8AC3E}">
        <p14:creationId xmlns:p14="http://schemas.microsoft.com/office/powerpoint/2010/main" val="4768077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9D7E226-8653-4211-B710-C120D823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0E51D1C-18DB-4515-9914-87773A02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Relative return is the target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6AF50458-FB0C-4B5E-B372-0AA6DD93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334000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Target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Next-quarter first-open to last-open return
minus
equal-weight eligible-universe return.
A positive target means the stock beat its contemporaneous cross-section.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75EC59B8-FA48-4458-B661-E61F404C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1968"/>
            <a:ext cx="5316760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Preprocessing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Within each signal quarter:
z = Φ⁻¹((rank − 0.5) / n)
TRAIN pooled center and scale are then frozen for later scoring.</a:t>
            </a:r>
          </a:p>
        </p:txBody>
      </p:sp>
    </p:spTree>
    <p:extLst>
      <p:ext uri="{BB962C8B-B14F-4D97-AF65-F5344CB8AC3E}">
        <p14:creationId xmlns:p14="http://schemas.microsoft.com/office/powerpoint/2010/main" val="9201912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137B4BF-95D1-47E0-AC6C-626979E4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E376405-9293-43D3-BA29-56243102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Seven gates stand between an attractive TRAIN fit and OOS access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FE4BD331-A16E-40D8-99AB-A29B8E1B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G5 · Ordering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Mean Q4 − Q1 &gt; 0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0DA2FCBE-A172-4A51-BC33-1D126A2D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G6 · Permutation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Observed ≥ 90th percentile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5968EE07-BE5D-4277-AC32-332A3E50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G7 · Breadth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Largest sector ≤ 35%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A464DC06-7E22-4578-A5CA-5ABF7EBD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OOS lock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seven—or no query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436C583E-8916-4C9A-8B24-035E1371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G1 · Integrity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Dates, bars, registry, target timing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18733E52-9A04-4859-B8BC-DD6903DE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G2 · Support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≥12 quarters; ≥20 assets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E932ECA6-67E6-4692-8358-C1105B49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G3 · Forward IC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&gt;0 mean; ≥60% positive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4186F682-B2DC-43F6-A234-CA3E3D86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G4 · Q4 excess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&gt;0 mean; ≥60% positive</a:t>
            </a:r>
          </a:p>
        </p:txBody>
      </p:sp>
    </p:spTree>
    <p:extLst>
      <p:ext uri="{BB962C8B-B14F-4D97-AF65-F5344CB8AC3E}">
        <p14:creationId xmlns:p14="http://schemas.microsoft.com/office/powerpoint/2010/main" val="20888805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17C06F09-B532-40B9-873C-AD563271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F76997C6-7E75-4EFF-936A-64F4F95E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C8D56EED-C6DF-4DA7-A0E7-7C5D61CC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E9E8DBE8-6D28-41F2-9BD8-37100FA5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918E5C8A-76FA-4CAC-98DA-5A7A9F69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refreshed TRAIN panel retained broad cross-sectional support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A7CC687-51E6-4229-872C-B6942E8B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eligible identities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F2E6233-6148-44B6-BC9B-AC29EE5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assets per quarter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0AB6F37B-1200-4568-B7D0-7C921DB3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asset-quarter rows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1B9BFDF-77E4-4D5B-B66D-B2DAABEC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114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7F12B4DA-8032-4549-A667-3A1D9073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1,693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C19B1259-0AB2-4856-A40D-583403F7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111–114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682C315-7A82-47BB-BF71-C98DC458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Coverage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Eight later-history identities lacked the full 2016–2020 range and were excluded without replacement. All 15 causal integrity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12613417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99AC72A-98AF-491E-954F-2743BD1A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7427B33-1EDE-40C6-ACB4-A2BD3ABC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Every ridge penalty stayed negative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4BE467DC-724A-465C-A53C-C3DCF3F7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090bfb3884164"/>
          <a:stretch xmlns:a="http://schemas.openxmlformats.org/drawingml/2006/main"/>
        </p:blipFill>
        <p:spPr>
          <a:xfrm xmlns:a="http://schemas.openxmlformats.org/drawingml/2006/main">
            <a:off x="6269069" y="1448056"/>
            <a:ext cx="5539740" cy="3498783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AAE9434C-7245-4684-82EF-C0CE7057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Selected: λ = 100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one-standard-error rule preferred the strongest shrinkage.
Mean forward rank IC still ended at −0.0176.
Regularization reduced variance; it could not create temporal stability.</a:t>
            </a:r>
          </a:p>
        </p:txBody>
      </p:sp>
    </p:spTree>
    <p:extLst>
      <p:ext uri="{BB962C8B-B14F-4D97-AF65-F5344CB8AC3E}">
        <p14:creationId xmlns:p14="http://schemas.microsoft.com/office/powerpoint/2010/main" val="6481345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932BA42-F0B8-4FC4-99CA-302C4043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AD7EF99-6D87-4274-86C6-DDD77824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Pooled fit did not travel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41117806-76B2-4297-BDE1-ED11D119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618cfac5349a0"/>
          <a:stretch xmlns:a="http://schemas.openxmlformats.org/drawingml/2006/main"/>
        </p:blipFill>
        <p:spPr>
          <a:xfrm xmlns:a="http://schemas.openxmlformats.org/drawingml/2006/main">
            <a:off x="6269069" y="1448056"/>
            <a:ext cx="5539740" cy="3498783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5689FA6A-5AF0-4DFC-AD51-0B83F770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Two views of TRAIN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Full fit: +2.98 pp mean Q4 excess.
Expanding validation: 5 / 9 positive IC quarters.
The same feature set can look ordered in pooled data while failing chronological transport.</a:t>
            </a:r>
          </a:p>
        </p:txBody>
      </p:sp>
    </p:spTree>
    <p:extLst>
      <p:ext uri="{BB962C8B-B14F-4D97-AF65-F5344CB8AC3E}">
        <p14:creationId xmlns:p14="http://schemas.microsoft.com/office/powerpoint/2010/main" val="193435843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0D19FCC8-53AA-46DF-A251-D1A745DB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DF609DA-3BCF-42FE-B33F-4D03F413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3B0FF1E8-056E-4FBF-BE6B-E556E44E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02C2768D-B243-464B-AA45-2DD1CDAE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07B6AFD2-B610-4DB0-B122-028D1249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Pooled TRAIN looked compelling—and that is why the gate mattered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61FADD2-3E90-4D86-8A1E-A534BFF4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Q4 excess / quarter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ED74C0B-E768-4F8C-A362-E41BD50F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permutation percentile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25BBE91F-921E-4AAE-8407-F5A52963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Q4 minus Q1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F7AE3187-6953-43BA-B70B-253F1B02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+2.98 pp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B3E46665-91D9-4BAE-ACAD-2A3BBA05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+3.64 pp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939D32D0-E3EF-4865-9E90-349932CC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98.8th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614FC25-81C0-4E4C-BBFA-63E84B8D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Full-sample association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After fitting all 15 TRAIN quarters, the top score quartile separated strongly. Those same rows helped estimate the coefficients, so this is descriptive fit, not forward evidence.</a:t>
            </a:r>
          </a:p>
        </p:txBody>
      </p:sp>
    </p:spTree>
    <p:extLst>
      <p:ext uri="{BB962C8B-B14F-4D97-AF65-F5344CB8AC3E}">
        <p14:creationId xmlns:p14="http://schemas.microsoft.com/office/powerpoint/2010/main" val="30249435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90E47CE-7A88-4A4A-B0FD-EA7A9438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8459ABB-C903-4143-9E3A-A3143EA6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failed gate kept OOS sealed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CC68C4C5-7574-4ABC-BF6E-D72562F3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074961db0d4e57"/>
          <a:stretch xmlns:a="http://schemas.openxmlformats.org/drawingml/2006/main"/>
        </p:blipFill>
        <p:spPr>
          <a:xfrm xmlns:a="http://schemas.openxmlformats.org/drawingml/2006/main">
            <a:off x="6269069" y="1448056"/>
            <a:ext cx="5539740" cy="3498783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C554B745-CC5E-4B39-9F8D-CF3E1C55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 / 7 passed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Integrity, support, pooled separation, permutation, and sector breadth all passed.
G3 failed: −0.0176 mean forward IC and 55.6% positive quarters.
A conjunction is not a vote.</a:t>
            </a:r>
          </a:p>
        </p:txBody>
      </p:sp>
    </p:spTree>
    <p:extLst>
      <p:ext uri="{BB962C8B-B14F-4D97-AF65-F5344CB8AC3E}">
        <p14:creationId xmlns:p14="http://schemas.microsoft.com/office/powerpoint/2010/main" val="16095201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4-p58-1">
            <a:extLst xmlns:a="http://schemas.openxmlformats.org/drawingml/2006/main">
              <a:ext uri="{FF2B5EF4-FFF2-40B4-BE49-F238E27FC236}">
                <a16:creationId xmlns:a16="http://schemas.microsoft.com/office/drawing/2014/main" id="{CCE1A990-C9A5-450B-96E1-3B793E8D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838801"/>
            <a:ext cx="5533168" cy="41555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What caught our eye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predeclared, non-learned composite averaged +0.041 rank IC across all 15 TRAIN quarters.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It was positive in 9 / 15 quarters and its top quartile beat the universe by +1.74 pp on average.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That is more stable-looking than the fitted ridge replay.</a:t>
            </a:r>
          </a:p>
        </p:txBody>
      </p:sp>
      <p:sp>
        <p:nvSpPr>
          <p:cNvPr id="2" name="Google-Shape-532-p58-3">
            <a:extLst xmlns:a="http://schemas.openxmlformats.org/drawingml/2006/main">
              <a:ext uri="{FF2B5EF4-FFF2-40B4-BE49-F238E27FC236}">
                <a16:creationId xmlns:a16="http://schemas.microsoft.com/office/drawing/2014/main" id="{4A76C4B8-F6CC-408D-AABB-9B40E65F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3" name="Google-Shape-533-p58-4">
            <a:extLst xmlns:a="http://schemas.openxmlformats.org/drawingml/2006/main">
              <a:ext uri="{FF2B5EF4-FFF2-40B4-BE49-F238E27FC236}">
                <a16:creationId xmlns:a16="http://schemas.microsoft.com/office/drawing/2014/main" id="{78E516F2-4357-424D-B869-C53D8FA1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fixed-sign composite is interesting—but it is a new question</a:t>
            </a:r>
          </a:p>
        </p:txBody>
      </p:sp>
      <p:sp>
        <p:nvSpPr>
          <p:cNvPr id="4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0CA356D5-52A2-45A4-906D-E01B8621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069" y="2192655"/>
            <a:ext cx="5537168" cy="3801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we still stop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composite was declared as a diagnostic comparator, not the nomination policy. It was not given its own expanding selection gate.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Testing it later requires a new identifier, frozen contract, and evidence-boundary decision before any 2021+ query.</a:t>
            </a:r>
          </a:p>
        </p:txBody>
      </p:sp>
    </p:spTree>
    <p:extLst>
      <p:ext uri="{BB962C8B-B14F-4D97-AF65-F5344CB8AC3E}">
        <p14:creationId xmlns:p14="http://schemas.microsoft.com/office/powerpoint/2010/main" val="6792239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3F649AA3-9160-44EC-A2EE-5A216C82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Stop before OOS.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67DBBC56-104D-44B8-8CFD-424F63BB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Pooled structure ≠ temporal transport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2021–2023 was not queried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strategy authority created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8D810BC-5A11-4227-93CC-73F62CE1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</a:t>
            </a:r>
          </a:p>
        </p:txBody>
      </p:sp>
    </p:spTree>
    <p:extLst>
      <p:ext uri="{BB962C8B-B14F-4D97-AF65-F5344CB8AC3E}">
        <p14:creationId xmlns:p14="http://schemas.microsoft.com/office/powerpoint/2010/main" val="11659516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2026-08-10T20:14:29.9830000Z</dcterms:created>
  <dcterms:modified xsi:type="dcterms:W3CDTF">2026-08-10T20:14:29.9830000Z</dcterms:modified>
</coreProperties>
</file>