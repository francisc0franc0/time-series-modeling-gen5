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Override PartName="/ppt/slides/slide121.xml" ContentType="application/vnd.openxmlformats-officedocument.presentationml.slide+xml"/>
  <Override PartName="/ppt/notesSlides/notesSlide121.xml" ContentType="application/vnd.openxmlformats-officedocument.presentationml.notesSlide+xml"/>
  <Override PartName="/ppt/slides/slide122.xml" ContentType="application/vnd.openxmlformats-officedocument.presentationml.slide+xml"/>
  <Override PartName="/ppt/notesSlides/notesSlide122.xml" ContentType="application/vnd.openxmlformats-officedocument.presentationml.notesSlide+xml"/>
  <Override PartName="/ppt/slides/slide123.xml" ContentType="application/vnd.openxmlformats-officedocument.presentationml.slide+xml"/>
  <Override PartName="/ppt/notesSlides/notesSlide12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4fa13810a7b4198" /><Relationship Type="http://schemas.openxmlformats.org/officeDocument/2006/relationships/extended-properties" Target="/docProps/app.xml" Id="Re15c40330cba4257" /><Relationship Type="http://schemas.openxmlformats.org/officeDocument/2006/relationships/officeDocument" Target="/ppt/presentation.xml" Id="R521c28926bf24d8d" /></Relationships>
</file>

<file path=ppt/presentation.xml><?xml version="1.0" encoding="utf-8"?>
<p:presentation xmlns:p="http://schemas.openxmlformats.org/presentationml/2006/main">
  <p:sldMasterIdLst>
    <p:sldMasterId xmlns:r="http://schemas.openxmlformats.org/officeDocument/2006/relationships" id="2147483648" r:id="Raeb177a1d71e4f11"/>
  </p:sldMasterIdLst>
  <p:notesMasterIdLst>
    <p:notesMasterId xmlns:r="http://schemas.openxmlformats.org/officeDocument/2006/relationships" r:id="R4b2f9df311a646dc"/>
  </p:notesMasterIdLst>
  <p:sldIdLst>
    <p:sldId xmlns:r="http://schemas.openxmlformats.org/officeDocument/2006/relationships" id="256" r:id="R188e7b966907482d"/>
    <p:sldId xmlns:r="http://schemas.openxmlformats.org/officeDocument/2006/relationships" id="257" r:id="Rf1f5115e7ec140de"/>
    <p:sldId xmlns:r="http://schemas.openxmlformats.org/officeDocument/2006/relationships" id="258" r:id="R06e4f5e42b434e73"/>
    <p:sldId xmlns:r="http://schemas.openxmlformats.org/officeDocument/2006/relationships" id="259" r:id="R72d32219decb4be7"/>
    <p:sldId xmlns:r="http://schemas.openxmlformats.org/officeDocument/2006/relationships" id="260" r:id="Ra8da1cfc6a29409b"/>
    <p:sldId xmlns:r="http://schemas.openxmlformats.org/officeDocument/2006/relationships" id="261" r:id="R736213fd6bb64dde"/>
    <p:sldId xmlns:r="http://schemas.openxmlformats.org/officeDocument/2006/relationships" id="262" r:id="Refe467fc3da841d8"/>
    <p:sldId xmlns:r="http://schemas.openxmlformats.org/officeDocument/2006/relationships" id="263" r:id="R577435e1661d4a7e"/>
    <p:sldId xmlns:r="http://schemas.openxmlformats.org/officeDocument/2006/relationships" id="264" r:id="Refbd12d993ac4238"/>
    <p:sldId xmlns:r="http://schemas.openxmlformats.org/officeDocument/2006/relationships" id="265" r:id="Rcaaf802d92bd43c1"/>
    <p:sldId xmlns:r="http://schemas.openxmlformats.org/officeDocument/2006/relationships" id="266" r:id="Rf990c98abf914f61"/>
    <p:sldId xmlns:r="http://schemas.openxmlformats.org/officeDocument/2006/relationships" id="267" r:id="R8e28deae6a1b4008"/>
    <p:sldId xmlns:r="http://schemas.openxmlformats.org/officeDocument/2006/relationships" id="268" r:id="Rfa541025e5b2439e"/>
    <p:sldId xmlns:r="http://schemas.openxmlformats.org/officeDocument/2006/relationships" id="269" r:id="R8aad8d8e63bd4681"/>
    <p:sldId xmlns:r="http://schemas.openxmlformats.org/officeDocument/2006/relationships" id="270" r:id="Re70279d2986f450a"/>
    <p:sldId xmlns:r="http://schemas.openxmlformats.org/officeDocument/2006/relationships" id="271" r:id="Ra35b670b66de42e4"/>
    <p:sldId xmlns:r="http://schemas.openxmlformats.org/officeDocument/2006/relationships" id="272" r:id="Rfe76356741954ec9"/>
    <p:sldId xmlns:r="http://schemas.openxmlformats.org/officeDocument/2006/relationships" id="273" r:id="R74ec80a056ff4c74"/>
    <p:sldId xmlns:r="http://schemas.openxmlformats.org/officeDocument/2006/relationships" id="274" r:id="Rbd236dff07e84987"/>
    <p:sldId xmlns:r="http://schemas.openxmlformats.org/officeDocument/2006/relationships" id="275" r:id="Reb6ff58a42434914"/>
    <p:sldId xmlns:r="http://schemas.openxmlformats.org/officeDocument/2006/relationships" id="276" r:id="R7002c7eae3f44362"/>
    <p:sldId xmlns:r="http://schemas.openxmlformats.org/officeDocument/2006/relationships" id="277" r:id="R6bc6ddee10da4c27"/>
    <p:sldId xmlns:r="http://schemas.openxmlformats.org/officeDocument/2006/relationships" id="278" r:id="R6a388163015c4022"/>
    <p:sldId xmlns:r="http://schemas.openxmlformats.org/officeDocument/2006/relationships" id="279" r:id="R0bd336f576a044be"/>
    <p:sldId xmlns:r="http://schemas.openxmlformats.org/officeDocument/2006/relationships" id="280" r:id="R04eab9a187d34ab3"/>
    <p:sldId xmlns:r="http://schemas.openxmlformats.org/officeDocument/2006/relationships" id="281" r:id="R4e29a14ff0d742e5"/>
    <p:sldId xmlns:r="http://schemas.openxmlformats.org/officeDocument/2006/relationships" id="282" r:id="R78b3df27b3054953"/>
    <p:sldId xmlns:r="http://schemas.openxmlformats.org/officeDocument/2006/relationships" id="283" r:id="R8f7c72fa0fa94224"/>
    <p:sldId xmlns:r="http://schemas.openxmlformats.org/officeDocument/2006/relationships" id="284" r:id="Rc9d2bf3ebe3b475c"/>
    <p:sldId xmlns:r="http://schemas.openxmlformats.org/officeDocument/2006/relationships" id="285" r:id="Rad99dec8ceb9497d"/>
    <p:sldId xmlns:r="http://schemas.openxmlformats.org/officeDocument/2006/relationships" id="286" r:id="Rfb1e786d6bad4890"/>
    <p:sldId xmlns:r="http://schemas.openxmlformats.org/officeDocument/2006/relationships" id="287" r:id="R45c5c55f660e422c"/>
    <p:sldId xmlns:r="http://schemas.openxmlformats.org/officeDocument/2006/relationships" id="288" r:id="Rc9b72a21dd8b4e5e"/>
    <p:sldId xmlns:r="http://schemas.openxmlformats.org/officeDocument/2006/relationships" id="289" r:id="Rf743d740950043ca"/>
    <p:sldId xmlns:r="http://schemas.openxmlformats.org/officeDocument/2006/relationships" id="290" r:id="R134e72ddca814575"/>
    <p:sldId xmlns:r="http://schemas.openxmlformats.org/officeDocument/2006/relationships" id="291" r:id="R778874aefeac46d9"/>
    <p:sldId xmlns:r="http://schemas.openxmlformats.org/officeDocument/2006/relationships" id="292" r:id="R484bfaa44c524203"/>
    <p:sldId xmlns:r="http://schemas.openxmlformats.org/officeDocument/2006/relationships" id="293" r:id="R9c9abe03da8d4635"/>
    <p:sldId xmlns:r="http://schemas.openxmlformats.org/officeDocument/2006/relationships" id="294" r:id="Rb39ce324c4aa4d24"/>
    <p:sldId xmlns:r="http://schemas.openxmlformats.org/officeDocument/2006/relationships" id="295" r:id="Rd7cea2dd27814fff"/>
    <p:sldId xmlns:r="http://schemas.openxmlformats.org/officeDocument/2006/relationships" id="296" r:id="R97e500a613a94e81"/>
    <p:sldId xmlns:r="http://schemas.openxmlformats.org/officeDocument/2006/relationships" id="297" r:id="R13f253c8493c4e7a"/>
    <p:sldId xmlns:r="http://schemas.openxmlformats.org/officeDocument/2006/relationships" id="298" r:id="R89cb1d0ddb2d4ec7"/>
    <p:sldId xmlns:r="http://schemas.openxmlformats.org/officeDocument/2006/relationships" id="299" r:id="Rdf74b363f4ee4c76"/>
    <p:sldId xmlns:r="http://schemas.openxmlformats.org/officeDocument/2006/relationships" id="300" r:id="R4dfd227c9ff64378"/>
    <p:sldId xmlns:r="http://schemas.openxmlformats.org/officeDocument/2006/relationships" id="301" r:id="R93c2eb20a2ab49cf"/>
    <p:sldId xmlns:r="http://schemas.openxmlformats.org/officeDocument/2006/relationships" id="302" r:id="Rf4d557e7c0ba41f3"/>
    <p:sldId xmlns:r="http://schemas.openxmlformats.org/officeDocument/2006/relationships" id="303" r:id="Re7e3f52e19c34b34"/>
    <p:sldId xmlns:r="http://schemas.openxmlformats.org/officeDocument/2006/relationships" id="304" r:id="Raf7acb19046b43eb"/>
    <p:sldId xmlns:r="http://schemas.openxmlformats.org/officeDocument/2006/relationships" id="305" r:id="R65b60a14307542a8"/>
    <p:sldId xmlns:r="http://schemas.openxmlformats.org/officeDocument/2006/relationships" id="306" r:id="Ra7e302ca2f5b4aa0"/>
    <p:sldId xmlns:r="http://schemas.openxmlformats.org/officeDocument/2006/relationships" id="307" r:id="R68eb84d67a7f40db"/>
    <p:sldId xmlns:r="http://schemas.openxmlformats.org/officeDocument/2006/relationships" id="308" r:id="R2899dc2084794f38"/>
    <p:sldId xmlns:r="http://schemas.openxmlformats.org/officeDocument/2006/relationships" id="309" r:id="R24df216da3ea4784"/>
    <p:sldId xmlns:r="http://schemas.openxmlformats.org/officeDocument/2006/relationships" id="310" r:id="R8391db2aec054a32"/>
    <p:sldId xmlns:r="http://schemas.openxmlformats.org/officeDocument/2006/relationships" id="311" r:id="Red1cc95f7e0d4fe2"/>
    <p:sldId xmlns:r="http://schemas.openxmlformats.org/officeDocument/2006/relationships" id="312" r:id="R8b7aadc880a94156"/>
    <p:sldId xmlns:r="http://schemas.openxmlformats.org/officeDocument/2006/relationships" id="313" r:id="R8b7322ea67f645ce"/>
    <p:sldId xmlns:r="http://schemas.openxmlformats.org/officeDocument/2006/relationships" id="314" r:id="Ra704802484894fda"/>
    <p:sldId xmlns:r="http://schemas.openxmlformats.org/officeDocument/2006/relationships" id="315" r:id="R3875a29fa2c24493"/>
    <p:sldId xmlns:r="http://schemas.openxmlformats.org/officeDocument/2006/relationships" id="316" r:id="Re37f6b489c85406d"/>
    <p:sldId xmlns:r="http://schemas.openxmlformats.org/officeDocument/2006/relationships" id="317" r:id="Rf755ae18afba424e"/>
    <p:sldId xmlns:r="http://schemas.openxmlformats.org/officeDocument/2006/relationships" id="318" r:id="R5c8d3c7b807d4dcf"/>
    <p:sldId xmlns:r="http://schemas.openxmlformats.org/officeDocument/2006/relationships" id="319" r:id="Rd17b610e4dbe4db0"/>
    <p:sldId xmlns:r="http://schemas.openxmlformats.org/officeDocument/2006/relationships" id="320" r:id="R187fca6905c5496b"/>
    <p:sldId xmlns:r="http://schemas.openxmlformats.org/officeDocument/2006/relationships" id="321" r:id="R5b79704ed13e4dea"/>
    <p:sldId xmlns:r="http://schemas.openxmlformats.org/officeDocument/2006/relationships" id="322" r:id="R17451e5f210848f2"/>
    <p:sldId xmlns:r="http://schemas.openxmlformats.org/officeDocument/2006/relationships" id="323" r:id="Ra7a27d609f4942b3"/>
    <p:sldId xmlns:r="http://schemas.openxmlformats.org/officeDocument/2006/relationships" id="324" r:id="R4a785f49cf4b4329"/>
    <p:sldId xmlns:r="http://schemas.openxmlformats.org/officeDocument/2006/relationships" id="325" r:id="R52b8dc2ff5c14818"/>
    <p:sldId xmlns:r="http://schemas.openxmlformats.org/officeDocument/2006/relationships" id="326" r:id="Rca622d3253424113"/>
    <p:sldId xmlns:r="http://schemas.openxmlformats.org/officeDocument/2006/relationships" id="327" r:id="R6c36f9f66fd54874"/>
    <p:sldId xmlns:r="http://schemas.openxmlformats.org/officeDocument/2006/relationships" id="328" r:id="R292042db2b4b46e5"/>
    <p:sldId xmlns:r="http://schemas.openxmlformats.org/officeDocument/2006/relationships" id="329" r:id="Rc2d7793f96e24b74"/>
    <p:sldId xmlns:r="http://schemas.openxmlformats.org/officeDocument/2006/relationships" id="330" r:id="R69120076882240dd"/>
    <p:sldId xmlns:r="http://schemas.openxmlformats.org/officeDocument/2006/relationships" id="331" r:id="Rf22a927d168749ec"/>
    <p:sldId xmlns:r="http://schemas.openxmlformats.org/officeDocument/2006/relationships" id="332" r:id="R6129ddf8c2be4b66"/>
    <p:sldId xmlns:r="http://schemas.openxmlformats.org/officeDocument/2006/relationships" id="333" r:id="R962490e7ec914411"/>
    <p:sldId xmlns:r="http://schemas.openxmlformats.org/officeDocument/2006/relationships" id="334" r:id="R02cd63414a404c5d"/>
    <p:sldId xmlns:r="http://schemas.openxmlformats.org/officeDocument/2006/relationships" id="335" r:id="R9ee33ec08e3242eb"/>
    <p:sldId xmlns:r="http://schemas.openxmlformats.org/officeDocument/2006/relationships" id="336" r:id="Rfcb26b029b5b4ff9"/>
    <p:sldId xmlns:r="http://schemas.openxmlformats.org/officeDocument/2006/relationships" id="337" r:id="Rc90349df77db473f"/>
    <p:sldId xmlns:r="http://schemas.openxmlformats.org/officeDocument/2006/relationships" id="338" r:id="R787b4762bef3462b"/>
    <p:sldId xmlns:r="http://schemas.openxmlformats.org/officeDocument/2006/relationships" id="339" r:id="Ra245c2943dcc49ad"/>
    <p:sldId xmlns:r="http://schemas.openxmlformats.org/officeDocument/2006/relationships" id="340" r:id="R5a8db11546604779"/>
    <p:sldId xmlns:r="http://schemas.openxmlformats.org/officeDocument/2006/relationships" id="341" r:id="Rbd2cea33be414484"/>
    <p:sldId xmlns:r="http://schemas.openxmlformats.org/officeDocument/2006/relationships" id="342" r:id="R1872f8aaaa2e4d84"/>
    <p:sldId xmlns:r="http://schemas.openxmlformats.org/officeDocument/2006/relationships" id="343" r:id="R04ead1e76c634d95"/>
    <p:sldId xmlns:r="http://schemas.openxmlformats.org/officeDocument/2006/relationships" id="344" r:id="R43823f05b1d749f0"/>
    <p:sldId xmlns:r="http://schemas.openxmlformats.org/officeDocument/2006/relationships" id="345" r:id="R8f8dc9c1e0a24b74"/>
    <p:sldId xmlns:r="http://schemas.openxmlformats.org/officeDocument/2006/relationships" id="346" r:id="Rfa3176f64cc14636"/>
    <p:sldId xmlns:r="http://schemas.openxmlformats.org/officeDocument/2006/relationships" id="347" r:id="R62b1a99fb8a84eda"/>
    <p:sldId xmlns:r="http://schemas.openxmlformats.org/officeDocument/2006/relationships" id="348" r:id="Racaec18742eb4c57"/>
    <p:sldId xmlns:r="http://schemas.openxmlformats.org/officeDocument/2006/relationships" id="349" r:id="R755b2da7326f4ae7"/>
    <p:sldId xmlns:r="http://schemas.openxmlformats.org/officeDocument/2006/relationships" id="350" r:id="Rbdbf885ede3a49fe"/>
    <p:sldId xmlns:r="http://schemas.openxmlformats.org/officeDocument/2006/relationships" id="351" r:id="Re6610097d05b488a"/>
    <p:sldId xmlns:r="http://schemas.openxmlformats.org/officeDocument/2006/relationships" id="352" r:id="Re08335cd70e74a7c"/>
    <p:sldId xmlns:r="http://schemas.openxmlformats.org/officeDocument/2006/relationships" id="353" r:id="R176fcd79e78c4fd0"/>
    <p:sldId xmlns:r="http://schemas.openxmlformats.org/officeDocument/2006/relationships" id="354" r:id="R1448c4bbf7ea41f6"/>
    <p:sldId xmlns:r="http://schemas.openxmlformats.org/officeDocument/2006/relationships" id="355" r:id="R60ab0aea8aca4be0"/>
    <p:sldId xmlns:r="http://schemas.openxmlformats.org/officeDocument/2006/relationships" id="356" r:id="Rddd40a3995314a11"/>
    <p:sldId xmlns:r="http://schemas.openxmlformats.org/officeDocument/2006/relationships" id="357" r:id="R38ea0548ddbc4698"/>
    <p:sldId xmlns:r="http://schemas.openxmlformats.org/officeDocument/2006/relationships" id="358" r:id="Rb24efed887af4e6d"/>
    <p:sldId xmlns:r="http://schemas.openxmlformats.org/officeDocument/2006/relationships" id="359" r:id="R8bf044488936420c"/>
    <p:sldId xmlns:r="http://schemas.openxmlformats.org/officeDocument/2006/relationships" id="360" r:id="R3a619284a0c7414e"/>
    <p:sldId xmlns:r="http://schemas.openxmlformats.org/officeDocument/2006/relationships" id="361" r:id="R85a3849a69fc4dfa"/>
    <p:sldId xmlns:r="http://schemas.openxmlformats.org/officeDocument/2006/relationships" id="362" r:id="R8081337ec6de4888"/>
    <p:sldId xmlns:r="http://schemas.openxmlformats.org/officeDocument/2006/relationships" id="363" r:id="Rd673b1a4385a47b5"/>
    <p:sldId xmlns:r="http://schemas.openxmlformats.org/officeDocument/2006/relationships" id="364" r:id="R28b168e175db4a5b"/>
    <p:sldId xmlns:r="http://schemas.openxmlformats.org/officeDocument/2006/relationships" id="365" r:id="Rcb090815b637405e"/>
    <p:sldId xmlns:r="http://schemas.openxmlformats.org/officeDocument/2006/relationships" id="366" r:id="R9203d42a88824e97"/>
    <p:sldId xmlns:r="http://schemas.openxmlformats.org/officeDocument/2006/relationships" id="367" r:id="R85366584b1054c14"/>
    <p:sldId xmlns:r="http://schemas.openxmlformats.org/officeDocument/2006/relationships" id="368" r:id="R0d40f4f3330c4fab"/>
    <p:sldId xmlns:r="http://schemas.openxmlformats.org/officeDocument/2006/relationships" id="369" r:id="Ra1c233cd22f14031"/>
    <p:sldId xmlns:r="http://schemas.openxmlformats.org/officeDocument/2006/relationships" id="370" r:id="R696dc94118a746ab"/>
    <p:sldId xmlns:r="http://schemas.openxmlformats.org/officeDocument/2006/relationships" id="371" r:id="R9c0f4b968d434652"/>
    <p:sldId xmlns:r="http://schemas.openxmlformats.org/officeDocument/2006/relationships" id="372" r:id="Rf2400349f5f84af5"/>
    <p:sldId xmlns:r="http://schemas.openxmlformats.org/officeDocument/2006/relationships" id="373" r:id="R03be37c9979941c1"/>
    <p:sldId xmlns:r="http://schemas.openxmlformats.org/officeDocument/2006/relationships" id="374" r:id="R6c144b36f1fb4e0b"/>
    <p:sldId xmlns:r="http://schemas.openxmlformats.org/officeDocument/2006/relationships" id="375" r:id="R88b7922fb2e84cc4"/>
    <p:sldId xmlns:r="http://schemas.openxmlformats.org/officeDocument/2006/relationships" id="376" r:id="R9850319ae8b34106"/>
    <p:sldId xmlns:r="http://schemas.openxmlformats.org/officeDocument/2006/relationships" id="377" r:id="R533f5ea5cd154d5c"/>
    <p:sldId xmlns:r="http://schemas.openxmlformats.org/officeDocument/2006/relationships" id="378" r:id="Rd452c0753cf341c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855d9e4fb664d70" /><Relationship Type="http://schemas.openxmlformats.org/officeDocument/2006/relationships/slideMaster" Target="/ppt/slideMasters/slideMaster1.xml" Id="Raeb177a1d71e4f11" /><Relationship Type="http://schemas.openxmlformats.org/officeDocument/2006/relationships/notesMaster" Target="/ppt/notesMasters/notesMaster1.xml" Id="R4b2f9df311a646dc" /><Relationship Type="http://schemas.openxmlformats.org/officeDocument/2006/relationships/presProps" Target="/ppt/presProps.xml" Id="R73ed78eb57f14091" /><Relationship Type="http://schemas.openxmlformats.org/officeDocument/2006/relationships/tableStyles" Target="/ppt/tableStyles.xml" Id="R7fb2c32fa179420c" /><Relationship Type="http://schemas.openxmlformats.org/officeDocument/2006/relationships/slide" Target="/ppt/slides/slide1.xml" Id="R188e7b966907482d" /><Relationship Type="http://schemas.openxmlformats.org/officeDocument/2006/relationships/slide" Target="/ppt/slides/slide2.xml" Id="Rf1f5115e7ec140de" /><Relationship Type="http://schemas.openxmlformats.org/officeDocument/2006/relationships/slide" Target="/ppt/slides/slide3.xml" Id="R06e4f5e42b434e73" /><Relationship Type="http://schemas.openxmlformats.org/officeDocument/2006/relationships/slide" Target="/ppt/slides/slide4.xml" Id="R72d32219decb4be7" /><Relationship Type="http://schemas.openxmlformats.org/officeDocument/2006/relationships/slide" Target="/ppt/slides/slide5.xml" Id="Ra8da1cfc6a29409b" /><Relationship Type="http://schemas.openxmlformats.org/officeDocument/2006/relationships/slide" Target="/ppt/slides/slide6.xml" Id="R736213fd6bb64dde" /><Relationship Type="http://schemas.openxmlformats.org/officeDocument/2006/relationships/slide" Target="/ppt/slides/slide7.xml" Id="Refe467fc3da841d8" /><Relationship Type="http://schemas.openxmlformats.org/officeDocument/2006/relationships/slide" Target="/ppt/slides/slide8.xml" Id="R577435e1661d4a7e" /><Relationship Type="http://schemas.openxmlformats.org/officeDocument/2006/relationships/slide" Target="/ppt/slides/slide9.xml" Id="Refbd12d993ac4238" /><Relationship Type="http://schemas.openxmlformats.org/officeDocument/2006/relationships/slide" Target="/ppt/slides/slide10.xml" Id="Rcaaf802d92bd43c1" /><Relationship Type="http://schemas.openxmlformats.org/officeDocument/2006/relationships/slide" Target="/ppt/slides/slide11.xml" Id="Rf990c98abf914f61" /><Relationship Type="http://schemas.openxmlformats.org/officeDocument/2006/relationships/slide" Target="/ppt/slides/slide12.xml" Id="R8e28deae6a1b4008" /><Relationship Type="http://schemas.openxmlformats.org/officeDocument/2006/relationships/slide" Target="/ppt/slides/slide13.xml" Id="Rfa541025e5b2439e" /><Relationship Type="http://schemas.openxmlformats.org/officeDocument/2006/relationships/slide" Target="/ppt/slides/slide14.xml" Id="R8aad8d8e63bd4681" /><Relationship Type="http://schemas.openxmlformats.org/officeDocument/2006/relationships/slide" Target="/ppt/slides/slide15.xml" Id="Re70279d2986f450a" /><Relationship Type="http://schemas.openxmlformats.org/officeDocument/2006/relationships/slide" Target="/ppt/slides/slide16.xml" Id="Ra35b670b66de42e4" /><Relationship Type="http://schemas.openxmlformats.org/officeDocument/2006/relationships/slide" Target="/ppt/slides/slide17.xml" Id="Rfe76356741954ec9" /><Relationship Type="http://schemas.openxmlformats.org/officeDocument/2006/relationships/slide" Target="/ppt/slides/slide18.xml" Id="R74ec80a056ff4c74" /><Relationship Type="http://schemas.openxmlformats.org/officeDocument/2006/relationships/slide" Target="/ppt/slides/slide19.xml" Id="Rbd236dff07e84987" /><Relationship Type="http://schemas.openxmlformats.org/officeDocument/2006/relationships/slide" Target="/ppt/slides/slide20.xml" Id="Reb6ff58a42434914" /><Relationship Type="http://schemas.openxmlformats.org/officeDocument/2006/relationships/slide" Target="/ppt/slides/slide21.xml" Id="R7002c7eae3f44362" /><Relationship Type="http://schemas.openxmlformats.org/officeDocument/2006/relationships/slide" Target="/ppt/slides/slide22.xml" Id="R6bc6ddee10da4c27" /><Relationship Type="http://schemas.openxmlformats.org/officeDocument/2006/relationships/slide" Target="/ppt/slides/slide23.xml" Id="R6a388163015c4022" /><Relationship Type="http://schemas.openxmlformats.org/officeDocument/2006/relationships/slide" Target="/ppt/slides/slide24.xml" Id="R0bd336f576a044be" /><Relationship Type="http://schemas.openxmlformats.org/officeDocument/2006/relationships/slide" Target="/ppt/slides/slide25.xml" Id="R04eab9a187d34ab3" /><Relationship Type="http://schemas.openxmlformats.org/officeDocument/2006/relationships/slide" Target="/ppt/slides/slide26.xml" Id="R4e29a14ff0d742e5" /><Relationship Type="http://schemas.openxmlformats.org/officeDocument/2006/relationships/slide" Target="/ppt/slides/slide27.xml" Id="R78b3df27b3054953" /><Relationship Type="http://schemas.openxmlformats.org/officeDocument/2006/relationships/slide" Target="/ppt/slides/slide28.xml" Id="R8f7c72fa0fa94224" /><Relationship Type="http://schemas.openxmlformats.org/officeDocument/2006/relationships/slide" Target="/ppt/slides/slide29.xml" Id="Rc9d2bf3ebe3b475c" /><Relationship Type="http://schemas.openxmlformats.org/officeDocument/2006/relationships/slide" Target="/ppt/slides/slide30.xml" Id="Rad99dec8ceb9497d" /><Relationship Type="http://schemas.openxmlformats.org/officeDocument/2006/relationships/slide" Target="/ppt/slides/slide31.xml" Id="Rfb1e786d6bad4890" /><Relationship Type="http://schemas.openxmlformats.org/officeDocument/2006/relationships/slide" Target="/ppt/slides/slide32.xml" Id="R45c5c55f660e422c" /><Relationship Type="http://schemas.openxmlformats.org/officeDocument/2006/relationships/slide" Target="/ppt/slides/slide33.xml" Id="Rc9b72a21dd8b4e5e" /><Relationship Type="http://schemas.openxmlformats.org/officeDocument/2006/relationships/slide" Target="/ppt/slides/slide34.xml" Id="Rf743d740950043ca" /><Relationship Type="http://schemas.openxmlformats.org/officeDocument/2006/relationships/slide" Target="/ppt/slides/slide35.xml" Id="R134e72ddca814575" /><Relationship Type="http://schemas.openxmlformats.org/officeDocument/2006/relationships/slide" Target="/ppt/slides/slide36.xml" Id="R778874aefeac46d9" /><Relationship Type="http://schemas.openxmlformats.org/officeDocument/2006/relationships/slide" Target="/ppt/slides/slide37.xml" Id="R484bfaa44c524203" /><Relationship Type="http://schemas.openxmlformats.org/officeDocument/2006/relationships/slide" Target="/ppt/slides/slide38.xml" Id="R9c9abe03da8d4635" /><Relationship Type="http://schemas.openxmlformats.org/officeDocument/2006/relationships/slide" Target="/ppt/slides/slide39.xml" Id="Rb39ce324c4aa4d24" /><Relationship Type="http://schemas.openxmlformats.org/officeDocument/2006/relationships/slide" Target="/ppt/slides/slide40.xml" Id="Rd7cea2dd27814fff" /><Relationship Type="http://schemas.openxmlformats.org/officeDocument/2006/relationships/slide" Target="/ppt/slides/slide41.xml" Id="R97e500a613a94e81" /><Relationship Type="http://schemas.openxmlformats.org/officeDocument/2006/relationships/slide" Target="/ppt/slides/slide42.xml" Id="R13f253c8493c4e7a" /><Relationship Type="http://schemas.openxmlformats.org/officeDocument/2006/relationships/slide" Target="/ppt/slides/slide43.xml" Id="R89cb1d0ddb2d4ec7" /><Relationship Type="http://schemas.openxmlformats.org/officeDocument/2006/relationships/slide" Target="/ppt/slides/slide44.xml" Id="Rdf74b363f4ee4c76" /><Relationship Type="http://schemas.openxmlformats.org/officeDocument/2006/relationships/slide" Target="/ppt/slides/slide45.xml" Id="R4dfd227c9ff64378" /><Relationship Type="http://schemas.openxmlformats.org/officeDocument/2006/relationships/slide" Target="/ppt/slides/slide46.xml" Id="R93c2eb20a2ab49cf" /><Relationship Type="http://schemas.openxmlformats.org/officeDocument/2006/relationships/slide" Target="/ppt/slides/slide47.xml" Id="Rf4d557e7c0ba41f3" /><Relationship Type="http://schemas.openxmlformats.org/officeDocument/2006/relationships/slide" Target="/ppt/slides/slide48.xml" Id="Re7e3f52e19c34b34" /><Relationship Type="http://schemas.openxmlformats.org/officeDocument/2006/relationships/slide" Target="/ppt/slides/slide49.xml" Id="Raf7acb19046b43eb" /><Relationship Type="http://schemas.openxmlformats.org/officeDocument/2006/relationships/slide" Target="/ppt/slides/slide50.xml" Id="R65b60a14307542a8" /><Relationship Type="http://schemas.openxmlformats.org/officeDocument/2006/relationships/slide" Target="/ppt/slides/slide51.xml" Id="Ra7e302ca2f5b4aa0" /><Relationship Type="http://schemas.openxmlformats.org/officeDocument/2006/relationships/slide" Target="/ppt/slides/slide52.xml" Id="R68eb84d67a7f40db" /><Relationship Type="http://schemas.openxmlformats.org/officeDocument/2006/relationships/slide" Target="/ppt/slides/slide53.xml" Id="R2899dc2084794f38" /><Relationship Type="http://schemas.openxmlformats.org/officeDocument/2006/relationships/slide" Target="/ppt/slides/slide54.xml" Id="R24df216da3ea4784" /><Relationship Type="http://schemas.openxmlformats.org/officeDocument/2006/relationships/slide" Target="/ppt/slides/slide55.xml" Id="R8391db2aec054a32" /><Relationship Type="http://schemas.openxmlformats.org/officeDocument/2006/relationships/slide" Target="/ppt/slides/slide56.xml" Id="Red1cc95f7e0d4fe2" /><Relationship Type="http://schemas.openxmlformats.org/officeDocument/2006/relationships/slide" Target="/ppt/slides/slide57.xml" Id="R8b7aadc880a94156" /><Relationship Type="http://schemas.openxmlformats.org/officeDocument/2006/relationships/slide" Target="/ppt/slides/slide58.xml" Id="R8b7322ea67f645ce" /><Relationship Type="http://schemas.openxmlformats.org/officeDocument/2006/relationships/slide" Target="/ppt/slides/slide59.xml" Id="Ra704802484894fda" /><Relationship Type="http://schemas.openxmlformats.org/officeDocument/2006/relationships/slide" Target="/ppt/slides/slide60.xml" Id="R3875a29fa2c24493" /><Relationship Type="http://schemas.openxmlformats.org/officeDocument/2006/relationships/slide" Target="/ppt/slides/slide61.xml" Id="Re37f6b489c85406d" /><Relationship Type="http://schemas.openxmlformats.org/officeDocument/2006/relationships/slide" Target="/ppt/slides/slide62.xml" Id="Rf755ae18afba424e" /><Relationship Type="http://schemas.openxmlformats.org/officeDocument/2006/relationships/slide" Target="/ppt/slides/slide63.xml" Id="R5c8d3c7b807d4dcf" /><Relationship Type="http://schemas.openxmlformats.org/officeDocument/2006/relationships/slide" Target="/ppt/slides/slide64.xml" Id="Rd17b610e4dbe4db0" /><Relationship Type="http://schemas.openxmlformats.org/officeDocument/2006/relationships/slide" Target="/ppt/slides/slide65.xml" Id="R187fca6905c5496b" /><Relationship Type="http://schemas.openxmlformats.org/officeDocument/2006/relationships/slide" Target="/ppt/slides/slide66.xml" Id="R5b79704ed13e4dea" /><Relationship Type="http://schemas.openxmlformats.org/officeDocument/2006/relationships/slide" Target="/ppt/slides/slide67.xml" Id="R17451e5f210848f2" /><Relationship Type="http://schemas.openxmlformats.org/officeDocument/2006/relationships/slide" Target="/ppt/slides/slide68.xml" Id="Ra7a27d609f4942b3" /><Relationship Type="http://schemas.openxmlformats.org/officeDocument/2006/relationships/slide" Target="/ppt/slides/slide69.xml" Id="R4a785f49cf4b4329" /><Relationship Type="http://schemas.openxmlformats.org/officeDocument/2006/relationships/slide" Target="/ppt/slides/slide70.xml" Id="R52b8dc2ff5c14818" /><Relationship Type="http://schemas.openxmlformats.org/officeDocument/2006/relationships/slide" Target="/ppt/slides/slide71.xml" Id="Rca622d3253424113" /><Relationship Type="http://schemas.openxmlformats.org/officeDocument/2006/relationships/slide" Target="/ppt/slides/slide72.xml" Id="R6c36f9f66fd54874" /><Relationship Type="http://schemas.openxmlformats.org/officeDocument/2006/relationships/slide" Target="/ppt/slides/slide73.xml" Id="R292042db2b4b46e5" /><Relationship Type="http://schemas.openxmlformats.org/officeDocument/2006/relationships/slide" Target="/ppt/slides/slide74.xml" Id="Rc2d7793f96e24b74" /><Relationship Type="http://schemas.openxmlformats.org/officeDocument/2006/relationships/slide" Target="/ppt/slides/slide75.xml" Id="R69120076882240dd" /><Relationship Type="http://schemas.openxmlformats.org/officeDocument/2006/relationships/slide" Target="/ppt/slides/slide76.xml" Id="Rf22a927d168749ec" /><Relationship Type="http://schemas.openxmlformats.org/officeDocument/2006/relationships/slide" Target="/ppt/slides/slide77.xml" Id="R6129ddf8c2be4b66" /><Relationship Type="http://schemas.openxmlformats.org/officeDocument/2006/relationships/slide" Target="/ppt/slides/slide78.xml" Id="R962490e7ec914411" /><Relationship Type="http://schemas.openxmlformats.org/officeDocument/2006/relationships/slide" Target="/ppt/slides/slide79.xml" Id="R02cd63414a404c5d" /><Relationship Type="http://schemas.openxmlformats.org/officeDocument/2006/relationships/slide" Target="/ppt/slides/slide80.xml" Id="R9ee33ec08e3242eb" /><Relationship Type="http://schemas.openxmlformats.org/officeDocument/2006/relationships/slide" Target="/ppt/slides/slide81.xml" Id="Rfcb26b029b5b4ff9" /><Relationship Type="http://schemas.openxmlformats.org/officeDocument/2006/relationships/slide" Target="/ppt/slides/slide82.xml" Id="Rc90349df77db473f" /><Relationship Type="http://schemas.openxmlformats.org/officeDocument/2006/relationships/slide" Target="/ppt/slides/slide83.xml" Id="R787b4762bef3462b" /><Relationship Type="http://schemas.openxmlformats.org/officeDocument/2006/relationships/slide" Target="/ppt/slides/slide84.xml" Id="Ra245c2943dcc49ad" /><Relationship Type="http://schemas.openxmlformats.org/officeDocument/2006/relationships/slide" Target="/ppt/slides/slide85.xml" Id="R5a8db11546604779" /><Relationship Type="http://schemas.openxmlformats.org/officeDocument/2006/relationships/slide" Target="/ppt/slides/slide86.xml" Id="Rbd2cea33be414484" /><Relationship Type="http://schemas.openxmlformats.org/officeDocument/2006/relationships/slide" Target="/ppt/slides/slide87.xml" Id="R1872f8aaaa2e4d84" /><Relationship Type="http://schemas.openxmlformats.org/officeDocument/2006/relationships/slide" Target="/ppt/slides/slide88.xml" Id="R04ead1e76c634d95" /><Relationship Type="http://schemas.openxmlformats.org/officeDocument/2006/relationships/slide" Target="/ppt/slides/slide89.xml" Id="R43823f05b1d749f0" /><Relationship Type="http://schemas.openxmlformats.org/officeDocument/2006/relationships/slide" Target="/ppt/slides/slide90.xml" Id="R8f8dc9c1e0a24b74" /><Relationship Type="http://schemas.openxmlformats.org/officeDocument/2006/relationships/slide" Target="/ppt/slides/slide91.xml" Id="Rfa3176f64cc14636" /><Relationship Type="http://schemas.openxmlformats.org/officeDocument/2006/relationships/slide" Target="/ppt/slides/slide92.xml" Id="R62b1a99fb8a84eda" /><Relationship Type="http://schemas.openxmlformats.org/officeDocument/2006/relationships/slide" Target="/ppt/slides/slide93.xml" Id="Racaec18742eb4c57" /><Relationship Type="http://schemas.openxmlformats.org/officeDocument/2006/relationships/slide" Target="/ppt/slides/slide94.xml" Id="R755b2da7326f4ae7" /><Relationship Type="http://schemas.openxmlformats.org/officeDocument/2006/relationships/slide" Target="/ppt/slides/slide95.xml" Id="Rbdbf885ede3a49fe" /><Relationship Type="http://schemas.openxmlformats.org/officeDocument/2006/relationships/slide" Target="/ppt/slides/slide96.xml" Id="Re6610097d05b488a" /><Relationship Type="http://schemas.openxmlformats.org/officeDocument/2006/relationships/slide" Target="/ppt/slides/slide97.xml" Id="Re08335cd70e74a7c" /><Relationship Type="http://schemas.openxmlformats.org/officeDocument/2006/relationships/slide" Target="/ppt/slides/slide98.xml" Id="R176fcd79e78c4fd0" /><Relationship Type="http://schemas.openxmlformats.org/officeDocument/2006/relationships/slide" Target="/ppt/slides/slide99.xml" Id="R1448c4bbf7ea41f6" /><Relationship Type="http://schemas.openxmlformats.org/officeDocument/2006/relationships/slide" Target="/ppt/slides/slide100.xml" Id="R60ab0aea8aca4be0" /><Relationship Type="http://schemas.openxmlformats.org/officeDocument/2006/relationships/slide" Target="/ppt/slides/slide101.xml" Id="Rddd40a3995314a11" /><Relationship Type="http://schemas.openxmlformats.org/officeDocument/2006/relationships/slide" Target="/ppt/slides/slide102.xml" Id="R38ea0548ddbc4698" /><Relationship Type="http://schemas.openxmlformats.org/officeDocument/2006/relationships/slide" Target="/ppt/slides/slide103.xml" Id="Rb24efed887af4e6d" /><Relationship Type="http://schemas.openxmlformats.org/officeDocument/2006/relationships/slide" Target="/ppt/slides/slide104.xml" Id="R8bf044488936420c" /><Relationship Type="http://schemas.openxmlformats.org/officeDocument/2006/relationships/slide" Target="/ppt/slides/slide105.xml" Id="R3a619284a0c7414e" /><Relationship Type="http://schemas.openxmlformats.org/officeDocument/2006/relationships/slide" Target="/ppt/slides/slide106.xml" Id="R85a3849a69fc4dfa" /><Relationship Type="http://schemas.openxmlformats.org/officeDocument/2006/relationships/slide" Target="/ppt/slides/slide107.xml" Id="R8081337ec6de4888" /><Relationship Type="http://schemas.openxmlformats.org/officeDocument/2006/relationships/slide" Target="/ppt/slides/slide108.xml" Id="Rd673b1a4385a47b5" /><Relationship Type="http://schemas.openxmlformats.org/officeDocument/2006/relationships/slide" Target="/ppt/slides/slide109.xml" Id="R28b168e175db4a5b" /><Relationship Type="http://schemas.openxmlformats.org/officeDocument/2006/relationships/slide" Target="/ppt/slides/slide110.xml" Id="Rcb090815b637405e" /><Relationship Type="http://schemas.openxmlformats.org/officeDocument/2006/relationships/slide" Target="/ppt/slides/slide111.xml" Id="R9203d42a88824e97" /><Relationship Type="http://schemas.openxmlformats.org/officeDocument/2006/relationships/slide" Target="/ppt/slides/slide112.xml" Id="R85366584b1054c14" /><Relationship Type="http://schemas.openxmlformats.org/officeDocument/2006/relationships/slide" Target="/ppt/slides/slide113.xml" Id="R0d40f4f3330c4fab" /><Relationship Type="http://schemas.openxmlformats.org/officeDocument/2006/relationships/slide" Target="/ppt/slides/slide114.xml" Id="Ra1c233cd22f14031" /><Relationship Type="http://schemas.openxmlformats.org/officeDocument/2006/relationships/slide" Target="/ppt/slides/slide115.xml" Id="R696dc94118a746ab" /><Relationship Type="http://schemas.openxmlformats.org/officeDocument/2006/relationships/slide" Target="/ppt/slides/slide116.xml" Id="R9c0f4b968d434652" /><Relationship Type="http://schemas.openxmlformats.org/officeDocument/2006/relationships/slide" Target="/ppt/slides/slide117.xml" Id="Rf2400349f5f84af5" /><Relationship Type="http://schemas.openxmlformats.org/officeDocument/2006/relationships/slide" Target="/ppt/slides/slide118.xml" Id="R03be37c9979941c1" /><Relationship Type="http://schemas.openxmlformats.org/officeDocument/2006/relationships/slide" Target="/ppt/slides/slide119.xml" Id="R6c144b36f1fb4e0b" /><Relationship Type="http://schemas.openxmlformats.org/officeDocument/2006/relationships/slide" Target="/ppt/slides/slide120.xml" Id="R88b7922fb2e84cc4" /><Relationship Type="http://schemas.openxmlformats.org/officeDocument/2006/relationships/slide" Target="/ppt/slides/slide121.xml" Id="R9850319ae8b34106" /><Relationship Type="http://schemas.openxmlformats.org/officeDocument/2006/relationships/slide" Target="/ppt/slides/slide122.xml" Id="R533f5ea5cd154d5c" /><Relationship Type="http://schemas.openxmlformats.org/officeDocument/2006/relationships/slide" Target="/ppt/slides/slide123.xml" Id="Rd452c0753cf341c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cb0649579e04bb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0e4f6f341934122" /><Relationship Type="http://schemas.openxmlformats.org/officeDocument/2006/relationships/notesMaster" Target="/ppt/notesMasters/notesMaster1.xml" Id="Redb52a30259a46e3" /></Relationships>
</file>

<file path=ppt/notesSlides/_rels/notesSlide2.xml.rels>&#65279;<?xml version="1.0" encoding="utf-8"?><Relationships xmlns="http://schemas.openxmlformats.org/package/2006/relationships"><Relationship Type="http://schemas.openxmlformats.org/officeDocument/2006/relationships/slide" Target="/ppt/slides/slide2.xml" Id="Rd635bab7b7454943" /><Relationship Type="http://schemas.openxmlformats.org/officeDocument/2006/relationships/notesMaster" Target="/ppt/notesMasters/notesMaster1.xml" Id="Rd7b0e54458044988" /></Relationships>
</file>

<file path=ppt/notesSlides/_rels/notesSlide3.xml.rels>&#65279;<?xml version="1.0" encoding="utf-8"?><Relationships xmlns="http://schemas.openxmlformats.org/package/2006/relationships"><Relationship Type="http://schemas.openxmlformats.org/officeDocument/2006/relationships/slide" Target="/ppt/slides/slide3.xml" Id="R9a274936312b4024" /><Relationship Type="http://schemas.openxmlformats.org/officeDocument/2006/relationships/notesMaster" Target="/ppt/notesMasters/notesMaster1.xml" Id="Ra0f3fbe073be40d4" /></Relationships>
</file>

<file path=ppt/notesSlides/_rels/notesSlide4.xml.rels>&#65279;<?xml version="1.0" encoding="utf-8"?><Relationships xmlns="http://schemas.openxmlformats.org/package/2006/relationships"><Relationship Type="http://schemas.openxmlformats.org/officeDocument/2006/relationships/slide" Target="/ppt/slides/slide4.xml" Id="R475cb184d8a74dc2" /><Relationship Type="http://schemas.openxmlformats.org/officeDocument/2006/relationships/notesMaster" Target="/ppt/notesMasters/notesMaster1.xml" Id="R8ce39b6f4f0b4e4d" /></Relationships>
</file>

<file path=ppt/notesSlides/_rels/notesSlide5.xml.rels>&#65279;<?xml version="1.0" encoding="utf-8"?><Relationships xmlns="http://schemas.openxmlformats.org/package/2006/relationships"><Relationship Type="http://schemas.openxmlformats.org/officeDocument/2006/relationships/slide" Target="/ppt/slides/slide5.xml" Id="Rba70b99f63594c0e" /><Relationship Type="http://schemas.openxmlformats.org/officeDocument/2006/relationships/notesMaster" Target="/ppt/notesMasters/notesMaster1.xml" Id="R85922e97be6c4652" /></Relationships>
</file>

<file path=ppt/notesSlides/_rels/notesSlide6.xml.rels>&#65279;<?xml version="1.0" encoding="utf-8"?><Relationships xmlns="http://schemas.openxmlformats.org/package/2006/relationships"><Relationship Type="http://schemas.openxmlformats.org/officeDocument/2006/relationships/slide" Target="/ppt/slides/slide6.xml" Id="Raddab204265747dd" /><Relationship Type="http://schemas.openxmlformats.org/officeDocument/2006/relationships/notesMaster" Target="/ppt/notesMasters/notesMaster1.xml" Id="R9659b2edb9c744e6" /></Relationships>
</file>

<file path=ppt/notesSlides/_rels/notesSlide7.xml.rels>&#65279;<?xml version="1.0" encoding="utf-8"?><Relationships xmlns="http://schemas.openxmlformats.org/package/2006/relationships"><Relationship Type="http://schemas.openxmlformats.org/officeDocument/2006/relationships/slide" Target="/ppt/slides/slide7.xml" Id="Rc793798e2c6341c4" /><Relationship Type="http://schemas.openxmlformats.org/officeDocument/2006/relationships/notesMaster" Target="/ppt/notesMasters/notesMaster1.xml" Id="R28c030904e1641ea" /></Relationships>
</file>

<file path=ppt/notesSlides/_rels/notesSlide8.xml.rels>&#65279;<?xml version="1.0" encoding="utf-8"?><Relationships xmlns="http://schemas.openxmlformats.org/package/2006/relationships"><Relationship Type="http://schemas.openxmlformats.org/officeDocument/2006/relationships/slide" Target="/ppt/slides/slide8.xml" Id="Rb42358c7a1e74c53" /><Relationship Type="http://schemas.openxmlformats.org/officeDocument/2006/relationships/notesMaster" Target="/ppt/notesMasters/notesMaster1.xml" Id="Rd9af88f52ca34c8b" /></Relationships>
</file>

<file path=ppt/notesSlides/_rels/notesSlide9.xml.rels>&#65279;<?xml version="1.0" encoding="utf-8"?><Relationships xmlns="http://schemas.openxmlformats.org/package/2006/relationships"><Relationship Type="http://schemas.openxmlformats.org/officeDocument/2006/relationships/slide" Target="/ppt/slides/slide9.xml" Id="R29bd09798e924c48" /><Relationship Type="http://schemas.openxmlformats.org/officeDocument/2006/relationships/notesMaster" Target="/ppt/notesMasters/notesMaster1.xml" Id="R46d5da37d1434d6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72d9d6e938147d9" /><Relationship Type="http://schemas.openxmlformats.org/officeDocument/2006/relationships/notesMaster" Target="/ppt/notesMasters/notesMaster1.xml" Id="Rdcc570f21aef47b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b43afe2382c4575" /><Relationship Type="http://schemas.openxmlformats.org/officeDocument/2006/relationships/notesMaster" Target="/ppt/notesMasters/notesMaster1.xml" Id="Ref82a3f6814a49c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576067961564228" /><Relationship Type="http://schemas.openxmlformats.org/officeDocument/2006/relationships/notesMaster" Target="/ppt/notesMasters/notesMaster1.xml" Id="R685b04a609be43a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c145d88f00b441d" /><Relationship Type="http://schemas.openxmlformats.org/officeDocument/2006/relationships/notesMaster" Target="/ppt/notesMasters/notesMaster1.xml" Id="Rbaaa0ee8ae64425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c6d68b9e35e403c" /><Relationship Type="http://schemas.openxmlformats.org/officeDocument/2006/relationships/notesMaster" Target="/ppt/notesMasters/notesMaster1.xml" Id="R44b43227a8024e0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0982390740848df" /><Relationship Type="http://schemas.openxmlformats.org/officeDocument/2006/relationships/notesMaster" Target="/ppt/notesMasters/notesMaster1.xml" Id="Rded5a246a3b4437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50cf665a3854c84" /><Relationship Type="http://schemas.openxmlformats.org/officeDocument/2006/relationships/notesMaster" Target="/ppt/notesMasters/notesMaster1.xml" Id="R6c6d31be639c4a9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378297971c142b7" /><Relationship Type="http://schemas.openxmlformats.org/officeDocument/2006/relationships/notesMaster" Target="/ppt/notesMasters/notesMaster1.xml" Id="R2ee2c12b4e48468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e60013f64764197" /><Relationship Type="http://schemas.openxmlformats.org/officeDocument/2006/relationships/notesMaster" Target="/ppt/notesMasters/notesMaster1.xml" Id="R2e1dc1c9b3b846c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13a8395cac14395" /><Relationship Type="http://schemas.openxmlformats.org/officeDocument/2006/relationships/notesMaster" Target="/ppt/notesMasters/notesMaster1.xml" Id="R0a6e530479ed4a3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9da37af7ab54a01" /><Relationship Type="http://schemas.openxmlformats.org/officeDocument/2006/relationships/notesMaster" Target="/ppt/notesMasters/notesMaster1.xml" Id="Rb794fc9f2e6f4ef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1041f05d0004c2a" /><Relationship Type="http://schemas.openxmlformats.org/officeDocument/2006/relationships/notesMaster" Target="/ppt/notesMasters/notesMaster1.xml" Id="R0e3b42beab2f458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108573e5b3546d7" /><Relationship Type="http://schemas.openxmlformats.org/officeDocument/2006/relationships/notesMaster" Target="/ppt/notesMasters/notesMaster1.xml" Id="R4a978eaf866748c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b3f045468e840ed" /><Relationship Type="http://schemas.openxmlformats.org/officeDocument/2006/relationships/notesMaster" Target="/ppt/notesMasters/notesMaster1.xml" Id="R8d875d00a887479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4c27a2aa2024bc7" /><Relationship Type="http://schemas.openxmlformats.org/officeDocument/2006/relationships/notesMaster" Target="/ppt/notesMasters/notesMaster1.xml" Id="Rfa3010989abe4e6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a15ea494b4f4a17" /><Relationship Type="http://schemas.openxmlformats.org/officeDocument/2006/relationships/notesMaster" Target="/ppt/notesMasters/notesMaster1.xml" Id="Rebc0e55deead415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104423953774497" /><Relationship Type="http://schemas.openxmlformats.org/officeDocument/2006/relationships/notesMaster" Target="/ppt/notesMasters/notesMaster1.xml" Id="Rf2fa91a6c590429f"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2b2f69403df4ce9" /><Relationship Type="http://schemas.openxmlformats.org/officeDocument/2006/relationships/notesMaster" Target="/ppt/notesMasters/notesMaster1.xml" Id="Rb5d3a5a24aae4f4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a08609701ae438a" /><Relationship Type="http://schemas.openxmlformats.org/officeDocument/2006/relationships/notesMaster" Target="/ppt/notesMasters/notesMaster1.xml" Id="Re5a3e17c4a5543f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48ba605a49d4890" /><Relationship Type="http://schemas.openxmlformats.org/officeDocument/2006/relationships/notesMaster" Target="/ppt/notesMasters/notesMaster1.xml" Id="R4cf47d2b573c48b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21ed36fb0dd74d9d" /><Relationship Type="http://schemas.openxmlformats.org/officeDocument/2006/relationships/notesMaster" Target="/ppt/notesMasters/notesMaster1.xml" Id="R7888d3d2ea5e4a8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043d96e7bafb4994" /><Relationship Type="http://schemas.openxmlformats.org/officeDocument/2006/relationships/notesMaster" Target="/ppt/notesMasters/notesMaster1.xml" Id="R4e73aeb2b75c46b8"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ce99778c78e4700" /><Relationship Type="http://schemas.openxmlformats.org/officeDocument/2006/relationships/notesMaster" Target="/ppt/notesMasters/notesMaster1.xml" Id="Rd8117fa2b09b4f22"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c9e8726900e743fc" /><Relationship Type="http://schemas.openxmlformats.org/officeDocument/2006/relationships/notesMaster" Target="/ppt/notesMasters/notesMaster1.xml" Id="R75340b378fdf4ea7"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f5886a816f8c4c56" /><Relationship Type="http://schemas.openxmlformats.org/officeDocument/2006/relationships/notesMaster" Target="/ppt/notesMasters/notesMaster1.xml" Id="R9199381ec39f4299"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552fedc3c2114aec" /><Relationship Type="http://schemas.openxmlformats.org/officeDocument/2006/relationships/notesMaster" Target="/ppt/notesMasters/notesMaster1.xml" Id="R770f685748a748a2"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f1ae7031d3004f0f" /><Relationship Type="http://schemas.openxmlformats.org/officeDocument/2006/relationships/notesMaster" Target="/ppt/notesMasters/notesMaster1.xml" Id="Rc0d0e0a14b514845"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ecc53723090947fe" /><Relationship Type="http://schemas.openxmlformats.org/officeDocument/2006/relationships/notesMaster" Target="/ppt/notesMasters/notesMaster1.xml" Id="Rfcbcddb750654e07"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9cb39913fd4c40f0" /><Relationship Type="http://schemas.openxmlformats.org/officeDocument/2006/relationships/notesMaster" Target="/ppt/notesMasters/notesMaster1.xml" Id="Ra0f173a1918648dd"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e32886438c1448cf" /><Relationship Type="http://schemas.openxmlformats.org/officeDocument/2006/relationships/notesMaster" Target="/ppt/notesMasters/notesMaster1.xml" Id="Rd6531a846e4e4833"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0d5cb3cc855a4742" /><Relationship Type="http://schemas.openxmlformats.org/officeDocument/2006/relationships/notesMaster" Target="/ppt/notesMasters/notesMaster1.xml" Id="Rac09489f6e594645"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061faa1f3ba640e1" /><Relationship Type="http://schemas.openxmlformats.org/officeDocument/2006/relationships/notesMaster" Target="/ppt/notesMasters/notesMaster1.xml" Id="R9b5ab7cfca89406f"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9d2fe8b46e0d4d72" /><Relationship Type="http://schemas.openxmlformats.org/officeDocument/2006/relationships/notesMaster" Target="/ppt/notesMasters/notesMaster1.xml" Id="R2363182e9bdd4317"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4571c10b14464b83" /><Relationship Type="http://schemas.openxmlformats.org/officeDocument/2006/relationships/notesMaster" Target="/ppt/notesMasters/notesMaster1.xml" Id="R4999476ba499430d"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e04b53c652a74564" /><Relationship Type="http://schemas.openxmlformats.org/officeDocument/2006/relationships/notesMaster" Target="/ppt/notesMasters/notesMaster1.xml" Id="R4ebd2e0b4c334e44"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1ded41dbc3ac4b15" /><Relationship Type="http://schemas.openxmlformats.org/officeDocument/2006/relationships/notesMaster" Target="/ppt/notesMasters/notesMaster1.xml" Id="R3321d2fb15d54332"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e3ab62e4cc964d92" /><Relationship Type="http://schemas.openxmlformats.org/officeDocument/2006/relationships/notesMaster" Target="/ppt/notesMasters/notesMaster1.xml" Id="R3ae335d884634981"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afaac8df346c4c91" /><Relationship Type="http://schemas.openxmlformats.org/officeDocument/2006/relationships/notesMaster" Target="/ppt/notesMasters/notesMaster1.xml" Id="Re34c5f59cdf24d11"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e3d847e815424ecd" /><Relationship Type="http://schemas.openxmlformats.org/officeDocument/2006/relationships/notesMaster" Target="/ppt/notesMasters/notesMaster1.xml" Id="Rb3508a3ad0294308"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3d53f3c167b54fdb" /><Relationship Type="http://schemas.openxmlformats.org/officeDocument/2006/relationships/notesMaster" Target="/ppt/notesMasters/notesMaster1.xml" Id="R1d1f661640644139"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fc65082f435843f5" /><Relationship Type="http://schemas.openxmlformats.org/officeDocument/2006/relationships/notesMaster" Target="/ppt/notesMasters/notesMaster1.xml" Id="Rded825883bd24aa6"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a760ac0013824e74" /><Relationship Type="http://schemas.openxmlformats.org/officeDocument/2006/relationships/notesMaster" Target="/ppt/notesMasters/notesMaster1.xml" Id="Re091d19a6dd5435a"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9944f60c6bc04cc5" /><Relationship Type="http://schemas.openxmlformats.org/officeDocument/2006/relationships/notesMaster" Target="/ppt/notesMasters/notesMaster1.xml" Id="R2b2ac951289848d8"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3dfb7bebf3834c7c" /><Relationship Type="http://schemas.openxmlformats.org/officeDocument/2006/relationships/notesMaster" Target="/ppt/notesMasters/notesMaster1.xml" Id="R6fa9a340aaeb4107"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a03bd9b39a03493d" /><Relationship Type="http://schemas.openxmlformats.org/officeDocument/2006/relationships/notesMaster" Target="/ppt/notesMasters/notesMaster1.xml" Id="R694e6ffa00d94f6b"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5ab2391745ed45e6" /><Relationship Type="http://schemas.openxmlformats.org/officeDocument/2006/relationships/notesMaster" Target="/ppt/notesMasters/notesMaster1.xml" Id="R1705dc453e4e4dbd"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d52d2c1bbcac4547" /><Relationship Type="http://schemas.openxmlformats.org/officeDocument/2006/relationships/notesMaster" Target="/ppt/notesMasters/notesMaster1.xml" Id="Re054db568b4f4f66"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8d33d12a1c974c76" /><Relationship Type="http://schemas.openxmlformats.org/officeDocument/2006/relationships/notesMaster" Target="/ppt/notesMasters/notesMaster1.xml" Id="R5c807ee98d854830"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ab8b4d7260b94625" /><Relationship Type="http://schemas.openxmlformats.org/officeDocument/2006/relationships/notesMaster" Target="/ppt/notesMasters/notesMaster1.xml" Id="Rc24d068c1bfd42e2"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a53b4347873d4698" /><Relationship Type="http://schemas.openxmlformats.org/officeDocument/2006/relationships/notesMaster" Target="/ppt/notesMasters/notesMaster1.xml" Id="Rf3feeef18b804886"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e161bdad944c4d0a" /><Relationship Type="http://schemas.openxmlformats.org/officeDocument/2006/relationships/notesMaster" Target="/ppt/notesMasters/notesMaster1.xml" Id="R793e4be7253a40f8"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8b1624b1d0c142e9" /><Relationship Type="http://schemas.openxmlformats.org/officeDocument/2006/relationships/notesMaster" Target="/ppt/notesMasters/notesMaster1.xml" Id="Rbe4c287a642c4a9b"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c47fff76f34a4dab" /><Relationship Type="http://schemas.openxmlformats.org/officeDocument/2006/relationships/notesMaster" Target="/ppt/notesMasters/notesMaster1.xml" Id="Ra4fe66df01e24abe"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31fcb52507b640d8" /><Relationship Type="http://schemas.openxmlformats.org/officeDocument/2006/relationships/notesMaster" Target="/ppt/notesMasters/notesMaster1.xml" Id="Rda92d3d7ade34497"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ae8b290fc2834536" /><Relationship Type="http://schemas.openxmlformats.org/officeDocument/2006/relationships/notesMaster" Target="/ppt/notesMasters/notesMaster1.xml" Id="Rdd3667068c664bd7"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6b9d6e0a085c40b9" /><Relationship Type="http://schemas.openxmlformats.org/officeDocument/2006/relationships/notesMaster" Target="/ppt/notesMasters/notesMaster1.xml" Id="Rcc92f3c97cde4d64"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2806b35bd6b146f7" /><Relationship Type="http://schemas.openxmlformats.org/officeDocument/2006/relationships/notesMaster" Target="/ppt/notesMasters/notesMaster1.xml" Id="R462c02ef5c264131"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985e2169f0994691" /><Relationship Type="http://schemas.openxmlformats.org/officeDocument/2006/relationships/notesMaster" Target="/ppt/notesMasters/notesMaster1.xml" Id="Rdeb027c973bc47b7"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5012438d90874958" /><Relationship Type="http://schemas.openxmlformats.org/officeDocument/2006/relationships/notesMaster" Target="/ppt/notesMasters/notesMaster1.xml" Id="Rb4283b151b2a4c11"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cfd859a838364a6a" /><Relationship Type="http://schemas.openxmlformats.org/officeDocument/2006/relationships/notesMaster" Target="/ppt/notesMasters/notesMaster1.xml" Id="R7e7bfbdb62954e71"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c1c9c75c35384214" /><Relationship Type="http://schemas.openxmlformats.org/officeDocument/2006/relationships/notesMaster" Target="/ppt/notesMasters/notesMaster1.xml" Id="R18d76c7a55574ae4"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2789e3f3033d4222" /><Relationship Type="http://schemas.openxmlformats.org/officeDocument/2006/relationships/notesMaster" Target="/ppt/notesMasters/notesMaster1.xml" Id="R2fca738b08674d0f"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02ffdb836fc84527" /><Relationship Type="http://schemas.openxmlformats.org/officeDocument/2006/relationships/notesMaster" Target="/ppt/notesMasters/notesMaster1.xml" Id="Ra32bc5ed1ba64740"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47535623db2e45fd" /><Relationship Type="http://schemas.openxmlformats.org/officeDocument/2006/relationships/notesMaster" Target="/ppt/notesMasters/notesMaster1.xml" Id="Ra8ed5aeb22b04f03"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f4cea71e929e47b8" /><Relationship Type="http://schemas.openxmlformats.org/officeDocument/2006/relationships/notesMaster" Target="/ppt/notesMasters/notesMaster1.xml" Id="R215a114d4c4a4b30"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e717ca4302b24959" /><Relationship Type="http://schemas.openxmlformats.org/officeDocument/2006/relationships/notesMaster" Target="/ppt/notesMasters/notesMaster1.xml" Id="R19423524b42341a8"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40256186ff1045cc" /><Relationship Type="http://schemas.openxmlformats.org/officeDocument/2006/relationships/notesMaster" Target="/ppt/notesMasters/notesMaster1.xml" Id="R8b17ee8cd7b2488b"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2426dbd02dc94a42" /><Relationship Type="http://schemas.openxmlformats.org/officeDocument/2006/relationships/notesMaster" Target="/ppt/notesMasters/notesMaster1.xml" Id="R25ec296daf0441f6"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c2f63f4a6efe4f14" /><Relationship Type="http://schemas.openxmlformats.org/officeDocument/2006/relationships/notesMaster" Target="/ppt/notesMasters/notesMaster1.xml" Id="R6dcc4c8742004a48"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3dd365da3d99411c" /><Relationship Type="http://schemas.openxmlformats.org/officeDocument/2006/relationships/notesMaster" Target="/ppt/notesMasters/notesMaster1.xml" Id="R9f20a0a3d9b34391"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b2d5ce90e37e482b" /><Relationship Type="http://schemas.openxmlformats.org/officeDocument/2006/relationships/notesMaster" Target="/ppt/notesMasters/notesMaster1.xml" Id="R7e707bcdb6a64ed4"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e8b512a33da34f4d" /><Relationship Type="http://schemas.openxmlformats.org/officeDocument/2006/relationships/notesMaster" Target="/ppt/notesMasters/notesMaster1.xml" Id="R5fddd4ddf6f44c6c"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be647edcd5324848" /><Relationship Type="http://schemas.openxmlformats.org/officeDocument/2006/relationships/notesMaster" Target="/ppt/notesMasters/notesMaster1.xml" Id="Rdea4907e58e440bb"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83fedc6bdcfa444c" /><Relationship Type="http://schemas.openxmlformats.org/officeDocument/2006/relationships/notesMaster" Target="/ppt/notesMasters/notesMaster1.xml" Id="R0bd1e5e0327f4696"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35d92b48a6634c3e" /><Relationship Type="http://schemas.openxmlformats.org/officeDocument/2006/relationships/notesMaster" Target="/ppt/notesMasters/notesMaster1.xml" Id="R4df08f8fb2204658"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c307d363363a43f4" /><Relationship Type="http://schemas.openxmlformats.org/officeDocument/2006/relationships/notesMaster" Target="/ppt/notesMasters/notesMaster1.xml" Id="R67dee3d00d1843ce"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16fe64ee0f024846" /><Relationship Type="http://schemas.openxmlformats.org/officeDocument/2006/relationships/notesMaster" Target="/ppt/notesMasters/notesMaster1.xml" Id="R6387ce815a0d4d6d"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3adc8eb74cf0419d" /><Relationship Type="http://schemas.openxmlformats.org/officeDocument/2006/relationships/notesMaster" Target="/ppt/notesMasters/notesMaster1.xml" Id="Ra63d349d9b514dcb"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f567e8651a1b49d6" /><Relationship Type="http://schemas.openxmlformats.org/officeDocument/2006/relationships/notesMaster" Target="/ppt/notesMasters/notesMaster1.xml" Id="Rfa9e6e1f3edf4d5f"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20e9d53f9c91463f" /><Relationship Type="http://schemas.openxmlformats.org/officeDocument/2006/relationships/notesMaster" Target="/ppt/notesMasters/notesMaster1.xml" Id="R238a81e8bc0b4214"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8e3a771f15ad4f53" /><Relationship Type="http://schemas.openxmlformats.org/officeDocument/2006/relationships/notesMaster" Target="/ppt/notesMasters/notesMaster1.xml" Id="Rd1696dd9e4b446e6"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bab638ff5389430a" /><Relationship Type="http://schemas.openxmlformats.org/officeDocument/2006/relationships/notesMaster" Target="/ppt/notesMasters/notesMaster1.xml" Id="R0682e469702c40c2"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12b35ad0bfef4fb3" /><Relationship Type="http://schemas.openxmlformats.org/officeDocument/2006/relationships/notesMaster" Target="/ppt/notesMasters/notesMaster1.xml" Id="R49423ed54bcc406f"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dbe2120d6f6b4b80" /><Relationship Type="http://schemas.openxmlformats.org/officeDocument/2006/relationships/notesMaster" Target="/ppt/notesMasters/notesMaster1.xml" Id="Rb39b8a8bf321460f"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a6127c644dc34b56" /><Relationship Type="http://schemas.openxmlformats.org/officeDocument/2006/relationships/notesMaster" Target="/ppt/notesMasters/notesMaster1.xml" Id="R6c3d40a7dc144748"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31732d94f4a645dc" /><Relationship Type="http://schemas.openxmlformats.org/officeDocument/2006/relationships/notesMaster" Target="/ppt/notesMasters/notesMaster1.xml" Id="Rbda8759ec70c4944"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a94306f534014f70" /><Relationship Type="http://schemas.openxmlformats.org/officeDocument/2006/relationships/notesMaster" Target="/ppt/notesMasters/notesMaster1.xml" Id="Rfa3ed4e9964d45fb"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8b98e2c8dc184e57" /><Relationship Type="http://schemas.openxmlformats.org/officeDocument/2006/relationships/notesMaster" Target="/ppt/notesMasters/notesMaster1.xml" Id="Rdabdc08d60e84bae"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8d8a87c0e6c24778" /><Relationship Type="http://schemas.openxmlformats.org/officeDocument/2006/relationships/notesMaster" Target="/ppt/notesMasters/notesMaster1.xml" Id="Rd213a81462e04d2a"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b10b350cda48416d" /><Relationship Type="http://schemas.openxmlformats.org/officeDocument/2006/relationships/notesMaster" Target="/ppt/notesMasters/notesMaster1.xml" Id="R1eed24d5a36347d2"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b004c1a9e3ca480c" /><Relationship Type="http://schemas.openxmlformats.org/officeDocument/2006/relationships/notesMaster" Target="/ppt/notesMasters/notesMaster1.xml" Id="Re300d7f80283477c"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d35a5143c0764bfb" /><Relationship Type="http://schemas.openxmlformats.org/officeDocument/2006/relationships/notesMaster" Target="/ppt/notesMasters/notesMaster1.xml" Id="Rda46ebea307d40fc"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abb83b303d394de0" /><Relationship Type="http://schemas.openxmlformats.org/officeDocument/2006/relationships/notesMaster" Target="/ppt/notesMasters/notesMaster1.xml" Id="R9008234556f24725"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8cd44f186931487e" /><Relationship Type="http://schemas.openxmlformats.org/officeDocument/2006/relationships/notesMaster" Target="/ppt/notesMasters/notesMaster1.xml" Id="R59671e46fe83421e"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70b3ed4ebb4b472c" /><Relationship Type="http://schemas.openxmlformats.org/officeDocument/2006/relationships/notesMaster" Target="/ppt/notesMasters/notesMaster1.xml" Id="Rbe86c6dc6e034b1e"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93c9a6a4fdec4c28" /><Relationship Type="http://schemas.openxmlformats.org/officeDocument/2006/relationships/notesMaster" Target="/ppt/notesMasters/notesMaster1.xml" Id="Ra71cc7b364e746f3"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ec6caaac0cd84271" /><Relationship Type="http://schemas.openxmlformats.org/officeDocument/2006/relationships/notesMaster" Target="/ppt/notesMasters/notesMaster1.xml" Id="R5919aa3876644e06"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fa88aca3d51b48f6" /><Relationship Type="http://schemas.openxmlformats.org/officeDocument/2006/relationships/notesMaster" Target="/ppt/notesMasters/notesMaster1.xml" Id="Rd43955b5cbcc43be" /></Relationships>
</file>

<file path=ppt/notesSlides/_rels/notesSlide108.xml.rels>&#65279;<?xml version="1.0" encoding="utf-8"?><Relationships xmlns="http://schemas.openxmlformats.org/package/2006/relationships"><Relationship Type="http://schemas.openxmlformats.org/officeDocument/2006/relationships/slide" Target="/ppt/slides/slide108.xml" Id="R98601ae4425e4c26" /><Relationship Type="http://schemas.openxmlformats.org/officeDocument/2006/relationships/notesMaster" Target="/ppt/notesMasters/notesMaster1.xml" Id="Rdc37999c82f44bcb" /></Relationships>
</file>

<file path=ppt/notesSlides/_rels/notesSlide109.xml.rels>&#65279;<?xml version="1.0" encoding="utf-8"?><Relationships xmlns="http://schemas.openxmlformats.org/package/2006/relationships"><Relationship Type="http://schemas.openxmlformats.org/officeDocument/2006/relationships/slide" Target="/ppt/slides/slide109.xml" Id="R6d7e57702f444354" /><Relationship Type="http://schemas.openxmlformats.org/officeDocument/2006/relationships/notesMaster" Target="/ppt/notesMasters/notesMaster1.xml" Id="Rf6b6b449e7cb4770" /></Relationships>
</file>

<file path=ppt/notesSlides/_rels/notesSlide110.xml.rels>&#65279;<?xml version="1.0" encoding="utf-8"?><Relationships xmlns="http://schemas.openxmlformats.org/package/2006/relationships"><Relationship Type="http://schemas.openxmlformats.org/officeDocument/2006/relationships/slide" Target="/ppt/slides/slide110.xml" Id="R7af77269c7914bb9" /><Relationship Type="http://schemas.openxmlformats.org/officeDocument/2006/relationships/notesMaster" Target="/ppt/notesMasters/notesMaster1.xml" Id="R108123b7968145cc" /></Relationships>
</file>

<file path=ppt/notesSlides/_rels/notesSlide111.xml.rels>&#65279;<?xml version="1.0" encoding="utf-8"?><Relationships xmlns="http://schemas.openxmlformats.org/package/2006/relationships"><Relationship Type="http://schemas.openxmlformats.org/officeDocument/2006/relationships/slide" Target="/ppt/slides/slide111.xml" Id="R7f7f1973147f4d47" /><Relationship Type="http://schemas.openxmlformats.org/officeDocument/2006/relationships/notesMaster" Target="/ppt/notesMasters/notesMaster1.xml" Id="Rf26bbce3ff6e4512" /></Relationships>
</file>

<file path=ppt/notesSlides/_rels/notesSlide112.xml.rels>&#65279;<?xml version="1.0" encoding="utf-8"?><Relationships xmlns="http://schemas.openxmlformats.org/package/2006/relationships"><Relationship Type="http://schemas.openxmlformats.org/officeDocument/2006/relationships/slide" Target="/ppt/slides/slide112.xml" Id="R9df8826ce43548d3" /><Relationship Type="http://schemas.openxmlformats.org/officeDocument/2006/relationships/notesMaster" Target="/ppt/notesMasters/notesMaster1.xml" Id="R132ac66224db4988" /></Relationships>
</file>

<file path=ppt/notesSlides/_rels/notesSlide113.xml.rels>&#65279;<?xml version="1.0" encoding="utf-8"?><Relationships xmlns="http://schemas.openxmlformats.org/package/2006/relationships"><Relationship Type="http://schemas.openxmlformats.org/officeDocument/2006/relationships/slide" Target="/ppt/slides/slide113.xml" Id="R09895b27e9de4e82" /><Relationship Type="http://schemas.openxmlformats.org/officeDocument/2006/relationships/notesMaster" Target="/ppt/notesMasters/notesMaster1.xml" Id="Rf90196c55bd24a26" /></Relationships>
</file>

<file path=ppt/notesSlides/_rels/notesSlide114.xml.rels>&#65279;<?xml version="1.0" encoding="utf-8"?><Relationships xmlns="http://schemas.openxmlformats.org/package/2006/relationships"><Relationship Type="http://schemas.openxmlformats.org/officeDocument/2006/relationships/slide" Target="/ppt/slides/slide114.xml" Id="R98a88fe6ba07417c" /><Relationship Type="http://schemas.openxmlformats.org/officeDocument/2006/relationships/notesMaster" Target="/ppt/notesMasters/notesMaster1.xml" Id="R11c4c9c843c748fc" /></Relationships>
</file>

<file path=ppt/notesSlides/_rels/notesSlide115.xml.rels>&#65279;<?xml version="1.0" encoding="utf-8"?><Relationships xmlns="http://schemas.openxmlformats.org/package/2006/relationships"><Relationship Type="http://schemas.openxmlformats.org/officeDocument/2006/relationships/slide" Target="/ppt/slides/slide115.xml" Id="R7858211e0a644daa" /><Relationship Type="http://schemas.openxmlformats.org/officeDocument/2006/relationships/notesMaster" Target="/ppt/notesMasters/notesMaster1.xml" Id="R8f5ccddf390e4510" /></Relationships>
</file>

<file path=ppt/notesSlides/_rels/notesSlide116.xml.rels>&#65279;<?xml version="1.0" encoding="utf-8"?><Relationships xmlns="http://schemas.openxmlformats.org/package/2006/relationships"><Relationship Type="http://schemas.openxmlformats.org/officeDocument/2006/relationships/slide" Target="/ppt/slides/slide116.xml" Id="Rc11a021c8db24143" /><Relationship Type="http://schemas.openxmlformats.org/officeDocument/2006/relationships/notesMaster" Target="/ppt/notesMasters/notesMaster1.xml" Id="R716f01d973374407" /></Relationships>
</file>

<file path=ppt/notesSlides/_rels/notesSlide117.xml.rels>&#65279;<?xml version="1.0" encoding="utf-8"?><Relationships xmlns="http://schemas.openxmlformats.org/package/2006/relationships"><Relationship Type="http://schemas.openxmlformats.org/officeDocument/2006/relationships/slide" Target="/ppt/slides/slide117.xml" Id="R98ec0a7dd9794570" /><Relationship Type="http://schemas.openxmlformats.org/officeDocument/2006/relationships/notesMaster" Target="/ppt/notesMasters/notesMaster1.xml" Id="Rf8ebe35f13c54103" /></Relationships>
</file>

<file path=ppt/notesSlides/_rels/notesSlide118.xml.rels>&#65279;<?xml version="1.0" encoding="utf-8"?><Relationships xmlns="http://schemas.openxmlformats.org/package/2006/relationships"><Relationship Type="http://schemas.openxmlformats.org/officeDocument/2006/relationships/slide" Target="/ppt/slides/slide118.xml" Id="R80067f3b00dc41c6" /><Relationship Type="http://schemas.openxmlformats.org/officeDocument/2006/relationships/notesMaster" Target="/ppt/notesMasters/notesMaster1.xml" Id="R7fc90adff0f44e47" /></Relationships>
</file>

<file path=ppt/notesSlides/_rels/notesSlide119.xml.rels>&#65279;<?xml version="1.0" encoding="utf-8"?><Relationships xmlns="http://schemas.openxmlformats.org/package/2006/relationships"><Relationship Type="http://schemas.openxmlformats.org/officeDocument/2006/relationships/slide" Target="/ppt/slides/slide119.xml" Id="R2ddb343e6c6341e7" /><Relationship Type="http://schemas.openxmlformats.org/officeDocument/2006/relationships/notesMaster" Target="/ppt/notesMasters/notesMaster1.xml" Id="R45a10541d38746bf" /></Relationships>
</file>

<file path=ppt/notesSlides/_rels/notesSlide120.xml.rels>&#65279;<?xml version="1.0" encoding="utf-8"?><Relationships xmlns="http://schemas.openxmlformats.org/package/2006/relationships"><Relationship Type="http://schemas.openxmlformats.org/officeDocument/2006/relationships/slide" Target="/ppt/slides/slide120.xml" Id="R5eb5a75d40004964" /><Relationship Type="http://schemas.openxmlformats.org/officeDocument/2006/relationships/notesMaster" Target="/ppt/notesMasters/notesMaster1.xml" Id="R5b87ba724d23468c" /></Relationships>
</file>

<file path=ppt/notesSlides/_rels/notesSlide121.xml.rels>&#65279;<?xml version="1.0" encoding="utf-8"?><Relationships xmlns="http://schemas.openxmlformats.org/package/2006/relationships"><Relationship Type="http://schemas.openxmlformats.org/officeDocument/2006/relationships/slide" Target="/ppt/slides/slide121.xml" Id="R4253d64968904ef5" /><Relationship Type="http://schemas.openxmlformats.org/officeDocument/2006/relationships/notesMaster" Target="/ppt/notesMasters/notesMaster1.xml" Id="R4777be13e2c744c7" /></Relationships>
</file>

<file path=ppt/notesSlides/_rels/notesSlide122.xml.rels>&#65279;<?xml version="1.0" encoding="utf-8"?><Relationships xmlns="http://schemas.openxmlformats.org/package/2006/relationships"><Relationship Type="http://schemas.openxmlformats.org/officeDocument/2006/relationships/slide" Target="/ppt/slides/slide122.xml" Id="R2511958a236e42f5" /><Relationship Type="http://schemas.openxmlformats.org/officeDocument/2006/relationships/notesMaster" Target="/ppt/notesMasters/notesMaster1.xml" Id="Re0f43761e0dd4187" /></Relationships>
</file>

<file path=ppt/notesSlides/_rels/notesSlide123.xml.rels>&#65279;<?xml version="1.0" encoding="utf-8"?><Relationships xmlns="http://schemas.openxmlformats.org/package/2006/relationships"><Relationship Type="http://schemas.openxmlformats.org/officeDocument/2006/relationships/slide" Target="/ppt/slides/slide123.xml" Id="R4272623a98ce4d76" /><Relationship Type="http://schemas.openxmlformats.org/officeDocument/2006/relationships/notesMaster" Target="/ppt/notesMasters/notesMaster1.xml" Id="Rbfa0abd990bb4dc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this as a running laboratory notebook, not a strategy pitch.</a:t>
            </a:r>
          </a:p>
          <a:p xmlns:a="http://schemas.openxmlformats.org/drawingml/2006/main">
            <a:r>
              <a:t/>
            </a:r>
          </a:p>
          <a:p xmlns:a="http://schemas.openxmlformats.org/drawingml/2006/main">
            <a:r>
              <a:t>[Sources]</a:t>
            </a:r>
          </a:p>
          <a:p xmlns:a="http://schemas.openxmlformats.org/drawingml/2006/main">
            <a:r>
              <a:t>- operator_hypothesis_lab/docs/TSLA_LAGGED_DAILY_RETURN_SCATTER_2018_2023.md</a:t>
            </a:r>
          </a:p>
          <a:p xmlns:a="http://schemas.openxmlformats.org/drawingml/2006/main">
            <a:r>
              <a:t>- operator_hypothesis_lab/docs/TSLA_ER20_PATH_REGIME_BANDS_2018_2023.md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learning objective is bottom-up hypothesis formation. The order is observation, definition, measurement, then falsification.</a:t>
            </a:r>
          </a:p>
          <a:p xmlns:a="http://schemas.openxmlformats.org/drawingml/2006/main">
            <a:r>
              <a:t/>
            </a:r>
          </a:p>
          <a:p xmlns:a="http://schemas.openxmlformats.org/drawingml/2006/main">
            <a:r>
              <a:t>[Sources]</a:t>
            </a:r>
          </a:p>
          <a:p xmlns:a="http://schemas.openxmlformats.org/drawingml/2006/main">
            <a:r>
              <a:t>- User-directed research workflow in this task</a:t>
            </a:r>
          </a:p>
          <a:p xmlns:a="http://schemas.openxmlformats.org/drawingml/2006/main">
            <a:r>
              <a:t>- docs/GEN5_1_POC_PROGRESS_LOG.md entries 186-188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definition before showing any statistic. The sample is the exact scatterplot surface from the prior slice.</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runs/research_workbench/operator_hypothesis_lab/tsla_lagged_return_dependence_statistics_20260825/run_spec.csv</a:t>
            </a:r>
          </a:p>
          <a:p xmlns:a="http://schemas.openxmlformats.org/drawingml/2006/main">
            <a:r>
              <a:t>- runs/research_workbench/operator_hypothesis_lab/tsla_lagged_return_dependence_statistics_20260825/pair_checks.csv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eye sees a dense cloud around zero and observations in all four quadrants. This slide preserves the pre-statistics view.</a:t>
            </a:r>
          </a:p>
          <a:p xmlns:a="http://schemas.openxmlformats.org/drawingml/2006/main">
            <a:r>
              <a:t/>
            </a:r>
          </a:p>
          <a:p xmlns:a="http://schemas.openxmlformats.org/drawingml/2006/main">
            <a:r>
              <a:t>[Sources]</a:t>
            </a:r>
          </a:p>
          <a:p xmlns:a="http://schemas.openxmlformats.org/drawingml/2006/main">
            <a:r>
              <a:t>- runs/research_workbench/operator_hypothesis_lab/tsla_lagged_daily_return_scatter_20260824/visuals/tsla_t_minus_1_vs_t_daily_log_return_scatter.png</a:t>
            </a:r>
          </a:p>
          <a:p xmlns:a="http://schemas.openxmlformats.org/drawingml/2006/main">
            <a:r>
              <a:t>- operator_hypothesis_lab/docs/TSLA_LAGGED_DAILY_RETURN_SCATTER_2018_2023.md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ER20 asks whether the trailing path was efficient. It ignores bullish versus bearish direction and does not measure volatility.</a:t>
            </a:r>
          </a:p>
          <a:p xmlns:a="http://schemas.openxmlformats.org/drawingml/2006/main">
            <a:r>
              <a:t/>
            </a:r>
          </a:p>
          <a:p xmlns:a="http://schemas.openxmlformats.org/drawingml/2006/main">
            <a:r>
              <a:t>[Sources]</a:t>
            </a:r>
          </a:p>
          <a:p xmlns:a="http://schemas.openxmlformats.org/drawingml/2006/main">
            <a:r>
              <a:t>- runs/research_workbench/operator_hypothesis_lab/tsla_efficiency_ratio_regime_bands_20260824/visuals/tsla_er20_path_regime_bands.png</a:t>
            </a:r>
          </a:p>
          <a:p xmlns:a="http://schemas.openxmlformats.org/drawingml/2006/main">
            <a:r>
              <a:t>- operator_hypothesis_lab/docs/TSLA_ER20_PATH_REGIME_BANDS_2018_2023.md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primary estimand is frozen before reading the result: Pearson correlation, equivalently the OLS slope in r[t] = alpha + beta r[t-1] + error.</a:t>
            </a:r>
          </a:p>
          <a:p xmlns:a="http://schemas.openxmlformats.org/drawingml/2006/main">
            <a:r>
              <a:t/>
            </a:r>
          </a:p>
          <a:p xmlns:a="http://schemas.openxmlformats.org/drawingml/2006/main">
            <a:r>
              <a:t>[Sources]</a:t>
            </a:r>
          </a:p>
          <a:p xmlns:a="http://schemas.openxmlformats.org/drawingml/2006/main">
            <a:r>
              <a:t>- scripts/inspect/run_tsla_lagged_return_dependence_statistics.R</a:t>
            </a:r>
          </a:p>
          <a:p xmlns:a="http://schemas.openxmlformats.org/drawingml/2006/main">
            <a:r>
              <a:t>- runs/research_workbench/operator_hypothesis_lab/tsla_lagged_return_dependence_statistics_20260825/run_spec.csv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interval includes zero and the fitted line explains roughly four hundredths of one percent of next-day return variation. HAC slope p-value is 0.451.</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runs/research_workbench/operator_hypothesis_lab/tsla_lagged_return_dependence_statistics_20260825/primary_statistics.csv</a:t>
            </a:r>
          </a:p>
          <a:p xmlns:a="http://schemas.openxmlformats.org/drawingml/2006/main">
            <a:r>
              <a:t>- runs/research_workbench/operator_hypothesis_lab/tsla_lagged_return_dependence_statistics_20260825/block_bootstrap_intervals.csv</a:t>
            </a:r>
          </a:p>
          <a:p xmlns:a="http://schemas.openxmlformats.org/drawingml/2006/main">
            <a:r>
              <a:t>- runs/research_workbench/operator_hypothesis_lab/tsla_lagged_return_dependence_statistics_20260825/visuals/tsla_signed_return_dependence_fitted_scatter.png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binary direction view reaches the same conclusion as the continuous-return view. The conditional probabilities are nearly identical and their difference interval crosses zero.</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runs/research_workbench/operator_hypothesis_lab/tsla_lagged_return_dependence_statistics_20260825/direction_transition_probabilities.csv</a:t>
            </a:r>
          </a:p>
          <a:p xmlns:a="http://schemas.openxmlformats.org/drawingml/2006/main">
            <a:r>
              <a:t>- runs/research_workbench/operator_hypothesis_lab/tsla_lagged_return_dependence_statistics_20260825/direction_transition_difference.csv</a:t>
            </a:r>
          </a:p>
          <a:p xmlns:a="http://schemas.openxmlformats.org/drawingml/2006/main">
            <a:r>
              <a:t>- runs/research_workbench/operator_hypothesis_lab/tsla_lagged_return_dependence_statistics_20260825/visuals/tsla_direction_transition_probabilities.png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Annual point estimates change sign, but none of the annual HAC intervals excludes zero. Rank correlation and the fixed winsor sensitivity are also near zero.</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runs/research_workbench/operator_hypothesis_lab/tsla_lagged_return_dependence_statistics_20260825/annual_stability.csv</a:t>
            </a:r>
          </a:p>
          <a:p xmlns:a="http://schemas.openxmlformats.org/drawingml/2006/main">
            <a:r>
              <a:t>- runs/research_workbench/operator_hypothesis_lab/tsla_lagged_return_dependence_statistics_20260825/outlier_sensitivity.csv</a:t>
            </a:r>
          </a:p>
          <a:p xmlns:a="http://schemas.openxmlformats.org/drawingml/2006/main">
            <a:r>
              <a:t>- runs/research_workbench/operator_hypothesis_lab/tsla_lagged_return_dependence_statistics_20260825/block_bootstrap_intervals.csv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Absolute and squared returns show positive linear dependence, but the equal-count deciles are jagged and the absolute-return rank interval includes zero. Treat this as modest magnitude persistence and a separate future question.</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runs/research_workbench/operator_hypothesis_lab/tsla_lagged_return_dependence_statistics_20260825/primary_statistics.csv</a:t>
            </a:r>
          </a:p>
          <a:p xmlns:a="http://schemas.openxmlformats.org/drawingml/2006/main">
            <a:r>
              <a:t>- runs/research_workbench/operator_hypothesis_lab/tsla_lagged_return_dependence_statistics_20260825/block_bootstrap_intervals.csv</a:t>
            </a:r>
          </a:p>
          <a:p xmlns:a="http://schemas.openxmlformats.org/drawingml/2006/main">
            <a:r>
              <a:t>- runs/research_workbench/operator_hypothesis_lab/tsla_lagged_return_dependence_statistics_20260825/absolute_return_deciles.csv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separating what was learned. The signed-return question stops descriptively; ER20 remains a descriptive lens; magnitude persistence is the only new clue and requires its own predeclared test before any strategy interpretation.</a:t>
            </a:r>
          </a:p>
          <a:p xmlns:a="http://schemas.openxmlformats.org/drawingml/2006/main">
            <a:r>
              <a:t/>
            </a:r>
          </a:p>
          <a:p xmlns:a="http://schemas.openxmlformats.org/drawingml/2006/main">
            <a:r>
              <a:t>[Sources]</a:t>
            </a:r>
          </a:p>
          <a:p xmlns:a="http://schemas.openxmlformats.org/drawingml/2006/main">
            <a:r>
              <a:t>- operator_hypothesis_lab/docs/TSLA_LAGGED_DAILY_RETURN_SCATTER_2018_2023.md</a:t>
            </a:r>
          </a:p>
          <a:p xmlns:a="http://schemas.openxmlformats.org/drawingml/2006/main">
            <a:r>
              <a:t>- operator_hypothesis_lab/docs/TSLA_ER20_PATH_REGIME_BANDS_2018_2023.md</a:t>
            </a:r>
          </a:p>
          <a:p xmlns:a="http://schemas.openxmlformats.org/drawingml/2006/main">
            <a:r>
              <a:t>- runs/research_workbench/operator_hypothesis_lab/tsla_lagged_return_dependence_statistics_20260825/report.md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aggregating sessions reveals signed dependence hidden by the adjacent-session view.</a:t>
            </a:r>
          </a:p>
          <a:p xmlns:a="http://schemas.openxmlformats.org/drawingml/2006/main">
            <a:r>
              <a:t/>
            </a:r>
          </a:p>
          <a:p xmlns:a="http://schemas.openxmlformats.org/drawingml/2006/main">
            <a:r>
              <a:t>[Sources]</a:t>
            </a:r>
          </a:p>
          <a:p xmlns:a="http://schemas.openxmlformats.org/drawingml/2006/main">
            <a:r>
              <a:t>- scripts/inspect/run_tsla_cumulative_return_horizon_grid.R</a:t>
            </a:r>
          </a:p>
          <a:p xmlns:a="http://schemas.openxmlformats.org/drawingml/2006/main">
            <a:r>
              <a:t>- runs/research_workbench/operator_hypothesis_lab/tsla_cumulative_return_horizon_grid_20260825/run_spec.csv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 information boundary first: cumulative prior return ends at the anchor close and cumulative forward return begins from that close.</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runs/research_workbench/operator_hypothesis_lab/tsla_cumulative_return_horizon_grid_20260825/run_spec.csv</a:t>
            </a:r>
          </a:p>
          <a:p xmlns:a="http://schemas.openxmlformats.org/drawingml/2006/main">
            <a:r>
              <a:t>- runs/research_workbench/operator_hypothesis_lab/tsla_cumulative_return_horizon_grid_20260825/grid_checks.csv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positive region is coherent rather than a single isolated cell, but its magnitude is small and this nested grid is highly dependent.</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runs/research_workbench/operator_hypothesis_lab/tsla_cumulative_return_horizon_grid_20260825/pearson_correlation_matrix.csv</a:t>
            </a:r>
          </a:p>
          <a:p xmlns:a="http://schemas.openxmlformats.org/drawingml/2006/main">
            <a:r>
              <a:t>- runs/research_workbench/operator_hypothesis_lab/tsla_cumulative_return_horizon_grid_20260825/slope_bh_q_value_matrix.csv</a:t>
            </a:r>
          </a:p>
          <a:p xmlns:a="http://schemas.openxmlformats.org/drawingml/2006/main">
            <a:r>
              <a:t>- runs/research_workbench/operator_hypothesis_lab/tsla_cumulative_return_horizon_grid_20260825/visuals/tsla_cumulative_return_pearson_heatmap.png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strongest point estimate explains less than one percent of forward-return variance, and its overlap-aware interval includes zero. Its BH q-value is 0.660.</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runs/research_workbench/operator_hypothesis_lab/tsla_cumulative_return_horizon_grid_20260825/horizon_grid_statistics.csv</a:t>
            </a:r>
          </a:p>
          <a:p xmlns:a="http://schemas.openxmlformats.org/drawingml/2006/main">
            <a:r>
              <a:t>- runs/research_workbench/operator_hypothesis_lab/tsla_cumulative_return_horizon_grid_20260825/r_squared_percent_matrix.csv</a:t>
            </a:r>
          </a:p>
          <a:p xmlns:a="http://schemas.openxmlformats.org/drawingml/2006/main">
            <a:r>
              <a:t>- runs/research_workbench/operator_hypothesis_lab/tsla_cumulative_return_horizon_grid_20260825/visuals/tsla_cumulative_return_r_squared_heatmap.png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Several direction differences are positive, but the best raw p-value becomes q=0.554 after the 81-cell scan. None survives BH-FDR or Bonferroni.</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runs/research_workbench/operator_hypothesis_lab/tsla_cumulative_return_horizon_grid_20260825/direction_difference_pp_matrix.csv</a:t>
            </a:r>
          </a:p>
          <a:p xmlns:a="http://schemas.openxmlformats.org/drawingml/2006/main">
            <a:r>
              <a:t>- runs/research_workbench/operator_hypothesis_lab/tsla_cumulative_return_horizon_grid_20260825/horizon_grid_statistics.csv</a:t>
            </a:r>
          </a:p>
          <a:p xmlns:a="http://schemas.openxmlformats.org/drawingml/2006/main">
            <a:r>
              <a:t>- runs/research_workbench/operator_hypothesis_lab/tsla_cumulative_return_horizon_grid_20260825/visuals/tsla_cumulative_return_direction_difference_heatmap.png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separating the descriptive pattern from evidence strength. The ridge is worth naming, but this scan does not establish predictive authority.</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runs/research_workbench/operator_hypothesis_lab/tsla_cumulative_return_horizon_grid_20260825/report.md</a:t>
            </a:r>
          </a:p>
          <a:p xmlns:a="http://schemas.openxmlformats.org/drawingml/2006/main">
            <a:r>
              <a:t>- runs/research_workbench/operator_hypothesis_lab/tsla_cumulative_return_horizon_grid_20260825/cells_ranked_by_absolute_correlation.csv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aggregating red and green path states washes out different prior-versus-forward return relationships.</a:t>
            </a:r>
          </a:p>
          <a:p xmlns:a="http://schemas.openxmlformats.org/drawingml/2006/main">
            <a:r>
              <a:t/>
            </a:r>
          </a:p>
          <a:p xmlns:a="http://schemas.openxmlformats.org/drawingml/2006/main">
            <a:r>
              <a:t>[Sources]</a:t>
            </a:r>
          </a:p>
          <a:p xmlns:a="http://schemas.openxmlformats.org/drawingml/2006/main">
            <a:r>
              <a:t>- operator_hypothesis_lab/docs/TSLA_ER20_PATH_REGIME_BANDS_2018_2023.md</a:t>
            </a:r>
          </a:p>
          <a:p xmlns:a="http://schemas.openxmlformats.org/drawingml/2006/main">
            <a:r>
              <a:t>- scripts/inspect/run_tsla_er20_conditioned_return_horizon_grid.R</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timing is causal: ER20 at the anchor uses closes through that anchor only. One pre-2018 anchor from the aggregate grid is uncolored and excluded.</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runs/research_workbench/operator_hypothesis_lab/tsla_er20_conditioned_return_horizon_grid_20260825/run_spec.csv</a:t>
            </a:r>
          </a:p>
          <a:p xmlns:a="http://schemas.openxmlformats.org/drawingml/2006/main">
            <a:r>
              <a:t>- runs/research_workbench/operator_hypothesis_lab/tsla_er20_conditioned_return_horizon_grid_20260825/grid_checks.csv</a:t>
            </a:r>
          </a:p>
          <a:p xmlns:a="http://schemas.openxmlformats.org/drawingml/2006/main">
            <a:r>
              <a:t>- operator_hypothesis_lab/docs/TSLA_ER20_PATH_REGIME_BANDS_2018_2023.md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Red states show a coherent positive island centered around 10 to 15 prior sessions and 3 to 10 forward sessions. The largest cell has an overlap-aware interval that still includes zero.</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runs/research_workbench/operator_hypothesis_lab/tsla_er20_conditioned_return_horizon_grid_20260825/red_sideways_pearson_matrix.csv</a:t>
            </a:r>
          </a:p>
          <a:p xmlns:a="http://schemas.openxmlformats.org/drawingml/2006/main">
            <a:r>
              <a:t>- runs/research_workbench/operator_hypothesis_lab/tsla_er20_conditioned_return_horizon_grid_20260825/conditioned_horizon_grid_statistics.csv</a:t>
            </a:r>
          </a:p>
          <a:p xmlns:a="http://schemas.openxmlformats.org/drawingml/2006/main">
            <a:r>
              <a:t>- runs/research_workbench/operator_hypothesis_lab/tsla_er20_conditioned_return_horizon_grid_20260825/visuals/tsla_red_sideways_pearson_heatmap.png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Green states retain small positive short-horizon patches, but the red medium-horizon island is muted or reversed and the long-prior/long-forward corner becomes negative.</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runs/research_workbench/operator_hypothesis_lab/tsla_er20_conditioned_return_horizon_grid_20260825/green_trending_pearson_matrix.csv</a:t>
            </a:r>
          </a:p>
          <a:p xmlns:a="http://schemas.openxmlformats.org/drawingml/2006/main">
            <a:r>
              <a:t>- runs/research_workbench/operator_hypothesis_lab/tsla_er20_conditioned_return_horizon_grid_20260825/conditioned_horizon_grid_statistics.csv</a:t>
            </a:r>
          </a:p>
          <a:p xmlns:a="http://schemas.openxmlformats.org/drawingml/2006/main">
            <a:r>
              <a:t>- runs/research_workbench/operator_hypothesis_lab/tsla_er20_conditioned_return_horizon_grid_20260825/visuals/tsla_green_trending_pearson_heatmap.png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largest raw regime contrast is at 15 prior and 5 forward: red correlation +0.173 versus green -0.058, a -0.231 difference. Its slope interaction has raw HAC p=0.029 but BH q=0.919; no interaction survives the grid scan.</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runs/research_workbench/operator_hypothesis_lab/tsla_er20_conditioned_return_horizon_grid_20260825/green_minus_red_pearson_matrix.csv</a:t>
            </a:r>
          </a:p>
          <a:p xmlns:a="http://schemas.openxmlformats.org/drawingml/2006/main">
            <a:r>
              <a:t>- runs/research_workbench/operator_hypothesis_lab/tsla_er20_conditioned_return_horizon_grid_20260825/regime_comparison_statistics.csv</a:t>
            </a:r>
          </a:p>
          <a:p xmlns:a="http://schemas.openxmlformats.org/drawingml/2006/main">
            <a:r>
              <a:t>- runs/research_workbench/operator_hypothesis_lab/tsla_er20_conditioned_return_horizon_grid_20260825/slope_interaction_bh_q_value_matrix.csv</a:t>
            </a:r>
          </a:p>
          <a:p xmlns:a="http://schemas.openxmlformats.org/drawingml/2006/main">
            <a:r>
              <a:t>- runs/research_workbench/operator_hypothesis_lab/tsla_er20_conditioned_return_horizon_grid_20260825/visuals/tsla_green_minus_red_pearson_heatmap.png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Conditioning changes the descriptive map in a coherent way, but the finding remains exploratory. ER20 is built from the same trailing path as the prior-return variable, so a less mechanically entangled filter would be a useful comparison.</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runs/research_workbench/operator_hypothesis_lab/tsla_er20_conditioned_return_horizon_grid_20260825/report.md</a:t>
            </a:r>
          </a:p>
          <a:p xmlns:a="http://schemas.openxmlformats.org/drawingml/2006/main">
            <a:r>
              <a:t>- runs/research_workbench/operator_hypothesis_lab/tsla_er20_conditioned_return_horizon_grid_20260825/conditioned_horizon_grid_statistics.csv</a:t>
            </a:r>
          </a:p>
          <a:p xmlns:a="http://schemas.openxmlformats.org/drawingml/2006/main">
            <a:r>
              <a:t>- runs/research_workbench/operator_hypothesis_lab/tsla_er20_conditioned_return_horizon_grid_20260825/regime_comparison_statistics.csv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signed-return dependence changes with movement capacity, using the already accepted ATR-percent classifier rather than designing new bins from this result.</a:t>
            </a:r>
          </a:p>
          <a:p xmlns:a="http://schemas.openxmlformats.org/drawingml/2006/main">
            <a:r>
              <a:t/>
            </a:r>
          </a:p>
          <a:p xmlns:a="http://schemas.openxmlformats.org/drawingml/2006/main">
            <a:r>
              <a:t>[Sources]</a:t>
            </a:r>
          </a:p>
          <a:p xmlns:a="http://schemas.openxmlformats.org/drawingml/2006/main">
            <a:r>
              <a:t>- operator_hypothesis_lab/docs/GEN5_HYP_REG_01_1_ATR_PERCENT_VOLATILITY_RESULTS.md</a:t>
            </a:r>
          </a:p>
          <a:p xmlns:a="http://schemas.openxmlformats.org/drawingml/2006/main">
            <a:r>
              <a:t>- operator_hypothesis_lab/docs/TSLA_ATRP_CONDITIONED_RETURN_HORIZON_GRID_2018_2023.md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state definition is reused exactly: Wilder ATR14 divided by close, current ATR-percent ranked against the prior 252 completed observations, and the accepted 30/40–60/70 hysteresis. State t is known before future returns begin.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runs/research_workbench/operator_hypothesis_lab/tsla_atrp_conditioned_return_horizon_grid_20260825/run_spec.csv</a:t>
            </a:r>
          </a:p>
          <a:p xmlns:a="http://schemas.openxmlformats.org/drawingml/2006/main">
            <a:r>
              <a:t>- runs/research_workbench/operator_hypothesis_lab/tsla_atrp_conditioned_return_horizon_grid_20260825/source_checks.csv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companion view makes the accepted volatility classifier visible in price time. Blue, gold, and red mean LOW, MEDIUM, and HIGH movement capacity; they do not mean bearish, neutral, and bullish. The lower panel shows the causal trailing ATR-percent rank and accepted hysteretic state at each close.</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runs/research_workbench/operator_hypothesis_lab/tsla_atrp_conditioned_return_horizon_grid_20260825/visuals/tsla_atrp_state_price_bands.png</a:t>
            </a:r>
          </a:p>
          <a:p xmlns:a="http://schemas.openxmlformats.org/drawingml/2006/main">
            <a:r>
              <a:t>- runs/research_workbench/operator_hypothesis_lab/tsla_atrp_conditioned_return_horizon_grid_20260825/tsla_atrp_state_chart_ledger.csv</a:t>
            </a:r>
          </a:p>
          <a:p xmlns:a="http://schemas.openxmlformats.org/drawingml/2006/main">
            <a:r>
              <a:t>- runs/research_workbench/operator_hypothesis_lab/tsla_atrp_conditioned_return_horizon_grid_20260825/tsla_atrp_state_spans.csv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LOW ATR-percent anchors produce positive point estimates throughout the grid, but the strongest cell's interval crosses zero and no LOW cell survives the within-state scan.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runs/research_workbench/operator_hypothesis_lab/tsla_atrp_conditioned_return_horizon_grid_20260825/low_pearson_matrix.csv</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runs/research_workbench/operator_hypothesis_lab/tsla_atrp_conditioned_return_horizon_grid_20260825/visuals/tsla_atrp_low_pearson_heatmap.png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MEDIUM ATR-percent anchors show the most statistically stable continuation pattern. Under the strict correction across all 486 tests, the 5/3, 10/2, and 10/3 cells remain.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runs/research_workbench/operator_hypothesis_lab/tsla_atrp_conditioned_return_horizon_grid_20260825/medium_pearson_matrix.csv</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runs/research_workbench/operator_hypothesis_lab/tsla_atrp_conditioned_return_horizon_grid_20260825/visuals/tsla_atrp_medium_pearson_heatmap.png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HIGH ATR-percent anchors reverse the sign of the broad surface, especially at longer horizons. The most extreme cell is visually strong but its dependence-robust interval still crosses zero.</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runs/research_workbench/operator_hypothesis_lab/tsla_atrp_conditioned_return_horizon_grid_20260825/high_pearson_matrix.csv</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runs/research_workbench/operator_hypothesis_lab/tsla_atrp_conditioned_return_horizon_grid_20260825/visuals/tsla_atrp_high_pearson_heatmap.png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largest correlation contrast is -0.548 at 25 prior and 15 forward; its within-family interaction q is 0.038 but strict omnibus q is 0.081. Three smaller HIGH-minus-MEDIUM interactions survive the omnibus correction.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runs/research_workbench/operator_hypothesis_lab/tsla_atrp_conditioned_return_horizon_grid_20260825/high_minus_medium_pearson_difference_matrix.csv</a:t>
            </a:r>
          </a:p>
          <a:p xmlns:a="http://schemas.openxmlformats.org/drawingml/2006/main">
            <a:r>
              <a:t>- runs/research_workbench/operator_hypothesis_lab/tsla_atrp_conditioned_return_horizon_grid_20260825/pairwise_state_comparison_statistics.csv</a:t>
            </a:r>
          </a:p>
          <a:p xmlns:a="http://schemas.openxmlformats.org/drawingml/2006/main">
            <a:r>
              <a:t>- runs/research_workbench/operator_hypothesis_lab/tsla_atrp_conditioned_return_horizon_grid_20260825/high_minus_medium_interaction_bh_q_matrix.csv</a:t>
            </a:r>
          </a:p>
          <a:p xmlns:a="http://schemas.openxmlformats.org/drawingml/2006/main">
            <a:r>
              <a:t>- runs/research_workbench/operator_hypothesis_lab/tsla_atrp_conditioned_return_horizon_grid_20260825/visuals/tsla_atrp_high_minus_medium_pearson_heatmap.png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ATR-percent split is the clearest conditional map in this descriptive lane and is partially multiplicity-robust, but it is still a same-sample replication candidate rather than a trading rule. The ER20 direction split and external-context filter are bookmarked, not opened here.</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runs/research_workbench/operator_hypothesis_lab/tsla_atrp_conditioned_return_horizon_grid_20260825/report.md</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runs/research_workbench/operator_hypothesis_lab/tsla_atrp_conditioned_return_horizon_grid_20260825/pairwise_state_comparison_statistics.csv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changes one authority only. TSLA still supplies every prior and following return. SPY supplies the already accepted causal ATR-percent state at the anchor close.</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runs/research_workbench/operator_hypothesis_lab/tsla_spy_atrp_conditioned_return_horizon_grid_20260825/run_spec.csv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SPY classifier is reused exactly: Wilder ATR14 divided by adjusted close, prior-252 causal percentile, and 30/40 plus 60/70 hysteresis. No state definition or horizon changes after seeing TSLA returns.</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runs/research_workbench/operator_hypothesis_lab/tsla_spy_atrp_conditioned_return_horizon_grid_20260825/run_spec.csv</a:t>
            </a:r>
          </a:p>
          <a:p xmlns:a="http://schemas.openxmlformats.org/drawingml/2006/main">
            <a:r>
              <a:t>- runs/research_workbench/operator_hypothesis_lab/tsla_spy_atrp_conditioned_return_horizon_grid_20260825/source_checks.csv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price stays TSLA, while every colored band and the lower-panel percentile come from SPY. This visual checks alignment in time; it does not claim that SPY state causes TSLA returns.</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runs/research_workbench/operator_hypothesis_lab/tsla_spy_atrp_conditioned_return_horizon_grid_20260825/visuals/tsla_spy_atrp_state_price_bands.png</a:t>
            </a:r>
          </a:p>
          <a:p xmlns:a="http://schemas.openxmlformats.org/drawingml/2006/main">
            <a:r>
              <a:t>- runs/research_workbench/operator_hypothesis_lab/tsla_spy_atrp_conditioned_return_horizon_grid_20260825/tsla_spy_atrp_state_chart_ledger.csv</a:t>
            </a:r>
          </a:p>
          <a:p xmlns:a="http://schemas.openxmlformats.org/drawingml/2006/main">
            <a:r>
              <a:t>- runs/research_workbench/operator_hypothesis_lab/tsla_spy_atrp_conditioned_return_horizon_grid_20260825/tsla_spy_atrp_state_spans.csv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SPY LOW ATR-percent sessions contain the clearest TSLA continuation geometry. The pattern is broad, but no single within-state cell survives its 81-cell BH-FDR family.</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runs/research_workbench/operator_hypothesis_lab/tsla_spy_atrp_conditioned_return_horizon_grid_20260825/visuals/tsla_spy_atrp_low_pearson_heatmap.png</a:t>
            </a:r>
          </a:p>
          <a:p xmlns:a="http://schemas.openxmlformats.org/drawingml/2006/main">
            <a:r>
              <a:t>- runs/research_workbench/operator_hypothesis_lab/tsla_spy_atrp_conditioned_return_horizon_grid_20260825/conditioned_horizon_grid_statistics.csv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SPY MEDIUM ATR-percent sessions reverse the long-forward portion of the TSLA map. This differs sharply from TSLA's own MEDIUM state, which held the earlier positive continuation island.</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runs/research_workbench/operator_hypothesis_lab/tsla_spy_atrp_conditioned_return_horizon_grid_20260825/visuals/tsla_spy_atrp_medium_pearson_heatmap.png</a:t>
            </a:r>
          </a:p>
          <a:p xmlns:a="http://schemas.openxmlformats.org/drawingml/2006/main">
            <a:r>
              <a:t>- runs/research_workbench/operator_hypothesis_lab/tsla_spy_atrp_conditioned_return_horizon_grid_20260825/conditioned_horizon_grid_statistics.csv</a:t>
            </a:r>
          </a:p>
          <a:p xmlns:a="http://schemas.openxmlformats.org/drawingml/2006/main">
            <a:r>
              <a:t>- runs/research_workbench/operator_hypothesis_lab/tsla_spy_atrp_conditioned_return_horizon_grid_20260825/own_vs_external_atrp_map_summary.csv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SPY HIGH ATR-percent does not reproduce the broad reversal seen under TSLA's own HIGH ATR-percent state. Most cells are mildly positive, with a small negative corner at the longest prior horizons.</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runs/research_workbench/operator_hypothesis_lab/tsla_spy_atrp_conditioned_return_horizon_grid_20260825/visuals/tsla_spy_atrp_high_pearson_heatmap.png</a:t>
            </a:r>
          </a:p>
          <a:p xmlns:a="http://schemas.openxmlformats.org/drawingml/2006/main">
            <a:r>
              <a:t>- runs/research_workbench/operator_hypothesis_lab/tsla_spy_atrp_conditioned_return_horizon_grid_20260825/conditioned_horizon_grid_statistics.csv</a:t>
            </a:r>
          </a:p>
          <a:p xmlns:a="http://schemas.openxmlformats.org/drawingml/2006/main">
            <a:r>
              <a:t>- runs/research_workbench/operator_hypothesis_lab/tsla_spy_atrp_conditioned_return_horizon_grid_20260825/own_vs_external_atrp_map_summary.csv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largest direct contrast is LOW continuation versus MEDIUM reversal at 5 prior and 15 forward sessions. Three neighboring MEDIUM-minus-LOW interactions survive their 81-cell family correction, but no pairwise interaction survives the stricter 486-test omnibus correction.</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runs/research_workbench/operator_hypothesis_lab/tsla_spy_atrp_conditioned_return_horizon_grid_20260825/visuals/tsla_spy_atrp_medium_minus_low_pearson_heatmap.png</a:t>
            </a:r>
          </a:p>
          <a:p xmlns:a="http://schemas.openxmlformats.org/drawingml/2006/main">
            <a:r>
              <a:t>- runs/research_workbench/operator_hypothesis_lab/tsla_spy_atrp_conditioned_return_horizon_grid_20260825/pairwise_state_comparison_statistics.csv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External SPY conditioning is coherent enough to justify more descriptive cross-sectional brainstorming, but it does not confirm an edge. LOW is the most portable geometry; MEDIUM changes almost completely; HIGH keeps a related ordering while most signs shift.</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runs/research_workbench/operator_hypothesis_lab/tsla_spy_atrp_conditioned_return_horizon_grid_20260825/own_vs_external_atrp_map_summary.csv</a:t>
            </a:r>
          </a:p>
          <a:p xmlns:a="http://schemas.openxmlformats.org/drawingml/2006/main">
            <a:r>
              <a:t>- runs/research_workbench/operator_hypothesis_lab/tsla_spy_atrp_conditioned_return_horizon_grid_20260825/report.md</a:t>
            </a:r>
          </a:p>
          <a:p xmlns:a="http://schemas.openxmlformats.org/drawingml/2006/main">
            <a:r>
              <a:t>- runs/research_workbench/operator_hypothesis_lab/tsla_atrp_conditioned_return_horizon_grid_20260825/conditioned_horizon_grid_statistics.csv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a:p xmlns:a="http://schemas.openxmlformats.org/drawingml/2006/main">
            <a:r>
              <a:t>Internal Gen5 comparison packet: runs/research_workbench/operator_hypothesis_lab/tsla_atrp_conditioned_return_horizon_grid_20260825/</a:t>
            </a:r>
          </a:p>
          <a:p xmlns:a="http://schemas.openxmlformats.org/drawingml/2006/main">
            <a:r>
              <a:t>Internal Gen5 comparison packet: runs/research_workbench/operator_hypothesis_lab/tsla_spy_atrp_conditioned_return_horizon_grid_20260825/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a:p xmlns:a="http://schemas.openxmlformats.org/drawingml/2006/main">
            <a:r>
              <a:t>Internal Gen5 own-return baseline packet: runs/research_workbench/operator_hypothesis_lab/tsla_cumulative_return_horizon_grid_20260825/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a:p xmlns:a="http://schemas.openxmlformats.org/drawingml/2006/main">
            <a:r>
              <a:t>Internal Gen5 comparison packet: runs/research_workbench/operator_hypothesis_lab/tsla_return_horizon_grid_20260824/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pooling negative and positive prior returns hides a branch-specific relationship with future TSLA return.</a:t>
            </a:r>
          </a:p>
          <a:p xmlns:a="http://schemas.openxmlformats.org/drawingml/2006/main">
            <a:r>
              <a:t/>
            </a:r>
          </a:p>
          <a:p xmlns:a="http://schemas.openxmlformats.org/drawingml/2006/main">
            <a:r>
              <a:t>[Sources]</a:t>
            </a:r>
          </a:p>
          <a:p xmlns:a="http://schemas.openxmlformats.org/drawingml/2006/main">
            <a:r>
              <a:t>- scripts/inspect/run_tsla_prior_return_sign_asymmetry.R</a:t>
            </a:r>
          </a:p>
          <a:p xmlns:a="http://schemas.openxmlformats.org/drawingml/2006/main">
            <a:r>
              <a:t>- operator_hypothesis_lab/docs/TSLA_PRIOR_RETURN_SIGN_ASYMMETRY_2018_2023.md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split is descriptive, not a trading signal. Keeping the signed scale preserves the distinction between a rebound slope and sign persistence.</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runs/research_workbench/operator_hypothesis_lab/tsla_prior_return_sign_asymmetry_20260825/run_spec.csv</a:t>
            </a:r>
          </a:p>
          <a:p xmlns:a="http://schemas.openxmlformats.org/drawingml/2006/main">
            <a:r>
              <a:t>- runs/research_workbench/operator_hypothesis_lab/tsla_prior_return_sign_asymmetry_20260825/family_checks.csv</a:t>
            </a:r>
          </a:p>
          <a:p xmlns:a="http://schemas.openxmlformats.org/drawingml/2006/main">
            <a:r>
              <a:t>- runs/research_workbench/operator_hypothesis_lab/tsla_prior_return_sign_asymmetry_20260825/report.md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negative branch slopes downward: more severe prior losses are associated with stronger next-session rebound. This is not continuation and not a sign-based win-rate edge.</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runs/research_workbench/operator_hypothesis_lab/tsla_prior_return_sign_asymmetry_20260825/one_by_one_branch_summary.csv</a:t>
            </a:r>
          </a:p>
          <a:p xmlns:a="http://schemas.openxmlformats.org/drawingml/2006/main">
            <a:r>
              <a:t>- runs/research_workbench/operator_hypothesis_lab/tsla_prior_return_sign_asymmetry_20260825/one_by_one_asymmetry_test.csv</a:t>
            </a:r>
          </a:p>
          <a:p xmlns:a="http://schemas.openxmlformats.org/drawingml/2006/main">
            <a:r>
              <a:t>- runs/research_workbench/operator_hypothesis_lab/tsla_prior_return_sign_asymmetry_20260825/visuals/tsla_one_by_one_prior_sign_split_scatter.png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of 81 direct slope-interaction tests pass BH. The 20-session cells are nested and should be read as one descriptive cluster, not three independent discoveries.</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runs/research_workbench/operator_hypothesis_lab/tsla_prior_return_sign_asymmetry_20260825/unfiltered_branch_statistics.csv</a:t>
            </a:r>
          </a:p>
          <a:p xmlns:a="http://schemas.openxmlformats.org/drawingml/2006/main">
            <a:r>
              <a:t>- runs/research_workbench/operator_hypothesis_lab/tsla_prior_return_sign_asymmetry_20260825/unfiltered_asymmetry_tests.csv</a:t>
            </a:r>
          </a:p>
          <a:p xmlns:a="http://schemas.openxmlformats.org/drawingml/2006/main">
            <a:r>
              <a:t>- runs/research_workbench/operator_hypothesis_lab/tsla_prior_return_sign_asymmetry_20260825/visuals/tsla_unfiltered_prior_sign_heatmaps.png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Positive-minus-negative does not subtract two realized returns. It compares the positive-branch slope with the negative-branch slope. In the current survivors, b− &lt; 0 and b+ is near zero, so loss severity contains information only after losses. A future long-only implementation would score loss severity inside X &lt; 0 and act only if the full conditional forecast clears drift, costs, and a safety margin. The intercept matters: slope asymmetry alone does not imply positive expectancy.</a:t>
            </a:r>
          </a:p>
          <a:p xmlns:a="http://schemas.openxmlformats.org/drawingml/2006/main">
            <a:r>
              <a:t/>
            </a:r>
          </a:p>
          <a:p xmlns:a="http://schemas.openxmlformats.org/drawingml/2006/main">
            <a:r>
              <a:t>[Sources]</a:t>
            </a:r>
          </a:p>
          <a:p xmlns:a="http://schemas.openxmlformats.org/drawingml/2006/main">
            <a:r>
              <a:t>- scripts/inspect/run_tsla_prior_return_sign_asymmetry.R</a:t>
            </a:r>
          </a:p>
          <a:p xmlns:a="http://schemas.openxmlformats.org/drawingml/2006/main">
            <a:r>
              <a:t>- runs/research_workbench/operator_hypothesis_lab/tsla_prior_return_sign_asymmetry_20260825/unfiltered_branch_statistics.csv</a:t>
            </a:r>
          </a:p>
          <a:p xmlns:a="http://schemas.openxmlformats.org/drawingml/2006/main">
            <a:r>
              <a:t>- runs/research_workbench/operator_hypothesis_lab/tsla_prior_return_sign_asymmetry_20260825/unfiltered_asymmetry_tests.csv</a:t>
            </a:r>
          </a:p>
          <a:p xmlns:a="http://schemas.openxmlformats.org/drawingml/2006/main">
            <a:r>
              <a:t>- operator_hypothesis_lab/docs/TSLA_PRIOR_RETURN_SIGN_ASYMMETRY_2018_2023.md</a:t>
            </a:r>
          </a:p>
          <a:p xmlns:a="http://schemas.openxmlformats.org/drawingml/2006/main">
            <a:r>
              <a:t>- Current Codex task, operator/assistant exchange dated 2026-08-26: ‘Positive minus negative as a kink detector.’</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ER20 split produces different-looking surfaces but no multiplicity survivor. ER20 is also not independent of the predictor because both use trailing TSLA prices.</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runs/research_workbench/operator_hypothesis_lab/tsla_prior_return_sign_asymmetry_20260825/er20_branch_statistics.csv</a:t>
            </a:r>
          </a:p>
          <a:p xmlns:a="http://schemas.openxmlformats.org/drawingml/2006/main">
            <a:r>
              <a:t>- runs/research_workbench/operator_hypothesis_lab/tsla_prior_return_sign_asymmetry_20260825/er20_asymmetry_tests.csv</a:t>
            </a:r>
          </a:p>
          <a:p xmlns:a="http://schemas.openxmlformats.org/drawingml/2006/main">
            <a:r>
              <a:t>- runs/research_workbench/operator_hypothesis_lab/tsla_prior_return_sign_asymmetry_20260825/visuals/tsla_er20_prior_sign_heatmaps.png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ATR percent identifies a high-volatility adjacent-session survivor and a low-volatility long-horizon cluster. The long-horizon negative branches are relatively small and need outlier and temporal-stability checks.</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runs/research_workbench/operator_hypothesis_lab/tsla_prior_return_sign_asymmetry_20260825/atrp_branch_statistics.csv</a:t>
            </a:r>
          </a:p>
          <a:p xmlns:a="http://schemas.openxmlformats.org/drawingml/2006/main">
            <a:r>
              <a:t>- runs/research_workbench/operator_hypothesis_lab/tsla_prior_return_sign_asymmetry_20260825/atrp_asymmetry_tests.csv</a:t>
            </a:r>
          </a:p>
          <a:p xmlns:a="http://schemas.openxmlformats.org/drawingml/2006/main">
            <a:r>
              <a:t>- runs/research_workbench/operator_hypothesis_lab/tsla_prior_return_sign_asymmetry_20260825/visuals/tsla_atrp_prior_sign_heatmaps.png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result earns a narrow confirmation step, not strategy construction. Freeze the surviving cells and inspect outlier dependence and temporal stability before reading economic meaning into them.</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runs/research_workbench/operator_hypothesis_lab/tsla_prior_return_sign_asymmetry_20260825/report.md</a:t>
            </a:r>
          </a:p>
          <a:p xmlns:a="http://schemas.openxmlformats.org/drawingml/2006/main">
            <a:r>
              <a:t>- operator_hypothesis_lab/docs/TSLA_PRIOR_RETURN_SIGN_ASYMMETRY_2018_2023.md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completes the earlier direction-agnostic ER20 lens by retaining the sign of its net displacement. It measures state behavior only.</a:t>
            </a:r>
          </a:p>
          <a:p xmlns:a="http://schemas.openxmlformats.org/drawingml/2006/main">
            <a:r>
              <a:t/>
            </a:r>
          </a:p>
          <a:p xmlns:a="http://schemas.openxmlformats.org/drawingml/2006/main">
            <a:r>
              <a:t>[Sources]</a:t>
            </a:r>
          </a:p>
          <a:p xmlns:a="http://schemas.openxmlformats.org/drawingml/2006/main">
            <a:r>
              <a:t>- operator_hypothesis_lab/docs/TSLA_SIGNED_ER20_TREND_DIRECTION_2018_2023.md</a:t>
            </a:r>
          </a:p>
          <a:p xmlns:a="http://schemas.openxmlformats.org/drawingml/2006/main">
            <a:r>
              <a:t>- runs/research_workbench/operator_hypothesis_lab/tsla_signed_er20_trend_direction_20260826/run_spec.csv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Signed ER20 is bounded from minus one to plus one. Sign supplies direction and magnitude supplies path efficiency. It is not independent of ER20 because its absolute value is ER20.</a:t>
            </a:r>
          </a:p>
          <a:p xmlns:a="http://schemas.openxmlformats.org/drawingml/2006/main">
            <a:r>
              <a:t/>
            </a:r>
          </a:p>
          <a:p xmlns:a="http://schemas.openxmlformats.org/drawingml/2006/main">
            <a:r>
              <a:t>[Sources]</a:t>
            </a:r>
          </a:p>
          <a:p xmlns:a="http://schemas.openxmlformats.org/drawingml/2006/main">
            <a:r>
              <a:t>- operator_hypothesis_lab/R/tsla_signed_er20_direction.R</a:t>
            </a:r>
          </a:p>
          <a:p xmlns:a="http://schemas.openxmlformats.org/drawingml/2006/main">
            <a:r>
              <a:t>- runs/research_workbench/operator_hypothesis_lab/tsla_signed_er20_trend_direction_20260826/run_spec.csv</a:t>
            </a:r>
          </a:p>
          <a:p xmlns:a="http://schemas.openxmlformats.org/drawingml/2006/main">
            <a:r>
              <a:t>- operator_hypothesis_lab/docs/TSLA_SIGNED_ER20_TREND_DIRECTION_2018_2023.md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neutral band absorbs every observed direction reversal, so no session jumps directly from up trend to down trend or vice versa. The chart also shows that down states are less prevalent and shorter than up states on this TSLA sample.</a:t>
            </a:r>
          </a:p>
          <a:p xmlns:a="http://schemas.openxmlformats.org/drawingml/2006/main">
            <a:r>
              <a:t/>
            </a:r>
          </a:p>
          <a:p xmlns:a="http://schemas.openxmlformats.org/drawingml/2006/main">
            <a:r>
              <a:t>[Sources]</a:t>
            </a:r>
          </a:p>
          <a:p xmlns:a="http://schemas.openxmlformats.org/drawingml/2006/main">
            <a:r>
              <a:t>- runs/research_workbench/operator_hypothesis_lab/tsla_signed_er20_trend_direction_20260826/visuals/tsla_signed_er20_direction_bands.png</a:t>
            </a:r>
          </a:p>
          <a:p xmlns:a="http://schemas.openxmlformats.org/drawingml/2006/main">
            <a:r>
              <a:t>- runs/research_workbench/operator_hypothesis_lab/tsla_signed_er20_trend_direction_20260826/state_occupancy.csv</a:t>
            </a:r>
          </a:p>
          <a:p xmlns:a="http://schemas.openxmlformats.org/drawingml/2006/main">
            <a:r>
              <a:t>- runs/research_workbench/operator_hypothesis_lab/tsla_signed_er20_trend_direction_20260826/state_duration_summary.csv</a:t>
            </a:r>
          </a:p>
          <a:p xmlns:a="http://schemas.openxmlformats.org/drawingml/2006/main">
            <a:r>
              <a:t>- operator_hypothesis_lab/docs/TSLA_SIGNED_ER20_TREND_DIRECTION_2018_2023.md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fixed state is adequate as a reusable descriptive baseline, but its brief down spans and one-session boundary states remain visible limitations. The next methodological step is to apply this unchanged state to the existing return surfaces; parameter and time-window selection remain deferred.</a:t>
            </a:r>
          </a:p>
          <a:p xmlns:a="http://schemas.openxmlformats.org/drawingml/2006/main">
            <a:r>
              <a:t/>
            </a:r>
          </a:p>
          <a:p xmlns:a="http://schemas.openxmlformats.org/drawingml/2006/main">
            <a:r>
              <a:t>[Sources]</a:t>
            </a:r>
          </a:p>
          <a:p xmlns:a="http://schemas.openxmlformats.org/drawingml/2006/main">
            <a:r>
              <a:t>- runs/research_workbench/operator_hypothesis_lab/tsla_signed_er20_trend_direction_20260826/state_occupancy.csv</a:t>
            </a:r>
          </a:p>
          <a:p xmlns:a="http://schemas.openxmlformats.org/drawingml/2006/main">
            <a:r>
              <a:t>- runs/research_workbench/operator_hypothesis_lab/tsla_signed_er20_trend_direction_20260826/state_duration_summary.csv</a:t>
            </a:r>
          </a:p>
          <a:p xmlns:a="http://schemas.openxmlformats.org/drawingml/2006/main">
            <a:r>
              <a:t>- runs/research_workbench/operator_hypothesis_lab/tsla_signed_er20_trend_direction_20260826/state_quality_summary.csv</a:t>
            </a:r>
          </a:p>
          <a:p xmlns:a="http://schemas.openxmlformats.org/drawingml/2006/main">
            <a:r>
              <a:t>- operator_hypothesis_lab/docs/TSLA_SIGNED_ER20_TREND_DIRECTION_2018_2023.md</a:t>
            </a:r>
          </a:p>
          <a:p xmlns:a="http://schemas.openxmlformats.org/drawingml/2006/main">
            <a:r>
              <a:t>- operator_hypothesis_lab/docs/OWN_ASSET_RETURN_GEOMETRY_WORKFLOW_ROADMAP.md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applies the already-demonstrated signed ER20 state without changing its window or cutoff. It preserves the return grid and prior-sign split from the preceding sections.</a:t>
            </a:r>
          </a:p>
          <a:p xmlns:a="http://schemas.openxmlformats.org/drawingml/2006/main">
            <a:r>
              <a:t/>
            </a:r>
          </a:p>
          <a:p xmlns:a="http://schemas.openxmlformats.org/drawingml/2006/main">
            <a:r>
              <a:t>[Sources]</a:t>
            </a:r>
          </a:p>
          <a:p xmlns:a="http://schemas.openxmlformats.org/drawingml/2006/main">
            <a:r>
              <a:t>- operator_hypothesis_lab/docs/TSLA_SIGNED_ER20_CONDITIONED_RETURN_GEOMETRY_2018_2023.md</a:t>
            </a:r>
          </a:p>
          <a:p xmlns:a="http://schemas.openxmlformats.org/drawingml/2006/main">
            <a:r>
              <a:t>- runs/research_workbench/operator_hypothesis_lab/tsla_signed_er20_conditioned_grid_20260826/run_spec.csv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 means not estimable, not no effect. At prior horizon 20 the signed state and the prior-return sign share the exact numerator. Opposite-sign branch counts also fall below 30 at nearby horizons.</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runs/research_workbench/operator_hypothesis_lab/tsla_signed_er20_conditioned_grid_20260826/run_spec.csv</a:t>
            </a:r>
          </a:p>
          <a:p xmlns:a="http://schemas.openxmlformats.org/drawingml/2006/main">
            <a:r>
              <a:t>- runs/research_workbench/operator_hypothesis_lab/tsla_signed_er20_conditioned_grid_20260826/sign_asymmetry_estimability_summary.csv</a:t>
            </a:r>
          </a:p>
          <a:p xmlns:a="http://schemas.openxmlformats.org/drawingml/2006/main">
            <a:r>
              <a:t>- runs/research_workbench/operator_hypothesis_lab/tsla_signed_er20_conditioned_grid_20260826/visuals/tsla_signed_er20_prior_sign_minimum_n_heatmaps.png</a:t>
            </a:r>
          </a:p>
          <a:p xmlns:a="http://schemas.openxmlformats.org/drawingml/2006/main">
            <a:r>
              <a:t>- operator_hypothesis_lab/docs/TSLA_SIGNED_ER20_CONDITIONED_RETURN_GEOMETRY_2018_2023.md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negative DOWN-state correlations mean deeper completed declines align with stronger subsequent rebounds. At p20/f20 the mean following return is positive 5.61% and the following return is positive 61.2% of the time; this is not downside continuation.</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runs/research_workbench/operator_hypothesis_lab/tsla_signed_er20_conditioned_grid_20260826/visuals/tsla_signed_er20_state_pearson_heatmaps.png</a:t>
            </a:r>
          </a:p>
          <a:p xmlns:a="http://schemas.openxmlformats.org/drawingml/2006/main">
            <a:r>
              <a:t>- runs/research_workbench/operator_hypothesis_lab/tsla_signed_er20_conditioned_grid_20260826/state_grid_statistics.csv</a:t>
            </a:r>
          </a:p>
          <a:p xmlns:a="http://schemas.openxmlformats.org/drawingml/2006/main">
            <a:r>
              <a:t>- runs/research_workbench/operator_hypothesis_lab/tsla_signed_er20_conditioned_grid_20260826/state_family_bh_pass_summary.csv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Only DOWN-minus-SIDEWAYS has family-level survivors. The pairwise interaction model compares OLS slopes with overlap-aware HAC; the visible values are descriptive correlation deltas.</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runs/research_workbench/operator_hypothesis_lab/tsla_signed_er20_conditioned_grid_20260826/visuals/tsla_signed_er20_state_difference_heatmaps.png</a:t>
            </a:r>
          </a:p>
          <a:p xmlns:a="http://schemas.openxmlformats.org/drawingml/2006/main">
            <a:r>
              <a:t>- runs/research_workbench/operator_hypothesis_lab/tsla_signed_er20_conditioned_grid_20260826/state_pair_comparison_statistics.csv</a:t>
            </a:r>
          </a:p>
          <a:p xmlns:a="http://schemas.openxmlformats.org/drawingml/2006/main">
            <a:r>
              <a:t>- runs/research_workbench/operator_hypothesis_lab/tsla_signed_er20_conditioned_grid_20260826/state_comparison_family_bh_pass_summary.csv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DOWN p5/f20, negative-prior Pearson is -0.341 and positive-prior Pearson is +0.471. Both branches have positive mean following returns; the interaction is a slope difference, not a realized-return spread.</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runs/research_workbench/operator_hypothesis_lab/tsla_signed_er20_conditioned_grid_20260826/visuals/tsla_signed_er20_prior_sign_heatmaps.png</a:t>
            </a:r>
          </a:p>
          <a:p xmlns:a="http://schemas.openxmlformats.org/drawingml/2006/main">
            <a:r>
              <a:t>- runs/research_workbench/operator_hypothesis_lab/tsla_signed_er20_conditioned_grid_20260826/state_prior_sign_asymmetry_statistics.csv</a:t>
            </a:r>
          </a:p>
          <a:p xmlns:a="http://schemas.openxmlformats.org/drawingml/2006/main">
            <a:r>
              <a:t>- runs/research_workbench/operator_hypothesis_lab/tsla_signed_er20_conditioned_grid_20260826/sign_asymmetry_estimability_summary.csv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main selection-geometry safeguard. Red outlines mean fewer than 30 observations in the smaller sign branch. These cells are excluded from direct sign-interaction estimation and BH correction.</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runs/research_workbench/operator_hypothesis_lab/tsla_signed_er20_conditioned_grid_20260826/visuals/tsla_signed_er20_prior_sign_minimum_n_heatmaps.png</a:t>
            </a:r>
          </a:p>
          <a:p xmlns:a="http://schemas.openxmlformats.org/drawingml/2006/main">
            <a:r>
              <a:t>- runs/research_workbench/operator_hypothesis_lab/tsla_signed_er20_conditioned_grid_20260826/state_prior_sign_asymmetry_statistics.csv</a:t>
            </a:r>
          </a:p>
          <a:p xmlns:a="http://schemas.openxmlformats.org/drawingml/2006/main">
            <a:r>
              <a:t>- runs/research_workbench/operator_hypothesis_lab/tsla_signed_er20_conditioned_grid_20260826/grid_checks.csv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successful descriptive filter application. The unexpected result is rebound geometry inside trending-down paths, not continuation inside trending-up paths. The next gate is a frozen workflow template and predeclared asset transport, not parameter tuning.</a:t>
            </a:r>
          </a:p>
          <a:p xmlns:a="http://schemas.openxmlformats.org/drawingml/2006/main">
            <a:r>
              <a:t/>
            </a:r>
          </a:p>
          <a:p xmlns:a="http://schemas.openxmlformats.org/drawingml/2006/main">
            <a:r>
              <a:t>[Sources]</a:t>
            </a:r>
          </a:p>
          <a:p xmlns:a="http://schemas.openxmlformats.org/drawingml/2006/main">
            <a:r>
              <a:t>- operator_hypothesis_lab/docs/TSLA_SIGNED_ER20_CONDITIONED_RETURN_GEOMETRY_2018_2023.md</a:t>
            </a:r>
          </a:p>
          <a:p xmlns:a="http://schemas.openxmlformats.org/drawingml/2006/main">
            <a:r>
              <a:t>- runs/research_workbench/operator_hypothesis_lab/tsla_signed_er20_conditioned_grid_20260826/global_bh_pass_summary.csv</a:t>
            </a:r>
          </a:p>
          <a:p xmlns:a="http://schemas.openxmlformats.org/drawingml/2006/main">
            <a:r>
              <a:t>- runs/research_workbench/operator_hypothesis_lab/tsla_signed_er20_conditioned_grid_20260826/grid_checks.csv</a:t>
            </a:r>
          </a:p>
          <a:p xmlns:a="http://schemas.openxmlformats.org/drawingml/2006/main">
            <a:r>
              <a:t>- operator_hypothesis_lab/docs/OWN_ASSET_RETURN_GEOMETRY_WORKFLOW_ROADMAP.md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answers the sequencing question by transporting the frozen TSLA microscope before adding 6–9-session horizons. The aim is morphology, not a strategy or performance claim.</a:t>
            </a:r>
          </a:p>
          <a:p xmlns:a="http://schemas.openxmlformats.org/drawingml/2006/main">
            <a:r>
              <a:t/>
            </a:r>
          </a:p>
          <a:p xmlns:a="http://schemas.openxmlformats.org/drawingml/2006/main">
            <a:r>
              <a:t>[Sources]</a:t>
            </a:r>
          </a:p>
          <a:p xmlns:a="http://schemas.openxmlformats.org/drawingml/2006/main">
            <a:r>
              <a:t>- operator_hypothesis_lab/docs/OWN_ASSET_RETURN_GEOMETRY_ATLAS_2018_2023.md</a:t>
            </a:r>
          </a:p>
          <a:p xmlns:a="http://schemas.openxmlformats.org/drawingml/2006/main">
            <a:r>
              <a:t>- runs/research_workbench/operator_hypothesis_lab/own_asset_return_geometry_atlas_20260826/run_spec.csv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atlas and inferential cells were fixed before examining cross-asset outcomes. Complete grids are descriptive; formal inference is limited to seven TSLA-discovered comparisons.</a:t>
            </a:r>
          </a:p>
          <a:p xmlns:a="http://schemas.openxmlformats.org/drawingml/2006/main">
            <a:r>
              <a:t/>
            </a:r>
          </a:p>
          <a:p xmlns:a="http://schemas.openxmlformats.org/drawingml/2006/main">
            <a:r>
              <a:t>[Sources]</a:t>
            </a:r>
          </a:p>
          <a:p xmlns:a="http://schemas.openxmlformats.org/drawingml/2006/main">
            <a:r>
              <a:t>- operator_hypothesis_lab/registries/own_asset_return_geometry_atlas.csv</a:t>
            </a:r>
          </a:p>
          <a:p xmlns:a="http://schemas.openxmlformats.org/drawingml/2006/main">
            <a:r>
              <a:t>- runs/research_workbench/operator_hypothesis_lab/own_asset_return_geometry_atlas_20260826/run_spec.csv</a:t>
            </a:r>
          </a:p>
          <a:p xmlns:a="http://schemas.openxmlformats.org/drawingml/2006/main">
            <a:r>
              <a:t>- runs/research_workbench/operator_hypothesis_lab/own_asset_return_geometry_atlas_20260826/atlas_checks.csv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direction of the TSLA finding repeats in 23 of 29 transport assets. This is breadth evidence for the morphology, not a trading rule.</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runs/research_workbench/operator_hypothesis_lab/own_asset_return_geometry_atlas_20260826/visuals/signed_er20_down_p20_f20_asset_effects.png</a:t>
            </a:r>
          </a:p>
          <a:p xmlns:a="http://schemas.openxmlformats.org/drawingml/2006/main">
            <a:r>
              <a:t>- runs/research_workbench/operator_hypothesis_lab/own_asset_return_geometry_atlas_20260826/frozen_replication_summary.csv</a:t>
            </a:r>
          </a:p>
          <a:p xmlns:a="http://schemas.openxmlformats.org/drawingml/2006/main">
            <a:r>
              <a:t>- runs/research_workbench/operator_hypothesis_lab/own_asset_return_geometry_atlas_20260826/frozen_replication_inference.csv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cross-asset median surface shows a broad long-prior, long-following negative island. That argues against a cell-specific accident and points to the 15–25-session neighborhood if later refinement is authorized.</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runs/research_workbench/operator_hypothesis_lab/own_asset_return_geometry_atlas_20260826/visuals/signed_er20_down_equal_asset_median_heatmap.png</a:t>
            </a:r>
          </a:p>
          <a:p xmlns:a="http://schemas.openxmlformats.org/drawingml/2006/main">
            <a:r>
              <a:t>- runs/research_workbench/operator_hypothesis_lab/own_asset_return_geometry_atlas_20260826/equal_asset_cell_summary.csv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effect is not confined to operator favorites or high-beta equities. All six behavior groups have negative median correlation at the frozen DOWN p20/f20 cell.</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runs/research_workbench/operator_hypothesis_lab/own_asset_return_geometry_atlas_20260826/visuals/frozen_replication_group_breadth.png</a:t>
            </a:r>
          </a:p>
          <a:p xmlns:a="http://schemas.openxmlformats.org/drawingml/2006/main">
            <a:r>
              <a:t>- runs/research_workbench/operator_hypothesis_lab/own_asset_return_geometry_atlas_20260826/frozen_replication_group_summary.csv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contact sheet is a morphology check. It shows recurring long-horizon rebound geometry without pretending every asset has the same map or effect size.</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runs/research_workbench/operator_hypothesis_lab/own_asset_return_geometry_atlas_20260826/visuals/signed_er20_down_asset_heatmap_atlas.png</a:t>
            </a:r>
          </a:p>
          <a:p xmlns:a="http://schemas.openxmlformats.org/drawingml/2006/main">
            <a:r>
              <a:t>- runs/research_workbench/operator_hypothesis_lab/own_asset_return_geometry_atlas_20260826/asset_state_grid_cells.csv</a:t>
            </a:r>
          </a:p>
          <a:p xmlns:a="http://schemas.openxmlformats.org/drawingml/2006/main">
            <a:r>
              <a:t>- runs/research_workbench/operator_hypothesis_lab/own_asset_return_geometry_atlas_20260826/asset_map_similarity_to_tsla.csv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atlas separates the robust descriptive shape from the TSLA-local wrinkle. The DOWN-state long-horizon rebound transports; the unfiltered 1x1 sign kink does not.</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runs/research_workbench/operator_hypothesis_lab/own_asset_return_geometry_atlas_20260826/frozen_replication_summary.csv</a:t>
            </a:r>
          </a:p>
          <a:p xmlns:a="http://schemas.openxmlformats.org/drawingml/2006/main">
            <a:r>
              <a:t>- runs/research_workbench/operator_hypothesis_lab/own_asset_return_geometry_atlas_20260826/frozen_replication_group_summary.csv</a:t>
            </a:r>
          </a:p>
          <a:p xmlns:a="http://schemas.openxmlformats.org/drawingml/2006/main">
            <a:r>
              <a:t>- operator_hypothesis_lab/docs/OWN_ASSET_RETURN_GEOMETRY_ATLAS_2018_2023.md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Breadth strengthens the case that the morphology is real in-sample, but it does not resolve shared-path conditioning, same-date dependence, later-time stability, or realizable returns.</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runs/research_workbench/operator_hypothesis_lab/own_asset_return_geometry_atlas_20260826/report.md</a:t>
            </a:r>
          </a:p>
          <a:p xmlns:a="http://schemas.openxmlformats.org/drawingml/2006/main">
            <a:r>
              <a:t>- runs/research_workbench/operator_hypothesis_lab/own_asset_return_geometry_atlas_20260826/tsla_parity_checks.csv</a:t>
            </a:r>
          </a:p>
          <a:p xmlns:a="http://schemas.openxmlformats.org/drawingml/2006/main">
            <a:r>
              <a:t>- operator_hypothesis_lab/docs/OWN_ASSET_RETURN_GEOMETRY_ATLAS_2018_2023.md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atlas gives no special reason to add 6–9-session horizons. If the operator opens refinement, the evidence-backed target is the broad 15–25-session neighborhood, ideally with a frozen later-time increment before strategy work.</a:t>
            </a:r>
          </a:p>
          <a:p xmlns:a="http://schemas.openxmlformats.org/drawingml/2006/main">
            <a:r>
              <a:t/>
            </a:r>
          </a:p>
          <a:p xmlns:a="http://schemas.openxmlformats.org/drawingml/2006/main">
            <a:r>
              <a:t>[Sources]</a:t>
            </a:r>
          </a:p>
          <a:p xmlns:a="http://schemas.openxmlformats.org/drawingml/2006/main">
            <a:r>
              <a:t>- operator_hypothesis_lab/docs/OWN_ASSET_RETURN_GEOMETRY_ATLAS_2018_2023.md</a:t>
            </a:r>
          </a:p>
          <a:p xmlns:a="http://schemas.openxmlformats.org/drawingml/2006/main">
            <a:r>
              <a:t>- operator_hypothesis_lab/docs/OWN_ASSET_RETURN_GEOMETRY_WORKFLOW_ROADMAP.md</a:t>
            </a:r>
          </a:p>
          <a:p xmlns:a="http://schemas.openxmlformats.org/drawingml/2006/main">
            <a:r>
              <a:t>- runs/research_workbench/operator_hypothesis_lab/own_asset_return_geometry_atlas_20260826/equal_asset_cell_summary.csv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frozen atlas can be read as a behavioral microscope. Prior-return sign and the within-branch slope define four archetypes, while the existing state filters change which archetype is most prevalent.</a:t>
            </a:r>
          </a:p>
          <a:p xmlns:a="http://schemas.openxmlformats.org/drawingml/2006/main">
            <a:r>
              <a:t/>
            </a:r>
          </a:p>
          <a:p xmlns:a="http://schemas.openxmlformats.org/drawingml/2006/main">
            <a:r>
              <a:t>[Sources]</a:t>
            </a:r>
          </a:p>
          <a:p xmlns:a="http://schemas.openxmlformats.org/drawingml/2006/main">
            <a:r>
              <a:t>- operator_hypothesis_lab/docs/OWN_ASSET_RETURN_GEOMETRY_ATLAS_2018_2023.md</a:t>
            </a:r>
          </a:p>
          <a:p xmlns:a="http://schemas.openxmlformats.org/drawingml/2006/main">
            <a:r>
              <a:t>- runs/research_workbench/operator_hypothesis_lab/return_geometry_behavior_catalog_20260826/report.md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grammar prevents the investigation from repeatedly renaming whichever cell looks interesting. A positive slope means continuation within that sign branch; a negative slope means reversal within that branch.</a:t>
            </a:r>
          </a:p>
          <a:p xmlns:a="http://schemas.openxmlformats.org/drawingml/2006/main">
            <a:r>
              <a:t/>
            </a:r>
          </a:p>
          <a:p xmlns:a="http://schemas.openxmlformats.org/drawingml/2006/main">
            <a:r>
              <a:t>[Sources]</a:t>
            </a:r>
          </a:p>
          <a:p xmlns:a="http://schemas.openxmlformats.org/drawingml/2006/main">
            <a:r>
              <a:t>- runs/research_workbench/operator_hypothesis_lab/return_geometry_behavior_catalog_20260826/visuals/behavior_archetype_grammar.png</a:t>
            </a:r>
          </a:p>
          <a:p xmlns:a="http://schemas.openxmlformats.org/drawingml/2006/main">
            <a:r>
              <a:t>- runs/research_workbench/operator_hypothesis_lab/return_geometry_behavior_catalog_20260826/behavior_catalog_state_summary.csv</a:t>
            </a:r>
          </a:p>
          <a:p xmlns:a="http://schemas.openxmlformats.org/drawingml/2006/main">
            <a:r>
              <a:t>- runs/research_workbench/operator_hypothesis_lab/own_asset_return_geometry_atlas_20260826/asset_prior_sign_cells.csv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supported cell requires at least 20 estimable assets and at least 60 percent same-sign breadth. These are post-hoc display rules for cataloging the inspected atlas, not inferential thresholds.</a:t>
            </a:r>
          </a:p>
          <a:p xmlns:a="http://schemas.openxmlformats.org/drawingml/2006/main">
            <a:r>
              <a:t/>
            </a:r>
          </a:p>
          <a:p xmlns:a="http://schemas.openxmlformats.org/drawingml/2006/main">
            <a:r>
              <a:t>[Sources]</a:t>
            </a:r>
          </a:p>
          <a:p xmlns:a="http://schemas.openxmlformats.org/drawingml/2006/main">
            <a:r>
              <a:t>- runs/research_workbench/operator_hypothesis_lab/return_geometry_behavior_catalog_20260826/visuals/behavior_state_catalog.png</a:t>
            </a:r>
          </a:p>
          <a:p xmlns:a="http://schemas.openxmlformats.org/drawingml/2006/main">
            <a:r>
              <a:t>- runs/research_workbench/operator_hypothesis_lab/return_geometry_behavior_catalog_20260826/behavior_catalog_state_summary.csv</a:t>
            </a:r>
          </a:p>
          <a:p xmlns:a="http://schemas.openxmlformats.org/drawingml/2006/main">
            <a:r>
              <a:t>- runs/research_workbench/operator_hypothesis_lab/own_asset_return_geometry_atlas_20260826/asset_prior_sign_cells.csv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classical momentum-like branch is visible, but not where a simple trending-up intuition would put it. It clusters most strongly in path-sideways observations and more modestly in low ATR percent; the signed-up state instead leans toward gain exhaustion.</a:t>
            </a:r>
          </a:p>
          <a:p xmlns:a="http://schemas.openxmlformats.org/drawingml/2006/main">
            <a:r>
              <a:t/>
            </a:r>
          </a:p>
          <a:p xmlns:a="http://schemas.openxmlformats.org/drawingml/2006/main">
            <a:r>
              <a:t>[Sources]</a:t>
            </a:r>
          </a:p>
          <a:p xmlns:a="http://schemas.openxmlformats.org/drawingml/2006/main">
            <a:r>
              <a:t>- runs/research_workbench/operator_hypothesis_lab/return_geometry_behavior_catalog_20260826/visuals/gain_continuation_state_heatmaps.png</a:t>
            </a:r>
          </a:p>
          <a:p xmlns:a="http://schemas.openxmlformats.org/drawingml/2006/main">
            <a:r>
              <a:t>- runs/research_workbench/operator_hypothesis_lab/return_geometry_behavior_catalog_20260826/behavior_catalog_state_summary.csv</a:t>
            </a:r>
          </a:p>
          <a:p xmlns:a="http://schemas.openxmlformats.org/drawingml/2006/main">
            <a:r>
              <a:t>- runs/research_workbench/operator_hypothesis_lab/own_asset_return_geometry_atlas_20260826/asset_prior_sign_cells.csv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atlas-wide catalog dims the spotlight on one TSLA-discovered cell. Loss rebound is a broad family of geometry across several states, although signed-down maps retain structural blanks where conditioning and prior sign cannot coexist.</a:t>
            </a:r>
          </a:p>
          <a:p xmlns:a="http://schemas.openxmlformats.org/drawingml/2006/main">
            <a:r>
              <a:t/>
            </a:r>
          </a:p>
          <a:p xmlns:a="http://schemas.openxmlformats.org/drawingml/2006/main">
            <a:r>
              <a:t>[Sources]</a:t>
            </a:r>
          </a:p>
          <a:p xmlns:a="http://schemas.openxmlformats.org/drawingml/2006/main">
            <a:r>
              <a:t>- runs/research_workbench/operator_hypothesis_lab/return_geometry_behavior_catalog_20260826/visuals/loss_rebound_state_heatmaps.png</a:t>
            </a:r>
          </a:p>
          <a:p xmlns:a="http://schemas.openxmlformats.org/drawingml/2006/main">
            <a:r>
              <a:t>- runs/research_workbench/operator_hypothesis_lab/return_geometry_behavior_catalog_20260826/behavior_catalog_state_summary.csv</a:t>
            </a:r>
          </a:p>
          <a:p xmlns:a="http://schemas.openxmlformats.org/drawingml/2006/main">
            <a:r>
              <a:t>- runs/research_workbench/operator_hypothesis_lab/own_asset_return_geometry_atlas_20260826/asset_prior_sign_cells.csv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Information diffusion, extension, overshoot, liquidity relief, volatility normalization, and forced deleveraging are candidate mechanisms only. Shared-path selection, overlap, drift, and common shocks remain competing explanations.</a:t>
            </a:r>
          </a:p>
          <a:p xmlns:a="http://schemas.openxmlformats.org/drawingml/2006/main">
            <a:r>
              <a:t/>
            </a:r>
          </a:p>
          <a:p xmlns:a="http://schemas.openxmlformats.org/drawingml/2006/main">
            <a:r>
              <a:t>[Sources]</a:t>
            </a:r>
          </a:p>
          <a:p xmlns:a="http://schemas.openxmlformats.org/drawingml/2006/main">
            <a:r>
              <a:t>- runs/research_workbench/operator_hypothesis_lab/return_geometry_behavior_catalog_20260826/visuals/behavior_mechanism_theses.png</a:t>
            </a:r>
          </a:p>
          <a:p xmlns:a="http://schemas.openxmlformats.org/drawingml/2006/main">
            <a:r>
              <a:t>- runs/research_workbench/operator_hypothesis_lab/return_geometry_behavior_catalog_20260826/behavior_catalog_state_summary.csv</a:t>
            </a:r>
          </a:p>
          <a:p xmlns:a="http://schemas.openxmlformats.org/drawingml/2006/main">
            <a:r>
              <a:t>- runs/research_workbench/operator_hypothesis_lab/own_asset_return_geometry_atlas_20260826/asset_prior_sign_cells.csv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catalog is a naming and discrimination layer. It earns clearer hypothesis generation, not a strategy. Any next confirmation should predeclare one archetype, one state, and one horizon neighborhood rather than search the complete atlas again.</a:t>
            </a:r>
          </a:p>
          <a:p xmlns:a="http://schemas.openxmlformats.org/drawingml/2006/main">
            <a:r>
              <a:t/>
            </a:r>
          </a:p>
          <a:p xmlns:a="http://schemas.openxmlformats.org/drawingml/2006/main">
            <a:r>
              <a:t>[Sources]</a:t>
            </a:r>
          </a:p>
          <a:p xmlns:a="http://schemas.openxmlformats.org/drawingml/2006/main">
            <a:r>
              <a:t>- operator_hypothesis_lab/docs/OWN_ASSET_RETURN_GEOMETRY_ATLAS_2018_2023.md</a:t>
            </a:r>
          </a:p>
          <a:p xmlns:a="http://schemas.openxmlformats.org/drawingml/2006/main">
            <a:r>
              <a:t>- operator_hypothesis_lab/docs/OWN_ASSET_RETURN_GEOMETRY_WORKFLOW_ROADMAP.md</a:t>
            </a:r>
          </a:p>
          <a:p xmlns:a="http://schemas.openxmlformats.org/drawingml/2006/main">
            <a:r>
              <a:t>- runs/research_workbench/operator_hypothesis_lab/return_geometry_behavior_catalog_20260826/behavior_catalog_state_summary.csv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coarse atlas earned one finer descriptive slice. The question is topological: bounded island, exact-window artifact, or broad open surface. The slice does not search for a tradable parameter.</a:t>
            </a:r>
          </a:p>
          <a:p xmlns:a="http://schemas.openxmlformats.org/drawingml/2006/main">
            <a:r>
              <a:t/>
            </a:r>
          </a:p>
          <a:p xmlns:a="http://schemas.openxmlformats.org/drawingml/2006/main">
            <a:r>
              <a:t>[Sources]</a:t>
            </a:r>
          </a:p>
          <a:p xmlns:a="http://schemas.openxmlformats.org/drawingml/2006/main">
            <a:r>
              <a:t>- operator_hypothesis_lab/docs/OWN_ASSET_RETURN_GEOMETRY_REBOUND_TOPOLOGY_2018_2023.md</a:t>
            </a:r>
          </a:p>
          <a:p xmlns:a="http://schemas.openxmlformats.org/drawingml/2006/main">
            <a:r>
              <a:t>- runs/research_workbench/operator_hypothesis_lab/return_geometry_rebound_topology_20260827/run_spec.csv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Only the horizon resolution changes. The primary state and two comparators were declared before the surface was interpreted, and the old coarse cells serve as an exact parity check.</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runs/research_workbench/operator_hypothesis_lab/return_geometry_rebound_topology_20260827/run_spec.csv</a:t>
            </a:r>
          </a:p>
          <a:p xmlns:a="http://schemas.openxmlformats.org/drawingml/2006/main">
            <a:r>
              <a:t>- runs/research_workbench/operator_hypothesis_lab/return_geometry_rebound_topology_20260827/topology_checks.csv</a:t>
            </a:r>
          </a:p>
          <a:p xmlns:a="http://schemas.openxmlformats.org/drawingml/2006/main">
            <a:r>
              <a:t>- operator_hypothesis_lab/registries/own_asset_return_geometry_atlas.csv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Black outlines mark the predeclared strong-cell rule. The signed-down component spans 414 cells and touches every edge of the inspected 10–30 grid.</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runs/research_workbench/operator_hypothesis_lab/return_geometry_rebound_topology_20260827/visuals/fine_grid_equal_asset_median_surfaces.png</a:t>
            </a:r>
          </a:p>
          <a:p xmlns:a="http://schemas.openxmlformats.org/drawingml/2006/main">
            <a:r>
              <a:t>- runs/research_workbench/operator_hypothesis_lab/return_geometry_rebound_topology_20260827/equal_asset_fine_grid_summary.csv</a:t>
            </a:r>
          </a:p>
          <a:p xmlns:a="http://schemas.openxmlformats.org/drawingml/2006/main">
            <a:r>
              <a:t>- runs/research_workbench/operator_hypothesis_lab/return_geometry_rebound_topology_20260827/topology_summary.csv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Cross-asset breadth is the guard against a single-name color patch. It does not turn common calendar observations into independent evidence.</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runs/research_workbench/operator_hypothesis_lab/return_geometry_rebound_topology_20260827/visuals/fine_grid_cross_asset_breadth_surfaces.png</a:t>
            </a:r>
          </a:p>
          <a:p xmlns:a="http://schemas.openxmlformats.org/drawingml/2006/main">
            <a:r>
              <a:t>- runs/research_workbench/operator_hypothesis_lab/return_geometry_rebound_topology_20260827/equal_asset_fine_grid_summary.csv</a:t>
            </a:r>
          </a:p>
          <a:p xmlns:a="http://schemas.openxmlformats.org/drawingml/2006/main">
            <a:r>
              <a:t>- runs/research_workbench/operator_hypothesis_lab/return_geometry_rebound_topology_20260827/topology_summary.csv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signed-down prior-20 row median differs from adjacent rows by only -0.0036; its following-20 column differs from adjacent columns by -0.0099. That reduces, but does not eliminate, shared-path coupling concern.</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runs/research_workbench/operator_hypothesis_lab/return_geometry_rebound_topology_20260827/visuals/p20_topology_cross_sections.png</a:t>
            </a:r>
          </a:p>
          <a:p xmlns:a="http://schemas.openxmlformats.org/drawingml/2006/main">
            <a:r>
              <a:t>- runs/research_workbench/operator_hypothesis_lab/return_geometry_rebound_topology_20260827/equal_asset_fine_grid_summary.csv</a:t>
            </a:r>
          </a:p>
          <a:p xmlns:a="http://schemas.openxmlformats.org/drawingml/2006/main">
            <a:r>
              <a:t>- runs/research_workbench/operator_hypothesis_lab/return_geometry_rebound_topology_20260827/topology_summary.csv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group maps preserve identity rather than pooling everything into one result. Five assets per group are enough to show heterogeneity, not to estimate an asset-class population.</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runs/research_workbench/operator_hypothesis_lab/return_geometry_rebound_topology_20260827/visuals/signed_down_behavior_group_surfaces.png</a:t>
            </a:r>
          </a:p>
          <a:p xmlns:a="http://schemas.openxmlformats.org/drawingml/2006/main">
            <a:r>
              <a:t>- runs/research_workbench/operator_hypothesis_lab/return_geometry_rebound_topology_20260827/equal_asset_fine_grid_summary.csv</a:t>
            </a:r>
          </a:p>
          <a:p xmlns:a="http://schemas.openxmlformats.org/drawingml/2006/main">
            <a:r>
              <a:t>- runs/research_workbench/operator_hypothesis_lab/return_geometry_rebound_topology_20260827/topology_summary.csv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largest strong component touches the grid boundary. The correct label is open plateau or ridge; 20→26 and 18→24 are descriptive extrema, not selected parameters.</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runs/research_workbench/operator_hypothesis_lab/return_geometry_rebound_topology_20260827/visuals/topology_coverage_summary.png</a:t>
            </a:r>
          </a:p>
          <a:p xmlns:a="http://schemas.openxmlformats.org/drawingml/2006/main">
            <a:r>
              <a:t>- runs/research_workbench/operator_hypothesis_lab/return_geometry_rebound_topology_20260827/equal_asset_fine_grid_summary.csv</a:t>
            </a:r>
          </a:p>
          <a:p xmlns:a="http://schemas.openxmlformats.org/drawingml/2006/main">
            <a:r>
              <a:t>- runs/research_workbench/operator_hypothesis_lab/return_geometry_rebound_topology_20260827/topology_summary.csv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fine grid answers the approved question: the transported rebound is a broad open surface rather than an exact-window island. The current 30 assets are sufficient for that diagnosis, but not for population-level asset-class claims. No later data, horizon extension, breadth expansion, or rule is opened here.</a:t>
            </a:r>
          </a:p>
          <a:p xmlns:a="http://schemas.openxmlformats.org/drawingml/2006/main">
            <a:r>
              <a:t/>
            </a:r>
          </a:p>
          <a:p xmlns:a="http://schemas.openxmlformats.org/drawingml/2006/main">
            <a:r>
              <a:t>[Sources]</a:t>
            </a:r>
          </a:p>
          <a:p xmlns:a="http://schemas.openxmlformats.org/drawingml/2006/main">
            <a:r>
              <a:t>- operator_hypothesis_lab/docs/OWN_ASSET_RETURN_GEOMETRY_REBOUND_TOPOLOGY_2018_2023.md</a:t>
            </a:r>
          </a:p>
          <a:p xmlns:a="http://schemas.openxmlformats.org/drawingml/2006/main">
            <a:r>
              <a:t>- operator_hypothesis_lab/docs/OWN_ASSET_RETURN_GEOMETRY_WORKFLOW_ROADMAP.md</a:t>
            </a:r>
          </a:p>
          <a:p xmlns:a="http://schemas.openxmlformats.org/drawingml/2006/main">
            <a:r>
              <a:t>- runs/research_workbench/operator_hypothesis_lab/return_geometry_rebound_topology_20260827/topology_summary.csv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fine-grid result was open at 30, so this slice asks a narrow boundary question. Sparse checkpoints protect the operator from turning one descriptive plateau into a dense endpoint search.</a:t>
            </a:r>
          </a:p>
          <a:p xmlns:a="http://schemas.openxmlformats.org/drawingml/2006/main">
            <a:r>
              <a:t/>
            </a:r>
          </a:p>
          <a:p xmlns:a="http://schemas.openxmlformats.org/drawingml/2006/main">
            <a:r>
              <a:t>[Sources]</a:t>
            </a:r>
          </a:p>
          <a:p xmlns:a="http://schemas.openxmlformats.org/drawingml/2006/main">
            <a:r>
              <a:t>- operator_hypothesis_lab/docs/OWN_ASSET_RETURN_GEOMETRY_REBOUND_BOUNDARY_PROBE_2018_2023.md</a:t>
            </a:r>
          </a:p>
          <a:p xmlns:a="http://schemas.openxmlformats.org/drawingml/2006/main">
            <a:r>
              <a:t>- runs/research_workbench/operator_hypothesis_lab/return_geometry_rebound_boundary_probe_20260827/run_spec.csv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union contains 147 unique prior/following pairs. Both orientations are measured: vary prior with following fixed, and vary following with prior fixed. Shared 10–30 cells must match the preceding packet exactly.</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runs/research_workbench/operator_hypothesis_lab/return_geometry_rebound_boundary_probe_20260827/probe_registry.csv</a:t>
            </a:r>
          </a:p>
          <a:p xmlns:a="http://schemas.openxmlformats.org/drawingml/2006/main">
            <a:r>
              <a:t>- runs/research_workbench/operator_hypothesis_lab/return_geometry_rebound_boundary_probe_20260827/boundary_probe_checks.csv</a:t>
            </a:r>
          </a:p>
          <a:p xmlns:a="http://schemas.openxmlformats.org/drawingml/2006/main">
            <a:r>
              <a:t>- operator_hypothesis_lab/registries/own_asset_return_geometry_atlas.csv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condition, orientation, and fixed-anchor path remains breadth-supported and strong at 35, 40, 50, 75, and 100 sessions. This is one cumulative morphology result, not 18 independent discoveries.</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runs/research_workbench/operator_hypothesis_lab/return_geometry_rebound_boundary_probe_20260827/visuals/boundary_equal_asset_cross_sections.png</a:t>
            </a:r>
          </a:p>
          <a:p xmlns:a="http://schemas.openxmlformats.org/drawingml/2006/main">
            <a:r>
              <a:t>- runs/research_workbench/operator_hypothesis_lab/return_geometry_rebound_boundary_probe_20260827/equal_asset_boundary_cross_sections.csv</a:t>
            </a:r>
          </a:p>
          <a:p xmlns:a="http://schemas.openxmlformats.org/drawingml/2006/main">
            <a:r>
              <a:t>- runs/research_workbench/operator_hypothesis_lab/return_geometry_rebound_boundary_probe_20260827/boundary_summary.csv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breadth view guards against one or two names driving the equal-asset median. Same-date observations remain dependent, so breadth does not create independent time experiments.</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runs/research_workbench/operator_hypothesis_lab/return_geometry_rebound_boundary_probe_20260827/visuals/boundary_cross_asset_breadth.png</a:t>
            </a:r>
          </a:p>
          <a:p xmlns:a="http://schemas.openxmlformats.org/drawingml/2006/main">
            <a:r>
              <a:t>- runs/research_workbench/operator_hypothesis_lab/return_geometry_rebound_boundary_probe_20260827/equal_asset_boundary_cross_sections.csv</a:t>
            </a:r>
          </a:p>
          <a:p xmlns:a="http://schemas.openxmlformats.org/drawingml/2006/main">
            <a:r>
              <a:t>- runs/research_workbench/operator_hypothesis_lab/return_geometry_rebound_boundary_probe_20260827/boundary_summary.csv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signed-down boundary matrix remains strong in both orientations. The most negative outer values occur when the prior anchor stays at 20–30 and cumulative following return expands to 100.</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runs/research_workbench/operator_hypothesis_lab/return_geometry_rebound_boundary_probe_20260827/visuals/signed_down_outer_checkpoint_matrix.png</a:t>
            </a:r>
          </a:p>
          <a:p xmlns:a="http://schemas.openxmlformats.org/drawingml/2006/main">
            <a:r>
              <a:t>- runs/research_workbench/operator_hypothesis_lab/return_geometry_rebound_boundary_probe_20260827/equal_asset_boundary_cross_sections.csv</a:t>
            </a:r>
          </a:p>
          <a:p xmlns:a="http://schemas.openxmlformats.org/drawingml/2006/main">
            <a:r>
              <a:t>- runs/research_workbench/operator_hypothesis_lab/return_geometry_rebound_boundary_probe_20260827/boundary_summary.csv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the 100-session signed-down boundary, equity-ETF group medians are about -0.58 to -0.67. Non-equity proxy medians are only about -0.03 to -0.06 when the following horizon expands. Five-name groups remain descriptive.</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runs/research_workbench/operator_hypothesis_lab/return_geometry_rebound_boundary_probe_20260827/visuals/signed_down_group_boundary_cross_sections.png</a:t>
            </a:r>
          </a:p>
          <a:p xmlns:a="http://schemas.openxmlformats.org/drawingml/2006/main">
            <a:r>
              <a:t>- runs/research_workbench/operator_hypothesis_lab/return_geometry_rebound_boundary_probe_20260827/equal_asset_boundary_cross_sections.csv</a:t>
            </a:r>
          </a:p>
          <a:p xmlns:a="http://schemas.openxmlformats.org/drawingml/2006/main">
            <a:r>
              <a:t>- runs/research_workbench/operator_hypothesis_lab/return_geometry_rebound_boundary_probe_20260827/boundary_summary.csv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Longer windows reduce the number of completed observations, especially after signed-down filtering, but the descriptive support guardrails remain satisfied through 100 sessions.</a:t>
            </a:r>
          </a:p>
          <a:p xmlns:a="http://schemas.openxmlformats.org/drawingml/2006/main">
            <a:r>
              <a:t/>
            </a:r>
          </a:p>
          <a:p xmlns:a="http://schemas.openxmlformats.org/drawingml/2006/main">
            <a:r>
              <a:t>[Sources]</a:t>
            </a:r>
          </a:p>
          <a:p xmlns:a="http://schemas.openxmlformats.org/drawingml/2006/main">
            <a:r>
              <a:t>- runs/research_workbench/operator_hypothesis_lab/return_geometry_rebound_boundary_probe_20260827/visuals/boundary_sample_support.png</a:t>
            </a:r>
          </a:p>
          <a:p xmlns:a="http://schemas.openxmlformats.org/drawingml/2006/main">
            <a:r>
              <a:t>- runs/research_workbench/operator_hypothesis_lab/return_geometry_rebound_boundary_probe_20260827/equal_asset_boundary_cross_sections.csv</a:t>
            </a:r>
          </a:p>
          <a:p xmlns:a="http://schemas.openxmlformats.org/drawingml/2006/main">
            <a:r>
              <a:t>- runs/research_workbench/operator_hypothesis_lab/return_geometry_rebound_boundary_probe_20260827/boundary_summary.csv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100-session cumulative future return includes every earlier return block. Persistence at 100 may mean that a rebound happened early and remains embedded in the total; it does not show that new return continues for 100 sessions. Incremental blocks are the clean next measurement.</a:t>
            </a:r>
          </a:p>
          <a:p xmlns:a="http://schemas.openxmlformats.org/drawingml/2006/main">
            <a:r>
              <a:t/>
            </a:r>
          </a:p>
          <a:p xmlns:a="http://schemas.openxmlformats.org/drawingml/2006/main">
            <a:r>
              <a:t>[Sources]</a:t>
            </a:r>
          </a:p>
          <a:p xmlns:a="http://schemas.openxmlformats.org/drawingml/2006/main">
            <a:r>
              <a:t>- operator_hypothesis_lab/docs/OWN_ASSET_RETURN_GEOMETRY_REBOUND_BOUNDARY_PROBE_2018_2023.md</a:t>
            </a:r>
          </a:p>
          <a:p xmlns:a="http://schemas.openxmlformats.org/drawingml/2006/main">
            <a:r>
              <a:t>- operator_hypothesis_lab/docs/OWN_ASSET_RETURN_GEOMETRY_WORKFLOW_ROADMAP.md</a:t>
            </a:r>
          </a:p>
          <a:p xmlns:a="http://schemas.openxmlformats.org/drawingml/2006/main">
            <a:r>
              <a:t>- runs/research_workbench/operator_hypothesis_lab/return_geometry_rebound_boundary_probe_20260827/boundary_summary.csv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slice opens breadth, not another horizon search. The attention sleeve and controls are retained as challengers, while the full-history 88-stock core determines the equal-sector headline.</a:t>
            </a:r>
          </a:p>
          <a:p xmlns:a="http://schemas.openxmlformats.org/drawingml/2006/main">
            <a:r>
              <a:t/>
            </a:r>
          </a:p>
          <a:p xmlns:a="http://schemas.openxmlformats.org/drawingml/2006/main">
            <a:r>
              <a:t>[Sources]</a:t>
            </a:r>
          </a:p>
          <a:p xmlns:a="http://schemas.openxmlformats.org/drawingml/2006/main">
            <a:r>
              <a:t>- operator_hypothesis_lab/docs/RETURN_GEOMETRY_WIDE_ATLAS_2018_2023.md</a:t>
            </a:r>
          </a:p>
          <a:p xmlns:a="http://schemas.openxmlformats.org/drawingml/2006/main">
            <a:r>
              <a:t>- operator_hypothesis_lab/registries/return_geometry_wide_atlas.csv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GICS supplies the 11-sector top-level taxonomy. These are frozen current research labels, not point-in-time constituent histories. Only the core enters equal-sector aggregation.</a:t>
            </a:r>
          </a:p>
          <a:p xmlns:a="http://schemas.openxmlformats.org/drawingml/2006/main">
            <a:r>
              <a:t/>
            </a:r>
          </a:p>
          <a:p xmlns:a="http://schemas.openxmlformats.org/drawingml/2006/main">
            <a:r>
              <a:t>[Sources]</a:t>
            </a:r>
          </a:p>
          <a:p xmlns:a="http://schemas.openxmlformats.org/drawingml/2006/main">
            <a:r>
              <a:t>- operator_hypothesis_lab/registries/return_geometry_wide_atlas.csv</a:t>
            </a:r>
          </a:p>
          <a:p xmlns:a="http://schemas.openxmlformats.org/drawingml/2006/main">
            <a:r>
              <a:t>- runs/research_workbench/operator_hypothesis_lab/return_geometry_wide_atlas_20260827/run_spec.csv</a:t>
            </a:r>
          </a:p>
          <a:p xmlns:a="http://schemas.openxmlformats.org/drawingml/2006/main">
            <a:r>
              <a:t>- https://www.spglobal.com/spdji/en/landing/topic/gics/</a:t>
            </a:r>
          </a:p>
          <a:p xmlns:a="http://schemas.openxmlformats.org/drawingml/2006/main">
            <a:r>
              <a:t>- https://www.spglobal.com/spdji/en/documents/methodologies/methodology-gics.pdf?force_download=true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remaining provider WARN labels are structural IPO/first-trade partial histories in the attention sleeve. A refresh was attempted and returned no earlier bars. The equal-sector core is fully covered.</a:t>
            </a:r>
          </a:p>
          <a:p xmlns:a="http://schemas.openxmlformats.org/drawingml/2006/main">
            <a:r>
              <a:t/>
            </a:r>
          </a:p>
          <a:p xmlns:a="http://schemas.openxmlformats.org/drawingml/2006/main">
            <a:r>
              <a:t>[Sources]</a:t>
            </a:r>
          </a:p>
          <a:p xmlns:a="http://schemas.openxmlformats.org/drawingml/2006/main">
            <a:r>
              <a:t>- runs/research_workbench/operator_hypothesis_lab/return_geometry_wide_atlas_20260827/coverage_ledger.csv</a:t>
            </a:r>
          </a:p>
          <a:p xmlns:a="http://schemas.openxmlformats.org/drawingml/2006/main">
            <a:r>
              <a:t>- runs/research_workbench/operator_hypothesis_lab/return_geometry_wide_atlas_20260827/wide_atlas_query_merge_summary.csv</a:t>
            </a:r>
          </a:p>
          <a:p xmlns:a="http://schemas.openxmlformats.org/drawingml/2006/main">
            <a:r>
              <a:t>- runs/research_workbench/operator_hypothesis_lab/return_geometry_wide_atlas_20260827/wide_atlas_checks.csv</a:t>
            </a:r>
          </a:p>
          <a:p xmlns:a="http://schemas.openxmlformats.org/drawingml/2006/main">
            <a:r>
              <a:t>- runs/research_workbench/operator_hypothesis_lab/return_geometry_wide_atlas_20260827/original_atlas_parity.csv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primary surface takes the median loss-branch correlation within each sector and then the median across 11 sectors. All 64 cells remain negative. This is one dependent morphology, not 64 independent confirmations.</a:t>
            </a:r>
          </a:p>
          <a:p xmlns:a="http://schemas.openxmlformats.org/drawingml/2006/main">
            <a:r>
              <a:t/>
            </a:r>
          </a:p>
          <a:p xmlns:a="http://schemas.openxmlformats.org/drawingml/2006/main">
            <a:r>
              <a:t>[Sources]</a:t>
            </a:r>
          </a:p>
          <a:p xmlns:a="http://schemas.openxmlformats.org/drawingml/2006/main">
            <a:r>
              <a:t>- runs/research_workbench/operator_hypothesis_lab/return_geometry_wide_atlas_20260827/visuals/equal_sector_signed_er20_down_trend_heatmap.png</a:t>
            </a:r>
          </a:p>
          <a:p xmlns:a="http://schemas.openxmlformats.org/drawingml/2006/main">
            <a:r>
              <a:t>- runs/research_workbench/operator_hypothesis_lab/return_geometry_wide_atlas_20260827/equal_sector_cell_summary.csv</a:t>
            </a:r>
          </a:p>
          <a:p xmlns:a="http://schemas.openxmlformats.org/drawingml/2006/main">
            <a:r>
              <a:t>- operator_hypothesis_lab/docs/RETURN_GEOMETRY_WIDE_ATLAS_2018_2023.md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100-session Health Care exception is useful: broad transport is not the same thing as a universal law. Consumer Discretionary, Materials, Industrials, and Utilities are especially negative at 100.</a:t>
            </a:r>
          </a:p>
          <a:p xmlns:a="http://schemas.openxmlformats.org/drawingml/2006/main">
            <a:r>
              <a:t/>
            </a:r>
          </a:p>
          <a:p xmlns:a="http://schemas.openxmlformats.org/drawingml/2006/main">
            <a:r>
              <a:t>[Sources]</a:t>
            </a:r>
          </a:p>
          <a:p xmlns:a="http://schemas.openxmlformats.org/drawingml/2006/main">
            <a:r>
              <a:t>- runs/research_workbench/operator_hypothesis_lab/return_geometry_wide_atlas_20260827/visuals/signed_down_sector_diagonal.png</a:t>
            </a:r>
          </a:p>
          <a:p xmlns:a="http://schemas.openxmlformats.org/drawingml/2006/main">
            <a:r>
              <a:t>- runs/research_workbench/operator_hypothesis_lab/return_geometry_wide_atlas_20260827/sector_horizon_diagonal.csv</a:t>
            </a:r>
          </a:p>
          <a:p xmlns:a="http://schemas.openxmlformats.org/drawingml/2006/main">
            <a:r>
              <a:t>- runs/research_workbench/operator_hypothesis_lab/return_geometry_wide_atlas_20260827/headline_signed_down_diagonal.csv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view prevents the study from becoming a signed-down-only story. Unfiltered loss rebound remains visible, ATR-high is stronger than low/medium, and the signed-up negative-prior branch is sparse because the state and branch are mechanically discordant.</a:t>
            </a:r>
          </a:p>
          <a:p xmlns:a="http://schemas.openxmlformats.org/drawingml/2006/main">
            <a:r>
              <a:t/>
            </a:r>
          </a:p>
          <a:p xmlns:a="http://schemas.openxmlformats.org/drawingml/2006/main">
            <a:r>
              <a:t>[Sources]</a:t>
            </a:r>
          </a:p>
          <a:p xmlns:a="http://schemas.openxmlformats.org/drawingml/2006/main">
            <a:r>
              <a:t>- runs/research_workbench/operator_hypothesis_lab/return_geometry_wide_atlas_20260827/visuals/all_states_equal_sector_diagonal.png</a:t>
            </a:r>
          </a:p>
          <a:p xmlns:a="http://schemas.openxmlformats.org/drawingml/2006/main">
            <a:r>
              <a:t>- runs/research_workbench/operator_hypothesis_lab/return_geometry_wide_atlas_20260827/equal_sector_horizon_diagonal.csv</a:t>
            </a:r>
          </a:p>
          <a:p xmlns:a="http://schemas.openxmlformats.org/drawingml/2006/main">
            <a:r>
              <a:t>- operator_hypothesis_lab/docs/RETURN_GEOMETRY_WIDE_ATLAS_2018_2023.md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attention sleeve is deliberately secondary and heterogeneous. Its median moves from -0.105 at 20 to -0.295 at 100, but several names retain opposite signs. Non-equity controls remain much weaker than equities.</a:t>
            </a:r>
          </a:p>
          <a:p xmlns:a="http://schemas.openxmlformats.org/drawingml/2006/main">
            <a:r>
              <a:t/>
            </a:r>
          </a:p>
          <a:p xmlns:a="http://schemas.openxmlformats.org/drawingml/2006/main">
            <a:r>
              <a:t>[Sources]</a:t>
            </a:r>
          </a:p>
          <a:p xmlns:a="http://schemas.openxmlformats.org/drawingml/2006/main">
            <a:r>
              <a:t>- runs/research_workbench/operator_hypothesis_lab/return_geometry_wide_atlas_20260827/visuals/signed_down_cohort_diagonal.png</a:t>
            </a:r>
          </a:p>
          <a:p xmlns:a="http://schemas.openxmlformats.org/drawingml/2006/main">
            <a:r>
              <a:t>- runs/research_workbench/operator_hypothesis_lab/return_geometry_wide_atlas_20260827/visuals/signed_down_attention_diagonal.png</a:t>
            </a:r>
          </a:p>
          <a:p xmlns:a="http://schemas.openxmlformats.org/drawingml/2006/main">
            <a:r>
              <a:t>- runs/research_workbench/operator_hypothesis_lab/return_geometry_wide_atlas_20260827/cohort_horizon_diagonal.csv</a:t>
            </a:r>
          </a:p>
          <a:p xmlns:a="http://schemas.openxmlformats.org/drawingml/2006/main">
            <a:r>
              <a:t>- runs/research_workbench/operator_hypothesis_lab/return_geometry_wide_atlas_20260827/asset_horizon_diagonal.csv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breadth slice weakens a TSLA-only, five-name-group, or single-sector explanation. Cumulative overlapping returns still hide when the rebound accrues. The operator must open the next gate explicitly.</a:t>
            </a:r>
          </a:p>
          <a:p xmlns:a="http://schemas.openxmlformats.org/drawingml/2006/main">
            <a:r>
              <a:t/>
            </a:r>
          </a:p>
          <a:p xmlns:a="http://schemas.openxmlformats.org/drawingml/2006/main">
            <a:r>
              <a:t>[Sources]</a:t>
            </a:r>
          </a:p>
          <a:p xmlns:a="http://schemas.openxmlformats.org/drawingml/2006/main">
            <a:r>
              <a:t>- operator_hypothesis_lab/docs/RETURN_GEOMETRY_WIDE_ATLAS_2018_2023.md</a:t>
            </a:r>
          </a:p>
          <a:p xmlns:a="http://schemas.openxmlformats.org/drawingml/2006/main">
            <a:r>
              <a:t>- operator_hypothesis_lab/docs/OWN_ASSET_RETURN_GEOMETRY_WORKFLOW_ROADMAP.md</a:t>
            </a:r>
          </a:p>
          <a:p xmlns:a="http://schemas.openxmlformats.org/drawingml/2006/main">
            <a:r>
              <a:t>- runs/research_workbench/operator_hypothesis_lab/return_geometry_wide_atlas_20260827/wide_atlas_status.csv</a:t>
            </a:r>
          </a:p>
          <a:p xmlns:a="http://schemas.openxmlformats.org/drawingml/2006/main">
            <a:r>
              <a:t>- runs/research_workbench/operator_hypothesis_lab/return_geometry_wide_atlas_20260827/report.md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is a completeness layer. It restores the original 1/2/3/4/5/10/15/20/25 horizons, retains the coarse extension through 100, and treats both prior-sign branches symmetrically.</a:t>
            </a:r>
          </a:p>
          <a:p xmlns:a="http://schemas.openxmlformats.org/drawingml/2006/main">
            <a:r>
              <a:t/>
            </a:r>
          </a:p>
          <a:p xmlns:a="http://schemas.openxmlformats.org/drawingml/2006/main">
            <a:r>
              <a:t>[Sources]</a:t>
            </a:r>
          </a:p>
          <a:p xmlns:a="http://schemas.openxmlformats.org/drawingml/2006/main">
            <a:r>
              <a:t>- runs/research_workbench/operator_hypothesis_lab/return_geometry_wide_atlas_full_vocabulary_20260827/run_spec.csv</a:t>
            </a:r>
          </a:p>
          <a:p xmlns:a="http://schemas.openxmlformats.org/drawingml/2006/main">
            <a:r>
              <a:t>- operator_hypothesis_lab/docs/RETURN_GEOMETRY_WIDE_ATLAS_2018_2023.md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state vocabulary is unchanged. Negative-prior correlations can express loss rebound or loss continuation; positive-prior correlations can express gain continuation or gain exhaustion.</a:t>
            </a:r>
          </a:p>
          <a:p xmlns:a="http://schemas.openxmlformats.org/drawingml/2006/main">
            <a:r>
              <a:t/>
            </a:r>
          </a:p>
          <a:p xmlns:a="http://schemas.openxmlformats.org/drawingml/2006/main">
            <a:r>
              <a:t>[Sources]</a:t>
            </a:r>
          </a:p>
          <a:p xmlns:a="http://schemas.openxmlformats.org/drawingml/2006/main">
            <a:r>
              <a:t>- runs/research_workbench/operator_hypothesis_lab/return_geometry_wide_atlas_full_vocabulary_20260827/run_spec.csv</a:t>
            </a:r>
          </a:p>
          <a:p xmlns:a="http://schemas.openxmlformats.org/drawingml/2006/main">
            <a:r>
              <a:t>- runs/research_workbench/operator_hypothesis_lab/return_geometry_wide_atlas_full_vocabulary_20260827/wide_atlas_checks.csv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negative-prior branch. Negative correlation means larger preceding losses are associated with stronger following cumulative returns; positive correlation would indicate loss continuation.</a:t>
            </a:r>
          </a:p>
          <a:p xmlns:a="http://schemas.openxmlformats.org/drawingml/2006/main">
            <a:r>
              <a:t/>
            </a:r>
          </a:p>
          <a:p xmlns:a="http://schemas.openxmlformats.org/drawingml/2006/main">
            <a:r>
              <a:t>[Sources]</a:t>
            </a:r>
          </a:p>
          <a:p xmlns:a="http://schemas.openxmlformats.org/drawingml/2006/main">
            <a:r>
              <a:t>- runs/research_workbench/operator_hypothesis_lab/return_geometry_wide_atlas_full_vocabulary_20260827/equal_sector_cell_summary.csv</a:t>
            </a:r>
          </a:p>
          <a:p xmlns:a="http://schemas.openxmlformats.org/drawingml/2006/main">
            <a:r>
              <a:t>- runs/research_workbench/operator_hypothesis_lab/return_geometry_wide_atlas_full_vocabulary_20260827/visuals/equal_sector_unfiltered_all_heatmap.png</a:t>
            </a:r>
          </a:p>
          <a:p xmlns:a="http://schemas.openxmlformats.org/drawingml/2006/main">
            <a:r>
              <a:t>- runs/research_workbench/operator_hypothesis_lab/return_geometry_wide_atlas_full_vocabulary_20260827/visuals/equal_sector_er20_red_sideways_heatmap.png</a:t>
            </a:r>
          </a:p>
          <a:p xmlns:a="http://schemas.openxmlformats.org/drawingml/2006/main">
            <a:r>
              <a:t>- runs/research_workbench/operator_hypothesis_lab/return_geometry_wide_atlas_full_vocabulary_20260827/visuals/equal_sector_er20_green_trending_heatmap.png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three volatility states are shown on the same scale. ATR-high is emphasized only because the complete surface reveals stronger negative dependence there.</a:t>
            </a:r>
          </a:p>
          <a:p xmlns:a="http://schemas.openxmlformats.org/drawingml/2006/main">
            <a:r>
              <a:t/>
            </a:r>
          </a:p>
          <a:p xmlns:a="http://schemas.openxmlformats.org/drawingml/2006/main">
            <a:r>
              <a:t>[Sources]</a:t>
            </a:r>
          </a:p>
          <a:p xmlns:a="http://schemas.openxmlformats.org/drawingml/2006/main">
            <a:r>
              <a:t>- runs/research_workbench/operator_hypothesis_lab/return_geometry_wide_atlas_full_vocabulary_20260827/equal_sector_cell_summary.csv</a:t>
            </a:r>
          </a:p>
          <a:p xmlns:a="http://schemas.openxmlformats.org/drawingml/2006/main">
            <a:r>
              <a:t>- runs/research_workbench/operator_hypothesis_lab/return_geometry_wide_atlas_full_vocabulary_20260827/visuals/equal_sector_atrp_low_heatmap.png</a:t>
            </a:r>
          </a:p>
          <a:p xmlns:a="http://schemas.openxmlformats.org/drawingml/2006/main">
            <a:r>
              <a:t>- runs/research_workbench/operator_hypothesis_lab/return_geometry_wide_atlas_full_vocabulary_20260827/visuals/equal_sector_atrp_medium_heatmap.png</a:t>
            </a:r>
          </a:p>
          <a:p xmlns:a="http://schemas.openxmlformats.org/drawingml/2006/main">
            <a:r>
              <a:t>- runs/research_workbench/operator_hypothesis_lab/return_geometry_wide_atlas_full_vocabulary_20260827/visuals/equal_sector_atrp_high_heatmap.png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up-state loss branch is mechanically sparse at short horizons because a positive path state and negative cumulative prior return are discordant. The sparse region is retained rather than imputed.</a:t>
            </a:r>
          </a:p>
          <a:p xmlns:a="http://schemas.openxmlformats.org/drawingml/2006/main">
            <a:r>
              <a:t/>
            </a:r>
          </a:p>
          <a:p xmlns:a="http://schemas.openxmlformats.org/drawingml/2006/main">
            <a:r>
              <a:t>[Sources]</a:t>
            </a:r>
          </a:p>
          <a:p xmlns:a="http://schemas.openxmlformats.org/drawingml/2006/main">
            <a:r>
              <a:t>- runs/research_workbench/operator_hypothesis_lab/return_geometry_wide_atlas_full_vocabulary_20260827/equal_sector_cell_summary.csv</a:t>
            </a:r>
          </a:p>
          <a:p xmlns:a="http://schemas.openxmlformats.org/drawingml/2006/main">
            <a:r>
              <a:t>- runs/research_workbench/operator_hypothesis_lab/return_geometry_wide_atlas_full_vocabulary_20260827/visuals/equal_sector_signed_er20_up_trend_heatmap.png</a:t>
            </a:r>
          </a:p>
          <a:p xmlns:a="http://schemas.openxmlformats.org/drawingml/2006/main">
            <a:r>
              <a:t>- runs/research_workbench/operator_hypothesis_lab/return_geometry_wide_atlas_full_vocabulary_20260827/visuals/equal_sector_signed_er20_sideways_heatmap.png</a:t>
            </a:r>
          </a:p>
          <a:p xmlns:a="http://schemas.openxmlformats.org/drawingml/2006/main">
            <a:r>
              <a:t>- runs/research_workbench/operator_hypothesis_lab/return_geometry_wide_atlas_full_vocabulary_20260827/visuals/equal_sector_signed_er20_down_trend_heatmap.png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positive-prior branch. Positive correlation indicates gain continuation; negative correlation indicates gain exhaustion. The same assets and horizon grid are used as on the loss branch.</a:t>
            </a:r>
          </a:p>
          <a:p xmlns:a="http://schemas.openxmlformats.org/drawingml/2006/main">
            <a:r>
              <a:t/>
            </a:r>
          </a:p>
          <a:p xmlns:a="http://schemas.openxmlformats.org/drawingml/2006/main">
            <a:r>
              <a:t>[Sources]</a:t>
            </a:r>
          </a:p>
          <a:p xmlns:a="http://schemas.openxmlformats.org/drawingml/2006/main">
            <a:r>
              <a:t>- runs/research_workbench/operator_hypothesis_lab/return_geometry_wide_atlas_full_vocabulary_20260827/equal_sector_cell_summary.csv</a:t>
            </a:r>
          </a:p>
          <a:p xmlns:a="http://schemas.openxmlformats.org/drawingml/2006/main">
            <a:r>
              <a:t>- runs/research_workbench/operator_hypothesis_lab/return_geometry_wide_atlas_full_vocabulary_20260827/visuals/equal_sector_gain_unfiltered_all_heatmap.png</a:t>
            </a:r>
          </a:p>
          <a:p xmlns:a="http://schemas.openxmlformats.org/drawingml/2006/main">
            <a:r>
              <a:t>- runs/research_workbench/operator_hypothesis_lab/return_geometry_wide_atlas_full_vocabulary_20260827/visuals/equal_sector_gain_er20_red_sideways_heatmap.png</a:t>
            </a:r>
          </a:p>
          <a:p xmlns:a="http://schemas.openxmlformats.org/drawingml/2006/main">
            <a:r>
              <a:t>- runs/research_workbench/operator_hypothesis_lab/return_geometry_wide_atlas_full_vocabulary_20260827/visuals/equal_sector_gain_er20_green_trending_heatmap.png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gain branch is shown without selecting a favorable volatility state. The slide is descriptive and uses one shared scale across all three panels.</a:t>
            </a:r>
          </a:p>
          <a:p xmlns:a="http://schemas.openxmlformats.org/drawingml/2006/main">
            <a:r>
              <a:t/>
            </a:r>
          </a:p>
          <a:p xmlns:a="http://schemas.openxmlformats.org/drawingml/2006/main">
            <a:r>
              <a:t>[Sources]</a:t>
            </a:r>
          </a:p>
          <a:p xmlns:a="http://schemas.openxmlformats.org/drawingml/2006/main">
            <a:r>
              <a:t>- runs/research_workbench/operator_hypothesis_lab/return_geometry_wide_atlas_full_vocabulary_20260827/equal_sector_cell_summary.csv</a:t>
            </a:r>
          </a:p>
          <a:p xmlns:a="http://schemas.openxmlformats.org/drawingml/2006/main">
            <a:r>
              <a:t>- runs/research_workbench/operator_hypothesis_lab/return_geometry_wide_atlas_full_vocabulary_20260827/visuals/equal_sector_gain_atrp_low_heatmap.png</a:t>
            </a:r>
          </a:p>
          <a:p xmlns:a="http://schemas.openxmlformats.org/drawingml/2006/main">
            <a:r>
              <a:t>- runs/research_workbench/operator_hypothesis_lab/return_geometry_wide_atlas_full_vocabulary_20260827/visuals/equal_sector_gain_atrp_medium_heatmap.png</a:t>
            </a:r>
          </a:p>
          <a:p xmlns:a="http://schemas.openxmlformats.org/drawingml/2006/main">
            <a:r>
              <a:t>- runs/research_workbench/operator_hypothesis_lab/return_geometry_wide_atlas_full_vocabulary_20260827/visuals/equal_sector_gain_atrp_high_heatmap.png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down-state gain branch is mechanically sparse at short horizons because a negative path state and positive cumulative prior return are discordant. Missing cells remain visible.</a:t>
            </a:r>
          </a:p>
          <a:p xmlns:a="http://schemas.openxmlformats.org/drawingml/2006/main">
            <a:r>
              <a:t/>
            </a:r>
          </a:p>
          <a:p xmlns:a="http://schemas.openxmlformats.org/drawingml/2006/main">
            <a:r>
              <a:t>[Sources]</a:t>
            </a:r>
          </a:p>
          <a:p xmlns:a="http://schemas.openxmlformats.org/drawingml/2006/main">
            <a:r>
              <a:t>- runs/research_workbench/operator_hypothesis_lab/return_geometry_wide_atlas_full_vocabulary_20260827/equal_sector_cell_summary.csv</a:t>
            </a:r>
          </a:p>
          <a:p xmlns:a="http://schemas.openxmlformats.org/drawingml/2006/main">
            <a:r>
              <a:t>- runs/research_workbench/operator_hypothesis_lab/return_geometry_wide_atlas_full_vocabulary_20260827/visuals/equal_sector_gain_signed_er20_up_trend_heatmap.png</a:t>
            </a:r>
          </a:p>
          <a:p xmlns:a="http://schemas.openxmlformats.org/drawingml/2006/main">
            <a:r>
              <a:t>- runs/research_workbench/operator_hypothesis_lab/return_geometry_wide_atlas_full_vocabulary_20260827/visuals/equal_sector_gain_signed_er20_sideways_heatmap.png</a:t>
            </a:r>
          </a:p>
          <a:p xmlns:a="http://schemas.openxmlformats.org/drawingml/2006/main">
            <a:r>
              <a:t>- runs/research_workbench/operator_hypothesis_lab/return_geometry_wide_atlas_full_vocabulary_20260827/visuals/equal_sector_gain_signed_er20_down_trend_heatmap.png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Equal-horizon diagonals compress the complete grids only for comparison. They are not a parameter recommendation. The full 15-by-15 panels on the preceding slides remain the authoritative completeness view.</a:t>
            </a:r>
          </a:p>
          <a:p xmlns:a="http://schemas.openxmlformats.org/drawingml/2006/main">
            <a:r>
              <a:t/>
            </a:r>
          </a:p>
          <a:p xmlns:a="http://schemas.openxmlformats.org/drawingml/2006/main">
            <a:r>
              <a:t>[Sources]</a:t>
            </a:r>
          </a:p>
          <a:p xmlns:a="http://schemas.openxmlformats.org/drawingml/2006/main">
            <a:r>
              <a:t>- runs/research_workbench/operator_hypothesis_lab/return_geometry_wide_atlas_full_vocabulary_20260827/full_state_vocabulary_summary.csv</a:t>
            </a:r>
          </a:p>
          <a:p xmlns:a="http://schemas.openxmlformats.org/drawingml/2006/main">
            <a:r>
              <a:t>- runs/research_workbench/operator_hypothesis_lab/return_geometry_wide_atlas_full_vocabulary_20260827/visuals/all_states_equal_sector_diagonal.png</a:t>
            </a:r>
          </a:p>
          <a:p xmlns:a="http://schemas.openxmlformats.org/drawingml/2006/main">
            <a:r>
              <a:t>- runs/research_workbench/operator_hypothesis_lab/return_geometry_wide_atlas_full_vocabulary_20260827/visuals/all_states_equal_sector_gain_diagonal.png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Completeness protects against a curated story: all states and both sign branches are visible. The strongest discriminators can now be discussed in context, but no cell or state is promoted into a rule.</a:t>
            </a:r>
          </a:p>
          <a:p xmlns:a="http://schemas.openxmlformats.org/drawingml/2006/main">
            <a:r>
              <a:t/>
            </a:r>
          </a:p>
          <a:p xmlns:a="http://schemas.openxmlformats.org/drawingml/2006/main">
            <a:r>
              <a:t>[Sources]</a:t>
            </a:r>
          </a:p>
          <a:p xmlns:a="http://schemas.openxmlformats.org/drawingml/2006/main">
            <a:r>
              <a:t>- runs/research_workbench/operator_hypothesis_lab/return_geometry_wide_atlas_full_vocabulary_20260827/report.md</a:t>
            </a:r>
          </a:p>
          <a:p xmlns:a="http://schemas.openxmlformats.org/drawingml/2006/main">
            <a:r>
              <a:t>- runs/research_workbench/operator_hypothesis_lab/return_geometry_wide_atlas_full_vocabulary_20260827/full_state_vocabulary_summary.csv</a:t>
            </a:r>
          </a:p>
          <a:p xmlns:a="http://schemas.openxmlformats.org/drawingml/2006/main">
            <a:r>
              <a:t>- operator_hypothesis_lab/docs/RETURN_GEOMETRY_WIDE_ATLAS_2018_2023.md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47c495a4d35446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7742b0854bf43c6" /><Relationship Type="http://schemas.openxmlformats.org/officeDocument/2006/relationships/slideLayout" Target="/ppt/slideLayouts/slideLayout1.xml" Id="R2356d034ef6f473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356d034ef6f473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7febec4eb1045fd" /><Relationship Type="http://schemas.openxmlformats.org/officeDocument/2006/relationships/notesSlide" Target="/ppt/notesSlides/notesSlide1.xml" Id="Rdc4eb694542141b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089f9cadfc34285" /><Relationship Type="http://schemas.openxmlformats.org/officeDocument/2006/relationships/notesSlide" Target="/ppt/notesSlides/notesSlide2.xml" Id="R516bd1866f71467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ba1c1f3796b413c" /><Relationship Type="http://schemas.openxmlformats.org/officeDocument/2006/relationships/notesSlide" Target="/ppt/notesSlides/notesSlide3.xml" Id="Rcce1ece5945141b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c3f8261d1354800" /><Relationship Type="http://schemas.openxmlformats.org/officeDocument/2006/relationships/image" Target="/ppt/media/image.png" Id="R45b663a44696411d" /><Relationship Type="http://schemas.openxmlformats.org/officeDocument/2006/relationships/notesSlide" Target="/ppt/notesSlides/notesSlide4.xml" Id="Rd2e569e3270c469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15cad53f6b249db" /><Relationship Type="http://schemas.openxmlformats.org/officeDocument/2006/relationships/image" Target="/ppt/media/image2.png" Id="Rd2a019c9d96645ab" /><Relationship Type="http://schemas.openxmlformats.org/officeDocument/2006/relationships/notesSlide" Target="/ppt/notesSlides/notesSlide5.xml" Id="R2b42b9096b0b487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7828ee2eb2d4447" /><Relationship Type="http://schemas.openxmlformats.org/officeDocument/2006/relationships/notesSlide" Target="/ppt/notesSlides/notesSlide6.xml" Id="Rd6adbf72987a4da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ef02c32436441a5" /><Relationship Type="http://schemas.openxmlformats.org/officeDocument/2006/relationships/image" Target="/ppt/media/image3.png" Id="Reea0bb6faf804512" /><Relationship Type="http://schemas.openxmlformats.org/officeDocument/2006/relationships/notesSlide" Target="/ppt/notesSlides/notesSlide7.xml" Id="R0afd502e9731406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9015d11448f4093" /><Relationship Type="http://schemas.openxmlformats.org/officeDocument/2006/relationships/image" Target="/ppt/media/image4.png" Id="Ra06ee922d29b48ca" /><Relationship Type="http://schemas.openxmlformats.org/officeDocument/2006/relationships/notesSlide" Target="/ppt/notesSlides/notesSlide8.xml" Id="R47a46720810a4d5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e1aebac73a44ec3" /><Relationship Type="http://schemas.openxmlformats.org/officeDocument/2006/relationships/image" Target="/ppt/media/image5.png" Id="Rce5eec8317964469" /><Relationship Type="http://schemas.openxmlformats.org/officeDocument/2006/relationships/notesSlide" Target="/ppt/notesSlides/notesSlide9.xml" Id="R96d93102f3d3451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f8d70abdfa84d11" /><Relationship Type="http://schemas.openxmlformats.org/officeDocument/2006/relationships/image" Target="/ppt/media/image6.png" Id="R5f54b7f81d90488b" /><Relationship Type="http://schemas.openxmlformats.org/officeDocument/2006/relationships/notesSlide" Target="/ppt/notesSlides/notesSlide10.xml" Id="R3198d591526e4ea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2accbbe41ee4247" /><Relationship Type="http://schemas.openxmlformats.org/officeDocument/2006/relationships/notesSlide" Target="/ppt/notesSlides/notesSlide11.xml" Id="Rdc7c54ff45ca47d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2b22dec7d6047b8" /><Relationship Type="http://schemas.openxmlformats.org/officeDocument/2006/relationships/notesSlide" Target="/ppt/notesSlides/notesSlide12.xml" Id="R86b53e204bb84f9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4b8efa95add4ea9" /><Relationship Type="http://schemas.openxmlformats.org/officeDocument/2006/relationships/notesSlide" Target="/ppt/notesSlides/notesSlide13.xml" Id="R24176197510b49d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87b79b10c6e44e1" /><Relationship Type="http://schemas.openxmlformats.org/officeDocument/2006/relationships/image" Target="/ppt/media/image7.png" Id="Rc50c5baa2e444a2b" /><Relationship Type="http://schemas.openxmlformats.org/officeDocument/2006/relationships/notesSlide" Target="/ppt/notesSlides/notesSlide14.xml" Id="R3caddff8251443a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0869090885c4459" /><Relationship Type="http://schemas.openxmlformats.org/officeDocument/2006/relationships/image" Target="/ppt/media/image8.png" Id="Re39f747fcfb9489b" /><Relationship Type="http://schemas.openxmlformats.org/officeDocument/2006/relationships/notesSlide" Target="/ppt/notesSlides/notesSlide15.xml" Id="R8ac04092ad35475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1a9940f7d5c4a25" /><Relationship Type="http://schemas.openxmlformats.org/officeDocument/2006/relationships/image" Target="/ppt/media/image9.png" Id="R9aa5b87b27f54325" /><Relationship Type="http://schemas.openxmlformats.org/officeDocument/2006/relationships/notesSlide" Target="/ppt/notesSlides/notesSlide16.xml" Id="R79f8ea0a8934491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d57b2854c1dd4837" /><Relationship Type="http://schemas.openxmlformats.org/officeDocument/2006/relationships/notesSlide" Target="/ppt/notesSlides/notesSlide17.xml" Id="R3835028eb45d403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06992b69c66f4084" /><Relationship Type="http://schemas.openxmlformats.org/officeDocument/2006/relationships/notesSlide" Target="/ppt/notesSlides/notesSlide18.xml" Id="R4df2e8d14e5143c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dd29acd8e85d4d46" /><Relationship Type="http://schemas.openxmlformats.org/officeDocument/2006/relationships/notesSlide" Target="/ppt/notesSlides/notesSlide19.xml" Id="Rb1868f891eed44b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4cf996e1ea504a95" /><Relationship Type="http://schemas.openxmlformats.org/officeDocument/2006/relationships/image" Target="/ppt/media/image10.png" Id="Rd1d47adc908c47f6" /><Relationship Type="http://schemas.openxmlformats.org/officeDocument/2006/relationships/notesSlide" Target="/ppt/notesSlides/notesSlide20.xml" Id="Ra66f1a5a739646e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7142c229b59e456a" /><Relationship Type="http://schemas.openxmlformats.org/officeDocument/2006/relationships/image" Target="/ppt/media/image11.png" Id="R8bbf9a27794c4d69" /><Relationship Type="http://schemas.openxmlformats.org/officeDocument/2006/relationships/notesSlide" Target="/ppt/notesSlides/notesSlide21.xml" Id="R06a4bfb572a84e4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b5dcfe39b6e4837" /><Relationship Type="http://schemas.openxmlformats.org/officeDocument/2006/relationships/image" Target="/ppt/media/image12.png" Id="Rffb121c0020e4029" /><Relationship Type="http://schemas.openxmlformats.org/officeDocument/2006/relationships/notesSlide" Target="/ppt/notesSlides/notesSlide22.xml" Id="R1ea2eb86abb94b5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b0a4c2179095422b" /><Relationship Type="http://schemas.openxmlformats.org/officeDocument/2006/relationships/notesSlide" Target="/ppt/notesSlides/notesSlide23.xml" Id="R1984b868463d4cc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195fbc41d6c047c3" /><Relationship Type="http://schemas.openxmlformats.org/officeDocument/2006/relationships/notesSlide" Target="/ppt/notesSlides/notesSlide24.xml" Id="R5db0e02d8680446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adf79bcb95d84300" /><Relationship Type="http://schemas.openxmlformats.org/officeDocument/2006/relationships/notesSlide" Target="/ppt/notesSlides/notesSlide25.xml" Id="R190cebc705504b7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61e6bb167ba04809" /><Relationship Type="http://schemas.openxmlformats.org/officeDocument/2006/relationships/image" Target="/ppt/media/image13.png" Id="Ra980efc2d0e648fc" /><Relationship Type="http://schemas.openxmlformats.org/officeDocument/2006/relationships/notesSlide" Target="/ppt/notesSlides/notesSlide26.xml" Id="R559136f474c24bb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2fe6ec07c3e24bd0" /><Relationship Type="http://schemas.openxmlformats.org/officeDocument/2006/relationships/image" Target="/ppt/media/image14.png" Id="R5ac54fdd220247e0" /><Relationship Type="http://schemas.openxmlformats.org/officeDocument/2006/relationships/notesSlide" Target="/ppt/notesSlides/notesSlide27.xml" Id="R7a2754316d58454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fd07de44e9a4414f" /><Relationship Type="http://schemas.openxmlformats.org/officeDocument/2006/relationships/image" Target="/ppt/media/image15.png" Id="R0b5ab9c375db4473" /><Relationship Type="http://schemas.openxmlformats.org/officeDocument/2006/relationships/notesSlide" Target="/ppt/notesSlides/notesSlide28.xml" Id="R8f3ea0ef3090448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8ea3d216beb74756" /><Relationship Type="http://schemas.openxmlformats.org/officeDocument/2006/relationships/image" Target="/ppt/media/image16.png" Id="R6dacaab4e8bf4a28" /><Relationship Type="http://schemas.openxmlformats.org/officeDocument/2006/relationships/notesSlide" Target="/ppt/notesSlides/notesSlide29.xml" Id="Rfbdde967e2f543c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c5f9f649aec44cd6" /><Relationship Type="http://schemas.openxmlformats.org/officeDocument/2006/relationships/image" Target="/ppt/media/image17.png" Id="Rc5f98f420c084087" /><Relationship Type="http://schemas.openxmlformats.org/officeDocument/2006/relationships/notesSlide" Target="/ppt/notesSlides/notesSlide30.xml" Id="R876c8a6f50124933"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d1600a3a119542f2" /><Relationship Type="http://schemas.openxmlformats.org/officeDocument/2006/relationships/notesSlide" Target="/ppt/notesSlides/notesSlide31.xml" Id="R48912accd92844b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a333a1284301400e" /><Relationship Type="http://schemas.openxmlformats.org/officeDocument/2006/relationships/notesSlide" Target="/ppt/notesSlides/notesSlide32.xml" Id="R9c621eb9a27841d9"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c567d277ed794f3f" /><Relationship Type="http://schemas.openxmlformats.org/officeDocument/2006/relationships/notesSlide" Target="/ppt/notesSlides/notesSlide33.xml" Id="R1cfcba1673934c64"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58ff5f9164334357" /><Relationship Type="http://schemas.openxmlformats.org/officeDocument/2006/relationships/image" Target="/ppt/media/image18.png" Id="R76b23af8f33341d6" /><Relationship Type="http://schemas.openxmlformats.org/officeDocument/2006/relationships/image" Target="/ppt/media/image19.png" Id="R2bb7a4dbb3854e75" /><Relationship Type="http://schemas.openxmlformats.org/officeDocument/2006/relationships/notesSlide" Target="/ppt/notesSlides/notesSlide34.xml" Id="R8960436024084364"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a7e2585a18c74b65" /><Relationship Type="http://schemas.openxmlformats.org/officeDocument/2006/relationships/image" Target="/ppt/media/image20.png" Id="Ra7ab54cb970c4e34" /><Relationship Type="http://schemas.openxmlformats.org/officeDocument/2006/relationships/image" Target="/ppt/media/image21.png" Id="Re7e23a253f114a3f" /><Relationship Type="http://schemas.openxmlformats.org/officeDocument/2006/relationships/notesSlide" Target="/ppt/notesSlides/notesSlide35.xml" Id="R12d02d50d82143c2"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9262ed74723a4791" /><Relationship Type="http://schemas.openxmlformats.org/officeDocument/2006/relationships/image" Target="/ppt/media/image22.png" Id="Rc66e383503834570" /><Relationship Type="http://schemas.openxmlformats.org/officeDocument/2006/relationships/image" Target="/ppt/media/image23.png" Id="Rf0cfe496fc30442b" /><Relationship Type="http://schemas.openxmlformats.org/officeDocument/2006/relationships/notesSlide" Target="/ppt/notesSlides/notesSlide36.xml" Id="Rd630b9cf44b84ba7"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689c3e37a1374e45" /><Relationship Type="http://schemas.openxmlformats.org/officeDocument/2006/relationships/image" Target="/ppt/media/image24.png" Id="R81f7d9c4ff8e4625" /><Relationship Type="http://schemas.openxmlformats.org/officeDocument/2006/relationships/image" Target="/ppt/media/image25.png" Id="R9655a3649cef4d65" /><Relationship Type="http://schemas.openxmlformats.org/officeDocument/2006/relationships/notesSlide" Target="/ppt/notesSlides/notesSlide37.xml" Id="R38752c8c3a434d5d"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82ed9db83f6c4361" /><Relationship Type="http://schemas.openxmlformats.org/officeDocument/2006/relationships/image" Target="/ppt/media/image26.png" Id="R35af25026c9e474b" /><Relationship Type="http://schemas.openxmlformats.org/officeDocument/2006/relationships/image" Target="/ppt/media/image27.png" Id="Rc79694f166cc4558" /><Relationship Type="http://schemas.openxmlformats.org/officeDocument/2006/relationships/notesSlide" Target="/ppt/notesSlides/notesSlide38.xml" Id="R1e47ac9af9cc412c"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3f11aa6052d14924" /><Relationship Type="http://schemas.openxmlformats.org/officeDocument/2006/relationships/notesSlide" Target="/ppt/notesSlides/notesSlide39.xml" Id="Rd11d6c094c0440da"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0e86eceeaa154aed" /><Relationship Type="http://schemas.openxmlformats.org/officeDocument/2006/relationships/notesSlide" Target="/ppt/notesSlides/notesSlide40.xml" Id="R300cda2af7564900"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9bf512f72a944c99" /><Relationship Type="http://schemas.openxmlformats.org/officeDocument/2006/relationships/notesSlide" Target="/ppt/notesSlides/notesSlide41.xml" Id="Rcc0a0c26646f4e49"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ff0eac6154f94b47" /><Relationship Type="http://schemas.openxmlformats.org/officeDocument/2006/relationships/image" Target="/ppt/media/image18.png" Id="Re5115ceae83945b8" /><Relationship Type="http://schemas.openxmlformats.org/officeDocument/2006/relationships/image" Target="/ppt/media/image28.png" Id="R70ff441817914ca8" /><Relationship Type="http://schemas.openxmlformats.org/officeDocument/2006/relationships/notesSlide" Target="/ppt/notesSlides/notesSlide42.xml" Id="R28ddfa4dab274d51"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ff5e62c1571e45c4" /><Relationship Type="http://schemas.openxmlformats.org/officeDocument/2006/relationships/image" Target="/ppt/media/image20.png" Id="R3762894610f34539" /><Relationship Type="http://schemas.openxmlformats.org/officeDocument/2006/relationships/image" Target="/ppt/media/image29.png" Id="R3c0e9e75469d4f72" /><Relationship Type="http://schemas.openxmlformats.org/officeDocument/2006/relationships/notesSlide" Target="/ppt/notesSlides/notesSlide43.xml" Id="R90a11bd6f7714c6d"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3aa7e73d5a37499d" /><Relationship Type="http://schemas.openxmlformats.org/officeDocument/2006/relationships/image" Target="/ppt/media/image22.png" Id="Rd5c985468cbc4118" /><Relationship Type="http://schemas.openxmlformats.org/officeDocument/2006/relationships/image" Target="/ppt/media/image30.png" Id="R9a325dd586f94007" /><Relationship Type="http://schemas.openxmlformats.org/officeDocument/2006/relationships/notesSlide" Target="/ppt/notesSlides/notesSlide44.xml" Id="Ree8bf152adba411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7dddc35e29e747d2" /><Relationship Type="http://schemas.openxmlformats.org/officeDocument/2006/relationships/image" Target="/ppt/media/image24.png" Id="R8418fe0bca6e4411" /><Relationship Type="http://schemas.openxmlformats.org/officeDocument/2006/relationships/image" Target="/ppt/media/image31.png" Id="Rb3685bae83c04cd4" /><Relationship Type="http://schemas.openxmlformats.org/officeDocument/2006/relationships/notesSlide" Target="/ppt/notesSlides/notesSlide45.xml" Id="Rae895c7f4900475e"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6f4252b869304ed5" /><Relationship Type="http://schemas.openxmlformats.org/officeDocument/2006/relationships/image" Target="/ppt/media/image26.png" Id="R19e3cba9bbc84807" /><Relationship Type="http://schemas.openxmlformats.org/officeDocument/2006/relationships/image" Target="/ppt/media/image32.png" Id="Rb8cc1122439a4ea3" /><Relationship Type="http://schemas.openxmlformats.org/officeDocument/2006/relationships/notesSlide" Target="/ppt/notesSlides/notesSlide46.xml" Id="Rb0b4e8bc7241430a"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dac0da1ecc054619" /><Relationship Type="http://schemas.openxmlformats.org/officeDocument/2006/relationships/notesSlide" Target="/ppt/notesSlides/notesSlide47.xml" Id="R71e718d87f6e4a58"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84de5fd38d154e4c" /><Relationship Type="http://schemas.openxmlformats.org/officeDocument/2006/relationships/notesSlide" Target="/ppt/notesSlides/notesSlide48.xml" Id="R999a0358e07d48ca"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694c3e78fadd49a0" /><Relationship Type="http://schemas.openxmlformats.org/officeDocument/2006/relationships/notesSlide" Target="/ppt/notesSlides/notesSlide49.xml" Id="Rfac3d8ecb34240e0"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4576f1fac6a44789" /><Relationship Type="http://schemas.openxmlformats.org/officeDocument/2006/relationships/image" Target="/ppt/media/image20.png" Id="R8d855801d89c4dca" /><Relationship Type="http://schemas.openxmlformats.org/officeDocument/2006/relationships/image" Target="/ppt/media/image33.png" Id="Redda87e01588451e" /><Relationship Type="http://schemas.openxmlformats.org/officeDocument/2006/relationships/notesSlide" Target="/ppt/notesSlides/notesSlide50.xml" Id="R9a92d972006444e2"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32ff67c3621e4282" /><Relationship Type="http://schemas.openxmlformats.org/officeDocument/2006/relationships/image" Target="/ppt/media/image20.png" Id="R5fb495df5f6842f8" /><Relationship Type="http://schemas.openxmlformats.org/officeDocument/2006/relationships/image" Target="/ppt/media/image34.png" Id="Rd42b173645964b0b" /><Relationship Type="http://schemas.openxmlformats.org/officeDocument/2006/relationships/notesSlide" Target="/ppt/notesSlides/notesSlide51.xml" Id="Rb8f15dfd12d34424"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ae4380e3fa294bcb" /><Relationship Type="http://schemas.openxmlformats.org/officeDocument/2006/relationships/image" Target="/ppt/media/image26.png" Id="R4f1726e6fcfa4351" /><Relationship Type="http://schemas.openxmlformats.org/officeDocument/2006/relationships/image" Target="/ppt/media/image35.png" Id="Rca9fccb07ae04e41" /><Relationship Type="http://schemas.openxmlformats.org/officeDocument/2006/relationships/notesSlide" Target="/ppt/notesSlides/notesSlide52.xml" Id="R7312dc3c92f24f18"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f75ec052db014128" /><Relationship Type="http://schemas.openxmlformats.org/officeDocument/2006/relationships/image" Target="/ppt/media/image7.png" Id="Raab2913ebad84d19" /><Relationship Type="http://schemas.openxmlformats.org/officeDocument/2006/relationships/image" Target="/ppt/media/image36.png" Id="R2d1f7ca663aa4a32" /><Relationship Type="http://schemas.openxmlformats.org/officeDocument/2006/relationships/notesSlide" Target="/ppt/notesSlides/notesSlide53.xml" Id="R3d5f23612e044969"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bc0b7e0704a84d2b" /><Relationship Type="http://schemas.openxmlformats.org/officeDocument/2006/relationships/notesSlide" Target="/ppt/notesSlides/notesSlide54.xml" Id="Reca2f430aa5442ff"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5877cc2f8257477d" /><Relationship Type="http://schemas.openxmlformats.org/officeDocument/2006/relationships/notesSlide" Target="/ppt/notesSlides/notesSlide55.xml" Id="Rfde14977dd2c4527"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b0174dbb36944765" /><Relationship Type="http://schemas.openxmlformats.org/officeDocument/2006/relationships/notesSlide" Target="/ppt/notesSlides/notesSlide56.xml" Id="Rf3932e7c04984b09"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a2c4da4426aa455c" /><Relationship Type="http://schemas.openxmlformats.org/officeDocument/2006/relationships/image" Target="/ppt/media/image37.png" Id="Reac2dc4bfdfb438c" /><Relationship Type="http://schemas.openxmlformats.org/officeDocument/2006/relationships/image" Target="/ppt/media/image38.png" Id="Rd670d59bd5fd4f29" /><Relationship Type="http://schemas.openxmlformats.org/officeDocument/2006/relationships/notesSlide" Target="/ppt/notesSlides/notesSlide57.xml" Id="R6f7b01d558a94709"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379ffdfd060f4fb1" /><Relationship Type="http://schemas.openxmlformats.org/officeDocument/2006/relationships/image" Target="/ppt/media/image7.png" Id="Rffd0c4044823452a" /><Relationship Type="http://schemas.openxmlformats.org/officeDocument/2006/relationships/image" Target="/ppt/media/image39.png" Id="R38a5378fb4794912" /><Relationship Type="http://schemas.openxmlformats.org/officeDocument/2006/relationships/notesSlide" Target="/ppt/notesSlides/notesSlide58.xml" Id="R3f8b11e6f7bd4b24"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22392a05c8c146b9" /><Relationship Type="http://schemas.openxmlformats.org/officeDocument/2006/relationships/notesSlide" Target="/ppt/notesSlides/notesSlide59.xml" Id="Re30bcaa0d988421a"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c00de726db344f70" /><Relationship Type="http://schemas.openxmlformats.org/officeDocument/2006/relationships/image" Target="/ppt/media/image40.png" Id="Rf13c164b2220406f" /><Relationship Type="http://schemas.openxmlformats.org/officeDocument/2006/relationships/image" Target="/ppt/media/image41.png" Id="R2fc083ab7f574854" /><Relationship Type="http://schemas.openxmlformats.org/officeDocument/2006/relationships/notesSlide" Target="/ppt/notesSlides/notesSlide60.xml" Id="Rd47ed3f0cf8841b7"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0d48375ce1194951" /><Relationship Type="http://schemas.openxmlformats.org/officeDocument/2006/relationships/image" Target="/ppt/media/image42.png" Id="R8789480e0bf440b4" /><Relationship Type="http://schemas.openxmlformats.org/officeDocument/2006/relationships/image" Target="/ppt/media/image43.png" Id="R8c11459371114487" /><Relationship Type="http://schemas.openxmlformats.org/officeDocument/2006/relationships/notesSlide" Target="/ppt/notesSlides/notesSlide61.xml" Id="Ra356bb192dea4d55"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b0b896d0b0cb4667" /><Relationship Type="http://schemas.openxmlformats.org/officeDocument/2006/relationships/notesSlide" Target="/ppt/notesSlides/notesSlide62.xml" Id="R16d19359b8c84f7c"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38917a88db5b41d5" /><Relationship Type="http://schemas.openxmlformats.org/officeDocument/2006/relationships/notesSlide" Target="/ppt/notesSlides/notesSlide63.xml" Id="R5ca497baf2254285"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0790df7249394a4c" /><Relationship Type="http://schemas.openxmlformats.org/officeDocument/2006/relationships/notesSlide" Target="/ppt/notesSlides/notesSlide64.xml" Id="R20fbad9945b94d15"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7534c6ed829148f8" /><Relationship Type="http://schemas.openxmlformats.org/officeDocument/2006/relationships/image" Target="/ppt/media/image44.png" Id="Rd63ef938f4ab4e3a" /><Relationship Type="http://schemas.openxmlformats.org/officeDocument/2006/relationships/notesSlide" Target="/ppt/notesSlides/notesSlide65.xml" Id="R014668da274c46c0"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b6d4e246fd4b4180" /><Relationship Type="http://schemas.openxmlformats.org/officeDocument/2006/relationships/notesSlide" Target="/ppt/notesSlides/notesSlide66.xml" Id="Red4528f830454c7c"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11656044cfc746d5" /><Relationship Type="http://schemas.openxmlformats.org/officeDocument/2006/relationships/notesSlide" Target="/ppt/notesSlides/notesSlide67.xml" Id="Rea989873e9c0499d"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7ce4e955b921450e" /><Relationship Type="http://schemas.openxmlformats.org/officeDocument/2006/relationships/notesSlide" Target="/ppt/notesSlides/notesSlide68.xml" Id="Rfb9e262a7e174a64"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daba995d1b0040be" /><Relationship Type="http://schemas.openxmlformats.org/officeDocument/2006/relationships/image" Target="/ppt/media/image45.png" Id="Rfe450c7af1f846ba" /><Relationship Type="http://schemas.openxmlformats.org/officeDocument/2006/relationships/notesSlide" Target="/ppt/notesSlides/notesSlide69.xml" Id="Re12f2fbfa35a451d"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019486cc1bfb4429" /><Relationship Type="http://schemas.openxmlformats.org/officeDocument/2006/relationships/image" Target="/ppt/media/image46.png" Id="R769bddbf034f4eee" /><Relationship Type="http://schemas.openxmlformats.org/officeDocument/2006/relationships/notesSlide" Target="/ppt/notesSlides/notesSlide70.xml" Id="R74c6668042a541b2"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4c7aae2bd5474bbf" /><Relationship Type="http://schemas.openxmlformats.org/officeDocument/2006/relationships/image" Target="/ppt/media/image47.png" Id="R926adc2eb59b4586" /><Relationship Type="http://schemas.openxmlformats.org/officeDocument/2006/relationships/notesSlide" Target="/ppt/notesSlides/notesSlide71.xml" Id="R327ec3ed42fe496f"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b42701f21fa948af" /><Relationship Type="http://schemas.openxmlformats.org/officeDocument/2006/relationships/image" Target="/ppt/media/image48.png" Id="R239613bb0abe4f68" /><Relationship Type="http://schemas.openxmlformats.org/officeDocument/2006/relationships/notesSlide" Target="/ppt/notesSlides/notesSlide72.xml" Id="R64c540391a124e5f"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c0e9886b0bca4d3f" /><Relationship Type="http://schemas.openxmlformats.org/officeDocument/2006/relationships/notesSlide" Target="/ppt/notesSlides/notesSlide73.xml" Id="R4fe5fff76b8b467c"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5fe7d392573b4610" /><Relationship Type="http://schemas.openxmlformats.org/officeDocument/2006/relationships/notesSlide" Target="/ppt/notesSlides/notesSlide74.xml" Id="R50d17b1cbfc04494"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71ff1c2939b94824" /><Relationship Type="http://schemas.openxmlformats.org/officeDocument/2006/relationships/notesSlide" Target="/ppt/notesSlides/notesSlide75.xml" Id="Rcf48f412e8864689"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2fc0a32bc61543dc" /><Relationship Type="http://schemas.openxmlformats.org/officeDocument/2006/relationships/image" Target="/ppt/media/image49.png" Id="R02537125ce8244a5" /><Relationship Type="http://schemas.openxmlformats.org/officeDocument/2006/relationships/notesSlide" Target="/ppt/notesSlides/notesSlide76.xml" Id="R1f9dd6bb1dce4259"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9be45ec6c62c4b1f" /><Relationship Type="http://schemas.openxmlformats.org/officeDocument/2006/relationships/image" Target="/ppt/media/image50.png" Id="Rfab2233ce1274357" /><Relationship Type="http://schemas.openxmlformats.org/officeDocument/2006/relationships/notesSlide" Target="/ppt/notesSlides/notesSlide77.xml" Id="R2a7461e55d4a4a0a"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05e95ae2ab7040c0" /><Relationship Type="http://schemas.openxmlformats.org/officeDocument/2006/relationships/image" Target="/ppt/media/image51.png" Id="Rcc68401c1fe6472d" /><Relationship Type="http://schemas.openxmlformats.org/officeDocument/2006/relationships/notesSlide" Target="/ppt/notesSlides/notesSlide78.xml" Id="Rc6672cfc5d5044e6"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8eadb440035d467a" /><Relationship Type="http://schemas.openxmlformats.org/officeDocument/2006/relationships/image" Target="/ppt/media/image52.png" Id="Rd1b23bed8fc84ead" /><Relationship Type="http://schemas.openxmlformats.org/officeDocument/2006/relationships/notesSlide" Target="/ppt/notesSlides/notesSlide79.xml" Id="R4959fbd5b3c848af"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6d4ce72997cd4c08" /><Relationship Type="http://schemas.openxmlformats.org/officeDocument/2006/relationships/notesSlide" Target="/ppt/notesSlides/notesSlide80.xml" Id="Rb87cbc3ee20c493f"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18fc5465cb784a69" /><Relationship Type="http://schemas.openxmlformats.org/officeDocument/2006/relationships/notesSlide" Target="/ppt/notesSlides/notesSlide81.xml" Id="Rd7eb13083abd4f2f"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6889719067644da5" /><Relationship Type="http://schemas.openxmlformats.org/officeDocument/2006/relationships/notesSlide" Target="/ppt/notesSlides/notesSlide82.xml" Id="Rb155031b27e1406d"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9064bea1b0ca4391" /><Relationship Type="http://schemas.openxmlformats.org/officeDocument/2006/relationships/notesSlide" Target="/ppt/notesSlides/notesSlide83.xml" Id="Red312fdebff2437b"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ac850feb3ffd49ea" /><Relationship Type="http://schemas.openxmlformats.org/officeDocument/2006/relationships/image" Target="/ppt/media/image53.png" Id="R4cfe0e9b30c94ec0" /><Relationship Type="http://schemas.openxmlformats.org/officeDocument/2006/relationships/notesSlide" Target="/ppt/notesSlides/notesSlide84.xml" Id="Rca280dd032f2444c"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1e27fa629b484f8a" /><Relationship Type="http://schemas.openxmlformats.org/officeDocument/2006/relationships/image" Target="/ppt/media/image54.png" Id="R86fb3cff11a84f44" /><Relationship Type="http://schemas.openxmlformats.org/officeDocument/2006/relationships/notesSlide" Target="/ppt/notesSlides/notesSlide85.xml" Id="R129017629bdc41e8"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07cb0f85435a49c7" /><Relationship Type="http://schemas.openxmlformats.org/officeDocument/2006/relationships/image" Target="/ppt/media/image55.png" Id="Rbc2f2edd0d2c43e6" /><Relationship Type="http://schemas.openxmlformats.org/officeDocument/2006/relationships/notesSlide" Target="/ppt/notesSlides/notesSlide86.xml" Id="Rf1dbef44e5054dae"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1f3900ad047841e7" /><Relationship Type="http://schemas.openxmlformats.org/officeDocument/2006/relationships/image" Target="/ppt/media/image56.png" Id="Rec95badac9ed4dd6" /><Relationship Type="http://schemas.openxmlformats.org/officeDocument/2006/relationships/notesSlide" Target="/ppt/notesSlides/notesSlide87.xml" Id="Rc4c6807949ff4563"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8d5745a9f90c428a" /><Relationship Type="http://schemas.openxmlformats.org/officeDocument/2006/relationships/image" Target="/ppt/media/image57.png" Id="Rec0c2bf9d64b4c60" /><Relationship Type="http://schemas.openxmlformats.org/officeDocument/2006/relationships/notesSlide" Target="/ppt/notesSlides/notesSlide88.xml" Id="Re52a63f54ebd45ec"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901da31b71d04c57" /><Relationship Type="http://schemas.openxmlformats.org/officeDocument/2006/relationships/notesSlide" Target="/ppt/notesSlides/notesSlide89.xml" Id="Ree5a411da9d3489b"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5afda6d97ef14ee5" /><Relationship Type="http://schemas.openxmlformats.org/officeDocument/2006/relationships/notesSlide" Target="/ppt/notesSlides/notesSlide90.xml" Id="R742eec51e85742bc"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0649cc7d86a140bf" /><Relationship Type="http://schemas.openxmlformats.org/officeDocument/2006/relationships/notesSlide" Target="/ppt/notesSlides/notesSlide91.xml" Id="Rbc50fd3cc9fb4252"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902504fc1af346f6" /><Relationship Type="http://schemas.openxmlformats.org/officeDocument/2006/relationships/image" Target="/ppt/media/image58.png" Id="R408aece72522482d" /><Relationship Type="http://schemas.openxmlformats.org/officeDocument/2006/relationships/notesSlide" Target="/ppt/notesSlides/notesSlide92.xml" Id="Rbe13764564624f24"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1b692618b6c4439f" /><Relationship Type="http://schemas.openxmlformats.org/officeDocument/2006/relationships/image" Target="/ppt/media/image59.png" Id="Reefca356758d4f27" /><Relationship Type="http://schemas.openxmlformats.org/officeDocument/2006/relationships/notesSlide" Target="/ppt/notesSlides/notesSlide93.xml" Id="Rc334b38026254c82"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76b9722d93db45ae" /><Relationship Type="http://schemas.openxmlformats.org/officeDocument/2006/relationships/image" Target="/ppt/media/image60.png" Id="R868f2490854b4f47" /><Relationship Type="http://schemas.openxmlformats.org/officeDocument/2006/relationships/notesSlide" Target="/ppt/notesSlides/notesSlide94.xml" Id="Raed9bf107dea4e41"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27cd0ba7d36b4d15" /><Relationship Type="http://schemas.openxmlformats.org/officeDocument/2006/relationships/image" Target="/ppt/media/image61.png" Id="Rabbb42676f554c41" /><Relationship Type="http://schemas.openxmlformats.org/officeDocument/2006/relationships/notesSlide" Target="/ppt/notesSlides/notesSlide95.xml" Id="R549a220bca4242d9"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19e25b98ed8440a6" /><Relationship Type="http://schemas.openxmlformats.org/officeDocument/2006/relationships/image" Target="/ppt/media/image62.png" Id="R5613102836b74f61" /><Relationship Type="http://schemas.openxmlformats.org/officeDocument/2006/relationships/notesSlide" Target="/ppt/notesSlides/notesSlide96.xml" Id="R720a7fa700bc4f11"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3bdc6edf41f6430f" /><Relationship Type="http://schemas.openxmlformats.org/officeDocument/2006/relationships/notesSlide" Target="/ppt/notesSlides/notesSlide97.xml" Id="R6d17e7880dc149bd"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c57b336a183b4068" /><Relationship Type="http://schemas.openxmlformats.org/officeDocument/2006/relationships/notesSlide" Target="/ppt/notesSlides/notesSlide98.xml" Id="Re31d7effde4849f0"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9b93de01f8254222" /><Relationship Type="http://schemas.openxmlformats.org/officeDocument/2006/relationships/notesSlide" Target="/ppt/notesSlides/notesSlide99.xml" Id="R4b227dcdcf164d5f"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8dabdaae25c2490d" /><Relationship Type="http://schemas.openxmlformats.org/officeDocument/2006/relationships/image" Target="/ppt/media/image58.png" Id="R84f6b91b97f04186" /><Relationship Type="http://schemas.openxmlformats.org/officeDocument/2006/relationships/notesSlide" Target="/ppt/notesSlides/notesSlide100.xml" Id="Red1074e1ad0e4a72"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de1d7d831f934f78" /><Relationship Type="http://schemas.openxmlformats.org/officeDocument/2006/relationships/image" Target="/ppt/media/image59.png" Id="R13cba72e5cf04baf" /><Relationship Type="http://schemas.openxmlformats.org/officeDocument/2006/relationships/notesSlide" Target="/ppt/notesSlides/notesSlide101.xml" Id="Rd7be7455cc0a4893"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1.xml" Id="R01330464b22a4974" /><Relationship Type="http://schemas.openxmlformats.org/officeDocument/2006/relationships/image" Target="/ppt/media/image60.png" Id="R7df765c91f5d47b7" /><Relationship Type="http://schemas.openxmlformats.org/officeDocument/2006/relationships/notesSlide" Target="/ppt/notesSlides/notesSlide102.xml" Id="R5564ec534c044f6d"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1.xml" Id="Rc088a72cd9734470" /><Relationship Type="http://schemas.openxmlformats.org/officeDocument/2006/relationships/image" Target="/ppt/media/image61.png" Id="R12ddfc4eb7f34bd0" /><Relationship Type="http://schemas.openxmlformats.org/officeDocument/2006/relationships/notesSlide" Target="/ppt/notesSlides/notesSlide103.xml" Id="Ree6ab8d6b44e41a7"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1.xml" Id="R2c9cf3f6112e44f7" /><Relationship Type="http://schemas.openxmlformats.org/officeDocument/2006/relationships/image" Target="/ppt/media/image62.png" Id="Ref988d31e37e4498" /><Relationship Type="http://schemas.openxmlformats.org/officeDocument/2006/relationships/notesSlide" Target="/ppt/notesSlides/notesSlide104.xml" Id="R088f25bf22414451"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1.xml" Id="Red9b5cbeae394b0a" /><Relationship Type="http://schemas.openxmlformats.org/officeDocument/2006/relationships/notesSlide" Target="/ppt/notesSlides/notesSlide105.xml" Id="R83bbfec023054ef7"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1.xml" Id="R19933f6e53aa4978" /><Relationship Type="http://schemas.openxmlformats.org/officeDocument/2006/relationships/notesSlide" Target="/ppt/notesSlides/notesSlide106.xml" Id="R259d0cc857314fd1"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1.xml" Id="R97307046a8e14923" /><Relationship Type="http://schemas.openxmlformats.org/officeDocument/2006/relationships/notesSlide" Target="/ppt/notesSlides/notesSlide107.xml" Id="R391d15338c9a427d" /></Relationships>
</file>

<file path=ppt/slides/_rels/slide108.xml.rels>&#65279;<?xml version="1.0" encoding="utf-8"?><Relationships xmlns="http://schemas.openxmlformats.org/package/2006/relationships"><Relationship Type="http://schemas.openxmlformats.org/officeDocument/2006/relationships/slideLayout" Target="/ppt/slideLayouts/slideLayout1.xml" Id="Ra3c90202a52845f8" /><Relationship Type="http://schemas.openxmlformats.org/officeDocument/2006/relationships/notesSlide" Target="/ppt/notesSlides/notesSlide108.xml" Id="R96617a818d7e42ae" /></Relationships>
</file>

<file path=ppt/slides/_rels/slide109.xml.rels>&#65279;<?xml version="1.0" encoding="utf-8"?><Relationships xmlns="http://schemas.openxmlformats.org/package/2006/relationships"><Relationship Type="http://schemas.openxmlformats.org/officeDocument/2006/relationships/slideLayout" Target="/ppt/slideLayouts/slideLayout1.xml" Id="R54733c5e3df14bc5" /><Relationship Type="http://schemas.openxmlformats.org/officeDocument/2006/relationships/image" Target="/ppt/media/image63.png" Id="Rfd55c1d89cf442ab" /><Relationship Type="http://schemas.openxmlformats.org/officeDocument/2006/relationships/notesSlide" Target="/ppt/notesSlides/notesSlide109.xml" Id="R022e57fcbea546ca" /></Relationships>
</file>

<file path=ppt/slides/_rels/slide110.xml.rels>&#65279;<?xml version="1.0" encoding="utf-8"?><Relationships xmlns="http://schemas.openxmlformats.org/package/2006/relationships"><Relationship Type="http://schemas.openxmlformats.org/officeDocument/2006/relationships/slideLayout" Target="/ppt/slideLayouts/slideLayout1.xml" Id="R4a596aad11584057" /><Relationship Type="http://schemas.openxmlformats.org/officeDocument/2006/relationships/image" Target="/ppt/media/image64.png" Id="R182a0de5e7484c62" /><Relationship Type="http://schemas.openxmlformats.org/officeDocument/2006/relationships/notesSlide" Target="/ppt/notesSlides/notesSlide110.xml" Id="Ra366df0731fa4a02" /></Relationships>
</file>

<file path=ppt/slides/_rels/slide111.xml.rels>&#65279;<?xml version="1.0" encoding="utf-8"?><Relationships xmlns="http://schemas.openxmlformats.org/package/2006/relationships"><Relationship Type="http://schemas.openxmlformats.org/officeDocument/2006/relationships/slideLayout" Target="/ppt/slideLayouts/slideLayout1.xml" Id="Rdeba110504bf4660" /><Relationship Type="http://schemas.openxmlformats.org/officeDocument/2006/relationships/image" Target="/ppt/media/image65.png" Id="R1bf64916bbc541c5" /><Relationship Type="http://schemas.openxmlformats.org/officeDocument/2006/relationships/notesSlide" Target="/ppt/notesSlides/notesSlide111.xml" Id="Rb0f8c7db5ad14365" /></Relationships>
</file>

<file path=ppt/slides/_rels/slide112.xml.rels>&#65279;<?xml version="1.0" encoding="utf-8"?><Relationships xmlns="http://schemas.openxmlformats.org/package/2006/relationships"><Relationship Type="http://schemas.openxmlformats.org/officeDocument/2006/relationships/slideLayout" Target="/ppt/slideLayouts/slideLayout1.xml" Id="Rb1bc5cefe0164fc6" /><Relationship Type="http://schemas.openxmlformats.org/officeDocument/2006/relationships/image" Target="/ppt/media/image66.png" Id="Rd0449cefd71b40fa" /><Relationship Type="http://schemas.openxmlformats.org/officeDocument/2006/relationships/image" Target="/ppt/media/image67.png" Id="R7b8787e1b56c47c3" /><Relationship Type="http://schemas.openxmlformats.org/officeDocument/2006/relationships/notesSlide" Target="/ppt/notesSlides/notesSlide112.xml" Id="R927b0f84369d4e46" /></Relationships>
</file>

<file path=ppt/slides/_rels/slide113.xml.rels>&#65279;<?xml version="1.0" encoding="utf-8"?><Relationships xmlns="http://schemas.openxmlformats.org/package/2006/relationships"><Relationship Type="http://schemas.openxmlformats.org/officeDocument/2006/relationships/slideLayout" Target="/ppt/slideLayouts/slideLayout1.xml" Id="Rebe62b13044e4736" /><Relationship Type="http://schemas.openxmlformats.org/officeDocument/2006/relationships/notesSlide" Target="/ppt/notesSlides/notesSlide113.xml" Id="R002a5509c3574dc8" /></Relationships>
</file>

<file path=ppt/slides/_rels/slide114.xml.rels>&#65279;<?xml version="1.0" encoding="utf-8"?><Relationships xmlns="http://schemas.openxmlformats.org/package/2006/relationships"><Relationship Type="http://schemas.openxmlformats.org/officeDocument/2006/relationships/slideLayout" Target="/ppt/slideLayouts/slideLayout1.xml" Id="R1148b17d87484b04" /><Relationship Type="http://schemas.openxmlformats.org/officeDocument/2006/relationships/notesSlide" Target="/ppt/notesSlides/notesSlide114.xml" Id="Rc9efd97f716c4f9f" /></Relationships>
</file>

<file path=ppt/slides/_rels/slide115.xml.rels>&#65279;<?xml version="1.0" encoding="utf-8"?><Relationships xmlns="http://schemas.openxmlformats.org/package/2006/relationships"><Relationship Type="http://schemas.openxmlformats.org/officeDocument/2006/relationships/slideLayout" Target="/ppt/slideLayouts/slideLayout1.xml" Id="R713b9596099a4b96" /><Relationship Type="http://schemas.openxmlformats.org/officeDocument/2006/relationships/notesSlide" Target="/ppt/notesSlides/notesSlide115.xml" Id="Rd936dd9034ff4b80" /></Relationships>
</file>

<file path=ppt/slides/_rels/slide116.xml.rels>&#65279;<?xml version="1.0" encoding="utf-8"?><Relationships xmlns="http://schemas.openxmlformats.org/package/2006/relationships"><Relationship Type="http://schemas.openxmlformats.org/officeDocument/2006/relationships/slideLayout" Target="/ppt/slideLayouts/slideLayout1.xml" Id="R68fea412597d41f1" /><Relationship Type="http://schemas.openxmlformats.org/officeDocument/2006/relationships/image" Target="/ppt/media/image66.png" Id="R439e5136fb3149ea" /><Relationship Type="http://schemas.openxmlformats.org/officeDocument/2006/relationships/image" Target="/ppt/media/image67.png" Id="R477a9da1f1ee4da9" /><Relationship Type="http://schemas.openxmlformats.org/officeDocument/2006/relationships/image" Target="/ppt/media/image68.png" Id="R46b3d3316fec46d1" /><Relationship Type="http://schemas.openxmlformats.org/officeDocument/2006/relationships/image" Target="/ppt/media/image69.png" Id="R3eb94e52d1054eeb" /><Relationship Type="http://schemas.openxmlformats.org/officeDocument/2006/relationships/image" Target="/ppt/media/image70.png" Id="R201aa3fafb774d99" /><Relationship Type="http://schemas.openxmlformats.org/officeDocument/2006/relationships/image" Target="/ppt/media/image71.png" Id="R1e16bd24af794188" /><Relationship Type="http://schemas.openxmlformats.org/officeDocument/2006/relationships/notesSlide" Target="/ppt/notesSlides/notesSlide116.xml" Id="R09493d9310624d46" /></Relationships>
</file>

<file path=ppt/slides/_rels/slide117.xml.rels>&#65279;<?xml version="1.0" encoding="utf-8"?><Relationships xmlns="http://schemas.openxmlformats.org/package/2006/relationships"><Relationship Type="http://schemas.openxmlformats.org/officeDocument/2006/relationships/slideLayout" Target="/ppt/slideLayouts/slideLayout1.xml" Id="R4810f3d606d24d2e" /><Relationship Type="http://schemas.openxmlformats.org/officeDocument/2006/relationships/image" Target="/ppt/media/image66.png" Id="R6106240ab8e44e4b" /><Relationship Type="http://schemas.openxmlformats.org/officeDocument/2006/relationships/image" Target="/ppt/media/image67.png" Id="R198aff14aa5d4da6" /><Relationship Type="http://schemas.openxmlformats.org/officeDocument/2006/relationships/image" Target="/ppt/media/image72.png" Id="R316d03be951a4ffc" /><Relationship Type="http://schemas.openxmlformats.org/officeDocument/2006/relationships/image" Target="/ppt/media/image73.png" Id="Rb59cf223984d4af8" /><Relationship Type="http://schemas.openxmlformats.org/officeDocument/2006/relationships/image" Target="/ppt/media/image74.png" Id="R49ac2bb9043245c4" /><Relationship Type="http://schemas.openxmlformats.org/officeDocument/2006/relationships/image" Target="/ppt/media/image75.png" Id="Rf855ddbba72242a4" /><Relationship Type="http://schemas.openxmlformats.org/officeDocument/2006/relationships/notesSlide" Target="/ppt/notesSlides/notesSlide117.xml" Id="R51c4bdd7b20043bc" /></Relationships>
</file>

<file path=ppt/slides/_rels/slide118.xml.rels>&#65279;<?xml version="1.0" encoding="utf-8"?><Relationships xmlns="http://schemas.openxmlformats.org/package/2006/relationships"><Relationship Type="http://schemas.openxmlformats.org/officeDocument/2006/relationships/slideLayout" Target="/ppt/slideLayouts/slideLayout1.xml" Id="Rb9cbf9d2cb9247fa" /><Relationship Type="http://schemas.openxmlformats.org/officeDocument/2006/relationships/image" Target="/ppt/media/image66.png" Id="R2e58fbd57b794689" /><Relationship Type="http://schemas.openxmlformats.org/officeDocument/2006/relationships/image" Target="/ppt/media/image67.png" Id="Rd23a1403ed2e4db1" /><Relationship Type="http://schemas.openxmlformats.org/officeDocument/2006/relationships/image" Target="/ppt/media/image76.png" Id="R87068142456c40fa" /><Relationship Type="http://schemas.openxmlformats.org/officeDocument/2006/relationships/image" Target="/ppt/media/image77.png" Id="R4aca295bf4cb42ce" /><Relationship Type="http://schemas.openxmlformats.org/officeDocument/2006/relationships/image" Target="/ppt/media/image78.png" Id="R3d9434c536ee4068" /><Relationship Type="http://schemas.openxmlformats.org/officeDocument/2006/relationships/image" Target="/ppt/media/image79.png" Id="R6f47d60589884c4a" /><Relationship Type="http://schemas.openxmlformats.org/officeDocument/2006/relationships/notesSlide" Target="/ppt/notesSlides/notesSlide118.xml" Id="Rd44ea5adfc6740d8" /></Relationships>
</file>

<file path=ppt/slides/_rels/slide119.xml.rels>&#65279;<?xml version="1.0" encoding="utf-8"?><Relationships xmlns="http://schemas.openxmlformats.org/package/2006/relationships"><Relationship Type="http://schemas.openxmlformats.org/officeDocument/2006/relationships/slideLayout" Target="/ppt/slideLayouts/slideLayout1.xml" Id="R9378a31d84824ee3" /><Relationship Type="http://schemas.openxmlformats.org/officeDocument/2006/relationships/image" Target="/ppt/media/image66.png" Id="Rf66bea92650944c2" /><Relationship Type="http://schemas.openxmlformats.org/officeDocument/2006/relationships/image" Target="/ppt/media/image67.png" Id="R7d177665536a44c9" /><Relationship Type="http://schemas.openxmlformats.org/officeDocument/2006/relationships/image" Target="/ppt/media/image80.png" Id="Rf85e92cc234b4c36" /><Relationship Type="http://schemas.openxmlformats.org/officeDocument/2006/relationships/image" Target="/ppt/media/image81.png" Id="Rc79d091de2094c9b" /><Relationship Type="http://schemas.openxmlformats.org/officeDocument/2006/relationships/image" Target="/ppt/media/image82.png" Id="Rd18ec9af4aa2449f" /><Relationship Type="http://schemas.openxmlformats.org/officeDocument/2006/relationships/image" Target="/ppt/media/image83.png" Id="R65824daf9224409d" /><Relationship Type="http://schemas.openxmlformats.org/officeDocument/2006/relationships/notesSlide" Target="/ppt/notesSlides/notesSlide119.xml" Id="Rff43c3d0a03f4aa7" /></Relationships>
</file>

<file path=ppt/slides/_rels/slide120.xml.rels>&#65279;<?xml version="1.0" encoding="utf-8"?><Relationships xmlns="http://schemas.openxmlformats.org/package/2006/relationships"><Relationship Type="http://schemas.openxmlformats.org/officeDocument/2006/relationships/slideLayout" Target="/ppt/slideLayouts/slideLayout1.xml" Id="Rb37989e29be3431c" /><Relationship Type="http://schemas.openxmlformats.org/officeDocument/2006/relationships/image" Target="/ppt/media/image66.png" Id="R2e6b51c3ffdf49d4" /><Relationship Type="http://schemas.openxmlformats.org/officeDocument/2006/relationships/image" Target="/ppt/media/image67.png" Id="R92259f5e70ae4469" /><Relationship Type="http://schemas.openxmlformats.org/officeDocument/2006/relationships/image" Target="/ppt/media/image84.png" Id="Rd8fe3fabb2ab43ca" /><Relationship Type="http://schemas.openxmlformats.org/officeDocument/2006/relationships/image" Target="/ppt/media/image85.png" Id="R3f2c4dc981b14a0b" /><Relationship Type="http://schemas.openxmlformats.org/officeDocument/2006/relationships/image" Target="/ppt/media/image86.png" Id="R6a2444dad8ea4e8a" /><Relationship Type="http://schemas.openxmlformats.org/officeDocument/2006/relationships/image" Target="/ppt/media/image87.png" Id="R808040adf5914aad" /><Relationship Type="http://schemas.openxmlformats.org/officeDocument/2006/relationships/notesSlide" Target="/ppt/notesSlides/notesSlide120.xml" Id="R84cec0bbe7994c49" /></Relationships>
</file>

<file path=ppt/slides/_rels/slide121.xml.rels>&#65279;<?xml version="1.0" encoding="utf-8"?><Relationships xmlns="http://schemas.openxmlformats.org/package/2006/relationships"><Relationship Type="http://schemas.openxmlformats.org/officeDocument/2006/relationships/slideLayout" Target="/ppt/slideLayouts/slideLayout1.xml" Id="Rae67fa7484d7413b" /><Relationship Type="http://schemas.openxmlformats.org/officeDocument/2006/relationships/image" Target="/ppt/media/image66.png" Id="R9ccd368331b4478e" /><Relationship Type="http://schemas.openxmlformats.org/officeDocument/2006/relationships/image" Target="/ppt/media/image67.png" Id="R4c47627397ab43c3" /><Relationship Type="http://schemas.openxmlformats.org/officeDocument/2006/relationships/image" Target="/ppt/media/image88.png" Id="Recfcd89efea947a2" /><Relationship Type="http://schemas.openxmlformats.org/officeDocument/2006/relationships/image" Target="/ppt/media/image89.png" Id="R8fded0d126e24d29" /><Relationship Type="http://schemas.openxmlformats.org/officeDocument/2006/relationships/image" Target="/ppt/media/image90.png" Id="R0902ec0b5437451f" /><Relationship Type="http://schemas.openxmlformats.org/officeDocument/2006/relationships/image" Target="/ppt/media/image91.png" Id="R6b2df95d8da54daa" /><Relationship Type="http://schemas.openxmlformats.org/officeDocument/2006/relationships/notesSlide" Target="/ppt/notesSlides/notesSlide121.xml" Id="R5bdb3f3755824901" /></Relationships>
</file>

<file path=ppt/slides/_rels/slide122.xml.rels>&#65279;<?xml version="1.0" encoding="utf-8"?><Relationships xmlns="http://schemas.openxmlformats.org/package/2006/relationships"><Relationship Type="http://schemas.openxmlformats.org/officeDocument/2006/relationships/slideLayout" Target="/ppt/slideLayouts/slideLayout1.xml" Id="R3af3850e30fb4982" /><Relationship Type="http://schemas.openxmlformats.org/officeDocument/2006/relationships/image" Target="/ppt/media/image66.png" Id="R53e9f3cee6c0431d" /><Relationship Type="http://schemas.openxmlformats.org/officeDocument/2006/relationships/image" Target="/ppt/media/image67.png" Id="Ra3c1e301a01149e7" /><Relationship Type="http://schemas.openxmlformats.org/officeDocument/2006/relationships/image" Target="/ppt/media/image92.png" Id="Rfa74646c1da1413b" /><Relationship Type="http://schemas.openxmlformats.org/officeDocument/2006/relationships/image" Target="/ppt/media/image93.png" Id="R5942f428ac4d4f5e" /><Relationship Type="http://schemas.openxmlformats.org/officeDocument/2006/relationships/notesSlide" Target="/ppt/notesSlides/notesSlide122.xml" Id="Ra16933e760874321" /></Relationships>
</file>

<file path=ppt/slides/_rels/slide123.xml.rels>&#65279;<?xml version="1.0" encoding="utf-8"?><Relationships xmlns="http://schemas.openxmlformats.org/package/2006/relationships"><Relationship Type="http://schemas.openxmlformats.org/officeDocument/2006/relationships/slideLayout" Target="/ppt/slideLayouts/slideLayout1.xml" Id="R0d430414e1834d0d" /><Relationship Type="http://schemas.openxmlformats.org/officeDocument/2006/relationships/notesSlide" Target="/ppt/notesSlides/notesSlide123.xml" Id="Rd9d3197bf1bb434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C287F2A-19E1-4D71-8665-A325D3693E9B}"/>
              </a:ext>
            </a:extLst>
          </p:cNvPr>
          <p:cNvSpPr>
            <a:spLocks xmlns:a="http://schemas.openxmlformats.org/drawingml/2006/main" noGrp="1"/>
          </p:cNvSpPr>
          <p:nvPr/>
        </p:nvSpPr>
        <p:spPr>
          <a:xfrm xmlns:a="http://schemas.openxmlformats.org/drawingml/2006/main">
            <a:off x="457200" y="4000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OPERATOR HYPOTHESIS LAB</a:t>
            </a:r>
          </a:p>
        </p:txBody>
      </p:sp>
      <p:sp>
        <p:nvSpPr>
          <p:cNvPr id="2" name="">
            <a:extLst xmlns:a="http://schemas.openxmlformats.org/drawingml/2006/main">
              <a:ext uri="{FF2B5EF4-FFF2-40B4-BE49-F238E27FC236}">
                <a16:creationId xmlns:a16="http://schemas.microsoft.com/office/drawing/2014/main" id="{87B4752F-5C3B-406E-860B-425737DDAD92}"/>
              </a:ext>
            </a:extLst>
          </p:cNvPr>
          <p:cNvSpPr>
            <a:spLocks xmlns:a="http://schemas.openxmlformats.org/drawingml/2006/main" noGrp="1"/>
          </p:cNvSpPr>
          <p:nvPr/>
        </p:nvSpPr>
        <p:spPr>
          <a:xfrm xmlns:a="http://schemas.openxmlformats.org/drawingml/2006/main">
            <a:off x="457200" y="1695450"/>
            <a:ext cx="10001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6000" b="1">
                <a:solidFill>
                  <a:srgbClr val="000000"/>
                </a:solidFill>
                <a:latin typeface="Arial"/>
                <a:ea typeface="Arial"/>
                <a:cs typeface="Arial"/>
              </a:defRPr>
            </a:pPr>
            <a:r>
              <a:rPr sz="6000" b="1">
                <a:solidFill>
                  <a:srgbClr val="000000"/>
                </a:solidFill>
                <a:latin typeface="Arial"/>
                <a:ea typeface="Arial"/>
                <a:cs typeface="Arial"/>
              </a:rPr>
              <a:t>TSLA descriptive</a:t>
            </a:r>
          </a:p>
          <a:p xmlns:a="http://schemas.openxmlformats.org/drawingml/2006/main">
            <a:pPr algn="l">
              <a:buNone/>
              <a:defRPr sz="6000" b="1">
                <a:solidFill>
                  <a:srgbClr val="000000"/>
                </a:solidFill>
                <a:latin typeface="Arial"/>
                <a:ea typeface="Arial"/>
                <a:cs typeface="Arial"/>
              </a:defRPr>
            </a:pPr>
            <a:r>
              <a:rPr sz="6000" b="1">
                <a:solidFill>
                  <a:srgbClr val="000000"/>
                </a:solidFill>
                <a:latin typeface="Arial"/>
                <a:ea typeface="Arial"/>
                <a:cs typeface="Arial"/>
              </a:rPr>
              <a:t>microscope</a:t>
            </a:r>
          </a:p>
        </p:txBody>
      </p:sp>
      <p:sp>
        <p:nvSpPr>
          <p:cNvPr id="3" name="">
            <a:extLst xmlns:a="http://schemas.openxmlformats.org/drawingml/2006/main">
              <a:ext uri="{FF2B5EF4-FFF2-40B4-BE49-F238E27FC236}">
                <a16:creationId xmlns:a16="http://schemas.microsoft.com/office/drawing/2014/main" id="{192C665E-F0B1-4B7F-B98C-E0352166847C}"/>
              </a:ext>
            </a:extLst>
          </p:cNvPr>
          <p:cNvSpPr>
            <a:spLocks xmlns:a="http://schemas.openxmlformats.org/drawingml/2006/main" noGrp="1"/>
          </p:cNvSpPr>
          <p:nvPr/>
        </p:nvSpPr>
        <p:spPr>
          <a:xfrm xmlns:a="http://schemas.openxmlformats.org/drawingml/2006/main">
            <a:off x="457200" y="4191000"/>
            <a:ext cx="123825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2CA5C4CF-93D0-4941-8B4C-E3E2BA103068}"/>
              </a:ext>
            </a:extLst>
          </p:cNvPr>
          <p:cNvSpPr>
            <a:spLocks xmlns:a="http://schemas.openxmlformats.org/drawingml/2006/main" noGrp="1"/>
          </p:cNvSpPr>
          <p:nvPr/>
        </p:nvSpPr>
        <p:spPr>
          <a:xfrm xmlns:a="http://schemas.openxmlformats.org/drawingml/2006/main">
            <a:off x="457200" y="4629150"/>
            <a:ext cx="8286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325" b="0">
                <a:solidFill>
                  <a:srgbClr val="273548"/>
                </a:solidFill>
                <a:latin typeface="Arial"/>
                <a:ea typeface="Arial"/>
                <a:cs typeface="Arial"/>
              </a:defRPr>
            </a:pPr>
            <a:r>
              <a:rPr sz="2325" b="0">
                <a:solidFill>
                  <a:srgbClr val="273548"/>
                </a:solidFill>
                <a:latin typeface="Arial"/>
                <a:ea typeface="Arial"/>
                <a:cs typeface="Arial"/>
              </a:rPr>
              <a:t>From visual intuition to measured daily-return dependence</a:t>
            </a:r>
          </a:p>
        </p:txBody>
      </p:sp>
      <p:sp>
        <p:nvSpPr>
          <p:cNvPr id="5" name="">
            <a:extLst xmlns:a="http://schemas.openxmlformats.org/drawingml/2006/main">
              <a:ext uri="{FF2B5EF4-FFF2-40B4-BE49-F238E27FC236}">
                <a16:creationId xmlns:a16="http://schemas.microsoft.com/office/drawing/2014/main" id="{F79AA5C7-3D69-4D62-9FC3-A69A478BDE05}"/>
              </a:ext>
            </a:extLst>
          </p:cNvPr>
          <p:cNvSpPr>
            <a:spLocks xmlns:a="http://schemas.openxmlformats.org/drawingml/2006/main" noGrp="1"/>
          </p:cNvSpPr>
          <p:nvPr/>
        </p:nvSpPr>
        <p:spPr>
          <a:xfrm xmlns:a="http://schemas.openxmlformats.org/drawingml/2006/main">
            <a:off x="457200" y="6096000"/>
            <a:ext cx="809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667384"/>
                </a:solidFill>
                <a:latin typeface="Arial"/>
                <a:ea typeface="Arial"/>
                <a:cs typeface="Arial"/>
              </a:defRPr>
            </a:pPr>
            <a:r>
              <a:rPr sz="1350" b="0">
                <a:solidFill>
                  <a:srgbClr val="667384"/>
                </a:solidFill>
                <a:latin typeface="Arial"/>
                <a:ea typeface="Arial"/>
                <a:cs typeface="Arial"/>
              </a:rPr>
              <a:t>Adjusted daily TSLA | 2018-2023 | Descriptive research only</a:t>
            </a:r>
          </a:p>
        </p:txBody>
      </p:sp>
    </p:spTree>
    <p:extLst>
      <p:ext uri="{BB962C8B-B14F-4D97-AF65-F5344CB8AC3E}">
        <p14:creationId xmlns:p14="http://schemas.microsoft.com/office/powerpoint/2010/main" val="150197864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section-2">
            <a:extLst xmlns:a="http://schemas.openxmlformats.org/drawingml/2006/main">
              <a:ext uri="{FF2B5EF4-FFF2-40B4-BE49-F238E27FC236}">
                <a16:creationId xmlns:a16="http://schemas.microsoft.com/office/drawing/2014/main" id="{EABBA6E1-F45F-441D-A600-8142D7D302DC}"/>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2">
            <a:extLst xmlns:a="http://schemas.openxmlformats.org/drawingml/2006/main">
              <a:ext uri="{FF2B5EF4-FFF2-40B4-BE49-F238E27FC236}">
                <a16:creationId xmlns:a16="http://schemas.microsoft.com/office/drawing/2014/main" id="{175C8CBF-2952-45DB-A51C-31B8AB274828}"/>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lane starts with description, not strategy</a:t>
            </a:r>
          </a:p>
        </p:txBody>
      </p:sp>
      <p:sp>
        <p:nvSpPr>
          <p:cNvPr id="3" name="">
            <a:extLst xmlns:a="http://schemas.openxmlformats.org/drawingml/2006/main">
              <a:ext uri="{FF2B5EF4-FFF2-40B4-BE49-F238E27FC236}">
                <a16:creationId xmlns:a16="http://schemas.microsoft.com/office/drawing/2014/main" id="{ECCD8AFB-8939-414E-BF70-4C44373BCDDB}"/>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2">
            <a:extLst xmlns:a="http://schemas.openxmlformats.org/drawingml/2006/main">
              <a:ext uri="{FF2B5EF4-FFF2-40B4-BE49-F238E27FC236}">
                <a16:creationId xmlns:a16="http://schemas.microsoft.com/office/drawing/2014/main" id="{DAFEC4F1-50D5-4693-B6C1-AC1138632163}"/>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2">
            <a:extLst xmlns:a="http://schemas.openxmlformats.org/drawingml/2006/main">
              <a:ext uri="{FF2B5EF4-FFF2-40B4-BE49-F238E27FC236}">
                <a16:creationId xmlns:a16="http://schemas.microsoft.com/office/drawing/2014/main" id="{EF6CAA23-BA21-472E-986D-D98B4D1F2C84}"/>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a:t>
            </a:r>
          </a:p>
        </p:txBody>
      </p:sp>
      <p:sp>
        <p:nvSpPr>
          <p:cNvPr id="6" name="">
            <a:extLst xmlns:a="http://schemas.openxmlformats.org/drawingml/2006/main">
              <a:ext uri="{FF2B5EF4-FFF2-40B4-BE49-F238E27FC236}">
                <a16:creationId xmlns:a16="http://schemas.microsoft.com/office/drawing/2014/main" id="{27CF66DD-540D-476F-A7F5-02147E71AD61}"/>
              </a:ext>
            </a:extLst>
          </p:cNvPr>
          <p:cNvSpPr>
            <a:spLocks xmlns:a="http://schemas.openxmlformats.org/drawingml/2006/main" noGrp="1"/>
          </p:cNvSpPr>
          <p:nvPr/>
        </p:nvSpPr>
        <p:spPr>
          <a:xfrm xmlns:a="http://schemas.openxmlformats.org/drawingml/2006/main">
            <a:off x="590550" y="1619250"/>
            <a:ext cx="7620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7" name="">
            <a:extLst xmlns:a="http://schemas.openxmlformats.org/drawingml/2006/main">
              <a:ext uri="{FF2B5EF4-FFF2-40B4-BE49-F238E27FC236}">
                <a16:creationId xmlns:a16="http://schemas.microsoft.com/office/drawing/2014/main" id="{5374F55B-1446-4F42-BD1E-8FAB2CF59C32}"/>
              </a:ext>
            </a:extLst>
          </p:cNvPr>
          <p:cNvSpPr>
            <a:spLocks xmlns:a="http://schemas.openxmlformats.org/drawingml/2006/main" noGrp="1"/>
          </p:cNvSpPr>
          <p:nvPr/>
        </p:nvSpPr>
        <p:spPr>
          <a:xfrm xmlns:a="http://schemas.openxmlformats.org/drawingml/2006/main">
            <a:off x="895350" y="15811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273548"/>
                </a:solidFill>
                <a:latin typeface="Arial"/>
                <a:ea typeface="Arial"/>
                <a:cs typeface="Arial"/>
              </a:defRPr>
            </a:pPr>
            <a:r>
              <a:rPr sz="2100" b="1">
                <a:solidFill>
                  <a:srgbClr val="273548"/>
                </a:solidFill>
                <a:latin typeface="Arial"/>
                <a:ea typeface="Arial"/>
                <a:cs typeface="Arial"/>
              </a:rPr>
              <a:t>See</a:t>
            </a:r>
          </a:p>
        </p:txBody>
      </p:sp>
      <p:sp>
        <p:nvSpPr>
          <p:cNvPr id="8" name="">
            <a:extLst xmlns:a="http://schemas.openxmlformats.org/drawingml/2006/main">
              <a:ext uri="{FF2B5EF4-FFF2-40B4-BE49-F238E27FC236}">
                <a16:creationId xmlns:a16="http://schemas.microsoft.com/office/drawing/2014/main" id="{05F1277C-2532-4E5C-8906-6DB6877BE9CA}"/>
              </a:ext>
            </a:extLst>
          </p:cNvPr>
          <p:cNvSpPr>
            <a:spLocks xmlns:a="http://schemas.openxmlformats.org/drawingml/2006/main" noGrp="1"/>
          </p:cNvSpPr>
          <p:nvPr/>
        </p:nvSpPr>
        <p:spPr>
          <a:xfrm xmlns:a="http://schemas.openxmlformats.org/drawingml/2006/main">
            <a:off x="4762500" y="1562100"/>
            <a:ext cx="6667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273548"/>
                </a:solidFill>
                <a:latin typeface="Arial"/>
                <a:ea typeface="Arial"/>
                <a:cs typeface="Arial"/>
              </a:defRPr>
            </a:pPr>
            <a:r>
              <a:rPr sz="1650" b="0">
                <a:solidFill>
                  <a:srgbClr val="273548"/>
                </a:solidFill>
                <a:latin typeface="Arial"/>
                <a:ea typeface="Arial"/>
                <a:cs typeface="Arial"/>
              </a:rPr>
              <a:t>Start with raw price and return geometry before deciding what relationship ought to exist.</a:t>
            </a:r>
          </a:p>
        </p:txBody>
      </p:sp>
      <p:sp>
        <p:nvSpPr>
          <p:cNvPr id="9" name="">
            <a:extLst xmlns:a="http://schemas.openxmlformats.org/drawingml/2006/main">
              <a:ext uri="{FF2B5EF4-FFF2-40B4-BE49-F238E27FC236}">
                <a16:creationId xmlns:a16="http://schemas.microsoft.com/office/drawing/2014/main" id="{C71372FE-75A4-4E6C-8C5E-5569ECB204F5}"/>
              </a:ext>
            </a:extLst>
          </p:cNvPr>
          <p:cNvSpPr>
            <a:spLocks xmlns:a="http://schemas.openxmlformats.org/drawingml/2006/main" noGrp="1"/>
          </p:cNvSpPr>
          <p:nvPr/>
        </p:nvSpPr>
        <p:spPr>
          <a:xfrm xmlns:a="http://schemas.openxmlformats.org/drawingml/2006/main">
            <a:off x="895350" y="2628900"/>
            <a:ext cx="105346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0" name="">
            <a:extLst xmlns:a="http://schemas.openxmlformats.org/drawingml/2006/main">
              <a:ext uri="{FF2B5EF4-FFF2-40B4-BE49-F238E27FC236}">
                <a16:creationId xmlns:a16="http://schemas.microsoft.com/office/drawing/2014/main" id="{4D14A25A-AA62-4D50-B30F-5346853D08EC}"/>
              </a:ext>
            </a:extLst>
          </p:cNvPr>
          <p:cNvSpPr>
            <a:spLocks xmlns:a="http://schemas.openxmlformats.org/drawingml/2006/main" noGrp="1"/>
          </p:cNvSpPr>
          <p:nvPr/>
        </p:nvSpPr>
        <p:spPr>
          <a:xfrm xmlns:a="http://schemas.openxmlformats.org/drawingml/2006/main">
            <a:off x="590550" y="3028950"/>
            <a:ext cx="7620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1" name="">
            <a:extLst xmlns:a="http://schemas.openxmlformats.org/drawingml/2006/main">
              <a:ext uri="{FF2B5EF4-FFF2-40B4-BE49-F238E27FC236}">
                <a16:creationId xmlns:a16="http://schemas.microsoft.com/office/drawing/2014/main" id="{C29AF01F-0357-4FCE-9139-7DACD43D482C}"/>
              </a:ext>
            </a:extLst>
          </p:cNvPr>
          <p:cNvSpPr>
            <a:spLocks xmlns:a="http://schemas.openxmlformats.org/drawingml/2006/main" noGrp="1"/>
          </p:cNvSpPr>
          <p:nvPr/>
        </p:nvSpPr>
        <p:spPr>
          <a:xfrm xmlns:a="http://schemas.openxmlformats.org/drawingml/2006/main">
            <a:off x="895350" y="29908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273548"/>
                </a:solidFill>
                <a:latin typeface="Arial"/>
                <a:ea typeface="Arial"/>
                <a:cs typeface="Arial"/>
              </a:defRPr>
            </a:pPr>
            <a:r>
              <a:rPr sz="2100" b="1">
                <a:solidFill>
                  <a:srgbClr val="273548"/>
                </a:solidFill>
                <a:latin typeface="Arial"/>
                <a:ea typeface="Arial"/>
                <a:cs typeface="Arial"/>
              </a:rPr>
              <a:t>Name</a:t>
            </a:r>
          </a:p>
        </p:txBody>
      </p:sp>
      <p:sp>
        <p:nvSpPr>
          <p:cNvPr id="12" name="">
            <a:extLst xmlns:a="http://schemas.openxmlformats.org/drawingml/2006/main">
              <a:ext uri="{FF2B5EF4-FFF2-40B4-BE49-F238E27FC236}">
                <a16:creationId xmlns:a16="http://schemas.microsoft.com/office/drawing/2014/main" id="{EC63BF40-3714-43F0-ACA7-13D0F8295739}"/>
              </a:ext>
            </a:extLst>
          </p:cNvPr>
          <p:cNvSpPr>
            <a:spLocks xmlns:a="http://schemas.openxmlformats.org/drawingml/2006/main" noGrp="1"/>
          </p:cNvSpPr>
          <p:nvPr/>
        </p:nvSpPr>
        <p:spPr>
          <a:xfrm xmlns:a="http://schemas.openxmlformats.org/drawingml/2006/main">
            <a:off x="4762500" y="2971800"/>
            <a:ext cx="6667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273548"/>
                </a:solidFill>
                <a:latin typeface="Arial"/>
                <a:ea typeface="Arial"/>
                <a:cs typeface="Arial"/>
              </a:defRPr>
            </a:pPr>
            <a:r>
              <a:rPr sz="1650" b="0">
                <a:solidFill>
                  <a:srgbClr val="273548"/>
                </a:solidFill>
                <a:latin typeface="Arial"/>
                <a:ea typeface="Arial"/>
                <a:cs typeface="Arial"/>
              </a:rPr>
              <a:t>Separate direction, magnitude, path shape, and volatility so one visual impression does not stand in for all four.</a:t>
            </a:r>
          </a:p>
        </p:txBody>
      </p:sp>
      <p:sp>
        <p:nvSpPr>
          <p:cNvPr id="13" name="">
            <a:extLst xmlns:a="http://schemas.openxmlformats.org/drawingml/2006/main">
              <a:ext uri="{FF2B5EF4-FFF2-40B4-BE49-F238E27FC236}">
                <a16:creationId xmlns:a16="http://schemas.microsoft.com/office/drawing/2014/main" id="{6C7591B6-C755-4D50-BB99-DA5C68C11389}"/>
              </a:ext>
            </a:extLst>
          </p:cNvPr>
          <p:cNvSpPr>
            <a:spLocks xmlns:a="http://schemas.openxmlformats.org/drawingml/2006/main" noGrp="1"/>
          </p:cNvSpPr>
          <p:nvPr/>
        </p:nvSpPr>
        <p:spPr>
          <a:xfrm xmlns:a="http://schemas.openxmlformats.org/drawingml/2006/main">
            <a:off x="895350" y="4038600"/>
            <a:ext cx="105346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4" name="">
            <a:extLst xmlns:a="http://schemas.openxmlformats.org/drawingml/2006/main">
              <a:ext uri="{FF2B5EF4-FFF2-40B4-BE49-F238E27FC236}">
                <a16:creationId xmlns:a16="http://schemas.microsoft.com/office/drawing/2014/main" id="{18B0F103-9237-4C60-86EF-786CECE7EA53}"/>
              </a:ext>
            </a:extLst>
          </p:cNvPr>
          <p:cNvSpPr>
            <a:spLocks xmlns:a="http://schemas.openxmlformats.org/drawingml/2006/main" noGrp="1"/>
          </p:cNvSpPr>
          <p:nvPr/>
        </p:nvSpPr>
        <p:spPr>
          <a:xfrm xmlns:a="http://schemas.openxmlformats.org/drawingml/2006/main">
            <a:off x="590550" y="4438650"/>
            <a:ext cx="7620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5" name="">
            <a:extLst xmlns:a="http://schemas.openxmlformats.org/drawingml/2006/main">
              <a:ext uri="{FF2B5EF4-FFF2-40B4-BE49-F238E27FC236}">
                <a16:creationId xmlns:a16="http://schemas.microsoft.com/office/drawing/2014/main" id="{922839DF-980D-4991-A539-25BA44F4CB56}"/>
              </a:ext>
            </a:extLst>
          </p:cNvPr>
          <p:cNvSpPr>
            <a:spLocks xmlns:a="http://schemas.openxmlformats.org/drawingml/2006/main" noGrp="1"/>
          </p:cNvSpPr>
          <p:nvPr/>
        </p:nvSpPr>
        <p:spPr>
          <a:xfrm xmlns:a="http://schemas.openxmlformats.org/drawingml/2006/main">
            <a:off x="895350" y="44005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273548"/>
                </a:solidFill>
                <a:latin typeface="Arial"/>
                <a:ea typeface="Arial"/>
                <a:cs typeface="Arial"/>
              </a:defRPr>
            </a:pPr>
            <a:r>
              <a:rPr sz="2100" b="1">
                <a:solidFill>
                  <a:srgbClr val="273548"/>
                </a:solidFill>
                <a:latin typeface="Arial"/>
                <a:ea typeface="Arial"/>
                <a:cs typeface="Arial"/>
              </a:rPr>
              <a:t>Measure</a:t>
            </a:r>
          </a:p>
        </p:txBody>
      </p:sp>
      <p:sp>
        <p:nvSpPr>
          <p:cNvPr id="16" name="">
            <a:extLst xmlns:a="http://schemas.openxmlformats.org/drawingml/2006/main">
              <a:ext uri="{FF2B5EF4-FFF2-40B4-BE49-F238E27FC236}">
                <a16:creationId xmlns:a16="http://schemas.microsoft.com/office/drawing/2014/main" id="{E1A18768-8500-49CC-AD63-3A41DD6680E7}"/>
              </a:ext>
            </a:extLst>
          </p:cNvPr>
          <p:cNvSpPr>
            <a:spLocks xmlns:a="http://schemas.openxmlformats.org/drawingml/2006/main" noGrp="1"/>
          </p:cNvSpPr>
          <p:nvPr/>
        </p:nvSpPr>
        <p:spPr>
          <a:xfrm xmlns:a="http://schemas.openxmlformats.org/drawingml/2006/main">
            <a:off x="4762500" y="4381500"/>
            <a:ext cx="6667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273548"/>
                </a:solidFill>
                <a:latin typeface="Arial"/>
                <a:ea typeface="Arial"/>
                <a:cs typeface="Arial"/>
              </a:defRPr>
            </a:pPr>
            <a:r>
              <a:rPr sz="1650" b="0">
                <a:solidFill>
                  <a:srgbClr val="273548"/>
                </a:solidFill>
                <a:latin typeface="Arial"/>
                <a:ea typeface="Arial"/>
                <a:cs typeface="Arial"/>
              </a:rPr>
              <a:t>Quantify one frozen relationship at a time; only later ask whether a finding predicts, trades, or transports.</a:t>
            </a:r>
          </a:p>
        </p:txBody>
      </p:sp>
      <p:sp>
        <p:nvSpPr>
          <p:cNvPr id="17" name="">
            <a:extLst xmlns:a="http://schemas.openxmlformats.org/drawingml/2006/main">
              <a:ext uri="{FF2B5EF4-FFF2-40B4-BE49-F238E27FC236}">
                <a16:creationId xmlns:a16="http://schemas.microsoft.com/office/drawing/2014/main" id="{4835A8B2-7CB6-4F65-9360-0E168549EE12}"/>
              </a:ext>
            </a:extLst>
          </p:cNvPr>
          <p:cNvSpPr>
            <a:spLocks xmlns:a="http://schemas.openxmlformats.org/drawingml/2006/main" noGrp="1"/>
          </p:cNvSpPr>
          <p:nvPr/>
        </p:nvSpPr>
        <p:spPr>
          <a:xfrm xmlns:a="http://schemas.openxmlformats.org/drawingml/2006/main">
            <a:off x="895350" y="5448300"/>
            <a:ext cx="105346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Tree>
    <p:extLst>
      <p:ext uri="{BB962C8B-B14F-4D97-AF65-F5344CB8AC3E}">
        <p14:creationId xmlns:p14="http://schemas.microsoft.com/office/powerpoint/2010/main" val="44650942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One question, one fixed sample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r[t] = log(C[t] / C[t-1])</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Each row pairs yesterday's adjusted close-to-close log return with today's.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1,509</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consecutive-session pairs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boundaries</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Asset</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TSLA</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Price</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Alpaca SIP adjusted daily close</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Target sessions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2018-01-02 through 2023-12-29</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Search</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alternate lag or horizon</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Trading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82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policy or performance calculation</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Confirmation</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post-2023 data read</a:t>
            </a:r>
          </a:p>
        </p:txBody>
      </p:sp>
    </p:spTree>
    <p:extLst>
      <p:ext uri="{BB962C8B-B14F-4D97-AF65-F5344CB8AC3E}">
        <p14:creationId xmlns:p14="http://schemas.microsoft.com/office/powerpoint/2010/main" val="139728336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raw cloud has no clear directional structure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45b663a44696411d"/>
          <a:stretch xmlns:a="http://schemas.openxmlformats.org/drawingml/2006/main"/>
        </p:blipFill>
        <p:spPr>
          <a:xfrm xmlns:a="http://schemas.openxmlformats.org/drawingml/2006/main">
            <a:off x="2942545" y="1352550"/>
            <a:ext cx="6306911" cy="49053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17220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First look: no fitted line, correlation, p-value, binning, or outlier removal.</a:t>
            </a:r>
          </a:p>
        </p:txBody>
      </p:sp>
    </p:spTree>
    <p:extLst>
      <p:ext uri="{BB962C8B-B14F-4D97-AF65-F5344CB8AC3E}">
        <p14:creationId xmlns:p14="http://schemas.microsoft.com/office/powerpoint/2010/main" val="40087238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ER20 labels path shape—not volatility</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d2a019c9d96645ab"/>
          <a:stretch xmlns:a="http://schemas.openxmlformats.org/drawingml/2006/main"/>
        </p:blipFill>
        <p:spPr>
          <a:xfrm xmlns:a="http://schemas.openxmlformats.org/drawingml/2006/main">
            <a:off x="325967" y="1381125"/>
            <a:ext cx="8568267" cy="48196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Absolute 20-session endpoint displacement divided by the total log-price path traveled.</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Green recognizes efficient rises and declines. Red marks a locally choppy path. Daily thresholding is visibly flickery near transitions.</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spTree>
    <p:extLst>
      <p:ext uri="{BB962C8B-B14F-4D97-AF65-F5344CB8AC3E}">
        <p14:creationId xmlns:p14="http://schemas.microsoft.com/office/powerpoint/2010/main" val="31719134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MEASUREMENT PASS</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A visual cloud asks one</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precise next question</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Does r[t-1] contain measurable information about r[t]?</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Primary: signed linear dependence. Diagnostics: rank, sign, outliers, annual stability, and absolute-return persistence.</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a:t>
            </a:r>
          </a:p>
        </p:txBody>
      </p:sp>
    </p:spTree>
    <p:extLst>
      <p:ext uri="{BB962C8B-B14F-4D97-AF65-F5344CB8AC3E}">
        <p14:creationId xmlns:p14="http://schemas.microsoft.com/office/powerpoint/2010/main" val="8024806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Signed dependence is effectively zero</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eea0bb6faf804512"/>
          <a:stretch xmlns:a="http://schemas.openxmlformats.org/drawingml/2006/main"/>
        </p:blipFill>
        <p:spPr>
          <a:xfrm xmlns:a="http://schemas.openxmlformats.org/drawingml/2006/main">
            <a:off x="609600" y="1428750"/>
            <a:ext cx="7143750" cy="47625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-0.021</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Pearson correlation</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38"/>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[-0.073, +0.028]</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95% block-bootstrap interval</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0.044%</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R-squared: variance explained</a:t>
            </a:r>
          </a:p>
        </p:txBody>
      </p:sp>
    </p:spTree>
    <p:extLst>
      <p:ext uri="{BB962C8B-B14F-4D97-AF65-F5344CB8AC3E}">
        <p14:creationId xmlns:p14="http://schemas.microsoft.com/office/powerpoint/2010/main" val="158317070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section-8">
            <a:extLst xmlns:a="http://schemas.openxmlformats.org/drawingml/2006/main">
              <a:ext uri="{FF2B5EF4-FFF2-40B4-BE49-F238E27FC236}">
                <a16:creationId xmlns:a16="http://schemas.microsoft.com/office/drawing/2014/main" id="{FC99BA28-64AB-43E8-BE2C-0E05781D108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8">
            <a:extLst xmlns:a="http://schemas.openxmlformats.org/drawingml/2006/main">
              <a:ext uri="{FF2B5EF4-FFF2-40B4-BE49-F238E27FC236}">
                <a16:creationId xmlns:a16="http://schemas.microsoft.com/office/drawing/2014/main" id="{F56141AD-6D41-4B04-9458-2EFEFD0C222B}"/>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Yesterday's sign barely changes tomorrow's odds</a:t>
            </a:r>
          </a:p>
        </p:txBody>
      </p:sp>
      <p:sp>
        <p:nvSpPr>
          <p:cNvPr id="3" name="">
            <a:extLst xmlns:a="http://schemas.openxmlformats.org/drawingml/2006/main">
              <a:ext uri="{FF2B5EF4-FFF2-40B4-BE49-F238E27FC236}">
                <a16:creationId xmlns:a16="http://schemas.microsoft.com/office/drawing/2014/main" id="{8C9B866E-F8EC-4822-8F75-8738AE5743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8">
            <a:extLst xmlns:a="http://schemas.openxmlformats.org/drawingml/2006/main">
              <a:ext uri="{FF2B5EF4-FFF2-40B4-BE49-F238E27FC236}">
                <a16:creationId xmlns:a16="http://schemas.microsoft.com/office/drawing/2014/main" id="{60B7304E-4F61-40B8-9568-3A46AA0656E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8">
            <a:extLst xmlns:a="http://schemas.openxmlformats.org/drawingml/2006/main">
              <a:ext uri="{FF2B5EF4-FFF2-40B4-BE49-F238E27FC236}">
                <a16:creationId xmlns:a16="http://schemas.microsoft.com/office/drawing/2014/main" id="{A2FDA8B5-1121-4016-B34F-180F19066411}"/>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a:t>
            </a:r>
          </a:p>
        </p:txBody>
      </p:sp>
      <p:sp>
        <p:nvSpPr>
          <p:cNvPr id="6" name="">
            <a:extLst xmlns:a="http://schemas.openxmlformats.org/drawingml/2006/main">
              <a:ext uri="{FF2B5EF4-FFF2-40B4-BE49-F238E27FC236}">
                <a16:creationId xmlns:a16="http://schemas.microsoft.com/office/drawing/2014/main" id="{3559974A-1518-4857-8A86-2EF378C5D0E7}"/>
              </a:ext>
            </a:extLst>
          </p:cNvPr>
          <p:cNvSpPr>
            <a:spLocks xmlns:a="http://schemas.openxmlformats.org/drawingml/2006/main" noGrp="1"/>
          </p:cNvSpPr>
          <p:nvPr/>
        </p:nvSpPr>
        <p:spPr>
          <a:xfrm xmlns:a="http://schemas.openxmlformats.org/drawingml/2006/main">
            <a:off x="381000" y="1466850"/>
            <a:ext cx="7905750" cy="46672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a06ee922d29b48ca"/>
          <a:stretch xmlns:a="http://schemas.openxmlformats.org/drawingml/2006/main"/>
        </p:blipFill>
        <p:spPr>
          <a:xfrm xmlns:a="http://schemas.openxmlformats.org/drawingml/2006/main">
            <a:off x="381000" y="1494631"/>
            <a:ext cx="7905750" cy="4611688"/>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158CD61-4D23-41B7-A67E-B50BFA3C534B}"/>
              </a:ext>
            </a:extLst>
          </p:cNvPr>
          <p:cNvSpPr>
            <a:spLocks xmlns:a="http://schemas.openxmlformats.org/drawingml/2006/main" noGrp="1"/>
          </p:cNvSpPr>
          <p:nvPr/>
        </p:nvSpPr>
        <p:spPr>
          <a:xfrm xmlns:a="http://schemas.openxmlformats.org/drawingml/2006/main">
            <a:off x="8610600" y="16954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44C5ED96-F82C-4CF6-8B54-F372EF0D3357}"/>
              </a:ext>
            </a:extLst>
          </p:cNvPr>
          <p:cNvSpPr>
            <a:spLocks xmlns:a="http://schemas.openxmlformats.org/drawingml/2006/main" noGrp="1"/>
          </p:cNvSpPr>
          <p:nvPr/>
        </p:nvSpPr>
        <p:spPr>
          <a:xfrm xmlns:a="http://schemas.openxmlformats.org/drawingml/2006/main">
            <a:off x="8610600" y="16954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E9B25F14-87B4-4B00-A519-E1B45B8944EF}"/>
              </a:ext>
            </a:extLst>
          </p:cNvPr>
          <p:cNvSpPr>
            <a:spLocks xmlns:a="http://schemas.openxmlformats.org/drawingml/2006/main" noGrp="1"/>
          </p:cNvSpPr>
          <p:nvPr/>
        </p:nvSpPr>
        <p:spPr>
          <a:xfrm xmlns:a="http://schemas.openxmlformats.org/drawingml/2006/main">
            <a:off x="8877300" y="18669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52.9%</a:t>
            </a:r>
          </a:p>
        </p:txBody>
      </p:sp>
      <p:sp>
        <p:nvSpPr>
          <p:cNvPr id="11" name="">
            <a:extLst xmlns:a="http://schemas.openxmlformats.org/drawingml/2006/main">
              <a:ext uri="{FF2B5EF4-FFF2-40B4-BE49-F238E27FC236}">
                <a16:creationId xmlns:a16="http://schemas.microsoft.com/office/drawing/2014/main" id="{272C7F50-11E4-4D99-A2B2-ED17DA9ED760}"/>
              </a:ext>
            </a:extLst>
          </p:cNvPr>
          <p:cNvSpPr>
            <a:spLocks xmlns:a="http://schemas.openxmlformats.org/drawingml/2006/main" noGrp="1"/>
          </p:cNvSpPr>
          <p:nvPr/>
        </p:nvSpPr>
        <p:spPr>
          <a:xfrm xmlns:a="http://schemas.openxmlformats.org/drawingml/2006/main">
            <a:off x="8877300" y="25336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up after a prior down day</a:t>
            </a:r>
          </a:p>
        </p:txBody>
      </p:sp>
      <p:sp>
        <p:nvSpPr>
          <p:cNvPr id="12" name="">
            <a:extLst xmlns:a="http://schemas.openxmlformats.org/drawingml/2006/main">
              <a:ext uri="{FF2B5EF4-FFF2-40B4-BE49-F238E27FC236}">
                <a16:creationId xmlns:a16="http://schemas.microsoft.com/office/drawing/2014/main" id="{5C03A160-F567-45AF-99BA-FC078BEAD28C}"/>
              </a:ext>
            </a:extLst>
          </p:cNvPr>
          <p:cNvSpPr>
            <a:spLocks xmlns:a="http://schemas.openxmlformats.org/drawingml/2006/main" noGrp="1"/>
          </p:cNvSpPr>
          <p:nvPr/>
        </p:nvSpPr>
        <p:spPr>
          <a:xfrm xmlns:a="http://schemas.openxmlformats.org/drawingml/2006/main">
            <a:off x="8610600" y="33718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CF71FC31-69FB-4152-99F6-85AD4E4D1518}"/>
              </a:ext>
            </a:extLst>
          </p:cNvPr>
          <p:cNvSpPr>
            <a:spLocks xmlns:a="http://schemas.openxmlformats.org/drawingml/2006/main" noGrp="1"/>
          </p:cNvSpPr>
          <p:nvPr/>
        </p:nvSpPr>
        <p:spPr>
          <a:xfrm xmlns:a="http://schemas.openxmlformats.org/drawingml/2006/main">
            <a:off x="8610600" y="3371850"/>
            <a:ext cx="76200" cy="14287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4" name="">
            <a:extLst xmlns:a="http://schemas.openxmlformats.org/drawingml/2006/main">
              <a:ext uri="{FF2B5EF4-FFF2-40B4-BE49-F238E27FC236}">
                <a16:creationId xmlns:a16="http://schemas.microsoft.com/office/drawing/2014/main" id="{8ED9501F-EB23-41C7-BC9F-0DCAF5ED836D}"/>
              </a:ext>
            </a:extLst>
          </p:cNvPr>
          <p:cNvSpPr>
            <a:spLocks xmlns:a="http://schemas.openxmlformats.org/drawingml/2006/main" noGrp="1"/>
          </p:cNvSpPr>
          <p:nvPr/>
        </p:nvSpPr>
        <p:spPr>
          <a:xfrm xmlns:a="http://schemas.openxmlformats.org/drawingml/2006/main">
            <a:off x="8877300" y="35433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A9D6F"/>
                </a:solidFill>
                <a:latin typeface="Arial"/>
                <a:ea typeface="Arial"/>
                <a:cs typeface="Arial"/>
              </a:defRPr>
            </a:pPr>
            <a:r>
              <a:rPr sz="3225" b="1">
                <a:solidFill>
                  <a:srgbClr val="2A9D6F"/>
                </a:solidFill>
                <a:latin typeface="Arial"/>
                <a:ea typeface="Arial"/>
                <a:cs typeface="Arial"/>
              </a:rPr>
              <a:t>52.1%</a:t>
            </a:r>
          </a:p>
        </p:txBody>
      </p:sp>
      <p:sp>
        <p:nvSpPr>
          <p:cNvPr id="15" name="">
            <a:extLst xmlns:a="http://schemas.openxmlformats.org/drawingml/2006/main">
              <a:ext uri="{FF2B5EF4-FFF2-40B4-BE49-F238E27FC236}">
                <a16:creationId xmlns:a16="http://schemas.microsoft.com/office/drawing/2014/main" id="{1A5E9C93-AD93-49F0-B4EC-ABFC15BEED2F}"/>
              </a:ext>
            </a:extLst>
          </p:cNvPr>
          <p:cNvSpPr>
            <a:spLocks xmlns:a="http://schemas.openxmlformats.org/drawingml/2006/main" noGrp="1"/>
          </p:cNvSpPr>
          <p:nvPr/>
        </p:nvSpPr>
        <p:spPr>
          <a:xfrm xmlns:a="http://schemas.openxmlformats.org/drawingml/2006/main">
            <a:off x="8877300" y="42100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up after a prior up day</a:t>
            </a:r>
          </a:p>
        </p:txBody>
      </p:sp>
      <p:sp>
        <p:nvSpPr>
          <p:cNvPr id="16" name="">
            <a:extLst xmlns:a="http://schemas.openxmlformats.org/drawingml/2006/main">
              <a:ext uri="{FF2B5EF4-FFF2-40B4-BE49-F238E27FC236}">
                <a16:creationId xmlns:a16="http://schemas.microsoft.com/office/drawing/2014/main" id="{FC17DD6F-8CEE-4A90-8BD6-690A4FB48045}"/>
              </a:ext>
            </a:extLst>
          </p:cNvPr>
          <p:cNvSpPr>
            <a:spLocks xmlns:a="http://schemas.openxmlformats.org/drawingml/2006/main" noGrp="1"/>
          </p:cNvSpPr>
          <p:nvPr/>
        </p:nvSpPr>
        <p:spPr>
          <a:xfrm xmlns:a="http://schemas.openxmlformats.org/drawingml/2006/main">
            <a:off x="8705850" y="5219700"/>
            <a:ext cx="2667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Difference: -0.7 percentage points</a:t>
            </a:r>
          </a:p>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95% interval: -5.8 to +4.2 pp</a:t>
            </a:r>
          </a:p>
        </p:txBody>
      </p:sp>
    </p:spTree>
    <p:extLst>
      <p:ext uri="{BB962C8B-B14F-4D97-AF65-F5344CB8AC3E}">
        <p14:creationId xmlns:p14="http://schemas.microsoft.com/office/powerpoint/2010/main" val="172404363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section-9">
            <a:extLst xmlns:a="http://schemas.openxmlformats.org/drawingml/2006/main">
              <a:ext uri="{FF2B5EF4-FFF2-40B4-BE49-F238E27FC236}">
                <a16:creationId xmlns:a16="http://schemas.microsoft.com/office/drawing/2014/main" id="{EBA183BA-1F33-43C2-A340-16B1E99A7378}"/>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9">
            <a:extLst xmlns:a="http://schemas.openxmlformats.org/drawingml/2006/main">
              <a:ext uri="{FF2B5EF4-FFF2-40B4-BE49-F238E27FC236}">
                <a16:creationId xmlns:a16="http://schemas.microsoft.com/office/drawing/2014/main" id="{0663B6F4-658E-4DE8-898E-470A7CF5CC9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signed result stays weak under obvious checks</a:t>
            </a:r>
          </a:p>
        </p:txBody>
      </p:sp>
      <p:sp>
        <p:nvSpPr>
          <p:cNvPr id="3" name="">
            <a:extLst xmlns:a="http://schemas.openxmlformats.org/drawingml/2006/main">
              <a:ext uri="{FF2B5EF4-FFF2-40B4-BE49-F238E27FC236}">
                <a16:creationId xmlns:a16="http://schemas.microsoft.com/office/drawing/2014/main" id="{A4D2132A-BB30-4209-B894-FCC20F4F7A8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9">
            <a:extLst xmlns:a="http://schemas.openxmlformats.org/drawingml/2006/main">
              <a:ext uri="{FF2B5EF4-FFF2-40B4-BE49-F238E27FC236}">
                <a16:creationId xmlns:a16="http://schemas.microsoft.com/office/drawing/2014/main" id="{5B6CFEAA-57C7-4EA4-BAF7-395EC1B3D457}"/>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9">
            <a:extLst xmlns:a="http://schemas.openxmlformats.org/drawingml/2006/main">
              <a:ext uri="{FF2B5EF4-FFF2-40B4-BE49-F238E27FC236}">
                <a16:creationId xmlns:a16="http://schemas.microsoft.com/office/drawing/2014/main" id="{0A964CCF-1375-4C63-86E0-327EA665BDE1}"/>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a:t>
            </a:r>
          </a:p>
        </p:txBody>
      </p:sp>
      <p:sp>
        <p:nvSpPr>
          <p:cNvPr id="6" name="">
            <a:extLst xmlns:a="http://schemas.openxmlformats.org/drawingml/2006/main">
              <a:ext uri="{FF2B5EF4-FFF2-40B4-BE49-F238E27FC236}">
                <a16:creationId xmlns:a16="http://schemas.microsoft.com/office/drawing/2014/main" id="{4B3A4194-DA3D-4FE2-8903-084599EE63EF}"/>
              </a:ext>
            </a:extLst>
          </p:cNvPr>
          <p:cNvSpPr>
            <a:spLocks xmlns:a="http://schemas.openxmlformats.org/drawingml/2006/main" noGrp="1"/>
          </p:cNvSpPr>
          <p:nvPr/>
        </p:nvSpPr>
        <p:spPr>
          <a:xfrm xmlns:a="http://schemas.openxmlformats.org/drawingml/2006/main">
            <a:off x="304800" y="1428750"/>
            <a:ext cx="8096250" cy="481012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ce5eec8317964469"/>
          <a:stretch xmlns:a="http://schemas.openxmlformats.org/drawingml/2006/main"/>
        </p:blipFill>
        <p:spPr>
          <a:xfrm xmlns:a="http://schemas.openxmlformats.org/drawingml/2006/main">
            <a:off x="588479" y="1428750"/>
            <a:ext cx="7528891" cy="48101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5E547BA-6B5C-4F5A-B4E4-FD99AACD6FB4}"/>
              </a:ext>
            </a:extLst>
          </p:cNvPr>
          <p:cNvSpPr>
            <a:spLocks xmlns:a="http://schemas.openxmlformats.org/drawingml/2006/main" noGrp="1"/>
          </p:cNvSpPr>
          <p:nvPr/>
        </p:nvSpPr>
        <p:spPr>
          <a:xfrm xmlns:a="http://schemas.openxmlformats.org/drawingml/2006/main">
            <a:off x="8724900" y="1657350"/>
            <a:ext cx="2571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1">
                <a:solidFill>
                  <a:srgbClr val="000000"/>
                </a:solidFill>
                <a:latin typeface="Arial"/>
                <a:ea typeface="Arial"/>
                <a:cs typeface="Arial"/>
              </a:defRPr>
            </a:pPr>
            <a:r>
              <a:rPr sz="2025" b="1">
                <a:solidFill>
                  <a:srgbClr val="000000"/>
                </a:solidFill>
                <a:latin typeface="Arial"/>
                <a:ea typeface="Arial"/>
                <a:cs typeface="Arial"/>
              </a:rPr>
              <a:t>Rank check</a:t>
            </a:r>
          </a:p>
        </p:txBody>
      </p:sp>
      <p:sp>
        <p:nvSpPr>
          <p:cNvPr id="9" name="">
            <a:extLst xmlns:a="http://schemas.openxmlformats.org/drawingml/2006/main">
              <a:ext uri="{FF2B5EF4-FFF2-40B4-BE49-F238E27FC236}">
                <a16:creationId xmlns:a16="http://schemas.microsoft.com/office/drawing/2014/main" id="{8E2C0B40-DAFE-4C66-8136-964E51E1E49B}"/>
              </a:ext>
            </a:extLst>
          </p:cNvPr>
          <p:cNvSpPr>
            <a:spLocks xmlns:a="http://schemas.openxmlformats.org/drawingml/2006/main" noGrp="1"/>
          </p:cNvSpPr>
          <p:nvPr/>
        </p:nvSpPr>
        <p:spPr>
          <a:xfrm xmlns:a="http://schemas.openxmlformats.org/drawingml/2006/main">
            <a:off x="8724900" y="2114550"/>
            <a:ext cx="266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Spearman rho = -0.004</a:t>
            </a:r>
          </a:p>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95% block interval: -0.054 to +0.044</a:t>
            </a:r>
          </a:p>
        </p:txBody>
      </p:sp>
      <p:sp>
        <p:nvSpPr>
          <p:cNvPr id="10" name="">
            <a:extLst xmlns:a="http://schemas.openxmlformats.org/drawingml/2006/main">
              <a:ext uri="{FF2B5EF4-FFF2-40B4-BE49-F238E27FC236}">
                <a16:creationId xmlns:a16="http://schemas.microsoft.com/office/drawing/2014/main" id="{BF6A331B-1B89-49FE-BD19-54F1DD6232A9}"/>
              </a:ext>
            </a:extLst>
          </p:cNvPr>
          <p:cNvSpPr>
            <a:spLocks xmlns:a="http://schemas.openxmlformats.org/drawingml/2006/main" noGrp="1"/>
          </p:cNvSpPr>
          <p:nvPr/>
        </p:nvSpPr>
        <p:spPr>
          <a:xfrm xmlns:a="http://schemas.openxmlformats.org/drawingml/2006/main">
            <a:off x="8724900" y="3181350"/>
            <a:ext cx="26670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0A9140A0-2615-4B81-99CA-0D43FAA4B62B}"/>
              </a:ext>
            </a:extLst>
          </p:cNvPr>
          <p:cNvSpPr>
            <a:spLocks xmlns:a="http://schemas.openxmlformats.org/drawingml/2006/main" noGrp="1"/>
          </p:cNvSpPr>
          <p:nvPr/>
        </p:nvSpPr>
        <p:spPr>
          <a:xfrm xmlns:a="http://schemas.openxmlformats.org/drawingml/2006/main">
            <a:off x="8724900" y="3467100"/>
            <a:ext cx="2571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1">
                <a:solidFill>
                  <a:srgbClr val="000000"/>
                </a:solidFill>
                <a:latin typeface="Arial"/>
                <a:ea typeface="Arial"/>
                <a:cs typeface="Arial"/>
              </a:defRPr>
            </a:pPr>
            <a:r>
              <a:rPr sz="2025" b="1">
                <a:solidFill>
                  <a:srgbClr val="000000"/>
                </a:solidFill>
                <a:latin typeface="Arial"/>
                <a:ea typeface="Arial"/>
                <a:cs typeface="Arial"/>
              </a:rPr>
              <a:t>Outlier check</a:t>
            </a:r>
          </a:p>
        </p:txBody>
      </p:sp>
      <p:sp>
        <p:nvSpPr>
          <p:cNvPr id="12" name="">
            <a:extLst xmlns:a="http://schemas.openxmlformats.org/drawingml/2006/main">
              <a:ext uri="{FF2B5EF4-FFF2-40B4-BE49-F238E27FC236}">
                <a16:creationId xmlns:a16="http://schemas.microsoft.com/office/drawing/2014/main" id="{DE7EB45D-DC9C-458B-93BD-1FA8026B7058}"/>
              </a:ext>
            </a:extLst>
          </p:cNvPr>
          <p:cNvSpPr>
            <a:spLocks xmlns:a="http://schemas.openxmlformats.org/drawingml/2006/main" noGrp="1"/>
          </p:cNvSpPr>
          <p:nvPr/>
        </p:nvSpPr>
        <p:spPr>
          <a:xfrm xmlns:a="http://schemas.openxmlformats.org/drawingml/2006/main">
            <a:off x="8724900" y="3924300"/>
            <a:ext cx="2667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Pearson changes from -0.021 to -0.008 after fixed 1%/99% winsorization.</a:t>
            </a:r>
          </a:p>
        </p:txBody>
      </p:sp>
      <p:sp>
        <p:nvSpPr>
          <p:cNvPr id="13" name="">
            <a:extLst xmlns:a="http://schemas.openxmlformats.org/drawingml/2006/main">
              <a:ext uri="{FF2B5EF4-FFF2-40B4-BE49-F238E27FC236}">
                <a16:creationId xmlns:a16="http://schemas.microsoft.com/office/drawing/2014/main" id="{782C736D-ABB7-461A-92C1-B5147946828D}"/>
              </a:ext>
            </a:extLst>
          </p:cNvPr>
          <p:cNvSpPr>
            <a:spLocks xmlns:a="http://schemas.openxmlformats.org/drawingml/2006/main" noGrp="1"/>
          </p:cNvSpPr>
          <p:nvPr/>
        </p:nvSpPr>
        <p:spPr>
          <a:xfrm xmlns:a="http://schemas.openxmlformats.org/drawingml/2006/main">
            <a:off x="8724900" y="5105400"/>
            <a:ext cx="26670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4" name="">
            <a:extLst xmlns:a="http://schemas.openxmlformats.org/drawingml/2006/main">
              <a:ext uri="{FF2B5EF4-FFF2-40B4-BE49-F238E27FC236}">
                <a16:creationId xmlns:a16="http://schemas.microsoft.com/office/drawing/2014/main" id="{D954633C-EE8B-411B-A503-F65ADB1D0271}"/>
              </a:ext>
            </a:extLst>
          </p:cNvPr>
          <p:cNvSpPr>
            <a:spLocks xmlns:a="http://schemas.openxmlformats.org/drawingml/2006/main" noGrp="1"/>
          </p:cNvSpPr>
          <p:nvPr/>
        </p:nvSpPr>
        <p:spPr>
          <a:xfrm xmlns:a="http://schemas.openxmlformats.org/drawingml/2006/main">
            <a:off x="8724900" y="5391150"/>
            <a:ext cx="266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1">
                <a:solidFill>
                  <a:srgbClr val="E45756"/>
                </a:solidFill>
                <a:latin typeface="Arial"/>
                <a:ea typeface="Arial"/>
                <a:cs typeface="Arial"/>
              </a:defRPr>
            </a:pPr>
            <a:r>
              <a:rPr sz="1575" b="1">
                <a:solidFill>
                  <a:srgbClr val="E45756"/>
                </a:solidFill>
                <a:latin typeface="Arial"/>
                <a:ea typeface="Arial"/>
                <a:cs typeface="Arial"/>
              </a:rPr>
              <a:t>Every annual HAC interval crosses zero.</a:t>
            </a:r>
          </a:p>
        </p:txBody>
      </p:sp>
    </p:spTree>
    <p:extLst>
      <p:ext uri="{BB962C8B-B14F-4D97-AF65-F5344CB8AC3E}">
        <p14:creationId xmlns:p14="http://schemas.microsoft.com/office/powerpoint/2010/main" val="201621491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section-10">
            <a:extLst xmlns:a="http://schemas.openxmlformats.org/drawingml/2006/main">
              <a:ext uri="{FF2B5EF4-FFF2-40B4-BE49-F238E27FC236}">
                <a16:creationId xmlns:a16="http://schemas.microsoft.com/office/drawing/2014/main" id="{956D329C-4E71-4503-8472-54BE364C9DB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0">
            <a:extLst xmlns:a="http://schemas.openxmlformats.org/drawingml/2006/main">
              <a:ext uri="{FF2B5EF4-FFF2-40B4-BE49-F238E27FC236}">
                <a16:creationId xmlns:a16="http://schemas.microsoft.com/office/drawing/2014/main" id="{35EE1E91-CEDB-4B30-9B21-3743CDB4DF2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Magnitude persistence is modest—and different</a:t>
            </a:r>
          </a:p>
        </p:txBody>
      </p:sp>
      <p:sp>
        <p:nvSpPr>
          <p:cNvPr id="3" name="">
            <a:extLst xmlns:a="http://schemas.openxmlformats.org/drawingml/2006/main">
              <a:ext uri="{FF2B5EF4-FFF2-40B4-BE49-F238E27FC236}">
                <a16:creationId xmlns:a16="http://schemas.microsoft.com/office/drawing/2014/main" id="{C360048C-412A-4DAD-943D-CBFA422CB48C}"/>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0">
            <a:extLst xmlns:a="http://schemas.openxmlformats.org/drawingml/2006/main">
              <a:ext uri="{FF2B5EF4-FFF2-40B4-BE49-F238E27FC236}">
                <a16:creationId xmlns:a16="http://schemas.microsoft.com/office/drawing/2014/main" id="{81D14FDE-48EA-4462-90E0-D7741C25D1C9}"/>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0">
            <a:extLst xmlns:a="http://schemas.openxmlformats.org/drawingml/2006/main">
              <a:ext uri="{FF2B5EF4-FFF2-40B4-BE49-F238E27FC236}">
                <a16:creationId xmlns:a16="http://schemas.microsoft.com/office/drawing/2014/main" id="{CC0DEE07-9BBD-42F7-A366-FBFDE2A0883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10</a:t>
            </a:r>
          </a:p>
        </p:txBody>
      </p:sp>
      <p:sp>
        <p:nvSpPr>
          <p:cNvPr id="6" name="">
            <a:extLst xmlns:a="http://schemas.openxmlformats.org/drawingml/2006/main">
              <a:ext uri="{FF2B5EF4-FFF2-40B4-BE49-F238E27FC236}">
                <a16:creationId xmlns:a16="http://schemas.microsoft.com/office/drawing/2014/main" id="{30B6EAE5-9A3B-4831-A518-2BC1EB255217}"/>
              </a:ext>
            </a:extLst>
          </p:cNvPr>
          <p:cNvSpPr>
            <a:spLocks xmlns:a="http://schemas.openxmlformats.org/drawingml/2006/main" noGrp="1"/>
          </p:cNvSpPr>
          <p:nvPr/>
        </p:nvSpPr>
        <p:spPr>
          <a:xfrm xmlns:a="http://schemas.openxmlformats.org/drawingml/2006/main">
            <a:off x="342900" y="1447800"/>
            <a:ext cx="8096250" cy="47434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5f54b7f81d90488b"/>
          <a:stretch xmlns:a="http://schemas.openxmlformats.org/drawingml/2006/main"/>
        </p:blipFill>
        <p:spPr>
          <a:xfrm xmlns:a="http://schemas.openxmlformats.org/drawingml/2006/main">
            <a:off x="342900" y="1458119"/>
            <a:ext cx="8096250" cy="4722813"/>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3CD70912-AFA7-4777-B92E-0384D9D34CA2}"/>
              </a:ext>
            </a:extLst>
          </p:cNvPr>
          <p:cNvSpPr>
            <a:spLocks xmlns:a="http://schemas.openxmlformats.org/drawingml/2006/main" noGrp="1"/>
          </p:cNvSpPr>
          <p:nvPr/>
        </p:nvSpPr>
        <p:spPr>
          <a:xfrm xmlns:a="http://schemas.openxmlformats.org/drawingml/2006/main">
            <a:off x="8763000" y="1581150"/>
            <a:ext cx="2762250" cy="156210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59898846-1713-4B00-B11B-C6CA4C6CC69C}"/>
              </a:ext>
            </a:extLst>
          </p:cNvPr>
          <p:cNvSpPr>
            <a:spLocks xmlns:a="http://schemas.openxmlformats.org/drawingml/2006/main" noGrp="1"/>
          </p:cNvSpPr>
          <p:nvPr/>
        </p:nvSpPr>
        <p:spPr>
          <a:xfrm xmlns:a="http://schemas.openxmlformats.org/drawingml/2006/main">
            <a:off x="8763000" y="1581150"/>
            <a:ext cx="76200" cy="15621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C16DE226-2BE8-4FE8-ABF8-EF99CFFECB5A}"/>
              </a:ext>
            </a:extLst>
          </p:cNvPr>
          <p:cNvSpPr>
            <a:spLocks xmlns:a="http://schemas.openxmlformats.org/drawingml/2006/main" noGrp="1"/>
          </p:cNvSpPr>
          <p:nvPr/>
        </p:nvSpPr>
        <p:spPr>
          <a:xfrm xmlns:a="http://schemas.openxmlformats.org/drawingml/2006/main">
            <a:off x="9029700" y="1752600"/>
            <a:ext cx="2305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+0.107</a:t>
            </a:r>
          </a:p>
        </p:txBody>
      </p:sp>
      <p:sp>
        <p:nvSpPr>
          <p:cNvPr id="11" name="">
            <a:extLst xmlns:a="http://schemas.openxmlformats.org/drawingml/2006/main">
              <a:ext uri="{FF2B5EF4-FFF2-40B4-BE49-F238E27FC236}">
                <a16:creationId xmlns:a16="http://schemas.microsoft.com/office/drawing/2014/main" id="{F3CCCFCB-521D-4ED8-B91A-B3885201C3DA}"/>
              </a:ext>
            </a:extLst>
          </p:cNvPr>
          <p:cNvSpPr>
            <a:spLocks xmlns:a="http://schemas.openxmlformats.org/drawingml/2006/main" noGrp="1"/>
          </p:cNvSpPr>
          <p:nvPr/>
        </p:nvSpPr>
        <p:spPr>
          <a:xfrm xmlns:a="http://schemas.openxmlformats.org/drawingml/2006/main">
            <a:off x="9029700" y="2419350"/>
            <a:ext cx="23050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Pearson correlation of |r[t-1]| and |r[t]|</a:t>
            </a:r>
          </a:p>
        </p:txBody>
      </p:sp>
      <p:sp>
        <p:nvSpPr>
          <p:cNvPr id="12" name="">
            <a:extLst xmlns:a="http://schemas.openxmlformats.org/drawingml/2006/main">
              <a:ext uri="{FF2B5EF4-FFF2-40B4-BE49-F238E27FC236}">
                <a16:creationId xmlns:a16="http://schemas.microsoft.com/office/drawing/2014/main" id="{411EFCBD-B9ED-4C50-8E82-6B73D26F987D}"/>
              </a:ext>
            </a:extLst>
          </p:cNvPr>
          <p:cNvSpPr>
            <a:spLocks xmlns:a="http://schemas.openxmlformats.org/drawingml/2006/main" noGrp="1"/>
          </p:cNvSpPr>
          <p:nvPr/>
        </p:nvSpPr>
        <p:spPr>
          <a:xfrm xmlns:a="http://schemas.openxmlformats.org/drawingml/2006/main">
            <a:off x="8972550" y="3371850"/>
            <a:ext cx="23622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95% block interval</a:t>
            </a:r>
          </a:p>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+0.033 to +0.168</a:t>
            </a:r>
          </a:p>
        </p:txBody>
      </p:sp>
      <p:sp>
        <p:nvSpPr>
          <p:cNvPr id="13" name="">
            <a:extLst xmlns:a="http://schemas.openxmlformats.org/drawingml/2006/main">
              <a:ext uri="{FF2B5EF4-FFF2-40B4-BE49-F238E27FC236}">
                <a16:creationId xmlns:a16="http://schemas.microsoft.com/office/drawing/2014/main" id="{3CF3178D-BD60-4112-9050-39949302A7F4}"/>
              </a:ext>
            </a:extLst>
          </p:cNvPr>
          <p:cNvSpPr>
            <a:spLocks xmlns:a="http://schemas.openxmlformats.org/drawingml/2006/main" noGrp="1"/>
          </p:cNvSpPr>
          <p:nvPr/>
        </p:nvSpPr>
        <p:spPr>
          <a:xfrm xmlns:a="http://schemas.openxmlformats.org/drawingml/2006/main">
            <a:off x="8972550" y="4286250"/>
            <a:ext cx="23622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4" name="">
            <a:extLst xmlns:a="http://schemas.openxmlformats.org/drawingml/2006/main">
              <a:ext uri="{FF2B5EF4-FFF2-40B4-BE49-F238E27FC236}">
                <a16:creationId xmlns:a16="http://schemas.microsoft.com/office/drawing/2014/main" id="{40A399B8-7059-4CEF-8F2B-1A634DBCD24F}"/>
              </a:ext>
            </a:extLst>
          </p:cNvPr>
          <p:cNvSpPr>
            <a:spLocks xmlns:a="http://schemas.openxmlformats.org/drawingml/2006/main" noGrp="1"/>
          </p:cNvSpPr>
          <p:nvPr/>
        </p:nvSpPr>
        <p:spPr>
          <a:xfrm xmlns:a="http://schemas.openxmlformats.org/drawingml/2006/main">
            <a:off x="8972550" y="45339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E45756"/>
                </a:solidFill>
                <a:latin typeface="Arial"/>
                <a:ea typeface="Arial"/>
                <a:cs typeface="Arial"/>
              </a:defRPr>
            </a:pPr>
            <a:r>
              <a:rPr sz="1950" b="1">
                <a:solidFill>
                  <a:srgbClr val="E45756"/>
                </a:solidFill>
                <a:latin typeface="Arial"/>
                <a:ea typeface="Arial"/>
                <a:cs typeface="Arial"/>
              </a:rPr>
              <a:t>Caution</a:t>
            </a:r>
          </a:p>
        </p:txBody>
      </p:sp>
      <p:sp>
        <p:nvSpPr>
          <p:cNvPr id="15" name="">
            <a:extLst xmlns:a="http://schemas.openxmlformats.org/drawingml/2006/main">
              <a:ext uri="{FF2B5EF4-FFF2-40B4-BE49-F238E27FC236}">
                <a16:creationId xmlns:a16="http://schemas.microsoft.com/office/drawing/2014/main" id="{D20EC0EC-804C-451F-B37D-6CBD9395B9D0}"/>
              </a:ext>
            </a:extLst>
          </p:cNvPr>
          <p:cNvSpPr>
            <a:spLocks xmlns:a="http://schemas.openxmlformats.org/drawingml/2006/main" noGrp="1"/>
          </p:cNvSpPr>
          <p:nvPr/>
        </p:nvSpPr>
        <p:spPr>
          <a:xfrm xmlns:a="http://schemas.openxmlformats.org/drawingml/2006/main">
            <a:off x="8972550" y="4953000"/>
            <a:ext cx="23622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369"/>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The decile pattern is not monotonic; rank correlation is only +0.053 and its interval crosses zero. This is a clue about turbulence—not direction.</a:t>
            </a:r>
          </a:p>
        </p:txBody>
      </p:sp>
    </p:spTree>
    <p:extLst>
      <p:ext uri="{BB962C8B-B14F-4D97-AF65-F5344CB8AC3E}">
        <p14:creationId xmlns:p14="http://schemas.microsoft.com/office/powerpoint/2010/main" val="188006652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What survives this first measurement pass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11</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SIGNED RETURN</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79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No measurable adjacent-session continuation or reversal</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Pearson -0.021; direction difference -0.7 pp</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PATH SHAPE</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93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ER20 usefully describes trend versus chop</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Direction-agnostic, lagging, and flickery near transitions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RETURN MAGNITUDE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modest persistence clue remains</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Absolute-return Pearson +0.107; non-monotonic diagnostic pattern</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narrow question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Does yesterday's return magnitude forecast tomorrow's magnitude on a separately frozen surface?</a:t>
            </a:r>
          </a:p>
        </p:txBody>
      </p:sp>
    </p:spTree>
    <p:extLst>
      <p:ext uri="{BB962C8B-B14F-4D97-AF65-F5344CB8AC3E}">
        <p14:creationId xmlns:p14="http://schemas.microsoft.com/office/powerpoint/2010/main" val="66653628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HORIZON GRID</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What if one session is simply</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too noisy?</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728"/>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Aggregate the past. Aggregate the future. Keep the boundary clean.</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Predeclared prior and forward horizons: 1, 2, 3, 4, 5, 10, 15, 20, and 25 sessions. No cell becomes a strategy.</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12</a:t>
            </a:r>
          </a:p>
        </p:txBody>
      </p:sp>
    </p:spTree>
    <p:extLst>
      <p:ext uri="{BB962C8B-B14F-4D97-AF65-F5344CB8AC3E}">
        <p14:creationId xmlns:p14="http://schemas.microsoft.com/office/powerpoint/2010/main" val="8024806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 fixed 9 x 9 surface tests aggregation</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13</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R-(p)  versus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prior window ends at the anchor close. The forward window begins after it—no return interval appears on both sides.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81</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predeclared horizon pairs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boundaries</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Asset</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TSLA</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Bars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Alpaca SIP adjusted daily close</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Horizons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1, 2, 3, 4, 5, 10, 15, 20, 25</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Sample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2018-01-02 through 2023-12-29</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Newey-West /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BH-FDR plus Bonferroni across 81 cells</a:t>
            </a:r>
          </a:p>
        </p:txBody>
      </p:sp>
    </p:spTree>
    <p:extLst>
      <p:ext uri="{BB962C8B-B14F-4D97-AF65-F5344CB8AC3E}">
        <p14:creationId xmlns:p14="http://schemas.microsoft.com/office/powerpoint/2010/main" val="139728336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Aggregation reveals a weak 5–10-session ridge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Pearson correlation matrix; no BH-FDR q-value is below 0.05.</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c50c5baa2e444a2b"/>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ridge is weak and statistically unresolved</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15</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+0.092</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Pearson: 5 prior / 10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38"/>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[-0.003, +0.188]</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95% overlap-aware HAC interval</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0.852%</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maximum R-squared across 81 cells</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e39f747fcfb9489b"/>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section-8">
            <a:extLst xmlns:a="http://schemas.openxmlformats.org/drawingml/2006/main">
              <a:ext uri="{FF2B5EF4-FFF2-40B4-BE49-F238E27FC236}">
                <a16:creationId xmlns:a16="http://schemas.microsoft.com/office/drawing/2014/main" id="{FC99BA28-64AB-43E8-BE2C-0E05781D108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8">
            <a:extLst xmlns:a="http://schemas.openxmlformats.org/drawingml/2006/main">
              <a:ext uri="{FF2B5EF4-FFF2-40B4-BE49-F238E27FC236}">
                <a16:creationId xmlns:a16="http://schemas.microsoft.com/office/drawing/2014/main" id="{F56141AD-6D41-4B04-9458-2EFEFD0C222B}"/>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differences also fail the 81-cell scan</a:t>
            </a:r>
          </a:p>
        </p:txBody>
      </p:sp>
      <p:sp>
        <p:nvSpPr>
          <p:cNvPr id="3" name="">
            <a:extLst xmlns:a="http://schemas.openxmlformats.org/drawingml/2006/main">
              <a:ext uri="{FF2B5EF4-FFF2-40B4-BE49-F238E27FC236}">
                <a16:creationId xmlns:a16="http://schemas.microsoft.com/office/drawing/2014/main" id="{8C9B866E-F8EC-4822-8F75-8738AE5743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8">
            <a:extLst xmlns:a="http://schemas.openxmlformats.org/drawingml/2006/main">
              <a:ext uri="{FF2B5EF4-FFF2-40B4-BE49-F238E27FC236}">
                <a16:creationId xmlns:a16="http://schemas.microsoft.com/office/drawing/2014/main" id="{60B7304E-4F61-40B8-9568-3A46AA0656E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8">
            <a:extLst xmlns:a="http://schemas.openxmlformats.org/drawingml/2006/main">
              <a:ext uri="{FF2B5EF4-FFF2-40B4-BE49-F238E27FC236}">
                <a16:creationId xmlns:a16="http://schemas.microsoft.com/office/drawing/2014/main" id="{A2FDA8B5-1121-4016-B34F-180F19066411}"/>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16</a:t>
            </a:r>
          </a:p>
        </p:txBody>
      </p:sp>
      <p:sp>
        <p:nvSpPr>
          <p:cNvPr id="6" name="">
            <a:extLst xmlns:a="http://schemas.openxmlformats.org/drawingml/2006/main">
              <a:ext uri="{FF2B5EF4-FFF2-40B4-BE49-F238E27FC236}">
                <a16:creationId xmlns:a16="http://schemas.microsoft.com/office/drawing/2014/main" id="{3559974A-1518-4857-8A86-2EF378C5D0E7}"/>
              </a:ext>
            </a:extLst>
          </p:cNvPr>
          <p:cNvSpPr>
            <a:spLocks xmlns:a="http://schemas.openxmlformats.org/drawingml/2006/main" noGrp="1"/>
          </p:cNvSpPr>
          <p:nvPr/>
        </p:nvSpPr>
        <p:spPr>
          <a:xfrm xmlns:a="http://schemas.openxmlformats.org/drawingml/2006/main">
            <a:off x="381000" y="1466850"/>
            <a:ext cx="7905750" cy="46672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F158CD61-4D23-41B7-A67E-B50BFA3C534B}"/>
              </a:ext>
            </a:extLst>
          </p:cNvPr>
          <p:cNvSpPr>
            <a:spLocks xmlns:a="http://schemas.openxmlformats.org/drawingml/2006/main" noGrp="1"/>
          </p:cNvSpPr>
          <p:nvPr/>
        </p:nvSpPr>
        <p:spPr>
          <a:xfrm xmlns:a="http://schemas.openxmlformats.org/drawingml/2006/main">
            <a:off x="8610600" y="16954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44C5ED96-F82C-4CF6-8B54-F372EF0D3357}"/>
              </a:ext>
            </a:extLst>
          </p:cNvPr>
          <p:cNvSpPr>
            <a:spLocks xmlns:a="http://schemas.openxmlformats.org/drawingml/2006/main" noGrp="1"/>
          </p:cNvSpPr>
          <p:nvPr/>
        </p:nvSpPr>
        <p:spPr>
          <a:xfrm xmlns:a="http://schemas.openxmlformats.org/drawingml/2006/main">
            <a:off x="8610600" y="16954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E9B25F14-87B4-4B00-A519-E1B45B8944EF}"/>
              </a:ext>
            </a:extLst>
          </p:cNvPr>
          <p:cNvSpPr>
            <a:spLocks xmlns:a="http://schemas.openxmlformats.org/drawingml/2006/main" noGrp="1"/>
          </p:cNvSpPr>
          <p:nvPr/>
        </p:nvSpPr>
        <p:spPr>
          <a:xfrm xmlns:a="http://schemas.openxmlformats.org/drawingml/2006/main">
            <a:off x="8877300" y="18669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+8.1 pp</a:t>
            </a:r>
          </a:p>
        </p:txBody>
      </p:sp>
      <p:sp>
        <p:nvSpPr>
          <p:cNvPr id="11" name="">
            <a:extLst xmlns:a="http://schemas.openxmlformats.org/drawingml/2006/main">
              <a:ext uri="{FF2B5EF4-FFF2-40B4-BE49-F238E27FC236}">
                <a16:creationId xmlns:a16="http://schemas.microsoft.com/office/drawing/2014/main" id="{272C7F50-11E4-4D99-A2B2-ED17DA9ED760}"/>
              </a:ext>
            </a:extLst>
          </p:cNvPr>
          <p:cNvSpPr>
            <a:spLocks xmlns:a="http://schemas.openxmlformats.org/drawingml/2006/main" noGrp="1"/>
          </p:cNvSpPr>
          <p:nvPr/>
        </p:nvSpPr>
        <p:spPr>
          <a:xfrm xmlns:a="http://schemas.openxmlformats.org/drawingml/2006/main">
            <a:off x="8877300" y="25336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raw-sign difference with p &lt; 0.05</a:t>
            </a:r>
          </a:p>
        </p:txBody>
      </p:sp>
      <p:sp>
        <p:nvSpPr>
          <p:cNvPr id="12" name="">
            <a:extLst xmlns:a="http://schemas.openxmlformats.org/drawingml/2006/main">
              <a:ext uri="{FF2B5EF4-FFF2-40B4-BE49-F238E27FC236}">
                <a16:creationId xmlns:a16="http://schemas.microsoft.com/office/drawing/2014/main" id="{5C03A160-F567-45AF-99BA-FC078BEAD28C}"/>
              </a:ext>
            </a:extLst>
          </p:cNvPr>
          <p:cNvSpPr>
            <a:spLocks xmlns:a="http://schemas.openxmlformats.org/drawingml/2006/main" noGrp="1"/>
          </p:cNvSpPr>
          <p:nvPr/>
        </p:nvSpPr>
        <p:spPr>
          <a:xfrm xmlns:a="http://schemas.openxmlformats.org/drawingml/2006/main">
            <a:off x="8610600" y="33718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CF71FC31-69FB-4152-99F6-85AD4E4D1518}"/>
              </a:ext>
            </a:extLst>
          </p:cNvPr>
          <p:cNvSpPr>
            <a:spLocks xmlns:a="http://schemas.openxmlformats.org/drawingml/2006/main" noGrp="1"/>
          </p:cNvSpPr>
          <p:nvPr/>
        </p:nvSpPr>
        <p:spPr>
          <a:xfrm xmlns:a="http://schemas.openxmlformats.org/drawingml/2006/main">
            <a:off x="8610600" y="3371850"/>
            <a:ext cx="76200" cy="14287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4" name="">
            <a:extLst xmlns:a="http://schemas.openxmlformats.org/drawingml/2006/main">
              <a:ext uri="{FF2B5EF4-FFF2-40B4-BE49-F238E27FC236}">
                <a16:creationId xmlns:a16="http://schemas.microsoft.com/office/drawing/2014/main" id="{8ED9501F-EB23-41C7-BC9F-0DCAF5ED836D}"/>
              </a:ext>
            </a:extLst>
          </p:cNvPr>
          <p:cNvSpPr>
            <a:spLocks xmlns:a="http://schemas.openxmlformats.org/drawingml/2006/main" noGrp="1"/>
          </p:cNvSpPr>
          <p:nvPr/>
        </p:nvSpPr>
        <p:spPr>
          <a:xfrm xmlns:a="http://schemas.openxmlformats.org/drawingml/2006/main">
            <a:off x="8877300" y="35433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A9D6F"/>
                </a:solidFill>
                <a:latin typeface="Arial"/>
                <a:ea typeface="Arial"/>
                <a:cs typeface="Arial"/>
              </a:defRPr>
            </a:pPr>
            <a:r>
              <a:rPr sz="3225" b="1">
                <a:solidFill>
                  <a:srgbClr val="2A9D6F"/>
                </a:solidFill>
                <a:latin typeface="Arial"/>
                <a:ea typeface="Arial"/>
                <a:cs typeface="Arial"/>
              </a:rPr>
              <a:t>0 / 81</a:t>
            </a:r>
          </a:p>
        </p:txBody>
      </p:sp>
      <p:sp>
        <p:nvSpPr>
          <p:cNvPr id="15" name="">
            <a:extLst xmlns:a="http://schemas.openxmlformats.org/drawingml/2006/main">
              <a:ext uri="{FF2B5EF4-FFF2-40B4-BE49-F238E27FC236}">
                <a16:creationId xmlns:a16="http://schemas.microsoft.com/office/drawing/2014/main" id="{1A5E9C93-AD93-49F0-B4EC-ABFC15BEED2F}"/>
              </a:ext>
            </a:extLst>
          </p:cNvPr>
          <p:cNvSpPr>
            <a:spLocks xmlns:a="http://schemas.openxmlformats.org/drawingml/2006/main" noGrp="1"/>
          </p:cNvSpPr>
          <p:nvPr/>
        </p:nvSpPr>
        <p:spPr>
          <a:xfrm xmlns:a="http://schemas.openxmlformats.org/drawingml/2006/main">
            <a:off x="8877300" y="42100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direction cells with BH-FDR q &lt; 0.05</a:t>
            </a:r>
          </a:p>
        </p:txBody>
      </p:sp>
      <p:sp>
        <p:nvSpPr>
          <p:cNvPr id="16" name="">
            <a:extLst xmlns:a="http://schemas.openxmlformats.org/drawingml/2006/main">
              <a:ext uri="{FF2B5EF4-FFF2-40B4-BE49-F238E27FC236}">
                <a16:creationId xmlns:a16="http://schemas.microsoft.com/office/drawing/2014/main" id="{FC17DD6F-8CEE-4A90-8BD6-690A4FB48045}"/>
              </a:ext>
            </a:extLst>
          </p:cNvPr>
          <p:cNvSpPr>
            <a:spLocks xmlns:a="http://schemas.openxmlformats.org/drawingml/2006/main" noGrp="1"/>
          </p:cNvSpPr>
          <p:nvPr/>
        </p:nvSpPr>
        <p:spPr>
          <a:xfrm xmlns:a="http://schemas.openxmlformats.org/drawingml/2006/main">
            <a:off x="8705850" y="5219700"/>
            <a:ext cx="2667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7500"/>
          </a:bodyPr>
          <a:lstStyle xmlns:a="http://schemas.openxmlformats.org/drawingml/2006/main"/>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Best raw direction p = 0.025 at 10 prior / 3 forward.</a:t>
            </a:r>
          </a:p>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BH q = 0.554; nested horizons share data.</a:t>
            </a:r>
          </a:p>
        </p:txBody>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9aa5b87b27f54325"/>
          <a:stretch xmlns:a="http://schemas.openxmlformats.org/drawingml/2006/main"/>
        </p:blipFill>
        <p:spPr>
          <a:xfrm xmlns:a="http://schemas.openxmlformats.org/drawingml/2006/main" flipH="0" flipV="0">
            <a:off x="381000" y="1494631"/>
            <a:ext cx="7905750" cy="4611688"/>
          </a:xfrm>
          <a:prstGeom xmlns:a="http://schemas.openxmlformats.org/drawingml/2006/main" prst="rect">
            <a:avLst/>
          </a:prstGeom>
        </p:spPr>
      </p:pic>
    </p:spTree>
    <p:extLst>
      <p:ext uri="{BB962C8B-B14F-4D97-AF65-F5344CB8AC3E}">
        <p14:creationId xmlns:p14="http://schemas.microsoft.com/office/powerpoint/2010/main" val="172404363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What survives the aggregation pass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17</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GRID PATTERN</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5036"/>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coherent positive ridge appears near 5–10 sessions</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Max Pearson +0.092 at 5 prior / 10 forward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UNCERTAINTY</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7621"/>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Every signed-return interval still includes zero</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0/81 BH-FDR or Bonferroni passes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DIRECTION</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5494"/>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Probability shifts are larger but not multiplicity-stable</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Best raw p=0.025; BH q=0.554</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narrow question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Does the 5–10-session ridge deserve one frozen replication, or does this descriptive lane stop here?</a:t>
            </a:r>
          </a:p>
        </p:txBody>
      </p:sp>
    </p:spTree>
    <p:extLst>
      <p:ext uri="{BB962C8B-B14F-4D97-AF65-F5344CB8AC3E}">
        <p14:creationId xmlns:p14="http://schemas.microsoft.com/office/powerpoint/2010/main" val="66653628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REGIME CONDITIONING</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What if aggregation mixes</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incompatible path states?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Use the ER20 color already known at the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Red and green inherit the prior POC's fixed 20-session metric and 0.30 cutoff.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18</a:t>
            </a:r>
          </a:p>
        </p:txBody>
      </p:sp>
    </p:spTree>
    <p:extLst>
      <p:ext uri="{BB962C8B-B14F-4D97-AF65-F5344CB8AC3E}">
        <p14:creationId xmlns:p14="http://schemas.microsoft.com/office/powerpoint/2010/main" val="8024806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ER20 before reading the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19</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State[t]  then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anchor is labeled from closes through t. Prior return ends at t; following return begins after 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fixed path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20-session log-price ER</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Red</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ER20 &lt; 0.30 (sideways)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Green</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ER20 &gt;= 0.30 (trending)</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State known at anchor close t</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Caution</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ER20 and prior return share trailing price data</a:t>
            </a:r>
          </a:p>
        </p:txBody>
      </p:sp>
    </p:spTree>
    <p:extLst>
      <p:ext uri="{BB962C8B-B14F-4D97-AF65-F5344CB8AC3E}">
        <p14:creationId xmlns:p14="http://schemas.microsoft.com/office/powerpoint/2010/main" val="139728336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Red ER20 states expose a positive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Red/sideways matrix; strongest cell +0.173 at 15 prior / 5 forward.</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d1d47adc908c47f6"/>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Green ER20 states suppress the positive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Green/trending matrix; long/long cells turn negative; strongest absolute cell -0.154.</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8bbf9a27794c4d69"/>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state split is coherent, but unresolved</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22</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-0.231</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15 prior / 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p = 0.029</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raw HAC slope-interaction test</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 / 81</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interaction cells with BH-FDR q &lt; 0.05</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ffb121c0020e4029"/>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ER20 changes the map, but not the evidentiary stop</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23</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RED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positive island appears around 10–15 prior / 3–10 forward</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Max +0.173 at 15 prior / 5 forward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GREEN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The same island is muted or reversed; long/long turns negative</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15 / 5 = -0.058; 25 / 25 = -0.154</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UNCERTAINTY</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No regime-specific or interaction result survives the scan</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0/81 red; 0/81 green; 0/81 interactions</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narrow question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15-prior / 5-forward for separate replication—or first test a regime filter less entangled with prior return?</a:t>
            </a:r>
          </a:p>
        </p:txBody>
      </p:sp>
    </p:spTree>
    <p:extLst>
      <p:ext uri="{BB962C8B-B14F-4D97-AF65-F5344CB8AC3E}">
        <p14:creationId xmlns:p14="http://schemas.microsoft.com/office/powerpoint/2010/main" val="66653628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VOLATILITY CONDITIONING</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Does movement capacity separate</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continuation from reversal?</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643"/>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Reuse the accepted ATR% state already known at the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LOW, MEDIUM, and HIGH inherit HYP-REG-01.1's fixed causal classifier.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24</a:t>
            </a:r>
          </a:p>
        </p:txBody>
      </p:sp>
    </p:spTree>
    <p:extLst>
      <p:ext uri="{BB962C8B-B14F-4D97-AF65-F5344CB8AC3E}">
        <p14:creationId xmlns:p14="http://schemas.microsoft.com/office/powerpoint/2010/main" val="8024806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639"/>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accepted ATR% before reading the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25</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State[t]  then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ATR% state is assigned at anchor close t. Prior return ends at t; following return begins after t. It measures capacity—not direction.</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accepted volatility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Wilder ATR14 / close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Memory</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Prior 252 completed sessions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LOW / MEDIUM / HIGH</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Hysteresis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30/40 and 60/70 gates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Tree>
    <p:extLst>
      <p:ext uri="{BB962C8B-B14F-4D97-AF65-F5344CB8AC3E}">
        <p14:creationId xmlns:p14="http://schemas.microsoft.com/office/powerpoint/2010/main" val="139728336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ATR% shows movement capacity—not direction</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26</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Accepted state uses Wilder ATR14 / close, ranked against the prior 252 completed ATR% observations.</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Blue marks LOW, gold MEDIUM, and red HIGH movement capacity. Price and the causal trailing ATR% rank are shown together.</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a980efc2d0e648fc"/>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LOW ATR% is broadly positive, but no cell passes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All 81 cells positive; strongest +0.198 at 10 prior / 25 forward; 0/81 within-state BH passes.</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5ac54fdd220247e0"/>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97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MEDIUM ATR% contains the stable continuation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28</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All 81 cells positive; 21/81 within-state BH passes; strict survivors cluster at 5–10 prior / 2–3 forward.</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0b5ab9c375db4473"/>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HIGH ATR% flips the surface toward reversal</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29</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77/81 cells negative; strongest -0.301 at 20 prior / 20 forward; 0/81 within-state BH passes.</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6dacaab4e8bf4a28"/>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HIGH and MEDIUM contain direct state differences</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30</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-0.548</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25 prior / 15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q = 0.038</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within HIGH-minus-MEDIUM family</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3 / 243</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pairwise cells surviving strict omnibus BH</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c5f98f420c084087"/>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324"/>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ATR% changes the map—and leaves a replication candidate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31</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LOW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All cells are positive, but none survive the within-state scan</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Max +0.198; 0/81 BH passes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MEDIUM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continuation island survives around 5–10 prior / 2–3 forward</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21/81 family; 3 strict omnibus passes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HIGH MAP</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The surface broadly reverses, especially at longer horizons</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77/81 negative; max |r| = 0.301</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4715"/>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Bookmarked next questions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Replicate ATR% on a frozen sample. Then split green ER20 into up/down direction and test external market context.</a:t>
            </a:r>
          </a:p>
        </p:txBody>
      </p:sp>
    </p:spTree>
    <p:extLst>
      <p:ext uri="{BB962C8B-B14F-4D97-AF65-F5344CB8AC3E}">
        <p14:creationId xmlns:p14="http://schemas.microsoft.com/office/powerpoint/2010/main" val="66653628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EXTERNAL MARKET CONTEXT</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SPY movement capacity organize TSLA returns?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881"/>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Use SPY's accepted ATR% state at the same TSLA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TSLA, sample, return windows, and uncertainty stay fixed.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32</a:t>
            </a:r>
          </a:p>
        </p:txBody>
      </p:sp>
    </p:spTree>
    <p:extLst>
      <p:ext uri="{BB962C8B-B14F-4D97-AF65-F5344CB8AC3E}">
        <p14:creationId xmlns:p14="http://schemas.microsoft.com/office/powerpoint/2010/main" val="8024806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424"/>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SPY ATR% before reading TSLA's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33</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SPY state  →  TSLA future</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SPY labels anchor close t. TSLA prior return ends at t; TSLA following return begins after 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accepted external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Wilder ATR14 / SPY close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Memory</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Prior 252 completed sessions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LOW / MEDIUM / HIGH</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Hysteresis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30/40 and 60/70 gates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Tree>
    <p:extLst>
      <p:ext uri="{BB962C8B-B14F-4D97-AF65-F5344CB8AC3E}">
        <p14:creationId xmlns:p14="http://schemas.microsoft.com/office/powerpoint/2010/main" val="139728336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ATR% supplies context—not TSLA direction</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34</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Accepted SPY state uses Wilder ATR14 / close, ranked against the prior 252 completed SPY ATR% observations.</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Bands are SPY states over TSLA price. Blue LOW and red HIGH describe movement capacity—not bullish or bearish calls.</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76b23af8f33341d6"/>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2bb7a4dbb3854e75"/>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LOW reveals TSLA continuation</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35</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72/81 cells positive; strongest +0.228 at 5 prior / 10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a7ab54cb970c4e34"/>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e7e23a253f114a3f"/>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MEDIUM turns long-forward returns negative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36</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67/81 cells negative; strongest -0.191 at 15 prior / 20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c66e383503834570"/>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f0cfe496fc30442b"/>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HIGH leaves a mild TSLA surface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60/81 cells positive; max |r| = 0.103 at 25 prior / 15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81f7d9c4ff8e4625"/>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9655a3649cef4d65"/>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LOW versus MEDIUM is the clearest contrast</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38</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-0.389</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5 prior / 15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q = 0.016</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within MEDIUM-minus-LOW family</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 / 243</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pairwise cells surviving strict omnibus BH</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35af25026c9e474b"/>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c79694f166cc4558"/>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007"/>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External context changes the map—but confirms no edge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39</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SPY LOW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501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Broadly preserves the positive continuation geometry</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72/81 same sign vs own LOW; mean r +0.091</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SPY MEDIUM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568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Reverses the own-asset MEDIUM interpretation</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14/81 same sign; mean r -0.058</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SPY HIGH MAP</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048"/>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Mild and mixed—not broad TSLA reversal</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25/81 same sign; mean r +0.031</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External context is a promising descriptive axis. Next: brainstorm cross-sectional cues; keep replication and strategy gates closed.</a:t>
            </a:r>
          </a:p>
        </p:txBody>
      </p:sp>
    </p:spTree>
    <p:extLst>
      <p:ext uri="{BB962C8B-B14F-4D97-AF65-F5344CB8AC3E}">
        <p14:creationId xmlns:p14="http://schemas.microsoft.com/office/powerpoint/2010/main" val="66653628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QUASI-EXTERNAL MARKET CONTEXT</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QQQ movement capacity organize TSLA returns?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563"/>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Use QQQ's accepted ATR% state at the same TSLA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TSLA, sample, return windows, and uncertainty stay fixed. QQQ is quasi-external;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40</a:t>
            </a:r>
          </a:p>
        </p:txBody>
      </p:sp>
    </p:spTree>
    <p:extLst>
      <p:ext uri="{BB962C8B-B14F-4D97-AF65-F5344CB8AC3E}">
        <p14:creationId xmlns:p14="http://schemas.microsoft.com/office/powerpoint/2010/main" val="8024806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QQQ ATR% to read TSLA's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41</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QQQ state  →  TSLA future</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QQQ labels anchor close t. TSLA prior return ends at t; TSLA following return begins after 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accepted external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Wilder ATR14 / QQQ close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Memory</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Prior 252 completed sessions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LOW / MEDIUM / HIGH</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Hysteresis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30/40 and 60/70 gates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Tree>
    <p:extLst>
      <p:ext uri="{BB962C8B-B14F-4D97-AF65-F5344CB8AC3E}">
        <p14:creationId xmlns:p14="http://schemas.microsoft.com/office/powerpoint/2010/main" val="1397283360"/>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ATR% supplies context—not TSLA direction</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42</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Accepted QQQ state uses Wilder ATR14 / close, ranked against the prior 252 completed QQQ ATR% observations.</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Bands are QQQ states over TSLA price. Blue LOW and red HIGH describe movement capacity—not bullish or bearish calls.</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e5115ceae83945b8"/>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70ff441817914ca8"/>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LOW reveals broad TSLA continuation</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43</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77/81 cells positive; strongest +0.260 at 10 prior / 5 forward; family q = 0.051, so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3762894610f34539"/>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3c0e9e75469d4f72"/>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MEDIUM weakens at longer horizons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44/81 cells positive; long/long cells turn negative; strongest -0.224 at 20 prior / 25 forward;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d5c985468cbc4118"/>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9a325dd586f94007"/>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HIGH leaves a mild negative TSLA surface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45</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59/81 cells negative; max |r| = 0.112 at 25 prior / 15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8418fe0bca6e4411"/>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b3685bae83c04cd4"/>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LOW versus MEDIUM is the clearest contrast</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46</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-0.342</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10 prior / 15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q = 0.274</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within MEDIUM-minus-LOW family</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 / 243</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pairwise cells surviving strict omnibus BH</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19e3cba9bbc84807"/>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b8cc1122439a4ea3"/>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reshapes TSLA returns—but leaves no edge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47</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QQQ LOW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856"/>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Preserves the broad continuation geometry</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77/81 positive; 77/81 same sign vs own; mean r +0.123</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QQQ MEDIUM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Weakens own-asset MEDIUM; long horizons turn negative</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44/81 positive; 44/81 same sign vs own; mean r -0.010</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QQQ HIGH MAP</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Mild negative map; closer to TSLA-own HIGH than SPY HIGH</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59/81 negative; 63/81 same sign vs own; mean r -0.022</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QQQ is a coherent quasi-external axis—not independent evidence. Next: frozen QQQ/SPY lead–lag grid; keep strategy gates closed.</a:t>
            </a:r>
          </a:p>
        </p:txBody>
      </p:sp>
    </p:spTree>
    <p:extLst>
      <p:ext uri="{BB962C8B-B14F-4D97-AF65-F5344CB8AC3E}">
        <p14:creationId xmlns:p14="http://schemas.microsoft.com/office/powerpoint/2010/main" val="666536286"/>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CROSS-ASSET PRIOR RETURNS</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prior market return foreshadow TSLA?</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235"/>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Compare QQQ and SPY return windows ending at the TSLA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TSLA target, sample, horizons, timing boundary, and uncertainty. No relative-strength model.</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48</a:t>
            </a:r>
          </a:p>
        </p:txBody>
      </p:sp>
    </p:spTree>
    <p:extLst>
      <p:ext uri="{BB962C8B-B14F-4D97-AF65-F5344CB8AC3E}">
        <p14:creationId xmlns:p14="http://schemas.microsoft.com/office/powerpoint/2010/main" val="8024806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58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Prior market return ends before TSLA's future begins</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49</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4485"/>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QQQ / SPY R−(p)  →  TSLA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market-return window ends at anchor close t. TSLA's following return begins after t—no return interval appears on both sides.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separate prior-return authorities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cross-asset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Predictors</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QQQ and SPY</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Prior windows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1, 2, 3, 4, 5, 10, 15, 20, 25</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Target</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63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Following TSLA cumulative log return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Newey-West /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81 each; 162 pooled BH tests</a:t>
            </a:r>
          </a:p>
        </p:txBody>
      </p:sp>
    </p:spTree>
    <p:extLst>
      <p:ext uri="{BB962C8B-B14F-4D97-AF65-F5344CB8AC3E}">
        <p14:creationId xmlns:p14="http://schemas.microsoft.com/office/powerpoint/2010/main" val="1397283360"/>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Prior QQQ return reveals a medium-horizon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72/81 cells positive; strongest +0.134 at 10 prior / 10 forward; family q = 0.361, so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8d855801d89c4dca"/>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edda87e01588451e"/>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Prior SPY return traces the same, weaker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70/81 cells positive; strongest +0.111 at 10 prior / 5 forward; family q = 0.662, so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5fb495df5f6842f8"/>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d42b173645964b0b"/>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and SPY maps differ only modestly</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52</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+0.035</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QQQ-minus-SPY change: 15 prior / 10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79 / 81</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cells with the same correlation sign</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r = 0.947</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cellwise correlation between the two maps</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4f1726e6fcfa4351"/>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ca9fccb07ae04e41"/>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47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and SPY largely reproduce TSLA's own horizon map</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53</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Map correlation vs TSLA-own: QQQ +0.906, SPY +0.965; no external BH survivor.</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aab2913ebad84d19"/>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2d1f7ca663aa4a32"/>
          <a:stretch xmlns:a="http://schemas.openxmlformats.org/drawingml/2006/main"/>
        </p:blipFill>
        <p:spPr>
          <a:xfrm xmlns:a="http://schemas.openxmlformats.org/drawingml/2006/main">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007"/>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External prior returns reveal shared geometry—not a lead</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54</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QQQ PRIOR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4325"/>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Positive island peaks around 5–10 prior / 5–10 forward</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72/81 positive; max r +0.134; 0/81 family passes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SPY PRIOR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Nearly the same surface, with slightly weaker point estimates</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70/81 positive; max r +0.111; 0/81 family passes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TSLA-OWN BASELINE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The same island already exists in TSLA's own prior-return map</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QQQ/own map r +0.906; SPY/own r +0.965</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Shared trend geometry is a useful clue, but no distinct external lead or multiplicity survivor is established. Keep the strategy gate closed.</a:t>
            </a:r>
          </a:p>
        </p:txBody>
      </p:sp>
    </p:spTree>
    <p:extLst>
      <p:ext uri="{BB962C8B-B14F-4D97-AF65-F5344CB8AC3E}">
        <p14:creationId xmlns:p14="http://schemas.microsoft.com/office/powerpoint/2010/main" val="666536286"/>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SIGN ASYMMETRY</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Does the aggregate map mix losses and gains?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898"/>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Split the same signed prior return at zero—without changing its scale.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TSLA sample, horizons, timing, ER20, and ATR% states. No rule or post-2023 data.</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55</a:t>
            </a:r>
          </a:p>
        </p:txBody>
      </p:sp>
    </p:spTree>
    <p:extLst>
      <p:ext uri="{BB962C8B-B14F-4D97-AF65-F5344CB8AC3E}">
        <p14:creationId xmlns:p14="http://schemas.microsoft.com/office/powerpoint/2010/main" val="80248067"/>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4"/>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Loss and gain branches share one signed return scale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56</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X &lt; 0  versus  X &gt; 0</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Negative values stay negative. A joint interaction model allows both the intercept and slope to differ across the two branches.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6</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fixed conditioning surfaces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asymmetry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Branches</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Negative and positive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Prior windows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1, 2, 3, 4, 5, 10, 15, 20, 25</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Target</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63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Following TSLA cumulative log return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Newey-West /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81 / 162 / 243 direct BH tests</a:t>
            </a:r>
          </a:p>
        </p:txBody>
      </p:sp>
    </p:spTree>
    <p:extLst>
      <p:ext uri="{BB962C8B-B14F-4D97-AF65-F5344CB8AC3E}">
        <p14:creationId xmlns:p14="http://schemas.microsoft.com/office/powerpoint/2010/main" val="1397283360"/>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1×1 survivor is rebound geometry after losses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Negative slope −0.182 vs positive +0.053; difference +0.235, 81-cell BH q=0.044. Up odds: 52.9% vs 52.1%.</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eac2dc4bfdfb438c"/>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d670d59bd5fd4f29"/>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Four unfiltered cells survive the BH asymmetry scan</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58</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1/1 and a 20-prior / 4–10-forward cluster survive; negative branches reverse while positive branches stay near zero.</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ffd0c4044823452a"/>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38a5378fb4794912"/>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79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Positive minus negative detects a kink—not a spread</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59</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b+ − b−</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0546"/>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Compare two conditional slopes. Like an asymmetric spring, deeper losses can create rebound pressure while larger gains add little information.</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hinge at prior return = 0</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How to read the blue cells</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Negative branch</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 &lt; 0: deeper loss → stronger rebound</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Positive branch</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48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 ≈ 0: gain size → little information</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Difference</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 − b− &gt; 0: sign changes the mapping</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Not a trade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realized returns are being subtracted</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Candidate use</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60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Score loss severity only inside X &lt; 0</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Guardrail</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Slope asymmetry ≠ positive expectancy</a:t>
            </a:r>
          </a:p>
        </p:txBody>
      </p:sp>
    </p:spTree>
    <p:extLst>
      <p:ext uri="{BB962C8B-B14F-4D97-AF65-F5344CB8AC3E}">
        <p14:creationId xmlns:p14="http://schemas.microsoft.com/office/powerpoint/2010/main" val="1397283360"/>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718"/>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ER20 reorganizes the branches, but no asymmetry survives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0/162 direct slope interactions pass BH; ER20 and prior return share trailing TSLA path data.</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f13c164b2220406f"/>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2fc083ab7f574854"/>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ATR% isolates two clusters—but not a rule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HIGH 1/1 plus LOW 20–25 prior / 15–20 forward: 5/243 pass BH. LOW loss branches have only 165–167 observations.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8789480e0bf440b4"/>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8c11459371114487"/>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split reveals rebound geometry—not momentum</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62</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ADJACENT</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119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Rebound slope after losses—not sign persistence</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q=0.044; up odds 52.9% after loss vs 52.1% after gain</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UNFILTERED 9×9</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24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Coherent 20-prior / 4–10-forward rebound cluster</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4/81 BH passes; nested horizons share data</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REGIME SPLITS</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ER20 none; ATR% HIGH 1×1 plus LOW long-horizon cluster</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0/162 ER20; 5/243 ATR%</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A novel in-sample asymmetry worth frozen sensitivity—not a trading rule. Keep the strategy gate closed.</a:t>
            </a:r>
          </a:p>
        </p:txBody>
      </p:sp>
    </p:spTree>
    <p:extLst>
      <p:ext uri="{BB962C8B-B14F-4D97-AF65-F5344CB8AC3E}">
        <p14:creationId xmlns:p14="http://schemas.microsoft.com/office/powerpoint/2010/main" val="666536286"/>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TREND DIRECTION</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path efficiency also reveal direction?</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Retain the sign of the same 20-session efficiency score.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TSLA sample, window, cutoff, and causal timing. No return-grid conditioning yet.</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63</a:t>
            </a:r>
          </a:p>
        </p:txBody>
      </p:sp>
    </p:spTree>
    <p:extLst>
      <p:ext uri="{BB962C8B-B14F-4D97-AF65-F5344CB8AC3E}">
        <p14:creationId xmlns:p14="http://schemas.microsoft.com/office/powerpoint/2010/main" val="80248067"/>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Signed ER20 turns one path score into three states</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4748B"/>
                </a:solidFill>
                <a:latin typeface="Arial"/>
                <a:ea typeface="Arial"/>
                <a:cs typeface="Arial"/>
              </a:defRPr>
            </a:pPr>
            <a:r>
              <a:rPr sz="825" b="0">
                <a:solidFill>
                  <a:srgbClr val="64748B"/>
                </a:solidFill>
                <a:latin typeface="Arial"/>
                <a:ea typeface="Arial"/>
                <a:cs typeface="Arial"/>
              </a:rPr>
              <a:t>64</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net move / total path</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numerator keeps direction; the denominator penalizes churn. Taking the absolute value reproduces ER20 exactly.</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up / sideways / down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direction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Window</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 sessions</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Up state</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signed ER20 ≥ +0.30</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Sideways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between −0.30 and +0.30</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Down state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signed ER20 ≤ −0.30</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Search</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None</a:t>
            </a:r>
          </a:p>
        </p:txBody>
      </p:sp>
    </p:spTree>
    <p:extLst>
      <p:ext uri="{BB962C8B-B14F-4D97-AF65-F5344CB8AC3E}">
        <p14:creationId xmlns:p14="http://schemas.microsoft.com/office/powerpoint/2010/main" val="1397283360"/>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669"/>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Signed ER20 separates direction without a crossover</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65</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Net 20-session log displacement divided by the total path traveled; sign is retained.</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Green marks efficient rises, red efficient declines, and gray an inefficient path. Down states are visibly shorter on TSLA.</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d63ef938f4ab4e3a"/>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is readable—but still flickery</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66</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STATE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Green up, gray sideways, red down</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1,509 causal daily labels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CHURN CONTROL</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1886"/>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Every direction reversal crosses the neutral band</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 direct up/down flips; 10.3% daily transition rate</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LIMIT</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3548"/>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Down states are brief and boundaries still flicker</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12.1% occupancy; median span 2 sessions</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as the template's direction baseline—not a predictor. Parameter search waits until after the multi-asset atlas.</a:t>
            </a:r>
          </a:p>
        </p:txBody>
      </p:sp>
    </p:spTree>
    <p:extLst>
      <p:ext uri="{BB962C8B-B14F-4D97-AF65-F5344CB8AC3E}">
        <p14:creationId xmlns:p14="http://schemas.microsoft.com/office/powerpoint/2010/main" val="666536286"/>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RETURN GEOMETRY</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What changes when direction meets the return grid?</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Apply the frozen three-state label to the existing 9 × 9 surface.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data, horizons, uncertainty, and sign branches. No tuning or later-period data.</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67</a:t>
            </a:r>
          </a:p>
        </p:txBody>
      </p:sp>
    </p:spTree>
    <p:extLst>
      <p:ext uri="{BB962C8B-B14F-4D97-AF65-F5344CB8AC3E}">
        <p14:creationId xmlns:p14="http://schemas.microsoft.com/office/powerpoint/2010/main" val="80248067"/>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partly determines prior-return sign</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4748B"/>
                </a:solidFill>
                <a:latin typeface="Arial"/>
                <a:ea typeface="Arial"/>
                <a:cs typeface="Arial"/>
              </a:defRPr>
            </a:pPr>
            <a:r>
              <a:rPr sz="825" b="0">
                <a:solidFill>
                  <a:srgbClr val="64748B"/>
                </a:solidFill>
                <a:latin typeface="Arial"/>
                <a:ea typeface="Arial"/>
                <a:cs typeface="Arial"/>
              </a:rPr>
              <a:t>68</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p=20 shares the numerator</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At p=20, prior return and signed ER20 use the same displacement. Opposite-sign trend branches cannot exist.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171</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estimable sign-branch contrasts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UP / SIDEWAYS / DOWN</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Grid</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9 prior × 9 following</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Branch floor</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 ≥ 30 per sign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Structural NE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61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UP-negative; DOWN-positive at p=20</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Family + global BH</a:t>
            </a:r>
          </a:p>
        </p:txBody>
      </p:sp>
    </p:spTree>
    <p:extLst>
      <p:ext uri="{BB962C8B-B14F-4D97-AF65-F5344CB8AC3E}">
        <p14:creationId xmlns:p14="http://schemas.microsoft.com/office/powerpoint/2010/main" val="1397283360"/>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DOWN states reveal a broad rebound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69</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DOWN: 18/81 within-state BH passes; UP and SIDEWAYS: 0/81. Strongest p20→f20 r = −0.576.</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fe450c7af1f846ba"/>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DOWN differs sharply from SIDEWAYS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DOWN−SIDEWAYS: 24/81 pairwise BH passes; strongest correlation delta −0.551 at p20→f20.</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769bddbf034f4eee"/>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Short-prior asymmetry concentrates in DOWN states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17 DOWN interactions pass BH at prior 1–5; p5→f20 correlation delta +0.812. NE marks branch n&lt;30.</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926adc2eb59b4586"/>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filter makes some sign branches unobservable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72</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At p20, UP has no negative-prior observations and DOWN no positive-prior observations; nearby horizons are sparse.</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239613bb0abe4f68"/>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exposes rebound—not trend continuation</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73</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AGGREGATE</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DOWN long-prior rebound island</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18/81 BH; p20→f20 r −0.576</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BRANCH KINK</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DOWN short-prior slope split</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17 BH; p5→f20 delta r +0.812</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DEPENDENCE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Filter and predictor share the path</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p20 opposite-sign branches are structurally empty</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9040"/>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the DOWN-rebound shape for cross-asset transport—no tuning and no trading rule.</a:t>
            </a:r>
          </a:p>
        </p:txBody>
      </p:sp>
    </p:spTree>
    <p:extLst>
      <p:ext uri="{BB962C8B-B14F-4D97-AF65-F5344CB8AC3E}">
        <p14:creationId xmlns:p14="http://schemas.microsoft.com/office/powerpoint/2010/main" val="666536286"/>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CROSS-ASSET TRANSPORT</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Does the TSLA rebound shape survive transport?</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235"/>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Run the same signed-ER20 microscope across a predeclared 30-asset atlas.</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Atlas first. Finer horizons wait until cross-asset morphology gives us a reason to zoom.</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74</a:t>
            </a:r>
          </a:p>
        </p:txBody>
      </p:sp>
    </p:spTree>
    <p:extLst>
      <p:ext uri="{BB962C8B-B14F-4D97-AF65-F5344CB8AC3E}">
        <p14:creationId xmlns:p14="http://schemas.microsoft.com/office/powerpoint/2010/main" val="80248067"/>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888"/>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Atlas first—transport the frozen microscope unchanged</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4748B"/>
                </a:solidFill>
                <a:latin typeface="Arial"/>
                <a:ea typeface="Arial"/>
                <a:cs typeface="Arial"/>
              </a:defRPr>
            </a:pPr>
            <a:r>
              <a:rPr sz="825" b="0">
                <a:solidFill>
                  <a:srgbClr val="64748B"/>
                </a:solidFill>
                <a:latin typeface="Arial"/>
                <a:ea typeface="Arial"/>
                <a:cs typeface="Arial"/>
              </a:rPr>
              <a:t>75</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306"/>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30 assets / 6 behavior groups</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basket spans high-beta names, mature growth, cyclicals, defensives, equity ETFs, and non-equity proxies.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29</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non-TSLA transport assets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Frozen transport contract</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Sample</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Adjusted daily, 2018–2023</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Horizons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1,2,3,4,5,10,15,20,25</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Conditioning</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signed ER20 + ER20 + ATR%</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Frozen cells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7 TSLA-discovered comparisons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Inference</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HAC + fixed-family BH</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No refinement</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6–9 sessions not searched</a:t>
            </a:r>
          </a:p>
        </p:txBody>
      </p:sp>
    </p:spTree>
    <p:extLst>
      <p:ext uri="{BB962C8B-B14F-4D97-AF65-F5344CB8AC3E}">
        <p14:creationId xmlns:p14="http://schemas.microsoft.com/office/powerpoint/2010/main" val="1397283360"/>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frozen DOWN p20→f20 cell transports broadly</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76</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23/29 transport assets are negative; median Pearson r = −0.196. Twelve survive fixed-family BH.</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02537125ce8244a5"/>
          <a:stretch xmlns:a="http://schemas.openxmlformats.org/drawingml/2006/main"/>
        </p:blipFill>
        <p:spPr>
          <a:xfrm xmlns:a="http://schemas.openxmlformats.org/drawingml/2006/main" flipH="0" flipV="0">
            <a:off x="1000125" y="1428750"/>
            <a:ext cx="10191750"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Rebound spans the 15–25-session neighborhood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Every equal-asset median in the 15/20/25 × 15/20/25 corner is negative; 70%–83% of assets agree per cell.</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fab2233ce1274357"/>
          <a:stretch xmlns:a="http://schemas.openxmlformats.org/drawingml/2006/main"/>
        </p:blipFill>
        <p:spPr>
          <a:xfrm xmlns:a="http://schemas.openxmlformats.org/drawingml/2006/main" flipH="0" flipV="0">
            <a:off x="1000125" y="1428750"/>
            <a:ext cx="10191750"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Every behavior group leans toward rebound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78</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All six group medians are negative at DOWN p20→f20; strength varies, but no group reverses the sign.</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cc68401c1fe6472d"/>
          <a:stretch xmlns:a="http://schemas.openxmlformats.org/drawingml/2006/main"/>
        </p:blipFill>
        <p:spPr>
          <a:xfrm xmlns:a="http://schemas.openxmlformats.org/drawingml/2006/main" flipH="0" flipV="0">
            <a:off x="1000125" y="1428750"/>
            <a:ext cx="10191750"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Thirty maps repeat the corner—but differ locally</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79</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The long-horizon red corner recurs across many assets, while local surface shape remains heterogeneous.</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d1b23bed8fc84ead"/>
          <a:stretch xmlns:a="http://schemas.openxmlformats.org/drawingml/2006/main"/>
        </p:blipFill>
        <p:spPr>
          <a:xfrm xmlns:a="http://schemas.openxmlformats.org/drawingml/2006/main" flipH="0" flipV="0">
            <a:off x="1000125" y="1428750"/>
            <a:ext cx="10191750"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What transports—and what does not</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80</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TRANSPORTS</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DOWN long-prior rebound geometry</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23/29 negative; median r −0.196</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WEAKENS</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Unfiltered 1×1 sign kink</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 raw passes; 27.6% same sign</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HETEROGENEITY</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Maps differ in strength and detail</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all 6 group medians still negative</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0260"/>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Keep the broad DOWN-rebound morphology; retire any universal sign-kink interpretation.</a:t>
            </a:r>
          </a:p>
        </p:txBody>
      </p:sp>
    </p:spTree>
    <p:extLst>
      <p:ext uri="{BB962C8B-B14F-4D97-AF65-F5344CB8AC3E}">
        <p14:creationId xmlns:p14="http://schemas.microsoft.com/office/powerpoint/2010/main" val="666536286"/>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Why breadth is still not an edge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4748B"/>
                </a:solidFill>
                <a:latin typeface="Arial"/>
                <a:ea typeface="Arial"/>
                <a:cs typeface="Arial"/>
              </a:defRPr>
            </a:pPr>
            <a:r>
              <a:rPr sz="825" b="0">
                <a:solidFill>
                  <a:srgbClr val="64748B"/>
                </a:solidFill>
                <a:latin typeface="Arial"/>
                <a:ea typeface="Arial"/>
                <a:cs typeface="Arial"/>
              </a:rPr>
              <a:t>81</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0306"/>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state and predictor share the path</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502"/>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Signed ER20 defines DOWN using the same trailing displacement used by the p20 prior return. Selection geometry can amplify the pattern.</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trading claims authorized</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Evidence boundary</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What we have</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cross-asset morphology</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What we lack</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later-time confirmation</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Also absent</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expectancy, costs, execution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Mechanical caveat</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p20 displacement is shared</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Interpretation</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descriptive dependence</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Next authority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operator opens next gate</a:t>
            </a:r>
          </a:p>
        </p:txBody>
      </p:sp>
    </p:spTree>
    <p:extLst>
      <p:ext uri="{BB962C8B-B14F-4D97-AF65-F5344CB8AC3E}">
        <p14:creationId xmlns:p14="http://schemas.microsoft.com/office/powerpoint/2010/main" val="1397283360"/>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Decision: stop before adding 6–9 sessions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82</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NOW</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Frozen atlas is complete</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broad transport demonstrated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NOT YET</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6–9-session local zoom</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not motivated by atlas shape</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NEXT GATE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confirm or refine 15–25</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with a frozen, later-time design</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Atlas first was the right order. Any finer search should target the transported 15–25-session neighborhood.</a:t>
            </a:r>
          </a:p>
        </p:txBody>
      </p:sp>
    </p:spTree>
    <p:extLst>
      <p:ext uri="{BB962C8B-B14F-4D97-AF65-F5344CB8AC3E}">
        <p14:creationId xmlns:p14="http://schemas.microsoft.com/office/powerpoint/2010/main" val="666536286"/>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BEHAVIORAL CATALOG</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What else can this microscope reveal?</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235"/>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Treat return geometry as a four-archetype behavioral vocabulary—not a search for one recurring cell.</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The atlas has already populated several archetypes. The next slides show what was observed and what remains absent.</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83</a:t>
            </a:r>
          </a:p>
        </p:txBody>
      </p:sp>
    </p:spTree>
    <p:extLst>
      <p:ext uri="{BB962C8B-B14F-4D97-AF65-F5344CB8AC3E}">
        <p14:creationId xmlns:p14="http://schemas.microsoft.com/office/powerpoint/2010/main" val="80248067"/>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microscope can express four return behaviors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Prior sign and within-branch slope define the archetype; conditioning changes its prevalence.</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4cfe0e9b30c94ec0"/>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Conditioning changes which behavior dominates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85</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Loss rebound is broad; gain exhaustion dominates trending/up states; gain continuation clusters in sideways paths.</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86fb3cff11a84f44"/>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407"/>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Momentum-like continuation is conditional—not universal</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86</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Sideways: 39/81 supported cells; ATR low: 17/81; signed up: 0/45.</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bc2f2edd0d2c43e6"/>
          <a:stretch xmlns:a="http://schemas.openxmlformats.org/drawingml/2006/main"/>
        </p:blipFill>
        <p:spPr>
          <a:xfrm xmlns:a="http://schemas.openxmlformats.org/drawingml/2006/main" flipH="0" flipV="0">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Loss rebound is broader than the DOWN 20→20 cell</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Loss rebound is broad unfiltered and strongest in high-volatility and signed-down long-horizon cells.</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ec95badac9ed4dd6"/>
          <a:stretch xmlns:a="http://schemas.openxmlformats.org/drawingml/2006/main"/>
        </p:blipFill>
        <p:spPr>
          <a:xfrm xmlns:a="http://schemas.openxmlformats.org/drawingml/2006/main" flipH="0" flipV="0">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Mechanism stories become hypotheses to falsify</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88</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The geometry organizes candidate explanations; correlation alone cannot identify the mechanism.</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ec0c2bf9d64b4c60"/>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microscope catalogs behavior—not edge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89</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METHOD</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Four branch archetypes</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same engine, different states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OBSERVED</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Continuation is conditional</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sideways + low ATR%</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BOUNDARY</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Mechanisms remain hypotheses</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 causal or trading authority</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this catalog as the method’s descriptive vocabulary; future tests name one behavior, one state, and one horizon neighborhood.</a:t>
            </a:r>
          </a:p>
        </p:txBody>
      </p:sp>
    </p:spTree>
    <p:extLst>
      <p:ext uri="{BB962C8B-B14F-4D97-AF65-F5344CB8AC3E}">
        <p14:creationId xmlns:p14="http://schemas.microsoft.com/office/powerpoint/2010/main" val="666536286"/>
      </p:ext>
    </p:extLst>
  </p:cSld>
</p:sld>
</file>

<file path=ppt/slides/slide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FINE-GRID TOPOLOGY</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Is the rebound a real neighborhood—or a 20-session artifact?</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235"/>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Resolve the transported loss-rebound region from 10 to 30 sessions, one session at a time.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30 assets. Same 2018–2023 data. Negative-prior branch only. No new inference or trading test.</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90</a:t>
            </a:r>
          </a:p>
        </p:txBody>
      </p:sp>
    </p:spTree>
    <p:extLst>
      <p:ext uri="{BB962C8B-B14F-4D97-AF65-F5344CB8AC3E}">
        <p14:creationId xmlns:p14="http://schemas.microsoft.com/office/powerpoint/2010/main" val="80248067"/>
      </p:ext>
    </p:extLst>
  </p:cSld>
</p:sld>
</file>

<file path=ppt/slides/slide9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FINE-GRID TOPOLOGY</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slice changes resolution—not the question</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91</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LOCKED</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30 assets + six groups</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2018–2023 daily bars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PRIMARY</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Signed-ER20 DOWN losses</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10–30 by 10–30 grid</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CONTROLS</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Unfiltered + ATR%-high</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 p-values or BH scan</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remains fixed</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Coarse 10/15/20/25 anchors must reproduce exactly; neighboring cells are morphology, not independent tests.</a:t>
            </a:r>
          </a:p>
        </p:txBody>
      </p:sp>
    </p:spTree>
    <p:extLst>
      <p:ext uri="{BB962C8B-B14F-4D97-AF65-F5344CB8AC3E}">
        <p14:creationId xmlns:p14="http://schemas.microsoft.com/office/powerpoint/2010/main" val="666536286"/>
      </p:ext>
    </p:extLst>
  </p:cSld>
</p:sld>
</file>

<file path=ppt/slides/slide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FINE-GRID TOPOLOGY</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Fine resolution reveals an open rebound surface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92</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Strong cells form connected regions across all three negative-prior views—not a bounded 20→20 island.</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408aece72522482d"/>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FINE-GRID TOPOLOGY</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677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shape is shared across assets—not carried by one name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93</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At least 70% of assets are negative in most signed-down and ATR%-high cells.</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eefca356758d4f27"/>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FINE-GRID TOPOLOGY</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Window 20 sits inside the curve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Holding one horizon at 20 produces broad curves, not a singular notch at the signed-ER measurement window.</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868f2490854b4f47"/>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FINE-GRID TOPOLOGY</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Group maps reveal meaningful heterogeneity</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95</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Equity ETFs and defensive equities are darkest; five-name groups remain exploratory representation.</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abbb42676f554c41"/>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FINE-GRID TOPOLOGY</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Coverage—not the hottest cell—defines the finding</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96</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Strong-cell coverage: 66% unfiltered, 95% ATR%-high, and 94% signed-down.</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5613102836b74f61"/>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FINE-GRID TOPOLOGY</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Decision: freeze one open plateau—then stop</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97</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FOUND</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Open rebound plateau</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not a 20-session island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EARNS</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Less coupling concern</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same geometry across windows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DOES NOT EARN</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chosen horizon or rule</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 edge or causality claim</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1002"/>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gate belongs to the operator</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Choose temporal transport of one frozen neighborhood summary or a separately predeclared atlas-breadth expansion. Do not chase the open boundary.</a:t>
            </a:r>
          </a:p>
        </p:txBody>
      </p:sp>
    </p:spTree>
    <p:extLst>
      <p:ext uri="{BB962C8B-B14F-4D97-AF65-F5344CB8AC3E}">
        <p14:creationId xmlns:p14="http://schemas.microsoft.com/office/powerpoint/2010/main" val="666536286"/>
      </p:ext>
    </p:extLst>
  </p:cSld>
</p:sld>
</file>

<file path=ppt/slides/slide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BOUNDARY PROBE</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How far does the cumulative rebound plateau extend?</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235"/>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Probe sparse 35 / 40 / 50 / 75 / 100-session checkpoints—without filling a new grid.</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30 assets. Same 2018–2023 data. Same loss branch and states. No holding-period test.</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98</a:t>
            </a:r>
          </a:p>
        </p:txBody>
      </p:sp>
    </p:spTree>
    <p:extLst>
      <p:ext uri="{BB962C8B-B14F-4D97-AF65-F5344CB8AC3E}">
        <p14:creationId xmlns:p14="http://schemas.microsoft.com/office/powerpoint/2010/main" val="80248067"/>
      </p:ext>
    </p:extLst>
  </p:cSld>
</p:sld>
</file>

<file path=ppt/slides/slide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BOUNDARY PROBE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607"/>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probe extends the boundary—not the search surface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99</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LOCKED</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30 assets + six groups</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2018–2023 daily bars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PRIMARY</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Signed-ER20 DOWN losses</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negative-prior branch</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CROSSHAIR</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vary one horizon to 100</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other fixed at 20 / 25 / 30</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does not test</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147 unique pairs. Same display rules. No inference, later data, endpoint selection, edge, or holding-period claim.</a:t>
            </a:r>
          </a:p>
        </p:txBody>
      </p:sp>
    </p:spTree>
    <p:extLst>
      <p:ext uri="{BB962C8B-B14F-4D97-AF65-F5344CB8AC3E}">
        <p14:creationId xmlns:p14="http://schemas.microsoft.com/office/powerpoint/2010/main" val="666536286"/>
      </p:ext>
    </p:extLst>
  </p:cSld>
</p:sld>
</file>

<file path=ppt/slides/slide10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BOUNDARY PROBE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cumulative relationship stays open through 100</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100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All 18 anchor paths remain strong at every outer checkpoint; no decay boundary appears.</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84f6b91b97f04186"/>
          <a:stretch xmlns:a="http://schemas.openxmlformats.org/drawingml/2006/main"/>
        </p:blipFill>
        <p:spPr>
          <a:xfrm xmlns:a="http://schemas.openxmlformats.org/drawingml/2006/main" flipH="0" flipV="0">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10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BOUNDARY PROBE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Breadth stays high through 100</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101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At 100, 83–93% of assets remain negative across every condition and orientation.</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13cba72e5cf04baf"/>
          <a:stretch xmlns:a="http://schemas.openxmlformats.org/drawingml/2006/main"/>
        </p:blipFill>
        <p:spPr>
          <a:xfrm xmlns:a="http://schemas.openxmlformats.org/drawingml/2006/main" flipH="0" flipV="0">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10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1143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BOUNDARY PROBE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647700"/>
            <a:ext cx="11277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Signed-down rebound stays strong to 100</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102</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At following = 100, median r is −0.29 to −0.33 for prior anchors 20 / 25 / 30.</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7df765c91f5d47b7"/>
          <a:stretch xmlns:a="http://schemas.openxmlformats.org/drawingml/2006/main"/>
        </p:blipFill>
        <p:spPr>
          <a:xfrm xmlns:a="http://schemas.openxmlformats.org/drawingml/2006/main" flipH="0" flipV="0">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10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BOUNDARY PROBE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Behavior groups remain visibly heterogeneous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103</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Equity ETFs are darkest; non-equity proxies weaken when the future window expands.</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12ddfc4eb7f34bd0"/>
          <a:stretch xmlns:a="http://schemas.openxmlformats.org/drawingml/2006/main"/>
        </p:blipFill>
        <p:spPr>
          <a:xfrm xmlns:a="http://schemas.openxmlformats.org/drawingml/2006/main" flipH="0" flipV="0">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10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BOUNDARY PROBE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647700"/>
            <a:ext cx="11277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Observation support remains usable at 100</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104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Signed-down median branch count is 121 when prior expands and 146–154 when future expands.</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ef988d31e37e4498"/>
          <a:stretch xmlns:a="http://schemas.openxmlformats.org/drawingml/2006/main"/>
        </p:blipFill>
        <p:spPr>
          <a:xfrm xmlns:a="http://schemas.openxmlformats.org/drawingml/2006/main" flipH="0" flipV="0">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10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BOUNDARY PROBE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Decision: open through 100—duration unknown</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105</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FOUND</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Open through 100</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cumulative relation persists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EARNS</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One boundary conclusion</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not a selected endpoint</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DOES NOT EARN</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100-session hold</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 edge or causality claim</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65598"/>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gate: incremental return blocks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Decompose sessions 1–20, 21–40, 41–60, and 61–100. Ask when the response accrues—not which cumulative endpoint looks hottest.</a:t>
            </a:r>
          </a:p>
        </p:txBody>
      </p:sp>
    </p:spTree>
    <p:extLst>
      <p:ext uri="{BB962C8B-B14F-4D97-AF65-F5344CB8AC3E}">
        <p14:creationId xmlns:p14="http://schemas.microsoft.com/office/powerpoint/2010/main" val="666536286"/>
      </p:ext>
    </p:extLst>
  </p:cSld>
</p:sld>
</file>

<file path=ppt/slides/slide10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B12B881-2D87-4470-A9E2-CA40D710634E}"/>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E45756"/>
                </a:solidFill>
              </a:defRPr>
            </a:pPr>
            <a:r>
              <a:rPr sz="1350" b="1">
                <a:solidFill>
                  <a:srgbClr val="E45756"/>
                </a:solidFill>
              </a:rPr>
              <a:t>WIDE ATLAS</a:t>
            </a:r>
          </a:p>
        </p:txBody>
      </p:sp>
      <p:sp>
        <p:nvSpPr>
          <p:cNvPr id="2" name="">
            <a:extLst xmlns:a="http://schemas.openxmlformats.org/drawingml/2006/main">
              <a:ext uri="{FF2B5EF4-FFF2-40B4-BE49-F238E27FC236}">
                <a16:creationId xmlns:a16="http://schemas.microsoft.com/office/drawing/2014/main" id="{0BB2094F-C042-49AB-BE8C-0ECFD22457DD}"/>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350" b="1">
                <a:solidFill>
                  <a:srgbClr val="111827"/>
                </a:solidFill>
              </a:defRPr>
            </a:pPr>
            <a:r>
              <a:rPr sz="4350" b="1">
                <a:solidFill>
                  <a:srgbClr val="111827"/>
                </a:solidFill>
              </a:rPr>
              <a:t>Does the plateau survive real sector breadth?</a:t>
            </a:r>
          </a:p>
        </p:txBody>
      </p:sp>
      <p:sp>
        <p:nvSpPr>
          <p:cNvPr id="3" name="">
            <a:extLst xmlns:a="http://schemas.openxmlformats.org/drawingml/2006/main">
              <a:ext uri="{FF2B5EF4-FFF2-40B4-BE49-F238E27FC236}">
                <a16:creationId xmlns:a16="http://schemas.microsoft.com/office/drawing/2014/main" id="{D8394FB8-5765-4318-8A56-6DACECFE912E}"/>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E45756"/>
          </a:solidFill>
          <a:ln xmlns:a="http://schemas.openxmlformats.org/drawingml/2006/main" w="9525">
            <a:solidFill>
              <a:srgbClr val="E45756"/>
            </a:solidFill>
            <a:prstDash val="solid"/>
          </a:ln>
        </p:spPr>
      </p:sp>
      <p:sp>
        <p:nvSpPr>
          <p:cNvPr id="4" name="">
            <a:extLst xmlns:a="http://schemas.openxmlformats.org/drawingml/2006/main">
              <a:ext uri="{FF2B5EF4-FFF2-40B4-BE49-F238E27FC236}">
                <a16:creationId xmlns:a16="http://schemas.microsoft.com/office/drawing/2014/main" id="{67E3D676-3E4E-40CF-9FFA-FDD3E7F4C6B2}"/>
              </a:ext>
            </a:extLst>
          </p:cNvPr>
          <p:cNvSpPr>
            <a:spLocks xmlns:a="http://schemas.openxmlformats.org/drawingml/2006/main" noGrp="1"/>
          </p:cNvSpPr>
          <p:nvPr/>
        </p:nvSpPr>
        <p:spPr>
          <a:xfrm xmlns:a="http://schemas.openxmlformats.org/drawingml/2006/main">
            <a:off x="457200" y="4171950"/>
            <a:ext cx="9906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025" b="0">
                <a:solidFill>
                  <a:srgbClr val="667384"/>
                </a:solidFill>
              </a:defRPr>
            </a:pPr>
            <a:r>
              <a:rPr sz="2025" b="0">
                <a:solidFill>
                  <a:srgbClr val="667384"/>
                </a:solidFill>
              </a:rPr>
              <a:t>Freeze 129 instruments, all nine filters, and a coarse 20–100-session grid.</a:t>
            </a:r>
          </a:p>
        </p:txBody>
      </p:sp>
      <p:sp>
        <p:nvSpPr>
          <p:cNvPr id="5" name="">
            <a:extLst xmlns:a="http://schemas.openxmlformats.org/drawingml/2006/main">
              <a:ext uri="{FF2B5EF4-FFF2-40B4-BE49-F238E27FC236}">
                <a16:creationId xmlns:a16="http://schemas.microsoft.com/office/drawing/2014/main" id="{AF79BB13-9AEC-4C77-9A8C-3203F83002E1}"/>
              </a:ext>
            </a:extLst>
          </p:cNvPr>
          <p:cNvSpPr>
            <a:spLocks xmlns:a="http://schemas.openxmlformats.org/drawingml/2006/main" noGrp="1"/>
          </p:cNvSpPr>
          <p:nvPr/>
        </p:nvSpPr>
        <p:spPr>
          <a:xfrm xmlns:a="http://schemas.openxmlformats.org/drawingml/2006/main">
            <a:off x="457200" y="5429250"/>
            <a:ext cx="1047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75" b="0">
                <a:solidFill>
                  <a:srgbClr val="667384"/>
                </a:solidFill>
              </a:defRPr>
            </a:pPr>
            <a:r>
              <a:rPr sz="1575" b="0">
                <a:solidFill>
                  <a:srgbClr val="667384"/>
                </a:solidFill>
              </a:rPr>
              <a:t>Primary headline: 88 stocks, eight in each of 11 GICS sectors, equal-sector weighted.</a:t>
            </a:r>
          </a:p>
        </p:txBody>
      </p:sp>
      <p:sp>
        <p:nvSpPr>
          <p:cNvPr id="6" name="">
            <a:extLst xmlns:a="http://schemas.openxmlformats.org/drawingml/2006/main">
              <a:ext uri="{FF2B5EF4-FFF2-40B4-BE49-F238E27FC236}">
                <a16:creationId xmlns:a16="http://schemas.microsoft.com/office/drawing/2014/main" id="{AD589277-BA8D-465E-8FE0-58FC0F7326BE}"/>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106</a:t>
            </a:r>
          </a:p>
        </p:txBody>
      </p:sp>
    </p:spTree>
    <p:extLst>
      <p:ext uri="{BB962C8B-B14F-4D97-AF65-F5344CB8AC3E}">
        <p14:creationId xmlns:p14="http://schemas.microsoft.com/office/powerpoint/2010/main" val="1697167073"/>
      </p:ext>
    </p:extLst>
  </p:cSld>
</p:sld>
</file>

<file path=ppt/slides/slide10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F975FA3A-7B7A-4DCE-BE5A-84E74DC1D0F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667384"/>
                </a:solidFill>
              </a:defRPr>
            </a:pPr>
            <a:r>
              <a:rPr sz="1200" b="1">
                <a:solidFill>
                  <a:srgbClr val="667384"/>
                </a:solidFill>
              </a:rPr>
              <a:t>WIDE ATLAS</a:t>
            </a:r>
          </a:p>
        </p:txBody>
      </p:sp>
      <p:sp>
        <p:nvSpPr>
          <p:cNvPr id="2" name="">
            <a:extLst xmlns:a="http://schemas.openxmlformats.org/drawingml/2006/main">
              <a:ext uri="{FF2B5EF4-FFF2-40B4-BE49-F238E27FC236}">
                <a16:creationId xmlns:a16="http://schemas.microsoft.com/office/drawing/2014/main" id="{B6472F5C-DF7D-407E-8191-2836C3E3AAED}"/>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525" b="1">
                <a:solidFill>
                  <a:srgbClr val="111827"/>
                </a:solidFill>
              </a:defRPr>
            </a:pPr>
            <a:r>
              <a:rPr sz="3525" b="1">
                <a:solidFill>
                  <a:srgbClr val="111827"/>
                </a:solidFill>
              </a:rPr>
              <a:t>The wider atlas is balanced before results are read</a:t>
            </a:r>
          </a:p>
        </p:txBody>
      </p:sp>
      <p:sp>
        <p:nvSpPr>
          <p:cNvPr id="3" name="">
            <a:extLst xmlns:a="http://schemas.openxmlformats.org/drawingml/2006/main">
              <a:ext uri="{FF2B5EF4-FFF2-40B4-BE49-F238E27FC236}">
                <a16:creationId xmlns:a16="http://schemas.microsoft.com/office/drawing/2014/main" id="{3E456945-A860-45BF-838A-84CF2A0FAE4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FB90F6BF-7D1F-42F0-8870-18EA12E44041}"/>
              </a:ext>
            </a:extLst>
          </p:cNvPr>
          <p:cNvSpPr>
            <a:spLocks xmlns:a="http://schemas.openxmlformats.org/drawingml/2006/main" noGrp="1"/>
          </p:cNvSpPr>
          <p:nvPr/>
        </p:nvSpPr>
        <p:spPr>
          <a:xfrm xmlns:a="http://schemas.openxmlformats.org/drawingml/2006/main">
            <a:off x="457200" y="6515100"/>
            <a:ext cx="447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0">
                <a:solidFill>
                  <a:srgbClr val="667384"/>
                </a:solidFill>
              </a:defRPr>
            </a:pPr>
            <a:r>
              <a:rPr sz="900" b="0">
                <a:solidFill>
                  <a:srgbClr val="667384"/>
                </a:solidFill>
              </a:rPr>
              <a:t>129 instruments | adjusted daily | 2018–2023</a:t>
            </a:r>
          </a:p>
        </p:txBody>
      </p:sp>
      <p:sp>
        <p:nvSpPr>
          <p:cNvPr id="5" name="">
            <a:extLst xmlns:a="http://schemas.openxmlformats.org/drawingml/2006/main">
              <a:ext uri="{FF2B5EF4-FFF2-40B4-BE49-F238E27FC236}">
                <a16:creationId xmlns:a16="http://schemas.microsoft.com/office/drawing/2014/main" id="{28A654AA-807A-4DD7-8B1E-550BE487BBDE}"/>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107</a:t>
            </a:r>
          </a:p>
        </p:txBody>
      </p:sp>
      <p:sp>
        <p:nvSpPr>
          <p:cNvPr id="6" name="">
            <a:extLst xmlns:a="http://schemas.openxmlformats.org/drawingml/2006/main">
              <a:ext uri="{FF2B5EF4-FFF2-40B4-BE49-F238E27FC236}">
                <a16:creationId xmlns:a16="http://schemas.microsoft.com/office/drawing/2014/main" id="{1A48904E-C2B5-4030-9F5C-135F8E81A8CF}"/>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3D8DFF"/>
          </a:solidFill>
          <a:ln xmlns:a="http://schemas.openxmlformats.org/drawingml/2006/main" w="9525">
            <a:solidFill>
              <a:srgbClr val="3D8DFF"/>
            </a:solidFill>
            <a:prstDash val="solid"/>
          </a:ln>
        </p:spPr>
      </p:sp>
      <p:sp>
        <p:nvSpPr>
          <p:cNvPr id="7" name="">
            <a:extLst xmlns:a="http://schemas.openxmlformats.org/drawingml/2006/main">
              <a:ext uri="{FF2B5EF4-FFF2-40B4-BE49-F238E27FC236}">
                <a16:creationId xmlns:a16="http://schemas.microsoft.com/office/drawing/2014/main" id="{3E791499-974A-45B1-BE0E-27A91CC8E0C3}"/>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3D8DFF"/>
                </a:solidFill>
              </a:defRPr>
            </a:pPr>
            <a:r>
              <a:rPr sz="1350" b="1">
                <a:solidFill>
                  <a:srgbClr val="3D8DFF"/>
                </a:solidFill>
              </a:rPr>
              <a:t>CORE</a:t>
            </a:r>
          </a:p>
        </p:txBody>
      </p:sp>
      <p:sp>
        <p:nvSpPr>
          <p:cNvPr id="8" name="">
            <a:extLst xmlns:a="http://schemas.openxmlformats.org/drawingml/2006/main">
              <a:ext uri="{FF2B5EF4-FFF2-40B4-BE49-F238E27FC236}">
                <a16:creationId xmlns:a16="http://schemas.microsoft.com/office/drawing/2014/main" id="{C3A67979-9151-4748-A221-F0070561B033}"/>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111827"/>
                </a:solidFill>
              </a:defRPr>
            </a:pPr>
            <a:r>
              <a:rPr sz="2100" b="1">
                <a:solidFill>
                  <a:srgbClr val="111827"/>
                </a:solidFill>
              </a:rPr>
              <a:t>88 stocks</a:t>
            </a:r>
          </a:p>
        </p:txBody>
      </p:sp>
      <p:sp>
        <p:nvSpPr>
          <p:cNvPr id="9" name="">
            <a:extLst xmlns:a="http://schemas.openxmlformats.org/drawingml/2006/main">
              <a:ext uri="{FF2B5EF4-FFF2-40B4-BE49-F238E27FC236}">
                <a16:creationId xmlns:a16="http://schemas.microsoft.com/office/drawing/2014/main" id="{6FFD5673-B6D2-4155-A59A-F3191F8D8752}"/>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0">
                <a:solidFill>
                  <a:srgbClr val="667384"/>
                </a:solidFill>
              </a:defRPr>
            </a:pPr>
            <a:r>
              <a:rPr sz="1500" b="0">
                <a:solidFill>
                  <a:srgbClr val="667384"/>
                </a:solidFill>
              </a:rPr>
              <a:t>11 sectors × 8 names</a:t>
            </a:r>
          </a:p>
        </p:txBody>
      </p:sp>
      <p:sp>
        <p:nvSpPr>
          <p:cNvPr id="10" name="">
            <a:extLst xmlns:a="http://schemas.openxmlformats.org/drawingml/2006/main">
              <a:ext uri="{FF2B5EF4-FFF2-40B4-BE49-F238E27FC236}">
                <a16:creationId xmlns:a16="http://schemas.microsoft.com/office/drawing/2014/main" id="{D3FB0AB3-A3CD-4683-9CB0-471C0A7FDAB2}"/>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11" name="">
            <a:extLst xmlns:a="http://schemas.openxmlformats.org/drawingml/2006/main">
              <a:ext uri="{FF2B5EF4-FFF2-40B4-BE49-F238E27FC236}">
                <a16:creationId xmlns:a16="http://schemas.microsoft.com/office/drawing/2014/main" id="{9005535B-6C8D-445C-87D8-2FE19E86F0B1}"/>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F59E0B"/>
          </a:solidFill>
          <a:ln xmlns:a="http://schemas.openxmlformats.org/drawingml/2006/main" w="9525">
            <a:solidFill>
              <a:srgbClr val="F59E0B"/>
            </a:solidFill>
            <a:prstDash val="solid"/>
          </a:ln>
        </p:spPr>
      </p:sp>
      <p:sp>
        <p:nvSpPr>
          <p:cNvPr id="12" name="">
            <a:extLst xmlns:a="http://schemas.openxmlformats.org/drawingml/2006/main">
              <a:ext uri="{FF2B5EF4-FFF2-40B4-BE49-F238E27FC236}">
                <a16:creationId xmlns:a16="http://schemas.microsoft.com/office/drawing/2014/main" id="{264F1D68-325D-4B3B-8F7C-00326724A0A8}"/>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F59E0B"/>
                </a:solidFill>
              </a:defRPr>
            </a:pPr>
            <a:r>
              <a:rPr sz="1350" b="1">
                <a:solidFill>
                  <a:srgbClr val="F59E0B"/>
                </a:solidFill>
              </a:rPr>
              <a:t>CHALLENGE</a:t>
            </a:r>
          </a:p>
        </p:txBody>
      </p:sp>
      <p:sp>
        <p:nvSpPr>
          <p:cNvPr id="13" name="">
            <a:extLst xmlns:a="http://schemas.openxmlformats.org/drawingml/2006/main">
              <a:ext uri="{FF2B5EF4-FFF2-40B4-BE49-F238E27FC236}">
                <a16:creationId xmlns:a16="http://schemas.microsoft.com/office/drawing/2014/main" id="{5EDC81BC-9F5C-4D4F-B28E-718205D4835A}"/>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111827"/>
                </a:solidFill>
              </a:defRPr>
            </a:pPr>
            <a:r>
              <a:rPr sz="2100" b="1">
                <a:solidFill>
                  <a:srgbClr val="111827"/>
                </a:solidFill>
              </a:rPr>
              <a:t>16 attention names</a:t>
            </a:r>
          </a:p>
        </p:txBody>
      </p:sp>
      <p:sp>
        <p:nvSpPr>
          <p:cNvPr id="14" name="">
            <a:extLst xmlns:a="http://schemas.openxmlformats.org/drawingml/2006/main">
              <a:ext uri="{FF2B5EF4-FFF2-40B4-BE49-F238E27FC236}">
                <a16:creationId xmlns:a16="http://schemas.microsoft.com/office/drawing/2014/main" id="{9EC97F66-8EE5-4A0F-BBD5-E69B07182269}"/>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0">
                <a:solidFill>
                  <a:srgbClr val="667384"/>
                </a:solidFill>
              </a:defRPr>
            </a:pPr>
            <a:r>
              <a:rPr sz="1500" b="0">
                <a:solidFill>
                  <a:srgbClr val="667384"/>
                </a:solidFill>
              </a:rPr>
              <a:t>separate sleeve—not a sector</a:t>
            </a:r>
          </a:p>
        </p:txBody>
      </p:sp>
      <p:sp>
        <p:nvSpPr>
          <p:cNvPr id="15" name="">
            <a:extLst xmlns:a="http://schemas.openxmlformats.org/drawingml/2006/main">
              <a:ext uri="{FF2B5EF4-FFF2-40B4-BE49-F238E27FC236}">
                <a16:creationId xmlns:a16="http://schemas.microsoft.com/office/drawing/2014/main" id="{380D8078-2C96-47C8-BCCB-9A9EFA500204}"/>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16" name="">
            <a:extLst xmlns:a="http://schemas.openxmlformats.org/drawingml/2006/main">
              <a:ext uri="{FF2B5EF4-FFF2-40B4-BE49-F238E27FC236}">
                <a16:creationId xmlns:a16="http://schemas.microsoft.com/office/drawing/2014/main" id="{4A3796B2-0890-4697-AB3D-35737FA179DB}"/>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2A9D6F"/>
          </a:solidFill>
          <a:ln xmlns:a="http://schemas.openxmlformats.org/drawingml/2006/main" w="9525">
            <a:solidFill>
              <a:srgbClr val="2A9D6F"/>
            </a:solidFill>
            <a:prstDash val="solid"/>
          </a:ln>
        </p:spPr>
      </p:sp>
      <p:sp>
        <p:nvSpPr>
          <p:cNvPr id="17" name="">
            <a:extLst xmlns:a="http://schemas.openxmlformats.org/drawingml/2006/main">
              <a:ext uri="{FF2B5EF4-FFF2-40B4-BE49-F238E27FC236}">
                <a16:creationId xmlns:a16="http://schemas.microsoft.com/office/drawing/2014/main" id="{3A5137E0-9E7E-4A70-8E4C-A559B3A7F0DD}"/>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2A9D6F"/>
                </a:solidFill>
              </a:defRPr>
            </a:pPr>
            <a:r>
              <a:rPr sz="1350" b="1">
                <a:solidFill>
                  <a:srgbClr val="2A9D6F"/>
                </a:solidFill>
              </a:rPr>
              <a:t>CONTROLS</a:t>
            </a:r>
          </a:p>
        </p:txBody>
      </p:sp>
      <p:sp>
        <p:nvSpPr>
          <p:cNvPr id="18" name="">
            <a:extLst xmlns:a="http://schemas.openxmlformats.org/drawingml/2006/main">
              <a:ext uri="{FF2B5EF4-FFF2-40B4-BE49-F238E27FC236}">
                <a16:creationId xmlns:a16="http://schemas.microsoft.com/office/drawing/2014/main" id="{965FB54C-B8BA-41CE-8A2F-CF4B5EA785CE}"/>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111827"/>
                </a:solidFill>
              </a:defRPr>
            </a:pPr>
            <a:r>
              <a:rPr sz="2100" b="1">
                <a:solidFill>
                  <a:srgbClr val="111827"/>
                </a:solidFill>
              </a:rPr>
              <a:t>25 liquid proxies</a:t>
            </a:r>
          </a:p>
        </p:txBody>
      </p:sp>
      <p:sp>
        <p:nvSpPr>
          <p:cNvPr id="19" name="">
            <a:extLst xmlns:a="http://schemas.openxmlformats.org/drawingml/2006/main">
              <a:ext uri="{FF2B5EF4-FFF2-40B4-BE49-F238E27FC236}">
                <a16:creationId xmlns:a16="http://schemas.microsoft.com/office/drawing/2014/main" id="{C90810C4-3E3B-413B-BE3A-0D0CBA54E686}"/>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0">
                <a:solidFill>
                  <a:srgbClr val="667384"/>
                </a:solidFill>
              </a:defRPr>
            </a:pPr>
            <a:r>
              <a:rPr sz="1500" b="0">
                <a:solidFill>
                  <a:srgbClr val="667384"/>
                </a:solidFill>
              </a:rPr>
              <a:t>15 equity ETFs + 10 non-equity</a:t>
            </a:r>
          </a:p>
        </p:txBody>
      </p:sp>
      <p:sp>
        <p:nvSpPr>
          <p:cNvPr id="20" name="">
            <a:extLst xmlns:a="http://schemas.openxmlformats.org/drawingml/2006/main">
              <a:ext uri="{FF2B5EF4-FFF2-40B4-BE49-F238E27FC236}">
                <a16:creationId xmlns:a16="http://schemas.microsoft.com/office/drawing/2014/main" id="{6B9AF3F5-7B95-485D-B9FA-C6052CF17EE2}"/>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21" name="">
            <a:extLst xmlns:a="http://schemas.openxmlformats.org/drawingml/2006/main">
              <a:ext uri="{FF2B5EF4-FFF2-40B4-BE49-F238E27FC236}">
                <a16:creationId xmlns:a16="http://schemas.microsoft.com/office/drawing/2014/main" id="{DBF8A934-4548-47C8-8583-F3E852C74E62}"/>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oundRect">
            <a:avLst>
              <a:gd name="adj" fmla="val 14634"/>
            </a:avLst>
          </a:prstGeom>
          <a:solidFill xmlns:a="http://schemas.openxmlformats.org/drawingml/2006/main">
            <a:srgbClr val="F4F6F8"/>
          </a:solidFill>
          <a:ln xmlns:a="http://schemas.openxmlformats.org/drawingml/2006/main" w="9525">
            <a:solidFill>
              <a:srgbClr val="D7DBE2"/>
            </a:solidFill>
            <a:prstDash val="solid"/>
          </a:ln>
        </p:spPr>
      </p:sp>
      <p:sp>
        <p:nvSpPr>
          <p:cNvPr id="22" name="">
            <a:extLst xmlns:a="http://schemas.openxmlformats.org/drawingml/2006/main">
              <a:ext uri="{FF2B5EF4-FFF2-40B4-BE49-F238E27FC236}">
                <a16:creationId xmlns:a16="http://schemas.microsoft.com/office/drawing/2014/main" id="{89F81B3D-ACD0-4A02-9B6C-89D781879330}"/>
              </a:ext>
            </a:extLst>
          </p:cNvPr>
          <p:cNvSpPr>
            <a:spLocks xmlns:a="http://schemas.openxmlformats.org/drawingml/2006/main" noGrp="1"/>
          </p:cNvSpPr>
          <p:nvPr/>
        </p:nvSpPr>
        <p:spPr>
          <a:xfrm xmlns:a="http://schemas.openxmlformats.org/drawingml/2006/main">
            <a:off x="781050" y="5524500"/>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11827"/>
                </a:solidFill>
              </a:defRPr>
            </a:pPr>
            <a:r>
              <a:rPr sz="1500" b="1">
                <a:solidFill>
                  <a:srgbClr val="111827"/>
                </a:solidFill>
              </a:rPr>
              <a:t>Frozen grid</a:t>
            </a:r>
          </a:p>
        </p:txBody>
      </p:sp>
      <p:sp>
        <p:nvSpPr>
          <p:cNvPr id="23" name="">
            <a:extLst xmlns:a="http://schemas.openxmlformats.org/drawingml/2006/main">
              <a:ext uri="{FF2B5EF4-FFF2-40B4-BE49-F238E27FC236}">
                <a16:creationId xmlns:a16="http://schemas.microsoft.com/office/drawing/2014/main" id="{DBACD672-B2FE-4661-8267-7719DCE7CC56}"/>
              </a:ext>
            </a:extLst>
          </p:cNvPr>
          <p:cNvSpPr>
            <a:spLocks xmlns:a="http://schemas.openxmlformats.org/drawingml/2006/main" noGrp="1"/>
          </p:cNvSpPr>
          <p:nvPr/>
        </p:nvSpPr>
        <p:spPr>
          <a:xfrm xmlns:a="http://schemas.openxmlformats.org/drawingml/2006/main">
            <a:off x="3333750" y="5486400"/>
            <a:ext cx="7810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0">
                <a:solidFill>
                  <a:srgbClr val="667384"/>
                </a:solidFill>
              </a:defRPr>
            </a:pPr>
            <a:r>
              <a:rPr sz="1425" b="0">
                <a:solidFill>
                  <a:srgbClr val="667384"/>
                </a:solidFill>
              </a:rPr>
              <a:t>Prior and following = 20 / 25 / 30 / 35 / 40 / 50 / 75 / 100. All nine existing filter states; no per-asset selection.</a:t>
            </a:r>
          </a:p>
        </p:txBody>
      </p:sp>
    </p:spTree>
    <p:extLst>
      <p:ext uri="{BB962C8B-B14F-4D97-AF65-F5344CB8AC3E}">
        <p14:creationId xmlns:p14="http://schemas.microsoft.com/office/powerpoint/2010/main" val="1154963589"/>
      </p:ext>
    </p:extLst>
  </p:cSld>
</p:sld>
</file>

<file path=ppt/slides/slide10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FF16D75-C7C3-4FAF-8CAA-342068BF88F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667384"/>
                </a:solidFill>
              </a:defRPr>
            </a:pPr>
            <a:r>
              <a:rPr sz="1200" b="1">
                <a:solidFill>
                  <a:srgbClr val="667384"/>
                </a:solidFill>
              </a:rPr>
              <a:t>WIDE ATLAS</a:t>
            </a:r>
          </a:p>
        </p:txBody>
      </p:sp>
      <p:sp>
        <p:nvSpPr>
          <p:cNvPr id="2" name="">
            <a:extLst xmlns:a="http://schemas.openxmlformats.org/drawingml/2006/main">
              <a:ext uri="{FF2B5EF4-FFF2-40B4-BE49-F238E27FC236}">
                <a16:creationId xmlns:a16="http://schemas.microsoft.com/office/drawing/2014/main" id="{166CC192-C582-4D56-B009-2AFAE8FF5638}"/>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525" b="1">
                <a:solidFill>
                  <a:srgbClr val="111827"/>
                </a:solidFill>
              </a:defRPr>
            </a:pPr>
            <a:r>
              <a:rPr sz="3525" b="1">
                <a:solidFill>
                  <a:srgbClr val="111827"/>
                </a:solidFill>
              </a:rPr>
              <a:t>Coverage is complete where the headline is formed</a:t>
            </a:r>
          </a:p>
        </p:txBody>
      </p:sp>
      <p:sp>
        <p:nvSpPr>
          <p:cNvPr id="3" name="">
            <a:extLst xmlns:a="http://schemas.openxmlformats.org/drawingml/2006/main">
              <a:ext uri="{FF2B5EF4-FFF2-40B4-BE49-F238E27FC236}">
                <a16:creationId xmlns:a16="http://schemas.microsoft.com/office/drawing/2014/main" id="{DCF7CEF0-ACEA-457F-9CCB-89092B63C246}"/>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E47F080F-E6AF-40CC-92AE-B894A5C6C4B5}"/>
              </a:ext>
            </a:extLst>
          </p:cNvPr>
          <p:cNvSpPr>
            <a:spLocks xmlns:a="http://schemas.openxmlformats.org/drawingml/2006/main" noGrp="1"/>
          </p:cNvSpPr>
          <p:nvPr/>
        </p:nvSpPr>
        <p:spPr>
          <a:xfrm xmlns:a="http://schemas.openxmlformats.org/drawingml/2006/main">
            <a:off x="457200" y="6515100"/>
            <a:ext cx="447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0">
                <a:solidFill>
                  <a:srgbClr val="667384"/>
                </a:solidFill>
              </a:defRPr>
            </a:pPr>
            <a:r>
              <a:rPr sz="900" b="0">
                <a:solidFill>
                  <a:srgbClr val="667384"/>
                </a:solidFill>
              </a:rPr>
              <a:t>129 instruments | adjusted daily | 2018–2023</a:t>
            </a:r>
          </a:p>
        </p:txBody>
      </p:sp>
      <p:sp>
        <p:nvSpPr>
          <p:cNvPr id="5" name="">
            <a:extLst xmlns:a="http://schemas.openxmlformats.org/drawingml/2006/main">
              <a:ext uri="{FF2B5EF4-FFF2-40B4-BE49-F238E27FC236}">
                <a16:creationId xmlns:a16="http://schemas.microsoft.com/office/drawing/2014/main" id="{02818DC4-7765-41C9-A1FB-88C56DA5F125}"/>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108</a:t>
            </a:r>
          </a:p>
        </p:txBody>
      </p:sp>
      <p:sp>
        <p:nvSpPr>
          <p:cNvPr id="6" name="">
            <a:extLst xmlns:a="http://schemas.openxmlformats.org/drawingml/2006/main">
              <a:ext uri="{FF2B5EF4-FFF2-40B4-BE49-F238E27FC236}">
                <a16:creationId xmlns:a16="http://schemas.microsoft.com/office/drawing/2014/main" id="{CABB54E2-EDFA-4EEB-B79C-50D1FC572ADE}"/>
              </a:ext>
            </a:extLst>
          </p:cNvPr>
          <p:cNvSpPr>
            <a:spLocks xmlns:a="http://schemas.openxmlformats.org/drawingml/2006/main" noGrp="1"/>
          </p:cNvSpPr>
          <p:nvPr/>
        </p:nvSpPr>
        <p:spPr>
          <a:xfrm xmlns:a="http://schemas.openxmlformats.org/drawingml/2006/main">
            <a:off x="552450" y="1562100"/>
            <a:ext cx="3238500" cy="1714500"/>
          </a:xfrm>
          <a:prstGeom xmlns:a="http://schemas.openxmlformats.org/drawingml/2006/main" prst="roundRect">
            <a:avLst>
              <a:gd name="adj" fmla="val 6667"/>
            </a:avLst>
          </a:prstGeom>
          <a:solidFill xmlns:a="http://schemas.openxmlformats.org/drawingml/2006/main">
            <a:srgbClr val="EDF5FF"/>
          </a:solidFill>
          <a:ln xmlns:a="http://schemas.openxmlformats.org/drawingml/2006/main" w="9525">
            <a:solidFill>
              <a:srgbClr val="EDF5FF"/>
            </a:solidFill>
            <a:prstDash val="solid"/>
          </a:ln>
        </p:spPr>
      </p:sp>
      <p:sp>
        <p:nvSpPr>
          <p:cNvPr id="7" name="">
            <a:extLst xmlns:a="http://schemas.openxmlformats.org/drawingml/2006/main">
              <a:ext uri="{FF2B5EF4-FFF2-40B4-BE49-F238E27FC236}">
                <a16:creationId xmlns:a16="http://schemas.microsoft.com/office/drawing/2014/main" id="{5FDC4359-0336-4EF0-BC64-FBF66B7E27D4}"/>
              </a:ext>
            </a:extLst>
          </p:cNvPr>
          <p:cNvSpPr>
            <a:spLocks xmlns:a="http://schemas.openxmlformats.org/drawingml/2006/main" noGrp="1"/>
          </p:cNvSpPr>
          <p:nvPr/>
        </p:nvSpPr>
        <p:spPr>
          <a:xfrm xmlns:a="http://schemas.openxmlformats.org/drawingml/2006/main">
            <a:off x="762000" y="1790700"/>
            <a:ext cx="2819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3600" b="1">
                <a:solidFill>
                  <a:srgbClr val="3D8DFF"/>
                </a:solidFill>
              </a:defRPr>
            </a:pPr>
            <a:r>
              <a:rPr sz="3600" b="1">
                <a:solidFill>
                  <a:srgbClr val="3D8DFF"/>
                </a:solidFill>
              </a:rPr>
              <a:t>129/129</a:t>
            </a:r>
          </a:p>
        </p:txBody>
      </p:sp>
      <p:sp>
        <p:nvSpPr>
          <p:cNvPr id="8" name="">
            <a:extLst xmlns:a="http://schemas.openxmlformats.org/drawingml/2006/main">
              <a:ext uri="{FF2B5EF4-FFF2-40B4-BE49-F238E27FC236}">
                <a16:creationId xmlns:a16="http://schemas.microsoft.com/office/drawing/2014/main" id="{97B07DEA-5881-47B8-8311-6B55F9AAC2EA}"/>
              </a:ext>
            </a:extLst>
          </p:cNvPr>
          <p:cNvSpPr>
            <a:spLocks xmlns:a="http://schemas.openxmlformats.org/drawingml/2006/main" noGrp="1"/>
          </p:cNvSpPr>
          <p:nvPr/>
        </p:nvSpPr>
        <p:spPr>
          <a:xfrm xmlns:a="http://schemas.openxmlformats.org/drawingml/2006/main">
            <a:off x="762000" y="2609850"/>
            <a:ext cx="2819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111827"/>
                </a:solidFill>
              </a:defRPr>
            </a:pPr>
            <a:r>
              <a:rPr sz="1575" b="1">
                <a:solidFill>
                  <a:srgbClr val="111827"/>
                </a:solidFill>
              </a:rPr>
              <a:t>analyzable</a:t>
            </a:r>
          </a:p>
        </p:txBody>
      </p:sp>
      <p:sp>
        <p:nvSpPr>
          <p:cNvPr id="9" name="">
            <a:extLst xmlns:a="http://schemas.openxmlformats.org/drawingml/2006/main">
              <a:ext uri="{FF2B5EF4-FFF2-40B4-BE49-F238E27FC236}">
                <a16:creationId xmlns:a16="http://schemas.microsoft.com/office/drawing/2014/main" id="{53BB5982-7F37-4BBD-A531-8321690D31A3}"/>
              </a:ext>
            </a:extLst>
          </p:cNvPr>
          <p:cNvSpPr>
            <a:spLocks xmlns:a="http://schemas.openxmlformats.org/drawingml/2006/main" noGrp="1"/>
          </p:cNvSpPr>
          <p:nvPr/>
        </p:nvSpPr>
        <p:spPr>
          <a:xfrm xmlns:a="http://schemas.openxmlformats.org/drawingml/2006/main">
            <a:off x="4286250" y="1562100"/>
            <a:ext cx="3238500" cy="1714500"/>
          </a:xfrm>
          <a:prstGeom xmlns:a="http://schemas.openxmlformats.org/drawingml/2006/main" prst="roundRect">
            <a:avLst>
              <a:gd name="adj" fmla="val 6667"/>
            </a:avLst>
          </a:prstGeom>
          <a:solidFill xmlns:a="http://schemas.openxmlformats.org/drawingml/2006/main">
            <a:srgbClr val="EDF8F3"/>
          </a:solidFill>
          <a:ln xmlns:a="http://schemas.openxmlformats.org/drawingml/2006/main" w="9525">
            <a:solidFill>
              <a:srgbClr val="EDF8F3"/>
            </a:solidFill>
            <a:prstDash val="solid"/>
          </a:ln>
        </p:spPr>
      </p:sp>
      <p:sp>
        <p:nvSpPr>
          <p:cNvPr id="10" name="">
            <a:extLst xmlns:a="http://schemas.openxmlformats.org/drawingml/2006/main">
              <a:ext uri="{FF2B5EF4-FFF2-40B4-BE49-F238E27FC236}">
                <a16:creationId xmlns:a16="http://schemas.microsoft.com/office/drawing/2014/main" id="{0E543890-F772-47C4-A6F3-02240B90D53D}"/>
              </a:ext>
            </a:extLst>
          </p:cNvPr>
          <p:cNvSpPr>
            <a:spLocks xmlns:a="http://schemas.openxmlformats.org/drawingml/2006/main" noGrp="1"/>
          </p:cNvSpPr>
          <p:nvPr/>
        </p:nvSpPr>
        <p:spPr>
          <a:xfrm xmlns:a="http://schemas.openxmlformats.org/drawingml/2006/main">
            <a:off x="4495800" y="1790700"/>
            <a:ext cx="2819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3600" b="1">
                <a:solidFill>
                  <a:srgbClr val="2A9D6F"/>
                </a:solidFill>
              </a:defRPr>
            </a:pPr>
            <a:r>
              <a:rPr sz="3600" b="1">
                <a:solidFill>
                  <a:srgbClr val="2A9D6F"/>
                </a:solidFill>
              </a:rPr>
              <a:t>88/88</a:t>
            </a:r>
          </a:p>
        </p:txBody>
      </p:sp>
      <p:sp>
        <p:nvSpPr>
          <p:cNvPr id="11" name="">
            <a:extLst xmlns:a="http://schemas.openxmlformats.org/drawingml/2006/main">
              <a:ext uri="{FF2B5EF4-FFF2-40B4-BE49-F238E27FC236}">
                <a16:creationId xmlns:a16="http://schemas.microsoft.com/office/drawing/2014/main" id="{99528099-A905-4178-8C58-9FF823129C9B}"/>
              </a:ext>
            </a:extLst>
          </p:cNvPr>
          <p:cNvSpPr>
            <a:spLocks xmlns:a="http://schemas.openxmlformats.org/drawingml/2006/main" noGrp="1"/>
          </p:cNvSpPr>
          <p:nvPr/>
        </p:nvSpPr>
        <p:spPr>
          <a:xfrm xmlns:a="http://schemas.openxmlformats.org/drawingml/2006/main">
            <a:off x="4495800" y="2609850"/>
            <a:ext cx="2819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111827"/>
                </a:solidFill>
              </a:defRPr>
            </a:pPr>
            <a:r>
              <a:rPr sz="1575" b="1">
                <a:solidFill>
                  <a:srgbClr val="111827"/>
                </a:solidFill>
              </a:rPr>
              <a:t>core full-history</a:t>
            </a:r>
          </a:p>
        </p:txBody>
      </p:sp>
      <p:sp>
        <p:nvSpPr>
          <p:cNvPr id="12" name="">
            <a:extLst xmlns:a="http://schemas.openxmlformats.org/drawingml/2006/main">
              <a:ext uri="{FF2B5EF4-FFF2-40B4-BE49-F238E27FC236}">
                <a16:creationId xmlns:a16="http://schemas.microsoft.com/office/drawing/2014/main" id="{A7E82B4D-9C3B-4A9B-9CE1-5AED1E8288CC}"/>
              </a:ext>
            </a:extLst>
          </p:cNvPr>
          <p:cNvSpPr>
            <a:spLocks xmlns:a="http://schemas.openxmlformats.org/drawingml/2006/main" noGrp="1"/>
          </p:cNvSpPr>
          <p:nvPr/>
        </p:nvSpPr>
        <p:spPr>
          <a:xfrm xmlns:a="http://schemas.openxmlformats.org/drawingml/2006/main">
            <a:off x="8020050" y="1562100"/>
            <a:ext cx="3238500" cy="1714500"/>
          </a:xfrm>
          <a:prstGeom xmlns:a="http://schemas.openxmlformats.org/drawingml/2006/main" prst="roundRect">
            <a:avLst>
              <a:gd name="adj" fmla="val 6667"/>
            </a:avLst>
          </a:prstGeom>
          <a:solidFill xmlns:a="http://schemas.openxmlformats.org/drawingml/2006/main">
            <a:srgbClr val="FDF0EF"/>
          </a:solidFill>
          <a:ln xmlns:a="http://schemas.openxmlformats.org/drawingml/2006/main" w="9525">
            <a:solidFill>
              <a:srgbClr val="FDF0EF"/>
            </a:solidFill>
            <a:prstDash val="solid"/>
          </a:ln>
        </p:spPr>
      </p:sp>
      <p:sp>
        <p:nvSpPr>
          <p:cNvPr id="13" name="">
            <a:extLst xmlns:a="http://schemas.openxmlformats.org/drawingml/2006/main">
              <a:ext uri="{FF2B5EF4-FFF2-40B4-BE49-F238E27FC236}">
                <a16:creationId xmlns:a16="http://schemas.microsoft.com/office/drawing/2014/main" id="{E297B0A9-A535-4E64-B0B9-A80638F58118}"/>
              </a:ext>
            </a:extLst>
          </p:cNvPr>
          <p:cNvSpPr>
            <a:spLocks xmlns:a="http://schemas.openxmlformats.org/drawingml/2006/main" noGrp="1"/>
          </p:cNvSpPr>
          <p:nvPr/>
        </p:nvSpPr>
        <p:spPr>
          <a:xfrm xmlns:a="http://schemas.openxmlformats.org/drawingml/2006/main">
            <a:off x="8229600" y="1790700"/>
            <a:ext cx="2819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3600" b="1">
                <a:solidFill>
                  <a:srgbClr val="E45756"/>
                </a:solidFill>
              </a:defRPr>
            </a:pPr>
            <a:r>
              <a:rPr sz="3600" b="1">
                <a:solidFill>
                  <a:srgbClr val="E45756"/>
                </a:solidFill>
              </a:rPr>
              <a:t>74,304</a:t>
            </a:r>
          </a:p>
        </p:txBody>
      </p:sp>
      <p:sp>
        <p:nvSpPr>
          <p:cNvPr id="14" name="">
            <a:extLst xmlns:a="http://schemas.openxmlformats.org/drawingml/2006/main">
              <a:ext uri="{FF2B5EF4-FFF2-40B4-BE49-F238E27FC236}">
                <a16:creationId xmlns:a16="http://schemas.microsoft.com/office/drawing/2014/main" id="{FA4B617E-F240-4E5D-B857-A89B4D52CF0B}"/>
              </a:ext>
            </a:extLst>
          </p:cNvPr>
          <p:cNvSpPr>
            <a:spLocks xmlns:a="http://schemas.openxmlformats.org/drawingml/2006/main" noGrp="1"/>
          </p:cNvSpPr>
          <p:nvPr/>
        </p:nvSpPr>
        <p:spPr>
          <a:xfrm xmlns:a="http://schemas.openxmlformats.org/drawingml/2006/main">
            <a:off x="8229600" y="2609850"/>
            <a:ext cx="2819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111827"/>
                </a:solidFill>
              </a:defRPr>
            </a:pPr>
            <a:r>
              <a:rPr sz="1575" b="1">
                <a:solidFill>
                  <a:srgbClr val="111827"/>
                </a:solidFill>
              </a:rPr>
              <a:t>asset-state cells</a:t>
            </a:r>
          </a:p>
        </p:txBody>
      </p:sp>
      <p:sp>
        <p:nvSpPr>
          <p:cNvPr id="15" name="">
            <a:extLst xmlns:a="http://schemas.openxmlformats.org/drawingml/2006/main">
              <a:ext uri="{FF2B5EF4-FFF2-40B4-BE49-F238E27FC236}">
                <a16:creationId xmlns:a16="http://schemas.microsoft.com/office/drawing/2014/main" id="{1D495D5D-A07F-4DE3-8336-047CDA796F14}"/>
              </a:ext>
            </a:extLst>
          </p:cNvPr>
          <p:cNvSpPr>
            <a:spLocks xmlns:a="http://schemas.openxmlformats.org/drawingml/2006/main" noGrp="1"/>
          </p:cNvSpPr>
          <p:nvPr/>
        </p:nvSpPr>
        <p:spPr>
          <a:xfrm xmlns:a="http://schemas.openxmlformats.org/drawingml/2006/main">
            <a:off x="552450" y="3676650"/>
            <a:ext cx="10877550" cy="2000250"/>
          </a:xfrm>
          <a:prstGeom xmlns:a="http://schemas.openxmlformats.org/drawingml/2006/main" prst="roundRect">
            <a:avLst>
              <a:gd name="adj" fmla="val 5714"/>
            </a:avLst>
          </a:prstGeom>
          <a:solidFill xmlns:a="http://schemas.openxmlformats.org/drawingml/2006/main">
            <a:srgbClr val="F4F6F8"/>
          </a:solidFill>
          <a:ln xmlns:a="http://schemas.openxmlformats.org/drawingml/2006/main" w="9525">
            <a:solidFill>
              <a:srgbClr val="D7DBE2"/>
            </a:solidFill>
            <a:prstDash val="solid"/>
          </a:ln>
        </p:spPr>
      </p:sp>
      <p:sp>
        <p:nvSpPr>
          <p:cNvPr id="16" name="">
            <a:extLst xmlns:a="http://schemas.openxmlformats.org/drawingml/2006/main">
              <a:ext uri="{FF2B5EF4-FFF2-40B4-BE49-F238E27FC236}">
                <a16:creationId xmlns:a16="http://schemas.microsoft.com/office/drawing/2014/main" id="{25917D21-FB19-4E35-8363-3B389D92C0AA}"/>
              </a:ext>
            </a:extLst>
          </p:cNvPr>
          <p:cNvSpPr>
            <a:spLocks xmlns:a="http://schemas.openxmlformats.org/drawingml/2006/main" noGrp="1"/>
          </p:cNvSpPr>
          <p:nvPr/>
        </p:nvSpPr>
        <p:spPr>
          <a:xfrm xmlns:a="http://schemas.openxmlformats.org/drawingml/2006/main">
            <a:off x="800100" y="394335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75" b="1">
                <a:solidFill>
                  <a:srgbClr val="111827"/>
                </a:solidFill>
              </a:defRPr>
            </a:pPr>
            <a:r>
              <a:rPr sz="2175" b="1">
                <a:solidFill>
                  <a:srgbClr val="111827"/>
                </a:solidFill>
              </a:rPr>
              <a:t>10 partial-history attention names</a:t>
            </a:r>
          </a:p>
        </p:txBody>
      </p:sp>
      <p:sp>
        <p:nvSpPr>
          <p:cNvPr id="17" name="">
            <a:extLst xmlns:a="http://schemas.openxmlformats.org/drawingml/2006/main">
              <a:ext uri="{FF2B5EF4-FFF2-40B4-BE49-F238E27FC236}">
                <a16:creationId xmlns:a16="http://schemas.microsoft.com/office/drawing/2014/main" id="{7293CAC5-5E9F-4C18-BEE9-12CA7D0A1754}"/>
              </a:ext>
            </a:extLst>
          </p:cNvPr>
          <p:cNvSpPr>
            <a:spLocks xmlns:a="http://schemas.openxmlformats.org/drawingml/2006/main" noGrp="1"/>
          </p:cNvSpPr>
          <p:nvPr/>
        </p:nvSpPr>
        <p:spPr>
          <a:xfrm xmlns:a="http://schemas.openxmlformats.org/drawingml/2006/main">
            <a:off x="800100" y="4552950"/>
            <a:ext cx="10048875"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75" b="0">
                <a:solidFill>
                  <a:srgbClr val="667384"/>
                </a:solidFill>
              </a:defRPr>
            </a:pPr>
            <a:r>
              <a:rPr sz="1575" b="0">
                <a:solidFill>
                  <a:srgbClr val="667384"/>
                </a:solidFill>
              </a:rPr>
              <a:t>Refreshed once; no pre-listing rows exist. Every history reaches 2023, and none enters equal-sector weighting.</a:t>
            </a:r>
          </a:p>
        </p:txBody>
      </p:sp>
      <p:sp>
        <p:nvSpPr>
          <p:cNvPr id="18" name="">
            <a:extLst xmlns:a="http://schemas.openxmlformats.org/drawingml/2006/main">
              <a:ext uri="{FF2B5EF4-FFF2-40B4-BE49-F238E27FC236}">
                <a16:creationId xmlns:a16="http://schemas.microsoft.com/office/drawing/2014/main" id="{BA860914-641C-4744-882A-089AD67BAD96}"/>
              </a:ext>
            </a:extLst>
          </p:cNvPr>
          <p:cNvSpPr>
            <a:spLocks xmlns:a="http://schemas.openxmlformats.org/drawingml/2006/main" noGrp="1"/>
          </p:cNvSpPr>
          <p:nvPr/>
        </p:nvSpPr>
        <p:spPr>
          <a:xfrm xmlns:a="http://schemas.openxmlformats.org/drawingml/2006/main">
            <a:off x="800100" y="5391150"/>
            <a:ext cx="10048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2A9D6F"/>
                </a:solidFill>
              </a:defRPr>
            </a:pPr>
            <a:r>
              <a:rPr sz="1275" b="1">
                <a:solidFill>
                  <a:srgbClr val="2A9D6F"/>
                </a:solidFill>
              </a:rPr>
              <a:t>12 / 12 integrity checks pass • original 30-name overlap reproduces below 5e−16</a:t>
            </a:r>
          </a:p>
        </p:txBody>
      </p:sp>
    </p:spTree>
    <p:extLst>
      <p:ext uri="{BB962C8B-B14F-4D97-AF65-F5344CB8AC3E}">
        <p14:creationId xmlns:p14="http://schemas.microsoft.com/office/powerpoint/2010/main" val="1927309989"/>
      </p:ext>
    </p:extLst>
  </p:cSld>
</p:sld>
</file>

<file path=ppt/slides/slide10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D2D810C-D45E-4CFA-85D5-8FF7CB2CFD1C}"/>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667384"/>
                </a:solidFill>
              </a:defRPr>
            </a:pPr>
            <a:r>
              <a:rPr sz="1200" b="1">
                <a:solidFill>
                  <a:srgbClr val="667384"/>
                </a:solidFill>
              </a:rPr>
              <a:t>WIDE ATLAS</a:t>
            </a:r>
          </a:p>
        </p:txBody>
      </p:sp>
      <p:sp>
        <p:nvSpPr>
          <p:cNvPr id="2" name="">
            <a:extLst xmlns:a="http://schemas.openxmlformats.org/drawingml/2006/main">
              <a:ext uri="{FF2B5EF4-FFF2-40B4-BE49-F238E27FC236}">
                <a16:creationId xmlns:a16="http://schemas.microsoft.com/office/drawing/2014/main" id="{415BB505-C755-40D4-8ACD-1413E2F84EA6}"/>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525" b="1">
                <a:solidFill>
                  <a:srgbClr val="111827"/>
                </a:solidFill>
              </a:defRPr>
            </a:pPr>
            <a:r>
              <a:rPr sz="3525" b="1">
                <a:solidFill>
                  <a:srgbClr val="111827"/>
                </a:solidFill>
              </a:rPr>
              <a:t>The signed-down plateau survives the full coarse surface</a:t>
            </a:r>
          </a:p>
        </p:txBody>
      </p:sp>
      <p:sp>
        <p:nvSpPr>
          <p:cNvPr id="3" name="">
            <a:extLst xmlns:a="http://schemas.openxmlformats.org/drawingml/2006/main">
              <a:ext uri="{FF2B5EF4-FFF2-40B4-BE49-F238E27FC236}">
                <a16:creationId xmlns:a16="http://schemas.microsoft.com/office/drawing/2014/main" id="{A55575ED-8284-4601-A3AF-FE58C004F5DB}"/>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9AD69B41-9C28-4922-B54C-C211D971F24D}"/>
              </a:ext>
            </a:extLst>
          </p:cNvPr>
          <p:cNvSpPr>
            <a:spLocks xmlns:a="http://schemas.openxmlformats.org/drawingml/2006/main" noGrp="1"/>
          </p:cNvSpPr>
          <p:nvPr/>
        </p:nvSpPr>
        <p:spPr>
          <a:xfrm xmlns:a="http://schemas.openxmlformats.org/drawingml/2006/main">
            <a:off x="457200" y="6515100"/>
            <a:ext cx="447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0">
                <a:solidFill>
                  <a:srgbClr val="667384"/>
                </a:solidFill>
              </a:defRPr>
            </a:pPr>
            <a:r>
              <a:rPr sz="900" b="0">
                <a:solidFill>
                  <a:srgbClr val="667384"/>
                </a:solidFill>
              </a:rPr>
              <a:t>129 instruments | adjusted daily | 2018–2023</a:t>
            </a:r>
          </a:p>
        </p:txBody>
      </p:sp>
      <p:sp>
        <p:nvSpPr>
          <p:cNvPr id="5" name="">
            <a:extLst xmlns:a="http://schemas.openxmlformats.org/drawingml/2006/main">
              <a:ext uri="{FF2B5EF4-FFF2-40B4-BE49-F238E27FC236}">
                <a16:creationId xmlns:a16="http://schemas.microsoft.com/office/drawing/2014/main" id="{313DC3AB-EB47-4C21-821F-9A23EAFACF2D}"/>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109</a:t>
            </a:r>
          </a:p>
        </p:txBody>
      </p:sp>
      <p:sp>
        <p:nvSpPr>
          <p:cNvPr id="6" name="">
            <a:extLst xmlns:a="http://schemas.openxmlformats.org/drawingml/2006/main">
              <a:ext uri="{FF2B5EF4-FFF2-40B4-BE49-F238E27FC236}">
                <a16:creationId xmlns:a16="http://schemas.microsoft.com/office/drawing/2014/main" id="{4B6DB1C6-9DA6-49F7-A43D-29C6BD4F682A}"/>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oundRect">
            <a:avLst>
              <a:gd name="adj" fmla="val 2330"/>
            </a:avLst>
          </a:prstGeom>
          <a:solidFill xmlns:a="http://schemas.openxmlformats.org/drawingml/2006/main">
            <a:srgbClr val="FFFFFF"/>
          </a:solidFill>
          <a:ln xmlns:a="http://schemas.openxmlformats.org/drawingml/2006/main" w="9525">
            <a:solidFill>
              <a:srgbClr val="D7DBE2"/>
            </a:solidFill>
            <a:prstDash val="solid"/>
          </a:ln>
        </p:spPr>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fd55c1d89cf442ab"/>
          <a:stretch xmlns:a="http://schemas.openxmlformats.org/drawingml/2006/main"/>
        </p:blipFill>
        <p:spPr>
          <a:xfrm xmlns:a="http://schemas.openxmlformats.org/drawingml/2006/main">
            <a:off x="3238500" y="1409700"/>
            <a:ext cx="5715000" cy="47625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314BE478-A788-4E5A-9359-C60FFC0B7B78}"/>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050" b="1">
                <a:solidFill>
                  <a:srgbClr val="111827"/>
                </a:solidFill>
              </a:defRPr>
            </a:pPr>
            <a:r>
              <a:rPr sz="1050" b="1">
                <a:solidFill>
                  <a:srgbClr val="111827"/>
                </a:solidFill>
              </a:rPr>
              <a:t>Every one of 64 equal-sector cells is negative; this is a broad surface—not a selected endpoint.</a:t>
            </a:r>
          </a:p>
        </p:txBody>
      </p:sp>
    </p:spTree>
    <p:extLst>
      <p:ext uri="{BB962C8B-B14F-4D97-AF65-F5344CB8AC3E}">
        <p14:creationId xmlns:p14="http://schemas.microsoft.com/office/powerpoint/2010/main" val="132742243"/>
      </p:ext>
    </p:extLst>
  </p:cSld>
</p:sld>
</file>

<file path=ppt/slides/slide1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CBCF9B7-FD3C-40E8-A55B-22A9E94DB5D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667384"/>
                </a:solidFill>
              </a:defRPr>
            </a:pPr>
            <a:r>
              <a:rPr sz="1200" b="1">
                <a:solidFill>
                  <a:srgbClr val="667384"/>
                </a:solidFill>
              </a:rPr>
              <a:t>WIDE ATLAS</a:t>
            </a:r>
          </a:p>
        </p:txBody>
      </p:sp>
      <p:sp>
        <p:nvSpPr>
          <p:cNvPr id="2" name="">
            <a:extLst xmlns:a="http://schemas.openxmlformats.org/drawingml/2006/main">
              <a:ext uri="{FF2B5EF4-FFF2-40B4-BE49-F238E27FC236}">
                <a16:creationId xmlns:a16="http://schemas.microsoft.com/office/drawing/2014/main" id="{DC98772E-18CD-4C82-BA42-A7526A04D84C}"/>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525" b="1">
                <a:solidFill>
                  <a:srgbClr val="111827"/>
                </a:solidFill>
              </a:defRPr>
            </a:pPr>
            <a:r>
              <a:rPr sz="3525" b="1">
                <a:solidFill>
                  <a:srgbClr val="111827"/>
                </a:solidFill>
              </a:rPr>
              <a:t>Sector breadth holds through 75—and nearly through 100</a:t>
            </a:r>
          </a:p>
        </p:txBody>
      </p:sp>
      <p:sp>
        <p:nvSpPr>
          <p:cNvPr id="3" name="">
            <a:extLst xmlns:a="http://schemas.openxmlformats.org/drawingml/2006/main">
              <a:ext uri="{FF2B5EF4-FFF2-40B4-BE49-F238E27FC236}">
                <a16:creationId xmlns:a16="http://schemas.microsoft.com/office/drawing/2014/main" id="{FAD827A5-27F9-42E3-9B5D-67958B142064}"/>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04852453-BC77-4693-BE17-25C72ECFDE7F}"/>
              </a:ext>
            </a:extLst>
          </p:cNvPr>
          <p:cNvSpPr>
            <a:spLocks xmlns:a="http://schemas.openxmlformats.org/drawingml/2006/main" noGrp="1"/>
          </p:cNvSpPr>
          <p:nvPr/>
        </p:nvSpPr>
        <p:spPr>
          <a:xfrm xmlns:a="http://schemas.openxmlformats.org/drawingml/2006/main">
            <a:off x="457200" y="6515100"/>
            <a:ext cx="447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0">
                <a:solidFill>
                  <a:srgbClr val="667384"/>
                </a:solidFill>
              </a:defRPr>
            </a:pPr>
            <a:r>
              <a:rPr sz="900" b="0">
                <a:solidFill>
                  <a:srgbClr val="667384"/>
                </a:solidFill>
              </a:rPr>
              <a:t>129 instruments | adjusted daily | 2018–2023</a:t>
            </a:r>
          </a:p>
        </p:txBody>
      </p:sp>
      <p:sp>
        <p:nvSpPr>
          <p:cNvPr id="5" name="">
            <a:extLst xmlns:a="http://schemas.openxmlformats.org/drawingml/2006/main">
              <a:ext uri="{FF2B5EF4-FFF2-40B4-BE49-F238E27FC236}">
                <a16:creationId xmlns:a16="http://schemas.microsoft.com/office/drawing/2014/main" id="{5FFB6AEE-4627-4282-B329-9C9ABEEA9CAD}"/>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110</a:t>
            </a:r>
          </a:p>
        </p:txBody>
      </p:sp>
      <p:sp>
        <p:nvSpPr>
          <p:cNvPr id="6" name="">
            <a:extLst xmlns:a="http://schemas.openxmlformats.org/drawingml/2006/main">
              <a:ext uri="{FF2B5EF4-FFF2-40B4-BE49-F238E27FC236}">
                <a16:creationId xmlns:a16="http://schemas.microsoft.com/office/drawing/2014/main" id="{64A48336-7596-42C1-8A03-FEE7B1E0AB53}"/>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oundRect">
            <a:avLst>
              <a:gd name="adj" fmla="val 2330"/>
            </a:avLst>
          </a:prstGeom>
          <a:solidFill xmlns:a="http://schemas.openxmlformats.org/drawingml/2006/main">
            <a:srgbClr val="FFFFFF"/>
          </a:solidFill>
          <a:ln xmlns:a="http://schemas.openxmlformats.org/drawingml/2006/main" w="9525">
            <a:solidFill>
              <a:srgbClr val="D7DBE2"/>
            </a:solidFill>
            <a:prstDash val="solid"/>
          </a:ln>
        </p:spPr>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182a0de5e7484c62"/>
          <a:stretch xmlns:a="http://schemas.openxmlformats.org/drawingml/2006/main"/>
        </p:blipFill>
        <p:spPr>
          <a:xfrm xmlns:a="http://schemas.openxmlformats.org/drawingml/2006/main">
            <a:off x="2368826" y="1409700"/>
            <a:ext cx="7454348" cy="47625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4A6FA278-EE3E-4B3D-B319-D3A3B1C82322}"/>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050" b="1">
                <a:solidFill>
                  <a:srgbClr val="111827"/>
                </a:solidFill>
              </a:defRPr>
            </a:pPr>
            <a:r>
              <a:rPr sz="1050" b="1">
                <a:solidFill>
                  <a:srgbClr val="111827"/>
                </a:solidFill>
              </a:rPr>
              <a:t>11 / 11 sector medians are negative through 75; 10 / 11 at 100, with Health Care ≈ +0.01.</a:t>
            </a:r>
          </a:p>
        </p:txBody>
      </p:sp>
    </p:spTree>
    <p:extLst>
      <p:ext uri="{BB962C8B-B14F-4D97-AF65-F5344CB8AC3E}">
        <p14:creationId xmlns:p14="http://schemas.microsoft.com/office/powerpoint/2010/main" val="984289950"/>
      </p:ext>
    </p:extLst>
  </p:cSld>
</p:sld>
</file>

<file path=ppt/slides/slide1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195EB62-5C59-4FAE-AFFC-ACF8ADFD353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667384"/>
                </a:solidFill>
              </a:defRPr>
            </a:pPr>
            <a:r>
              <a:rPr sz="1200" b="1">
                <a:solidFill>
                  <a:srgbClr val="667384"/>
                </a:solidFill>
              </a:rPr>
              <a:t>WIDE ATLAS</a:t>
            </a:r>
          </a:p>
        </p:txBody>
      </p:sp>
      <p:sp>
        <p:nvSpPr>
          <p:cNvPr id="2" name="">
            <a:extLst xmlns:a="http://schemas.openxmlformats.org/drawingml/2006/main">
              <a:ext uri="{FF2B5EF4-FFF2-40B4-BE49-F238E27FC236}">
                <a16:creationId xmlns:a16="http://schemas.microsoft.com/office/drawing/2014/main" id="{8E9F87A5-B2FF-43B5-B6E0-7D6C7FAA2D73}"/>
              </a:ext>
            </a:extLst>
          </p:cNvPr>
          <p:cNvSpPr>
            <a:spLocks xmlns:a="http://schemas.openxmlformats.org/drawingml/2006/main" noGrp="1"/>
          </p:cNvSpPr>
          <p:nvPr/>
        </p:nvSpPr>
        <p:spPr>
          <a:xfrm xmlns:a="http://schemas.openxmlformats.org/drawingml/2006/main">
            <a:off x="457200" y="533400"/>
            <a:ext cx="11277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150" b="1">
                <a:solidFill>
                  <a:srgbClr val="111827"/>
                </a:solidFill>
              </a:defRPr>
            </a:pPr>
            <a:r>
              <a:rPr sz="3150" b="1">
                <a:solidFill>
                  <a:srgbClr val="111827"/>
                </a:solidFill>
              </a:rPr>
              <a:t>The template discriminates among regime states</a:t>
            </a:r>
          </a:p>
        </p:txBody>
      </p:sp>
      <p:sp>
        <p:nvSpPr>
          <p:cNvPr id="3" name="">
            <a:extLst xmlns:a="http://schemas.openxmlformats.org/drawingml/2006/main">
              <a:ext uri="{FF2B5EF4-FFF2-40B4-BE49-F238E27FC236}">
                <a16:creationId xmlns:a16="http://schemas.microsoft.com/office/drawing/2014/main" id="{61C6549B-5323-49AB-86FE-12A6219E664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AB66540A-36D5-4293-90CD-513280EFF6B2}"/>
              </a:ext>
            </a:extLst>
          </p:cNvPr>
          <p:cNvSpPr>
            <a:spLocks xmlns:a="http://schemas.openxmlformats.org/drawingml/2006/main" noGrp="1"/>
          </p:cNvSpPr>
          <p:nvPr/>
        </p:nvSpPr>
        <p:spPr>
          <a:xfrm xmlns:a="http://schemas.openxmlformats.org/drawingml/2006/main">
            <a:off x="457200" y="6515100"/>
            <a:ext cx="447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0">
                <a:solidFill>
                  <a:srgbClr val="667384"/>
                </a:solidFill>
              </a:defRPr>
            </a:pPr>
            <a:r>
              <a:rPr sz="900" b="0">
                <a:solidFill>
                  <a:srgbClr val="667384"/>
                </a:solidFill>
              </a:rPr>
              <a:t>129 instruments | adjusted daily | 2018–2023</a:t>
            </a:r>
          </a:p>
        </p:txBody>
      </p:sp>
      <p:sp>
        <p:nvSpPr>
          <p:cNvPr id="5" name="">
            <a:extLst xmlns:a="http://schemas.openxmlformats.org/drawingml/2006/main">
              <a:ext uri="{FF2B5EF4-FFF2-40B4-BE49-F238E27FC236}">
                <a16:creationId xmlns:a16="http://schemas.microsoft.com/office/drawing/2014/main" id="{80464724-1A14-4FD8-850E-D12532482D4B}"/>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1 1 1</a:t>
            </a:r>
          </a:p>
        </p:txBody>
      </p:sp>
      <p:sp>
        <p:nvSpPr>
          <p:cNvPr id="6" name="">
            <a:extLst xmlns:a="http://schemas.openxmlformats.org/drawingml/2006/main">
              <a:ext uri="{FF2B5EF4-FFF2-40B4-BE49-F238E27FC236}">
                <a16:creationId xmlns:a16="http://schemas.microsoft.com/office/drawing/2014/main" id="{524E2615-75C4-4AA6-ABE4-136D8832EEB7}"/>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oundRect">
            <a:avLst>
              <a:gd name="adj" fmla="val 2330"/>
            </a:avLst>
          </a:prstGeom>
          <a:solidFill xmlns:a="http://schemas.openxmlformats.org/drawingml/2006/main">
            <a:srgbClr val="FFFFFF"/>
          </a:solidFill>
          <a:ln xmlns:a="http://schemas.openxmlformats.org/drawingml/2006/main" w="9525">
            <a:solidFill>
              <a:srgbClr val="D7DBE2"/>
            </a:solidFill>
            <a:prstDash val="solid"/>
          </a:ln>
        </p:spPr>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1bf64916bbc541c5"/>
          <a:stretch xmlns:a="http://schemas.openxmlformats.org/drawingml/2006/main"/>
        </p:blipFill>
        <p:spPr>
          <a:xfrm xmlns:a="http://schemas.openxmlformats.org/drawingml/2006/main">
            <a:off x="2307648" y="1409700"/>
            <a:ext cx="7576705" cy="47625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70A841D9-0367-4243-AA16-BBFC8B49B3F7}"/>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050" b="1">
                <a:solidFill>
                  <a:srgbClr val="111827"/>
                </a:solidFill>
              </a:defRPr>
            </a:pPr>
            <a:r>
              <a:rPr sz="1050" b="1">
                <a:solidFill>
                  <a:srgbClr val="111827"/>
                </a:solidFill>
              </a:rPr>
              <a:t>Trending / ATR-high / signed-down are strongest; signed-up losses are structurally sparse at short horizons.</a:t>
            </a:r>
          </a:p>
        </p:txBody>
      </p:sp>
    </p:spTree>
    <p:extLst>
      <p:ext uri="{BB962C8B-B14F-4D97-AF65-F5344CB8AC3E}">
        <p14:creationId xmlns:p14="http://schemas.microsoft.com/office/powerpoint/2010/main" val="502656321"/>
      </p:ext>
    </p:extLst>
  </p:cSld>
</p:sld>
</file>

<file path=ppt/slides/slide1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E0C2F0D-570F-4839-A4F0-1FC82309B42A}"/>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667384"/>
                </a:solidFill>
              </a:defRPr>
            </a:pPr>
            <a:r>
              <a:rPr sz="1200" b="1">
                <a:solidFill>
                  <a:srgbClr val="667384"/>
                </a:solidFill>
              </a:rPr>
              <a:t>WIDE ATLAS</a:t>
            </a:r>
          </a:p>
        </p:txBody>
      </p:sp>
      <p:sp>
        <p:nvSpPr>
          <p:cNvPr id="2" name="">
            <a:extLst xmlns:a="http://schemas.openxmlformats.org/drawingml/2006/main">
              <a:ext uri="{FF2B5EF4-FFF2-40B4-BE49-F238E27FC236}">
                <a16:creationId xmlns:a16="http://schemas.microsoft.com/office/drawing/2014/main" id="{32C4B316-D2F7-4E51-9D59-AB77085AAAA3}"/>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525" b="1">
                <a:solidFill>
                  <a:srgbClr val="111827"/>
                </a:solidFill>
              </a:defRPr>
            </a:pPr>
            <a:r>
              <a:rPr sz="3525" b="1">
                <a:solidFill>
                  <a:srgbClr val="111827"/>
                </a:solidFill>
              </a:rPr>
              <a:t>Challenge cohorts preserve useful heterogeneity</a:t>
            </a:r>
          </a:p>
        </p:txBody>
      </p:sp>
      <p:sp>
        <p:nvSpPr>
          <p:cNvPr id="3" name="">
            <a:extLst xmlns:a="http://schemas.openxmlformats.org/drawingml/2006/main">
              <a:ext uri="{FF2B5EF4-FFF2-40B4-BE49-F238E27FC236}">
                <a16:creationId xmlns:a16="http://schemas.microsoft.com/office/drawing/2014/main" id="{B63D6A63-315C-4128-BBD2-A189ED330EE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60137A8B-25E2-4ECC-8FC3-3ACF162365BF}"/>
              </a:ext>
            </a:extLst>
          </p:cNvPr>
          <p:cNvSpPr>
            <a:spLocks xmlns:a="http://schemas.openxmlformats.org/drawingml/2006/main" noGrp="1"/>
          </p:cNvSpPr>
          <p:nvPr/>
        </p:nvSpPr>
        <p:spPr>
          <a:xfrm xmlns:a="http://schemas.openxmlformats.org/drawingml/2006/main">
            <a:off x="457200" y="6515100"/>
            <a:ext cx="447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0">
                <a:solidFill>
                  <a:srgbClr val="667384"/>
                </a:solidFill>
              </a:defRPr>
            </a:pPr>
            <a:r>
              <a:rPr sz="900" b="0">
                <a:solidFill>
                  <a:srgbClr val="667384"/>
                </a:solidFill>
              </a:rPr>
              <a:t>129 instruments | adjusted daily | 2018–2023</a:t>
            </a:r>
          </a:p>
        </p:txBody>
      </p:sp>
      <p:sp>
        <p:nvSpPr>
          <p:cNvPr id="5" name="">
            <a:extLst xmlns:a="http://schemas.openxmlformats.org/drawingml/2006/main">
              <a:ext uri="{FF2B5EF4-FFF2-40B4-BE49-F238E27FC236}">
                <a16:creationId xmlns:a16="http://schemas.microsoft.com/office/drawing/2014/main" id="{9978E653-0376-4341-AA57-2B3A9AA83F73}"/>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112</a:t>
            </a:r>
          </a:p>
        </p:txBody>
      </p:sp>
      <p:sp>
        <p:nvSpPr>
          <p:cNvPr id="6" name="">
            <a:extLst xmlns:a="http://schemas.openxmlformats.org/drawingml/2006/main">
              <a:ext uri="{FF2B5EF4-FFF2-40B4-BE49-F238E27FC236}">
                <a16:creationId xmlns:a16="http://schemas.microsoft.com/office/drawing/2014/main" id="{DF56FD39-2193-4C27-804A-0AE874F5E78E}"/>
              </a:ext>
            </a:extLst>
          </p:cNvPr>
          <p:cNvSpPr>
            <a:spLocks xmlns:a="http://schemas.openxmlformats.org/drawingml/2006/main" noGrp="1"/>
          </p:cNvSpPr>
          <p:nvPr/>
        </p:nvSpPr>
        <p:spPr>
          <a:xfrm xmlns:a="http://schemas.openxmlformats.org/drawingml/2006/main">
            <a:off x="552450" y="1428750"/>
            <a:ext cx="5334000" cy="4667250"/>
          </a:xfrm>
          <a:prstGeom xmlns:a="http://schemas.openxmlformats.org/drawingml/2006/main" prst="roundRect">
            <a:avLst>
              <a:gd name="adj" fmla="val 2449"/>
            </a:avLst>
          </a:prstGeom>
          <a:solidFill xmlns:a="http://schemas.openxmlformats.org/drawingml/2006/main">
            <a:srgbClr val="FFFFFF"/>
          </a:solidFill>
          <a:ln xmlns:a="http://schemas.openxmlformats.org/drawingml/2006/main" w="9525">
            <a:solidFill>
              <a:srgbClr val="D7DBE2"/>
            </a:solidFill>
            <a:prstDash val="solid"/>
          </a:ln>
        </p:spPr>
      </p:sp>
      <p:sp>
        <p:nvSpPr>
          <p:cNvPr id="7" name="">
            <a:extLst xmlns:a="http://schemas.openxmlformats.org/drawingml/2006/main">
              <a:ext uri="{FF2B5EF4-FFF2-40B4-BE49-F238E27FC236}">
                <a16:creationId xmlns:a16="http://schemas.microsoft.com/office/drawing/2014/main" id="{C2A0D3EE-3DC1-40CD-96F5-3C228D706FFC}"/>
              </a:ext>
            </a:extLst>
          </p:cNvPr>
          <p:cNvSpPr>
            <a:spLocks xmlns:a="http://schemas.openxmlformats.org/drawingml/2006/main" noGrp="1"/>
          </p:cNvSpPr>
          <p:nvPr/>
        </p:nvSpPr>
        <p:spPr>
          <a:xfrm xmlns:a="http://schemas.openxmlformats.org/drawingml/2006/main">
            <a:off x="6305550" y="1428750"/>
            <a:ext cx="5124450" cy="4667250"/>
          </a:xfrm>
          <a:prstGeom xmlns:a="http://schemas.openxmlformats.org/drawingml/2006/main" prst="roundRect">
            <a:avLst>
              <a:gd name="adj" fmla="val 2449"/>
            </a:avLst>
          </a:prstGeom>
          <a:solidFill xmlns:a="http://schemas.openxmlformats.org/drawingml/2006/main">
            <a:srgbClr val="FFFFFF"/>
          </a:solidFill>
          <a:ln xmlns:a="http://schemas.openxmlformats.org/drawingml/2006/main" w="9525">
            <a:solidFill>
              <a:srgbClr val="D7DBE2"/>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d0449cefd71b40fa"/>
          <a:stretch xmlns:a="http://schemas.openxmlformats.org/drawingml/2006/main"/>
        </p:blipFill>
        <p:spPr>
          <a:xfrm xmlns:a="http://schemas.openxmlformats.org/drawingml/2006/main">
            <a:off x="685800" y="1997449"/>
            <a:ext cx="5067300" cy="3129803"/>
          </a:xfrm>
          <a:prstGeom xmlns:a="http://schemas.openxmlformats.org/drawingml/2006/main" prst="rect">
            <a:avLst/>
          </a:prstGeom>
        </p:spPr>
      </p:pic>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7b8787e1b56c47c3"/>
          <a:stretch xmlns:a="http://schemas.openxmlformats.org/drawingml/2006/main"/>
        </p:blipFill>
        <p:spPr>
          <a:xfrm xmlns:a="http://schemas.openxmlformats.org/drawingml/2006/main">
            <a:off x="6477000" y="1758373"/>
            <a:ext cx="4762500" cy="360795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BA3CBFF9-799F-4FAA-B24D-BE665753B658}"/>
              </a:ext>
            </a:extLst>
          </p:cNvPr>
          <p:cNvSpPr>
            <a:spLocks xmlns:a="http://schemas.openxmlformats.org/drawingml/2006/main" noGrp="1"/>
          </p:cNvSpPr>
          <p:nvPr/>
        </p:nvSpPr>
        <p:spPr>
          <a:xfrm xmlns:a="http://schemas.openxmlformats.org/drawingml/2006/main">
            <a:off x="781050" y="5619750"/>
            <a:ext cx="495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111827"/>
                </a:solidFill>
              </a:defRPr>
            </a:pPr>
            <a:r>
              <a:rPr sz="1200" b="1">
                <a:solidFill>
                  <a:srgbClr val="111827"/>
                </a:solidFill>
              </a:rPr>
              <a:t>Equity ETFs are strongest; non-equity proxies start near zero.</a:t>
            </a:r>
          </a:p>
        </p:txBody>
      </p:sp>
      <p:sp>
        <p:nvSpPr>
          <p:cNvPr id="11" name="">
            <a:extLst xmlns:a="http://schemas.openxmlformats.org/drawingml/2006/main">
              <a:ext uri="{FF2B5EF4-FFF2-40B4-BE49-F238E27FC236}">
                <a16:creationId xmlns:a16="http://schemas.microsoft.com/office/drawing/2014/main" id="{D776E3E8-FC88-4BFA-AE24-6E74E9B218F3}"/>
              </a:ext>
            </a:extLst>
          </p:cNvPr>
          <p:cNvSpPr>
            <a:spLocks xmlns:a="http://schemas.openxmlformats.org/drawingml/2006/main" noGrp="1"/>
          </p:cNvSpPr>
          <p:nvPr/>
        </p:nvSpPr>
        <p:spPr>
          <a:xfrm xmlns:a="http://schemas.openxmlformats.org/drawingml/2006/main">
            <a:off x="6496050" y="56197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111827"/>
                </a:solidFill>
              </a:defRPr>
            </a:pPr>
            <a:r>
              <a:rPr sz="1200" b="1">
                <a:solidFill>
                  <a:srgbClr val="111827"/>
                </a:solidFill>
              </a:rPr>
              <a:t>Attention breadth rises from 56% at 20 to 75% at 100—still not uniform.</a:t>
            </a:r>
          </a:p>
        </p:txBody>
      </p:sp>
    </p:spTree>
    <p:extLst>
      <p:ext uri="{BB962C8B-B14F-4D97-AF65-F5344CB8AC3E}">
        <p14:creationId xmlns:p14="http://schemas.microsoft.com/office/powerpoint/2010/main" val="1787801498"/>
      </p:ext>
    </p:extLst>
  </p:cSld>
</p:sld>
</file>

<file path=ppt/slides/slide1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F9FBB4A-010C-4C02-9E06-8242E1E02C12}"/>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667384"/>
                </a:solidFill>
              </a:defRPr>
            </a:pPr>
            <a:r>
              <a:rPr sz="1200" b="1">
                <a:solidFill>
                  <a:srgbClr val="667384"/>
                </a:solidFill>
              </a:rPr>
              <a:t>WIDE ATLAS</a:t>
            </a:r>
          </a:p>
        </p:txBody>
      </p:sp>
      <p:sp>
        <p:nvSpPr>
          <p:cNvPr id="2" name="">
            <a:extLst xmlns:a="http://schemas.openxmlformats.org/drawingml/2006/main">
              <a:ext uri="{FF2B5EF4-FFF2-40B4-BE49-F238E27FC236}">
                <a16:creationId xmlns:a16="http://schemas.microsoft.com/office/drawing/2014/main" id="{C1560699-DAA3-4094-B49C-366F0049F86E}"/>
              </a:ext>
            </a:extLst>
          </p:cNvPr>
          <p:cNvSpPr>
            <a:spLocks xmlns:a="http://schemas.openxmlformats.org/drawingml/2006/main" noGrp="1"/>
          </p:cNvSpPr>
          <p:nvPr/>
        </p:nvSpPr>
        <p:spPr>
          <a:xfrm xmlns:a="http://schemas.openxmlformats.org/drawingml/2006/main">
            <a:off x="457200" y="533400"/>
            <a:ext cx="11277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225" b="1">
                <a:solidFill>
                  <a:srgbClr val="111827"/>
                </a:solidFill>
              </a:defRPr>
            </a:pPr>
            <a:r>
              <a:rPr sz="3225" b="1">
                <a:solidFill>
                  <a:srgbClr val="111827"/>
                </a:solidFill>
              </a:rPr>
              <a:t>Broad transport survives; edge remains unopened</a:t>
            </a:r>
          </a:p>
        </p:txBody>
      </p:sp>
      <p:sp>
        <p:nvSpPr>
          <p:cNvPr id="3" name="">
            <a:extLst xmlns:a="http://schemas.openxmlformats.org/drawingml/2006/main">
              <a:ext uri="{FF2B5EF4-FFF2-40B4-BE49-F238E27FC236}">
                <a16:creationId xmlns:a16="http://schemas.microsoft.com/office/drawing/2014/main" id="{F23F225E-2546-450C-8B1E-0A4DEB614AF4}"/>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DF037A57-39AD-4D2F-B0E0-5ECF661DA297}"/>
              </a:ext>
            </a:extLst>
          </p:cNvPr>
          <p:cNvSpPr>
            <a:spLocks xmlns:a="http://schemas.openxmlformats.org/drawingml/2006/main" noGrp="1"/>
          </p:cNvSpPr>
          <p:nvPr/>
        </p:nvSpPr>
        <p:spPr>
          <a:xfrm xmlns:a="http://schemas.openxmlformats.org/drawingml/2006/main">
            <a:off x="457200" y="6515100"/>
            <a:ext cx="447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0">
                <a:solidFill>
                  <a:srgbClr val="667384"/>
                </a:solidFill>
              </a:defRPr>
            </a:pPr>
            <a:r>
              <a:rPr sz="900" b="0">
                <a:solidFill>
                  <a:srgbClr val="667384"/>
                </a:solidFill>
              </a:rPr>
              <a:t>129 instruments | adjusted daily | 2018–2023</a:t>
            </a:r>
          </a:p>
        </p:txBody>
      </p:sp>
      <p:sp>
        <p:nvSpPr>
          <p:cNvPr id="5" name="">
            <a:extLst xmlns:a="http://schemas.openxmlformats.org/drawingml/2006/main">
              <a:ext uri="{FF2B5EF4-FFF2-40B4-BE49-F238E27FC236}">
                <a16:creationId xmlns:a16="http://schemas.microsoft.com/office/drawing/2014/main" id="{10D9C2FF-A272-4878-AD5F-74231357763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
            </a:r>
          </a:p>
        </p:txBody>
      </p:sp>
      <p:sp>
        <p:nvSpPr>
          <p:cNvPr id="6" name="">
            <a:extLst xmlns:a="http://schemas.openxmlformats.org/drawingml/2006/main">
              <a:ext uri="{FF2B5EF4-FFF2-40B4-BE49-F238E27FC236}">
                <a16:creationId xmlns:a16="http://schemas.microsoft.com/office/drawing/2014/main" id="{35DE54EF-24F8-4FFC-BA84-949F528F029A}"/>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2A9D6F"/>
          </a:solidFill>
          <a:ln xmlns:a="http://schemas.openxmlformats.org/drawingml/2006/main" w="9525">
            <a:solidFill>
              <a:srgbClr val="2A9D6F"/>
            </a:solidFill>
            <a:prstDash val="solid"/>
          </a:ln>
        </p:spPr>
      </p:sp>
      <p:sp>
        <p:nvSpPr>
          <p:cNvPr id="7" name="">
            <a:extLst xmlns:a="http://schemas.openxmlformats.org/drawingml/2006/main">
              <a:ext uri="{FF2B5EF4-FFF2-40B4-BE49-F238E27FC236}">
                <a16:creationId xmlns:a16="http://schemas.microsoft.com/office/drawing/2014/main" id="{E52947F4-058F-4062-81DB-6B9DE47FFCE9}"/>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2A9D6F"/>
                </a:solidFill>
              </a:defRPr>
            </a:pPr>
            <a:r>
              <a:rPr sz="1350" b="1">
                <a:solidFill>
                  <a:srgbClr val="2A9D6F"/>
                </a:solidFill>
              </a:rPr>
              <a:t>FOUND</a:t>
            </a:r>
          </a:p>
        </p:txBody>
      </p:sp>
      <p:sp>
        <p:nvSpPr>
          <p:cNvPr id="8" name="">
            <a:extLst xmlns:a="http://schemas.openxmlformats.org/drawingml/2006/main">
              <a:ext uri="{FF2B5EF4-FFF2-40B4-BE49-F238E27FC236}">
                <a16:creationId xmlns:a16="http://schemas.microsoft.com/office/drawing/2014/main" id="{B377D5C6-16C3-4CF1-97F4-0F50813E9589}"/>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111827"/>
                </a:solidFill>
              </a:defRPr>
            </a:pPr>
            <a:r>
              <a:rPr sz="2100" b="1">
                <a:solidFill>
                  <a:srgbClr val="111827"/>
                </a:solidFill>
              </a:rPr>
              <a:t>Sector-wide plateau</a:t>
            </a:r>
          </a:p>
        </p:txBody>
      </p:sp>
      <p:sp>
        <p:nvSpPr>
          <p:cNvPr id="9" name="">
            <a:extLst xmlns:a="http://schemas.openxmlformats.org/drawingml/2006/main">
              <a:ext uri="{FF2B5EF4-FFF2-40B4-BE49-F238E27FC236}">
                <a16:creationId xmlns:a16="http://schemas.microsoft.com/office/drawing/2014/main" id="{B0F47B9F-D94A-4465-B500-7BBB57D94FA2}"/>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0">
                <a:solidFill>
                  <a:srgbClr val="667384"/>
                </a:solidFill>
              </a:defRPr>
            </a:pPr>
            <a:r>
              <a:rPr sz="1500" b="0">
                <a:solidFill>
                  <a:srgbClr val="667384"/>
                </a:solidFill>
              </a:rPr>
              <a:t>64 / 64 primary cells negative</a:t>
            </a:r>
          </a:p>
        </p:txBody>
      </p:sp>
      <p:sp>
        <p:nvSpPr>
          <p:cNvPr id="10" name="">
            <a:extLst xmlns:a="http://schemas.openxmlformats.org/drawingml/2006/main">
              <a:ext uri="{FF2B5EF4-FFF2-40B4-BE49-F238E27FC236}">
                <a16:creationId xmlns:a16="http://schemas.microsoft.com/office/drawing/2014/main" id="{F1A3274D-DEE0-442C-9C60-CD7758718200}"/>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11" name="">
            <a:extLst xmlns:a="http://schemas.openxmlformats.org/drawingml/2006/main">
              <a:ext uri="{FF2B5EF4-FFF2-40B4-BE49-F238E27FC236}">
                <a16:creationId xmlns:a16="http://schemas.microsoft.com/office/drawing/2014/main" id="{FE667C9F-19F3-4E6A-BDEB-035620CFB5B7}"/>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3D8DFF"/>
          </a:solidFill>
          <a:ln xmlns:a="http://schemas.openxmlformats.org/drawingml/2006/main" w="9525">
            <a:solidFill>
              <a:srgbClr val="3D8DFF"/>
            </a:solidFill>
            <a:prstDash val="solid"/>
          </a:ln>
        </p:spPr>
      </p:sp>
      <p:sp>
        <p:nvSpPr>
          <p:cNvPr id="12" name="">
            <a:extLst xmlns:a="http://schemas.openxmlformats.org/drawingml/2006/main">
              <a:ext uri="{FF2B5EF4-FFF2-40B4-BE49-F238E27FC236}">
                <a16:creationId xmlns:a16="http://schemas.microsoft.com/office/drawing/2014/main" id="{6627B09C-0831-475E-A43C-C67ED9E404A2}"/>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3D8DFF"/>
                </a:solidFill>
              </a:defRPr>
            </a:pPr>
            <a:r>
              <a:rPr sz="1350" b="1">
                <a:solidFill>
                  <a:srgbClr val="3D8DFF"/>
                </a:solidFill>
              </a:rPr>
              <a:t>LEARNS</a:t>
            </a:r>
          </a:p>
        </p:txBody>
      </p:sp>
      <p:sp>
        <p:nvSpPr>
          <p:cNvPr id="13" name="">
            <a:extLst xmlns:a="http://schemas.openxmlformats.org/drawingml/2006/main">
              <a:ext uri="{FF2B5EF4-FFF2-40B4-BE49-F238E27FC236}">
                <a16:creationId xmlns:a16="http://schemas.microsoft.com/office/drawing/2014/main" id="{EFF1C8F3-4865-4316-A935-9AD993D124DB}"/>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111827"/>
                </a:solidFill>
              </a:defRPr>
            </a:pPr>
            <a:r>
              <a:rPr sz="2100" b="1">
                <a:solidFill>
                  <a:srgbClr val="111827"/>
                </a:solidFill>
              </a:rPr>
              <a:t>Real heterogeneity</a:t>
            </a:r>
          </a:p>
        </p:txBody>
      </p:sp>
      <p:sp>
        <p:nvSpPr>
          <p:cNvPr id="14" name="">
            <a:extLst xmlns:a="http://schemas.openxmlformats.org/drawingml/2006/main">
              <a:ext uri="{FF2B5EF4-FFF2-40B4-BE49-F238E27FC236}">
                <a16:creationId xmlns:a16="http://schemas.microsoft.com/office/drawing/2014/main" id="{36F37BFF-C5ED-47DE-9449-78312C98D39F}"/>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0">
                <a:solidFill>
                  <a:srgbClr val="667384"/>
                </a:solidFill>
              </a:defRPr>
            </a:pPr>
            <a:r>
              <a:rPr sz="1500" b="0">
                <a:solidFill>
                  <a:srgbClr val="667384"/>
                </a:solidFill>
              </a:rPr>
              <a:t>Health Care flat at 100; controls differ</a:t>
            </a:r>
          </a:p>
        </p:txBody>
      </p:sp>
      <p:sp>
        <p:nvSpPr>
          <p:cNvPr id="15" name="">
            <a:extLst xmlns:a="http://schemas.openxmlformats.org/drawingml/2006/main">
              <a:ext uri="{FF2B5EF4-FFF2-40B4-BE49-F238E27FC236}">
                <a16:creationId xmlns:a16="http://schemas.microsoft.com/office/drawing/2014/main" id="{7DE8CE60-B390-4559-BDF0-3BD962F42DE6}"/>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16" name="">
            <a:extLst xmlns:a="http://schemas.openxmlformats.org/drawingml/2006/main">
              <a:ext uri="{FF2B5EF4-FFF2-40B4-BE49-F238E27FC236}">
                <a16:creationId xmlns:a16="http://schemas.microsoft.com/office/drawing/2014/main" id="{DF135E85-70DC-46F9-A1DD-451CB0F6F4EB}"/>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E45756"/>
          </a:solidFill>
          <a:ln xmlns:a="http://schemas.openxmlformats.org/drawingml/2006/main" w="9525">
            <a:solidFill>
              <a:srgbClr val="E45756"/>
            </a:solidFill>
            <a:prstDash val="solid"/>
          </a:ln>
        </p:spPr>
      </p:sp>
      <p:sp>
        <p:nvSpPr>
          <p:cNvPr id="17" name="">
            <a:extLst xmlns:a="http://schemas.openxmlformats.org/drawingml/2006/main">
              <a:ext uri="{FF2B5EF4-FFF2-40B4-BE49-F238E27FC236}">
                <a16:creationId xmlns:a16="http://schemas.microsoft.com/office/drawing/2014/main" id="{3230B1B0-D776-4E45-9A01-A1C929AE6DE3}"/>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E45756"/>
                </a:solidFill>
              </a:defRPr>
            </a:pPr>
            <a:r>
              <a:rPr sz="1350" b="1">
                <a:solidFill>
                  <a:srgbClr val="E45756"/>
                </a:solidFill>
              </a:rPr>
              <a:t>DOES NOT EARN</a:t>
            </a:r>
          </a:p>
        </p:txBody>
      </p:sp>
      <p:sp>
        <p:nvSpPr>
          <p:cNvPr id="18" name="">
            <a:extLst xmlns:a="http://schemas.openxmlformats.org/drawingml/2006/main">
              <a:ext uri="{FF2B5EF4-FFF2-40B4-BE49-F238E27FC236}">
                <a16:creationId xmlns:a16="http://schemas.microsoft.com/office/drawing/2014/main" id="{688A5B22-3E3C-4637-B245-2DCB84619B58}"/>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111827"/>
                </a:solidFill>
              </a:defRPr>
            </a:pPr>
            <a:r>
              <a:rPr sz="2100" b="1">
                <a:solidFill>
                  <a:srgbClr val="111827"/>
                </a:solidFill>
              </a:rPr>
              <a:t>A strategy or duration</a:t>
            </a:r>
          </a:p>
        </p:txBody>
      </p:sp>
      <p:sp>
        <p:nvSpPr>
          <p:cNvPr id="19" name="">
            <a:extLst xmlns:a="http://schemas.openxmlformats.org/drawingml/2006/main">
              <a:ext uri="{FF2B5EF4-FFF2-40B4-BE49-F238E27FC236}">
                <a16:creationId xmlns:a16="http://schemas.microsoft.com/office/drawing/2014/main" id="{D39E8E59-8053-43C5-B267-26268999D08F}"/>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0">
                <a:solidFill>
                  <a:srgbClr val="667384"/>
                </a:solidFill>
              </a:defRPr>
            </a:pPr>
            <a:r>
              <a:rPr sz="1500" b="0">
                <a:solidFill>
                  <a:srgbClr val="667384"/>
                </a:solidFill>
              </a:rPr>
              <a:t>no edge, causality, or 100-session hold</a:t>
            </a:r>
          </a:p>
        </p:txBody>
      </p:sp>
      <p:sp>
        <p:nvSpPr>
          <p:cNvPr id="20" name="">
            <a:extLst xmlns:a="http://schemas.openxmlformats.org/drawingml/2006/main">
              <a:ext uri="{FF2B5EF4-FFF2-40B4-BE49-F238E27FC236}">
                <a16:creationId xmlns:a16="http://schemas.microsoft.com/office/drawing/2014/main" id="{D06B9F8D-51F2-4114-996E-05370ECBD9FB}"/>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21" name="">
            <a:extLst xmlns:a="http://schemas.openxmlformats.org/drawingml/2006/main">
              <a:ext uri="{FF2B5EF4-FFF2-40B4-BE49-F238E27FC236}">
                <a16:creationId xmlns:a16="http://schemas.microsoft.com/office/drawing/2014/main" id="{9F2FE528-E4C2-46D8-875A-4EACAD2DAF7E}"/>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oundRect">
            <a:avLst>
              <a:gd name="adj" fmla="val 14634"/>
            </a:avLst>
          </a:prstGeom>
          <a:solidFill xmlns:a="http://schemas.openxmlformats.org/drawingml/2006/main">
            <a:srgbClr val="F4F6F8"/>
          </a:solidFill>
          <a:ln xmlns:a="http://schemas.openxmlformats.org/drawingml/2006/main" w="9525">
            <a:solidFill>
              <a:srgbClr val="D7DBE2"/>
            </a:solidFill>
            <a:prstDash val="solid"/>
          </a:ln>
        </p:spPr>
      </p:sp>
      <p:sp>
        <p:nvSpPr>
          <p:cNvPr id="22" name="">
            <a:extLst xmlns:a="http://schemas.openxmlformats.org/drawingml/2006/main">
              <a:ext uri="{FF2B5EF4-FFF2-40B4-BE49-F238E27FC236}">
                <a16:creationId xmlns:a16="http://schemas.microsoft.com/office/drawing/2014/main" id="{BDF133DD-1423-446B-BAD3-98602B284CB5}"/>
              </a:ext>
            </a:extLst>
          </p:cNvPr>
          <p:cNvSpPr>
            <a:spLocks xmlns:a="http://schemas.openxmlformats.org/drawingml/2006/main" noGrp="1"/>
          </p:cNvSpPr>
          <p:nvPr/>
        </p:nvSpPr>
        <p:spPr>
          <a:xfrm xmlns:a="http://schemas.openxmlformats.org/drawingml/2006/main">
            <a:off x="781050" y="5524500"/>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11827"/>
                </a:solidFill>
              </a:defRPr>
            </a:pPr>
            <a:r>
              <a:rPr sz="1500" b="1">
                <a:solidFill>
                  <a:srgbClr val="111827"/>
                </a:solidFill>
              </a:rPr>
              <a:t>Next clean gate</a:t>
            </a:r>
          </a:p>
        </p:txBody>
      </p:sp>
      <p:sp>
        <p:nvSpPr>
          <p:cNvPr id="23" name="">
            <a:extLst xmlns:a="http://schemas.openxmlformats.org/drawingml/2006/main">
              <a:ext uri="{FF2B5EF4-FFF2-40B4-BE49-F238E27FC236}">
                <a16:creationId xmlns:a16="http://schemas.microsoft.com/office/drawing/2014/main" id="{ECA9F984-12B5-4D23-9C93-E90E765B5932}"/>
              </a:ext>
            </a:extLst>
          </p:cNvPr>
          <p:cNvSpPr>
            <a:spLocks xmlns:a="http://schemas.openxmlformats.org/drawingml/2006/main" noGrp="1"/>
          </p:cNvSpPr>
          <p:nvPr/>
        </p:nvSpPr>
        <p:spPr>
          <a:xfrm xmlns:a="http://schemas.openxmlformats.org/drawingml/2006/main">
            <a:off x="3333750" y="5486400"/>
            <a:ext cx="7810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0">
                <a:solidFill>
                  <a:srgbClr val="667384"/>
                </a:solidFill>
              </a:defRPr>
            </a:pPr>
            <a:r>
              <a:rPr sz="1425" b="0">
                <a:solidFill>
                  <a:srgbClr val="667384"/>
                </a:solidFill>
              </a:rPr>
              <a:t>Decompose non-overlapping future blocks—or freeze one compact summary for untouched-time transport. Stop expanding horizons at 100.</a:t>
            </a:r>
          </a:p>
        </p:txBody>
      </p:sp>
      <p:sp>
        <p:nvSpPr>
          <p:cNvPr id="25" name="wide-atlas-section-overlay">
            <a:extLst xmlns:a="http://schemas.openxmlformats.org/drawingml/2006/main">
              <a:ext uri="{FF2B5EF4-FFF2-40B4-BE49-F238E27FC236}">
                <a16:creationId xmlns:a16="http://schemas.microsoft.com/office/drawing/2014/main" id="{8B94774D-028F-4781-8153-B3937880855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667384"/>
                </a:solidFill>
              </a:defRPr>
            </a:pPr>
            <a:r>
              <a:rPr sz="1200" b="1">
                <a:solidFill>
                  <a:srgbClr val="667384"/>
                </a:solidFill>
              </a:rPr>
              <a:t>WIDE ATLAS</a:t>
            </a:r>
          </a:p>
        </p:txBody>
      </p:sp>
      <p:sp>
        <p:nvSpPr>
          <p:cNvPr id="26" name="wide-atlas-page-overlay">
            <a:extLst xmlns:a="http://schemas.openxmlformats.org/drawingml/2006/main">
              <a:ext uri="{FF2B5EF4-FFF2-40B4-BE49-F238E27FC236}">
                <a16:creationId xmlns:a16="http://schemas.microsoft.com/office/drawing/2014/main" id="{8830D044-4387-4D1D-8F6A-ACA28BB45CB6}"/>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a:solidFill>
                  <a:srgbClr val="667384"/>
                </a:solidFill>
              </a:defRPr>
            </a:pPr>
            <a:r>
              <a:rPr sz="900">
                <a:solidFill>
                  <a:srgbClr val="667384"/>
                </a:solidFill>
              </a:rPr>
              <a:t>113</a:t>
            </a:r>
          </a:p>
        </p:txBody>
      </p:sp>
    </p:spTree>
    <p:extLst>
      <p:ext uri="{BB962C8B-B14F-4D97-AF65-F5344CB8AC3E}">
        <p14:creationId xmlns:p14="http://schemas.microsoft.com/office/powerpoint/2010/main" val="1710746916"/>
      </p:ext>
    </p:extLst>
  </p:cSld>
</p:sld>
</file>

<file path=ppt/slides/slide1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B12B881-2D87-4470-A9E2-CA40D710634E}"/>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E45756"/>
                </a:solidFill>
              </a:defRPr>
            </a:pPr>
            <a:r>
              <a:rPr sz="1350" b="1">
                <a:solidFill>
                  <a:srgbClr val="E45756"/>
                </a:solidFill>
              </a:rPr>
              <a:t>FULL VOCABULARY</a:t>
            </a:r>
          </a:p>
        </p:txBody>
      </p:sp>
      <p:sp>
        <p:nvSpPr>
          <p:cNvPr id="2" name="">
            <a:extLst xmlns:a="http://schemas.openxmlformats.org/drawingml/2006/main">
              <a:ext uri="{FF2B5EF4-FFF2-40B4-BE49-F238E27FC236}">
                <a16:creationId xmlns:a16="http://schemas.microsoft.com/office/drawing/2014/main" id="{0BB2094F-C042-49AB-BE8C-0ECFD22457DD}"/>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350" b="1">
                <a:solidFill>
                  <a:srgbClr val="111827"/>
                </a:solidFill>
              </a:defRPr>
            </a:pPr>
            <a:r>
              <a:rPr sz="4350" b="1">
                <a:solidFill>
                  <a:srgbClr val="111827"/>
                </a:solidFill>
              </a:rPr>
              <a:t>The atlas deserves a complete view</a:t>
            </a:r>
          </a:p>
        </p:txBody>
      </p:sp>
      <p:sp>
        <p:nvSpPr>
          <p:cNvPr id="3" name="">
            <a:extLst xmlns:a="http://schemas.openxmlformats.org/drawingml/2006/main">
              <a:ext uri="{FF2B5EF4-FFF2-40B4-BE49-F238E27FC236}">
                <a16:creationId xmlns:a16="http://schemas.microsoft.com/office/drawing/2014/main" id="{D8394FB8-5765-4318-8A56-6DACECFE912E}"/>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E45756"/>
          </a:solidFill>
          <a:ln xmlns:a="http://schemas.openxmlformats.org/drawingml/2006/main" w="9525">
            <a:solidFill>
              <a:srgbClr val="E45756"/>
            </a:solidFill>
            <a:prstDash val="solid"/>
          </a:ln>
        </p:spPr>
      </p:sp>
      <p:sp>
        <p:nvSpPr>
          <p:cNvPr id="4" name="">
            <a:extLst xmlns:a="http://schemas.openxmlformats.org/drawingml/2006/main">
              <a:ext uri="{FF2B5EF4-FFF2-40B4-BE49-F238E27FC236}">
                <a16:creationId xmlns:a16="http://schemas.microsoft.com/office/drawing/2014/main" id="{67E3D676-3E4E-40CF-9FFA-FDD3E7F4C6B2}"/>
              </a:ext>
            </a:extLst>
          </p:cNvPr>
          <p:cNvSpPr>
            <a:spLocks xmlns:a="http://schemas.openxmlformats.org/drawingml/2006/main" noGrp="1"/>
          </p:cNvSpPr>
          <p:nvPr/>
        </p:nvSpPr>
        <p:spPr>
          <a:xfrm xmlns:a="http://schemas.openxmlformats.org/drawingml/2006/main">
            <a:off x="457200" y="4171950"/>
            <a:ext cx="9906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025" b="0">
                <a:solidFill>
                  <a:srgbClr val="667384"/>
                </a:solidFill>
              </a:defRPr>
            </a:pPr>
            <a:r>
              <a:rPr sz="2025" b="0">
                <a:solidFill>
                  <a:srgbClr val="667384"/>
                </a:solidFill>
              </a:rPr>
              <a:t>Restore the original short horizons and show every frozen filter on both prior-sign branches.</a:t>
            </a:r>
          </a:p>
        </p:txBody>
      </p:sp>
      <p:sp>
        <p:nvSpPr>
          <p:cNvPr id="5" name="">
            <a:extLst xmlns:a="http://schemas.openxmlformats.org/drawingml/2006/main">
              <a:ext uri="{FF2B5EF4-FFF2-40B4-BE49-F238E27FC236}">
                <a16:creationId xmlns:a16="http://schemas.microsoft.com/office/drawing/2014/main" id="{AF79BB13-9AEC-4C77-9A8C-3203F83002E1}"/>
              </a:ext>
            </a:extLst>
          </p:cNvPr>
          <p:cNvSpPr>
            <a:spLocks xmlns:a="http://schemas.openxmlformats.org/drawingml/2006/main" noGrp="1"/>
          </p:cNvSpPr>
          <p:nvPr/>
        </p:nvSpPr>
        <p:spPr>
          <a:xfrm xmlns:a="http://schemas.openxmlformats.org/drawingml/2006/main">
            <a:off x="457200" y="5429250"/>
            <a:ext cx="1047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75" b="0">
                <a:solidFill>
                  <a:srgbClr val="667384"/>
                </a:solidFill>
              </a:defRPr>
            </a:pPr>
            <a:r>
              <a:rPr sz="1575" b="0">
                <a:solidFill>
                  <a:srgbClr val="667384"/>
                </a:solidFill>
              </a:rPr>
              <a:t>No new asset, filter, or endpoint was chosen after looking at the results.</a:t>
            </a:r>
          </a:p>
        </p:txBody>
      </p:sp>
      <p:sp>
        <p:nvSpPr>
          <p:cNvPr id="6" name="">
            <a:extLst xmlns:a="http://schemas.openxmlformats.org/drawingml/2006/main">
              <a:ext uri="{FF2B5EF4-FFF2-40B4-BE49-F238E27FC236}">
                <a16:creationId xmlns:a16="http://schemas.microsoft.com/office/drawing/2014/main" id="{AD589277-BA8D-465E-8FE0-58FC0F7326BE}"/>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114</a:t>
            </a:r>
          </a:p>
        </p:txBody>
      </p:sp>
    </p:spTree>
    <p:extLst>
      <p:ext uri="{BB962C8B-B14F-4D97-AF65-F5344CB8AC3E}">
        <p14:creationId xmlns:p14="http://schemas.microsoft.com/office/powerpoint/2010/main" val="1697167073"/>
      </p:ext>
    </p:extLst>
  </p:cSld>
</p:sld>
</file>

<file path=ppt/slides/slide1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F975FA3A-7B7A-4DCE-BE5A-84E74DC1D0F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667384"/>
                </a:solidFill>
              </a:defRPr>
            </a:pPr>
            <a:r>
              <a:rPr sz="1200" b="1">
                <a:solidFill>
                  <a:srgbClr val="667384"/>
                </a:solidFill>
              </a:rPr>
              <a:t>FULL VOCABULARY</a:t>
            </a:r>
          </a:p>
        </p:txBody>
      </p:sp>
      <p:sp>
        <p:nvSpPr>
          <p:cNvPr id="2" name="">
            <a:extLst xmlns:a="http://schemas.openxmlformats.org/drawingml/2006/main">
              <a:ext uri="{FF2B5EF4-FFF2-40B4-BE49-F238E27FC236}">
                <a16:creationId xmlns:a16="http://schemas.microsoft.com/office/drawing/2014/main" id="{B6472F5C-DF7D-407E-8191-2836C3E3AAED}"/>
              </a:ext>
            </a:extLst>
          </p:cNvPr>
          <p:cNvSpPr>
            <a:spLocks xmlns:a="http://schemas.openxmlformats.org/drawingml/2006/main" noGrp="1"/>
          </p:cNvSpPr>
          <p:nvPr/>
        </p:nvSpPr>
        <p:spPr>
          <a:xfrm xmlns:a="http://schemas.openxmlformats.org/drawingml/2006/main">
            <a:off x="457200" y="533400"/>
            <a:ext cx="11277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150" b="1">
                <a:solidFill>
                  <a:srgbClr val="111827"/>
                </a:solidFill>
              </a:defRPr>
            </a:pPr>
            <a:r>
              <a:rPr sz="3150" b="1">
                <a:solidFill>
                  <a:srgbClr val="111827"/>
                </a:solidFill>
              </a:rPr>
              <a:t>The full vocabulary is frozen before comparison</a:t>
            </a:r>
          </a:p>
        </p:txBody>
      </p:sp>
      <p:sp>
        <p:nvSpPr>
          <p:cNvPr id="3" name="">
            <a:extLst xmlns:a="http://schemas.openxmlformats.org/drawingml/2006/main">
              <a:ext uri="{FF2B5EF4-FFF2-40B4-BE49-F238E27FC236}">
                <a16:creationId xmlns:a16="http://schemas.microsoft.com/office/drawing/2014/main" id="{3E456945-A860-45BF-838A-84CF2A0FAE4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FB90F6BF-7D1F-42F0-8870-18EA12E44041}"/>
              </a:ext>
            </a:extLst>
          </p:cNvPr>
          <p:cNvSpPr>
            <a:spLocks xmlns:a="http://schemas.openxmlformats.org/drawingml/2006/main" noGrp="1"/>
          </p:cNvSpPr>
          <p:nvPr/>
        </p:nvSpPr>
        <p:spPr>
          <a:xfrm xmlns:a="http://schemas.openxmlformats.org/drawingml/2006/main">
            <a:off x="457200" y="6515100"/>
            <a:ext cx="447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0">
                <a:solidFill>
                  <a:srgbClr val="667384"/>
                </a:solidFill>
              </a:defRPr>
            </a:pPr>
            <a:r>
              <a:rPr sz="900" b="0">
                <a:solidFill>
                  <a:srgbClr val="667384"/>
                </a:solidFill>
              </a:rPr>
              <a:t>129 instruments | 15 horizons | 9 filters | 2 branches | 2018–2023</a:t>
            </a:r>
          </a:p>
        </p:txBody>
      </p:sp>
      <p:sp>
        <p:nvSpPr>
          <p:cNvPr id="5" name="">
            <a:extLst xmlns:a="http://schemas.openxmlformats.org/drawingml/2006/main">
              <a:ext uri="{FF2B5EF4-FFF2-40B4-BE49-F238E27FC236}">
                <a16:creationId xmlns:a16="http://schemas.microsoft.com/office/drawing/2014/main" id="{28A654AA-807A-4DD7-8B1E-550BE487BBDE}"/>
              </a:ext>
            </a:extLst>
          </p:cNvPr>
          <p:cNvSpPr>
            <a:spLocks xmlns:a="http://schemas.openxmlformats.org/drawingml/2006/main" noGrp="1"/>
          </p:cNvSpPr>
          <p:nvPr/>
        </p:nvSpPr>
        <p:spPr>
          <a:xfrm xmlns:a="http://schemas.openxmlformats.org/drawingml/2006/main">
            <a:off x="11049000" y="6496050"/>
            <a:ext cx="685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00" b="0">
                <a:solidFill>
                  <a:srgbClr val="667384"/>
                </a:solidFill>
              </a:defRPr>
            </a:pPr>
            <a:r>
              <a:rPr sz="900" b="0">
                <a:solidFill>
                  <a:srgbClr val="667384"/>
                </a:solidFill>
              </a:rPr>
              <a:t>115</a:t>
            </a:r>
          </a:p>
        </p:txBody>
      </p:sp>
      <p:sp>
        <p:nvSpPr>
          <p:cNvPr id="6" name="">
            <a:extLst xmlns:a="http://schemas.openxmlformats.org/drawingml/2006/main">
              <a:ext uri="{FF2B5EF4-FFF2-40B4-BE49-F238E27FC236}">
                <a16:creationId xmlns:a16="http://schemas.microsoft.com/office/drawing/2014/main" id="{1A48904E-C2B5-4030-9F5C-135F8E81A8CF}"/>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3D8DFF"/>
          </a:solidFill>
          <a:ln xmlns:a="http://schemas.openxmlformats.org/drawingml/2006/main" w="9525">
            <a:solidFill>
              <a:srgbClr val="3D8DFF"/>
            </a:solidFill>
            <a:prstDash val="solid"/>
          </a:ln>
        </p:spPr>
      </p:sp>
      <p:sp>
        <p:nvSpPr>
          <p:cNvPr id="7" name="">
            <a:extLst xmlns:a="http://schemas.openxmlformats.org/drawingml/2006/main">
              <a:ext uri="{FF2B5EF4-FFF2-40B4-BE49-F238E27FC236}">
                <a16:creationId xmlns:a16="http://schemas.microsoft.com/office/drawing/2014/main" id="{3E791499-974A-45B1-BE0E-27A91CC8E0C3}"/>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3D8DFF"/>
                </a:solidFill>
              </a:defRPr>
            </a:pPr>
            <a:r>
              <a:rPr sz="1350" b="1">
                <a:solidFill>
                  <a:srgbClr val="3D8DFF"/>
                </a:solidFill>
              </a:rPr>
              <a:t>HORIZONS</a:t>
            </a:r>
          </a:p>
        </p:txBody>
      </p:sp>
      <p:sp>
        <p:nvSpPr>
          <p:cNvPr id="8" name="">
            <a:extLst xmlns:a="http://schemas.openxmlformats.org/drawingml/2006/main">
              <a:ext uri="{FF2B5EF4-FFF2-40B4-BE49-F238E27FC236}">
                <a16:creationId xmlns:a16="http://schemas.microsoft.com/office/drawing/2014/main" id="{C3A67979-9151-4748-A221-F0070561B033}"/>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111827"/>
                </a:solidFill>
              </a:defRPr>
            </a:pPr>
            <a:r>
              <a:rPr sz="2100" b="1">
                <a:solidFill>
                  <a:srgbClr val="111827"/>
                </a:solidFill>
              </a:rPr>
              <a:t>15 × 15</a:t>
            </a:r>
          </a:p>
        </p:txBody>
      </p:sp>
      <p:sp>
        <p:nvSpPr>
          <p:cNvPr id="9" name="">
            <a:extLst xmlns:a="http://schemas.openxmlformats.org/drawingml/2006/main">
              <a:ext uri="{FF2B5EF4-FFF2-40B4-BE49-F238E27FC236}">
                <a16:creationId xmlns:a16="http://schemas.microsoft.com/office/drawing/2014/main" id="{6FFD5673-B6D2-4155-A59A-F3191F8D8752}"/>
              </a:ext>
            </a:extLst>
          </p:cNvPr>
          <p:cNvSpPr>
            <a:spLocks xmlns:a="http://schemas.openxmlformats.org/drawingml/2006/main" noGrp="1"/>
          </p:cNvSpPr>
          <p:nvPr/>
        </p:nvSpPr>
        <p:spPr>
          <a:xfrm xmlns:a="http://schemas.openxmlformats.org/drawingml/2006/main">
            <a:off x="7924800" y="1581150"/>
            <a:ext cx="3695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0">
                <a:solidFill>
                  <a:srgbClr val="667384"/>
                </a:solidFill>
              </a:defRPr>
            </a:pPr>
            <a:r>
              <a:rPr sz="1275" b="0">
                <a:solidFill>
                  <a:srgbClr val="667384"/>
                </a:solidFill>
              </a:rPr>
              <a:t>1,2,3,4,5,10,15,20,25,30,35,40,50,75,100</a:t>
            </a:r>
          </a:p>
        </p:txBody>
      </p:sp>
      <p:sp>
        <p:nvSpPr>
          <p:cNvPr id="10" name="">
            <a:extLst xmlns:a="http://schemas.openxmlformats.org/drawingml/2006/main">
              <a:ext uri="{FF2B5EF4-FFF2-40B4-BE49-F238E27FC236}">
                <a16:creationId xmlns:a16="http://schemas.microsoft.com/office/drawing/2014/main" id="{D3FB0AB3-A3CD-4683-9CB0-471C0A7FDAB2}"/>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11" name="">
            <a:extLst xmlns:a="http://schemas.openxmlformats.org/drawingml/2006/main">
              <a:ext uri="{FF2B5EF4-FFF2-40B4-BE49-F238E27FC236}">
                <a16:creationId xmlns:a16="http://schemas.microsoft.com/office/drawing/2014/main" id="{9005535B-6C8D-445C-87D8-2FE19E86F0B1}"/>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F59E0B"/>
          </a:solidFill>
          <a:ln xmlns:a="http://schemas.openxmlformats.org/drawingml/2006/main" w="9525">
            <a:solidFill>
              <a:srgbClr val="F59E0B"/>
            </a:solidFill>
            <a:prstDash val="solid"/>
          </a:ln>
        </p:spPr>
      </p:sp>
      <p:sp>
        <p:nvSpPr>
          <p:cNvPr id="12" name="">
            <a:extLst xmlns:a="http://schemas.openxmlformats.org/drawingml/2006/main">
              <a:ext uri="{FF2B5EF4-FFF2-40B4-BE49-F238E27FC236}">
                <a16:creationId xmlns:a16="http://schemas.microsoft.com/office/drawing/2014/main" id="{264F1D68-325D-4B3B-8F7C-00326724A0A8}"/>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F59E0B"/>
                </a:solidFill>
              </a:defRPr>
            </a:pPr>
            <a:r>
              <a:rPr sz="1350" b="1">
                <a:solidFill>
                  <a:srgbClr val="F59E0B"/>
                </a:solidFill>
              </a:rPr>
              <a:t>FILTERS</a:t>
            </a:r>
          </a:p>
        </p:txBody>
      </p:sp>
      <p:sp>
        <p:nvSpPr>
          <p:cNvPr id="13" name="">
            <a:extLst xmlns:a="http://schemas.openxmlformats.org/drawingml/2006/main">
              <a:ext uri="{FF2B5EF4-FFF2-40B4-BE49-F238E27FC236}">
                <a16:creationId xmlns:a16="http://schemas.microsoft.com/office/drawing/2014/main" id="{5EDC81BC-9F5C-4D4F-B28E-718205D4835A}"/>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111827"/>
                </a:solidFill>
              </a:defRPr>
            </a:pPr>
            <a:r>
              <a:rPr sz="2100" b="1">
                <a:solidFill>
                  <a:srgbClr val="111827"/>
                </a:solidFill>
              </a:rPr>
              <a:t>9 states</a:t>
            </a:r>
          </a:p>
        </p:txBody>
      </p:sp>
      <p:sp>
        <p:nvSpPr>
          <p:cNvPr id="14" name="">
            <a:extLst xmlns:a="http://schemas.openxmlformats.org/drawingml/2006/main">
              <a:ext uri="{FF2B5EF4-FFF2-40B4-BE49-F238E27FC236}">
                <a16:creationId xmlns:a16="http://schemas.microsoft.com/office/drawing/2014/main" id="{9EC97F66-8EE5-4A0F-BBD5-E69B07182269}"/>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0">
                <a:solidFill>
                  <a:srgbClr val="667384"/>
                </a:solidFill>
              </a:defRPr>
            </a:pPr>
            <a:r>
              <a:rPr sz="1500" b="0">
                <a:solidFill>
                  <a:srgbClr val="667384"/>
                </a:solidFill>
              </a:rPr>
              <a:t>Unfiltered • ER20 • ATR% • signed ER20</a:t>
            </a:r>
          </a:p>
        </p:txBody>
      </p:sp>
      <p:sp>
        <p:nvSpPr>
          <p:cNvPr id="15" name="">
            <a:extLst xmlns:a="http://schemas.openxmlformats.org/drawingml/2006/main">
              <a:ext uri="{FF2B5EF4-FFF2-40B4-BE49-F238E27FC236}">
                <a16:creationId xmlns:a16="http://schemas.microsoft.com/office/drawing/2014/main" id="{380D8078-2C96-47C8-BCCB-9A9EFA500204}"/>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16" name="">
            <a:extLst xmlns:a="http://schemas.openxmlformats.org/drawingml/2006/main">
              <a:ext uri="{FF2B5EF4-FFF2-40B4-BE49-F238E27FC236}">
                <a16:creationId xmlns:a16="http://schemas.microsoft.com/office/drawing/2014/main" id="{4A3796B2-0890-4697-AB3D-35737FA179DB}"/>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2A9D6F"/>
          </a:solidFill>
          <a:ln xmlns:a="http://schemas.openxmlformats.org/drawingml/2006/main" w="9525">
            <a:solidFill>
              <a:srgbClr val="2A9D6F"/>
            </a:solidFill>
            <a:prstDash val="solid"/>
          </a:ln>
        </p:spPr>
      </p:sp>
      <p:sp>
        <p:nvSpPr>
          <p:cNvPr id="17" name="">
            <a:extLst xmlns:a="http://schemas.openxmlformats.org/drawingml/2006/main">
              <a:ext uri="{FF2B5EF4-FFF2-40B4-BE49-F238E27FC236}">
                <a16:creationId xmlns:a16="http://schemas.microsoft.com/office/drawing/2014/main" id="{3A5137E0-9E7E-4A70-8E4C-A559B3A7F0DD}"/>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2A9D6F"/>
                </a:solidFill>
              </a:defRPr>
            </a:pPr>
            <a:r>
              <a:rPr sz="1350" b="1">
                <a:solidFill>
                  <a:srgbClr val="2A9D6F"/>
                </a:solidFill>
              </a:rPr>
              <a:t>BRANCHES</a:t>
            </a:r>
          </a:p>
        </p:txBody>
      </p:sp>
      <p:sp>
        <p:nvSpPr>
          <p:cNvPr id="18" name="">
            <a:extLst xmlns:a="http://schemas.openxmlformats.org/drawingml/2006/main">
              <a:ext uri="{FF2B5EF4-FFF2-40B4-BE49-F238E27FC236}">
                <a16:creationId xmlns:a16="http://schemas.microsoft.com/office/drawing/2014/main" id="{965FB54C-B8BA-41CE-8A2F-CF4B5EA785CE}"/>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111827"/>
                </a:solidFill>
              </a:defRPr>
            </a:pPr>
            <a:r>
              <a:rPr sz="2100" b="1">
                <a:solidFill>
                  <a:srgbClr val="111827"/>
                </a:solidFill>
              </a:rPr>
              <a:t>2 prior signs</a:t>
            </a:r>
          </a:p>
        </p:txBody>
      </p:sp>
      <p:sp>
        <p:nvSpPr>
          <p:cNvPr id="19" name="">
            <a:extLst xmlns:a="http://schemas.openxmlformats.org/drawingml/2006/main">
              <a:ext uri="{FF2B5EF4-FFF2-40B4-BE49-F238E27FC236}">
                <a16:creationId xmlns:a16="http://schemas.microsoft.com/office/drawing/2014/main" id="{C90810C4-3E3B-413B-BE3A-0D0CBA54E686}"/>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0">
                <a:solidFill>
                  <a:srgbClr val="667384"/>
                </a:solidFill>
              </a:defRPr>
            </a:pPr>
            <a:r>
              <a:rPr sz="1500" b="0">
                <a:solidFill>
                  <a:srgbClr val="667384"/>
                </a:solidFill>
              </a:rPr>
              <a:t>Rebound / continuation • continuation / exhaustion</a:t>
            </a:r>
          </a:p>
        </p:txBody>
      </p:sp>
      <p:sp>
        <p:nvSpPr>
          <p:cNvPr id="20" name="">
            <a:extLst xmlns:a="http://schemas.openxmlformats.org/drawingml/2006/main">
              <a:ext uri="{FF2B5EF4-FFF2-40B4-BE49-F238E27FC236}">
                <a16:creationId xmlns:a16="http://schemas.microsoft.com/office/drawing/2014/main" id="{6B9AF3F5-7B95-485D-B9FA-C6052CF17EE2}"/>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21" name="">
            <a:extLst xmlns:a="http://schemas.openxmlformats.org/drawingml/2006/main">
              <a:ext uri="{FF2B5EF4-FFF2-40B4-BE49-F238E27FC236}">
                <a16:creationId xmlns:a16="http://schemas.microsoft.com/office/drawing/2014/main" id="{DBF8A934-4548-47C8-8583-F3E852C74E62}"/>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oundRect">
            <a:avLst>
              <a:gd name="adj" fmla="val 14634"/>
            </a:avLst>
          </a:prstGeom>
          <a:solidFill xmlns:a="http://schemas.openxmlformats.org/drawingml/2006/main">
            <a:srgbClr val="F4F6F8"/>
          </a:solidFill>
          <a:ln xmlns:a="http://schemas.openxmlformats.org/drawingml/2006/main" w="9525">
            <a:solidFill>
              <a:srgbClr val="D7DBE2"/>
            </a:solidFill>
            <a:prstDash val="solid"/>
          </a:ln>
        </p:spPr>
      </p:sp>
      <p:sp>
        <p:nvSpPr>
          <p:cNvPr id="22" name="">
            <a:extLst xmlns:a="http://schemas.openxmlformats.org/drawingml/2006/main">
              <a:ext uri="{FF2B5EF4-FFF2-40B4-BE49-F238E27FC236}">
                <a16:creationId xmlns:a16="http://schemas.microsoft.com/office/drawing/2014/main" id="{89F81B3D-ACD0-4A02-9B6C-89D781879330}"/>
              </a:ext>
            </a:extLst>
          </p:cNvPr>
          <p:cNvSpPr>
            <a:spLocks xmlns:a="http://schemas.openxmlformats.org/drawingml/2006/main" noGrp="1"/>
          </p:cNvSpPr>
          <p:nvPr/>
        </p:nvSpPr>
        <p:spPr>
          <a:xfrm xmlns:a="http://schemas.openxmlformats.org/drawingml/2006/main">
            <a:off x="781050" y="5524500"/>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11827"/>
                </a:solidFill>
              </a:defRPr>
            </a:pPr>
            <a:r>
              <a:rPr sz="1500" b="1">
                <a:solidFill>
                  <a:srgbClr val="111827"/>
                </a:solidFill>
              </a:rPr>
              <a:t>Complete surface</a:t>
            </a:r>
          </a:p>
        </p:txBody>
      </p:sp>
      <p:sp>
        <p:nvSpPr>
          <p:cNvPr id="23" name="">
            <a:extLst xmlns:a="http://schemas.openxmlformats.org/drawingml/2006/main">
              <a:ext uri="{FF2B5EF4-FFF2-40B4-BE49-F238E27FC236}">
                <a16:creationId xmlns:a16="http://schemas.microsoft.com/office/drawing/2014/main" id="{DBACD672-B2FE-4661-8267-7719DCE7CC56}"/>
              </a:ext>
            </a:extLst>
          </p:cNvPr>
          <p:cNvSpPr>
            <a:spLocks xmlns:a="http://schemas.openxmlformats.org/drawingml/2006/main" noGrp="1"/>
          </p:cNvSpPr>
          <p:nvPr/>
        </p:nvSpPr>
        <p:spPr>
          <a:xfrm xmlns:a="http://schemas.openxmlformats.org/drawingml/2006/main">
            <a:off x="3333750" y="5486400"/>
            <a:ext cx="7810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0">
                <a:solidFill>
                  <a:srgbClr val="667384"/>
                </a:solidFill>
              </a:defRPr>
            </a:pPr>
            <a:r>
              <a:rPr sz="1425" b="0">
                <a:solidFill>
                  <a:srgbClr val="667384"/>
                </a:solidFill>
              </a:rPr>
              <a:t>261,225 asset-state-horizon rows; identical assets, bars, filters, and 2018–2023 window.</a:t>
            </a:r>
          </a:p>
        </p:txBody>
      </p:sp>
    </p:spTree>
    <p:extLst>
      <p:ext uri="{BB962C8B-B14F-4D97-AF65-F5344CB8AC3E}">
        <p14:creationId xmlns:p14="http://schemas.microsoft.com/office/powerpoint/2010/main" val="1154963589"/>
      </p:ext>
    </p:extLst>
  </p:cSld>
</p:sld>
</file>

<file path=ppt/slides/slide1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E0C2F0D-570F-4839-A4F0-1FC82309B42A}"/>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667384"/>
                </a:solidFill>
              </a:defRPr>
            </a:pPr>
            <a:r>
              <a:rPr sz="1200" b="1">
                <a:solidFill>
                  <a:srgbClr val="667384"/>
                </a:solidFill>
              </a:rPr>
              <a:t>FULL VOCABULARY</a:t>
            </a:r>
          </a:p>
        </p:txBody>
      </p:sp>
      <p:sp>
        <p:nvSpPr>
          <p:cNvPr id="2" name="">
            <a:extLst xmlns:a="http://schemas.openxmlformats.org/drawingml/2006/main">
              <a:ext uri="{FF2B5EF4-FFF2-40B4-BE49-F238E27FC236}">
                <a16:creationId xmlns:a16="http://schemas.microsoft.com/office/drawing/2014/main" id="{32C4B316-D2F7-4E51-9D59-AB77085AAAA3}"/>
              </a:ext>
            </a:extLst>
          </p:cNvPr>
          <p:cNvSpPr>
            <a:spLocks xmlns:a="http://schemas.openxmlformats.org/drawingml/2006/main" noGrp="1"/>
          </p:cNvSpPr>
          <p:nvPr/>
        </p:nvSpPr>
        <p:spPr>
          <a:xfrm xmlns:a="http://schemas.openxmlformats.org/drawingml/2006/main">
            <a:off x="457200" y="533400"/>
            <a:ext cx="11277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150" b="1">
                <a:solidFill>
                  <a:srgbClr val="111827"/>
                </a:solidFill>
              </a:defRPr>
            </a:pPr>
            <a:r>
              <a:rPr sz="3150" b="1">
                <a:solidFill>
                  <a:srgbClr val="111827"/>
                </a:solidFill>
              </a:rPr>
              <a:t>Loss branch | unfiltered and ER20</a:t>
            </a:r>
          </a:p>
        </p:txBody>
      </p:sp>
      <p:sp>
        <p:nvSpPr>
          <p:cNvPr id="3" name="">
            <a:extLst xmlns:a="http://schemas.openxmlformats.org/drawingml/2006/main">
              <a:ext uri="{FF2B5EF4-FFF2-40B4-BE49-F238E27FC236}">
                <a16:creationId xmlns:a16="http://schemas.microsoft.com/office/drawing/2014/main" id="{B63D6A63-315C-4128-BBD2-A189ED330EE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60137A8B-25E2-4ECC-8FC3-3ACF162365BF}"/>
              </a:ext>
            </a:extLst>
          </p:cNvPr>
          <p:cNvSpPr>
            <a:spLocks xmlns:a="http://schemas.openxmlformats.org/drawingml/2006/main" noGrp="1"/>
          </p:cNvSpPr>
          <p:nvPr/>
        </p:nvSpPr>
        <p:spPr>
          <a:xfrm xmlns:a="http://schemas.openxmlformats.org/drawingml/2006/main">
            <a:off x="457200" y="6515100"/>
            <a:ext cx="447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0">
                <a:solidFill>
                  <a:srgbClr val="667384"/>
                </a:solidFill>
              </a:defRPr>
            </a:pPr>
            <a:r>
              <a:rPr sz="900" b="0">
                <a:solidFill>
                  <a:srgbClr val="667384"/>
                </a:solidFill>
              </a:rPr>
              <a:t>129 instruments | 15 horizons | 9 filters | 2 branches | 2018–2023</a:t>
            </a:r>
          </a:p>
        </p:txBody>
      </p:sp>
      <p:sp>
        <p:nvSpPr>
          <p:cNvPr id="5" name="">
            <a:extLst xmlns:a="http://schemas.openxmlformats.org/drawingml/2006/main">
              <a:ext uri="{FF2B5EF4-FFF2-40B4-BE49-F238E27FC236}">
                <a16:creationId xmlns:a16="http://schemas.microsoft.com/office/drawing/2014/main" id="{9978E653-0376-4341-AA57-2B3A9AA83F73}"/>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116</a:t>
            </a:r>
          </a:p>
        </p:txBody>
      </p:sp>
      <p:sp>
        <p:nvSpPr>
          <p:cNvPr id="6" name="">
            <a:extLst xmlns:a="http://schemas.openxmlformats.org/drawingml/2006/main">
              <a:ext uri="{FF2B5EF4-FFF2-40B4-BE49-F238E27FC236}">
                <a16:creationId xmlns:a16="http://schemas.microsoft.com/office/drawing/2014/main" id="{DF56FD39-2193-4C27-804A-0AE874F5E78E}"/>
              </a:ext>
            </a:extLst>
          </p:cNvPr>
          <p:cNvSpPr>
            <a:spLocks xmlns:a="http://schemas.openxmlformats.org/drawingml/2006/main" noGrp="1"/>
          </p:cNvSpPr>
          <p:nvPr/>
        </p:nvSpPr>
        <p:spPr>
          <a:xfrm xmlns:a="http://schemas.openxmlformats.org/drawingml/2006/main">
            <a:off x="457200" y="1466850"/>
            <a:ext cx="3524250" cy="4591050"/>
          </a:xfrm>
          <a:prstGeom xmlns:a="http://schemas.openxmlformats.org/drawingml/2006/main" prst="roundRect">
            <a:avLst>
              <a:gd name="adj" fmla="val 2449"/>
            </a:avLst>
          </a:prstGeom>
          <a:solidFill xmlns:a="http://schemas.openxmlformats.org/drawingml/2006/main">
            <a:srgbClr val="FFFFFF"/>
          </a:solidFill>
          <a:ln xmlns:a="http://schemas.openxmlformats.org/drawingml/2006/main" w="9525">
            <a:solidFill>
              <a:srgbClr val="D7DBE2"/>
            </a:solidFill>
            <a:prstDash val="solid"/>
          </a:ln>
        </p:spPr>
      </p:sp>
      <p:sp>
        <p:nvSpPr>
          <p:cNvPr id="7" name="">
            <a:extLst xmlns:a="http://schemas.openxmlformats.org/drawingml/2006/main">
              <a:ext uri="{FF2B5EF4-FFF2-40B4-BE49-F238E27FC236}">
                <a16:creationId xmlns:a16="http://schemas.microsoft.com/office/drawing/2014/main" id="{C2A0D3EE-3DC1-40CD-96F5-3C228D706FFC}"/>
              </a:ext>
            </a:extLst>
          </p:cNvPr>
          <p:cNvSpPr>
            <a:spLocks xmlns:a="http://schemas.openxmlformats.org/drawingml/2006/main" noGrp="1"/>
          </p:cNvSpPr>
          <p:nvPr/>
        </p:nvSpPr>
        <p:spPr>
          <a:xfrm xmlns:a="http://schemas.openxmlformats.org/drawingml/2006/main">
            <a:off x="4333875" y="1466850"/>
            <a:ext cx="3524250" cy="4591050"/>
          </a:xfrm>
          <a:prstGeom xmlns:a="http://schemas.openxmlformats.org/drawingml/2006/main" prst="roundRect">
            <a:avLst>
              <a:gd name="adj" fmla="val 2449"/>
            </a:avLst>
          </a:prstGeom>
          <a:solidFill xmlns:a="http://schemas.openxmlformats.org/drawingml/2006/main">
            <a:srgbClr val="FFFFFF"/>
          </a:solidFill>
          <a:ln xmlns:a="http://schemas.openxmlformats.org/drawingml/2006/main" w="9525">
            <a:solidFill>
              <a:srgbClr val="D7DBE2"/>
            </a:solidFill>
            <a:prstDash val="solid"/>
          </a:ln>
        </p:spPr>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439e5136fb3149ea"/>
          <a:srcRect xmlns:a="http://schemas.openxmlformats.org/drawingml/2006/main" l="18931" t="0" r="18931" b="0"/>
          <a:stretch xmlns:a="http://schemas.openxmlformats.org/drawingml/2006/main">
            <a:fillRect l="0" t="0" r="0" b="0"/>
          </a:stretch>
        </p:blipFill>
        <p:spPr>
          <a:xfrm xmlns:a="http://schemas.openxmlformats.org/drawingml/2006/main">
            <a:off x="571500" y="1657350"/>
            <a:ext cx="3295650" cy="3333750"/>
          </a:xfrm>
          <a:prstGeom xmlns:a="http://schemas.openxmlformats.org/drawingml/2006/main" prst="rect">
            <a:avLst/>
          </a:prstGeom>
        </p:spPr>
      </p:pic>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477a9da1f1ee4da9"/>
          <a:srcRect xmlns:a="http://schemas.openxmlformats.org/drawingml/2006/main" l="18931" t="0" r="18931" b="0"/>
          <a:stretch xmlns:a="http://schemas.openxmlformats.org/drawingml/2006/main">
            <a:fillRect l="0" t="0" r="0" b="0"/>
          </a:stretch>
        </p:blipFill>
        <p:spPr>
          <a:xfrm xmlns:a="http://schemas.openxmlformats.org/drawingml/2006/main">
            <a:off x="4448175" y="1657350"/>
            <a:ext cx="3295650" cy="333375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BA3CBFF9-799F-4FAA-B24D-BE665753B658}"/>
              </a:ext>
            </a:extLst>
          </p:cNvPr>
          <p:cNvSpPr>
            <a:spLocks xmlns:a="http://schemas.openxmlformats.org/drawingml/2006/main" noGrp="1"/>
          </p:cNvSpPr>
          <p:nvPr/>
        </p:nvSpPr>
        <p:spPr>
          <a:xfrm xmlns:a="http://schemas.openxmlformats.org/drawingml/2006/main">
            <a:off x="571500" y="5353050"/>
            <a:ext cx="3295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111827"/>
                </a:solidFill>
              </a:defRPr>
            </a:pPr>
            <a:r>
              <a:rPr sz="1125" b="1">
                <a:solidFill>
                  <a:srgbClr val="111827"/>
                </a:solidFill>
              </a:rPr>
              <a:t>All observations</a:t>
            </a:r>
          </a:p>
        </p:txBody>
      </p:sp>
      <p:sp>
        <p:nvSpPr>
          <p:cNvPr id="11" name="">
            <a:extLst xmlns:a="http://schemas.openxmlformats.org/drawingml/2006/main">
              <a:ext uri="{FF2B5EF4-FFF2-40B4-BE49-F238E27FC236}">
                <a16:creationId xmlns:a16="http://schemas.microsoft.com/office/drawing/2014/main" id="{D776E3E8-FC88-4BFA-AE24-6E74E9B218F3}"/>
              </a:ext>
            </a:extLst>
          </p:cNvPr>
          <p:cNvSpPr>
            <a:spLocks xmlns:a="http://schemas.openxmlformats.org/drawingml/2006/main" noGrp="1"/>
          </p:cNvSpPr>
          <p:nvPr/>
        </p:nvSpPr>
        <p:spPr>
          <a:xfrm xmlns:a="http://schemas.openxmlformats.org/drawingml/2006/main">
            <a:off x="4448175" y="5353050"/>
            <a:ext cx="3295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111827"/>
                </a:solidFill>
              </a:defRPr>
            </a:pPr>
            <a:r>
              <a:rPr sz="1125" b="1">
                <a:solidFill>
                  <a:srgbClr val="111827"/>
                </a:solidFill>
              </a:rPr>
              <a:t>ER20 sideways</a:t>
            </a:r>
          </a:p>
        </p:txBody>
      </p:sp>
      <p:sp>
        <p:nvSpPr>
          <p:cNvPr id="15" name="">
            <a:extLst xmlns:a="http://schemas.openxmlformats.org/drawingml/2006/main">
              <a:ext uri="{FF2B5EF4-FFF2-40B4-BE49-F238E27FC236}">
                <a16:creationId xmlns:a16="http://schemas.microsoft.com/office/drawing/2014/main" id="{B1239BCE-6145-40B9-9524-322FF0210351}"/>
              </a:ext>
            </a:extLst>
          </p:cNvPr>
          <p:cNvSpPr>
            <a:spLocks xmlns:a="http://schemas.openxmlformats.org/drawingml/2006/main" noGrp="1"/>
          </p:cNvSpPr>
          <p:nvPr/>
        </p:nvSpPr>
        <p:spPr>
          <a:xfrm xmlns:a="http://schemas.openxmlformats.org/drawingml/2006/main">
            <a:off x="8210550" y="1466850"/>
            <a:ext cx="3524250" cy="4591050"/>
          </a:xfrm>
          <a:prstGeom xmlns:a="http://schemas.openxmlformats.org/drawingml/2006/main" prst="roundRect">
            <a:avLst>
              <a:gd name="adj" fmla="val 3243"/>
            </a:avLst>
          </a:prstGeom>
          <a:solidFill xmlns:a="http://schemas.openxmlformats.org/drawingml/2006/main">
            <a:srgbClr val="FFFFFF"/>
          </a:solidFill>
          <a:ln xmlns:a="http://schemas.openxmlformats.org/drawingml/2006/main" w="9525">
            <a:solidFill>
              <a:srgbClr val="D7DBE2"/>
            </a:solidFill>
            <a:prstDash val="solid"/>
          </a:ln>
        </p:spPr>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46b3d3316fec46d1"/>
          <a:stretch xmlns:a="http://schemas.openxmlformats.org/drawingml/2006/main"/>
        </p:blipFill>
        <p:spPr>
          <a:xfrm xmlns:a="http://schemas.openxmlformats.org/drawingml/2006/main">
            <a:off x="8324850" y="1951037"/>
            <a:ext cx="3295650" cy="2746375"/>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BEED709D-0944-48B9-A5C8-E3964BD7ABC5}"/>
              </a:ext>
            </a:extLst>
          </p:cNvPr>
          <p:cNvSpPr>
            <a:spLocks xmlns:a="http://schemas.openxmlformats.org/drawingml/2006/main" noGrp="1"/>
          </p:cNvSpPr>
          <p:nvPr/>
        </p:nvSpPr>
        <p:spPr>
          <a:xfrm xmlns:a="http://schemas.openxmlformats.org/drawingml/2006/main">
            <a:off x="8324850" y="5353050"/>
            <a:ext cx="3295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111827"/>
                </a:solidFill>
              </a:defRPr>
            </a:pPr>
            <a:r>
              <a:rPr sz="1125" b="1">
                <a:solidFill>
                  <a:srgbClr val="111827"/>
                </a:solidFill>
              </a:rPr>
              <a:t>ER20 trending — stronger rebound</a:t>
            </a:r>
          </a:p>
        </p:txBody>
      </p:sp>
      <p:sp>
        <p:nvSpPr>
          <p:cNvPr id="18" name="">
            <a:extLst xmlns:a="http://schemas.openxmlformats.org/drawingml/2006/main">
              <a:ext uri="{FF2B5EF4-FFF2-40B4-BE49-F238E27FC236}">
                <a16:creationId xmlns:a16="http://schemas.microsoft.com/office/drawing/2014/main" id="{41391A0A-3209-4D79-85FB-7EA0C1F55941}"/>
              </a:ext>
            </a:extLst>
          </p:cNvPr>
          <p:cNvSpPr>
            <a:spLocks xmlns:a="http://schemas.openxmlformats.org/drawingml/2006/main" noGrp="1"/>
          </p:cNvSpPr>
          <p:nvPr/>
        </p:nvSpPr>
        <p:spPr>
          <a:xfrm xmlns:a="http://schemas.openxmlformats.org/drawingml/2006/main">
            <a:off x="571500" y="1257300"/>
            <a:ext cx="1104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75" b="0">
                <a:solidFill>
                  <a:srgbClr val="667384"/>
                </a:solidFill>
              </a:defRPr>
            </a:pPr>
            <a:r>
              <a:rPr sz="975" b="0">
                <a:solidFill>
                  <a:srgbClr val="667384"/>
                </a:solidFill>
              </a:rPr>
              <a:t>Shared scale: burgundy = negative correlation • cream = near zero • teal = positive correlation</a:t>
            </a:r>
          </a:p>
        </p:txBody>
      </p:sp>
      <p:sp>
        <p:nvSpPr>
          <p:cNvPr id="22" name="">
            <a:extLst xmlns:a="http://schemas.openxmlformats.org/drawingml/2006/main">
              <a:ext uri="{FF2B5EF4-FFF2-40B4-BE49-F238E27FC236}">
                <a16:creationId xmlns:a16="http://schemas.microsoft.com/office/drawing/2014/main" id="{80A6237F-19DF-40CB-8268-04B89921A4BB}"/>
              </a:ext>
            </a:extLst>
          </p:cNvPr>
          <p:cNvSpPr>
            <a:spLocks xmlns:a="http://schemas.openxmlformats.org/drawingml/2006/main" noGrp="1"/>
          </p:cNvSpPr>
          <p:nvPr/>
        </p:nvSpPr>
        <p:spPr>
          <a:xfrm xmlns:a="http://schemas.openxmlformats.org/drawingml/2006/main">
            <a:off x="571500" y="1657350"/>
            <a:ext cx="3295650" cy="3333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3eb94e52d1054eeb"/>
          <a:stretch xmlns:a="http://schemas.openxmlformats.org/drawingml/2006/main"/>
        </p:blipFill>
        <p:spPr>
          <a:xfrm xmlns:a="http://schemas.openxmlformats.org/drawingml/2006/main">
            <a:off x="571500" y="1951037"/>
            <a:ext cx="3295650" cy="2746375"/>
          </a:xfrm>
          <a:prstGeom xmlns:a="http://schemas.openxmlformats.org/drawingml/2006/main" prst="rect">
            <a:avLst/>
          </a:prstGeom>
        </p:spPr>
      </p:pic>
      <p:sp>
        <p:nvSpPr>
          <p:cNvPr id="24" name="">
            <a:extLst xmlns:a="http://schemas.openxmlformats.org/drawingml/2006/main">
              <a:ext uri="{FF2B5EF4-FFF2-40B4-BE49-F238E27FC236}">
                <a16:creationId xmlns:a16="http://schemas.microsoft.com/office/drawing/2014/main" id="{7B2E276B-6DC6-479A-95CB-3E27EA3576D2}"/>
              </a:ext>
            </a:extLst>
          </p:cNvPr>
          <p:cNvSpPr>
            <a:spLocks xmlns:a="http://schemas.openxmlformats.org/drawingml/2006/main" noGrp="1"/>
          </p:cNvSpPr>
          <p:nvPr/>
        </p:nvSpPr>
        <p:spPr>
          <a:xfrm xmlns:a="http://schemas.openxmlformats.org/drawingml/2006/main">
            <a:off x="4448175" y="1657350"/>
            <a:ext cx="3295650" cy="3333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pic>
        <p:nvPicPr>
          <p:cNvPr id="51" name=""/>
          <p:cNvPicPr>
            <a:picLocks xmlns:a="http://schemas.openxmlformats.org/drawingml/2006/main" noChangeAspect="1"/>
          </p:cNvPicPr>
          <p:nvPr/>
        </p:nvPicPr>
        <p:blipFill>
          <a:blip xmlns:r="http://schemas.openxmlformats.org/officeDocument/2006/relationships" xmlns:a="http://schemas.openxmlformats.org/drawingml/2006/main" r:embed="R201aa3fafb774d99"/>
          <a:stretch xmlns:a="http://schemas.openxmlformats.org/drawingml/2006/main"/>
        </p:blipFill>
        <p:spPr>
          <a:xfrm xmlns:a="http://schemas.openxmlformats.org/drawingml/2006/main">
            <a:off x="4448175" y="1951037"/>
            <a:ext cx="3295650" cy="2746375"/>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8AE1DF4E-BCD9-432C-8C36-CCD58803D88D}"/>
              </a:ext>
            </a:extLst>
          </p:cNvPr>
          <p:cNvSpPr>
            <a:spLocks xmlns:a="http://schemas.openxmlformats.org/drawingml/2006/main" noGrp="1"/>
          </p:cNvSpPr>
          <p:nvPr/>
        </p:nvSpPr>
        <p:spPr>
          <a:xfrm xmlns:a="http://schemas.openxmlformats.org/drawingml/2006/main">
            <a:off x="8324850" y="1657350"/>
            <a:ext cx="3295650" cy="3333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pic>
        <p:nvPicPr>
          <p:cNvPr id="53" name=""/>
          <p:cNvPicPr>
            <a:picLocks xmlns:a="http://schemas.openxmlformats.org/drawingml/2006/main" noChangeAspect="1"/>
          </p:cNvPicPr>
          <p:nvPr/>
        </p:nvPicPr>
        <p:blipFill>
          <a:blip xmlns:r="http://schemas.openxmlformats.org/officeDocument/2006/relationships" xmlns:a="http://schemas.openxmlformats.org/drawingml/2006/main" r:embed="R1e16bd24af794188"/>
          <a:stretch xmlns:a="http://schemas.openxmlformats.org/drawingml/2006/main"/>
        </p:blipFill>
        <p:spPr>
          <a:xfrm xmlns:a="http://schemas.openxmlformats.org/drawingml/2006/main">
            <a:off x="8324850" y="1951037"/>
            <a:ext cx="3295650" cy="2746375"/>
          </a:xfrm>
          <a:prstGeom xmlns:a="http://schemas.openxmlformats.org/drawingml/2006/main" prst="rect">
            <a:avLst/>
          </a:prstGeom>
        </p:spPr>
      </p:pic>
    </p:spTree>
    <p:extLst>
      <p:ext uri="{BB962C8B-B14F-4D97-AF65-F5344CB8AC3E}">
        <p14:creationId xmlns:p14="http://schemas.microsoft.com/office/powerpoint/2010/main" val="1787801498"/>
      </p:ext>
    </p:extLst>
  </p:cSld>
</p:sld>
</file>

<file path=ppt/slides/slide1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E0C2F0D-570F-4839-A4F0-1FC82309B42A}"/>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667384"/>
                </a:solidFill>
              </a:defRPr>
            </a:pPr>
            <a:r>
              <a:rPr sz="1200" b="1">
                <a:solidFill>
                  <a:srgbClr val="667384"/>
                </a:solidFill>
              </a:rPr>
              <a:t>FULL VOCABULARY</a:t>
            </a:r>
          </a:p>
        </p:txBody>
      </p:sp>
      <p:sp>
        <p:nvSpPr>
          <p:cNvPr id="2" name="">
            <a:extLst xmlns:a="http://schemas.openxmlformats.org/drawingml/2006/main">
              <a:ext uri="{FF2B5EF4-FFF2-40B4-BE49-F238E27FC236}">
                <a16:creationId xmlns:a16="http://schemas.microsoft.com/office/drawing/2014/main" id="{32C4B316-D2F7-4E51-9D59-AB77085AAAA3}"/>
              </a:ext>
            </a:extLst>
          </p:cNvPr>
          <p:cNvSpPr>
            <a:spLocks xmlns:a="http://schemas.openxmlformats.org/drawingml/2006/main" noGrp="1"/>
          </p:cNvSpPr>
          <p:nvPr/>
        </p:nvSpPr>
        <p:spPr>
          <a:xfrm xmlns:a="http://schemas.openxmlformats.org/drawingml/2006/main">
            <a:off x="457200" y="533400"/>
            <a:ext cx="11277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150" b="1">
                <a:solidFill>
                  <a:srgbClr val="111827"/>
                </a:solidFill>
              </a:defRPr>
            </a:pPr>
            <a:r>
              <a:rPr sz="3150" b="1">
                <a:solidFill>
                  <a:srgbClr val="111827"/>
                </a:solidFill>
              </a:rPr>
              <a:t>Loss branch | ATR% states</a:t>
            </a:r>
          </a:p>
        </p:txBody>
      </p:sp>
      <p:sp>
        <p:nvSpPr>
          <p:cNvPr id="3" name="">
            <a:extLst xmlns:a="http://schemas.openxmlformats.org/drawingml/2006/main">
              <a:ext uri="{FF2B5EF4-FFF2-40B4-BE49-F238E27FC236}">
                <a16:creationId xmlns:a16="http://schemas.microsoft.com/office/drawing/2014/main" id="{B63D6A63-315C-4128-BBD2-A189ED330EE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60137A8B-25E2-4ECC-8FC3-3ACF162365BF}"/>
              </a:ext>
            </a:extLst>
          </p:cNvPr>
          <p:cNvSpPr>
            <a:spLocks xmlns:a="http://schemas.openxmlformats.org/drawingml/2006/main" noGrp="1"/>
          </p:cNvSpPr>
          <p:nvPr/>
        </p:nvSpPr>
        <p:spPr>
          <a:xfrm xmlns:a="http://schemas.openxmlformats.org/drawingml/2006/main">
            <a:off x="457200" y="6515100"/>
            <a:ext cx="447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0">
                <a:solidFill>
                  <a:srgbClr val="667384"/>
                </a:solidFill>
              </a:defRPr>
            </a:pPr>
            <a:r>
              <a:rPr sz="900" b="0">
                <a:solidFill>
                  <a:srgbClr val="667384"/>
                </a:solidFill>
              </a:rPr>
              <a:t>129 instruments | 15 horizons | 9 filters | 2 branches | 2018–2023</a:t>
            </a:r>
          </a:p>
        </p:txBody>
      </p:sp>
      <p:sp>
        <p:nvSpPr>
          <p:cNvPr id="5" name="">
            <a:extLst xmlns:a="http://schemas.openxmlformats.org/drawingml/2006/main">
              <a:ext uri="{FF2B5EF4-FFF2-40B4-BE49-F238E27FC236}">
                <a16:creationId xmlns:a16="http://schemas.microsoft.com/office/drawing/2014/main" id="{9978E653-0376-4341-AA57-2B3A9AA83F73}"/>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117</a:t>
            </a:r>
          </a:p>
        </p:txBody>
      </p:sp>
      <p:sp>
        <p:nvSpPr>
          <p:cNvPr id="6" name="">
            <a:extLst xmlns:a="http://schemas.openxmlformats.org/drawingml/2006/main">
              <a:ext uri="{FF2B5EF4-FFF2-40B4-BE49-F238E27FC236}">
                <a16:creationId xmlns:a16="http://schemas.microsoft.com/office/drawing/2014/main" id="{DF56FD39-2193-4C27-804A-0AE874F5E78E}"/>
              </a:ext>
            </a:extLst>
          </p:cNvPr>
          <p:cNvSpPr>
            <a:spLocks xmlns:a="http://schemas.openxmlformats.org/drawingml/2006/main" noGrp="1"/>
          </p:cNvSpPr>
          <p:nvPr/>
        </p:nvSpPr>
        <p:spPr>
          <a:xfrm xmlns:a="http://schemas.openxmlformats.org/drawingml/2006/main">
            <a:off x="457200" y="1466850"/>
            <a:ext cx="3524250" cy="4591050"/>
          </a:xfrm>
          <a:prstGeom xmlns:a="http://schemas.openxmlformats.org/drawingml/2006/main" prst="roundRect">
            <a:avLst>
              <a:gd name="adj" fmla="val 2449"/>
            </a:avLst>
          </a:prstGeom>
          <a:solidFill xmlns:a="http://schemas.openxmlformats.org/drawingml/2006/main">
            <a:srgbClr val="FFFFFF"/>
          </a:solidFill>
          <a:ln xmlns:a="http://schemas.openxmlformats.org/drawingml/2006/main" w="9525">
            <a:solidFill>
              <a:srgbClr val="D7DBE2"/>
            </a:solidFill>
            <a:prstDash val="solid"/>
          </a:ln>
        </p:spPr>
      </p:sp>
      <p:sp>
        <p:nvSpPr>
          <p:cNvPr id="7" name="">
            <a:extLst xmlns:a="http://schemas.openxmlformats.org/drawingml/2006/main">
              <a:ext uri="{FF2B5EF4-FFF2-40B4-BE49-F238E27FC236}">
                <a16:creationId xmlns:a16="http://schemas.microsoft.com/office/drawing/2014/main" id="{C2A0D3EE-3DC1-40CD-96F5-3C228D706FFC}"/>
              </a:ext>
            </a:extLst>
          </p:cNvPr>
          <p:cNvSpPr>
            <a:spLocks xmlns:a="http://schemas.openxmlformats.org/drawingml/2006/main" noGrp="1"/>
          </p:cNvSpPr>
          <p:nvPr/>
        </p:nvSpPr>
        <p:spPr>
          <a:xfrm xmlns:a="http://schemas.openxmlformats.org/drawingml/2006/main">
            <a:off x="4333875" y="1466850"/>
            <a:ext cx="3524250" cy="4591050"/>
          </a:xfrm>
          <a:prstGeom xmlns:a="http://schemas.openxmlformats.org/drawingml/2006/main" prst="roundRect">
            <a:avLst>
              <a:gd name="adj" fmla="val 2449"/>
            </a:avLst>
          </a:prstGeom>
          <a:solidFill xmlns:a="http://schemas.openxmlformats.org/drawingml/2006/main">
            <a:srgbClr val="FFFFFF"/>
          </a:solidFill>
          <a:ln xmlns:a="http://schemas.openxmlformats.org/drawingml/2006/main" w="9525">
            <a:solidFill>
              <a:srgbClr val="D7DBE2"/>
            </a:solidFill>
            <a:prstDash val="solid"/>
          </a:ln>
        </p:spPr>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6106240ab8e44e4b"/>
          <a:srcRect xmlns:a="http://schemas.openxmlformats.org/drawingml/2006/main" l="18931" t="0" r="18931" b="0"/>
          <a:stretch xmlns:a="http://schemas.openxmlformats.org/drawingml/2006/main">
            <a:fillRect l="0" t="0" r="0" b="0"/>
          </a:stretch>
        </p:blipFill>
        <p:spPr>
          <a:xfrm xmlns:a="http://schemas.openxmlformats.org/drawingml/2006/main">
            <a:off x="571500" y="1657350"/>
            <a:ext cx="3295650" cy="3333750"/>
          </a:xfrm>
          <a:prstGeom xmlns:a="http://schemas.openxmlformats.org/drawingml/2006/main" prst="rect">
            <a:avLst/>
          </a:prstGeom>
        </p:spPr>
      </p:pic>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198aff14aa5d4da6"/>
          <a:srcRect xmlns:a="http://schemas.openxmlformats.org/drawingml/2006/main" l="18931" t="0" r="18931" b="0"/>
          <a:stretch xmlns:a="http://schemas.openxmlformats.org/drawingml/2006/main">
            <a:fillRect l="0" t="0" r="0" b="0"/>
          </a:stretch>
        </p:blipFill>
        <p:spPr>
          <a:xfrm xmlns:a="http://schemas.openxmlformats.org/drawingml/2006/main">
            <a:off x="4448175" y="1657350"/>
            <a:ext cx="3295650" cy="333375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BA3CBFF9-799F-4FAA-B24D-BE665753B658}"/>
              </a:ext>
            </a:extLst>
          </p:cNvPr>
          <p:cNvSpPr>
            <a:spLocks xmlns:a="http://schemas.openxmlformats.org/drawingml/2006/main" noGrp="1"/>
          </p:cNvSpPr>
          <p:nvPr/>
        </p:nvSpPr>
        <p:spPr>
          <a:xfrm xmlns:a="http://schemas.openxmlformats.org/drawingml/2006/main">
            <a:off x="571500" y="5353050"/>
            <a:ext cx="3295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111827"/>
                </a:solidFill>
              </a:defRPr>
            </a:pPr>
            <a:r>
              <a:rPr sz="1125" b="1">
                <a:solidFill>
                  <a:srgbClr val="111827"/>
                </a:solidFill>
              </a:rPr>
              <a:t>ATR% low</a:t>
            </a:r>
          </a:p>
        </p:txBody>
      </p:sp>
      <p:sp>
        <p:nvSpPr>
          <p:cNvPr id="11" name="">
            <a:extLst xmlns:a="http://schemas.openxmlformats.org/drawingml/2006/main">
              <a:ext uri="{FF2B5EF4-FFF2-40B4-BE49-F238E27FC236}">
                <a16:creationId xmlns:a16="http://schemas.microsoft.com/office/drawing/2014/main" id="{D776E3E8-FC88-4BFA-AE24-6E74E9B218F3}"/>
              </a:ext>
            </a:extLst>
          </p:cNvPr>
          <p:cNvSpPr>
            <a:spLocks xmlns:a="http://schemas.openxmlformats.org/drawingml/2006/main" noGrp="1"/>
          </p:cNvSpPr>
          <p:nvPr/>
        </p:nvSpPr>
        <p:spPr>
          <a:xfrm xmlns:a="http://schemas.openxmlformats.org/drawingml/2006/main">
            <a:off x="4448175" y="5353050"/>
            <a:ext cx="3295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111827"/>
                </a:solidFill>
              </a:defRPr>
            </a:pPr>
            <a:r>
              <a:rPr sz="1125" b="1">
                <a:solidFill>
                  <a:srgbClr val="111827"/>
                </a:solidFill>
              </a:rPr>
              <a:t>ATR% medium</a:t>
            </a:r>
          </a:p>
        </p:txBody>
      </p:sp>
      <p:sp>
        <p:nvSpPr>
          <p:cNvPr id="15" name="">
            <a:extLst xmlns:a="http://schemas.openxmlformats.org/drawingml/2006/main">
              <a:ext uri="{FF2B5EF4-FFF2-40B4-BE49-F238E27FC236}">
                <a16:creationId xmlns:a16="http://schemas.microsoft.com/office/drawing/2014/main" id="{9FC191C8-F6BD-42FA-A5F3-78900C6259EA}"/>
              </a:ext>
            </a:extLst>
          </p:cNvPr>
          <p:cNvSpPr>
            <a:spLocks xmlns:a="http://schemas.openxmlformats.org/drawingml/2006/main" noGrp="1"/>
          </p:cNvSpPr>
          <p:nvPr/>
        </p:nvSpPr>
        <p:spPr>
          <a:xfrm xmlns:a="http://schemas.openxmlformats.org/drawingml/2006/main">
            <a:off x="8210550" y="1466850"/>
            <a:ext cx="3524250" cy="4591050"/>
          </a:xfrm>
          <a:prstGeom xmlns:a="http://schemas.openxmlformats.org/drawingml/2006/main" prst="roundRect">
            <a:avLst>
              <a:gd name="adj" fmla="val 3243"/>
            </a:avLst>
          </a:prstGeom>
          <a:solidFill xmlns:a="http://schemas.openxmlformats.org/drawingml/2006/main">
            <a:srgbClr val="FFFFFF"/>
          </a:solidFill>
          <a:ln xmlns:a="http://schemas.openxmlformats.org/drawingml/2006/main" w="9525">
            <a:solidFill>
              <a:srgbClr val="D7DBE2"/>
            </a:solidFill>
            <a:prstDash val="solid"/>
          </a:ln>
        </p:spPr>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316d03be951a4ffc"/>
          <a:stretch xmlns:a="http://schemas.openxmlformats.org/drawingml/2006/main"/>
        </p:blipFill>
        <p:spPr>
          <a:xfrm xmlns:a="http://schemas.openxmlformats.org/drawingml/2006/main">
            <a:off x="8324850" y="1951037"/>
            <a:ext cx="3295650" cy="2746375"/>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3E135A4E-3973-456C-A577-D2582FFA4717}"/>
              </a:ext>
            </a:extLst>
          </p:cNvPr>
          <p:cNvSpPr>
            <a:spLocks xmlns:a="http://schemas.openxmlformats.org/drawingml/2006/main" noGrp="1"/>
          </p:cNvSpPr>
          <p:nvPr/>
        </p:nvSpPr>
        <p:spPr>
          <a:xfrm xmlns:a="http://schemas.openxmlformats.org/drawingml/2006/main">
            <a:off x="8324850" y="5353050"/>
            <a:ext cx="3295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111827"/>
                </a:solidFill>
              </a:defRPr>
            </a:pPr>
            <a:r>
              <a:rPr sz="1125" b="1">
                <a:solidFill>
                  <a:srgbClr val="111827"/>
                </a:solidFill>
              </a:rPr>
              <a:t>ATR% high — stronger rebound</a:t>
            </a:r>
          </a:p>
        </p:txBody>
      </p:sp>
      <p:sp>
        <p:nvSpPr>
          <p:cNvPr id="18" name="">
            <a:extLst xmlns:a="http://schemas.openxmlformats.org/drawingml/2006/main">
              <a:ext uri="{FF2B5EF4-FFF2-40B4-BE49-F238E27FC236}">
                <a16:creationId xmlns:a16="http://schemas.microsoft.com/office/drawing/2014/main" id="{9DC13A62-E01D-455C-8283-641B572CFF77}"/>
              </a:ext>
            </a:extLst>
          </p:cNvPr>
          <p:cNvSpPr>
            <a:spLocks xmlns:a="http://schemas.openxmlformats.org/drawingml/2006/main" noGrp="1"/>
          </p:cNvSpPr>
          <p:nvPr/>
        </p:nvSpPr>
        <p:spPr>
          <a:xfrm xmlns:a="http://schemas.openxmlformats.org/drawingml/2006/main">
            <a:off x="571500" y="1257300"/>
            <a:ext cx="1104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75" b="0">
                <a:solidFill>
                  <a:srgbClr val="667384"/>
                </a:solidFill>
              </a:defRPr>
            </a:pPr>
            <a:r>
              <a:rPr sz="975" b="0">
                <a:solidFill>
                  <a:srgbClr val="667384"/>
                </a:solidFill>
              </a:rPr>
              <a:t>Shared scale: burgundy = negative correlation • cream = near zero • teal = positive correlation</a:t>
            </a:r>
          </a:p>
        </p:txBody>
      </p:sp>
      <p:sp>
        <p:nvSpPr>
          <p:cNvPr id="22" name="">
            <a:extLst xmlns:a="http://schemas.openxmlformats.org/drawingml/2006/main">
              <a:ext uri="{FF2B5EF4-FFF2-40B4-BE49-F238E27FC236}">
                <a16:creationId xmlns:a16="http://schemas.microsoft.com/office/drawing/2014/main" id="{0E55C39B-0963-40DC-9996-889C5C7C67D8}"/>
              </a:ext>
            </a:extLst>
          </p:cNvPr>
          <p:cNvSpPr>
            <a:spLocks xmlns:a="http://schemas.openxmlformats.org/drawingml/2006/main" noGrp="1"/>
          </p:cNvSpPr>
          <p:nvPr/>
        </p:nvSpPr>
        <p:spPr>
          <a:xfrm xmlns:a="http://schemas.openxmlformats.org/drawingml/2006/main">
            <a:off x="571500" y="1657350"/>
            <a:ext cx="3295650" cy="3333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b59cf223984d4af8"/>
          <a:stretch xmlns:a="http://schemas.openxmlformats.org/drawingml/2006/main"/>
        </p:blipFill>
        <p:spPr>
          <a:xfrm xmlns:a="http://schemas.openxmlformats.org/drawingml/2006/main">
            <a:off x="571500" y="1951037"/>
            <a:ext cx="3295650" cy="2746375"/>
          </a:xfrm>
          <a:prstGeom xmlns:a="http://schemas.openxmlformats.org/drawingml/2006/main" prst="rect">
            <a:avLst/>
          </a:prstGeom>
        </p:spPr>
      </p:pic>
      <p:sp>
        <p:nvSpPr>
          <p:cNvPr id="24" name="">
            <a:extLst xmlns:a="http://schemas.openxmlformats.org/drawingml/2006/main">
              <a:ext uri="{FF2B5EF4-FFF2-40B4-BE49-F238E27FC236}">
                <a16:creationId xmlns:a16="http://schemas.microsoft.com/office/drawing/2014/main" id="{1E72A715-4349-44C3-992F-AECC1F69F4BD}"/>
              </a:ext>
            </a:extLst>
          </p:cNvPr>
          <p:cNvSpPr>
            <a:spLocks xmlns:a="http://schemas.openxmlformats.org/drawingml/2006/main" noGrp="1"/>
          </p:cNvSpPr>
          <p:nvPr/>
        </p:nvSpPr>
        <p:spPr>
          <a:xfrm xmlns:a="http://schemas.openxmlformats.org/drawingml/2006/main">
            <a:off x="4448175" y="1657350"/>
            <a:ext cx="3295650" cy="3333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pic>
        <p:nvPicPr>
          <p:cNvPr id="51" name=""/>
          <p:cNvPicPr>
            <a:picLocks xmlns:a="http://schemas.openxmlformats.org/drawingml/2006/main" noChangeAspect="1"/>
          </p:cNvPicPr>
          <p:nvPr/>
        </p:nvPicPr>
        <p:blipFill>
          <a:blip xmlns:r="http://schemas.openxmlformats.org/officeDocument/2006/relationships" xmlns:a="http://schemas.openxmlformats.org/drawingml/2006/main" r:embed="R49ac2bb9043245c4"/>
          <a:stretch xmlns:a="http://schemas.openxmlformats.org/drawingml/2006/main"/>
        </p:blipFill>
        <p:spPr>
          <a:xfrm xmlns:a="http://schemas.openxmlformats.org/drawingml/2006/main">
            <a:off x="4448175" y="1951037"/>
            <a:ext cx="3295650" cy="2746375"/>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71D3E3E4-AE5E-4AF6-8424-8BDB17F6FFEC}"/>
              </a:ext>
            </a:extLst>
          </p:cNvPr>
          <p:cNvSpPr>
            <a:spLocks xmlns:a="http://schemas.openxmlformats.org/drawingml/2006/main" noGrp="1"/>
          </p:cNvSpPr>
          <p:nvPr/>
        </p:nvSpPr>
        <p:spPr>
          <a:xfrm xmlns:a="http://schemas.openxmlformats.org/drawingml/2006/main">
            <a:off x="8324850" y="1657350"/>
            <a:ext cx="3295650" cy="3333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pic>
        <p:nvPicPr>
          <p:cNvPr id="53" name=""/>
          <p:cNvPicPr>
            <a:picLocks xmlns:a="http://schemas.openxmlformats.org/drawingml/2006/main" noChangeAspect="1"/>
          </p:cNvPicPr>
          <p:nvPr/>
        </p:nvPicPr>
        <p:blipFill>
          <a:blip xmlns:r="http://schemas.openxmlformats.org/officeDocument/2006/relationships" xmlns:a="http://schemas.openxmlformats.org/drawingml/2006/main" r:embed="Rf855ddbba72242a4"/>
          <a:stretch xmlns:a="http://schemas.openxmlformats.org/drawingml/2006/main"/>
        </p:blipFill>
        <p:spPr>
          <a:xfrm xmlns:a="http://schemas.openxmlformats.org/drawingml/2006/main">
            <a:off x="8324850" y="1951037"/>
            <a:ext cx="3295650" cy="2746375"/>
          </a:xfrm>
          <a:prstGeom xmlns:a="http://schemas.openxmlformats.org/drawingml/2006/main" prst="rect">
            <a:avLst/>
          </a:prstGeom>
        </p:spPr>
      </p:pic>
    </p:spTree>
    <p:extLst>
      <p:ext uri="{BB962C8B-B14F-4D97-AF65-F5344CB8AC3E}">
        <p14:creationId xmlns:p14="http://schemas.microsoft.com/office/powerpoint/2010/main" val="1787801498"/>
      </p:ext>
    </p:extLst>
  </p:cSld>
</p:sld>
</file>

<file path=ppt/slides/slide1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E0C2F0D-570F-4839-A4F0-1FC82309B42A}"/>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667384"/>
                </a:solidFill>
              </a:defRPr>
            </a:pPr>
            <a:r>
              <a:rPr sz="1200" b="1">
                <a:solidFill>
                  <a:srgbClr val="667384"/>
                </a:solidFill>
              </a:rPr>
              <a:t>FULL VOCABULARY</a:t>
            </a:r>
          </a:p>
        </p:txBody>
      </p:sp>
      <p:sp>
        <p:nvSpPr>
          <p:cNvPr id="2" name="">
            <a:extLst xmlns:a="http://schemas.openxmlformats.org/drawingml/2006/main">
              <a:ext uri="{FF2B5EF4-FFF2-40B4-BE49-F238E27FC236}">
                <a16:creationId xmlns:a16="http://schemas.microsoft.com/office/drawing/2014/main" id="{32C4B316-D2F7-4E51-9D59-AB77085AAAA3}"/>
              </a:ext>
            </a:extLst>
          </p:cNvPr>
          <p:cNvSpPr>
            <a:spLocks xmlns:a="http://schemas.openxmlformats.org/drawingml/2006/main" noGrp="1"/>
          </p:cNvSpPr>
          <p:nvPr/>
        </p:nvSpPr>
        <p:spPr>
          <a:xfrm xmlns:a="http://schemas.openxmlformats.org/drawingml/2006/main">
            <a:off x="457200" y="533400"/>
            <a:ext cx="11277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150" b="1">
                <a:solidFill>
                  <a:srgbClr val="111827"/>
                </a:solidFill>
              </a:defRPr>
            </a:pPr>
            <a:r>
              <a:rPr sz="3150" b="1">
                <a:solidFill>
                  <a:srgbClr val="111827"/>
                </a:solidFill>
              </a:rPr>
              <a:t>Loss branch | signed ER20 states</a:t>
            </a:r>
          </a:p>
        </p:txBody>
      </p:sp>
      <p:sp>
        <p:nvSpPr>
          <p:cNvPr id="3" name="">
            <a:extLst xmlns:a="http://schemas.openxmlformats.org/drawingml/2006/main">
              <a:ext uri="{FF2B5EF4-FFF2-40B4-BE49-F238E27FC236}">
                <a16:creationId xmlns:a16="http://schemas.microsoft.com/office/drawing/2014/main" id="{B63D6A63-315C-4128-BBD2-A189ED330EE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60137A8B-25E2-4ECC-8FC3-3ACF162365BF}"/>
              </a:ext>
            </a:extLst>
          </p:cNvPr>
          <p:cNvSpPr>
            <a:spLocks xmlns:a="http://schemas.openxmlformats.org/drawingml/2006/main" noGrp="1"/>
          </p:cNvSpPr>
          <p:nvPr/>
        </p:nvSpPr>
        <p:spPr>
          <a:xfrm xmlns:a="http://schemas.openxmlformats.org/drawingml/2006/main">
            <a:off x="457200" y="6515100"/>
            <a:ext cx="447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0">
                <a:solidFill>
                  <a:srgbClr val="667384"/>
                </a:solidFill>
              </a:defRPr>
            </a:pPr>
            <a:r>
              <a:rPr sz="900" b="0">
                <a:solidFill>
                  <a:srgbClr val="667384"/>
                </a:solidFill>
              </a:rPr>
              <a:t>129 instruments | 15 horizons | 9 filters | 2 branches | 2018–2023</a:t>
            </a:r>
          </a:p>
        </p:txBody>
      </p:sp>
      <p:sp>
        <p:nvSpPr>
          <p:cNvPr id="5" name="">
            <a:extLst xmlns:a="http://schemas.openxmlformats.org/drawingml/2006/main">
              <a:ext uri="{FF2B5EF4-FFF2-40B4-BE49-F238E27FC236}">
                <a16:creationId xmlns:a16="http://schemas.microsoft.com/office/drawing/2014/main" id="{9978E653-0376-4341-AA57-2B3A9AA83F73}"/>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118</a:t>
            </a:r>
          </a:p>
        </p:txBody>
      </p:sp>
      <p:sp>
        <p:nvSpPr>
          <p:cNvPr id="6" name="">
            <a:extLst xmlns:a="http://schemas.openxmlformats.org/drawingml/2006/main">
              <a:ext uri="{FF2B5EF4-FFF2-40B4-BE49-F238E27FC236}">
                <a16:creationId xmlns:a16="http://schemas.microsoft.com/office/drawing/2014/main" id="{DF56FD39-2193-4C27-804A-0AE874F5E78E}"/>
              </a:ext>
            </a:extLst>
          </p:cNvPr>
          <p:cNvSpPr>
            <a:spLocks xmlns:a="http://schemas.openxmlformats.org/drawingml/2006/main" noGrp="1"/>
          </p:cNvSpPr>
          <p:nvPr/>
        </p:nvSpPr>
        <p:spPr>
          <a:xfrm xmlns:a="http://schemas.openxmlformats.org/drawingml/2006/main">
            <a:off x="457200" y="1466850"/>
            <a:ext cx="3524250" cy="4591050"/>
          </a:xfrm>
          <a:prstGeom xmlns:a="http://schemas.openxmlformats.org/drawingml/2006/main" prst="roundRect">
            <a:avLst>
              <a:gd name="adj" fmla="val 2449"/>
            </a:avLst>
          </a:prstGeom>
          <a:solidFill xmlns:a="http://schemas.openxmlformats.org/drawingml/2006/main">
            <a:srgbClr val="FFFFFF"/>
          </a:solidFill>
          <a:ln xmlns:a="http://schemas.openxmlformats.org/drawingml/2006/main" w="9525">
            <a:solidFill>
              <a:srgbClr val="D7DBE2"/>
            </a:solidFill>
            <a:prstDash val="solid"/>
          </a:ln>
        </p:spPr>
      </p:sp>
      <p:sp>
        <p:nvSpPr>
          <p:cNvPr id="7" name="">
            <a:extLst xmlns:a="http://schemas.openxmlformats.org/drawingml/2006/main">
              <a:ext uri="{FF2B5EF4-FFF2-40B4-BE49-F238E27FC236}">
                <a16:creationId xmlns:a16="http://schemas.microsoft.com/office/drawing/2014/main" id="{C2A0D3EE-3DC1-40CD-96F5-3C228D706FFC}"/>
              </a:ext>
            </a:extLst>
          </p:cNvPr>
          <p:cNvSpPr>
            <a:spLocks xmlns:a="http://schemas.openxmlformats.org/drawingml/2006/main" noGrp="1"/>
          </p:cNvSpPr>
          <p:nvPr/>
        </p:nvSpPr>
        <p:spPr>
          <a:xfrm xmlns:a="http://schemas.openxmlformats.org/drawingml/2006/main">
            <a:off x="4333875" y="1466850"/>
            <a:ext cx="3524250" cy="4591050"/>
          </a:xfrm>
          <a:prstGeom xmlns:a="http://schemas.openxmlformats.org/drawingml/2006/main" prst="roundRect">
            <a:avLst>
              <a:gd name="adj" fmla="val 2449"/>
            </a:avLst>
          </a:prstGeom>
          <a:solidFill xmlns:a="http://schemas.openxmlformats.org/drawingml/2006/main">
            <a:srgbClr val="FFFFFF"/>
          </a:solidFill>
          <a:ln xmlns:a="http://schemas.openxmlformats.org/drawingml/2006/main" w="9525">
            <a:solidFill>
              <a:srgbClr val="D7DBE2"/>
            </a:solidFill>
            <a:prstDash val="solid"/>
          </a:ln>
        </p:spPr>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2e58fbd57b794689"/>
          <a:srcRect xmlns:a="http://schemas.openxmlformats.org/drawingml/2006/main" l="18931" t="0" r="18931" b="0"/>
          <a:stretch xmlns:a="http://schemas.openxmlformats.org/drawingml/2006/main">
            <a:fillRect l="0" t="0" r="0" b="0"/>
          </a:stretch>
        </p:blipFill>
        <p:spPr>
          <a:xfrm xmlns:a="http://schemas.openxmlformats.org/drawingml/2006/main">
            <a:off x="571500" y="1657350"/>
            <a:ext cx="3295650" cy="3333750"/>
          </a:xfrm>
          <a:prstGeom xmlns:a="http://schemas.openxmlformats.org/drawingml/2006/main" prst="rect">
            <a:avLst/>
          </a:prstGeom>
        </p:spPr>
      </p:pic>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d23a1403ed2e4db1"/>
          <a:srcRect xmlns:a="http://schemas.openxmlformats.org/drawingml/2006/main" l="18931" t="0" r="18931" b="0"/>
          <a:stretch xmlns:a="http://schemas.openxmlformats.org/drawingml/2006/main">
            <a:fillRect l="0" t="0" r="0" b="0"/>
          </a:stretch>
        </p:blipFill>
        <p:spPr>
          <a:xfrm xmlns:a="http://schemas.openxmlformats.org/drawingml/2006/main">
            <a:off x="4448175" y="1657350"/>
            <a:ext cx="3295650" cy="333375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BA3CBFF9-799F-4FAA-B24D-BE665753B658}"/>
              </a:ext>
            </a:extLst>
          </p:cNvPr>
          <p:cNvSpPr>
            <a:spLocks xmlns:a="http://schemas.openxmlformats.org/drawingml/2006/main" noGrp="1"/>
          </p:cNvSpPr>
          <p:nvPr/>
        </p:nvSpPr>
        <p:spPr>
          <a:xfrm xmlns:a="http://schemas.openxmlformats.org/drawingml/2006/main">
            <a:off x="571500" y="5353050"/>
            <a:ext cx="3295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111827"/>
                </a:solidFill>
              </a:defRPr>
            </a:pPr>
            <a:r>
              <a:rPr sz="1125" b="1">
                <a:solidFill>
                  <a:srgbClr val="111827"/>
                </a:solidFill>
              </a:rPr>
              <a:t>Signed ER20 up — sparse at short horizons</a:t>
            </a:r>
          </a:p>
        </p:txBody>
      </p:sp>
      <p:sp>
        <p:nvSpPr>
          <p:cNvPr id="11" name="">
            <a:extLst xmlns:a="http://schemas.openxmlformats.org/drawingml/2006/main">
              <a:ext uri="{FF2B5EF4-FFF2-40B4-BE49-F238E27FC236}">
                <a16:creationId xmlns:a16="http://schemas.microsoft.com/office/drawing/2014/main" id="{D776E3E8-FC88-4BFA-AE24-6E74E9B218F3}"/>
              </a:ext>
            </a:extLst>
          </p:cNvPr>
          <p:cNvSpPr>
            <a:spLocks xmlns:a="http://schemas.openxmlformats.org/drawingml/2006/main" noGrp="1"/>
          </p:cNvSpPr>
          <p:nvPr/>
        </p:nvSpPr>
        <p:spPr>
          <a:xfrm xmlns:a="http://schemas.openxmlformats.org/drawingml/2006/main">
            <a:off x="4448175" y="5353050"/>
            <a:ext cx="3295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111827"/>
                </a:solidFill>
              </a:defRPr>
            </a:pPr>
            <a:r>
              <a:rPr sz="1125" b="1">
                <a:solidFill>
                  <a:srgbClr val="111827"/>
                </a:solidFill>
              </a:rPr>
              <a:t>Signed ER20 sideways</a:t>
            </a:r>
          </a:p>
        </p:txBody>
      </p:sp>
      <p:sp>
        <p:nvSpPr>
          <p:cNvPr id="15" name="">
            <a:extLst xmlns:a="http://schemas.openxmlformats.org/drawingml/2006/main">
              <a:ext uri="{FF2B5EF4-FFF2-40B4-BE49-F238E27FC236}">
                <a16:creationId xmlns:a16="http://schemas.microsoft.com/office/drawing/2014/main" id="{92629E6A-B58D-4B27-B71A-4B337C07AD9C}"/>
              </a:ext>
            </a:extLst>
          </p:cNvPr>
          <p:cNvSpPr>
            <a:spLocks xmlns:a="http://schemas.openxmlformats.org/drawingml/2006/main" noGrp="1"/>
          </p:cNvSpPr>
          <p:nvPr/>
        </p:nvSpPr>
        <p:spPr>
          <a:xfrm xmlns:a="http://schemas.openxmlformats.org/drawingml/2006/main">
            <a:off x="8210550" y="1466850"/>
            <a:ext cx="3524250" cy="4591050"/>
          </a:xfrm>
          <a:prstGeom xmlns:a="http://schemas.openxmlformats.org/drawingml/2006/main" prst="roundRect">
            <a:avLst>
              <a:gd name="adj" fmla="val 3243"/>
            </a:avLst>
          </a:prstGeom>
          <a:solidFill xmlns:a="http://schemas.openxmlformats.org/drawingml/2006/main">
            <a:srgbClr val="FFFFFF"/>
          </a:solidFill>
          <a:ln xmlns:a="http://schemas.openxmlformats.org/drawingml/2006/main" w="9525">
            <a:solidFill>
              <a:srgbClr val="D7DBE2"/>
            </a:solidFill>
            <a:prstDash val="solid"/>
          </a:ln>
        </p:spPr>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87068142456c40fa"/>
          <a:stretch xmlns:a="http://schemas.openxmlformats.org/drawingml/2006/main"/>
        </p:blipFill>
        <p:spPr>
          <a:xfrm xmlns:a="http://schemas.openxmlformats.org/drawingml/2006/main">
            <a:off x="8324850" y="1951037"/>
            <a:ext cx="3295650" cy="2746375"/>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965AB679-98A0-44C7-BBD9-1222A8E2937F}"/>
              </a:ext>
            </a:extLst>
          </p:cNvPr>
          <p:cNvSpPr>
            <a:spLocks xmlns:a="http://schemas.openxmlformats.org/drawingml/2006/main" noGrp="1"/>
          </p:cNvSpPr>
          <p:nvPr/>
        </p:nvSpPr>
        <p:spPr>
          <a:xfrm xmlns:a="http://schemas.openxmlformats.org/drawingml/2006/main">
            <a:off x="8324850" y="5353050"/>
            <a:ext cx="3295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111827"/>
                </a:solidFill>
              </a:defRPr>
            </a:pPr>
            <a:r>
              <a:rPr sz="1125" b="1">
                <a:solidFill>
                  <a:srgbClr val="111827"/>
                </a:solidFill>
              </a:rPr>
              <a:t>Signed ER20 down — clearest rebound</a:t>
            </a:r>
          </a:p>
        </p:txBody>
      </p:sp>
      <p:sp>
        <p:nvSpPr>
          <p:cNvPr id="18" name="">
            <a:extLst xmlns:a="http://schemas.openxmlformats.org/drawingml/2006/main">
              <a:ext uri="{FF2B5EF4-FFF2-40B4-BE49-F238E27FC236}">
                <a16:creationId xmlns:a16="http://schemas.microsoft.com/office/drawing/2014/main" id="{D49977B2-155A-4E59-AC9E-27CE0A4591CE}"/>
              </a:ext>
            </a:extLst>
          </p:cNvPr>
          <p:cNvSpPr>
            <a:spLocks xmlns:a="http://schemas.openxmlformats.org/drawingml/2006/main" noGrp="1"/>
          </p:cNvSpPr>
          <p:nvPr/>
        </p:nvSpPr>
        <p:spPr>
          <a:xfrm xmlns:a="http://schemas.openxmlformats.org/drawingml/2006/main">
            <a:off x="571500" y="1257300"/>
            <a:ext cx="1104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75" b="0">
                <a:solidFill>
                  <a:srgbClr val="667384"/>
                </a:solidFill>
              </a:defRPr>
            </a:pPr>
            <a:r>
              <a:rPr sz="975" b="0">
                <a:solidFill>
                  <a:srgbClr val="667384"/>
                </a:solidFill>
              </a:rPr>
              <a:t>Shared scale: burgundy = negative correlation • cream = near zero • teal = positive correlation</a:t>
            </a:r>
          </a:p>
        </p:txBody>
      </p:sp>
      <p:sp>
        <p:nvSpPr>
          <p:cNvPr id="22" name="">
            <a:extLst xmlns:a="http://schemas.openxmlformats.org/drawingml/2006/main">
              <a:ext uri="{FF2B5EF4-FFF2-40B4-BE49-F238E27FC236}">
                <a16:creationId xmlns:a16="http://schemas.microsoft.com/office/drawing/2014/main" id="{DE5A50B9-8EFB-4DD5-9B36-4FD966E79CBA}"/>
              </a:ext>
            </a:extLst>
          </p:cNvPr>
          <p:cNvSpPr>
            <a:spLocks xmlns:a="http://schemas.openxmlformats.org/drawingml/2006/main" noGrp="1"/>
          </p:cNvSpPr>
          <p:nvPr/>
        </p:nvSpPr>
        <p:spPr>
          <a:xfrm xmlns:a="http://schemas.openxmlformats.org/drawingml/2006/main">
            <a:off x="571500" y="1657350"/>
            <a:ext cx="3295650" cy="3333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4aca295bf4cb42ce"/>
          <a:stretch xmlns:a="http://schemas.openxmlformats.org/drawingml/2006/main"/>
        </p:blipFill>
        <p:spPr>
          <a:xfrm xmlns:a="http://schemas.openxmlformats.org/drawingml/2006/main">
            <a:off x="571500" y="1951037"/>
            <a:ext cx="3295650" cy="2746375"/>
          </a:xfrm>
          <a:prstGeom xmlns:a="http://schemas.openxmlformats.org/drawingml/2006/main" prst="rect">
            <a:avLst/>
          </a:prstGeom>
        </p:spPr>
      </p:pic>
      <p:sp>
        <p:nvSpPr>
          <p:cNvPr id="24" name="">
            <a:extLst xmlns:a="http://schemas.openxmlformats.org/drawingml/2006/main">
              <a:ext uri="{FF2B5EF4-FFF2-40B4-BE49-F238E27FC236}">
                <a16:creationId xmlns:a16="http://schemas.microsoft.com/office/drawing/2014/main" id="{09AECBF2-878A-4CC6-B5DA-FAAA9C8F6E81}"/>
              </a:ext>
            </a:extLst>
          </p:cNvPr>
          <p:cNvSpPr>
            <a:spLocks xmlns:a="http://schemas.openxmlformats.org/drawingml/2006/main" noGrp="1"/>
          </p:cNvSpPr>
          <p:nvPr/>
        </p:nvSpPr>
        <p:spPr>
          <a:xfrm xmlns:a="http://schemas.openxmlformats.org/drawingml/2006/main">
            <a:off x="4448175" y="1657350"/>
            <a:ext cx="3295650" cy="3333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pic>
        <p:nvPicPr>
          <p:cNvPr id="51" name=""/>
          <p:cNvPicPr>
            <a:picLocks xmlns:a="http://schemas.openxmlformats.org/drawingml/2006/main" noChangeAspect="1"/>
          </p:cNvPicPr>
          <p:nvPr/>
        </p:nvPicPr>
        <p:blipFill>
          <a:blip xmlns:r="http://schemas.openxmlformats.org/officeDocument/2006/relationships" xmlns:a="http://schemas.openxmlformats.org/drawingml/2006/main" r:embed="R3d9434c536ee4068"/>
          <a:stretch xmlns:a="http://schemas.openxmlformats.org/drawingml/2006/main"/>
        </p:blipFill>
        <p:spPr>
          <a:xfrm xmlns:a="http://schemas.openxmlformats.org/drawingml/2006/main">
            <a:off x="4448175" y="1951037"/>
            <a:ext cx="3295650" cy="2746375"/>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F0F2CBEB-081D-4BCA-B103-B34811417EEE}"/>
              </a:ext>
            </a:extLst>
          </p:cNvPr>
          <p:cNvSpPr>
            <a:spLocks xmlns:a="http://schemas.openxmlformats.org/drawingml/2006/main" noGrp="1"/>
          </p:cNvSpPr>
          <p:nvPr/>
        </p:nvSpPr>
        <p:spPr>
          <a:xfrm xmlns:a="http://schemas.openxmlformats.org/drawingml/2006/main">
            <a:off x="8324850" y="1657350"/>
            <a:ext cx="3295650" cy="3333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pic>
        <p:nvPicPr>
          <p:cNvPr id="53" name=""/>
          <p:cNvPicPr>
            <a:picLocks xmlns:a="http://schemas.openxmlformats.org/drawingml/2006/main" noChangeAspect="1"/>
          </p:cNvPicPr>
          <p:nvPr/>
        </p:nvPicPr>
        <p:blipFill>
          <a:blip xmlns:r="http://schemas.openxmlformats.org/officeDocument/2006/relationships" xmlns:a="http://schemas.openxmlformats.org/drawingml/2006/main" r:embed="R6f47d60589884c4a"/>
          <a:stretch xmlns:a="http://schemas.openxmlformats.org/drawingml/2006/main"/>
        </p:blipFill>
        <p:spPr>
          <a:xfrm xmlns:a="http://schemas.openxmlformats.org/drawingml/2006/main">
            <a:off x="8324850" y="1951037"/>
            <a:ext cx="3295650" cy="2746375"/>
          </a:xfrm>
          <a:prstGeom xmlns:a="http://schemas.openxmlformats.org/drawingml/2006/main" prst="rect">
            <a:avLst/>
          </a:prstGeom>
        </p:spPr>
      </p:pic>
    </p:spTree>
    <p:extLst>
      <p:ext uri="{BB962C8B-B14F-4D97-AF65-F5344CB8AC3E}">
        <p14:creationId xmlns:p14="http://schemas.microsoft.com/office/powerpoint/2010/main" val="1787801498"/>
      </p:ext>
    </p:extLst>
  </p:cSld>
</p:sld>
</file>

<file path=ppt/slides/slide1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E0C2F0D-570F-4839-A4F0-1FC82309B42A}"/>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667384"/>
                </a:solidFill>
              </a:defRPr>
            </a:pPr>
            <a:r>
              <a:rPr sz="1200" b="1">
                <a:solidFill>
                  <a:srgbClr val="667384"/>
                </a:solidFill>
              </a:rPr>
              <a:t>FULL VOCABULARY</a:t>
            </a:r>
          </a:p>
        </p:txBody>
      </p:sp>
      <p:sp>
        <p:nvSpPr>
          <p:cNvPr id="2" name="">
            <a:extLst xmlns:a="http://schemas.openxmlformats.org/drawingml/2006/main">
              <a:ext uri="{FF2B5EF4-FFF2-40B4-BE49-F238E27FC236}">
                <a16:creationId xmlns:a16="http://schemas.microsoft.com/office/drawing/2014/main" id="{32C4B316-D2F7-4E51-9D59-AB77085AAAA3}"/>
              </a:ext>
            </a:extLst>
          </p:cNvPr>
          <p:cNvSpPr>
            <a:spLocks xmlns:a="http://schemas.openxmlformats.org/drawingml/2006/main" noGrp="1"/>
          </p:cNvSpPr>
          <p:nvPr/>
        </p:nvSpPr>
        <p:spPr>
          <a:xfrm xmlns:a="http://schemas.openxmlformats.org/drawingml/2006/main">
            <a:off x="457200" y="533400"/>
            <a:ext cx="11277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150" b="1">
                <a:solidFill>
                  <a:srgbClr val="111827"/>
                </a:solidFill>
              </a:defRPr>
            </a:pPr>
            <a:r>
              <a:rPr sz="3150" b="1">
                <a:solidFill>
                  <a:srgbClr val="111827"/>
                </a:solidFill>
              </a:rPr>
              <a:t>Gain branch | unfiltered and ER20</a:t>
            </a:r>
          </a:p>
        </p:txBody>
      </p:sp>
      <p:sp>
        <p:nvSpPr>
          <p:cNvPr id="3" name="">
            <a:extLst xmlns:a="http://schemas.openxmlformats.org/drawingml/2006/main">
              <a:ext uri="{FF2B5EF4-FFF2-40B4-BE49-F238E27FC236}">
                <a16:creationId xmlns:a16="http://schemas.microsoft.com/office/drawing/2014/main" id="{B63D6A63-315C-4128-BBD2-A189ED330EE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60137A8B-25E2-4ECC-8FC3-3ACF162365BF}"/>
              </a:ext>
            </a:extLst>
          </p:cNvPr>
          <p:cNvSpPr>
            <a:spLocks xmlns:a="http://schemas.openxmlformats.org/drawingml/2006/main" noGrp="1"/>
          </p:cNvSpPr>
          <p:nvPr/>
        </p:nvSpPr>
        <p:spPr>
          <a:xfrm xmlns:a="http://schemas.openxmlformats.org/drawingml/2006/main">
            <a:off x="457200" y="6515100"/>
            <a:ext cx="447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0">
                <a:solidFill>
                  <a:srgbClr val="667384"/>
                </a:solidFill>
              </a:defRPr>
            </a:pPr>
            <a:r>
              <a:rPr sz="900" b="0">
                <a:solidFill>
                  <a:srgbClr val="667384"/>
                </a:solidFill>
              </a:rPr>
              <a:t>129 instruments | 15 horizons | 9 filters | 2 branches | 2018–2023</a:t>
            </a:r>
          </a:p>
        </p:txBody>
      </p:sp>
      <p:sp>
        <p:nvSpPr>
          <p:cNvPr id="5" name="">
            <a:extLst xmlns:a="http://schemas.openxmlformats.org/drawingml/2006/main">
              <a:ext uri="{FF2B5EF4-FFF2-40B4-BE49-F238E27FC236}">
                <a16:creationId xmlns:a16="http://schemas.microsoft.com/office/drawing/2014/main" id="{9978E653-0376-4341-AA57-2B3A9AA83F73}"/>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119</a:t>
            </a:r>
          </a:p>
        </p:txBody>
      </p:sp>
      <p:sp>
        <p:nvSpPr>
          <p:cNvPr id="6" name="">
            <a:extLst xmlns:a="http://schemas.openxmlformats.org/drawingml/2006/main">
              <a:ext uri="{FF2B5EF4-FFF2-40B4-BE49-F238E27FC236}">
                <a16:creationId xmlns:a16="http://schemas.microsoft.com/office/drawing/2014/main" id="{DF56FD39-2193-4C27-804A-0AE874F5E78E}"/>
              </a:ext>
            </a:extLst>
          </p:cNvPr>
          <p:cNvSpPr>
            <a:spLocks xmlns:a="http://schemas.openxmlformats.org/drawingml/2006/main" noGrp="1"/>
          </p:cNvSpPr>
          <p:nvPr/>
        </p:nvSpPr>
        <p:spPr>
          <a:xfrm xmlns:a="http://schemas.openxmlformats.org/drawingml/2006/main">
            <a:off x="457200" y="1466850"/>
            <a:ext cx="3524250" cy="4591050"/>
          </a:xfrm>
          <a:prstGeom xmlns:a="http://schemas.openxmlformats.org/drawingml/2006/main" prst="roundRect">
            <a:avLst>
              <a:gd name="adj" fmla="val 2449"/>
            </a:avLst>
          </a:prstGeom>
          <a:solidFill xmlns:a="http://schemas.openxmlformats.org/drawingml/2006/main">
            <a:srgbClr val="FFFFFF"/>
          </a:solidFill>
          <a:ln xmlns:a="http://schemas.openxmlformats.org/drawingml/2006/main" w="9525">
            <a:solidFill>
              <a:srgbClr val="D7DBE2"/>
            </a:solidFill>
            <a:prstDash val="solid"/>
          </a:ln>
        </p:spPr>
      </p:sp>
      <p:sp>
        <p:nvSpPr>
          <p:cNvPr id="7" name="">
            <a:extLst xmlns:a="http://schemas.openxmlformats.org/drawingml/2006/main">
              <a:ext uri="{FF2B5EF4-FFF2-40B4-BE49-F238E27FC236}">
                <a16:creationId xmlns:a16="http://schemas.microsoft.com/office/drawing/2014/main" id="{C2A0D3EE-3DC1-40CD-96F5-3C228D706FFC}"/>
              </a:ext>
            </a:extLst>
          </p:cNvPr>
          <p:cNvSpPr>
            <a:spLocks xmlns:a="http://schemas.openxmlformats.org/drawingml/2006/main" noGrp="1"/>
          </p:cNvSpPr>
          <p:nvPr/>
        </p:nvSpPr>
        <p:spPr>
          <a:xfrm xmlns:a="http://schemas.openxmlformats.org/drawingml/2006/main">
            <a:off x="4333875" y="1466850"/>
            <a:ext cx="3524250" cy="4591050"/>
          </a:xfrm>
          <a:prstGeom xmlns:a="http://schemas.openxmlformats.org/drawingml/2006/main" prst="roundRect">
            <a:avLst>
              <a:gd name="adj" fmla="val 2449"/>
            </a:avLst>
          </a:prstGeom>
          <a:solidFill xmlns:a="http://schemas.openxmlformats.org/drawingml/2006/main">
            <a:srgbClr val="FFFFFF"/>
          </a:solidFill>
          <a:ln xmlns:a="http://schemas.openxmlformats.org/drawingml/2006/main" w="9525">
            <a:solidFill>
              <a:srgbClr val="D7DBE2"/>
            </a:solidFill>
            <a:prstDash val="solid"/>
          </a:ln>
        </p:spPr>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f66bea92650944c2"/>
          <a:srcRect xmlns:a="http://schemas.openxmlformats.org/drawingml/2006/main" l="18931" t="0" r="18931" b="0"/>
          <a:stretch xmlns:a="http://schemas.openxmlformats.org/drawingml/2006/main">
            <a:fillRect l="0" t="0" r="0" b="0"/>
          </a:stretch>
        </p:blipFill>
        <p:spPr>
          <a:xfrm xmlns:a="http://schemas.openxmlformats.org/drawingml/2006/main">
            <a:off x="571500" y="1657350"/>
            <a:ext cx="3295650" cy="3333750"/>
          </a:xfrm>
          <a:prstGeom xmlns:a="http://schemas.openxmlformats.org/drawingml/2006/main" prst="rect">
            <a:avLst/>
          </a:prstGeom>
        </p:spPr>
      </p:pic>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7d177665536a44c9"/>
          <a:srcRect xmlns:a="http://schemas.openxmlformats.org/drawingml/2006/main" l="18931" t="0" r="18931" b="0"/>
          <a:stretch xmlns:a="http://schemas.openxmlformats.org/drawingml/2006/main">
            <a:fillRect l="0" t="0" r="0" b="0"/>
          </a:stretch>
        </p:blipFill>
        <p:spPr>
          <a:xfrm xmlns:a="http://schemas.openxmlformats.org/drawingml/2006/main">
            <a:off x="4448175" y="1657350"/>
            <a:ext cx="3295650" cy="333375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BA3CBFF9-799F-4FAA-B24D-BE665753B658}"/>
              </a:ext>
            </a:extLst>
          </p:cNvPr>
          <p:cNvSpPr>
            <a:spLocks xmlns:a="http://schemas.openxmlformats.org/drawingml/2006/main" noGrp="1"/>
          </p:cNvSpPr>
          <p:nvPr/>
        </p:nvSpPr>
        <p:spPr>
          <a:xfrm xmlns:a="http://schemas.openxmlformats.org/drawingml/2006/main">
            <a:off x="571500" y="5353050"/>
            <a:ext cx="3295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111827"/>
                </a:solidFill>
              </a:defRPr>
            </a:pPr>
            <a:r>
              <a:rPr sz="1125" b="1">
                <a:solidFill>
                  <a:srgbClr val="111827"/>
                </a:solidFill>
              </a:rPr>
              <a:t>All observations</a:t>
            </a:r>
          </a:p>
        </p:txBody>
      </p:sp>
      <p:sp>
        <p:nvSpPr>
          <p:cNvPr id="11" name="">
            <a:extLst xmlns:a="http://schemas.openxmlformats.org/drawingml/2006/main">
              <a:ext uri="{FF2B5EF4-FFF2-40B4-BE49-F238E27FC236}">
                <a16:creationId xmlns:a16="http://schemas.microsoft.com/office/drawing/2014/main" id="{D776E3E8-FC88-4BFA-AE24-6E74E9B218F3}"/>
              </a:ext>
            </a:extLst>
          </p:cNvPr>
          <p:cNvSpPr>
            <a:spLocks xmlns:a="http://schemas.openxmlformats.org/drawingml/2006/main" noGrp="1"/>
          </p:cNvSpPr>
          <p:nvPr/>
        </p:nvSpPr>
        <p:spPr>
          <a:xfrm xmlns:a="http://schemas.openxmlformats.org/drawingml/2006/main">
            <a:off x="4448175" y="5353050"/>
            <a:ext cx="3295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111827"/>
                </a:solidFill>
              </a:defRPr>
            </a:pPr>
            <a:r>
              <a:rPr sz="1125" b="1">
                <a:solidFill>
                  <a:srgbClr val="111827"/>
                </a:solidFill>
              </a:rPr>
              <a:t>ER20 sideways</a:t>
            </a:r>
          </a:p>
        </p:txBody>
      </p:sp>
      <p:sp>
        <p:nvSpPr>
          <p:cNvPr id="15" name="">
            <a:extLst xmlns:a="http://schemas.openxmlformats.org/drawingml/2006/main">
              <a:ext uri="{FF2B5EF4-FFF2-40B4-BE49-F238E27FC236}">
                <a16:creationId xmlns:a16="http://schemas.microsoft.com/office/drawing/2014/main" id="{1E635F72-F094-44CB-AB5F-F6C565A87863}"/>
              </a:ext>
            </a:extLst>
          </p:cNvPr>
          <p:cNvSpPr>
            <a:spLocks xmlns:a="http://schemas.openxmlformats.org/drawingml/2006/main" noGrp="1"/>
          </p:cNvSpPr>
          <p:nvPr/>
        </p:nvSpPr>
        <p:spPr>
          <a:xfrm xmlns:a="http://schemas.openxmlformats.org/drawingml/2006/main">
            <a:off x="8210550" y="1466850"/>
            <a:ext cx="3524250" cy="4591050"/>
          </a:xfrm>
          <a:prstGeom xmlns:a="http://schemas.openxmlformats.org/drawingml/2006/main" prst="roundRect">
            <a:avLst>
              <a:gd name="adj" fmla="val 3243"/>
            </a:avLst>
          </a:prstGeom>
          <a:solidFill xmlns:a="http://schemas.openxmlformats.org/drawingml/2006/main">
            <a:srgbClr val="FFFFFF"/>
          </a:solidFill>
          <a:ln xmlns:a="http://schemas.openxmlformats.org/drawingml/2006/main" w="9525">
            <a:solidFill>
              <a:srgbClr val="D7DBE2"/>
            </a:solidFill>
            <a:prstDash val="solid"/>
          </a:ln>
        </p:spPr>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f85e92cc234b4c36"/>
          <a:stretch xmlns:a="http://schemas.openxmlformats.org/drawingml/2006/main"/>
        </p:blipFill>
        <p:spPr>
          <a:xfrm xmlns:a="http://schemas.openxmlformats.org/drawingml/2006/main">
            <a:off x="8324850" y="1951037"/>
            <a:ext cx="3295650" cy="2746375"/>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337DE242-BEB4-4319-AD8A-FFF3F0ECBD46}"/>
              </a:ext>
            </a:extLst>
          </p:cNvPr>
          <p:cNvSpPr>
            <a:spLocks xmlns:a="http://schemas.openxmlformats.org/drawingml/2006/main" noGrp="1"/>
          </p:cNvSpPr>
          <p:nvPr/>
        </p:nvSpPr>
        <p:spPr>
          <a:xfrm xmlns:a="http://schemas.openxmlformats.org/drawingml/2006/main">
            <a:off x="8324850" y="5353050"/>
            <a:ext cx="3295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111827"/>
                </a:solidFill>
              </a:defRPr>
            </a:pPr>
            <a:r>
              <a:rPr sz="1125" b="1">
                <a:solidFill>
                  <a:srgbClr val="111827"/>
                </a:solidFill>
              </a:rPr>
              <a:t>ER20 trending</a:t>
            </a:r>
          </a:p>
        </p:txBody>
      </p:sp>
      <p:sp>
        <p:nvSpPr>
          <p:cNvPr id="18" name="">
            <a:extLst xmlns:a="http://schemas.openxmlformats.org/drawingml/2006/main">
              <a:ext uri="{FF2B5EF4-FFF2-40B4-BE49-F238E27FC236}">
                <a16:creationId xmlns:a16="http://schemas.microsoft.com/office/drawing/2014/main" id="{3A9BFC2C-04AD-4768-95A9-A3165FFF0B00}"/>
              </a:ext>
            </a:extLst>
          </p:cNvPr>
          <p:cNvSpPr>
            <a:spLocks xmlns:a="http://schemas.openxmlformats.org/drawingml/2006/main" noGrp="1"/>
          </p:cNvSpPr>
          <p:nvPr/>
        </p:nvSpPr>
        <p:spPr>
          <a:xfrm xmlns:a="http://schemas.openxmlformats.org/drawingml/2006/main">
            <a:off x="571500" y="1257300"/>
            <a:ext cx="1104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75" b="0">
                <a:solidFill>
                  <a:srgbClr val="667384"/>
                </a:solidFill>
              </a:defRPr>
            </a:pPr>
            <a:r>
              <a:rPr sz="975" b="0">
                <a:solidFill>
                  <a:srgbClr val="667384"/>
                </a:solidFill>
              </a:rPr>
              <a:t>Shared scale: burgundy = negative correlation • cream = near zero • teal = positive correlation</a:t>
            </a:r>
          </a:p>
        </p:txBody>
      </p:sp>
      <p:sp>
        <p:nvSpPr>
          <p:cNvPr id="22" name="">
            <a:extLst xmlns:a="http://schemas.openxmlformats.org/drawingml/2006/main">
              <a:ext uri="{FF2B5EF4-FFF2-40B4-BE49-F238E27FC236}">
                <a16:creationId xmlns:a16="http://schemas.microsoft.com/office/drawing/2014/main" id="{F8592F3B-CD35-401E-9AFE-148579A52399}"/>
              </a:ext>
            </a:extLst>
          </p:cNvPr>
          <p:cNvSpPr>
            <a:spLocks xmlns:a="http://schemas.openxmlformats.org/drawingml/2006/main" noGrp="1"/>
          </p:cNvSpPr>
          <p:nvPr/>
        </p:nvSpPr>
        <p:spPr>
          <a:xfrm xmlns:a="http://schemas.openxmlformats.org/drawingml/2006/main">
            <a:off x="571500" y="1657350"/>
            <a:ext cx="3295650" cy="3333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c79d091de2094c9b"/>
          <a:stretch xmlns:a="http://schemas.openxmlformats.org/drawingml/2006/main"/>
        </p:blipFill>
        <p:spPr>
          <a:xfrm xmlns:a="http://schemas.openxmlformats.org/drawingml/2006/main">
            <a:off x="571500" y="1951037"/>
            <a:ext cx="3295650" cy="2746375"/>
          </a:xfrm>
          <a:prstGeom xmlns:a="http://schemas.openxmlformats.org/drawingml/2006/main" prst="rect">
            <a:avLst/>
          </a:prstGeom>
        </p:spPr>
      </p:pic>
      <p:sp>
        <p:nvSpPr>
          <p:cNvPr id="24" name="">
            <a:extLst xmlns:a="http://schemas.openxmlformats.org/drawingml/2006/main">
              <a:ext uri="{FF2B5EF4-FFF2-40B4-BE49-F238E27FC236}">
                <a16:creationId xmlns:a16="http://schemas.microsoft.com/office/drawing/2014/main" id="{9542B830-7A33-4FBA-BCFD-C2427A239787}"/>
              </a:ext>
            </a:extLst>
          </p:cNvPr>
          <p:cNvSpPr>
            <a:spLocks xmlns:a="http://schemas.openxmlformats.org/drawingml/2006/main" noGrp="1"/>
          </p:cNvSpPr>
          <p:nvPr/>
        </p:nvSpPr>
        <p:spPr>
          <a:xfrm xmlns:a="http://schemas.openxmlformats.org/drawingml/2006/main">
            <a:off x="4448175" y="1657350"/>
            <a:ext cx="3295650" cy="3333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pic>
        <p:nvPicPr>
          <p:cNvPr id="51" name=""/>
          <p:cNvPicPr>
            <a:picLocks xmlns:a="http://schemas.openxmlformats.org/drawingml/2006/main" noChangeAspect="1"/>
          </p:cNvPicPr>
          <p:nvPr/>
        </p:nvPicPr>
        <p:blipFill>
          <a:blip xmlns:r="http://schemas.openxmlformats.org/officeDocument/2006/relationships" xmlns:a="http://schemas.openxmlformats.org/drawingml/2006/main" r:embed="Rd18ec9af4aa2449f"/>
          <a:stretch xmlns:a="http://schemas.openxmlformats.org/drawingml/2006/main"/>
        </p:blipFill>
        <p:spPr>
          <a:xfrm xmlns:a="http://schemas.openxmlformats.org/drawingml/2006/main">
            <a:off x="4448175" y="1951037"/>
            <a:ext cx="3295650" cy="2746375"/>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4B639CED-6CFB-441D-B019-EA91D1B60D81}"/>
              </a:ext>
            </a:extLst>
          </p:cNvPr>
          <p:cNvSpPr>
            <a:spLocks xmlns:a="http://schemas.openxmlformats.org/drawingml/2006/main" noGrp="1"/>
          </p:cNvSpPr>
          <p:nvPr/>
        </p:nvSpPr>
        <p:spPr>
          <a:xfrm xmlns:a="http://schemas.openxmlformats.org/drawingml/2006/main">
            <a:off x="8324850" y="1657350"/>
            <a:ext cx="3295650" cy="3333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pic>
        <p:nvPicPr>
          <p:cNvPr id="53" name=""/>
          <p:cNvPicPr>
            <a:picLocks xmlns:a="http://schemas.openxmlformats.org/drawingml/2006/main" noChangeAspect="1"/>
          </p:cNvPicPr>
          <p:nvPr/>
        </p:nvPicPr>
        <p:blipFill>
          <a:blip xmlns:r="http://schemas.openxmlformats.org/officeDocument/2006/relationships" xmlns:a="http://schemas.openxmlformats.org/drawingml/2006/main" r:embed="R65824daf9224409d"/>
          <a:stretch xmlns:a="http://schemas.openxmlformats.org/drawingml/2006/main"/>
        </p:blipFill>
        <p:spPr>
          <a:xfrm xmlns:a="http://schemas.openxmlformats.org/drawingml/2006/main">
            <a:off x="8324850" y="1951037"/>
            <a:ext cx="3295650" cy="2746375"/>
          </a:xfrm>
          <a:prstGeom xmlns:a="http://schemas.openxmlformats.org/drawingml/2006/main" prst="rect">
            <a:avLst/>
          </a:prstGeom>
        </p:spPr>
      </p:pic>
    </p:spTree>
    <p:extLst>
      <p:ext uri="{BB962C8B-B14F-4D97-AF65-F5344CB8AC3E}">
        <p14:creationId xmlns:p14="http://schemas.microsoft.com/office/powerpoint/2010/main" val="1787801498"/>
      </p:ext>
    </p:extLst>
  </p:cSld>
</p:sld>
</file>

<file path=ppt/slides/slide1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E0C2F0D-570F-4839-A4F0-1FC82309B42A}"/>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667384"/>
                </a:solidFill>
              </a:defRPr>
            </a:pPr>
            <a:r>
              <a:rPr sz="1200" b="1">
                <a:solidFill>
                  <a:srgbClr val="667384"/>
                </a:solidFill>
              </a:rPr>
              <a:t>FULL VOCABULARY</a:t>
            </a:r>
          </a:p>
        </p:txBody>
      </p:sp>
      <p:sp>
        <p:nvSpPr>
          <p:cNvPr id="2" name="">
            <a:extLst xmlns:a="http://schemas.openxmlformats.org/drawingml/2006/main">
              <a:ext uri="{FF2B5EF4-FFF2-40B4-BE49-F238E27FC236}">
                <a16:creationId xmlns:a16="http://schemas.microsoft.com/office/drawing/2014/main" id="{32C4B316-D2F7-4E51-9D59-AB77085AAAA3}"/>
              </a:ext>
            </a:extLst>
          </p:cNvPr>
          <p:cNvSpPr>
            <a:spLocks xmlns:a="http://schemas.openxmlformats.org/drawingml/2006/main" noGrp="1"/>
          </p:cNvSpPr>
          <p:nvPr/>
        </p:nvSpPr>
        <p:spPr>
          <a:xfrm xmlns:a="http://schemas.openxmlformats.org/drawingml/2006/main">
            <a:off x="457200" y="533400"/>
            <a:ext cx="11277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150" b="1">
                <a:solidFill>
                  <a:srgbClr val="111827"/>
                </a:solidFill>
              </a:defRPr>
            </a:pPr>
            <a:r>
              <a:rPr sz="3150" b="1">
                <a:solidFill>
                  <a:srgbClr val="111827"/>
                </a:solidFill>
              </a:rPr>
              <a:t>Gain branch | ATR% states</a:t>
            </a:r>
          </a:p>
        </p:txBody>
      </p:sp>
      <p:sp>
        <p:nvSpPr>
          <p:cNvPr id="3" name="">
            <a:extLst xmlns:a="http://schemas.openxmlformats.org/drawingml/2006/main">
              <a:ext uri="{FF2B5EF4-FFF2-40B4-BE49-F238E27FC236}">
                <a16:creationId xmlns:a16="http://schemas.microsoft.com/office/drawing/2014/main" id="{B63D6A63-315C-4128-BBD2-A189ED330EE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60137A8B-25E2-4ECC-8FC3-3ACF162365BF}"/>
              </a:ext>
            </a:extLst>
          </p:cNvPr>
          <p:cNvSpPr>
            <a:spLocks xmlns:a="http://schemas.openxmlformats.org/drawingml/2006/main" noGrp="1"/>
          </p:cNvSpPr>
          <p:nvPr/>
        </p:nvSpPr>
        <p:spPr>
          <a:xfrm xmlns:a="http://schemas.openxmlformats.org/drawingml/2006/main">
            <a:off x="457200" y="6515100"/>
            <a:ext cx="447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0">
                <a:solidFill>
                  <a:srgbClr val="667384"/>
                </a:solidFill>
              </a:defRPr>
            </a:pPr>
            <a:r>
              <a:rPr sz="900" b="0">
                <a:solidFill>
                  <a:srgbClr val="667384"/>
                </a:solidFill>
              </a:rPr>
              <a:t>129 instruments | 15 horizons | 9 filters | 2 branches | 2018–2023</a:t>
            </a:r>
          </a:p>
        </p:txBody>
      </p:sp>
      <p:sp>
        <p:nvSpPr>
          <p:cNvPr id="5" name="">
            <a:extLst xmlns:a="http://schemas.openxmlformats.org/drawingml/2006/main">
              <a:ext uri="{FF2B5EF4-FFF2-40B4-BE49-F238E27FC236}">
                <a16:creationId xmlns:a16="http://schemas.microsoft.com/office/drawing/2014/main" id="{9978E653-0376-4341-AA57-2B3A9AA83F73}"/>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120</a:t>
            </a:r>
          </a:p>
        </p:txBody>
      </p:sp>
      <p:sp>
        <p:nvSpPr>
          <p:cNvPr id="6" name="">
            <a:extLst xmlns:a="http://schemas.openxmlformats.org/drawingml/2006/main">
              <a:ext uri="{FF2B5EF4-FFF2-40B4-BE49-F238E27FC236}">
                <a16:creationId xmlns:a16="http://schemas.microsoft.com/office/drawing/2014/main" id="{DF56FD39-2193-4C27-804A-0AE874F5E78E}"/>
              </a:ext>
            </a:extLst>
          </p:cNvPr>
          <p:cNvSpPr>
            <a:spLocks xmlns:a="http://schemas.openxmlformats.org/drawingml/2006/main" noGrp="1"/>
          </p:cNvSpPr>
          <p:nvPr/>
        </p:nvSpPr>
        <p:spPr>
          <a:xfrm xmlns:a="http://schemas.openxmlformats.org/drawingml/2006/main">
            <a:off x="457200" y="1466850"/>
            <a:ext cx="3524250" cy="4591050"/>
          </a:xfrm>
          <a:prstGeom xmlns:a="http://schemas.openxmlformats.org/drawingml/2006/main" prst="roundRect">
            <a:avLst>
              <a:gd name="adj" fmla="val 2449"/>
            </a:avLst>
          </a:prstGeom>
          <a:solidFill xmlns:a="http://schemas.openxmlformats.org/drawingml/2006/main">
            <a:srgbClr val="FFFFFF"/>
          </a:solidFill>
          <a:ln xmlns:a="http://schemas.openxmlformats.org/drawingml/2006/main" w="9525">
            <a:solidFill>
              <a:srgbClr val="D7DBE2"/>
            </a:solidFill>
            <a:prstDash val="solid"/>
          </a:ln>
        </p:spPr>
      </p:sp>
      <p:sp>
        <p:nvSpPr>
          <p:cNvPr id="7" name="">
            <a:extLst xmlns:a="http://schemas.openxmlformats.org/drawingml/2006/main">
              <a:ext uri="{FF2B5EF4-FFF2-40B4-BE49-F238E27FC236}">
                <a16:creationId xmlns:a16="http://schemas.microsoft.com/office/drawing/2014/main" id="{C2A0D3EE-3DC1-40CD-96F5-3C228D706FFC}"/>
              </a:ext>
            </a:extLst>
          </p:cNvPr>
          <p:cNvSpPr>
            <a:spLocks xmlns:a="http://schemas.openxmlformats.org/drawingml/2006/main" noGrp="1"/>
          </p:cNvSpPr>
          <p:nvPr/>
        </p:nvSpPr>
        <p:spPr>
          <a:xfrm xmlns:a="http://schemas.openxmlformats.org/drawingml/2006/main">
            <a:off x="4333875" y="1466850"/>
            <a:ext cx="3524250" cy="4591050"/>
          </a:xfrm>
          <a:prstGeom xmlns:a="http://schemas.openxmlformats.org/drawingml/2006/main" prst="roundRect">
            <a:avLst>
              <a:gd name="adj" fmla="val 2449"/>
            </a:avLst>
          </a:prstGeom>
          <a:solidFill xmlns:a="http://schemas.openxmlformats.org/drawingml/2006/main">
            <a:srgbClr val="FFFFFF"/>
          </a:solidFill>
          <a:ln xmlns:a="http://schemas.openxmlformats.org/drawingml/2006/main" w="9525">
            <a:solidFill>
              <a:srgbClr val="D7DBE2"/>
            </a:solidFill>
            <a:prstDash val="solid"/>
          </a:ln>
        </p:spPr>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2e6b51c3ffdf49d4"/>
          <a:srcRect xmlns:a="http://schemas.openxmlformats.org/drawingml/2006/main" l="18931" t="0" r="18931" b="0"/>
          <a:stretch xmlns:a="http://schemas.openxmlformats.org/drawingml/2006/main">
            <a:fillRect l="0" t="0" r="0" b="0"/>
          </a:stretch>
        </p:blipFill>
        <p:spPr>
          <a:xfrm xmlns:a="http://schemas.openxmlformats.org/drawingml/2006/main">
            <a:off x="571500" y="1657350"/>
            <a:ext cx="3295650" cy="3333750"/>
          </a:xfrm>
          <a:prstGeom xmlns:a="http://schemas.openxmlformats.org/drawingml/2006/main" prst="rect">
            <a:avLst/>
          </a:prstGeom>
        </p:spPr>
      </p:pic>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92259f5e70ae4469"/>
          <a:srcRect xmlns:a="http://schemas.openxmlformats.org/drawingml/2006/main" l="18931" t="0" r="18931" b="0"/>
          <a:stretch xmlns:a="http://schemas.openxmlformats.org/drawingml/2006/main">
            <a:fillRect l="0" t="0" r="0" b="0"/>
          </a:stretch>
        </p:blipFill>
        <p:spPr>
          <a:xfrm xmlns:a="http://schemas.openxmlformats.org/drawingml/2006/main">
            <a:off x="4448175" y="1657350"/>
            <a:ext cx="3295650" cy="333375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BA3CBFF9-799F-4FAA-B24D-BE665753B658}"/>
              </a:ext>
            </a:extLst>
          </p:cNvPr>
          <p:cNvSpPr>
            <a:spLocks xmlns:a="http://schemas.openxmlformats.org/drawingml/2006/main" noGrp="1"/>
          </p:cNvSpPr>
          <p:nvPr/>
        </p:nvSpPr>
        <p:spPr>
          <a:xfrm xmlns:a="http://schemas.openxmlformats.org/drawingml/2006/main">
            <a:off x="571500" y="5353050"/>
            <a:ext cx="3295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111827"/>
                </a:solidFill>
              </a:defRPr>
            </a:pPr>
            <a:r>
              <a:rPr sz="1125" b="1">
                <a:solidFill>
                  <a:srgbClr val="111827"/>
                </a:solidFill>
              </a:rPr>
              <a:t>ATR% low</a:t>
            </a:r>
          </a:p>
        </p:txBody>
      </p:sp>
      <p:sp>
        <p:nvSpPr>
          <p:cNvPr id="11" name="">
            <a:extLst xmlns:a="http://schemas.openxmlformats.org/drawingml/2006/main">
              <a:ext uri="{FF2B5EF4-FFF2-40B4-BE49-F238E27FC236}">
                <a16:creationId xmlns:a16="http://schemas.microsoft.com/office/drawing/2014/main" id="{D776E3E8-FC88-4BFA-AE24-6E74E9B218F3}"/>
              </a:ext>
            </a:extLst>
          </p:cNvPr>
          <p:cNvSpPr>
            <a:spLocks xmlns:a="http://schemas.openxmlformats.org/drawingml/2006/main" noGrp="1"/>
          </p:cNvSpPr>
          <p:nvPr/>
        </p:nvSpPr>
        <p:spPr>
          <a:xfrm xmlns:a="http://schemas.openxmlformats.org/drawingml/2006/main">
            <a:off x="4448175" y="5353050"/>
            <a:ext cx="3295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111827"/>
                </a:solidFill>
              </a:defRPr>
            </a:pPr>
            <a:r>
              <a:rPr sz="1125" b="1">
                <a:solidFill>
                  <a:srgbClr val="111827"/>
                </a:solidFill>
              </a:rPr>
              <a:t>ATR% medium</a:t>
            </a:r>
          </a:p>
        </p:txBody>
      </p:sp>
      <p:sp>
        <p:nvSpPr>
          <p:cNvPr id="15" name="">
            <a:extLst xmlns:a="http://schemas.openxmlformats.org/drawingml/2006/main">
              <a:ext uri="{FF2B5EF4-FFF2-40B4-BE49-F238E27FC236}">
                <a16:creationId xmlns:a16="http://schemas.microsoft.com/office/drawing/2014/main" id="{FA0792D8-C938-42F8-9EC4-47487FCB2FCB}"/>
              </a:ext>
            </a:extLst>
          </p:cNvPr>
          <p:cNvSpPr>
            <a:spLocks xmlns:a="http://schemas.openxmlformats.org/drawingml/2006/main" noGrp="1"/>
          </p:cNvSpPr>
          <p:nvPr/>
        </p:nvSpPr>
        <p:spPr>
          <a:xfrm xmlns:a="http://schemas.openxmlformats.org/drawingml/2006/main">
            <a:off x="8210550" y="1466850"/>
            <a:ext cx="3524250" cy="4591050"/>
          </a:xfrm>
          <a:prstGeom xmlns:a="http://schemas.openxmlformats.org/drawingml/2006/main" prst="roundRect">
            <a:avLst>
              <a:gd name="adj" fmla="val 3243"/>
            </a:avLst>
          </a:prstGeom>
          <a:solidFill xmlns:a="http://schemas.openxmlformats.org/drawingml/2006/main">
            <a:srgbClr val="FFFFFF"/>
          </a:solidFill>
          <a:ln xmlns:a="http://schemas.openxmlformats.org/drawingml/2006/main" w="9525">
            <a:solidFill>
              <a:srgbClr val="D7DBE2"/>
            </a:solidFill>
            <a:prstDash val="solid"/>
          </a:ln>
        </p:spPr>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d8fe3fabb2ab43ca"/>
          <a:stretch xmlns:a="http://schemas.openxmlformats.org/drawingml/2006/main"/>
        </p:blipFill>
        <p:spPr>
          <a:xfrm xmlns:a="http://schemas.openxmlformats.org/drawingml/2006/main">
            <a:off x="8324850" y="1951037"/>
            <a:ext cx="3295650" cy="2746375"/>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B759722C-F1D5-4674-B429-C35BD1ED4FA1}"/>
              </a:ext>
            </a:extLst>
          </p:cNvPr>
          <p:cNvSpPr>
            <a:spLocks xmlns:a="http://schemas.openxmlformats.org/drawingml/2006/main" noGrp="1"/>
          </p:cNvSpPr>
          <p:nvPr/>
        </p:nvSpPr>
        <p:spPr>
          <a:xfrm xmlns:a="http://schemas.openxmlformats.org/drawingml/2006/main">
            <a:off x="8324850" y="5353050"/>
            <a:ext cx="3295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111827"/>
                </a:solidFill>
              </a:defRPr>
            </a:pPr>
            <a:r>
              <a:rPr sz="1125" b="1">
                <a:solidFill>
                  <a:srgbClr val="111827"/>
                </a:solidFill>
              </a:rPr>
              <a:t>ATR% high</a:t>
            </a:r>
          </a:p>
        </p:txBody>
      </p:sp>
      <p:sp>
        <p:nvSpPr>
          <p:cNvPr id="18" name="">
            <a:extLst xmlns:a="http://schemas.openxmlformats.org/drawingml/2006/main">
              <a:ext uri="{FF2B5EF4-FFF2-40B4-BE49-F238E27FC236}">
                <a16:creationId xmlns:a16="http://schemas.microsoft.com/office/drawing/2014/main" id="{DE88F9D2-48AB-44C2-B3D2-B41D45952E71}"/>
              </a:ext>
            </a:extLst>
          </p:cNvPr>
          <p:cNvSpPr>
            <a:spLocks xmlns:a="http://schemas.openxmlformats.org/drawingml/2006/main" noGrp="1"/>
          </p:cNvSpPr>
          <p:nvPr/>
        </p:nvSpPr>
        <p:spPr>
          <a:xfrm xmlns:a="http://schemas.openxmlformats.org/drawingml/2006/main">
            <a:off x="571500" y="1257300"/>
            <a:ext cx="1104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75" b="0">
                <a:solidFill>
                  <a:srgbClr val="667384"/>
                </a:solidFill>
              </a:defRPr>
            </a:pPr>
            <a:r>
              <a:rPr sz="975" b="0">
                <a:solidFill>
                  <a:srgbClr val="667384"/>
                </a:solidFill>
              </a:rPr>
              <a:t>Shared scale: burgundy = negative correlation • cream = near zero • teal = positive correlation</a:t>
            </a:r>
          </a:p>
        </p:txBody>
      </p:sp>
      <p:sp>
        <p:nvSpPr>
          <p:cNvPr id="22" name="">
            <a:extLst xmlns:a="http://schemas.openxmlformats.org/drawingml/2006/main">
              <a:ext uri="{FF2B5EF4-FFF2-40B4-BE49-F238E27FC236}">
                <a16:creationId xmlns:a16="http://schemas.microsoft.com/office/drawing/2014/main" id="{60094181-74DA-4452-860E-A18BCCE5A6D2}"/>
              </a:ext>
            </a:extLst>
          </p:cNvPr>
          <p:cNvSpPr>
            <a:spLocks xmlns:a="http://schemas.openxmlformats.org/drawingml/2006/main" noGrp="1"/>
          </p:cNvSpPr>
          <p:nvPr/>
        </p:nvSpPr>
        <p:spPr>
          <a:xfrm xmlns:a="http://schemas.openxmlformats.org/drawingml/2006/main">
            <a:off x="571500" y="1657350"/>
            <a:ext cx="3295650" cy="3333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3f2c4dc981b14a0b"/>
          <a:stretch xmlns:a="http://schemas.openxmlformats.org/drawingml/2006/main"/>
        </p:blipFill>
        <p:spPr>
          <a:xfrm xmlns:a="http://schemas.openxmlformats.org/drawingml/2006/main">
            <a:off x="571500" y="1951037"/>
            <a:ext cx="3295650" cy="2746375"/>
          </a:xfrm>
          <a:prstGeom xmlns:a="http://schemas.openxmlformats.org/drawingml/2006/main" prst="rect">
            <a:avLst/>
          </a:prstGeom>
        </p:spPr>
      </p:pic>
      <p:sp>
        <p:nvSpPr>
          <p:cNvPr id="24" name="">
            <a:extLst xmlns:a="http://schemas.openxmlformats.org/drawingml/2006/main">
              <a:ext uri="{FF2B5EF4-FFF2-40B4-BE49-F238E27FC236}">
                <a16:creationId xmlns:a16="http://schemas.microsoft.com/office/drawing/2014/main" id="{BDADFAA2-C228-48B7-9485-F5E98A6BEC4D}"/>
              </a:ext>
            </a:extLst>
          </p:cNvPr>
          <p:cNvSpPr>
            <a:spLocks xmlns:a="http://schemas.openxmlformats.org/drawingml/2006/main" noGrp="1"/>
          </p:cNvSpPr>
          <p:nvPr/>
        </p:nvSpPr>
        <p:spPr>
          <a:xfrm xmlns:a="http://schemas.openxmlformats.org/drawingml/2006/main">
            <a:off x="4448175" y="1657350"/>
            <a:ext cx="3295650" cy="3333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pic>
        <p:nvPicPr>
          <p:cNvPr id="51" name=""/>
          <p:cNvPicPr>
            <a:picLocks xmlns:a="http://schemas.openxmlformats.org/drawingml/2006/main" noChangeAspect="1"/>
          </p:cNvPicPr>
          <p:nvPr/>
        </p:nvPicPr>
        <p:blipFill>
          <a:blip xmlns:r="http://schemas.openxmlformats.org/officeDocument/2006/relationships" xmlns:a="http://schemas.openxmlformats.org/drawingml/2006/main" r:embed="R6a2444dad8ea4e8a"/>
          <a:stretch xmlns:a="http://schemas.openxmlformats.org/drawingml/2006/main"/>
        </p:blipFill>
        <p:spPr>
          <a:xfrm xmlns:a="http://schemas.openxmlformats.org/drawingml/2006/main">
            <a:off x="4448175" y="1951037"/>
            <a:ext cx="3295650" cy="2746375"/>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4AC78B5E-EEDC-4F79-ABC6-074950AE98EC}"/>
              </a:ext>
            </a:extLst>
          </p:cNvPr>
          <p:cNvSpPr>
            <a:spLocks xmlns:a="http://schemas.openxmlformats.org/drawingml/2006/main" noGrp="1"/>
          </p:cNvSpPr>
          <p:nvPr/>
        </p:nvSpPr>
        <p:spPr>
          <a:xfrm xmlns:a="http://schemas.openxmlformats.org/drawingml/2006/main">
            <a:off x="8324850" y="1657350"/>
            <a:ext cx="3295650" cy="3333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pic>
        <p:nvPicPr>
          <p:cNvPr id="53" name=""/>
          <p:cNvPicPr>
            <a:picLocks xmlns:a="http://schemas.openxmlformats.org/drawingml/2006/main" noChangeAspect="1"/>
          </p:cNvPicPr>
          <p:nvPr/>
        </p:nvPicPr>
        <p:blipFill>
          <a:blip xmlns:r="http://schemas.openxmlformats.org/officeDocument/2006/relationships" xmlns:a="http://schemas.openxmlformats.org/drawingml/2006/main" r:embed="R808040adf5914aad"/>
          <a:stretch xmlns:a="http://schemas.openxmlformats.org/drawingml/2006/main"/>
        </p:blipFill>
        <p:spPr>
          <a:xfrm xmlns:a="http://schemas.openxmlformats.org/drawingml/2006/main">
            <a:off x="8324850" y="1951037"/>
            <a:ext cx="3295650" cy="2746375"/>
          </a:xfrm>
          <a:prstGeom xmlns:a="http://schemas.openxmlformats.org/drawingml/2006/main" prst="rect">
            <a:avLst/>
          </a:prstGeom>
        </p:spPr>
      </p:pic>
    </p:spTree>
    <p:extLst>
      <p:ext uri="{BB962C8B-B14F-4D97-AF65-F5344CB8AC3E}">
        <p14:creationId xmlns:p14="http://schemas.microsoft.com/office/powerpoint/2010/main" val="1787801498"/>
      </p:ext>
    </p:extLst>
  </p:cSld>
</p:sld>
</file>

<file path=ppt/slides/slide1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E0C2F0D-570F-4839-A4F0-1FC82309B42A}"/>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667384"/>
                </a:solidFill>
              </a:defRPr>
            </a:pPr>
            <a:r>
              <a:rPr sz="1200" b="1">
                <a:solidFill>
                  <a:srgbClr val="667384"/>
                </a:solidFill>
              </a:rPr>
              <a:t>FULL VOCABULARY</a:t>
            </a:r>
          </a:p>
        </p:txBody>
      </p:sp>
      <p:sp>
        <p:nvSpPr>
          <p:cNvPr id="2" name="">
            <a:extLst xmlns:a="http://schemas.openxmlformats.org/drawingml/2006/main">
              <a:ext uri="{FF2B5EF4-FFF2-40B4-BE49-F238E27FC236}">
                <a16:creationId xmlns:a16="http://schemas.microsoft.com/office/drawing/2014/main" id="{32C4B316-D2F7-4E51-9D59-AB77085AAAA3}"/>
              </a:ext>
            </a:extLst>
          </p:cNvPr>
          <p:cNvSpPr>
            <a:spLocks xmlns:a="http://schemas.openxmlformats.org/drawingml/2006/main" noGrp="1"/>
          </p:cNvSpPr>
          <p:nvPr/>
        </p:nvSpPr>
        <p:spPr>
          <a:xfrm xmlns:a="http://schemas.openxmlformats.org/drawingml/2006/main">
            <a:off x="457200" y="533400"/>
            <a:ext cx="11277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150" b="1">
                <a:solidFill>
                  <a:srgbClr val="111827"/>
                </a:solidFill>
              </a:defRPr>
            </a:pPr>
            <a:r>
              <a:rPr sz="3150" b="1">
                <a:solidFill>
                  <a:srgbClr val="111827"/>
                </a:solidFill>
              </a:rPr>
              <a:t>Gain branch | signed ER20 states</a:t>
            </a:r>
          </a:p>
        </p:txBody>
      </p:sp>
      <p:sp>
        <p:nvSpPr>
          <p:cNvPr id="3" name="">
            <a:extLst xmlns:a="http://schemas.openxmlformats.org/drawingml/2006/main">
              <a:ext uri="{FF2B5EF4-FFF2-40B4-BE49-F238E27FC236}">
                <a16:creationId xmlns:a16="http://schemas.microsoft.com/office/drawing/2014/main" id="{B63D6A63-315C-4128-BBD2-A189ED330EE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60137A8B-25E2-4ECC-8FC3-3ACF162365BF}"/>
              </a:ext>
            </a:extLst>
          </p:cNvPr>
          <p:cNvSpPr>
            <a:spLocks xmlns:a="http://schemas.openxmlformats.org/drawingml/2006/main" noGrp="1"/>
          </p:cNvSpPr>
          <p:nvPr/>
        </p:nvSpPr>
        <p:spPr>
          <a:xfrm xmlns:a="http://schemas.openxmlformats.org/drawingml/2006/main">
            <a:off x="457200" y="6515100"/>
            <a:ext cx="447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0">
                <a:solidFill>
                  <a:srgbClr val="667384"/>
                </a:solidFill>
              </a:defRPr>
            </a:pPr>
            <a:r>
              <a:rPr sz="900" b="0">
                <a:solidFill>
                  <a:srgbClr val="667384"/>
                </a:solidFill>
              </a:rPr>
              <a:t>129 instruments | 15 horizons | 9 filters | 2 branches | 2018–2023</a:t>
            </a:r>
          </a:p>
        </p:txBody>
      </p:sp>
      <p:sp>
        <p:nvSpPr>
          <p:cNvPr id="5" name="">
            <a:extLst xmlns:a="http://schemas.openxmlformats.org/drawingml/2006/main">
              <a:ext uri="{FF2B5EF4-FFF2-40B4-BE49-F238E27FC236}">
                <a16:creationId xmlns:a16="http://schemas.microsoft.com/office/drawing/2014/main" id="{9978E653-0376-4341-AA57-2B3A9AA83F73}"/>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121</a:t>
            </a:r>
          </a:p>
        </p:txBody>
      </p:sp>
      <p:sp>
        <p:nvSpPr>
          <p:cNvPr id="6" name="">
            <a:extLst xmlns:a="http://schemas.openxmlformats.org/drawingml/2006/main">
              <a:ext uri="{FF2B5EF4-FFF2-40B4-BE49-F238E27FC236}">
                <a16:creationId xmlns:a16="http://schemas.microsoft.com/office/drawing/2014/main" id="{DF56FD39-2193-4C27-804A-0AE874F5E78E}"/>
              </a:ext>
            </a:extLst>
          </p:cNvPr>
          <p:cNvSpPr>
            <a:spLocks xmlns:a="http://schemas.openxmlformats.org/drawingml/2006/main" noGrp="1"/>
          </p:cNvSpPr>
          <p:nvPr/>
        </p:nvSpPr>
        <p:spPr>
          <a:xfrm xmlns:a="http://schemas.openxmlformats.org/drawingml/2006/main">
            <a:off x="457200" y="1466850"/>
            <a:ext cx="3524250" cy="4591050"/>
          </a:xfrm>
          <a:prstGeom xmlns:a="http://schemas.openxmlformats.org/drawingml/2006/main" prst="roundRect">
            <a:avLst>
              <a:gd name="adj" fmla="val 2449"/>
            </a:avLst>
          </a:prstGeom>
          <a:solidFill xmlns:a="http://schemas.openxmlformats.org/drawingml/2006/main">
            <a:srgbClr val="FFFFFF"/>
          </a:solidFill>
          <a:ln xmlns:a="http://schemas.openxmlformats.org/drawingml/2006/main" w="9525">
            <a:solidFill>
              <a:srgbClr val="D7DBE2"/>
            </a:solidFill>
            <a:prstDash val="solid"/>
          </a:ln>
        </p:spPr>
      </p:sp>
      <p:sp>
        <p:nvSpPr>
          <p:cNvPr id="7" name="">
            <a:extLst xmlns:a="http://schemas.openxmlformats.org/drawingml/2006/main">
              <a:ext uri="{FF2B5EF4-FFF2-40B4-BE49-F238E27FC236}">
                <a16:creationId xmlns:a16="http://schemas.microsoft.com/office/drawing/2014/main" id="{C2A0D3EE-3DC1-40CD-96F5-3C228D706FFC}"/>
              </a:ext>
            </a:extLst>
          </p:cNvPr>
          <p:cNvSpPr>
            <a:spLocks xmlns:a="http://schemas.openxmlformats.org/drawingml/2006/main" noGrp="1"/>
          </p:cNvSpPr>
          <p:nvPr/>
        </p:nvSpPr>
        <p:spPr>
          <a:xfrm xmlns:a="http://schemas.openxmlformats.org/drawingml/2006/main">
            <a:off x="4333875" y="1466850"/>
            <a:ext cx="3524250" cy="4591050"/>
          </a:xfrm>
          <a:prstGeom xmlns:a="http://schemas.openxmlformats.org/drawingml/2006/main" prst="roundRect">
            <a:avLst>
              <a:gd name="adj" fmla="val 2449"/>
            </a:avLst>
          </a:prstGeom>
          <a:solidFill xmlns:a="http://schemas.openxmlformats.org/drawingml/2006/main">
            <a:srgbClr val="FFFFFF"/>
          </a:solidFill>
          <a:ln xmlns:a="http://schemas.openxmlformats.org/drawingml/2006/main" w="9525">
            <a:solidFill>
              <a:srgbClr val="D7DBE2"/>
            </a:solidFill>
            <a:prstDash val="solid"/>
          </a:ln>
        </p:spPr>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9ccd368331b4478e"/>
          <a:srcRect xmlns:a="http://schemas.openxmlformats.org/drawingml/2006/main" l="18931" t="0" r="18931" b="0"/>
          <a:stretch xmlns:a="http://schemas.openxmlformats.org/drawingml/2006/main">
            <a:fillRect l="0" t="0" r="0" b="0"/>
          </a:stretch>
        </p:blipFill>
        <p:spPr>
          <a:xfrm xmlns:a="http://schemas.openxmlformats.org/drawingml/2006/main">
            <a:off x="571500" y="1657350"/>
            <a:ext cx="3295650" cy="3333750"/>
          </a:xfrm>
          <a:prstGeom xmlns:a="http://schemas.openxmlformats.org/drawingml/2006/main" prst="rect">
            <a:avLst/>
          </a:prstGeom>
        </p:spPr>
      </p:pic>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4c47627397ab43c3"/>
          <a:srcRect xmlns:a="http://schemas.openxmlformats.org/drawingml/2006/main" l="18931" t="0" r="18931" b="0"/>
          <a:stretch xmlns:a="http://schemas.openxmlformats.org/drawingml/2006/main">
            <a:fillRect l="0" t="0" r="0" b="0"/>
          </a:stretch>
        </p:blipFill>
        <p:spPr>
          <a:xfrm xmlns:a="http://schemas.openxmlformats.org/drawingml/2006/main">
            <a:off x="4448175" y="1657350"/>
            <a:ext cx="3295650" cy="333375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BA3CBFF9-799F-4FAA-B24D-BE665753B658}"/>
              </a:ext>
            </a:extLst>
          </p:cNvPr>
          <p:cNvSpPr>
            <a:spLocks xmlns:a="http://schemas.openxmlformats.org/drawingml/2006/main" noGrp="1"/>
          </p:cNvSpPr>
          <p:nvPr/>
        </p:nvSpPr>
        <p:spPr>
          <a:xfrm xmlns:a="http://schemas.openxmlformats.org/drawingml/2006/main">
            <a:off x="571500" y="5353050"/>
            <a:ext cx="3295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111827"/>
                </a:solidFill>
              </a:defRPr>
            </a:pPr>
            <a:r>
              <a:rPr sz="1125" b="1">
                <a:solidFill>
                  <a:srgbClr val="111827"/>
                </a:solidFill>
              </a:rPr>
              <a:t>Signed ER20 up</a:t>
            </a:r>
          </a:p>
        </p:txBody>
      </p:sp>
      <p:sp>
        <p:nvSpPr>
          <p:cNvPr id="11" name="">
            <a:extLst xmlns:a="http://schemas.openxmlformats.org/drawingml/2006/main">
              <a:ext uri="{FF2B5EF4-FFF2-40B4-BE49-F238E27FC236}">
                <a16:creationId xmlns:a16="http://schemas.microsoft.com/office/drawing/2014/main" id="{D776E3E8-FC88-4BFA-AE24-6E74E9B218F3}"/>
              </a:ext>
            </a:extLst>
          </p:cNvPr>
          <p:cNvSpPr>
            <a:spLocks xmlns:a="http://schemas.openxmlformats.org/drawingml/2006/main" noGrp="1"/>
          </p:cNvSpPr>
          <p:nvPr/>
        </p:nvSpPr>
        <p:spPr>
          <a:xfrm xmlns:a="http://schemas.openxmlformats.org/drawingml/2006/main">
            <a:off x="4448175" y="5353050"/>
            <a:ext cx="3295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111827"/>
                </a:solidFill>
              </a:defRPr>
            </a:pPr>
            <a:r>
              <a:rPr sz="1125" b="1">
                <a:solidFill>
                  <a:srgbClr val="111827"/>
                </a:solidFill>
              </a:rPr>
              <a:t>Signed ER20 sideways</a:t>
            </a:r>
          </a:p>
        </p:txBody>
      </p:sp>
      <p:sp>
        <p:nvSpPr>
          <p:cNvPr id="15" name="">
            <a:extLst xmlns:a="http://schemas.openxmlformats.org/drawingml/2006/main">
              <a:ext uri="{FF2B5EF4-FFF2-40B4-BE49-F238E27FC236}">
                <a16:creationId xmlns:a16="http://schemas.microsoft.com/office/drawing/2014/main" id="{EF6E41A6-40B1-46B4-8E14-C487D1C5725F}"/>
              </a:ext>
            </a:extLst>
          </p:cNvPr>
          <p:cNvSpPr>
            <a:spLocks xmlns:a="http://schemas.openxmlformats.org/drawingml/2006/main" noGrp="1"/>
          </p:cNvSpPr>
          <p:nvPr/>
        </p:nvSpPr>
        <p:spPr>
          <a:xfrm xmlns:a="http://schemas.openxmlformats.org/drawingml/2006/main">
            <a:off x="8210550" y="1466850"/>
            <a:ext cx="3524250" cy="4591050"/>
          </a:xfrm>
          <a:prstGeom xmlns:a="http://schemas.openxmlformats.org/drawingml/2006/main" prst="roundRect">
            <a:avLst>
              <a:gd name="adj" fmla="val 3243"/>
            </a:avLst>
          </a:prstGeom>
          <a:solidFill xmlns:a="http://schemas.openxmlformats.org/drawingml/2006/main">
            <a:srgbClr val="FFFFFF"/>
          </a:solidFill>
          <a:ln xmlns:a="http://schemas.openxmlformats.org/drawingml/2006/main" w="9525">
            <a:solidFill>
              <a:srgbClr val="D7DBE2"/>
            </a:solidFill>
            <a:prstDash val="solid"/>
          </a:ln>
        </p:spPr>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ecfcd89efea947a2"/>
          <a:stretch xmlns:a="http://schemas.openxmlformats.org/drawingml/2006/main"/>
        </p:blipFill>
        <p:spPr>
          <a:xfrm xmlns:a="http://schemas.openxmlformats.org/drawingml/2006/main">
            <a:off x="8324850" y="1951037"/>
            <a:ext cx="3295650" cy="2746375"/>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2DD34DD9-7FA2-48E2-B4A6-F6B283C1E6AB}"/>
              </a:ext>
            </a:extLst>
          </p:cNvPr>
          <p:cNvSpPr>
            <a:spLocks xmlns:a="http://schemas.openxmlformats.org/drawingml/2006/main" noGrp="1"/>
          </p:cNvSpPr>
          <p:nvPr/>
        </p:nvSpPr>
        <p:spPr>
          <a:xfrm xmlns:a="http://schemas.openxmlformats.org/drawingml/2006/main">
            <a:off x="8324850" y="5353050"/>
            <a:ext cx="3295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111827"/>
                </a:solidFill>
              </a:defRPr>
            </a:pPr>
            <a:r>
              <a:rPr sz="1125" b="1">
                <a:solidFill>
                  <a:srgbClr val="111827"/>
                </a:solidFill>
              </a:rPr>
              <a:t>Signed ER20 down — sparse at short horizons</a:t>
            </a:r>
          </a:p>
        </p:txBody>
      </p:sp>
      <p:sp>
        <p:nvSpPr>
          <p:cNvPr id="18" name="">
            <a:extLst xmlns:a="http://schemas.openxmlformats.org/drawingml/2006/main">
              <a:ext uri="{FF2B5EF4-FFF2-40B4-BE49-F238E27FC236}">
                <a16:creationId xmlns:a16="http://schemas.microsoft.com/office/drawing/2014/main" id="{BA7FA03A-4CB0-48D0-9FF3-3F911422AC3E}"/>
              </a:ext>
            </a:extLst>
          </p:cNvPr>
          <p:cNvSpPr>
            <a:spLocks xmlns:a="http://schemas.openxmlformats.org/drawingml/2006/main" noGrp="1"/>
          </p:cNvSpPr>
          <p:nvPr/>
        </p:nvSpPr>
        <p:spPr>
          <a:xfrm xmlns:a="http://schemas.openxmlformats.org/drawingml/2006/main">
            <a:off x="571500" y="1257300"/>
            <a:ext cx="1104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75" b="0">
                <a:solidFill>
                  <a:srgbClr val="667384"/>
                </a:solidFill>
              </a:defRPr>
            </a:pPr>
            <a:r>
              <a:rPr sz="975" b="0">
                <a:solidFill>
                  <a:srgbClr val="667384"/>
                </a:solidFill>
              </a:rPr>
              <a:t>Shared scale: burgundy = negative correlation • cream = near zero • teal = positive correlation</a:t>
            </a:r>
          </a:p>
        </p:txBody>
      </p:sp>
      <p:sp>
        <p:nvSpPr>
          <p:cNvPr id="22" name="">
            <a:extLst xmlns:a="http://schemas.openxmlformats.org/drawingml/2006/main">
              <a:ext uri="{FF2B5EF4-FFF2-40B4-BE49-F238E27FC236}">
                <a16:creationId xmlns:a16="http://schemas.microsoft.com/office/drawing/2014/main" id="{AB2CC419-A59C-4E10-A27A-418898838210}"/>
              </a:ext>
            </a:extLst>
          </p:cNvPr>
          <p:cNvSpPr>
            <a:spLocks xmlns:a="http://schemas.openxmlformats.org/drawingml/2006/main" noGrp="1"/>
          </p:cNvSpPr>
          <p:nvPr/>
        </p:nvSpPr>
        <p:spPr>
          <a:xfrm xmlns:a="http://schemas.openxmlformats.org/drawingml/2006/main">
            <a:off x="571500" y="1657350"/>
            <a:ext cx="3295650" cy="3333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8fded0d126e24d29"/>
          <a:stretch xmlns:a="http://schemas.openxmlformats.org/drawingml/2006/main"/>
        </p:blipFill>
        <p:spPr>
          <a:xfrm xmlns:a="http://schemas.openxmlformats.org/drawingml/2006/main">
            <a:off x="571500" y="1951037"/>
            <a:ext cx="3295650" cy="2746375"/>
          </a:xfrm>
          <a:prstGeom xmlns:a="http://schemas.openxmlformats.org/drawingml/2006/main" prst="rect">
            <a:avLst/>
          </a:prstGeom>
        </p:spPr>
      </p:pic>
      <p:sp>
        <p:nvSpPr>
          <p:cNvPr id="24" name="">
            <a:extLst xmlns:a="http://schemas.openxmlformats.org/drawingml/2006/main">
              <a:ext uri="{FF2B5EF4-FFF2-40B4-BE49-F238E27FC236}">
                <a16:creationId xmlns:a16="http://schemas.microsoft.com/office/drawing/2014/main" id="{C266B56C-A405-48F5-AC31-F00CC4781B95}"/>
              </a:ext>
            </a:extLst>
          </p:cNvPr>
          <p:cNvSpPr>
            <a:spLocks xmlns:a="http://schemas.openxmlformats.org/drawingml/2006/main" noGrp="1"/>
          </p:cNvSpPr>
          <p:nvPr/>
        </p:nvSpPr>
        <p:spPr>
          <a:xfrm xmlns:a="http://schemas.openxmlformats.org/drawingml/2006/main">
            <a:off x="4448175" y="1657350"/>
            <a:ext cx="3295650" cy="3333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pic>
        <p:nvPicPr>
          <p:cNvPr id="51" name=""/>
          <p:cNvPicPr>
            <a:picLocks xmlns:a="http://schemas.openxmlformats.org/drawingml/2006/main" noChangeAspect="1"/>
          </p:cNvPicPr>
          <p:nvPr/>
        </p:nvPicPr>
        <p:blipFill>
          <a:blip xmlns:r="http://schemas.openxmlformats.org/officeDocument/2006/relationships" xmlns:a="http://schemas.openxmlformats.org/drawingml/2006/main" r:embed="R0902ec0b5437451f"/>
          <a:stretch xmlns:a="http://schemas.openxmlformats.org/drawingml/2006/main"/>
        </p:blipFill>
        <p:spPr>
          <a:xfrm xmlns:a="http://schemas.openxmlformats.org/drawingml/2006/main">
            <a:off x="4448175" y="1951037"/>
            <a:ext cx="3295650" cy="2746375"/>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0F4F9BFC-9543-4B04-B749-755FBC92DAD2}"/>
              </a:ext>
            </a:extLst>
          </p:cNvPr>
          <p:cNvSpPr>
            <a:spLocks xmlns:a="http://schemas.openxmlformats.org/drawingml/2006/main" noGrp="1"/>
          </p:cNvSpPr>
          <p:nvPr/>
        </p:nvSpPr>
        <p:spPr>
          <a:xfrm xmlns:a="http://schemas.openxmlformats.org/drawingml/2006/main">
            <a:off x="8324850" y="1657350"/>
            <a:ext cx="3295650" cy="3333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pic>
        <p:nvPicPr>
          <p:cNvPr id="53" name=""/>
          <p:cNvPicPr>
            <a:picLocks xmlns:a="http://schemas.openxmlformats.org/drawingml/2006/main" noChangeAspect="1"/>
          </p:cNvPicPr>
          <p:nvPr/>
        </p:nvPicPr>
        <p:blipFill>
          <a:blip xmlns:r="http://schemas.openxmlformats.org/officeDocument/2006/relationships" xmlns:a="http://schemas.openxmlformats.org/drawingml/2006/main" r:embed="R6b2df95d8da54daa"/>
          <a:stretch xmlns:a="http://schemas.openxmlformats.org/drawingml/2006/main"/>
        </p:blipFill>
        <p:spPr>
          <a:xfrm xmlns:a="http://schemas.openxmlformats.org/drawingml/2006/main">
            <a:off x="8324850" y="1951037"/>
            <a:ext cx="3295650" cy="2746375"/>
          </a:xfrm>
          <a:prstGeom xmlns:a="http://schemas.openxmlformats.org/drawingml/2006/main" prst="rect">
            <a:avLst/>
          </a:prstGeom>
        </p:spPr>
      </p:pic>
    </p:spTree>
    <p:extLst>
      <p:ext uri="{BB962C8B-B14F-4D97-AF65-F5344CB8AC3E}">
        <p14:creationId xmlns:p14="http://schemas.microsoft.com/office/powerpoint/2010/main" val="1787801498"/>
      </p:ext>
    </p:extLst>
  </p:cSld>
</p:sld>
</file>

<file path=ppt/slides/slide1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E0C2F0D-570F-4839-A4F0-1FC82309B42A}"/>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667384"/>
                </a:solidFill>
              </a:defRPr>
            </a:pPr>
            <a:r>
              <a:rPr sz="1200" b="1">
                <a:solidFill>
                  <a:srgbClr val="667384"/>
                </a:solidFill>
              </a:rPr>
              <a:t>FULL VOCABULARY</a:t>
            </a:r>
          </a:p>
        </p:txBody>
      </p:sp>
      <p:sp>
        <p:nvSpPr>
          <p:cNvPr id="2" name="">
            <a:extLst xmlns:a="http://schemas.openxmlformats.org/drawingml/2006/main">
              <a:ext uri="{FF2B5EF4-FFF2-40B4-BE49-F238E27FC236}">
                <a16:creationId xmlns:a16="http://schemas.microsoft.com/office/drawing/2014/main" id="{32C4B316-D2F7-4E51-9D59-AB77085AAAA3}"/>
              </a:ext>
            </a:extLst>
          </p:cNvPr>
          <p:cNvSpPr>
            <a:spLocks xmlns:a="http://schemas.openxmlformats.org/drawingml/2006/main" noGrp="1"/>
          </p:cNvSpPr>
          <p:nvPr/>
        </p:nvSpPr>
        <p:spPr>
          <a:xfrm xmlns:a="http://schemas.openxmlformats.org/drawingml/2006/main">
            <a:off x="457200" y="533400"/>
            <a:ext cx="11277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150" b="1">
                <a:solidFill>
                  <a:srgbClr val="111827"/>
                </a:solidFill>
              </a:defRPr>
            </a:pPr>
            <a:r>
              <a:rPr sz="3150" b="1">
                <a:solidFill>
                  <a:srgbClr val="111827"/>
                </a:solidFill>
              </a:rPr>
              <a:t>The filters discriminate the two branches differently</a:t>
            </a:r>
          </a:p>
        </p:txBody>
      </p:sp>
      <p:sp>
        <p:nvSpPr>
          <p:cNvPr id="3" name="">
            <a:extLst xmlns:a="http://schemas.openxmlformats.org/drawingml/2006/main">
              <a:ext uri="{FF2B5EF4-FFF2-40B4-BE49-F238E27FC236}">
                <a16:creationId xmlns:a16="http://schemas.microsoft.com/office/drawing/2014/main" id="{B63D6A63-315C-4128-BBD2-A189ED330EE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60137A8B-25E2-4ECC-8FC3-3ACF162365BF}"/>
              </a:ext>
            </a:extLst>
          </p:cNvPr>
          <p:cNvSpPr>
            <a:spLocks xmlns:a="http://schemas.openxmlformats.org/drawingml/2006/main" noGrp="1"/>
          </p:cNvSpPr>
          <p:nvPr/>
        </p:nvSpPr>
        <p:spPr>
          <a:xfrm xmlns:a="http://schemas.openxmlformats.org/drawingml/2006/main">
            <a:off x="457200" y="6515100"/>
            <a:ext cx="447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0">
                <a:solidFill>
                  <a:srgbClr val="667384"/>
                </a:solidFill>
              </a:defRPr>
            </a:pPr>
            <a:r>
              <a:rPr sz="900" b="0">
                <a:solidFill>
                  <a:srgbClr val="667384"/>
                </a:solidFill>
              </a:rPr>
              <a:t>129 instruments | 15 horizons | 9 filters | 2 branches | 2018–2023</a:t>
            </a:r>
          </a:p>
        </p:txBody>
      </p:sp>
      <p:sp>
        <p:nvSpPr>
          <p:cNvPr id="5" name="">
            <a:extLst xmlns:a="http://schemas.openxmlformats.org/drawingml/2006/main">
              <a:ext uri="{FF2B5EF4-FFF2-40B4-BE49-F238E27FC236}">
                <a16:creationId xmlns:a16="http://schemas.microsoft.com/office/drawing/2014/main" id="{9978E653-0376-4341-AA57-2B3A9AA83F73}"/>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122</a:t>
            </a:r>
          </a:p>
        </p:txBody>
      </p:sp>
      <p:sp>
        <p:nvSpPr>
          <p:cNvPr id="6" name="">
            <a:extLst xmlns:a="http://schemas.openxmlformats.org/drawingml/2006/main">
              <a:ext uri="{FF2B5EF4-FFF2-40B4-BE49-F238E27FC236}">
                <a16:creationId xmlns:a16="http://schemas.microsoft.com/office/drawing/2014/main" id="{DF56FD39-2193-4C27-804A-0AE874F5E78E}"/>
              </a:ext>
            </a:extLst>
          </p:cNvPr>
          <p:cNvSpPr>
            <a:spLocks xmlns:a="http://schemas.openxmlformats.org/drawingml/2006/main" noGrp="1"/>
          </p:cNvSpPr>
          <p:nvPr/>
        </p:nvSpPr>
        <p:spPr>
          <a:xfrm xmlns:a="http://schemas.openxmlformats.org/drawingml/2006/main">
            <a:off x="552450" y="1428750"/>
            <a:ext cx="5334000" cy="4667250"/>
          </a:xfrm>
          <a:prstGeom xmlns:a="http://schemas.openxmlformats.org/drawingml/2006/main" prst="roundRect">
            <a:avLst>
              <a:gd name="adj" fmla="val 2449"/>
            </a:avLst>
          </a:prstGeom>
          <a:solidFill xmlns:a="http://schemas.openxmlformats.org/drawingml/2006/main">
            <a:srgbClr val="FFFFFF"/>
          </a:solidFill>
          <a:ln xmlns:a="http://schemas.openxmlformats.org/drawingml/2006/main" w="9525">
            <a:solidFill>
              <a:srgbClr val="D7DBE2"/>
            </a:solidFill>
            <a:prstDash val="solid"/>
          </a:ln>
        </p:spPr>
      </p:sp>
      <p:sp>
        <p:nvSpPr>
          <p:cNvPr id="7" name="">
            <a:extLst xmlns:a="http://schemas.openxmlformats.org/drawingml/2006/main">
              <a:ext uri="{FF2B5EF4-FFF2-40B4-BE49-F238E27FC236}">
                <a16:creationId xmlns:a16="http://schemas.microsoft.com/office/drawing/2014/main" id="{C2A0D3EE-3DC1-40CD-96F5-3C228D706FFC}"/>
              </a:ext>
            </a:extLst>
          </p:cNvPr>
          <p:cNvSpPr>
            <a:spLocks xmlns:a="http://schemas.openxmlformats.org/drawingml/2006/main" noGrp="1"/>
          </p:cNvSpPr>
          <p:nvPr/>
        </p:nvSpPr>
        <p:spPr>
          <a:xfrm xmlns:a="http://schemas.openxmlformats.org/drawingml/2006/main">
            <a:off x="6305550" y="1428750"/>
            <a:ext cx="5124450" cy="4667250"/>
          </a:xfrm>
          <a:prstGeom xmlns:a="http://schemas.openxmlformats.org/drawingml/2006/main" prst="roundRect">
            <a:avLst>
              <a:gd name="adj" fmla="val 2449"/>
            </a:avLst>
          </a:prstGeom>
          <a:solidFill xmlns:a="http://schemas.openxmlformats.org/drawingml/2006/main">
            <a:srgbClr val="FFFFFF"/>
          </a:solidFill>
          <a:ln xmlns:a="http://schemas.openxmlformats.org/drawingml/2006/main" w="9525">
            <a:solidFill>
              <a:srgbClr val="D7DBE2"/>
            </a:solidFill>
            <a:prstDash val="solid"/>
          </a:ln>
        </p:spPr>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53e9f3cee6c0431d"/>
          <a:srcRect xmlns:a="http://schemas.openxmlformats.org/drawingml/2006/main" l="7128" t="0" r="7128" b="0"/>
          <a:stretch xmlns:a="http://schemas.openxmlformats.org/drawingml/2006/main">
            <a:fillRect l="0" t="0" r="0" b="0"/>
          </a:stretch>
        </p:blipFill>
        <p:spPr>
          <a:xfrm xmlns:a="http://schemas.openxmlformats.org/drawingml/2006/main">
            <a:off x="685800" y="1657350"/>
            <a:ext cx="5067300" cy="3714750"/>
          </a:xfrm>
          <a:prstGeom xmlns:a="http://schemas.openxmlformats.org/drawingml/2006/main" prst="rect">
            <a:avLst/>
          </a:prstGeom>
        </p:spPr>
      </p:pic>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a3c1e301a01149e7"/>
          <a:srcRect xmlns:a="http://schemas.openxmlformats.org/drawingml/2006/main" l="9707" t="0" r="9707" b="0"/>
          <a:stretch xmlns:a="http://schemas.openxmlformats.org/drawingml/2006/main">
            <a:fillRect l="0" t="0" r="0" b="0"/>
          </a:stretch>
        </p:blipFill>
        <p:spPr>
          <a:xfrm xmlns:a="http://schemas.openxmlformats.org/drawingml/2006/main">
            <a:off x="6477000" y="1657350"/>
            <a:ext cx="4762500" cy="371475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BA3CBFF9-799F-4FAA-B24D-BE665753B658}"/>
              </a:ext>
            </a:extLst>
          </p:cNvPr>
          <p:cNvSpPr>
            <a:spLocks xmlns:a="http://schemas.openxmlformats.org/drawingml/2006/main" noGrp="1"/>
          </p:cNvSpPr>
          <p:nvPr/>
        </p:nvSpPr>
        <p:spPr>
          <a:xfrm xmlns:a="http://schemas.openxmlformats.org/drawingml/2006/main">
            <a:off x="685800" y="5467350"/>
            <a:ext cx="50673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111827"/>
                </a:solidFill>
              </a:defRPr>
            </a:pPr>
            <a:r>
              <a:rPr sz="1125" b="1">
                <a:solidFill>
                  <a:srgbClr val="111827"/>
                </a:solidFill>
              </a:rPr>
              <a:t>Loss branch: short cells mix; rebound strengthens in trending / ATR-high / signed-down</a:t>
            </a:r>
          </a:p>
        </p:txBody>
      </p:sp>
      <p:sp>
        <p:nvSpPr>
          <p:cNvPr id="11" name="">
            <a:extLst xmlns:a="http://schemas.openxmlformats.org/drawingml/2006/main">
              <a:ext uri="{FF2B5EF4-FFF2-40B4-BE49-F238E27FC236}">
                <a16:creationId xmlns:a16="http://schemas.microsoft.com/office/drawing/2014/main" id="{D776E3E8-FC88-4BFA-AE24-6E74E9B218F3}"/>
              </a:ext>
            </a:extLst>
          </p:cNvPr>
          <p:cNvSpPr>
            <a:spLocks xmlns:a="http://schemas.openxmlformats.org/drawingml/2006/main" noGrp="1"/>
          </p:cNvSpPr>
          <p:nvPr/>
        </p:nvSpPr>
        <p:spPr>
          <a:xfrm xmlns:a="http://schemas.openxmlformats.org/drawingml/2006/main">
            <a:off x="6477000" y="5467350"/>
            <a:ext cx="4762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111827"/>
                </a:solidFill>
              </a:defRPr>
            </a:pPr>
            <a:r>
              <a:rPr sz="1125" b="1">
                <a:solidFill>
                  <a:srgbClr val="111827"/>
                </a:solidFill>
              </a:rPr>
              <a:t>Gain branch: sideways favors continuation; trending favors exhaustion</a:t>
            </a:r>
          </a:p>
        </p:txBody>
      </p:sp>
      <p:sp>
        <p:nvSpPr>
          <p:cNvPr id="15" name="">
            <a:extLst xmlns:a="http://schemas.openxmlformats.org/drawingml/2006/main">
              <a:ext uri="{FF2B5EF4-FFF2-40B4-BE49-F238E27FC236}">
                <a16:creationId xmlns:a16="http://schemas.microsoft.com/office/drawing/2014/main" id="{398013A1-8EDA-4AC9-A5BA-5C682601B454}"/>
              </a:ext>
            </a:extLst>
          </p:cNvPr>
          <p:cNvSpPr>
            <a:spLocks xmlns:a="http://schemas.openxmlformats.org/drawingml/2006/main" noGrp="1"/>
          </p:cNvSpPr>
          <p:nvPr/>
        </p:nvSpPr>
        <p:spPr>
          <a:xfrm xmlns:a="http://schemas.openxmlformats.org/drawingml/2006/main">
            <a:off x="571500" y="1257300"/>
            <a:ext cx="1104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75" b="0">
                <a:solidFill>
                  <a:srgbClr val="667384"/>
                </a:solidFill>
              </a:defRPr>
            </a:pPr>
            <a:r>
              <a:rPr sz="975" b="0">
                <a:solidFill>
                  <a:srgbClr val="667384"/>
                </a:solidFill>
              </a:rPr>
              <a:t>Same horizons and filters on both branches; colors use the shared diverging scale.</a:t>
            </a:r>
          </a:p>
        </p:txBody>
      </p:sp>
      <p:sp>
        <p:nvSpPr>
          <p:cNvPr id="18" name="">
            <a:extLst xmlns:a="http://schemas.openxmlformats.org/drawingml/2006/main">
              <a:ext uri="{FF2B5EF4-FFF2-40B4-BE49-F238E27FC236}">
                <a16:creationId xmlns:a16="http://schemas.microsoft.com/office/drawing/2014/main" id="{A5349DDF-AC9A-4405-8442-8F91EA94D740}"/>
              </a:ext>
            </a:extLst>
          </p:cNvPr>
          <p:cNvSpPr>
            <a:spLocks xmlns:a="http://schemas.openxmlformats.org/drawingml/2006/main" noGrp="1"/>
          </p:cNvSpPr>
          <p:nvPr/>
        </p:nvSpPr>
        <p:spPr>
          <a:xfrm xmlns:a="http://schemas.openxmlformats.org/drawingml/2006/main">
            <a:off x="571500" y="1600200"/>
            <a:ext cx="5276850" cy="37719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fa74646c1da1413b"/>
          <a:stretch xmlns:a="http://schemas.openxmlformats.org/drawingml/2006/main"/>
        </p:blipFill>
        <p:spPr>
          <a:xfrm xmlns:a="http://schemas.openxmlformats.org/drawingml/2006/main">
            <a:off x="571500" y="1827711"/>
            <a:ext cx="5276850" cy="3316877"/>
          </a:xfrm>
          <a:prstGeom xmlns:a="http://schemas.openxmlformats.org/drawingml/2006/main" prst="rect">
            <a:avLst/>
          </a:prstGeom>
        </p:spPr>
      </p:pic>
      <p:sp>
        <p:nvSpPr>
          <p:cNvPr id="20" name="">
            <a:extLst xmlns:a="http://schemas.openxmlformats.org/drawingml/2006/main">
              <a:ext uri="{FF2B5EF4-FFF2-40B4-BE49-F238E27FC236}">
                <a16:creationId xmlns:a16="http://schemas.microsoft.com/office/drawing/2014/main" id="{41CE42B0-0BB0-4129-9E06-080C39EE089A}"/>
              </a:ext>
            </a:extLst>
          </p:cNvPr>
          <p:cNvSpPr>
            <a:spLocks xmlns:a="http://schemas.openxmlformats.org/drawingml/2006/main" noGrp="1"/>
          </p:cNvSpPr>
          <p:nvPr/>
        </p:nvSpPr>
        <p:spPr>
          <a:xfrm xmlns:a="http://schemas.openxmlformats.org/drawingml/2006/main">
            <a:off x="6343650" y="1600200"/>
            <a:ext cx="5276850" cy="37719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5942f428ac4d4f5e"/>
          <a:stretch xmlns:a="http://schemas.openxmlformats.org/drawingml/2006/main"/>
        </p:blipFill>
        <p:spPr>
          <a:xfrm xmlns:a="http://schemas.openxmlformats.org/drawingml/2006/main">
            <a:off x="6343650" y="1827711"/>
            <a:ext cx="5276850" cy="3316877"/>
          </a:xfrm>
          <a:prstGeom xmlns:a="http://schemas.openxmlformats.org/drawingml/2006/main" prst="rect">
            <a:avLst/>
          </a:prstGeom>
        </p:spPr>
      </p:pic>
    </p:spTree>
    <p:extLst>
      <p:ext uri="{BB962C8B-B14F-4D97-AF65-F5344CB8AC3E}">
        <p14:creationId xmlns:p14="http://schemas.microsoft.com/office/powerpoint/2010/main" val="1787801498"/>
      </p:ext>
    </p:extLst>
  </p:cSld>
</p:sld>
</file>

<file path=ppt/slides/slide1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F9FBB4A-010C-4C02-9E06-8242E1E02C12}"/>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667384"/>
                </a:solidFill>
              </a:defRPr>
            </a:pPr>
            <a:r>
              <a:rPr sz="1200" b="1">
                <a:solidFill>
                  <a:srgbClr val="667384"/>
                </a:solidFill>
              </a:rPr>
              <a:t/>
            </a:r>
          </a:p>
        </p:txBody>
      </p:sp>
      <p:sp>
        <p:nvSpPr>
          <p:cNvPr id="2" name="">
            <a:extLst xmlns:a="http://schemas.openxmlformats.org/drawingml/2006/main">
              <a:ext uri="{FF2B5EF4-FFF2-40B4-BE49-F238E27FC236}">
                <a16:creationId xmlns:a16="http://schemas.microsoft.com/office/drawing/2014/main" id="{C1560699-DAA3-4094-B49C-366F0049F86E}"/>
              </a:ext>
            </a:extLst>
          </p:cNvPr>
          <p:cNvSpPr>
            <a:spLocks xmlns:a="http://schemas.openxmlformats.org/drawingml/2006/main" noGrp="1"/>
          </p:cNvSpPr>
          <p:nvPr/>
        </p:nvSpPr>
        <p:spPr>
          <a:xfrm xmlns:a="http://schemas.openxmlformats.org/drawingml/2006/main">
            <a:off x="457200" y="533400"/>
            <a:ext cx="11277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225" b="1">
                <a:solidFill>
                  <a:srgbClr val="111827"/>
                </a:solidFill>
              </a:defRPr>
            </a:pPr>
            <a:r>
              <a:rPr sz="3225" b="1">
                <a:solidFill>
                  <a:srgbClr val="111827"/>
                </a:solidFill>
              </a:rPr>
              <a:t>The broader view strengthens interpretation</a:t>
            </a:r>
          </a:p>
        </p:txBody>
      </p:sp>
      <p:sp>
        <p:nvSpPr>
          <p:cNvPr id="3" name="">
            <a:extLst xmlns:a="http://schemas.openxmlformats.org/drawingml/2006/main">
              <a:ext uri="{FF2B5EF4-FFF2-40B4-BE49-F238E27FC236}">
                <a16:creationId xmlns:a16="http://schemas.microsoft.com/office/drawing/2014/main" id="{F23F225E-2546-450C-8B1E-0A4DEB614AF4}"/>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DF037A57-39AD-4D2F-B0E0-5ECF661DA297}"/>
              </a:ext>
            </a:extLst>
          </p:cNvPr>
          <p:cNvSpPr>
            <a:spLocks xmlns:a="http://schemas.openxmlformats.org/drawingml/2006/main" noGrp="1"/>
          </p:cNvSpPr>
          <p:nvPr/>
        </p:nvSpPr>
        <p:spPr>
          <a:xfrm xmlns:a="http://schemas.openxmlformats.org/drawingml/2006/main">
            <a:off x="457200" y="6515100"/>
            <a:ext cx="447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0">
                <a:solidFill>
                  <a:srgbClr val="667384"/>
                </a:solidFill>
              </a:defRPr>
            </a:pPr>
            <a:r>
              <a:rPr sz="900" b="0">
                <a:solidFill>
                  <a:srgbClr val="667384"/>
                </a:solidFill>
              </a:rPr>
              <a:t>129 instruments | 15 horizons | 9 filters | 2 branches | 2018–2023</a:t>
            </a:r>
          </a:p>
        </p:txBody>
      </p:sp>
      <p:sp>
        <p:nvSpPr>
          <p:cNvPr id="5" name="">
            <a:extLst xmlns:a="http://schemas.openxmlformats.org/drawingml/2006/main">
              <a:ext uri="{FF2B5EF4-FFF2-40B4-BE49-F238E27FC236}">
                <a16:creationId xmlns:a16="http://schemas.microsoft.com/office/drawing/2014/main" id="{10D9C2FF-A272-4878-AD5F-74231357763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
            </a:r>
          </a:p>
        </p:txBody>
      </p:sp>
      <p:sp>
        <p:nvSpPr>
          <p:cNvPr id="6" name="">
            <a:extLst xmlns:a="http://schemas.openxmlformats.org/drawingml/2006/main">
              <a:ext uri="{FF2B5EF4-FFF2-40B4-BE49-F238E27FC236}">
                <a16:creationId xmlns:a16="http://schemas.microsoft.com/office/drawing/2014/main" id="{35DE54EF-24F8-4FFC-BA84-949F528F029A}"/>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2A9D6F"/>
          </a:solidFill>
          <a:ln xmlns:a="http://schemas.openxmlformats.org/drawingml/2006/main" w="9525">
            <a:solidFill>
              <a:srgbClr val="2A9D6F"/>
            </a:solidFill>
            <a:prstDash val="solid"/>
          </a:ln>
        </p:spPr>
      </p:sp>
      <p:sp>
        <p:nvSpPr>
          <p:cNvPr id="7" name="">
            <a:extLst xmlns:a="http://schemas.openxmlformats.org/drawingml/2006/main">
              <a:ext uri="{FF2B5EF4-FFF2-40B4-BE49-F238E27FC236}">
                <a16:creationId xmlns:a16="http://schemas.microsoft.com/office/drawing/2014/main" id="{E52947F4-058F-4062-81DB-6B9DE47FFCE9}"/>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2A9D6F"/>
                </a:solidFill>
              </a:defRPr>
            </a:pPr>
            <a:r>
              <a:rPr sz="1350" b="1">
                <a:solidFill>
                  <a:srgbClr val="2A9D6F"/>
                </a:solidFill>
              </a:rPr>
              <a:t>FOUND</a:t>
            </a:r>
          </a:p>
        </p:txBody>
      </p:sp>
      <p:sp>
        <p:nvSpPr>
          <p:cNvPr id="8" name="">
            <a:extLst xmlns:a="http://schemas.openxmlformats.org/drawingml/2006/main">
              <a:ext uri="{FF2B5EF4-FFF2-40B4-BE49-F238E27FC236}">
                <a16:creationId xmlns:a16="http://schemas.microsoft.com/office/drawing/2014/main" id="{B377D5C6-16C3-4CF1-97F4-0F50813E9589}"/>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111827"/>
                </a:solidFill>
              </a:defRPr>
            </a:pPr>
            <a:r>
              <a:rPr sz="2100" b="1">
                <a:solidFill>
                  <a:srgbClr val="111827"/>
                </a:solidFill>
              </a:rPr>
              <a:t>A complete reference surface</a:t>
            </a:r>
          </a:p>
        </p:txBody>
      </p:sp>
      <p:sp>
        <p:nvSpPr>
          <p:cNvPr id="9" name="">
            <a:extLst xmlns:a="http://schemas.openxmlformats.org/drawingml/2006/main">
              <a:ext uri="{FF2B5EF4-FFF2-40B4-BE49-F238E27FC236}">
                <a16:creationId xmlns:a16="http://schemas.microsoft.com/office/drawing/2014/main" id="{B0F47B9F-D94A-4465-B500-7BBB57D94FA2}"/>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0">
                <a:solidFill>
                  <a:srgbClr val="667384"/>
                </a:solidFill>
              </a:defRPr>
            </a:pPr>
            <a:r>
              <a:rPr sz="1500" b="0">
                <a:solidFill>
                  <a:srgbClr val="667384"/>
                </a:solidFill>
              </a:rPr>
              <a:t>short and long horizons coexist</a:t>
            </a:r>
          </a:p>
        </p:txBody>
      </p:sp>
      <p:sp>
        <p:nvSpPr>
          <p:cNvPr id="10" name="">
            <a:extLst xmlns:a="http://schemas.openxmlformats.org/drawingml/2006/main">
              <a:ext uri="{FF2B5EF4-FFF2-40B4-BE49-F238E27FC236}">
                <a16:creationId xmlns:a16="http://schemas.microsoft.com/office/drawing/2014/main" id="{F1A3274D-DEE0-442C-9C60-CD7758718200}"/>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11" name="">
            <a:extLst xmlns:a="http://schemas.openxmlformats.org/drawingml/2006/main">
              <a:ext uri="{FF2B5EF4-FFF2-40B4-BE49-F238E27FC236}">
                <a16:creationId xmlns:a16="http://schemas.microsoft.com/office/drawing/2014/main" id="{FE667C9F-19F3-4E6A-BDEB-035620CFB5B7}"/>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3D8DFF"/>
          </a:solidFill>
          <a:ln xmlns:a="http://schemas.openxmlformats.org/drawingml/2006/main" w="9525">
            <a:solidFill>
              <a:srgbClr val="3D8DFF"/>
            </a:solidFill>
            <a:prstDash val="solid"/>
          </a:ln>
        </p:spPr>
      </p:sp>
      <p:sp>
        <p:nvSpPr>
          <p:cNvPr id="12" name="">
            <a:extLst xmlns:a="http://schemas.openxmlformats.org/drawingml/2006/main">
              <a:ext uri="{FF2B5EF4-FFF2-40B4-BE49-F238E27FC236}">
                <a16:creationId xmlns:a16="http://schemas.microsoft.com/office/drawing/2014/main" id="{6627B09C-0831-475E-A43C-C67ED9E404A2}"/>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3D8DFF"/>
                </a:solidFill>
              </a:defRPr>
            </a:pPr>
            <a:r>
              <a:rPr sz="1350" b="1">
                <a:solidFill>
                  <a:srgbClr val="3D8DFF"/>
                </a:solidFill>
              </a:rPr>
              <a:t>LEARNS</a:t>
            </a:r>
          </a:p>
        </p:txBody>
      </p:sp>
      <p:sp>
        <p:nvSpPr>
          <p:cNvPr id="13" name="">
            <a:extLst xmlns:a="http://schemas.openxmlformats.org/drawingml/2006/main">
              <a:ext uri="{FF2B5EF4-FFF2-40B4-BE49-F238E27FC236}">
                <a16:creationId xmlns:a16="http://schemas.microsoft.com/office/drawing/2014/main" id="{EFF1C8F3-4865-4316-A935-9AD993D124DB}"/>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111827"/>
                </a:solidFill>
              </a:defRPr>
            </a:pPr>
            <a:r>
              <a:rPr sz="2100" b="1">
                <a:solidFill>
                  <a:srgbClr val="111827"/>
                </a:solidFill>
              </a:rPr>
              <a:t>Scale and filters both matter</a:t>
            </a:r>
          </a:p>
        </p:txBody>
      </p:sp>
      <p:sp>
        <p:nvSpPr>
          <p:cNvPr id="14" name="">
            <a:extLst xmlns:a="http://schemas.openxmlformats.org/drawingml/2006/main">
              <a:ext uri="{FF2B5EF4-FFF2-40B4-BE49-F238E27FC236}">
                <a16:creationId xmlns:a16="http://schemas.microsoft.com/office/drawing/2014/main" id="{36F37BFF-C5ED-47DE-9449-78312C98D39F}"/>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0">
                <a:solidFill>
                  <a:srgbClr val="667384"/>
                </a:solidFill>
              </a:defRPr>
            </a:pPr>
            <a:r>
              <a:rPr sz="1500" b="0">
                <a:solidFill>
                  <a:srgbClr val="667384"/>
                </a:solidFill>
              </a:rPr>
              <a:t>short sign flips; branch states differ</a:t>
            </a:r>
          </a:p>
        </p:txBody>
      </p:sp>
      <p:sp>
        <p:nvSpPr>
          <p:cNvPr id="15" name="">
            <a:extLst xmlns:a="http://schemas.openxmlformats.org/drawingml/2006/main">
              <a:ext uri="{FF2B5EF4-FFF2-40B4-BE49-F238E27FC236}">
                <a16:creationId xmlns:a16="http://schemas.microsoft.com/office/drawing/2014/main" id="{7DE8CE60-B390-4559-BDF0-3BD962F42DE6}"/>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16" name="">
            <a:extLst xmlns:a="http://schemas.openxmlformats.org/drawingml/2006/main">
              <a:ext uri="{FF2B5EF4-FFF2-40B4-BE49-F238E27FC236}">
                <a16:creationId xmlns:a16="http://schemas.microsoft.com/office/drawing/2014/main" id="{DF135E85-70DC-46F9-A1DD-451CB0F6F4EB}"/>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E45756"/>
          </a:solidFill>
          <a:ln xmlns:a="http://schemas.openxmlformats.org/drawingml/2006/main" w="9525">
            <a:solidFill>
              <a:srgbClr val="E45756"/>
            </a:solidFill>
            <a:prstDash val="solid"/>
          </a:ln>
        </p:spPr>
      </p:sp>
      <p:sp>
        <p:nvSpPr>
          <p:cNvPr id="17" name="">
            <a:extLst xmlns:a="http://schemas.openxmlformats.org/drawingml/2006/main">
              <a:ext uri="{FF2B5EF4-FFF2-40B4-BE49-F238E27FC236}">
                <a16:creationId xmlns:a16="http://schemas.microsoft.com/office/drawing/2014/main" id="{3230B1B0-D776-4E45-9A01-A1C929AE6DE3}"/>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E45756"/>
                </a:solidFill>
              </a:defRPr>
            </a:pPr>
            <a:r>
              <a:rPr sz="1350" b="1">
                <a:solidFill>
                  <a:srgbClr val="E45756"/>
                </a:solidFill>
              </a:rPr>
              <a:t>DOES NOT EARN</a:t>
            </a:r>
          </a:p>
        </p:txBody>
      </p:sp>
      <p:sp>
        <p:nvSpPr>
          <p:cNvPr id="18" name="">
            <a:extLst xmlns:a="http://schemas.openxmlformats.org/drawingml/2006/main">
              <a:ext uri="{FF2B5EF4-FFF2-40B4-BE49-F238E27FC236}">
                <a16:creationId xmlns:a16="http://schemas.microsoft.com/office/drawing/2014/main" id="{688A5B22-3E3C-4637-B245-2DCB84619B58}"/>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111827"/>
                </a:solidFill>
              </a:defRPr>
            </a:pPr>
            <a:r>
              <a:rPr sz="2100" b="1">
                <a:solidFill>
                  <a:srgbClr val="111827"/>
                </a:solidFill>
              </a:rPr>
              <a:t>A chosen cell, filter, or rule</a:t>
            </a:r>
          </a:p>
        </p:txBody>
      </p:sp>
      <p:sp>
        <p:nvSpPr>
          <p:cNvPr id="19" name="">
            <a:extLst xmlns:a="http://schemas.openxmlformats.org/drawingml/2006/main">
              <a:ext uri="{FF2B5EF4-FFF2-40B4-BE49-F238E27FC236}">
                <a16:creationId xmlns:a16="http://schemas.microsoft.com/office/drawing/2014/main" id="{D39E8E59-8053-43C5-B267-26268999D08F}"/>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0">
                <a:solidFill>
                  <a:srgbClr val="667384"/>
                </a:solidFill>
              </a:defRPr>
            </a:pPr>
            <a:r>
              <a:rPr sz="1500" b="0">
                <a:solidFill>
                  <a:srgbClr val="667384"/>
                </a:solidFill>
              </a:rPr>
              <a:t>no edge, causality, or hold period</a:t>
            </a:r>
          </a:p>
        </p:txBody>
      </p:sp>
      <p:sp>
        <p:nvSpPr>
          <p:cNvPr id="20" name="">
            <a:extLst xmlns:a="http://schemas.openxmlformats.org/drawingml/2006/main">
              <a:ext uri="{FF2B5EF4-FFF2-40B4-BE49-F238E27FC236}">
                <a16:creationId xmlns:a16="http://schemas.microsoft.com/office/drawing/2014/main" id="{D06B9F8D-51F2-4114-996E-05370ECBD9FB}"/>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21" name="">
            <a:extLst xmlns:a="http://schemas.openxmlformats.org/drawingml/2006/main">
              <a:ext uri="{FF2B5EF4-FFF2-40B4-BE49-F238E27FC236}">
                <a16:creationId xmlns:a16="http://schemas.microsoft.com/office/drawing/2014/main" id="{9F2FE528-E4C2-46D8-875A-4EACAD2DAF7E}"/>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oundRect">
            <a:avLst>
              <a:gd name="adj" fmla="val 14634"/>
            </a:avLst>
          </a:prstGeom>
          <a:solidFill xmlns:a="http://schemas.openxmlformats.org/drawingml/2006/main">
            <a:srgbClr val="F4F6F8"/>
          </a:solidFill>
          <a:ln xmlns:a="http://schemas.openxmlformats.org/drawingml/2006/main" w="9525">
            <a:solidFill>
              <a:srgbClr val="D7DBE2"/>
            </a:solidFill>
            <a:prstDash val="solid"/>
          </a:ln>
        </p:spPr>
      </p:sp>
      <p:sp>
        <p:nvSpPr>
          <p:cNvPr id="22" name="">
            <a:extLst xmlns:a="http://schemas.openxmlformats.org/drawingml/2006/main">
              <a:ext uri="{FF2B5EF4-FFF2-40B4-BE49-F238E27FC236}">
                <a16:creationId xmlns:a16="http://schemas.microsoft.com/office/drawing/2014/main" id="{BDF133DD-1423-446B-BAD3-98602B284CB5}"/>
              </a:ext>
            </a:extLst>
          </p:cNvPr>
          <p:cNvSpPr>
            <a:spLocks xmlns:a="http://schemas.openxmlformats.org/drawingml/2006/main" noGrp="1"/>
          </p:cNvSpPr>
          <p:nvPr/>
        </p:nvSpPr>
        <p:spPr>
          <a:xfrm xmlns:a="http://schemas.openxmlformats.org/drawingml/2006/main">
            <a:off x="781050" y="5524500"/>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11827"/>
                </a:solidFill>
              </a:defRPr>
            </a:pPr>
            <a:r>
              <a:rPr sz="1500" b="1">
                <a:solidFill>
                  <a:srgbClr val="111827"/>
                </a:solidFill>
              </a:rPr>
              <a:t>Next clean gate</a:t>
            </a:r>
          </a:p>
        </p:txBody>
      </p:sp>
      <p:sp>
        <p:nvSpPr>
          <p:cNvPr id="23" name="">
            <a:extLst xmlns:a="http://schemas.openxmlformats.org/drawingml/2006/main">
              <a:ext uri="{FF2B5EF4-FFF2-40B4-BE49-F238E27FC236}">
                <a16:creationId xmlns:a16="http://schemas.microsoft.com/office/drawing/2014/main" id="{ECA9F984-12B5-4D23-9C93-E90E765B5932}"/>
              </a:ext>
            </a:extLst>
          </p:cNvPr>
          <p:cNvSpPr>
            <a:spLocks xmlns:a="http://schemas.openxmlformats.org/drawingml/2006/main" noGrp="1"/>
          </p:cNvSpPr>
          <p:nvPr/>
        </p:nvSpPr>
        <p:spPr>
          <a:xfrm xmlns:a="http://schemas.openxmlformats.org/drawingml/2006/main">
            <a:off x="3333750" y="5486400"/>
            <a:ext cx="7810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0">
                <a:solidFill>
                  <a:srgbClr val="667384"/>
                </a:solidFill>
              </a:defRPr>
            </a:pPr>
            <a:r>
              <a:rPr sz="1425" b="0">
                <a:solidFill>
                  <a:srgbClr val="667384"/>
                </a:solidFill>
              </a:rPr>
              <a:t>Freeze this as the descriptive reference. Incremental-return timing or untouched-time transport still requires a separate gate.</a:t>
            </a:r>
          </a:p>
        </p:txBody>
      </p:sp>
      <p:sp>
        <p:nvSpPr>
          <p:cNvPr id="25" name="wide-atlas-section-overlay">
            <a:extLst xmlns:a="http://schemas.openxmlformats.org/drawingml/2006/main">
              <a:ext uri="{FF2B5EF4-FFF2-40B4-BE49-F238E27FC236}">
                <a16:creationId xmlns:a16="http://schemas.microsoft.com/office/drawing/2014/main" id="{8B94774D-028F-4781-8153-B3937880855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667384"/>
                </a:solidFill>
              </a:defRPr>
            </a:pPr>
            <a:r>
              <a:rPr sz="1200" b="1">
                <a:solidFill>
                  <a:srgbClr val="667384"/>
                </a:solidFill>
              </a:rPr>
              <a:t>FULL VOCABULARY</a:t>
            </a:r>
          </a:p>
        </p:txBody>
      </p:sp>
      <p:sp>
        <p:nvSpPr>
          <p:cNvPr id="26" name="wide-atlas-page-overlay">
            <a:extLst xmlns:a="http://schemas.openxmlformats.org/drawingml/2006/main">
              <a:ext uri="{FF2B5EF4-FFF2-40B4-BE49-F238E27FC236}">
                <a16:creationId xmlns:a16="http://schemas.microsoft.com/office/drawing/2014/main" id="{8830D044-4387-4D1D-8F6A-ACA28BB45CB6}"/>
              </a:ext>
            </a:extLst>
          </p:cNvPr>
          <p:cNvSpPr>
            <a:spLocks xmlns:a="http://schemas.openxmlformats.org/drawingml/2006/main" noGrp="1"/>
          </p:cNvSpPr>
          <p:nvPr/>
        </p:nvSpPr>
        <p:spPr>
          <a:xfrm xmlns:a="http://schemas.openxmlformats.org/drawingml/2006/main">
            <a:off x="11049000" y="6496050"/>
            <a:ext cx="685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00">
                <a:solidFill>
                  <a:srgbClr val="667384"/>
                </a:solidFill>
              </a:defRPr>
            </a:pPr>
            <a:r>
              <a:rPr sz="900">
                <a:solidFill>
                  <a:srgbClr val="667384"/>
                </a:solidFill>
              </a:rPr>
              <a:t>123</a:t>
            </a:r>
          </a:p>
        </p:txBody>
      </p:sp>
      <p:sp>
        <p:nvSpPr>
          <p:cNvPr id="27" name="">
            <a:extLst xmlns:a="http://schemas.openxmlformats.org/drawingml/2006/main">
              <a:ext uri="{FF2B5EF4-FFF2-40B4-BE49-F238E27FC236}">
                <a16:creationId xmlns:a16="http://schemas.microsoft.com/office/drawing/2014/main" id="{69B3A495-EA3A-4310-AC21-9F73B403B0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667384"/>
                </a:solidFill>
              </a:defRPr>
            </a:pPr>
            <a:r>
              <a:rPr sz="1200" b="1">
                <a:solidFill>
                  <a:srgbClr val="667384"/>
                </a:solidFill>
              </a:rPr>
              <a:t>FULL VOCABULARY</a:t>
            </a:r>
          </a:p>
        </p:txBody>
      </p:sp>
    </p:spTree>
    <p:extLst>
      <p:ext uri="{BB962C8B-B14F-4D97-AF65-F5344CB8AC3E}">
        <p14:creationId xmlns:p14="http://schemas.microsoft.com/office/powerpoint/2010/main" val="1710746916"/>
      </p:ext>
    </p:extLst>
  </p:cSld>
</p:sld>
</file>

<file path=ppt/theme/theme1.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2026-08-28T04:17:35.1200000Z</dcterms:created>
  <dcterms:modified xsi:type="dcterms:W3CDTF">2026-08-28T04:17:35.1200000Z</dcterms:modified>
</coreProperties>
</file>