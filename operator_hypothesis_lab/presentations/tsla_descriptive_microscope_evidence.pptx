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28d4a7766b4e39" /><Relationship Type="http://schemas.openxmlformats.org/officeDocument/2006/relationships/extended-properties" Target="/docProps/app.xml" Id="R64d769f57f1646b3" /><Relationship Type="http://schemas.openxmlformats.org/officeDocument/2006/relationships/officeDocument" Target="/ppt/presentation.xml" Id="R0948aacfa11345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84b9d88eb04a77"/>
  </p:sldMasterIdLst>
  <p:notesMasterIdLst>
    <p:notesMasterId xmlns:r="http://schemas.openxmlformats.org/officeDocument/2006/relationships" r:id="Rd4a0359dc2924145"/>
  </p:notesMasterIdLst>
  <p:sldIdLst>
    <p:sldId xmlns:r="http://schemas.openxmlformats.org/officeDocument/2006/relationships" id="256" r:id="Ra856ea82b1f24691"/>
    <p:sldId xmlns:r="http://schemas.openxmlformats.org/officeDocument/2006/relationships" id="257" r:id="R738ada6bc0a642e9"/>
    <p:sldId xmlns:r="http://schemas.openxmlformats.org/officeDocument/2006/relationships" id="258" r:id="Rb64df74bfd4f4ea1"/>
    <p:sldId xmlns:r="http://schemas.openxmlformats.org/officeDocument/2006/relationships" id="259" r:id="R769ae138f9504f10"/>
    <p:sldId xmlns:r="http://schemas.openxmlformats.org/officeDocument/2006/relationships" id="260" r:id="R9e8a54764f9f4237"/>
    <p:sldId xmlns:r="http://schemas.openxmlformats.org/officeDocument/2006/relationships" id="261" r:id="R3289a9d1be36412b"/>
    <p:sldId xmlns:r="http://schemas.openxmlformats.org/officeDocument/2006/relationships" id="262" r:id="R7226d268e68c4588"/>
    <p:sldId xmlns:r="http://schemas.openxmlformats.org/officeDocument/2006/relationships" id="263" r:id="R89e884d3145340ed"/>
    <p:sldId xmlns:r="http://schemas.openxmlformats.org/officeDocument/2006/relationships" id="264" r:id="Re09e93c3c0fa455c"/>
    <p:sldId xmlns:r="http://schemas.openxmlformats.org/officeDocument/2006/relationships" id="265" r:id="R67f0fd8180f24c98"/>
    <p:sldId xmlns:r="http://schemas.openxmlformats.org/officeDocument/2006/relationships" id="266" r:id="Rb9137075e1664967"/>
    <p:sldId xmlns:r="http://schemas.openxmlformats.org/officeDocument/2006/relationships" id="267" r:id="Rb87db3e7d5ba4a3a"/>
    <p:sldId xmlns:r="http://schemas.openxmlformats.org/officeDocument/2006/relationships" id="268" r:id="Rb164100bbee94752"/>
    <p:sldId xmlns:r="http://schemas.openxmlformats.org/officeDocument/2006/relationships" id="269" r:id="Rf41834c2c2554a2d"/>
    <p:sldId xmlns:r="http://schemas.openxmlformats.org/officeDocument/2006/relationships" id="270" r:id="Rd115eed1654a4d45"/>
    <p:sldId xmlns:r="http://schemas.openxmlformats.org/officeDocument/2006/relationships" id="271" r:id="R1915b87901aa4ae8"/>
    <p:sldId xmlns:r="http://schemas.openxmlformats.org/officeDocument/2006/relationships" id="272" r:id="Rab08085a89ec4be0"/>
    <p:sldId xmlns:r="http://schemas.openxmlformats.org/officeDocument/2006/relationships" id="273" r:id="R6a0cead665214d25"/>
    <p:sldId xmlns:r="http://schemas.openxmlformats.org/officeDocument/2006/relationships" id="274" r:id="R4c2780eeef9041dd"/>
    <p:sldId xmlns:r="http://schemas.openxmlformats.org/officeDocument/2006/relationships" id="275" r:id="R33f5770978b743f9"/>
    <p:sldId xmlns:r="http://schemas.openxmlformats.org/officeDocument/2006/relationships" id="276" r:id="R698610770dc74bb5"/>
    <p:sldId xmlns:r="http://schemas.openxmlformats.org/officeDocument/2006/relationships" id="277" r:id="R25a1037079ba4109"/>
    <p:sldId xmlns:r="http://schemas.openxmlformats.org/officeDocument/2006/relationships" id="278" r:id="Rf2d3fd44323e486b"/>
    <p:sldId xmlns:r="http://schemas.openxmlformats.org/officeDocument/2006/relationships" id="279" r:id="Rf5336442302b42ac"/>
    <p:sldId xmlns:r="http://schemas.openxmlformats.org/officeDocument/2006/relationships" id="280" r:id="R71b81cb4596f46d6"/>
    <p:sldId xmlns:r="http://schemas.openxmlformats.org/officeDocument/2006/relationships" id="281" r:id="R34c4264d362646f4"/>
    <p:sldId xmlns:r="http://schemas.openxmlformats.org/officeDocument/2006/relationships" id="282" r:id="R77d11d352233451f"/>
    <p:sldId xmlns:r="http://schemas.openxmlformats.org/officeDocument/2006/relationships" id="283" r:id="Rdc885d4a6f3749b4"/>
    <p:sldId xmlns:r="http://schemas.openxmlformats.org/officeDocument/2006/relationships" id="284" r:id="R7ecbec7979cd4a4d"/>
    <p:sldId xmlns:r="http://schemas.openxmlformats.org/officeDocument/2006/relationships" id="285" r:id="Re52bc379730e41a5"/>
    <p:sldId xmlns:r="http://schemas.openxmlformats.org/officeDocument/2006/relationships" id="286" r:id="Rba546ac1250d4b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562620b0684af7" /><Relationship Type="http://schemas.openxmlformats.org/officeDocument/2006/relationships/slideMaster" Target="/ppt/slideMasters/slideMaster1.xml" Id="R8784b9d88eb04a77" /><Relationship Type="http://schemas.openxmlformats.org/officeDocument/2006/relationships/notesMaster" Target="/ppt/notesMasters/notesMaster1.xml" Id="Rd4a0359dc2924145" /><Relationship Type="http://schemas.openxmlformats.org/officeDocument/2006/relationships/presProps" Target="/ppt/presProps.xml" Id="R8d1160517b6d49c8" /><Relationship Type="http://schemas.openxmlformats.org/officeDocument/2006/relationships/tableStyles" Target="/ppt/tableStyles.xml" Id="R05e3caa764d74d42" /><Relationship Type="http://schemas.openxmlformats.org/officeDocument/2006/relationships/slide" Target="/ppt/slides/slide1.xml" Id="Ra856ea82b1f24691" /><Relationship Type="http://schemas.openxmlformats.org/officeDocument/2006/relationships/slide" Target="/ppt/slides/slide2.xml" Id="R738ada6bc0a642e9" /><Relationship Type="http://schemas.openxmlformats.org/officeDocument/2006/relationships/slide" Target="/ppt/slides/slide3.xml" Id="Rb64df74bfd4f4ea1" /><Relationship Type="http://schemas.openxmlformats.org/officeDocument/2006/relationships/slide" Target="/ppt/slides/slide4.xml" Id="R769ae138f9504f10" /><Relationship Type="http://schemas.openxmlformats.org/officeDocument/2006/relationships/slide" Target="/ppt/slides/slide5.xml" Id="R9e8a54764f9f4237" /><Relationship Type="http://schemas.openxmlformats.org/officeDocument/2006/relationships/slide" Target="/ppt/slides/slide6.xml" Id="R3289a9d1be36412b" /><Relationship Type="http://schemas.openxmlformats.org/officeDocument/2006/relationships/slide" Target="/ppt/slides/slide7.xml" Id="R7226d268e68c4588" /><Relationship Type="http://schemas.openxmlformats.org/officeDocument/2006/relationships/slide" Target="/ppt/slides/slide8.xml" Id="R89e884d3145340ed" /><Relationship Type="http://schemas.openxmlformats.org/officeDocument/2006/relationships/slide" Target="/ppt/slides/slide9.xml" Id="Re09e93c3c0fa455c" /><Relationship Type="http://schemas.openxmlformats.org/officeDocument/2006/relationships/slide" Target="/ppt/slides/slide10.xml" Id="R67f0fd8180f24c98" /><Relationship Type="http://schemas.openxmlformats.org/officeDocument/2006/relationships/slide" Target="/ppt/slides/slide11.xml" Id="Rb9137075e1664967" /><Relationship Type="http://schemas.openxmlformats.org/officeDocument/2006/relationships/slide" Target="/ppt/slides/slide12.xml" Id="Rb87db3e7d5ba4a3a" /><Relationship Type="http://schemas.openxmlformats.org/officeDocument/2006/relationships/slide" Target="/ppt/slides/slide13.xml" Id="Rb164100bbee94752" /><Relationship Type="http://schemas.openxmlformats.org/officeDocument/2006/relationships/slide" Target="/ppt/slides/slide14.xml" Id="Rf41834c2c2554a2d" /><Relationship Type="http://schemas.openxmlformats.org/officeDocument/2006/relationships/slide" Target="/ppt/slides/slide15.xml" Id="Rd115eed1654a4d45" /><Relationship Type="http://schemas.openxmlformats.org/officeDocument/2006/relationships/slide" Target="/ppt/slides/slide16.xml" Id="R1915b87901aa4ae8" /><Relationship Type="http://schemas.openxmlformats.org/officeDocument/2006/relationships/slide" Target="/ppt/slides/slide17.xml" Id="Rab08085a89ec4be0" /><Relationship Type="http://schemas.openxmlformats.org/officeDocument/2006/relationships/slide" Target="/ppt/slides/slide18.xml" Id="R6a0cead665214d25" /><Relationship Type="http://schemas.openxmlformats.org/officeDocument/2006/relationships/slide" Target="/ppt/slides/slide19.xml" Id="R4c2780eeef9041dd" /><Relationship Type="http://schemas.openxmlformats.org/officeDocument/2006/relationships/slide" Target="/ppt/slides/slide20.xml" Id="R33f5770978b743f9" /><Relationship Type="http://schemas.openxmlformats.org/officeDocument/2006/relationships/slide" Target="/ppt/slides/slide21.xml" Id="R698610770dc74bb5" /><Relationship Type="http://schemas.openxmlformats.org/officeDocument/2006/relationships/slide" Target="/ppt/slides/slide22.xml" Id="R25a1037079ba4109" /><Relationship Type="http://schemas.openxmlformats.org/officeDocument/2006/relationships/slide" Target="/ppt/slides/slide23.xml" Id="Rf2d3fd44323e486b" /><Relationship Type="http://schemas.openxmlformats.org/officeDocument/2006/relationships/slide" Target="/ppt/slides/slide24.xml" Id="Rf5336442302b42ac" /><Relationship Type="http://schemas.openxmlformats.org/officeDocument/2006/relationships/slide" Target="/ppt/slides/slide25.xml" Id="R71b81cb4596f46d6" /><Relationship Type="http://schemas.openxmlformats.org/officeDocument/2006/relationships/slide" Target="/ppt/slides/slide26.xml" Id="R34c4264d362646f4" /><Relationship Type="http://schemas.openxmlformats.org/officeDocument/2006/relationships/slide" Target="/ppt/slides/slide27.xml" Id="R77d11d352233451f" /><Relationship Type="http://schemas.openxmlformats.org/officeDocument/2006/relationships/slide" Target="/ppt/slides/slide28.xml" Id="Rdc885d4a6f3749b4" /><Relationship Type="http://schemas.openxmlformats.org/officeDocument/2006/relationships/slide" Target="/ppt/slides/slide29.xml" Id="R7ecbec7979cd4a4d" /><Relationship Type="http://schemas.openxmlformats.org/officeDocument/2006/relationships/slide" Target="/ppt/slides/slide30.xml" Id="Re52bc379730e41a5" /><Relationship Type="http://schemas.openxmlformats.org/officeDocument/2006/relationships/slide" Target="/ppt/slides/slide31.xml" Id="Rba546ac1250d4b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7a251ca2814e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TSLA Descriptive Microscope">
      <a:dk1>
        <a:srgbClr val="000000"/>
      </a:dk1>
      <a:lt1>
        <a:srgbClr val="FFFFFF"/>
      </a:lt1>
      <a:dk2>
        <a:srgbClr val="273548"/>
      </a:dk2>
      <a:lt2>
        <a:srgbClr val="EDEDED"/>
      </a:lt2>
      <a:accent1>
        <a:srgbClr val="3D8DFF"/>
      </a:accent1>
      <a:accent2>
        <a:srgbClr val="2A9D6F"/>
      </a:accent2>
      <a:accent3>
        <a:srgbClr val="E45756"/>
      </a:accent3>
      <a:accent4>
        <a:srgbClr val="6DCBF4"/>
      </a:accent4>
      <a:accent5>
        <a:srgbClr val="7C3AED"/>
      </a:accent5>
      <a:accent6>
        <a:srgbClr val="F59E0B"/>
      </a:accent6>
      <a:hlink>
        <a:srgbClr val="3D8DFF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SLA Descriptive Microscop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fdc1b28e9b4188" /><Relationship Type="http://schemas.openxmlformats.org/officeDocument/2006/relationships/notesMaster" Target="/ppt/notesMasters/notesMaster1.xml" Id="R6212c6039ebe41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38546fd01441d3" /><Relationship Type="http://schemas.openxmlformats.org/officeDocument/2006/relationships/notesMaster" Target="/ppt/notesMasters/notesMaster1.xml" Id="R5ccdae66949348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db6b60175e4a69" /><Relationship Type="http://schemas.openxmlformats.org/officeDocument/2006/relationships/notesMaster" Target="/ppt/notesMasters/notesMaster1.xml" Id="Rf0d2ffdc852e47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d0d9dee4684013" /><Relationship Type="http://schemas.openxmlformats.org/officeDocument/2006/relationships/notesMaster" Target="/ppt/notesMasters/notesMaster1.xml" Id="R03142d768eca4c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246fd9e9e44073" /><Relationship Type="http://schemas.openxmlformats.org/officeDocument/2006/relationships/notesMaster" Target="/ppt/notesMasters/notesMaster1.xml" Id="R4a87b787468641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315aaaff514395" /><Relationship Type="http://schemas.openxmlformats.org/officeDocument/2006/relationships/notesMaster" Target="/ppt/notesMasters/notesMaster1.xml" Id="R8ca136dd6c0841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93be3773144529" /><Relationship Type="http://schemas.openxmlformats.org/officeDocument/2006/relationships/notesMaster" Target="/ppt/notesMasters/notesMaster1.xml" Id="Refdf926e9b234b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366ee780c34e8a" /><Relationship Type="http://schemas.openxmlformats.org/officeDocument/2006/relationships/notesMaster" Target="/ppt/notesMasters/notesMaster1.xml" Id="Ra331acc5c0254e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83d5e0e7154bd3" /><Relationship Type="http://schemas.openxmlformats.org/officeDocument/2006/relationships/notesMaster" Target="/ppt/notesMasters/notesMaster1.xml" Id="Rf7c089bf5e0b48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f327297f3e4a77" /><Relationship Type="http://schemas.openxmlformats.org/officeDocument/2006/relationships/notesMaster" Target="/ppt/notesMasters/notesMaster1.xml" Id="Rc39f42f83f374e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755106bae04622" /><Relationship Type="http://schemas.openxmlformats.org/officeDocument/2006/relationships/notesMaster" Target="/ppt/notesMasters/notesMaster1.xml" Id="R8aa92f0c264749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3339f7c7814585" /><Relationship Type="http://schemas.openxmlformats.org/officeDocument/2006/relationships/notesMaster" Target="/ppt/notesMasters/notesMaster1.xml" Id="R997a69fb8edb44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ff31d57bc8426f" /><Relationship Type="http://schemas.openxmlformats.org/officeDocument/2006/relationships/notesMaster" Target="/ppt/notesMasters/notesMaster1.xml" Id="R5255433299ea42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01b95dd5f14099" /><Relationship Type="http://schemas.openxmlformats.org/officeDocument/2006/relationships/notesMaster" Target="/ppt/notesMasters/notesMaster1.xml" Id="Rfae70fcdbc9c4d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5560f7225134ec3" /><Relationship Type="http://schemas.openxmlformats.org/officeDocument/2006/relationships/notesMaster" Target="/ppt/notesMasters/notesMaster1.xml" Id="Rc8686336ac864cd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d7acff7cb1c4999" /><Relationship Type="http://schemas.openxmlformats.org/officeDocument/2006/relationships/notesMaster" Target="/ppt/notesMasters/notesMaster1.xml" Id="R6fce4d5c153c45d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8b96c97da624e05" /><Relationship Type="http://schemas.openxmlformats.org/officeDocument/2006/relationships/notesMaster" Target="/ppt/notesMasters/notesMaster1.xml" Id="Rad3326c2f5fb498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38eaf4558724f68" /><Relationship Type="http://schemas.openxmlformats.org/officeDocument/2006/relationships/notesMaster" Target="/ppt/notesMasters/notesMaster1.xml" Id="R4cc82f1afeb2430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1aa391c24ff4535" /><Relationship Type="http://schemas.openxmlformats.org/officeDocument/2006/relationships/notesMaster" Target="/ppt/notesMasters/notesMaster1.xml" Id="R8640de19ff4e451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6820209a62d4821" /><Relationship Type="http://schemas.openxmlformats.org/officeDocument/2006/relationships/notesMaster" Target="/ppt/notesMasters/notesMaster1.xml" Id="R2ff0d5696f0d409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492df7499ec4c35" /><Relationship Type="http://schemas.openxmlformats.org/officeDocument/2006/relationships/notesMaster" Target="/ppt/notesMasters/notesMaster1.xml" Id="R4cfcb3a851554b5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b1e3fe361d246f9" /><Relationship Type="http://schemas.openxmlformats.org/officeDocument/2006/relationships/notesMaster" Target="/ppt/notesMasters/notesMaster1.xml" Id="R535e916d985b464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4c7b2d700fe425b" /><Relationship Type="http://schemas.openxmlformats.org/officeDocument/2006/relationships/notesMaster" Target="/ppt/notesMasters/notesMaster1.xml" Id="Rba9e2761cf23467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b16db337c464217" /><Relationship Type="http://schemas.openxmlformats.org/officeDocument/2006/relationships/notesMaster" Target="/ppt/notesMasters/notesMaster1.xml" Id="R6f2df710f926426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31b75f5ddb04360" /><Relationship Type="http://schemas.openxmlformats.org/officeDocument/2006/relationships/notesMaster" Target="/ppt/notesMasters/notesMaster1.xml" Id="R529da1a71c834e0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a9ad510566b49a8" /><Relationship Type="http://schemas.openxmlformats.org/officeDocument/2006/relationships/notesMaster" Target="/ppt/notesMasters/notesMaster1.xml" Id="Rba9866237d80469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4eed28dd0f142bc" /><Relationship Type="http://schemas.openxmlformats.org/officeDocument/2006/relationships/notesMaster" Target="/ppt/notesMasters/notesMaster1.xml" Id="R256db6d51dab4a4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8a98612539546dd" /><Relationship Type="http://schemas.openxmlformats.org/officeDocument/2006/relationships/notesMaster" Target="/ppt/notesMasters/notesMaster1.xml" Id="Rce927ba628db46d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0352f212aac4e16" /><Relationship Type="http://schemas.openxmlformats.org/officeDocument/2006/relationships/notesMaster" Target="/ppt/notesMasters/notesMaster1.xml" Id="R8a15c5528b64473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1e038232d904d91" /><Relationship Type="http://schemas.openxmlformats.org/officeDocument/2006/relationships/notesMaster" Target="/ppt/notesMasters/notesMaster1.xml" Id="Ra8523f27e252410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eeb33e366554bec" /><Relationship Type="http://schemas.openxmlformats.org/officeDocument/2006/relationships/notesMaster" Target="/ppt/notesMasters/notesMaster1.xml" Id="Re69859408bb94c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this as a running laboratory notebook, not a strategy pitch.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operator_hypothesis_lab/docs/TSLA_LAGGED_DAILY_RETURN_SCATTER_2018_2023.md</a:t>
            </a:r>
          </a:p>
          <a:p xmlns:a="http://schemas.openxmlformats.org/drawingml/2006/main">
            <a:r>
              <a:t>- operator_hypothesis_lab/docs/TSLA_ER20_PATH_REGIME_BANDS_2018_2023.md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learning objective is bottom-up hypothesis formation. The order is observation, definition, measurement, then falsification.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User-directed research workflow in this task</a:t>
            </a:r>
          </a:p>
          <a:p xmlns:a="http://schemas.openxmlformats.org/drawingml/2006/main">
            <a:r>
              <a:t>- docs/GEN5_1_POC_PROGRESS_LOG.md entries 186-188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definition before showing any statistic. The sample is the exact scatterplot surface from the prior slice.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runs/research_workbench/operator_hypothesis_lab/tsla_lagged_return_dependence_statistics_20260825/run_spec.csv</a:t>
            </a:r>
          </a:p>
          <a:p xmlns:a="http://schemas.openxmlformats.org/drawingml/2006/main">
            <a:r>
              <a:t>- runs/research_workbench/operator_hypothesis_lab/tsla_lagged_return_dependence_statistics_20260825/pair_checks.csv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eye sees a dense cloud around zero and observations in all four quadrants. This slide preserves the pre-statistics 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runs/research_workbench/operator_hypothesis_lab/tsla_lagged_daily_return_scatter_20260824/visuals/tsla_t_minus_1_vs_t_daily_log_return_scatter.png</a:t>
            </a:r>
          </a:p>
          <a:p xmlns:a="http://schemas.openxmlformats.org/drawingml/2006/main">
            <a:r>
              <a:t>- operator_hypothesis_lab/docs/TSLA_LAGGED_DAILY_RETURN_SCATTER_2018_2023.md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ER20 asks whether the trailing path was efficient. It ignores bullish versus bearish direction and does not measure volatility.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runs/research_workbench/operator_hypothesis_lab/tsla_efficiency_ratio_regime_bands_20260824/visuals/tsla_er20_path_regime_bands.png</a:t>
            </a:r>
          </a:p>
          <a:p xmlns:a="http://schemas.openxmlformats.org/drawingml/2006/main">
            <a:r>
              <a:t>- operator_hypothesis_lab/docs/TSLA_ER20_PATH_REGIME_BANDS_2018_2023.md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primary estimand is frozen before reading the result: Pearson correlation, equivalently the OLS slope in r[t] = alpha + beta r[t-1] + 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scripts/inspect/run_tsla_lagged_return_dependence_statistics.R</a:t>
            </a:r>
          </a:p>
          <a:p xmlns:a="http://schemas.openxmlformats.org/drawingml/2006/main">
            <a:r>
              <a:t>- runs/research_workbench/operator_hypothesis_lab/tsla_lagged_return_dependence_statistics_20260825/run_spec.csv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interval includes zero and the fitted line explains roughly four hundredths of one percent of next-day return variation. HAC slope p-value is 0.451.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runs/research_workbench/operator_hypothesis_lab/tsla_lagged_return_dependence_statistics_20260825/primary_statistics.csv</a:t>
            </a:r>
          </a:p>
          <a:p xmlns:a="http://schemas.openxmlformats.org/drawingml/2006/main">
            <a:r>
              <a:t>- runs/research_workbench/operator_hypothesis_lab/tsla_lagged_return_dependence_statistics_20260825/block_bootstrap_intervals.csv</a:t>
            </a:r>
          </a:p>
          <a:p xmlns:a="http://schemas.openxmlformats.org/drawingml/2006/main">
            <a:r>
              <a:t>- runs/research_workbench/operator_hypothesis_lab/tsla_lagged_return_dependence_statistics_20260825/visuals/tsla_signed_return_dependence_fitted_scatter.png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binary direction view reaches the same conclusion as the continuous-return view. The conditional probabilities are nearly identical and their difference interval crosses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runs/research_workbench/operator_hypothesis_lab/tsla_lagged_return_dependence_statistics_20260825/direction_transition_probabilities.csv</a:t>
            </a:r>
          </a:p>
          <a:p xmlns:a="http://schemas.openxmlformats.org/drawingml/2006/main">
            <a:r>
              <a:t>- runs/research_workbench/operator_hypothesis_lab/tsla_lagged_return_dependence_statistics_20260825/direction_transition_difference.csv</a:t>
            </a:r>
          </a:p>
          <a:p xmlns:a="http://schemas.openxmlformats.org/drawingml/2006/main">
            <a:r>
              <a:t>- runs/research_workbench/operator_hypothesis_lab/tsla_lagged_return_dependence_statistics_20260825/visuals/tsla_direction_transition_probabilities.png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Annual point estimates change sign, but none of the annual HAC intervals excludes zero. Rank correlation and the fixed winsor sensitivity are also near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runs/research_workbench/operator_hypothesis_lab/tsla_lagged_return_dependence_statistics_20260825/annual_stability.csv</a:t>
            </a:r>
          </a:p>
          <a:p xmlns:a="http://schemas.openxmlformats.org/drawingml/2006/main">
            <a:r>
              <a:t>- runs/research_workbench/operator_hypothesis_lab/tsla_lagged_return_dependence_statistics_20260825/outlier_sensitivity.csv</a:t>
            </a:r>
          </a:p>
          <a:p xmlns:a="http://schemas.openxmlformats.org/drawingml/2006/main">
            <a:r>
              <a:t>- runs/research_workbench/operator_hypothesis_lab/tsla_lagged_return_dependence_statistics_20260825/block_bootstrap_intervals.csv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Absolute and squared returns show positive linear dependence, but the equal-count deciles are jagged and the absolute-return rank interval includes zero. Treat this as modest magnitude persistence and a separate future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runs/research_workbench/operator_hypothesis_lab/tsla_lagged_return_dependence_statistics_20260825/primary_statistics.csv</a:t>
            </a:r>
          </a:p>
          <a:p xmlns:a="http://schemas.openxmlformats.org/drawingml/2006/main">
            <a:r>
              <a:t>- runs/research_workbench/operator_hypothesis_lab/tsla_lagged_return_dependence_statistics_20260825/block_bootstrap_intervals.csv</a:t>
            </a:r>
          </a:p>
          <a:p xmlns:a="http://schemas.openxmlformats.org/drawingml/2006/main">
            <a:r>
              <a:t>- runs/research_workbench/operator_hypothesis_lab/tsla_lagged_return_dependence_statistics_20260825/absolute_return_deciles.csv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separating what was learned. The signed-return question stops descriptively; ER20 remains a descriptive lens; magnitude persistence is the only new clue and requires its own predeclared test before any strategy interpretation.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operator_hypothesis_lab/docs/TSLA_LAGGED_DAILY_RETURN_SCATTER_2018_2023.md</a:t>
            </a:r>
          </a:p>
          <a:p xmlns:a="http://schemas.openxmlformats.org/drawingml/2006/main">
            <a:r>
              <a:t>- operator_hypothesis_lab/docs/TSLA_ER20_PATH_REGIME_BANDS_2018_2023.md</a:t>
            </a:r>
          </a:p>
          <a:p xmlns:a="http://schemas.openxmlformats.org/drawingml/2006/main">
            <a:r>
              <a:t>- runs/research_workbench/operator_hypothesis_lab/tsla_lagged_return_dependence_statistics_20260825/report.md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section asks whether aggregating sessions reveals signed dependence hidden by the adjacent-session 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scripts/inspect/run_tsla_cumulative_return_horizon_grid.R</a:t>
            </a:r>
          </a:p>
          <a:p xmlns:a="http://schemas.openxmlformats.org/drawingml/2006/main">
            <a:r>
              <a:t>- runs/research_workbench/operator_hypothesis_lab/tsla_cumulative_return_horizon_grid_20260825/run_spec.csv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information boundary first: cumulative prior return ends at the anchor close and cumulative forward return begins from that close.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runs/research_workbench/operator_hypothesis_lab/tsla_cumulative_return_horizon_grid_20260825/run_spec.csv</a:t>
            </a:r>
          </a:p>
          <a:p xmlns:a="http://schemas.openxmlformats.org/drawingml/2006/main">
            <a:r>
              <a:t>- runs/research_workbench/operator_hypothesis_lab/tsla_cumulative_return_horizon_grid_20260825/grid_checks.csv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positive region is coherent rather than a single isolated cell, but its magnitude is small and this nested grid is highly dependent.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runs/research_workbench/operator_hypothesis_lab/tsla_cumulative_return_horizon_grid_20260825/pearson_correlation_matrix.csv</a:t>
            </a:r>
          </a:p>
          <a:p xmlns:a="http://schemas.openxmlformats.org/drawingml/2006/main">
            <a:r>
              <a:t>- runs/research_workbench/operator_hypothesis_lab/tsla_cumulative_return_horizon_grid_20260825/slope_bh_q_value_matrix.csv</a:t>
            </a:r>
          </a:p>
          <a:p xmlns:a="http://schemas.openxmlformats.org/drawingml/2006/main">
            <a:r>
              <a:t>- runs/research_workbench/operator_hypothesis_lab/tsla_cumulative_return_horizon_grid_20260825/visuals/tsla_cumulative_return_pearson_heatmap.png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strongest point estimate explains less than one percent of forward-return variance, and its overlap-aware interval includes zero. Its BH q-value is 0.660.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runs/research_workbench/operator_hypothesis_lab/tsla_cumulative_return_horizon_grid_20260825/horizon_grid_statistics.csv</a:t>
            </a:r>
          </a:p>
          <a:p xmlns:a="http://schemas.openxmlformats.org/drawingml/2006/main">
            <a:r>
              <a:t>- runs/research_workbench/operator_hypothesis_lab/tsla_cumulative_return_horizon_grid_20260825/r_squared_percent_matrix.csv</a:t>
            </a:r>
          </a:p>
          <a:p xmlns:a="http://schemas.openxmlformats.org/drawingml/2006/main">
            <a:r>
              <a:t>- runs/research_workbench/operator_hypothesis_lab/tsla_cumulative_return_horizon_grid_20260825/visuals/tsla_cumulative_return_r_squared_heatmap.png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Several direction differences are positive, but the best raw p-value becomes q=0.554 after the 81-cell scan. None survives BH-FDR or Bonferroni.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runs/research_workbench/operator_hypothesis_lab/tsla_cumulative_return_horizon_grid_20260825/direction_difference_pp_matrix.csv</a:t>
            </a:r>
          </a:p>
          <a:p xmlns:a="http://schemas.openxmlformats.org/drawingml/2006/main">
            <a:r>
              <a:t>- runs/research_workbench/operator_hypothesis_lab/tsla_cumulative_return_horizon_grid_20260825/horizon_grid_statistics.csv</a:t>
            </a:r>
          </a:p>
          <a:p xmlns:a="http://schemas.openxmlformats.org/drawingml/2006/main">
            <a:r>
              <a:t>- runs/research_workbench/operator_hypothesis_lab/tsla_cumulative_return_horizon_grid_20260825/visuals/tsla_cumulative_return_direction_difference_heatmap.png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separating the descriptive pattern from evidence strength. The ridge is worth naming, but this scan does not establish predictive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runs/research_workbench/operator_hypothesis_lab/tsla_cumulative_return_horizon_grid_20260825/report.md</a:t>
            </a:r>
          </a:p>
          <a:p xmlns:a="http://schemas.openxmlformats.org/drawingml/2006/main">
            <a:r>
              <a:t>- runs/research_workbench/operator_hypothesis_lab/tsla_cumulative_return_horizon_grid_20260825/cells_ranked_by_absolute_correlation.csv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section asks whether aggregating red and green path states washes out different prior-versus-forward return relationships.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operator_hypothesis_lab/docs/TSLA_ER20_PATH_REGIME_BANDS_2018_2023.md</a:t>
            </a:r>
          </a:p>
          <a:p xmlns:a="http://schemas.openxmlformats.org/drawingml/2006/main">
            <a:r>
              <a:t>- scripts/inspect/run_tsla_er20_conditioned_return_horizon_grid.R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timing is causal: ER20 at the anchor uses closes through that anchor only. One pre-2018 anchor from the aggregate grid is uncolored and excluded.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runs/research_workbench/operator_hypothesis_lab/tsla_er20_conditioned_return_horizon_grid_20260825/run_spec.csv</a:t>
            </a:r>
          </a:p>
          <a:p xmlns:a="http://schemas.openxmlformats.org/drawingml/2006/main">
            <a:r>
              <a:t>- runs/research_workbench/operator_hypothesis_lab/tsla_er20_conditioned_return_horizon_grid_20260825/grid_checks.csv</a:t>
            </a:r>
          </a:p>
          <a:p xmlns:a="http://schemas.openxmlformats.org/drawingml/2006/main">
            <a:r>
              <a:t>- operator_hypothesis_lab/docs/TSLA_ER20_PATH_REGIME_BANDS_2018_2023.md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 states show a coherent positive island centered around 10 to 15 prior sessions and 3 to 10 forward sessions. The largest cell has an overlap-aware interval that still includes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runs/research_workbench/operator_hypothesis_lab/tsla_er20_conditioned_return_horizon_grid_20260825/red_sideways_pearson_matrix.csv</a:t>
            </a:r>
          </a:p>
          <a:p xmlns:a="http://schemas.openxmlformats.org/drawingml/2006/main">
            <a:r>
              <a:t>- runs/research_workbench/operator_hypothesis_lab/tsla_er20_conditioned_return_horizon_grid_20260825/conditioned_horizon_grid_statistics.csv</a:t>
            </a:r>
          </a:p>
          <a:p xmlns:a="http://schemas.openxmlformats.org/drawingml/2006/main">
            <a:r>
              <a:t>- runs/research_workbench/operator_hypothesis_lab/tsla_er20_conditioned_return_horizon_grid_20260825/visuals/tsla_red_sideways_pearson_heatmap.png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Green states retain small positive short-horizon patches, but the red medium-horizon island is muted or reversed and the long-prior/long-forward corner becomes negative.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runs/research_workbench/operator_hypothesis_lab/tsla_er20_conditioned_return_horizon_grid_20260825/green_trending_pearson_matrix.csv</a:t>
            </a:r>
          </a:p>
          <a:p xmlns:a="http://schemas.openxmlformats.org/drawingml/2006/main">
            <a:r>
              <a:t>- runs/research_workbench/operator_hypothesis_lab/tsla_er20_conditioned_return_horizon_grid_20260825/conditioned_horizon_grid_statistics.csv</a:t>
            </a:r>
          </a:p>
          <a:p xmlns:a="http://schemas.openxmlformats.org/drawingml/2006/main">
            <a:r>
              <a:t>- runs/research_workbench/operator_hypothesis_lab/tsla_er20_conditioned_return_horizon_grid_20260825/visuals/tsla_green_trending_pearson_heatmap.png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largest raw regime contrast is at 15 prior and 5 forward: red correlation +0.173 versus green -0.058, a -0.231 difference. Its slope interaction has raw HAC p=0.029 but BH q=0.919; no interaction survives the grid scan.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runs/research_workbench/operator_hypothesis_lab/tsla_er20_conditioned_return_horizon_grid_20260825/green_minus_red_pearson_matrix.csv</a:t>
            </a:r>
          </a:p>
          <a:p xmlns:a="http://schemas.openxmlformats.org/drawingml/2006/main">
            <a:r>
              <a:t>- runs/research_workbench/operator_hypothesis_lab/tsla_er20_conditioned_return_horizon_grid_20260825/regime_comparison_statistics.csv</a:t>
            </a:r>
          </a:p>
          <a:p xmlns:a="http://schemas.openxmlformats.org/drawingml/2006/main">
            <a:r>
              <a:t>- runs/research_workbench/operator_hypothesis_lab/tsla_er20_conditioned_return_horizon_grid_20260825/slope_interaction_bh_q_value_matrix.csv</a:t>
            </a:r>
          </a:p>
          <a:p xmlns:a="http://schemas.openxmlformats.org/drawingml/2006/main">
            <a:r>
              <a:t>- runs/research_workbench/operator_hypothesis_lab/tsla_er20_conditioned_return_horizon_grid_20260825/visuals/tsla_green_minus_red_pearson_heatmap.png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Conditioning changes the descriptive map in a coherent way, but the finding remains exploratory. ER20 is built from the same trailing path as the prior-return variable, so a less mechanically entangled filter would be a useful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runs/research_workbench/operator_hypothesis_lab/tsla_er20_conditioned_return_horizon_grid_20260825/report.md</a:t>
            </a:r>
          </a:p>
          <a:p xmlns:a="http://schemas.openxmlformats.org/drawingml/2006/main">
            <a:r>
              <a:t>- runs/research_workbench/operator_hypothesis_lab/tsla_er20_conditioned_return_horizon_grid_20260825/conditioned_horizon_grid_statistics.csv</a:t>
            </a:r>
          </a:p>
          <a:p xmlns:a="http://schemas.openxmlformats.org/drawingml/2006/main">
            <a:r>
              <a:t>- runs/research_workbench/operator_hypothesis_lab/tsla_er20_conditioned_return_horizon_grid_20260825/regime_comparison_statistics.csv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section asks whether signed-return dependence changes with movement capacity, using the already accepted ATR-percent classifier rather than designing new bins from this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operator_hypothesis_lab/docs/GEN5_HYP_REG_01_1_ATR_PERCENT_VOLATILITY_RESULTS.md</a:t>
            </a:r>
          </a:p>
          <a:p xmlns:a="http://schemas.openxmlformats.org/drawingml/2006/main">
            <a:r>
              <a:t>- operator_hypothesis_lab/docs/TSLA_ATRP_CONDITIONED_RETURN_HORIZON_GRID_2018_2023.md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state definition is reused exactly: Wilder ATR14 divided by close, current ATR-percent ranked against the prior 252 completed observations, and the accepted 30/40–60/70 hysteresis. State t is known before future returns begin.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runs/research_workbench/operator_hypothesis_lab/tsla_atrp_conditioned_return_horizon_grid_20260825/run_spec.csv</a:t>
            </a:r>
          </a:p>
          <a:p xmlns:a="http://schemas.openxmlformats.org/drawingml/2006/main">
            <a:r>
              <a:t>- runs/research_workbench/operator_hypothesis_lab/tsla_atrp_conditioned_return_horizon_grid_20260825/source_checks.csv</a:t>
            </a:r>
          </a:p>
          <a:p xmlns:a="http://schemas.openxmlformats.org/drawingml/2006/main">
            <a:r>
              <a:t>- runs/research_workbench/operator_hypothesis_lab/hyp_reg_01_1_atr_percent_20260814/hyp_reg_01_1_daily_state_ledger.csv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companion view makes the accepted volatility classifier visible in price time. Blue, gold, and red mean LOW, MEDIUM, and HIGH movement capacity; they do not mean bearish, neutral, and bullish. The lower panel shows the causal trailing ATR-percent rank and accepted hysteretic state at each close.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runs/research_workbench/operator_hypothesis_lab/tsla_atrp_conditioned_return_horizon_grid_20260825/visuals/tsla_atrp_state_price_bands.png</a:t>
            </a:r>
          </a:p>
          <a:p xmlns:a="http://schemas.openxmlformats.org/drawingml/2006/main">
            <a:r>
              <a:t>- runs/research_workbench/operator_hypothesis_lab/tsla_atrp_conditioned_return_horizon_grid_20260825/tsla_atrp_state_chart_ledger.csv</a:t>
            </a:r>
          </a:p>
          <a:p xmlns:a="http://schemas.openxmlformats.org/drawingml/2006/main">
            <a:r>
              <a:t>- runs/research_workbench/operator_hypothesis_lab/tsla_atrp_conditioned_return_horizon_grid_20260825/tsla_atrp_state_spans.csv</a:t>
            </a:r>
          </a:p>
          <a:p xmlns:a="http://schemas.openxmlformats.org/drawingml/2006/main">
            <a:r>
              <a:t>- runs/research_workbench/operator_hypothesis_lab/hyp_reg_01_1_atr_percent_20260814/hyp_reg_01_1_daily_state_ledger.csv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LOW ATR-percent anchors produce positive point estimates throughout the grid, but the strongest cell's interval crosses zero and no LOW cell survives the within-state scan.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runs/research_workbench/operator_hypothesis_lab/tsla_atrp_conditioned_return_horizon_grid_20260825/low_pearson_matrix.csv</a:t>
            </a:r>
          </a:p>
          <a:p xmlns:a="http://schemas.openxmlformats.org/drawingml/2006/main">
            <a:r>
              <a:t>- runs/research_workbench/operator_hypothesis_lab/tsla_atrp_conditioned_return_horizon_grid_20260825/conditioned_horizon_grid_statistics.csv</a:t>
            </a:r>
          </a:p>
          <a:p xmlns:a="http://schemas.openxmlformats.org/drawingml/2006/main">
            <a:r>
              <a:t>- runs/research_workbench/operator_hypothesis_lab/tsla_atrp_conditioned_return_horizon_grid_20260825/visuals/tsla_atrp_low_pearson_heatmap.png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MEDIUM ATR-percent anchors show the most statistically stable continuation pattern. Under the strict correction across all 486 tests, the 5/3, 10/2, and 10/3 cells remain.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runs/research_workbench/operator_hypothesis_lab/tsla_atrp_conditioned_return_horizon_grid_20260825/medium_pearson_matrix.csv</a:t>
            </a:r>
          </a:p>
          <a:p xmlns:a="http://schemas.openxmlformats.org/drawingml/2006/main">
            <a:r>
              <a:t>- runs/research_workbench/operator_hypothesis_lab/tsla_atrp_conditioned_return_horizon_grid_20260825/conditioned_horizon_grid_statistics.csv</a:t>
            </a:r>
          </a:p>
          <a:p xmlns:a="http://schemas.openxmlformats.org/drawingml/2006/main">
            <a:r>
              <a:t>- runs/research_workbench/operator_hypothesis_lab/tsla_atrp_conditioned_return_horizon_grid_20260825/visuals/tsla_atrp_medium_pearson_heatmap.png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 ATR-percent anchors reverse the sign of the broad surface, especially at longer horizons. The most extreme cell is visually strong but its dependence-robust interval still crosses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runs/research_workbench/operator_hypothesis_lab/tsla_atrp_conditioned_return_horizon_grid_20260825/high_pearson_matrix.csv</a:t>
            </a:r>
          </a:p>
          <a:p xmlns:a="http://schemas.openxmlformats.org/drawingml/2006/main">
            <a:r>
              <a:t>- runs/research_workbench/operator_hypothesis_lab/tsla_atrp_conditioned_return_horizon_grid_20260825/conditioned_horizon_grid_statistics.csv</a:t>
            </a:r>
          </a:p>
          <a:p xmlns:a="http://schemas.openxmlformats.org/drawingml/2006/main">
            <a:r>
              <a:t>- runs/research_workbench/operator_hypothesis_lab/tsla_atrp_conditioned_return_horizon_grid_20260825/visuals/tsla_atrp_high_pearson_heatmap.png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largest correlation contrast is -0.548 at 25 prior and 15 forward; its within-family interaction q is 0.038 but strict omnibus q is 0.081. Three smaller HIGH-minus-MEDIUM interactions survive the omnibus correction.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runs/research_workbench/operator_hypothesis_lab/tsla_atrp_conditioned_return_horizon_grid_20260825/high_minus_medium_pearson_difference_matrix.csv</a:t>
            </a:r>
          </a:p>
          <a:p xmlns:a="http://schemas.openxmlformats.org/drawingml/2006/main">
            <a:r>
              <a:t>- runs/research_workbench/operator_hypothesis_lab/tsla_atrp_conditioned_return_horizon_grid_20260825/pairwise_state_comparison_statistics.csv</a:t>
            </a:r>
          </a:p>
          <a:p xmlns:a="http://schemas.openxmlformats.org/drawingml/2006/main">
            <a:r>
              <a:t>- runs/research_workbench/operator_hypothesis_lab/tsla_atrp_conditioned_return_horizon_grid_20260825/high_minus_medium_interaction_bh_q_matrix.csv</a:t>
            </a:r>
          </a:p>
          <a:p xmlns:a="http://schemas.openxmlformats.org/drawingml/2006/main">
            <a:r>
              <a:t>- runs/research_workbench/operator_hypothesis_lab/tsla_atrp_conditioned_return_horizon_grid_20260825/visuals/tsla_atrp_high_minus_medium_pearson_heatmap.png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ATR-percent split is the clearest conditional map in this descriptive lane and is partially multiplicity-robust, but it is still a same-sample replication candidate rather than a trading rule. The ER20 direction split and external-context filter are bookmarked, not opened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runs/research_workbench/operator_hypothesis_lab/tsla_atrp_conditioned_return_horizon_grid_20260825/report.md</a:t>
            </a:r>
          </a:p>
          <a:p xmlns:a="http://schemas.openxmlformats.org/drawingml/2006/main">
            <a:r>
              <a:t>- runs/research_workbench/operator_hypothesis_lab/tsla_atrp_conditioned_return_horizon_grid_20260825/conditioned_horizon_grid_statistics.csv</a:t>
            </a:r>
          </a:p>
          <a:p xmlns:a="http://schemas.openxmlformats.org/drawingml/2006/main">
            <a:r>
              <a:t>- runs/research_workbench/operator_hypothesis_lab/tsla_atrp_conditioned_return_horizon_grid_20260825/pairwise_state_comparison_statistics.csv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303b77f9d64a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51521f1af94351" /><Relationship Type="http://schemas.openxmlformats.org/officeDocument/2006/relationships/slideLayout" Target="/ppt/slideLayouts/slideLayout1.xml" Id="R92246c71310d46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246c71310d46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TSLA Descriptive Microscope">
      <a:dk1>
        <a:srgbClr val="000000"/>
      </a:dk1>
      <a:lt1>
        <a:srgbClr val="FFFFFF"/>
      </a:lt1>
      <a:dk2>
        <a:srgbClr val="273548"/>
      </a:dk2>
      <a:lt2>
        <a:srgbClr val="EDEDED"/>
      </a:lt2>
      <a:accent1>
        <a:srgbClr val="3D8DFF"/>
      </a:accent1>
      <a:accent2>
        <a:srgbClr val="2A9D6F"/>
      </a:accent2>
      <a:accent3>
        <a:srgbClr val="E45756"/>
      </a:accent3>
      <a:accent4>
        <a:srgbClr val="6DCBF4"/>
      </a:accent4>
      <a:accent5>
        <a:srgbClr val="7C3AED"/>
      </a:accent5>
      <a:accent6>
        <a:srgbClr val="F59E0B"/>
      </a:accent6>
      <a:hlink>
        <a:srgbClr val="3D8DFF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SLA Descriptive Microscop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1e1edf4b14c45" /><Relationship Type="http://schemas.openxmlformats.org/officeDocument/2006/relationships/notesSlide" Target="/ppt/notesSlides/notesSlide1.xml" Id="R2cfc84e4561647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de7b09ec44d29" /><Relationship Type="http://schemas.openxmlformats.org/officeDocument/2006/relationships/notesSlide" Target="/ppt/notesSlides/notesSlide2.xml" Id="R4c310a93ff8f43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61a288f834f24" /><Relationship Type="http://schemas.openxmlformats.org/officeDocument/2006/relationships/notesSlide" Target="/ppt/notesSlides/notesSlide3.xml" Id="Rc36ba55b88a24e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23a0dc9b94c5d" /><Relationship Type="http://schemas.openxmlformats.org/officeDocument/2006/relationships/image" Target="/ppt/media/image.png" Id="R3e6ac7e05ab44faa" /><Relationship Type="http://schemas.openxmlformats.org/officeDocument/2006/relationships/notesSlide" Target="/ppt/notesSlides/notesSlide4.xml" Id="Rbcb6d960ea3142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47cd9a3644d2e" /><Relationship Type="http://schemas.openxmlformats.org/officeDocument/2006/relationships/image" Target="/ppt/media/image2.png" Id="Rc01ec9e6b94b4f52" /><Relationship Type="http://schemas.openxmlformats.org/officeDocument/2006/relationships/notesSlide" Target="/ppt/notesSlides/notesSlide5.xml" Id="R65fa4ad0abe94a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dc9417b4642fe" /><Relationship Type="http://schemas.openxmlformats.org/officeDocument/2006/relationships/notesSlide" Target="/ppt/notesSlides/notesSlide6.xml" Id="R10217f7a5aa343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4d5bd126a41bd" /><Relationship Type="http://schemas.openxmlformats.org/officeDocument/2006/relationships/image" Target="/ppt/media/image3.png" Id="R45df43d5ea58424a" /><Relationship Type="http://schemas.openxmlformats.org/officeDocument/2006/relationships/notesSlide" Target="/ppt/notesSlides/notesSlide7.xml" Id="R05f9dd311ff640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9e89f9458477c" /><Relationship Type="http://schemas.openxmlformats.org/officeDocument/2006/relationships/image" Target="/ppt/media/image4.png" Id="Rc7dd42bd33944d1f" /><Relationship Type="http://schemas.openxmlformats.org/officeDocument/2006/relationships/notesSlide" Target="/ppt/notesSlides/notesSlide8.xml" Id="R079e870b0b3d47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eb8e8d8f94bad" /><Relationship Type="http://schemas.openxmlformats.org/officeDocument/2006/relationships/image" Target="/ppt/media/image5.png" Id="R68bc16d9e41544fa" /><Relationship Type="http://schemas.openxmlformats.org/officeDocument/2006/relationships/notesSlide" Target="/ppt/notesSlides/notesSlide9.xml" Id="Rb4a02365007640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429a9913849f1" /><Relationship Type="http://schemas.openxmlformats.org/officeDocument/2006/relationships/image" Target="/ppt/media/image6.png" Id="R09a06b7a1b4448ba" /><Relationship Type="http://schemas.openxmlformats.org/officeDocument/2006/relationships/notesSlide" Target="/ppt/notesSlides/notesSlide10.xml" Id="R583c244e1b2c46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87dce62524c51" /><Relationship Type="http://schemas.openxmlformats.org/officeDocument/2006/relationships/notesSlide" Target="/ppt/notesSlides/notesSlide11.xml" Id="R42151745be2946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cc20052d8482f" /><Relationship Type="http://schemas.openxmlformats.org/officeDocument/2006/relationships/notesSlide" Target="/ppt/notesSlides/notesSlide12.xml" Id="R9f1db35fe61242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efd3d31d84a82" /><Relationship Type="http://schemas.openxmlformats.org/officeDocument/2006/relationships/notesSlide" Target="/ppt/notesSlides/notesSlide13.xml" Id="R537c9341fcd34b2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743bc909748ba" /><Relationship Type="http://schemas.openxmlformats.org/officeDocument/2006/relationships/image" Target="/ppt/media/image7.png" Id="Rbfa95d3868d0430e" /><Relationship Type="http://schemas.openxmlformats.org/officeDocument/2006/relationships/notesSlide" Target="/ppt/notesSlides/notesSlide14.xml" Id="R900e0a72271c475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46bd9136740ef" /><Relationship Type="http://schemas.openxmlformats.org/officeDocument/2006/relationships/image" Target="/ppt/media/image8.png" Id="R79622c9646664e71" /><Relationship Type="http://schemas.openxmlformats.org/officeDocument/2006/relationships/notesSlide" Target="/ppt/notesSlides/notesSlide15.xml" Id="Ra67f24a83e7d465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8dd44a6564aad" /><Relationship Type="http://schemas.openxmlformats.org/officeDocument/2006/relationships/image" Target="/ppt/media/image9.png" Id="R62069b35f6314be2" /><Relationship Type="http://schemas.openxmlformats.org/officeDocument/2006/relationships/notesSlide" Target="/ppt/notesSlides/notesSlide16.xml" Id="R00aba8fcdb4948e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bf46d7e224511" /><Relationship Type="http://schemas.openxmlformats.org/officeDocument/2006/relationships/notesSlide" Target="/ppt/notesSlides/notesSlide17.xml" Id="R24fec07efd29405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f29478d0a4aca" /><Relationship Type="http://schemas.openxmlformats.org/officeDocument/2006/relationships/notesSlide" Target="/ppt/notesSlides/notesSlide18.xml" Id="R8f788307218646c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60f53dfd14791" /><Relationship Type="http://schemas.openxmlformats.org/officeDocument/2006/relationships/notesSlide" Target="/ppt/notesSlides/notesSlide19.xml" Id="R163d0b4730e448c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2be502fe44135" /><Relationship Type="http://schemas.openxmlformats.org/officeDocument/2006/relationships/image" Target="/ppt/media/image10.png" Id="Rdfb41a89193e446f" /><Relationship Type="http://schemas.openxmlformats.org/officeDocument/2006/relationships/notesSlide" Target="/ppt/notesSlides/notesSlide20.xml" Id="Rd551f152776f43e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6bc71915c480f" /><Relationship Type="http://schemas.openxmlformats.org/officeDocument/2006/relationships/image" Target="/ppt/media/image11.png" Id="R568f535318ed4a37" /><Relationship Type="http://schemas.openxmlformats.org/officeDocument/2006/relationships/notesSlide" Target="/ppt/notesSlides/notesSlide21.xml" Id="R4ba0f6ef8768463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60fa8971d4311" /><Relationship Type="http://schemas.openxmlformats.org/officeDocument/2006/relationships/image" Target="/ppt/media/image12.png" Id="R6d3711f7ae974143" /><Relationship Type="http://schemas.openxmlformats.org/officeDocument/2006/relationships/notesSlide" Target="/ppt/notesSlides/notesSlide22.xml" Id="Rad52fab7a17d4a5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8de53a9da4c43" /><Relationship Type="http://schemas.openxmlformats.org/officeDocument/2006/relationships/notesSlide" Target="/ppt/notesSlides/notesSlide23.xml" Id="Re3af82ad595f40d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ed847b25a4a8c" /><Relationship Type="http://schemas.openxmlformats.org/officeDocument/2006/relationships/notesSlide" Target="/ppt/notesSlides/notesSlide24.xml" Id="R2d3258ee789148b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24f200f474c72" /><Relationship Type="http://schemas.openxmlformats.org/officeDocument/2006/relationships/notesSlide" Target="/ppt/notesSlides/notesSlide25.xml" Id="Rf6a67a90b41c4ee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706b7843b4e5a" /><Relationship Type="http://schemas.openxmlformats.org/officeDocument/2006/relationships/image" Target="/ppt/media/image13.png" Id="R4af3966987f646be" /><Relationship Type="http://schemas.openxmlformats.org/officeDocument/2006/relationships/notesSlide" Target="/ppt/notesSlides/notesSlide26.xml" Id="Re380b22c579d4f5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b6a9c9aa3416d" /><Relationship Type="http://schemas.openxmlformats.org/officeDocument/2006/relationships/image" Target="/ppt/media/image14.png" Id="Rfab5cec8d9694f55" /><Relationship Type="http://schemas.openxmlformats.org/officeDocument/2006/relationships/notesSlide" Target="/ppt/notesSlides/notesSlide27.xml" Id="Rb6d28cabc5b0491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7f17f9e5e49ef" /><Relationship Type="http://schemas.openxmlformats.org/officeDocument/2006/relationships/image" Target="/ppt/media/image15.png" Id="Rd42cf5fa0c1545c1" /><Relationship Type="http://schemas.openxmlformats.org/officeDocument/2006/relationships/notesSlide" Target="/ppt/notesSlides/notesSlide28.xml" Id="Rf349079703744ef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90bd3819745fe" /><Relationship Type="http://schemas.openxmlformats.org/officeDocument/2006/relationships/image" Target="/ppt/media/image16.png" Id="Rde716d7962a84bfa" /><Relationship Type="http://schemas.openxmlformats.org/officeDocument/2006/relationships/notesSlide" Target="/ppt/notesSlides/notesSlide29.xml" Id="Ra3820495ca454e5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cc3883c184662" /><Relationship Type="http://schemas.openxmlformats.org/officeDocument/2006/relationships/image" Target="/ppt/media/image17.png" Id="R0cba53e679374f80" /><Relationship Type="http://schemas.openxmlformats.org/officeDocument/2006/relationships/notesSlide" Target="/ppt/notesSlides/notesSlide30.xml" Id="R6e67adf7349841d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ae5676f264a1b" /><Relationship Type="http://schemas.openxmlformats.org/officeDocument/2006/relationships/notesSlide" Target="/ppt/notesSlides/notesSlide31.xml" Id="R7ebce79195eb49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87F2A-19E1-4D71-8665-A325D369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OPERATOR HYPOTHESIS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4752F-5C3B-406E-860B-425737DD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00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TSLA descriptive</a:t>
            </a:r>
          </a:p>
          <a:p xmlns:a="http://schemas.openxmlformats.org/drawingml/2006/main">
            <a:pPr algn="l">
              <a:buNone/>
              <a:defRPr sz="6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microscope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C665E-F0B1-4B7F-B98C-E0352166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5C4CF-93D0-4941-8B4C-E3E2BA10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From visual intuition to measured daily-return dependence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AA5C7-3D69-4D62-9FC3-A69A478B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 | Descriptive research only</a:t>
            </a:r>
          </a:p>
        </p:txBody>
      </p:sp>
    </p:spTree>
    <p:extLst>
      <p:ext uri="{BB962C8B-B14F-4D97-AF65-F5344CB8AC3E}">
        <p14:creationId xmlns:p14="http://schemas.microsoft.com/office/powerpoint/2010/main" val="15019786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2">
            <a:extLst xmlns:a="http://schemas.openxmlformats.org/drawingml/2006/main">
              <a:ext uri="{FF2B5EF4-FFF2-40B4-BE49-F238E27FC236}">
                <a16:creationId xmlns:a16="http://schemas.microsoft.com/office/drawing/2014/main" id="{EABBA6E1-F45F-441D-A600-8142D7D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75C8CBF-2952-45DB-A51C-31B8AB27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lane starts with description, not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D8AFB-8939-414E-BF70-4C44373B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DAFEC4F1-50D5-4693-B6C1-AC113863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EF6CAA23-BA21-472E-986D-D98B4D1F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F66DD-540D-476F-A7F5-02147E71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4F55B-1446-4F42-BD1E-8FAB2CF5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811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See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1277C-2532-4E5C-8906-6DB6877B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62100"/>
            <a:ext cx="666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Start with raw price and return geometry before deciding what relationship ought to exist.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372FE-75A4-4E6C-8C5E-5569ECB2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4A25A-AA62-4D50-B30F-5346853D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6F"/>
          </a:solidFill>
          <a:ln xmlns:a="http://schemas.openxmlformats.org/drawingml/2006/main" w="0">
            <a:solidFill>
              <a:srgbClr val="2A9D6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AF01F-0357-4FCE-9139-7DACD43D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3BF40-3714-43F0-ACA7-13D0F829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71800"/>
            <a:ext cx="666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Separate direction, magnitude, path shape, and volatility so one visual impression does not stand in for all four.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591B6-C755-4D50-BB99-DA5C68C1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0F103-9237-4C60-86EF-786CECE7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56"/>
          </a:solidFill>
          <a:ln xmlns:a="http://schemas.openxmlformats.org/drawingml/2006/main" w="0">
            <a:solidFill>
              <a:srgbClr val="E457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839DF-980D-4991-A539-25BA44F4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18768-8500-49CC-AD63-3A41DD66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81500"/>
            <a:ext cx="666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Quantify one frozen relationship at a time; only later ask whether a finding predicts, trades, or transports.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35A8B2-7CB6-4F65-9360-0E168549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65094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3">
            <a:extLst xmlns:a="http://schemas.openxmlformats.org/drawingml/2006/main">
              <a:ext uri="{FF2B5EF4-FFF2-40B4-BE49-F238E27FC236}">
                <a16:creationId xmlns:a16="http://schemas.microsoft.com/office/drawing/2014/main" id="{D21E8F50-BA1C-4536-B715-AAD5A74E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22D00AB-54E7-40F8-BC73-9A3D2344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question, one fixed sample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77435-894D-461F-A4F7-CD91DF8A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FC53CCFE-82C8-49A0-BC48-206B3BC8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B9F045FD-2505-4635-89F0-EDCD31EF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133C9-969B-4370-A80C-D9B73CA5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542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r[t] = log(C[t] / C[t-1])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8EB97-B391-424E-82EB-0DEEC881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504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Each row pairs yesterday's adjusted close-to-close log return with today's.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10794-EB76-4BB0-B74E-31375B66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4953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34C39-6D46-429B-A2ED-F97A068A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D83BD-5D8C-4BCB-B02F-81EB7416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1,509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8569D-B256-4A8E-9334-C068F398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4495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consecutive-session pairs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9CAED-155E-4498-A477-F11A6F4A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boundaries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8E2E5-6744-4962-977E-E85B4891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Asset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D2958-8D30-49E2-9398-075A839B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TSLA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0B4C3-3792-489F-A37E-FD53597F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68646-6439-4EB2-88F0-0C08EDC1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Price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E87A9A-C6B3-4232-84C2-9C442CAD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Alpaca SIP adjusted daily close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22C36-1982-4EF0-A9F3-89DAA8EA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764C4-9BB1-4E82-A1F0-6E930868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Target sessions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A04E11-771F-482D-97D0-41D18323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671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2018-01-02 through 2023-12-29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EA1D46-2EB0-459D-9313-BA82DEAD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243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D0A15B-41F8-429C-8446-F9003B5B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57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3F5128-0043-4265-B48A-E7E4E9B6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No alternate lag or horizon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B63F79-B572-4EF7-8C82-E4140C6E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148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8FD0A4-5938-4ECC-AC99-49139123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48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Trading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292260-C22B-4C56-9ED9-C8744785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482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8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No policy or performance calculation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617A11-8542-47F5-AD42-16C68CB8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054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258514-91F0-4BFE-BE7D-A95A1C82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38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Confirmation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3C58E3-8C22-4D23-8076-93E17357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387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No post-2023 data read</a:t>
            </a:r>
          </a:p>
        </p:txBody>
      </p:sp>
    </p:spTree>
    <p:extLst>
      <p:ext uri="{BB962C8B-B14F-4D97-AF65-F5344CB8AC3E}">
        <p14:creationId xmlns:p14="http://schemas.microsoft.com/office/powerpoint/2010/main" val="13972833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4">
            <a:extLst xmlns:a="http://schemas.openxmlformats.org/drawingml/2006/main">
              <a:ext uri="{FF2B5EF4-FFF2-40B4-BE49-F238E27FC236}">
                <a16:creationId xmlns:a16="http://schemas.microsoft.com/office/drawing/2014/main" id="{8AE0A271-669A-49F0-A82E-C4438BEE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0C6F92F-721A-4252-9CF8-B5C9B01C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raw cloud has no clear directional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399F2-4D0A-4337-B17E-DB3599DC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BF8B82CA-1E48-4669-BAD8-1FF8C09F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05959AEC-B0A5-45F0-A65B-C94C3E5A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DEA29-E57D-4C8D-8538-2028FF89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52550"/>
            <a:ext cx="10191750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ac7e05ab44faa"/>
          <a:stretch xmlns:a="http://schemas.openxmlformats.org/drawingml/2006/main"/>
        </p:blipFill>
        <p:spPr>
          <a:xfrm xmlns:a="http://schemas.openxmlformats.org/drawingml/2006/main">
            <a:off x="2942545" y="1352550"/>
            <a:ext cx="6306911" cy="4905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6A5F2-8CC4-4151-9BDB-346D47A3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722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First look: no fitted line, correlation, p-value, binning, or outlier removal.</a:t>
            </a:r>
          </a:p>
        </p:txBody>
      </p:sp>
    </p:spTree>
    <p:extLst>
      <p:ext uri="{BB962C8B-B14F-4D97-AF65-F5344CB8AC3E}">
        <p14:creationId xmlns:p14="http://schemas.microsoft.com/office/powerpoint/2010/main" val="4008723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5">
            <a:extLst xmlns:a="http://schemas.openxmlformats.org/drawingml/2006/main">
              <a:ext uri="{FF2B5EF4-FFF2-40B4-BE49-F238E27FC236}">
                <a16:creationId xmlns:a16="http://schemas.microsoft.com/office/drawing/2014/main" id="{7D217279-BBB9-4442-BD43-E35AFD38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CF70291-6FC2-4F25-8EF7-C5343297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ER20 labels path shape—not volatility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E3755-2109-4A95-AAD7-09D4B54C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5">
            <a:extLst xmlns:a="http://schemas.openxmlformats.org/drawingml/2006/main">
              <a:ext uri="{FF2B5EF4-FFF2-40B4-BE49-F238E27FC236}">
                <a16:creationId xmlns:a16="http://schemas.microsoft.com/office/drawing/2014/main" id="{3D616FCB-FD1B-4926-8056-5988E7D3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7E3BECCF-F54F-4D27-BB58-7ED62747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C60D3-C5F7-4C39-991D-FB86EB75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381125"/>
            <a:ext cx="8572500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ec9e6b94b4f52"/>
          <a:stretch xmlns:a="http://schemas.openxmlformats.org/drawingml/2006/main"/>
        </p:blipFill>
        <p:spPr>
          <a:xfrm xmlns:a="http://schemas.openxmlformats.org/drawingml/2006/main">
            <a:off x="325967" y="1381125"/>
            <a:ext cx="8568267" cy="4819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493DE-9AA4-4FF1-8BE2-28F352E8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5811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B1C17-35A6-411A-A67C-A4A72F63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2400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Absolute 20-session endpoint displacement divided by the total log-price path traveled.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C96CB-CC04-417E-9ADF-6D8B711B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099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CCFF6-12C5-4DA0-960D-99266D20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67150"/>
            <a:ext cx="24003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Green recognizes efficient rises and declines. Red marks a locally choppy path. Daily thresholding is visibly flickery near transitions.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C076C-14CF-4CC6-9A1F-9DE2F654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71500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6F"/>
          </a:solidFill>
          <a:ln xmlns:a="http://schemas.openxmlformats.org/drawingml/2006/main" w="0">
            <a:solidFill>
              <a:srgbClr val="2A9D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62FEB-4FFC-484D-8635-E7157EEB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8674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A9D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A9D6F"/>
                </a:solidFill>
                <a:latin typeface="Arial"/>
                <a:ea typeface="Arial"/>
                <a:cs typeface="Arial"/>
              </a:rPr>
              <a:t>Descriptive state—not a future-return claim</a:t>
            </a:r>
          </a:p>
        </p:txBody>
      </p:sp>
    </p:spTree>
    <p:extLst>
      <p:ext uri="{BB962C8B-B14F-4D97-AF65-F5344CB8AC3E}">
        <p14:creationId xmlns:p14="http://schemas.microsoft.com/office/powerpoint/2010/main" val="3171913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C51E6-6E84-4C1E-8D3E-0D1B2ADE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MEASUREMENT PASS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BD659-315B-4902-8A62-88F3460E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visual cloud asks one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precise next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F8D12-F796-4339-A513-DF003E6E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5830B-E6EE-4175-94D1-A484215C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Does r[t-1] contain measurable information about r[t]?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3AAD9-855C-47E7-9BA0-F94B71F3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Primary: signed linear dependence. Diagnostics: rank, sign, outliers, annual stability, and absolute-return persistence.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E2559-6393-4E7F-A448-E0578397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02480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7">
            <a:extLst xmlns:a="http://schemas.openxmlformats.org/drawingml/2006/main">
              <a:ext uri="{FF2B5EF4-FFF2-40B4-BE49-F238E27FC236}">
                <a16:creationId xmlns:a16="http://schemas.microsoft.com/office/drawing/2014/main" id="{BAC8373F-594E-467B-A8F8-56439CEB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7592E6E5-EA60-427F-BAB4-42C154D8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Signed dependence is effectively 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2E1AC-5CE8-4847-87B1-81C28A4E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7">
            <a:extLst xmlns:a="http://schemas.openxmlformats.org/drawingml/2006/main">
              <a:ext uri="{FF2B5EF4-FFF2-40B4-BE49-F238E27FC236}">
                <a16:creationId xmlns:a16="http://schemas.microsoft.com/office/drawing/2014/main" id="{4896B590-20BC-4B46-9282-D9F5A22A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1503EFAF-F487-4981-AFDC-23F1B41A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770DD-55E6-42DB-942A-6938E642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28750"/>
            <a:ext cx="76771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f43d5ea58424a"/>
          <a:stretch xmlns:a="http://schemas.openxmlformats.org/drawingml/2006/main"/>
        </p:blipFill>
        <p:spPr>
          <a:xfrm xmlns:a="http://schemas.openxmlformats.org/drawingml/2006/main">
            <a:off x="609600" y="1428750"/>
            <a:ext cx="7143750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D1653-1738-47C8-BFA1-9C939028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049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11094-04B5-4E98-9749-4F832E6A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049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56"/>
          </a:solidFill>
          <a:ln xmlns:a="http://schemas.openxmlformats.org/drawingml/2006/main" w="0">
            <a:solidFill>
              <a:srgbClr val="E457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9A327-4374-4B4E-A3BA-F8E01649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76400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E45756"/>
                </a:solidFill>
                <a:latin typeface="Arial"/>
                <a:ea typeface="Arial"/>
                <a:cs typeface="Arial"/>
              </a:rPr>
              <a:t>-0.021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41AE3-547D-4111-ADFF-14E5545F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431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Pearson correlation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7B1C2D-BD18-4B6C-8DC8-10694F2F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050CC-5568-4F8A-B026-EC7B8ABE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FF9D4-D051-476B-B68A-15DCA6B4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14700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38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[-0.073, +0.028]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FBB46-08D6-4497-AA7C-C2049757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814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95% block-bootstrap interval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D61CC-6E5E-49EC-A5F6-E861E856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815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35608E-4DDE-41BA-8DF2-831CF419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815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8"/>
          </a:solidFill>
          <a:ln xmlns:a="http://schemas.openxmlformats.org/drawingml/2006/main" w="0">
            <a:solidFill>
              <a:srgbClr val="27354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A976D-39D1-4C6C-803F-0D3F8BAE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53000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0.044%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1E116E-13CC-4735-B31A-B5C1846B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6197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R-squared: variance explained</a:t>
            </a:r>
          </a:p>
        </p:txBody>
      </p:sp>
    </p:spTree>
    <p:extLst>
      <p:ext uri="{BB962C8B-B14F-4D97-AF65-F5344CB8AC3E}">
        <p14:creationId xmlns:p14="http://schemas.microsoft.com/office/powerpoint/2010/main" val="15831707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8">
            <a:extLst xmlns:a="http://schemas.openxmlformats.org/drawingml/2006/main">
              <a:ext uri="{FF2B5EF4-FFF2-40B4-BE49-F238E27FC236}">
                <a16:creationId xmlns:a16="http://schemas.microsoft.com/office/drawing/2014/main" id="{FC99BA28-64AB-43E8-BE2C-0E05781D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F56141AD-6D41-4B04-9458-2EFEFD0C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Yesterday's sign barely changes tomorrow's odds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B866E-F8EC-4822-8F75-8738AE57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8">
            <a:extLst xmlns:a="http://schemas.openxmlformats.org/drawingml/2006/main">
              <a:ext uri="{FF2B5EF4-FFF2-40B4-BE49-F238E27FC236}">
                <a16:creationId xmlns:a16="http://schemas.microsoft.com/office/drawing/2014/main" id="{60B7304E-4F61-40B8-9568-3A46AA06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A2FDA8B5-1121-4016-B34F-180F1906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9974A-1518-4857-8A86-2EF378C5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66850"/>
            <a:ext cx="79057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d42bd33944d1f"/>
          <a:stretch xmlns:a="http://schemas.openxmlformats.org/drawingml/2006/main"/>
        </p:blipFill>
        <p:spPr>
          <a:xfrm xmlns:a="http://schemas.openxmlformats.org/drawingml/2006/main">
            <a:off x="381000" y="1494631"/>
            <a:ext cx="7905750" cy="461168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8CD61-4D23-41B7-A67E-B50BFA3C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954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5ED96-F82C-4CF6-8B54-F372EF0D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954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56"/>
          </a:solidFill>
          <a:ln xmlns:a="http://schemas.openxmlformats.org/drawingml/2006/main" w="0">
            <a:solidFill>
              <a:srgbClr val="E457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25F14-87B4-4B00-A519-E1B45B89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66900"/>
            <a:ext cx="2400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E45756"/>
                </a:solidFill>
                <a:latin typeface="Arial"/>
                <a:ea typeface="Arial"/>
                <a:cs typeface="Arial"/>
              </a:rPr>
              <a:t>52.9%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C7F50-11E4-4D99-A2B2-ED17DA9E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336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up after a prior down day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3A160-F567-45AF-99BA-FC078BEA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1FC31-69FB-4152-99F6-85AD4E4D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6F"/>
          </a:solidFill>
          <a:ln xmlns:a="http://schemas.openxmlformats.org/drawingml/2006/main" w="0">
            <a:solidFill>
              <a:srgbClr val="2A9D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D9501F-EB23-41C7-BC9F-0DCAF5ED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43300"/>
            <a:ext cx="2400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A9D6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A9D6F"/>
                </a:solidFill>
                <a:latin typeface="Arial"/>
                <a:ea typeface="Arial"/>
                <a:cs typeface="Arial"/>
              </a:rPr>
              <a:t>52.1%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E9C93-AD93-49F0-B4EC-ABFC15BE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100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up after a prior up day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7DD6F-8CEE-4A90-8BD6-690A4FB4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19700"/>
            <a:ext cx="266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Difference: -0.7 percentage points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95% interval: -5.8 to +4.2 pp</a:t>
            </a:r>
          </a:p>
        </p:txBody>
      </p:sp>
    </p:spTree>
    <p:extLst>
      <p:ext uri="{BB962C8B-B14F-4D97-AF65-F5344CB8AC3E}">
        <p14:creationId xmlns:p14="http://schemas.microsoft.com/office/powerpoint/2010/main" val="17240436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9">
            <a:extLst xmlns:a="http://schemas.openxmlformats.org/drawingml/2006/main">
              <a:ext uri="{FF2B5EF4-FFF2-40B4-BE49-F238E27FC236}">
                <a16:creationId xmlns:a16="http://schemas.microsoft.com/office/drawing/2014/main" id="{EBA183BA-1F33-43C2-A340-16B1E99A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0663B6F4-658E-4DE8-898E-470A7CF5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signed result stays weak under obvious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2132A-BB30-4209-B894-FCC20F4F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9">
            <a:extLst xmlns:a="http://schemas.openxmlformats.org/drawingml/2006/main">
              <a:ext uri="{FF2B5EF4-FFF2-40B4-BE49-F238E27FC236}">
                <a16:creationId xmlns:a16="http://schemas.microsoft.com/office/drawing/2014/main" id="{5B6CFEAA-57C7-4EA4-BAF7-395EC1B3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0A964CCF-1375-4C63-86E0-327EA665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A4194-DA3D-4FE2-8903-084599EE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428750"/>
            <a:ext cx="8096250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c16d9e41544fa"/>
          <a:stretch xmlns:a="http://schemas.openxmlformats.org/drawingml/2006/main"/>
        </p:blipFill>
        <p:spPr>
          <a:xfrm xmlns:a="http://schemas.openxmlformats.org/drawingml/2006/main">
            <a:off x="588479" y="1428750"/>
            <a:ext cx="7528891" cy="4810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547BA-6B5C-4F5A-B4E4-FD99AACD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573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Rank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C0B40-DAFE-4C66-8136-964E51E1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1455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Spearman rho = -0.004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95% block interval: -0.054 to +0.044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A331B-1B89-49FE-BD19-54F1DD62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813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140A0-2615-4B81-99CA-0D43FAA4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671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Outlier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EB45D-DC9C-458B-93BD-1FA8026B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24300"/>
            <a:ext cx="266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Pearson changes from -0.021 to -0.008 after fixed 1%/99% winsorization.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C736D-ABB7-461A-92C1-B5147946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1054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4633C-EE8B-411B-A503-F65ADB1D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3911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45756"/>
                </a:solidFill>
                <a:latin typeface="Arial"/>
                <a:ea typeface="Arial"/>
                <a:cs typeface="Arial"/>
              </a:rPr>
              <a:t>Every annual HAC interval crosses zero.</a:t>
            </a:r>
          </a:p>
        </p:txBody>
      </p:sp>
    </p:spTree>
    <p:extLst>
      <p:ext uri="{BB962C8B-B14F-4D97-AF65-F5344CB8AC3E}">
        <p14:creationId xmlns:p14="http://schemas.microsoft.com/office/powerpoint/2010/main" val="20162149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10">
            <a:extLst xmlns:a="http://schemas.openxmlformats.org/drawingml/2006/main">
              <a:ext uri="{FF2B5EF4-FFF2-40B4-BE49-F238E27FC236}">
                <a16:creationId xmlns:a16="http://schemas.microsoft.com/office/drawing/2014/main" id="{956D329C-4E71-4503-8472-54BE364C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35EE1E91-CEDB-4B30-9B21-3743CDB4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Magnitude persistence is modest—and different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0048C-412A-4DAD-943D-CBFA422C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10">
            <a:extLst xmlns:a="http://schemas.openxmlformats.org/drawingml/2006/main">
              <a:ext uri="{FF2B5EF4-FFF2-40B4-BE49-F238E27FC236}">
                <a16:creationId xmlns:a16="http://schemas.microsoft.com/office/drawing/2014/main" id="{81D14FDE-48EA-4462-90E0-D7741C25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10">
            <a:extLst xmlns:a="http://schemas.openxmlformats.org/drawingml/2006/main">
              <a:ext uri="{FF2B5EF4-FFF2-40B4-BE49-F238E27FC236}">
                <a16:creationId xmlns:a16="http://schemas.microsoft.com/office/drawing/2014/main" id="{CC0DEE07-9BBD-42F7-A366-FBFDE2A0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6EAE5-9A3B-4831-A518-2BC1EB25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47800"/>
            <a:ext cx="8096250" cy="474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06b7a1b4448ba"/>
          <a:stretch xmlns:a="http://schemas.openxmlformats.org/drawingml/2006/main"/>
        </p:blipFill>
        <p:spPr>
          <a:xfrm xmlns:a="http://schemas.openxmlformats.org/drawingml/2006/main">
            <a:off x="342900" y="1458119"/>
            <a:ext cx="8096250" cy="472281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70912-AFA7-4777-B92E-0384D9D3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81150"/>
            <a:ext cx="27622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98846-1713-4B00-B11B-C6CA4C6C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8115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DE226-2BE8-4FE8-ABF8-EF99CFFE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52600"/>
            <a:ext cx="2305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+0.107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CCFCB-521D-4ED8-B91A-B3885201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19350"/>
            <a:ext cx="230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Pearson correlation of |r[t-1]| and |r[t]|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EFCBD-B9ED-4C50-8E82-6B73D26F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71850"/>
            <a:ext cx="2362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95% block interval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+0.033 to +0.168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F3178D-BD60-4112-9050-39949302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8625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399B8-7059-4CEF-8F2B-1A634DBC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339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45756"/>
                </a:solidFill>
                <a:latin typeface="Arial"/>
                <a:ea typeface="Arial"/>
                <a:cs typeface="Arial"/>
              </a:rPr>
              <a:t>Caution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EC0EC-804C-451F-B37D-6CBD9395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53000"/>
            <a:ext cx="23622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6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The decile pattern is not monotonic; rank correlation is only +0.053 and its interval crosses zero. This is a clue about turbulence—not direction.</a:t>
            </a:r>
          </a:p>
        </p:txBody>
      </p:sp>
    </p:spTree>
    <p:extLst>
      <p:ext uri="{BB962C8B-B14F-4D97-AF65-F5344CB8AC3E}">
        <p14:creationId xmlns:p14="http://schemas.microsoft.com/office/powerpoint/2010/main" val="18800665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11">
            <a:extLst xmlns:a="http://schemas.openxmlformats.org/drawingml/2006/main">
              <a:ext uri="{FF2B5EF4-FFF2-40B4-BE49-F238E27FC236}">
                <a16:creationId xmlns:a16="http://schemas.microsoft.com/office/drawing/2014/main" id="{272ED433-B59C-436C-9DFB-4D317B90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3EC40708-7E00-432C-8ECE-907FA570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survives this first measurement 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A0FCE-75E8-41EF-A76A-23E9E212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11">
            <a:extLst xmlns:a="http://schemas.openxmlformats.org/drawingml/2006/main">
              <a:ext uri="{FF2B5EF4-FFF2-40B4-BE49-F238E27FC236}">
                <a16:creationId xmlns:a16="http://schemas.microsoft.com/office/drawing/2014/main" id="{700DA765-80E0-4197-8700-00D867B8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83896276-4112-4532-AF7C-776C67C5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4BA85-46C5-47BD-BA74-EC806E66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9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56"/>
          </a:solidFill>
          <a:ln xmlns:a="http://schemas.openxmlformats.org/drawingml/2006/main" w="0">
            <a:solidFill>
              <a:srgbClr val="E457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5B945-9D04-48FA-BA66-96DE813A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45756"/>
                </a:solidFill>
                <a:latin typeface="Arial"/>
                <a:ea typeface="Arial"/>
                <a:cs typeface="Arial"/>
              </a:rPr>
              <a:t>SIGNED RETURN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CF75D-5F23-4C7F-BE9C-764036D0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5621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7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No measurable adjacent-session continuation or reversal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B76F2-4514-4DD8-934B-ABE42A34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Pearson -0.021; direction difference -0.7 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777C3-6D2F-4277-840E-7E984FB4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4CF3F-AD63-423C-8F01-64C50789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9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6F"/>
          </a:solidFill>
          <a:ln xmlns:a="http://schemas.openxmlformats.org/drawingml/2006/main" w="0">
            <a:solidFill>
              <a:srgbClr val="2A9D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53D03-6A7A-4FEE-B242-02BF0319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9D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A9D6F"/>
                </a:solidFill>
                <a:latin typeface="Arial"/>
                <a:ea typeface="Arial"/>
                <a:cs typeface="Arial"/>
              </a:rPr>
              <a:t>PATH SHAPE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1DBE8-EAF6-4492-89E7-5C97A3A6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ER20 usefully describes trend versus chop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F0156-C9E6-4210-8A8A-BFEDD044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Direction-agnostic, lagging, and flickery near transitions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26165D-5B65-44DB-99BD-15ED33F9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0911F-9587-4B19-84C6-11974DB2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9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B53991-F50C-4B95-9F23-DAE86BCE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RETURN MAGNITUDE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FACF3B-08BC-4148-A40A-2004DFB8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624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A modest persistence clue remains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07D23B-44A2-43C4-9658-4C6E3843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Absolute-return Pearson +0.107; non-monotonic diagnostic pattern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2DFC4-7E22-47E6-8C53-1E63A841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066D54-676B-4D0F-93B6-2152B57E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53050"/>
            <a:ext cx="10877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4C79AE-EB98-4B5B-B3D3-11ED0D4C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Next narrow question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0D60E-6067-4236-80ED-A898A863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864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Does yesterday's return magnitude forecast tomorrow's magnitude on a separately frozen surface?</a:t>
            </a:r>
          </a:p>
        </p:txBody>
      </p:sp>
    </p:spTree>
    <p:extLst>
      <p:ext uri="{BB962C8B-B14F-4D97-AF65-F5344CB8AC3E}">
        <p14:creationId xmlns:p14="http://schemas.microsoft.com/office/powerpoint/2010/main" val="6665362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C51E6-6E84-4C1E-8D3E-0D1B2ADE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HORIZON GRID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BD659-315B-4902-8A62-88F3460E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if one session is simply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too noisy?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F8D12-F796-4339-A513-DF003E6E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5830B-E6EE-4175-94D1-A484215C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Aggregate the past. Aggregate the future. Keep the boundary clean.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3AAD9-855C-47E7-9BA0-F94B71F3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Predeclared prior and forward horizons: 1, 2, 3, 4, 5, 10, 15, 20, and 25 sessions. No cell becomes a strategy.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E2559-6393-4E7F-A448-E0578397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02480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3">
            <a:extLst xmlns:a="http://schemas.openxmlformats.org/drawingml/2006/main">
              <a:ext uri="{FF2B5EF4-FFF2-40B4-BE49-F238E27FC236}">
                <a16:creationId xmlns:a16="http://schemas.microsoft.com/office/drawing/2014/main" id="{D21E8F50-BA1C-4536-B715-AAD5A74E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22D00AB-54E7-40F8-BC73-9A3D2344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fixed 9 x 9 surface tests aggregation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77435-894D-461F-A4F7-CD91DF8A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FC53CCFE-82C8-49A0-BC48-206B3BC8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B9F045FD-2505-4635-89F0-EDCD31EF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133C9-969B-4370-A80C-D9B73CA5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542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R-(p)  versus  R+(f)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8EB97-B391-424E-82EB-0DEEC881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504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The prior window ends at the anchor close. The forward window begins after it—no return interval appears on both sides.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10794-EB76-4BB0-B74E-31375B66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4953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34C39-6D46-429B-A2ED-F97A068A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D83BD-5D8C-4BCB-B02F-81EB7416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8569D-B256-4A8E-9334-C068F398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4495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predeclared horizon pairs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9CAED-155E-4498-A477-F11A6F4A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boundaries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8E2E5-6744-4962-977E-E85B4891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Asset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D2958-8D30-49E2-9398-075A839B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TSLA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0B4C3-3792-489F-A37E-FD53597F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68646-6439-4EB2-88F0-0C08EDC1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Bars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E87A9A-C6B3-4232-84C2-9C442CAD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Alpaca SIP adjusted daily close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22C36-1982-4EF0-A9F3-89DAA8EA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764C4-9BB1-4E82-A1F0-6E930868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Horizons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A04E11-771F-482D-97D0-41D18323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671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1, 2, 3, 4, 5, 10, 15, 20, 25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EA1D46-2EB0-459D-9313-BA82DEAD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243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D0A15B-41F8-429C-8446-F9003B5B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57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Sample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3F5128-0043-4265-B48A-E7E4E9B6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2018-01-02 through 2023-12-29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B63F79-B572-4EF7-8C82-E4140C6E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148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8FD0A4-5938-4ECC-AC99-49139123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48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Uncertainty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292260-C22B-4C56-9ED9-C8744785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482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Overlap-aware Newey-West / HAC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617A11-8542-47F5-AD42-16C68CB8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054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258514-91F0-4BFE-BE7D-A95A1C82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38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Multiplicity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3C58E3-8C22-4D23-8076-93E17357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387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BH-FDR plus Bonferroni across 81 cells</a:t>
            </a:r>
          </a:p>
        </p:txBody>
      </p:sp>
    </p:spTree>
    <p:extLst>
      <p:ext uri="{BB962C8B-B14F-4D97-AF65-F5344CB8AC3E}">
        <p14:creationId xmlns:p14="http://schemas.microsoft.com/office/powerpoint/2010/main" val="13972833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4">
            <a:extLst xmlns:a="http://schemas.openxmlformats.org/drawingml/2006/main">
              <a:ext uri="{FF2B5EF4-FFF2-40B4-BE49-F238E27FC236}">
                <a16:creationId xmlns:a16="http://schemas.microsoft.com/office/drawing/2014/main" id="{8AE0A271-669A-49F0-A82E-C4438BEE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0C6F92F-721A-4252-9CF8-B5C9B01C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Aggregation reveals a weak 5–10-session 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399F2-4D0A-4337-B17E-DB3599DC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BF8B82CA-1E48-4669-BAD8-1FF8C09F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05959AEC-B0A5-45F0-A65B-C94C3E5A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DEA29-E57D-4C8D-8538-2028FF89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52550"/>
            <a:ext cx="10191750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6A5F2-8CC4-4151-9BDB-346D47A3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865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Pearson correlation matrix; no BH-FDR q-value is below 0.05.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95d3868d0430e"/>
          <a:stretch xmlns:a="http://schemas.openxmlformats.org/drawingml/2006/main"/>
        </p:blipFill>
        <p:spPr>
          <a:xfrm xmlns:a="http://schemas.openxmlformats.org/drawingml/2006/main" flipH="0" flipV="0">
            <a:off x="2942545" y="1352550"/>
            <a:ext cx="6306911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23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7">
            <a:extLst xmlns:a="http://schemas.openxmlformats.org/drawingml/2006/main">
              <a:ext uri="{FF2B5EF4-FFF2-40B4-BE49-F238E27FC236}">
                <a16:creationId xmlns:a16="http://schemas.microsoft.com/office/drawing/2014/main" id="{BAC8373F-594E-467B-A8F8-56439CEB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7592E6E5-EA60-427F-BAB4-42C154D8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ridge is weak and statistically unresolved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2E1AC-5CE8-4847-87B1-81C28A4E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7">
            <a:extLst xmlns:a="http://schemas.openxmlformats.org/drawingml/2006/main">
              <a:ext uri="{FF2B5EF4-FFF2-40B4-BE49-F238E27FC236}">
                <a16:creationId xmlns:a16="http://schemas.microsoft.com/office/drawing/2014/main" id="{4896B590-20BC-4B46-9282-D9F5A22A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1503EFAF-F487-4981-AFDC-23F1B41A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770DD-55E6-42DB-942A-6938E642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28750"/>
            <a:ext cx="76771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D1653-1738-47C8-BFA1-9C939028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049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11094-04B5-4E98-9749-4F832E6A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049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56"/>
          </a:solidFill>
          <a:ln xmlns:a="http://schemas.openxmlformats.org/drawingml/2006/main" w="0">
            <a:solidFill>
              <a:srgbClr val="E457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9A327-4374-4B4E-A3BA-F8E01649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76400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E45756"/>
                </a:solidFill>
                <a:latin typeface="Arial"/>
                <a:ea typeface="Arial"/>
                <a:cs typeface="Arial"/>
              </a:rPr>
              <a:t>+0.092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41AE3-547D-4111-ADFF-14E5545F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431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largest Pearson: 5 prior / 10 forward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7B1C2D-BD18-4B6C-8DC8-10694F2F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050CC-5568-4F8A-B026-EC7B8ABE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FF9D4-D051-476B-B68A-15DCA6B4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14700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38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[-0.003, +0.188]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FBB46-08D6-4497-AA7C-C2049757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814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95% overlap-aware HAC interval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D61CC-6E5E-49EC-A5F6-E861E856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815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35608E-4DDE-41BA-8DF2-831CF419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815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8"/>
          </a:solidFill>
          <a:ln xmlns:a="http://schemas.openxmlformats.org/drawingml/2006/main" w="0">
            <a:solidFill>
              <a:srgbClr val="27354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A976D-39D1-4C6C-803F-0D3F8BAE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53000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0.852%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1E116E-13CC-4735-B31A-B5C1846B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6197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maximum R-squared across 81 cells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22c9646664e71"/>
          <a:stretch xmlns:a="http://schemas.openxmlformats.org/drawingml/2006/main"/>
        </p:blipFill>
        <p:spPr>
          <a:xfrm xmlns:a="http://schemas.openxmlformats.org/drawingml/2006/main" flipH="0" flipV="0">
            <a:off x="609600" y="1428750"/>
            <a:ext cx="714375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707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8">
            <a:extLst xmlns:a="http://schemas.openxmlformats.org/drawingml/2006/main">
              <a:ext uri="{FF2B5EF4-FFF2-40B4-BE49-F238E27FC236}">
                <a16:creationId xmlns:a16="http://schemas.microsoft.com/office/drawing/2014/main" id="{FC99BA28-64AB-43E8-BE2C-0E05781D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F56141AD-6D41-4B04-9458-2EFEFD0C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Direction differences also fail the 81-cell scan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B866E-F8EC-4822-8F75-8738AE57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8">
            <a:extLst xmlns:a="http://schemas.openxmlformats.org/drawingml/2006/main">
              <a:ext uri="{FF2B5EF4-FFF2-40B4-BE49-F238E27FC236}">
                <a16:creationId xmlns:a16="http://schemas.microsoft.com/office/drawing/2014/main" id="{60B7304E-4F61-40B8-9568-3A46AA06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A2FDA8B5-1121-4016-B34F-180F1906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9974A-1518-4857-8A86-2EF378C5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66850"/>
            <a:ext cx="79057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8CD61-4D23-41B7-A67E-B50BFA3C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954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5ED96-F82C-4CF6-8B54-F372EF0D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954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56"/>
          </a:solidFill>
          <a:ln xmlns:a="http://schemas.openxmlformats.org/drawingml/2006/main" w="0">
            <a:solidFill>
              <a:srgbClr val="E457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25F14-87B4-4B00-A519-E1B45B89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66900"/>
            <a:ext cx="2400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E45756"/>
                </a:solidFill>
                <a:latin typeface="Arial"/>
                <a:ea typeface="Arial"/>
                <a:cs typeface="Arial"/>
              </a:rPr>
              <a:t>+8.1 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C7F50-11E4-4D99-A2B2-ED17DA9E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336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largest raw-sign difference with p &lt; 0.05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3A160-F567-45AF-99BA-FC078BEA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1FC31-69FB-4152-99F6-85AD4E4D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6F"/>
          </a:solidFill>
          <a:ln xmlns:a="http://schemas.openxmlformats.org/drawingml/2006/main" w="0">
            <a:solidFill>
              <a:srgbClr val="2A9D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D9501F-EB23-41C7-BC9F-0DCAF5ED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43300"/>
            <a:ext cx="2400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A9D6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A9D6F"/>
                </a:solidFill>
                <a:latin typeface="Arial"/>
                <a:ea typeface="Arial"/>
                <a:cs typeface="Arial"/>
              </a:rPr>
              <a:t>0 / 81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E9C93-AD93-49F0-B4EC-ABFC15BE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100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direction cells with BH-FDR q &lt; 0.05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7DD6F-8CEE-4A90-8BD6-690A4FB4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19700"/>
            <a:ext cx="266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Best raw direction p = 0.025 at 10 prior / 3 forward.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BH q = 0.554; nested horizons share data.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69b35f6314be2"/>
          <a:stretch xmlns:a="http://schemas.openxmlformats.org/drawingml/2006/main"/>
        </p:blipFill>
        <p:spPr>
          <a:xfrm xmlns:a="http://schemas.openxmlformats.org/drawingml/2006/main" flipH="0" flipV="0">
            <a:off x="381000" y="1494631"/>
            <a:ext cx="7905750" cy="46116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0436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11">
            <a:extLst xmlns:a="http://schemas.openxmlformats.org/drawingml/2006/main">
              <a:ext uri="{FF2B5EF4-FFF2-40B4-BE49-F238E27FC236}">
                <a16:creationId xmlns:a16="http://schemas.microsoft.com/office/drawing/2014/main" id="{272ED433-B59C-436C-9DFB-4D317B90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3EC40708-7E00-432C-8ECE-907FA570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survives the aggregation 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A0FCE-75E8-41EF-A76A-23E9E212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11">
            <a:extLst xmlns:a="http://schemas.openxmlformats.org/drawingml/2006/main">
              <a:ext uri="{FF2B5EF4-FFF2-40B4-BE49-F238E27FC236}">
                <a16:creationId xmlns:a16="http://schemas.microsoft.com/office/drawing/2014/main" id="{700DA765-80E0-4197-8700-00D867B8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83896276-4112-4532-AF7C-776C67C5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4BA85-46C5-47BD-BA74-EC806E66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9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56"/>
          </a:solidFill>
          <a:ln xmlns:a="http://schemas.openxmlformats.org/drawingml/2006/main" w="0">
            <a:solidFill>
              <a:srgbClr val="E457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5B945-9D04-48FA-BA66-96DE813A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45756"/>
                </a:solidFill>
                <a:latin typeface="Arial"/>
                <a:ea typeface="Arial"/>
                <a:cs typeface="Arial"/>
              </a:rPr>
              <a:t>GRID PATTERN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CF75D-5F23-4C7F-BE9C-764036D0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5621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A coherent positive ridge appears near 5–10 sessions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B76F2-4514-4DD8-934B-ABE42A34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Max Pearson +0.092 at 5 prior / 10 forward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777C3-6D2F-4277-840E-7E984FB4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4CF3F-AD63-423C-8F01-64C50789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9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6F"/>
          </a:solidFill>
          <a:ln xmlns:a="http://schemas.openxmlformats.org/drawingml/2006/main" w="0">
            <a:solidFill>
              <a:srgbClr val="2A9D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53D03-6A7A-4FEE-B242-02BF0319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9D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A9D6F"/>
                </a:solidFill>
                <a:latin typeface="Arial"/>
                <a:ea typeface="Arial"/>
                <a:cs typeface="Arial"/>
              </a:rPr>
              <a:t>UNCERTAINTY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1DBE8-EAF6-4492-89E7-5C97A3A6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621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Every signed-return interval still includes zero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F0156-C9E6-4210-8A8A-BFEDD044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0/81 BH-FDR or Bonferroni passes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26165D-5B65-44DB-99BD-15ED33F9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0911F-9587-4B19-84C6-11974DB2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9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B53991-F50C-4B95-9F23-DAE86BCE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DIRECTION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FACF3B-08BC-4148-A40A-2004DFB8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624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4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Probability shifts are larger but not multiplicity-stable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07D23B-44A2-43C4-9658-4C6E3843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Best raw p=0.025; BH q=0.554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2DFC4-7E22-47E6-8C53-1E63A841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066D54-676B-4D0F-93B6-2152B57E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53050"/>
            <a:ext cx="10877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4C79AE-EB98-4B5B-B3D3-11ED0D4C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Next narrow question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0D60E-6067-4236-80ED-A898A863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864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Does the 5–10-session ridge deserve one frozen replication, or does this descriptive lane stop here?</a:t>
            </a:r>
          </a:p>
        </p:txBody>
      </p:sp>
    </p:spTree>
    <p:extLst>
      <p:ext uri="{BB962C8B-B14F-4D97-AF65-F5344CB8AC3E}">
        <p14:creationId xmlns:p14="http://schemas.microsoft.com/office/powerpoint/2010/main" val="6665362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C51E6-6E84-4C1E-8D3E-0D1B2ADE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REGIME CONDITIONING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BD659-315B-4902-8A62-88F3460E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if aggregation mixes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incompatible path states?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F8D12-F796-4339-A513-DF003E6E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5830B-E6EE-4175-94D1-A484215C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Use the ER20 color already known at the anchor close.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3AAD9-855C-47E7-9BA0-F94B71F3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Red and green inherit the prior POC's fixed 20-session metric and 0.30 cutoff. No threshold search.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E2559-6393-4E7F-A448-E0578397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02480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3">
            <a:extLst xmlns:a="http://schemas.openxmlformats.org/drawingml/2006/main">
              <a:ext uri="{FF2B5EF4-FFF2-40B4-BE49-F238E27FC236}">
                <a16:creationId xmlns:a16="http://schemas.microsoft.com/office/drawing/2014/main" id="{D21E8F50-BA1C-4536-B715-AAD5A74E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22D00AB-54E7-40F8-BC73-9A3D2344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Condition on ER20 before reading the future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77435-894D-461F-A4F7-CD91DF8A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FC53CCFE-82C8-49A0-BC48-206B3BC8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B9F045FD-2505-4635-89F0-EDCD31EF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133C9-969B-4370-A80C-D9B73CA5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542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State[t]  then  R+(f)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8EB97-B391-424E-82EB-0DEEC881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504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The anchor is labeled from closes through t. Prior return ends at t; following return begins after 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10794-EB76-4BB0-B74E-31375B66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4953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34C39-6D46-429B-A2ED-F97A068A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D83BD-5D8C-4BCB-B02F-81EB7416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8569D-B256-4A8E-9334-C068F398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4495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fixed path states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9CAED-155E-4498-A477-F11A6F4A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conditioning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8E2E5-6744-4962-977E-E85B4891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D2958-8D30-49E2-9398-075A839B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20-session log-price 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0B4C3-3792-489F-A37E-FD53597F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68646-6439-4EB2-88F0-0C08EDC1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E87A9A-C6B3-4232-84C2-9C442CAD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ER20 &lt; 0.30 (sideways)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22C36-1982-4EF0-A9F3-89DAA8EA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764C4-9BB1-4E82-A1F0-6E930868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Green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A04E11-771F-482D-97D0-41D18323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671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ER20 &gt;= 0.30 (trending)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EA1D46-2EB0-459D-9313-BA82DEAD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243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D0A15B-41F8-429C-8446-F9003B5B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57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Timing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3F5128-0043-4265-B48A-E7E4E9B6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State known at anchor close 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B63F79-B572-4EF7-8C82-E4140C6E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148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8FD0A4-5938-4ECC-AC99-49139123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48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292260-C22B-4C56-9ED9-C8744785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482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Same 81 horizon pairs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617A11-8542-47F5-AD42-16C68CB8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054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258514-91F0-4BFE-BE7D-A95A1C82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38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Caution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3C58E3-8C22-4D23-8076-93E17357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387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ER20 and prior return share trailing price data</a:t>
            </a:r>
          </a:p>
        </p:txBody>
      </p:sp>
    </p:spTree>
    <p:extLst>
      <p:ext uri="{BB962C8B-B14F-4D97-AF65-F5344CB8AC3E}">
        <p14:creationId xmlns:p14="http://schemas.microsoft.com/office/powerpoint/2010/main" val="139728336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4">
            <a:extLst xmlns:a="http://schemas.openxmlformats.org/drawingml/2006/main">
              <a:ext uri="{FF2B5EF4-FFF2-40B4-BE49-F238E27FC236}">
                <a16:creationId xmlns:a16="http://schemas.microsoft.com/office/drawing/2014/main" id="{8AE0A271-669A-49F0-A82E-C4438BEE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0C6F92F-721A-4252-9CF8-B5C9B01C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Red ER20 states expose a positive island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399F2-4D0A-4337-B17E-DB3599DC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BF8B82CA-1E48-4669-BAD8-1FF8C09F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05959AEC-B0A5-45F0-A65B-C94C3E5A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DEA29-E57D-4C8D-8538-2028FF89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52550"/>
            <a:ext cx="10191750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6A5F2-8CC4-4151-9BDB-346D47A3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865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Red/sideways matrix; strongest cell +0.173 at 15 prior / 5 forward.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41a89193e446f"/>
          <a:stretch xmlns:a="http://schemas.openxmlformats.org/drawingml/2006/main"/>
        </p:blipFill>
        <p:spPr>
          <a:xfrm xmlns:a="http://schemas.openxmlformats.org/drawingml/2006/main" flipH="0" flipV="0">
            <a:off x="2942545" y="1352550"/>
            <a:ext cx="6306911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238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4">
            <a:extLst xmlns:a="http://schemas.openxmlformats.org/drawingml/2006/main">
              <a:ext uri="{FF2B5EF4-FFF2-40B4-BE49-F238E27FC236}">
                <a16:creationId xmlns:a16="http://schemas.microsoft.com/office/drawing/2014/main" id="{8AE0A271-669A-49F0-A82E-C4438BEE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0C6F92F-721A-4252-9CF8-B5C9B01C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Green ER20 states suppress the positive island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399F2-4D0A-4337-B17E-DB3599DC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BF8B82CA-1E48-4669-BAD8-1FF8C09F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05959AEC-B0A5-45F0-A65B-C94C3E5A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DEA29-E57D-4C8D-8538-2028FF89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52550"/>
            <a:ext cx="10191750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6A5F2-8CC4-4151-9BDB-346D47A3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865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Green/trending matrix; long/long cells turn negative; strongest absolute cell -0.154.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f535318ed4a37"/>
          <a:stretch xmlns:a="http://schemas.openxmlformats.org/drawingml/2006/main"/>
        </p:blipFill>
        <p:spPr>
          <a:xfrm xmlns:a="http://schemas.openxmlformats.org/drawingml/2006/main" flipH="0" flipV="0">
            <a:off x="2942545" y="1352550"/>
            <a:ext cx="6306911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238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7">
            <a:extLst xmlns:a="http://schemas.openxmlformats.org/drawingml/2006/main">
              <a:ext uri="{FF2B5EF4-FFF2-40B4-BE49-F238E27FC236}">
                <a16:creationId xmlns:a16="http://schemas.microsoft.com/office/drawing/2014/main" id="{BAC8373F-594E-467B-A8F8-56439CEB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7592E6E5-EA60-427F-BAB4-42C154D8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state split is coherent, but unresolved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2E1AC-5CE8-4847-87B1-81C28A4E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7">
            <a:extLst xmlns:a="http://schemas.openxmlformats.org/drawingml/2006/main">
              <a:ext uri="{FF2B5EF4-FFF2-40B4-BE49-F238E27FC236}">
                <a16:creationId xmlns:a16="http://schemas.microsoft.com/office/drawing/2014/main" id="{4896B590-20BC-4B46-9282-D9F5A22A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1503EFAF-F487-4981-AFDC-23F1B41A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770DD-55E6-42DB-942A-6938E642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28750"/>
            <a:ext cx="76771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D1653-1738-47C8-BFA1-9C939028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049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11094-04B5-4E98-9749-4F832E6A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049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56"/>
          </a:solidFill>
          <a:ln xmlns:a="http://schemas.openxmlformats.org/drawingml/2006/main" w="0">
            <a:solidFill>
              <a:srgbClr val="E457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9A327-4374-4B4E-A3BA-F8E01649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76400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E45756"/>
                </a:solidFill>
                <a:latin typeface="Arial"/>
                <a:ea typeface="Arial"/>
                <a:cs typeface="Arial"/>
              </a:rPr>
              <a:t>-0.231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41AE3-547D-4111-ADFF-14E5545F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431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largest correlation change: 15 prior / 5 forward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7B1C2D-BD18-4B6C-8DC8-10694F2F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050CC-5568-4F8A-B026-EC7B8ABE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FF9D4-D051-476B-B68A-15DCA6B4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14700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 = 0.029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FBB46-08D6-4497-AA7C-C2049757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814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raw HAC slope-interaction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D61CC-6E5E-49EC-A5F6-E861E856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815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35608E-4DDE-41BA-8DF2-831CF419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815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8"/>
          </a:solidFill>
          <a:ln xmlns:a="http://schemas.openxmlformats.org/drawingml/2006/main" w="0">
            <a:solidFill>
              <a:srgbClr val="27354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A976D-39D1-4C6C-803F-0D3F8BAE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53000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0 / 81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1E116E-13CC-4735-B31A-B5C1846B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6197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interaction cells with BH-FDR q &lt; 0.05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711f7ae974143"/>
          <a:stretch xmlns:a="http://schemas.openxmlformats.org/drawingml/2006/main"/>
        </p:blipFill>
        <p:spPr>
          <a:xfrm xmlns:a="http://schemas.openxmlformats.org/drawingml/2006/main" flipH="0" flipV="0">
            <a:off x="609600" y="1428750"/>
            <a:ext cx="714375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7070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11">
            <a:extLst xmlns:a="http://schemas.openxmlformats.org/drawingml/2006/main">
              <a:ext uri="{FF2B5EF4-FFF2-40B4-BE49-F238E27FC236}">
                <a16:creationId xmlns:a16="http://schemas.microsoft.com/office/drawing/2014/main" id="{272ED433-B59C-436C-9DFB-4D317B90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3EC40708-7E00-432C-8ECE-907FA570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ER20 changes the map, but not the evidentiary stop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A0FCE-75E8-41EF-A76A-23E9E212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11">
            <a:extLst xmlns:a="http://schemas.openxmlformats.org/drawingml/2006/main">
              <a:ext uri="{FF2B5EF4-FFF2-40B4-BE49-F238E27FC236}">
                <a16:creationId xmlns:a16="http://schemas.microsoft.com/office/drawing/2014/main" id="{700DA765-80E0-4197-8700-00D867B8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83896276-4112-4532-AF7C-776C67C5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4BA85-46C5-47BD-BA74-EC806E66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9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56"/>
          </a:solidFill>
          <a:ln xmlns:a="http://schemas.openxmlformats.org/drawingml/2006/main" w="0">
            <a:solidFill>
              <a:srgbClr val="E457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5B945-9D04-48FA-BA66-96DE813A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45756"/>
                </a:solidFill>
                <a:latin typeface="Arial"/>
                <a:ea typeface="Arial"/>
                <a:cs typeface="Arial"/>
              </a:rPr>
              <a:t>RED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CF75D-5F23-4C7F-BE9C-764036D0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5621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5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A positive island appears around 10–15 prior / 3–10 forward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B76F2-4514-4DD8-934B-ABE42A34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Max +0.173 at 15 prior / 5 forward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777C3-6D2F-4277-840E-7E984FB4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4CF3F-AD63-423C-8F01-64C50789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9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6F"/>
          </a:solidFill>
          <a:ln xmlns:a="http://schemas.openxmlformats.org/drawingml/2006/main" w="0">
            <a:solidFill>
              <a:srgbClr val="2A9D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53D03-6A7A-4FEE-B242-02BF0319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9D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A9D6F"/>
                </a:solidFill>
                <a:latin typeface="Arial"/>
                <a:ea typeface="Arial"/>
                <a:cs typeface="Arial"/>
              </a:rPr>
              <a:t>GREEN 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1DBE8-EAF6-4492-89E7-5C97A3A6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5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The same island is muted or reversed; long/long turns negative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F0156-C9E6-4210-8A8A-BFEDD044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15 / 5 = -0.058; 25 / 25 = -0.154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26165D-5B65-44DB-99BD-15ED33F9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0911F-9587-4B19-84C6-11974DB2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9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B53991-F50C-4B95-9F23-DAE86BCE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UNCERTAINTY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FACF3B-08BC-4148-A40A-2004DFB8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624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5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No regime-specific or interaction result survives the scan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07D23B-44A2-43C4-9658-4C6E3843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0/81 red; 0/81 green; 0/81 interactions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2DFC4-7E22-47E6-8C53-1E63A841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066D54-676B-4D0F-93B6-2152B57E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53050"/>
            <a:ext cx="10877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4C79AE-EB98-4B5B-B3D3-11ED0D4C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Next narrow question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0D60E-6067-4236-80ED-A898A863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864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Freeze 15-prior / 5-forward for separate replication—or first test a regime filter less entangled with prior return?</a:t>
            </a:r>
          </a:p>
        </p:txBody>
      </p:sp>
    </p:spTree>
    <p:extLst>
      <p:ext uri="{BB962C8B-B14F-4D97-AF65-F5344CB8AC3E}">
        <p14:creationId xmlns:p14="http://schemas.microsoft.com/office/powerpoint/2010/main" val="6665362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C51E6-6E84-4C1E-8D3E-0D1B2ADE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VOLATILITY CONDITIONING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BD659-315B-4902-8A62-88F3460E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Does movement capacity separate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continuation from reversal?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F8D12-F796-4339-A513-DF003E6E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5830B-E6EE-4175-94D1-A484215C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43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Reuse the accepted ATR% state already known at the anchor close.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3AAD9-855C-47E7-9BA0-F94B71F3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LOW, MEDIUM, and HIGH inherit HYP-REG-01.1's fixed causal classifier. No threshold search.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E2559-6393-4E7F-A448-E0578397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8024806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3">
            <a:extLst xmlns:a="http://schemas.openxmlformats.org/drawingml/2006/main">
              <a:ext uri="{FF2B5EF4-FFF2-40B4-BE49-F238E27FC236}">
                <a16:creationId xmlns:a16="http://schemas.microsoft.com/office/drawing/2014/main" id="{D21E8F50-BA1C-4536-B715-AAD5A74E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22D00AB-54E7-40F8-BC73-9A3D2344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39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Condition on accepted ATR% before reading the future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77435-894D-461F-A4F7-CD91DF8A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FC53CCFE-82C8-49A0-BC48-206B3BC8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B9F045FD-2505-4635-89F0-EDCD31EF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133C9-969B-4370-A80C-D9B73CA5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542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State[t]  then  R+(f)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8EB97-B391-424E-82EB-0DEEC881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504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ATR% state is assigned at anchor close t. Prior return ends at t; following return begins after t. It measures capacity—not direction.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10794-EB76-4BB0-B74E-31375B66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4953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34C39-6D46-429B-A2ED-F97A068A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D83BD-5D8C-4BCB-B02F-81EB7416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8569D-B256-4A8E-9334-C068F398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4495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accepted volatility states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9CAED-155E-4498-A477-F11A6F4A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conditioning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8E2E5-6744-4962-977E-E85B4891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D2958-8D30-49E2-9398-075A839B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Wilder ATR14 / close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0B4C3-3792-489F-A37E-FD53597F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68646-6439-4EB2-88F0-0C08EDC1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E87A9A-C6B3-4232-84C2-9C442CAD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Prior 252 completed sessions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22C36-1982-4EF0-A9F3-89DAA8EA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764C4-9BB1-4E82-A1F0-6E930868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States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A04E11-771F-482D-97D0-41D18323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671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LOW / MEDIUM / HIGH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EA1D46-2EB0-459D-9313-BA82DEAD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243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D0A15B-41F8-429C-8446-F9003B5B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57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Hysteresis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3F5128-0043-4265-B48A-E7E4E9B6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30/40 and 60/70 gates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B63F79-B572-4EF7-8C82-E4140C6E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148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8FD0A4-5938-4ECC-AC99-49139123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48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Timing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292260-C22B-4C56-9ED9-C8744785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482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Known at anchor close 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617A11-8542-47F5-AD42-16C68CB8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054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258514-91F0-4BFE-BE7D-A95A1C82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38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3C58E3-8C22-4D23-8076-93E17357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387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Same 81 horizon pairs</a:t>
            </a:r>
          </a:p>
        </p:txBody>
      </p:sp>
    </p:spTree>
    <p:extLst>
      <p:ext uri="{BB962C8B-B14F-4D97-AF65-F5344CB8AC3E}">
        <p14:creationId xmlns:p14="http://schemas.microsoft.com/office/powerpoint/2010/main" val="139728336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5">
            <a:extLst xmlns:a="http://schemas.openxmlformats.org/drawingml/2006/main">
              <a:ext uri="{FF2B5EF4-FFF2-40B4-BE49-F238E27FC236}">
                <a16:creationId xmlns:a16="http://schemas.microsoft.com/office/drawing/2014/main" id="{7D217279-BBB9-4442-BD43-E35AFD38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CF70291-6FC2-4F25-8EF7-C5343297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ATR% shows movement capacity—not direction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E3755-2109-4A95-AAD7-09D4B54C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5">
            <a:extLst xmlns:a="http://schemas.openxmlformats.org/drawingml/2006/main">
              <a:ext uri="{FF2B5EF4-FFF2-40B4-BE49-F238E27FC236}">
                <a16:creationId xmlns:a16="http://schemas.microsoft.com/office/drawing/2014/main" id="{3D616FCB-FD1B-4926-8056-5988E7D3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7E3BECCF-F54F-4D27-BB58-7ED62747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C60D3-C5F7-4C39-991D-FB86EB75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381125"/>
            <a:ext cx="8572500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493DE-9AA4-4FF1-8BE2-28F352E8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5811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B1C17-35A6-411A-A67C-A4A72F63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2400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Accepted state uses Wilder ATR14 / close, ranked against the prior 252 completed ATR% observations.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C96CB-CC04-417E-9ADF-6D8B711B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099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CCFF6-12C5-4DA0-960D-99266D20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67150"/>
            <a:ext cx="24003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Blue marks LOW, gold MEDIUM, and red HIGH movement capacity. Price and the causal trailing ATR% rank are shown together.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C076C-14CF-4CC6-9A1F-9DE2F654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71500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6F"/>
          </a:solidFill>
          <a:ln xmlns:a="http://schemas.openxmlformats.org/drawingml/2006/main" w="0">
            <a:solidFill>
              <a:srgbClr val="2A9D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62FEB-4FFC-484D-8635-E7157EEB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8674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A9D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A9D6F"/>
                </a:solidFill>
                <a:latin typeface="Arial"/>
                <a:ea typeface="Arial"/>
                <a:cs typeface="Arial"/>
              </a:rPr>
              <a:t>Descriptive state—not a future-return claim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3966987f646be"/>
          <a:stretch xmlns:a="http://schemas.openxmlformats.org/drawingml/2006/main"/>
        </p:blipFill>
        <p:spPr>
          <a:xfrm xmlns:a="http://schemas.openxmlformats.org/drawingml/2006/main" flipH="0" flipV="0">
            <a:off x="325967" y="1381125"/>
            <a:ext cx="8568267" cy="4819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913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4">
            <a:extLst xmlns:a="http://schemas.openxmlformats.org/drawingml/2006/main">
              <a:ext uri="{FF2B5EF4-FFF2-40B4-BE49-F238E27FC236}">
                <a16:creationId xmlns:a16="http://schemas.microsoft.com/office/drawing/2014/main" id="{8AE0A271-669A-49F0-A82E-C4438BEE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0C6F92F-721A-4252-9CF8-B5C9B01C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LOW ATR% is broadly positive, but no cell passes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399F2-4D0A-4337-B17E-DB3599DC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BF8B82CA-1E48-4669-BAD8-1FF8C09F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05959AEC-B0A5-45F0-A65B-C94C3E5A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DEA29-E57D-4C8D-8538-2028FF89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52550"/>
            <a:ext cx="10191750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6A5F2-8CC4-4151-9BDB-346D47A3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865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All 81 cells positive; strongest +0.198 at 10 prior / 25 forward; 0/81 within-state BH passes.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5cec8d9694f55"/>
          <a:stretch xmlns:a="http://schemas.openxmlformats.org/drawingml/2006/main"/>
        </p:blipFill>
        <p:spPr>
          <a:xfrm xmlns:a="http://schemas.openxmlformats.org/drawingml/2006/main" flipH="0" flipV="0">
            <a:off x="2942545" y="1352550"/>
            <a:ext cx="6306911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238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4">
            <a:extLst xmlns:a="http://schemas.openxmlformats.org/drawingml/2006/main">
              <a:ext uri="{FF2B5EF4-FFF2-40B4-BE49-F238E27FC236}">
                <a16:creationId xmlns:a16="http://schemas.microsoft.com/office/drawing/2014/main" id="{8AE0A271-669A-49F0-A82E-C4438BEE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0C6F92F-721A-4252-9CF8-B5C9B01C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73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MEDIUM ATR% contains the stable continuation island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399F2-4D0A-4337-B17E-DB3599DC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BF8B82CA-1E48-4669-BAD8-1FF8C09F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05959AEC-B0A5-45F0-A65B-C94C3E5A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DEA29-E57D-4C8D-8538-2028FF89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52550"/>
            <a:ext cx="10191750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6A5F2-8CC4-4151-9BDB-346D47A3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865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All 81 cells positive; 21/81 within-state BH passes; strict survivors cluster at 5–10 prior / 2–3 forward.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cf5fa0c1545c1"/>
          <a:stretch xmlns:a="http://schemas.openxmlformats.org/drawingml/2006/main"/>
        </p:blipFill>
        <p:spPr>
          <a:xfrm xmlns:a="http://schemas.openxmlformats.org/drawingml/2006/main" flipH="0" flipV="0">
            <a:off x="2942545" y="1352550"/>
            <a:ext cx="6306911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238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4">
            <a:extLst xmlns:a="http://schemas.openxmlformats.org/drawingml/2006/main">
              <a:ext uri="{FF2B5EF4-FFF2-40B4-BE49-F238E27FC236}">
                <a16:creationId xmlns:a16="http://schemas.microsoft.com/office/drawing/2014/main" id="{8AE0A271-669A-49F0-A82E-C4438BEE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0C6F92F-721A-4252-9CF8-B5C9B01C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 ATR% flips the surface toward reversal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399F2-4D0A-4337-B17E-DB3599DC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BF8B82CA-1E48-4669-BAD8-1FF8C09F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05959AEC-B0A5-45F0-A65B-C94C3E5A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DEA29-E57D-4C8D-8538-2028FF89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52550"/>
            <a:ext cx="10191750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6A5F2-8CC4-4151-9BDB-346D47A3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865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77/81 cells negative; strongest -0.301 at 20 prior / 20 forward; 0/81 within-state BH passes.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16d7962a84bfa"/>
          <a:stretch xmlns:a="http://schemas.openxmlformats.org/drawingml/2006/main"/>
        </p:blipFill>
        <p:spPr>
          <a:xfrm xmlns:a="http://schemas.openxmlformats.org/drawingml/2006/main" flipH="0" flipV="0">
            <a:off x="2942545" y="1352550"/>
            <a:ext cx="6306911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238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7">
            <a:extLst xmlns:a="http://schemas.openxmlformats.org/drawingml/2006/main">
              <a:ext uri="{FF2B5EF4-FFF2-40B4-BE49-F238E27FC236}">
                <a16:creationId xmlns:a16="http://schemas.microsoft.com/office/drawing/2014/main" id="{BAC8373F-594E-467B-A8F8-56439CEB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7592E6E5-EA60-427F-BAB4-42C154D8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 and MEDIUM contain direct state differences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2E1AC-5CE8-4847-87B1-81C28A4E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7">
            <a:extLst xmlns:a="http://schemas.openxmlformats.org/drawingml/2006/main">
              <a:ext uri="{FF2B5EF4-FFF2-40B4-BE49-F238E27FC236}">
                <a16:creationId xmlns:a16="http://schemas.microsoft.com/office/drawing/2014/main" id="{4896B590-20BC-4B46-9282-D9F5A22A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1503EFAF-F487-4981-AFDC-23F1B41A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770DD-55E6-42DB-942A-6938E642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28750"/>
            <a:ext cx="76771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D1653-1738-47C8-BFA1-9C939028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049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11094-04B5-4E98-9749-4F832E6A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049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56"/>
          </a:solidFill>
          <a:ln xmlns:a="http://schemas.openxmlformats.org/drawingml/2006/main" w="0">
            <a:solidFill>
              <a:srgbClr val="E457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9A327-4374-4B4E-A3BA-F8E01649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76400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E45756"/>
                </a:solidFill>
                <a:latin typeface="Arial"/>
                <a:ea typeface="Arial"/>
                <a:cs typeface="Arial"/>
              </a:rPr>
              <a:t>-0.548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41AE3-547D-4111-ADFF-14E5545F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431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largest correlation change: 25 prior / 15 forward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7B1C2D-BD18-4B6C-8DC8-10694F2F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050CC-5568-4F8A-B026-EC7B8ABE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FF9D4-D051-476B-B68A-15DCA6B4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14700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q = 0.038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FBB46-08D6-4497-AA7C-C2049757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814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within HIGH-minus-MEDIUM family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D61CC-6E5E-49EC-A5F6-E861E856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815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35608E-4DDE-41BA-8DF2-831CF419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815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8"/>
          </a:solidFill>
          <a:ln xmlns:a="http://schemas.openxmlformats.org/drawingml/2006/main" w="0">
            <a:solidFill>
              <a:srgbClr val="27354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A976D-39D1-4C6C-803F-0D3F8BAE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53000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3 / 243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1E116E-13CC-4735-B31A-B5C1846B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6197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73548"/>
                </a:solidFill>
                <a:latin typeface="Arial"/>
                <a:ea typeface="Arial"/>
                <a:cs typeface="Arial"/>
              </a:rPr>
              <a:t>pairwise cells surviving strict omnibus BH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a53e679374f80"/>
          <a:stretch xmlns:a="http://schemas.openxmlformats.org/drawingml/2006/main"/>
        </p:blipFill>
        <p:spPr>
          <a:xfrm xmlns:a="http://schemas.openxmlformats.org/drawingml/2006/main" flipH="0" flipV="0">
            <a:off x="609600" y="1428750"/>
            <a:ext cx="714375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7070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11">
            <a:extLst xmlns:a="http://schemas.openxmlformats.org/drawingml/2006/main">
              <a:ext uri="{FF2B5EF4-FFF2-40B4-BE49-F238E27FC236}">
                <a16:creationId xmlns:a16="http://schemas.microsoft.com/office/drawing/2014/main" id="{272ED433-B59C-436C-9DFB-4D317B90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384"/>
                </a:solidFill>
                <a:latin typeface="Arial"/>
                <a:ea typeface="Arial"/>
                <a:cs typeface="Arial"/>
              </a:rPr>
              <a:t>TSLA DESCRIPTIVE MICROSCOPE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3EC40708-7E00-432C-8ECE-907FA570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324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ATR% changes the map—and leaves a replication candidate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A0FCE-75E8-41EF-A76A-23E9E212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left-11">
            <a:extLst xmlns:a="http://schemas.openxmlformats.org/drawingml/2006/main">
              <a:ext uri="{FF2B5EF4-FFF2-40B4-BE49-F238E27FC236}">
                <a16:creationId xmlns:a16="http://schemas.microsoft.com/office/drawing/2014/main" id="{700DA765-80E0-4197-8700-00D867B8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Adjusted daily TSLA | 2018-2023</a:t>
            </a:r>
          </a:p>
        </p:txBody>
      </p:sp>
      <p:sp>
        <p:nvSpPr>
          <p:cNvPr id="5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83896276-4112-4532-AF7C-776C67C5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4BA85-46C5-47BD-BA74-EC806E66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9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56"/>
          </a:solidFill>
          <a:ln xmlns:a="http://schemas.openxmlformats.org/drawingml/2006/main" w="0">
            <a:solidFill>
              <a:srgbClr val="E457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5B945-9D04-48FA-BA66-96DE813A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45756"/>
                </a:solidFill>
                <a:latin typeface="Arial"/>
                <a:ea typeface="Arial"/>
                <a:cs typeface="Arial"/>
              </a:rPr>
              <a:t>LOW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CF75D-5F23-4C7F-BE9C-764036D0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5621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5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All cells are positive, but none survive the within-state scan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B76F2-4514-4DD8-934B-ABE42A34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Max +0.198; 0/81 BH passes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777C3-6D2F-4277-840E-7E984FB4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4CF3F-AD63-423C-8F01-64C50789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9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6F"/>
          </a:solidFill>
          <a:ln xmlns:a="http://schemas.openxmlformats.org/drawingml/2006/main" w="0">
            <a:solidFill>
              <a:srgbClr val="2A9D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53D03-6A7A-4FEE-B242-02BF0319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9D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A9D6F"/>
                </a:solidFill>
                <a:latin typeface="Arial"/>
                <a:ea typeface="Arial"/>
                <a:cs typeface="Arial"/>
              </a:rPr>
              <a:t>MEDIUM 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1DBE8-EAF6-4492-89E7-5C97A3A6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5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A continuation island survives around 5–10 prior / 2–3 forward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F0156-C9E6-4210-8A8A-BFEDD044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21/81 family; 3 strict omnibus passes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26165D-5B65-44DB-99BD-15ED33F9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0911F-9587-4B19-84C6-11974DB2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9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B53991-F50C-4B95-9F23-DAE86BCE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HIGH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FACF3B-08BC-4148-A40A-2004DFB8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624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5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The surface broadly reverses, especially at longer horizons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07D23B-44A2-43C4-9658-4C6E3843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3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384"/>
                </a:solidFill>
                <a:latin typeface="Arial"/>
                <a:ea typeface="Arial"/>
                <a:cs typeface="Arial"/>
              </a:rPr>
              <a:t>77/81 negative; max |r| = 0.301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2DFC4-7E22-47E6-8C53-1E63A841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066D54-676B-4D0F-93B6-2152B57E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53050"/>
            <a:ext cx="10877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4C79AE-EB98-4B5B-B3D3-11ED0D4C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7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Bookmarked next questions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0D60E-6067-4236-80ED-A898A863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864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7354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73548"/>
                </a:solidFill>
                <a:latin typeface="Arial"/>
                <a:ea typeface="Arial"/>
                <a:cs typeface="Arial"/>
              </a:rPr>
              <a:t>Replicate ATR% on a frozen sample. Then split green ER20 into up/down direction and test external market context.</a:t>
            </a:r>
          </a:p>
        </p:txBody>
      </p:sp>
    </p:spTree>
    <p:extLst>
      <p:ext uri="{BB962C8B-B14F-4D97-AF65-F5344CB8AC3E}">
        <p14:creationId xmlns:p14="http://schemas.microsoft.com/office/powerpoint/2010/main" val="666536286"/>
      </p:ext>
    </p:extLst>
  </p:cSld>
</p:sld>
</file>

<file path=ppt/theme/theme1.xml><?xml version="1.0" encoding="utf-8"?>
<a:theme xmlns:a="http://schemas.openxmlformats.org/drawingml/2006/main" name="ChatGPT">
  <a:themeElements>
    <a:clrScheme name="TSLA Descriptive Microscope">
      <a:dk1>
        <a:srgbClr val="000000"/>
      </a:dk1>
      <a:lt1>
        <a:srgbClr val="FFFFFF"/>
      </a:lt1>
      <a:dk2>
        <a:srgbClr val="273548"/>
      </a:dk2>
      <a:lt2>
        <a:srgbClr val="EDEDED"/>
      </a:lt2>
      <a:accent1>
        <a:srgbClr val="3D8DFF"/>
      </a:accent1>
      <a:accent2>
        <a:srgbClr val="2A9D6F"/>
      </a:accent2>
      <a:accent3>
        <a:srgbClr val="E45756"/>
      </a:accent3>
      <a:accent4>
        <a:srgbClr val="6DCBF4"/>
      </a:accent4>
      <a:accent5>
        <a:srgbClr val="7C3AED"/>
      </a:accent5>
      <a:accent6>
        <a:srgbClr val="F59E0B"/>
      </a:accent6>
      <a:hlink>
        <a:srgbClr val="3D8DFF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SLA Descriptive Microscop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2026-08-25T23:31:12.4760000Z</dcterms:created>
  <dcterms:modified xsi:type="dcterms:W3CDTF">2026-08-25T23:31:12.4760000Z</dcterms:modified>
</coreProperties>
</file>