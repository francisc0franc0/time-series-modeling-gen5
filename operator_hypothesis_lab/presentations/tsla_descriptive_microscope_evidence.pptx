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eaf8a6194364ee7" /><Relationship Type="http://schemas.openxmlformats.org/officeDocument/2006/relationships/extended-properties" Target="/docProps/app.xml" Id="R807d8b74d53f4d39" /><Relationship Type="http://schemas.openxmlformats.org/officeDocument/2006/relationships/officeDocument" Target="/ppt/presentation.xml" Id="Rc8c190fc6ea04a8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623cbd7b314455"/>
  </p:sldMasterIdLst>
  <p:notesMasterIdLst>
    <p:notesMasterId xmlns:r="http://schemas.openxmlformats.org/officeDocument/2006/relationships" r:id="R7938fd31e8d547e6"/>
  </p:notesMasterIdLst>
  <p:sldIdLst>
    <p:sldId xmlns:r="http://schemas.openxmlformats.org/officeDocument/2006/relationships" id="256" r:id="R9891e1d04dcf43b5"/>
    <p:sldId xmlns:r="http://schemas.openxmlformats.org/officeDocument/2006/relationships" id="257" r:id="Rc6924265e9d740e1"/>
    <p:sldId xmlns:r="http://schemas.openxmlformats.org/officeDocument/2006/relationships" id="258" r:id="R466301c200554248"/>
    <p:sldId xmlns:r="http://schemas.openxmlformats.org/officeDocument/2006/relationships" id="259" r:id="Ra021e10bc4384ead"/>
    <p:sldId xmlns:r="http://schemas.openxmlformats.org/officeDocument/2006/relationships" id="260" r:id="Ra6afaf79bd5d4f1b"/>
    <p:sldId xmlns:r="http://schemas.openxmlformats.org/officeDocument/2006/relationships" id="261" r:id="Rb43099973eb64dc0"/>
    <p:sldId xmlns:r="http://schemas.openxmlformats.org/officeDocument/2006/relationships" id="262" r:id="Rd052facee978435a"/>
    <p:sldId xmlns:r="http://schemas.openxmlformats.org/officeDocument/2006/relationships" id="263" r:id="Rb98984394daf4da9"/>
    <p:sldId xmlns:r="http://schemas.openxmlformats.org/officeDocument/2006/relationships" id="264" r:id="R679a37332d4c4328"/>
    <p:sldId xmlns:r="http://schemas.openxmlformats.org/officeDocument/2006/relationships" id="265" r:id="R0d29b55c094441a2"/>
    <p:sldId xmlns:r="http://schemas.openxmlformats.org/officeDocument/2006/relationships" id="266" r:id="R999f495ab3554ff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d04f2f8fed745be" /><Relationship Type="http://schemas.openxmlformats.org/officeDocument/2006/relationships/slideMaster" Target="/ppt/slideMasters/slideMaster1.xml" Id="Rf2623cbd7b314455" /><Relationship Type="http://schemas.openxmlformats.org/officeDocument/2006/relationships/notesMaster" Target="/ppt/notesMasters/notesMaster1.xml" Id="R7938fd31e8d547e6" /><Relationship Type="http://schemas.openxmlformats.org/officeDocument/2006/relationships/presProps" Target="/ppt/presProps.xml" Id="R1b92dd7074ab4e01" /><Relationship Type="http://schemas.openxmlformats.org/officeDocument/2006/relationships/tableStyles" Target="/ppt/tableStyles.xml" Id="R790258cffccb456a" /><Relationship Type="http://schemas.openxmlformats.org/officeDocument/2006/relationships/slide" Target="/ppt/slides/slide1.xml" Id="R9891e1d04dcf43b5" /><Relationship Type="http://schemas.openxmlformats.org/officeDocument/2006/relationships/slide" Target="/ppt/slides/slide2.xml" Id="Rc6924265e9d740e1" /><Relationship Type="http://schemas.openxmlformats.org/officeDocument/2006/relationships/slide" Target="/ppt/slides/slide3.xml" Id="R466301c200554248" /><Relationship Type="http://schemas.openxmlformats.org/officeDocument/2006/relationships/slide" Target="/ppt/slides/slide4.xml" Id="Ra021e10bc4384ead" /><Relationship Type="http://schemas.openxmlformats.org/officeDocument/2006/relationships/slide" Target="/ppt/slides/slide5.xml" Id="Ra6afaf79bd5d4f1b" /><Relationship Type="http://schemas.openxmlformats.org/officeDocument/2006/relationships/slide" Target="/ppt/slides/slide6.xml" Id="Rb43099973eb64dc0" /><Relationship Type="http://schemas.openxmlformats.org/officeDocument/2006/relationships/slide" Target="/ppt/slides/slide7.xml" Id="Rd052facee978435a" /><Relationship Type="http://schemas.openxmlformats.org/officeDocument/2006/relationships/slide" Target="/ppt/slides/slide8.xml" Id="Rb98984394daf4da9" /><Relationship Type="http://schemas.openxmlformats.org/officeDocument/2006/relationships/slide" Target="/ppt/slides/slide9.xml" Id="R679a37332d4c4328" /><Relationship Type="http://schemas.openxmlformats.org/officeDocument/2006/relationships/slide" Target="/ppt/slides/slide10.xml" Id="R0d29b55c094441a2" /><Relationship Type="http://schemas.openxmlformats.org/officeDocument/2006/relationships/slide" Target="/ppt/slides/slide11.xml" Id="R999f495ab3554f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78eb90de1e3406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d59fdc8421408e" /><Relationship Type="http://schemas.openxmlformats.org/officeDocument/2006/relationships/notesMaster" Target="/ppt/notesMasters/notesMaster1.xml" Id="Rcaf0e76dd3db47f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76cb1d115594e2d" /><Relationship Type="http://schemas.openxmlformats.org/officeDocument/2006/relationships/notesMaster" Target="/ppt/notesMasters/notesMaster1.xml" Id="Rec46dbbd4f3a4a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f1ce8df17164004" /><Relationship Type="http://schemas.openxmlformats.org/officeDocument/2006/relationships/notesMaster" Target="/ppt/notesMasters/notesMaster1.xml" Id="Re810504600bb479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be66309c90c40ee" /><Relationship Type="http://schemas.openxmlformats.org/officeDocument/2006/relationships/notesMaster" Target="/ppt/notesMasters/notesMaster1.xml" Id="Red3c1d45bb92405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accc3d858584b1a" /><Relationship Type="http://schemas.openxmlformats.org/officeDocument/2006/relationships/notesMaster" Target="/ppt/notesMasters/notesMaster1.xml" Id="R4454b34a8a1f44f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8cd0ea737ff4fd1" /><Relationship Type="http://schemas.openxmlformats.org/officeDocument/2006/relationships/notesMaster" Target="/ppt/notesMasters/notesMaster1.xml" Id="R53c6269318ff462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2a20659f60f46a4" /><Relationship Type="http://schemas.openxmlformats.org/officeDocument/2006/relationships/notesMaster" Target="/ppt/notesMasters/notesMaster1.xml" Id="R1a6ee9de0a4f4d0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f2b3e49412f4a02" /><Relationship Type="http://schemas.openxmlformats.org/officeDocument/2006/relationships/notesMaster" Target="/ppt/notesMasters/notesMaster1.xml" Id="R3d60c06e26c949c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043b07c293440da" /><Relationship Type="http://schemas.openxmlformats.org/officeDocument/2006/relationships/notesMaster" Target="/ppt/notesMasters/notesMaster1.xml" Id="R4622b7c987ea4c6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e7fc181782846f8" /><Relationship Type="http://schemas.openxmlformats.org/officeDocument/2006/relationships/notesMaster" Target="/ppt/notesMasters/notesMaster1.xml" Id="R01d196ec116247a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2cdfe38ad164a5b" /><Relationship Type="http://schemas.openxmlformats.org/officeDocument/2006/relationships/notesMaster" Target="/ppt/notesMasters/notesMaster1.xml" Id="Rb3563a2250f7471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this as a running laboratory notebook, not a strategy pitch.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learning objective is bottom-up hypothesis formation. The order is observation, definition, measurement, then falsification.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User-directed research workflow in this task</a:t>
            </a:r>
          </a:p>
          <a:p xmlns:a="http://schemas.openxmlformats.org/drawingml/2006/main">
            <a:r>
              <a:t>- docs/GEN5_1_POC_PROGRESS_LOG.md entries 186-188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definition before showing any statistic. The sample is the exact scatterplot surface from the prior slice.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runs/research_workbench/operator_hypothesis_lab/tsla_lagged_return_dependence_statistics_20260825/run_spec.csv</a:t>
            </a:r>
          </a:p>
          <a:p xmlns:a="http://schemas.openxmlformats.org/drawingml/2006/main">
            <a:r>
              <a:t>- runs/research_workbench/operator_hypothesis_lab/tsla_lagged_return_dependence_statistics_20260825/pair_checks.csv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eye sees a dense cloud around zero and observations in all four quadrants. This slide preserves the pre-statistics 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runs/research_workbench/operator_hypothesis_lab/tsla_lagged_daily_return_scatter_20260824/visuals/tsla_t_minus_1_vs_t_daily_log_return_scatter.png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ER20 asks whether the trailing path was efficient. It ignores bullish versus bearish direction and does not measure volatility.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runs/research_workbench/operator_hypothesis_lab/tsla_efficiency_ratio_regime_bands_20260824/visuals/tsla_er20_path_regime_bands.png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primary estimand is frozen before reading the result: Pearson correlation, equivalently the OLS slope in r[t] = alpha + beta r[t-1] + error.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scripts/inspect/run_tsla_lagged_return_dependence_statistics.R</a:t>
            </a:r>
          </a:p>
          <a:p xmlns:a="http://schemas.openxmlformats.org/drawingml/2006/main">
            <a:r>
              <a:t>- runs/research_workbench/operator_hypothesis_lab/tsla_lagged_return_dependence_statistics_20260825/run_spec.csv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interval includes zero and the fitted line explains roughly four hundredths of one percent of next-day return variation. HAC slope p-value is 0.451.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runs/research_workbench/operator_hypothesis_lab/tsla_lagged_return_dependence_statistics_20260825/primary_statistics.csv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- runs/research_workbench/operator_hypothesis_lab/tsla_lagged_return_dependence_statistics_20260825/visuals/tsla_signed_return_dependence_fitted_scatter.png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binary direction view reaches the same conclusion as the continuous-return view. The conditional probabilities are nearly identical and their difference interval crosses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runs/research_workbench/operator_hypothesis_lab/tsla_lagged_return_dependence_statistics_20260825/direction_transition_probabilities.csv</a:t>
            </a:r>
          </a:p>
          <a:p xmlns:a="http://schemas.openxmlformats.org/drawingml/2006/main">
            <a:r>
              <a:t>- runs/research_workbench/operator_hypothesis_lab/tsla_lagged_return_dependence_statistics_20260825/direction_transition_difference.csv</a:t>
            </a:r>
          </a:p>
          <a:p xmlns:a="http://schemas.openxmlformats.org/drawingml/2006/main">
            <a:r>
              <a:t>- runs/research_workbench/operator_hypothesis_lab/tsla_lagged_return_dependence_statistics_20260825/visuals/tsla_direction_transition_probabilities.png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Annual point estimates change sign, but none of the annual HAC intervals excludes zero. Rank correlation and the fixed winsor sensitivity are also near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runs/research_workbench/operator_hypothesis_lab/tsla_lagged_return_dependence_statistics_20260825/annual_stability.csv</a:t>
            </a:r>
          </a:p>
          <a:p xmlns:a="http://schemas.openxmlformats.org/drawingml/2006/main">
            <a:r>
              <a:t>- runs/research_workbench/operator_hypothesis_lab/tsla_lagged_return_dependence_statistics_20260825/outlier_sensitivity.csv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Absolute and squared returns show positive linear dependence, but the equal-count deciles are jagged and the absolute-return rank interval includes zero. Treat this as modest magnitude persistence and a separate future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runs/research_workbench/operator_hypothesis_lab/tsla_lagged_return_dependence_statistics_20260825/primary_statistics.csv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- runs/research_workbench/operator_hypothesis_lab/tsla_lagged_return_dependence_statistics_20260825/absolute_return_deciles.csv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separating what was learned. The signed-return question stops descriptively; ER20 remains a descriptive lens; magnitude persistence is the only new clue and requires its own predeclared test before any strategy interpretation.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- runs/research_workbench/operator_hypothesis_lab/tsla_lagged_return_dependence_statistics_20260825/report.md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eefc7177ce417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a06c307cc6c4ae3" /><Relationship Type="http://schemas.openxmlformats.org/officeDocument/2006/relationships/slideLayout" Target="/ppt/slideLayouts/slideLayout1.xml" Id="R32c14de84b534e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2c14de84b534e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414e3a55914740" /><Relationship Type="http://schemas.openxmlformats.org/officeDocument/2006/relationships/notesSlide" Target="/ppt/notesSlides/notesSlide1.xml" Id="Rba3b9bf13b174fd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4408b6b0524226" /><Relationship Type="http://schemas.openxmlformats.org/officeDocument/2006/relationships/notesSlide" Target="/ppt/notesSlides/notesSlide2.xml" Id="Rcc7368a1e096465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47e4a30dc240f8" /><Relationship Type="http://schemas.openxmlformats.org/officeDocument/2006/relationships/notesSlide" Target="/ppt/notesSlides/notesSlide3.xml" Id="R457754a0099440e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9668aa1c4d46cb" /><Relationship Type="http://schemas.openxmlformats.org/officeDocument/2006/relationships/image" Target="/ppt/media/image.png" Id="Re6f6033820dc4fa7" /><Relationship Type="http://schemas.openxmlformats.org/officeDocument/2006/relationships/notesSlide" Target="/ppt/notesSlides/notesSlide4.xml" Id="R356a8b32b3424b8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3451324de7488a" /><Relationship Type="http://schemas.openxmlformats.org/officeDocument/2006/relationships/image" Target="/ppt/media/image2.png" Id="R0f748e604a174de4" /><Relationship Type="http://schemas.openxmlformats.org/officeDocument/2006/relationships/notesSlide" Target="/ppt/notesSlides/notesSlide5.xml" Id="R12555451a7c5438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a4684c75b04565" /><Relationship Type="http://schemas.openxmlformats.org/officeDocument/2006/relationships/notesSlide" Target="/ppt/notesSlides/notesSlide6.xml" Id="R077298c83c2c447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487afe8ab54ac6" /><Relationship Type="http://schemas.openxmlformats.org/officeDocument/2006/relationships/image" Target="/ppt/media/image3.png" Id="R8727b15ab03b4c92" /><Relationship Type="http://schemas.openxmlformats.org/officeDocument/2006/relationships/notesSlide" Target="/ppt/notesSlides/notesSlide7.xml" Id="R232b4e578ccb48c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9ad6e98a454be3" /><Relationship Type="http://schemas.openxmlformats.org/officeDocument/2006/relationships/image" Target="/ppt/media/image4.png" Id="Rdfd4c9b09969434d" /><Relationship Type="http://schemas.openxmlformats.org/officeDocument/2006/relationships/notesSlide" Target="/ppt/notesSlides/notesSlide8.xml" Id="Rc09c1f0694bb4b0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329de68d324614" /><Relationship Type="http://schemas.openxmlformats.org/officeDocument/2006/relationships/image" Target="/ppt/media/image5.png" Id="R000531e6df574d10" /><Relationship Type="http://schemas.openxmlformats.org/officeDocument/2006/relationships/notesSlide" Target="/ppt/notesSlides/notesSlide9.xml" Id="Rfe878c0a3587459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3b9d0bf6364205" /><Relationship Type="http://schemas.openxmlformats.org/officeDocument/2006/relationships/image" Target="/ppt/media/image6.png" Id="Rc7422d70b7dc413c" /><Relationship Type="http://schemas.openxmlformats.org/officeDocument/2006/relationships/notesSlide" Target="/ppt/notesSlides/notesSlide10.xml" Id="Rebad08ec63854fb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b599fb1cae43c4" /><Relationship Type="http://schemas.openxmlformats.org/officeDocument/2006/relationships/notesSlide" Target="/ppt/notesSlides/notesSlide11.xml" Id="R0c7850773a9e417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287F2A-19E1-4D71-8665-A325D369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OPERATOR HYPOTHESIS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B4752F-5C3B-406E-860B-425737DDA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9545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TSLA descriptive</a:t>
            </a:r>
          </a:p>
          <a:p xmlns:a="http://schemas.openxmlformats.org/drawingml/2006/main">
            <a:pPr algn="l">
              <a:defRPr sz="6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microscope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2C665E-F0B1-4B7F-B98C-E0352166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0"/>
            <a:ext cx="1238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5C4CF-93D0-4941-8B4C-E3E2BA103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2915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From visual intuition to measured daily-return dependence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9AA5C7-3D69-4D62-9FC3-A69A478B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 | Descriptive research only</a:t>
            </a:r>
          </a:p>
        </p:txBody>
      </p:sp>
    </p:spTree>
    <p:extLst>
      <p:ext uri="{BB962C8B-B14F-4D97-AF65-F5344CB8AC3E}">
        <p14:creationId xmlns:p14="http://schemas.microsoft.com/office/powerpoint/2010/main" val="15019786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ection-2">
            <a:extLst xmlns:a="http://schemas.openxmlformats.org/drawingml/2006/main">
              <a:ext uri="{FF2B5EF4-FFF2-40B4-BE49-F238E27FC236}">
                <a16:creationId xmlns:a16="http://schemas.microsoft.com/office/drawing/2014/main" id="{EABBA6E1-F45F-441D-A600-8142D7D3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175C8CBF-2952-45DB-A51C-31B8AB27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lane starts with description, not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CD8AFB-8939-414E-BF70-4C44373B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2">
            <a:extLst xmlns:a="http://schemas.openxmlformats.org/drawingml/2006/main">
              <a:ext uri="{FF2B5EF4-FFF2-40B4-BE49-F238E27FC236}">
                <a16:creationId xmlns:a16="http://schemas.microsoft.com/office/drawing/2014/main" id="{DAFEC4F1-50D5-4693-B6C1-AC113863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2">
            <a:extLst xmlns:a="http://schemas.openxmlformats.org/drawingml/2006/main">
              <a:ext uri="{FF2B5EF4-FFF2-40B4-BE49-F238E27FC236}">
                <a16:creationId xmlns:a16="http://schemas.microsoft.com/office/drawing/2014/main" id="{EF6CAA23-BA21-472E-986D-D98B4D1F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CF66DD-540D-476F-A7F5-02147E71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192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74F55B-1446-4F42-BD1E-8FAB2CF5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811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See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F1277C-2532-4E5C-8906-6DB6877B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621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Start with raw price and return geometry before deciding what relationship ought to exist.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1372FE-75A4-4E6C-8C5E-5569ECB2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289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14A25A-AA62-4D50-B30F-5346853D0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289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9AF01F-0357-4FCE-9139-7DACD43D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908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Name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63BF40-3714-43F0-ACA7-13D0F8295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718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Separate direction, magnitude, path shape, and volatility so one visual impression does not stand in for all four.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7591B6-C755-4D50-BB99-DA5C68C1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386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B0F103-9237-4C60-86EF-786CECE7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386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2839DF-980D-4991-A539-25BA44F4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005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Measure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A18768-8500-49CC-AD63-3A41DD668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3815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Quantify one frozen relationship at a time; only later ask whether a finding predicts, trades, or transports.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35A8B2-7CB6-4F65-9360-0E168549E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483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465094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question, one fixed sample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r[t] = log(C[t] / C[t-1])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Each row pairs yesterday's adjusted close-to-close log return with today's.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1,509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consecutive-session pairs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boundaries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Asset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TSLA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Price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Alpaca SIP adjusted daily close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Target sessions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2018-01-02 through 2023-12-29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Search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alternate lag or horizon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Trading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82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policy or performance calculation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post-2023 data read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raw cloud has no clear directional structure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f6033820dc4fa7"/>
          <a:stretch xmlns:a="http://schemas.openxmlformats.org/drawingml/2006/main"/>
        </p:blipFill>
        <p:spPr>
          <a:xfrm xmlns:a="http://schemas.openxmlformats.org/drawingml/2006/main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1722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First look: no fitted line, correlation, p-value, binning, or outlier removal.</a:t>
            </a:r>
          </a:p>
        </p:txBody>
      </p:sp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5">
            <a:extLst xmlns:a="http://schemas.openxmlformats.org/drawingml/2006/main">
              <a:ext uri="{FF2B5EF4-FFF2-40B4-BE49-F238E27FC236}">
                <a16:creationId xmlns:a16="http://schemas.microsoft.com/office/drawing/2014/main" id="{7D217279-BBB9-4442-BD43-E35AFD3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CF70291-6FC2-4F25-8EF7-C534329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ER20 labels path shape—not volatility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755-2109-4A95-AAD7-09D4B54C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5">
            <a:extLst xmlns:a="http://schemas.openxmlformats.org/drawingml/2006/main">
              <a:ext uri="{FF2B5EF4-FFF2-40B4-BE49-F238E27FC236}">
                <a16:creationId xmlns:a16="http://schemas.microsoft.com/office/drawing/2014/main" id="{3D616FCB-FD1B-4926-8056-5988E7D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7E3BECCF-F54F-4D27-BB58-7ED6274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C60D3-C5F7-4C39-991D-FB86EB7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81125"/>
            <a:ext cx="857250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748e604a174de4"/>
          <a:stretch xmlns:a="http://schemas.openxmlformats.org/drawingml/2006/main"/>
        </p:blipFill>
        <p:spPr>
          <a:xfrm xmlns:a="http://schemas.openxmlformats.org/drawingml/2006/main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3DE-9AA4-4FF1-8BE2-28F352E8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B1C17-35A6-411A-A67C-A4A72F63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400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Absolute 20-session endpoint displacement divided by the total log-price path traveled.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C96CB-CC04-417E-9ADF-6D8B711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CFF6-12C5-4DA0-960D-99266D2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003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Green recognizes efficient rises and declines. Red marks a locally choppy path. Daily thresholding is visibly flickery near transitions.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076C-14CF-4CC6-9A1F-9DE2F65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715000"/>
            <a:ext cx="2400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2FEB-4FFC-484D-8635-E7157EE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Descriptive state—not a future-return claim</a:t>
            </a:r>
          </a:p>
        </p:txBody>
      </p:sp>
    </p:spTree>
    <p:extLst>
      <p:ext uri="{BB962C8B-B14F-4D97-AF65-F5344CB8AC3E}">
        <p14:creationId xmlns:p14="http://schemas.microsoft.com/office/powerpoint/2010/main" val="3171913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MEASUREMENT PASS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visual cloud asks one</a:t>
            </a:r>
          </a:p>
          <a:p xmlns:a="http://schemas.openxmlformats.org/drawingml/2006/main">
            <a:pPr algn="l"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precise next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r[t-1] contain measurable information about r[t]?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Primary: signed linear dependence. Diagnostics: rank, sign, outliers, annual stability, and absolute-return persistence.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Signed dependence is effectively 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27b15ab03b4c92"/>
          <a:stretch xmlns:a="http://schemas.openxmlformats.org/drawingml/2006/main"/>
        </p:blipFill>
        <p:spPr>
          <a:xfrm xmlns:a="http://schemas.openxmlformats.org/drawingml/2006/main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-0.021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correlation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38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[-0.073, +0.028]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block-bootstrap interval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0.044%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R-squared: variance explained</a:t>
            </a:r>
          </a:p>
        </p:txBody>
      </p:sp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8">
            <a:extLst xmlns:a="http://schemas.openxmlformats.org/drawingml/2006/main">
              <a:ext uri="{FF2B5EF4-FFF2-40B4-BE49-F238E27FC236}">
                <a16:creationId xmlns:a16="http://schemas.microsoft.com/office/drawing/2014/main" id="{FC99BA28-64AB-43E8-BE2C-0E05781D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F56141AD-6D41-4B04-9458-2EFEFD0C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Yesterday's sign barely changes tomorrow's odds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9B866E-F8EC-4822-8F75-8738AE57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8">
            <a:extLst xmlns:a="http://schemas.openxmlformats.org/drawingml/2006/main">
              <a:ext uri="{FF2B5EF4-FFF2-40B4-BE49-F238E27FC236}">
                <a16:creationId xmlns:a16="http://schemas.microsoft.com/office/drawing/2014/main" id="{60B7304E-4F61-40B8-9568-3A46AA06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8">
            <a:extLst xmlns:a="http://schemas.openxmlformats.org/drawingml/2006/main">
              <a:ext uri="{FF2B5EF4-FFF2-40B4-BE49-F238E27FC236}">
                <a16:creationId xmlns:a16="http://schemas.microsoft.com/office/drawing/2014/main" id="{A2FDA8B5-1121-4016-B34F-180F1906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59974A-1518-4857-8A86-2EF378C5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66850"/>
            <a:ext cx="790575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d4c9b09969434d"/>
          <a:stretch xmlns:a="http://schemas.openxmlformats.org/drawingml/2006/main"/>
        </p:blipFill>
        <p:spPr>
          <a:xfrm xmlns:a="http://schemas.openxmlformats.org/drawingml/2006/main">
            <a:off x="381000" y="1494631"/>
            <a:ext cx="7905750" cy="461168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58CD61-4D23-41B7-A67E-B50BFA3C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C5ED96-F82C-4CF6-8B54-F372EF0D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B25F14-87B4-4B00-A519-E1B45B89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8669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52.9%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C7F50-11E4-4D99-A2B2-ED17DA9E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336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up after a prior down day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03A160-F567-45AF-99BA-FC078BEA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71FC31-69FB-4152-99F6-85AD4E4D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D9501F-EB23-41C7-BC9F-0DCAF5ED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433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52.1%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E9C93-AD93-49F0-B4EC-ABFC15BE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100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up after a prior up day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17DD6F-8CEE-4A90-8BD6-690A4FB4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19700"/>
            <a:ext cx="266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Difference: -0.7 percentage points</a:t>
            </a:r>
          </a:p>
          <a:p xmlns:a="http://schemas.openxmlformats.org/drawingml/2006/main">
            <a:pPr algn="l"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interval: -5.8 to +4.2 pp</a:t>
            </a:r>
          </a:p>
        </p:txBody>
      </p:sp>
    </p:spTree>
    <p:extLst>
      <p:ext uri="{BB962C8B-B14F-4D97-AF65-F5344CB8AC3E}">
        <p14:creationId xmlns:p14="http://schemas.microsoft.com/office/powerpoint/2010/main" val="17240436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ection-9">
            <a:extLst xmlns:a="http://schemas.openxmlformats.org/drawingml/2006/main">
              <a:ext uri="{FF2B5EF4-FFF2-40B4-BE49-F238E27FC236}">
                <a16:creationId xmlns:a16="http://schemas.microsoft.com/office/drawing/2014/main" id="{EBA183BA-1F33-43C2-A340-16B1E99A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0663B6F4-658E-4DE8-898E-470A7CF5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signed result stays weak under obvious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D2132A-BB30-4209-B894-FCC20F4F7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9">
            <a:extLst xmlns:a="http://schemas.openxmlformats.org/drawingml/2006/main">
              <a:ext uri="{FF2B5EF4-FFF2-40B4-BE49-F238E27FC236}">
                <a16:creationId xmlns:a16="http://schemas.microsoft.com/office/drawing/2014/main" id="{5B6CFEAA-57C7-4EA4-BAF7-395EC1B3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9">
            <a:extLst xmlns:a="http://schemas.openxmlformats.org/drawingml/2006/main">
              <a:ext uri="{FF2B5EF4-FFF2-40B4-BE49-F238E27FC236}">
                <a16:creationId xmlns:a16="http://schemas.microsoft.com/office/drawing/2014/main" id="{0A964CCF-1375-4C63-86E0-327EA665B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3A4194-DA3D-4FE2-8903-084599EE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428750"/>
            <a:ext cx="8096250" cy="481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0531e6df574d10"/>
          <a:stretch xmlns:a="http://schemas.openxmlformats.org/drawingml/2006/main"/>
        </p:blipFill>
        <p:spPr>
          <a:xfrm xmlns:a="http://schemas.openxmlformats.org/drawingml/2006/main">
            <a:off x="588479" y="1428750"/>
            <a:ext cx="7528891" cy="48101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E547BA-6B5C-4F5A-B4E4-FD99AACD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65735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Rank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2C0B40-DAFE-4C66-8136-964E51E1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1455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Spearman rho = -0.004</a:t>
            </a:r>
          </a:p>
          <a:p xmlns:a="http://schemas.openxmlformats.org/drawingml/2006/main">
            <a:pPr algn="l"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 interval: -0.054 to +0.044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6A331B-1B89-49FE-BD19-54F1DD62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81350"/>
            <a:ext cx="266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9140A0-2615-4B81-99CA-0D43FAA4B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4671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Outlier 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7EB45D-DC9C-458B-93BD-1FA8026B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24300"/>
            <a:ext cx="266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changes from -0.021 to -0.008 after fixed 1%/99% winsorization.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2C736D-ABB7-461A-92C1-B5147946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105400"/>
            <a:ext cx="266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54633C-EE8B-411B-A503-F65ADB1D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3911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Every annual HAC interval crosses zero.</a:t>
            </a:r>
          </a:p>
        </p:txBody>
      </p:sp>
    </p:spTree>
    <p:extLst>
      <p:ext uri="{BB962C8B-B14F-4D97-AF65-F5344CB8AC3E}">
        <p14:creationId xmlns:p14="http://schemas.microsoft.com/office/powerpoint/2010/main" val="20162149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ection-10">
            <a:extLst xmlns:a="http://schemas.openxmlformats.org/drawingml/2006/main">
              <a:ext uri="{FF2B5EF4-FFF2-40B4-BE49-F238E27FC236}">
                <a16:creationId xmlns:a16="http://schemas.microsoft.com/office/drawing/2014/main" id="{956D329C-4E71-4503-8472-54BE364C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35EE1E91-CEDB-4B30-9B21-3743CDB4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Magnitude persistence is modest—and different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60048C-412A-4DAD-943D-CBFA422C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0">
            <a:extLst xmlns:a="http://schemas.openxmlformats.org/drawingml/2006/main">
              <a:ext uri="{FF2B5EF4-FFF2-40B4-BE49-F238E27FC236}">
                <a16:creationId xmlns:a16="http://schemas.microsoft.com/office/drawing/2014/main" id="{81D14FDE-48EA-4462-90E0-D7741C25D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0">
            <a:extLst xmlns:a="http://schemas.openxmlformats.org/drawingml/2006/main">
              <a:ext uri="{FF2B5EF4-FFF2-40B4-BE49-F238E27FC236}">
                <a16:creationId xmlns:a16="http://schemas.microsoft.com/office/drawing/2014/main" id="{CC0DEE07-9BBD-42F7-A366-FBFDE2A0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B6EAE5-9A3B-4831-A518-2BC1EB25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47800"/>
            <a:ext cx="8096250" cy="474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422d70b7dc413c"/>
          <a:stretch xmlns:a="http://schemas.openxmlformats.org/drawingml/2006/main"/>
        </p:blipFill>
        <p:spPr>
          <a:xfrm xmlns:a="http://schemas.openxmlformats.org/drawingml/2006/main">
            <a:off x="342900" y="1458119"/>
            <a:ext cx="8096250" cy="4722813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D70912-AFA7-4777-B92E-0384D9D34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81150"/>
            <a:ext cx="27622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898846-1713-4B00-B11B-C6CA4C6C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81150"/>
            <a:ext cx="76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6DE226-2BE8-4FE8-ABF8-EF99CFFE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752600"/>
            <a:ext cx="2305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+0.107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CCCFCB-521D-4ED8-B91A-B3885201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419350"/>
            <a:ext cx="2305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correlation of |r[t-1]| and |r[t]|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1EFCBD-B9ED-4C50-8E82-6B73D26F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71850"/>
            <a:ext cx="2362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 interval</a:t>
            </a:r>
          </a:p>
          <a:p xmlns:a="http://schemas.openxmlformats.org/drawingml/2006/main">
            <a:pPr algn="l"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+0.033 to +0.168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F3178D-BD60-4112-9050-39949302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286250"/>
            <a:ext cx="236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A399B8-7059-4CEF-8F2B-1A634DBC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5339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Caution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0EC0EC-804C-451F-B37D-6CBD9395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53000"/>
            <a:ext cx="23622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369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decile pattern is not monotonic; rank correlation is only +0.053 and its interval crosses zero. This is a clue about turbulence—not direction.</a:t>
            </a:r>
          </a:p>
        </p:txBody>
      </p:sp>
    </p:spTree>
    <p:extLst>
      <p:ext uri="{BB962C8B-B14F-4D97-AF65-F5344CB8AC3E}">
        <p14:creationId xmlns:p14="http://schemas.microsoft.com/office/powerpoint/2010/main" val="18800665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survives this first measurement pass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SIGNED RETURN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79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No measurable adjacent-session continuation or reversal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Pearson -0.021; direction difference -0.7 pp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PATH SHAPE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3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usefully describes trend versus chop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Direction-agnostic, lagging, and flickery near transitions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RETURN MAGNITUDE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modest persistence clue remains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Absolute-return Pearson +0.107; non-monotonic diagnostic pattern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narrow 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yesterday's return magnitude forecast tomorrow's magnitude on a separately frozen surface?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theme/theme1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2026-08-25T18:15:05.6960000Z</dcterms:created>
  <dcterms:modified xsi:type="dcterms:W3CDTF">2026-08-25T18:15:05.6960000Z</dcterms:modified>
</coreProperties>
</file>