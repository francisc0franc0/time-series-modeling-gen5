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25b3b25fc8b4515" /><Relationship Type="http://schemas.openxmlformats.org/officeDocument/2006/relationships/extended-properties" Target="/docProps/app.xml" Id="Rdca2e410cc5d4b18" /><Relationship Type="http://schemas.openxmlformats.org/officeDocument/2006/relationships/officeDocument" Target="/ppt/presentation.xml" Id="R170fbb496e0b46d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943fbde9bda42c0"/>
  </p:sldMasterIdLst>
  <p:notesMasterIdLst>
    <p:notesMasterId xmlns:r="http://schemas.openxmlformats.org/officeDocument/2006/relationships" r:id="Rc6a094860ff44a11"/>
  </p:notesMasterIdLst>
  <p:sldIdLst>
    <p:sldId xmlns:r="http://schemas.openxmlformats.org/officeDocument/2006/relationships" id="256" r:id="R2e2e7d4214a54802"/>
    <p:sldId xmlns:r="http://schemas.openxmlformats.org/officeDocument/2006/relationships" id="257" r:id="Rbd377b414a0840ea"/>
    <p:sldId xmlns:r="http://schemas.openxmlformats.org/officeDocument/2006/relationships" id="258" r:id="R890e391e25454234"/>
    <p:sldId xmlns:r="http://schemas.openxmlformats.org/officeDocument/2006/relationships" id="259" r:id="Rf354c05140dd4105"/>
    <p:sldId xmlns:r="http://schemas.openxmlformats.org/officeDocument/2006/relationships" id="260" r:id="R15ae1e739f5148aa"/>
    <p:sldId xmlns:r="http://schemas.openxmlformats.org/officeDocument/2006/relationships" id="261" r:id="R31a6c5523d194ad5"/>
    <p:sldId xmlns:r="http://schemas.openxmlformats.org/officeDocument/2006/relationships" id="262" r:id="R4c2e6c0c226f4230"/>
    <p:sldId xmlns:r="http://schemas.openxmlformats.org/officeDocument/2006/relationships" id="263" r:id="R5cb7bc1ab54a451e"/>
    <p:sldId xmlns:r="http://schemas.openxmlformats.org/officeDocument/2006/relationships" id="264" r:id="R9b5bc857102a49d8"/>
    <p:sldId xmlns:r="http://schemas.openxmlformats.org/officeDocument/2006/relationships" id="265" r:id="R1078b63cb4504c07"/>
    <p:sldId xmlns:r="http://schemas.openxmlformats.org/officeDocument/2006/relationships" id="266" r:id="R1b025873cd9b4769"/>
    <p:sldId xmlns:r="http://schemas.openxmlformats.org/officeDocument/2006/relationships" id="267" r:id="R4a8caeb0fb664357"/>
    <p:sldId xmlns:r="http://schemas.openxmlformats.org/officeDocument/2006/relationships" id="268" r:id="R9c3f53b9382a412e"/>
    <p:sldId xmlns:r="http://schemas.openxmlformats.org/officeDocument/2006/relationships" id="269" r:id="Rd8e10428f0894808"/>
    <p:sldId xmlns:r="http://schemas.openxmlformats.org/officeDocument/2006/relationships" id="270" r:id="Rc03d8d9de8734812"/>
    <p:sldId xmlns:r="http://schemas.openxmlformats.org/officeDocument/2006/relationships" id="271" r:id="Rd5f1514c594b4b01"/>
    <p:sldId xmlns:r="http://schemas.openxmlformats.org/officeDocument/2006/relationships" id="272" r:id="Rf81f42d6869b49f8"/>
    <p:sldId xmlns:r="http://schemas.openxmlformats.org/officeDocument/2006/relationships" id="273" r:id="Reba9c01b23a84228"/>
    <p:sldId xmlns:r="http://schemas.openxmlformats.org/officeDocument/2006/relationships" id="274" r:id="Rb8fef170887b42dd"/>
    <p:sldId xmlns:r="http://schemas.openxmlformats.org/officeDocument/2006/relationships" id="275" r:id="Ra3bb16977bde415a"/>
    <p:sldId xmlns:r="http://schemas.openxmlformats.org/officeDocument/2006/relationships" id="276" r:id="Rf58770a37c8c4d59"/>
    <p:sldId xmlns:r="http://schemas.openxmlformats.org/officeDocument/2006/relationships" id="277" r:id="Rb7194cf94e3d4423"/>
    <p:sldId xmlns:r="http://schemas.openxmlformats.org/officeDocument/2006/relationships" id="278" r:id="Rfca26cdb5e424b25"/>
    <p:sldId xmlns:r="http://schemas.openxmlformats.org/officeDocument/2006/relationships" id="279" r:id="R740770566bea4bca"/>
    <p:sldId xmlns:r="http://schemas.openxmlformats.org/officeDocument/2006/relationships" id="280" r:id="R3f073eed5a344d38"/>
    <p:sldId xmlns:r="http://schemas.openxmlformats.org/officeDocument/2006/relationships" id="281" r:id="R0ac306db99f747cc"/>
    <p:sldId xmlns:r="http://schemas.openxmlformats.org/officeDocument/2006/relationships" id="282" r:id="R45d5e8bebd7f41be"/>
    <p:sldId xmlns:r="http://schemas.openxmlformats.org/officeDocument/2006/relationships" id="283" r:id="R41583a3f724f4587"/>
    <p:sldId xmlns:r="http://schemas.openxmlformats.org/officeDocument/2006/relationships" id="284" r:id="R48e7b755b4294491"/>
    <p:sldId xmlns:r="http://schemas.openxmlformats.org/officeDocument/2006/relationships" id="285" r:id="R4680fcd22bd94819"/>
    <p:sldId xmlns:r="http://schemas.openxmlformats.org/officeDocument/2006/relationships" id="286" r:id="R8703efb122fe4915"/>
    <p:sldId xmlns:r="http://schemas.openxmlformats.org/officeDocument/2006/relationships" id="287" r:id="R5754dac1c4394605"/>
    <p:sldId xmlns:r="http://schemas.openxmlformats.org/officeDocument/2006/relationships" id="288" r:id="R5e4c0d7c984c4e18"/>
    <p:sldId xmlns:r="http://schemas.openxmlformats.org/officeDocument/2006/relationships" id="289" r:id="R0a69a380517745c9"/>
    <p:sldId xmlns:r="http://schemas.openxmlformats.org/officeDocument/2006/relationships" id="290" r:id="R4a101aa557264ed9"/>
    <p:sldId xmlns:r="http://schemas.openxmlformats.org/officeDocument/2006/relationships" id="291" r:id="R51a29db170d5403e"/>
    <p:sldId xmlns:r="http://schemas.openxmlformats.org/officeDocument/2006/relationships" id="292" r:id="Rb9a1a0e2fe2241d1"/>
    <p:sldId xmlns:r="http://schemas.openxmlformats.org/officeDocument/2006/relationships" id="293" r:id="R144c0f611b6c4fe6"/>
    <p:sldId xmlns:r="http://schemas.openxmlformats.org/officeDocument/2006/relationships" id="294" r:id="Rfba988c9a7b5420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bf1f2c26e5c4d5d" /><Relationship Type="http://schemas.openxmlformats.org/officeDocument/2006/relationships/slideMaster" Target="/ppt/slideMasters/slideMaster1.xml" Id="Rf943fbde9bda42c0" /><Relationship Type="http://schemas.openxmlformats.org/officeDocument/2006/relationships/notesMaster" Target="/ppt/notesMasters/notesMaster1.xml" Id="Rc6a094860ff44a11" /><Relationship Type="http://schemas.openxmlformats.org/officeDocument/2006/relationships/presProps" Target="/ppt/presProps.xml" Id="R3d7d4ce81b004d7b" /><Relationship Type="http://schemas.openxmlformats.org/officeDocument/2006/relationships/tableStyles" Target="/ppt/tableStyles.xml" Id="R7318bc36a83946ae" /><Relationship Type="http://schemas.openxmlformats.org/officeDocument/2006/relationships/slide" Target="/ppt/slides/slide1.xml" Id="R2e2e7d4214a54802" /><Relationship Type="http://schemas.openxmlformats.org/officeDocument/2006/relationships/slide" Target="/ppt/slides/slide2.xml" Id="Rbd377b414a0840ea" /><Relationship Type="http://schemas.openxmlformats.org/officeDocument/2006/relationships/slide" Target="/ppt/slides/slide3.xml" Id="R890e391e25454234" /><Relationship Type="http://schemas.openxmlformats.org/officeDocument/2006/relationships/slide" Target="/ppt/slides/slide4.xml" Id="Rf354c05140dd4105" /><Relationship Type="http://schemas.openxmlformats.org/officeDocument/2006/relationships/slide" Target="/ppt/slides/slide5.xml" Id="R15ae1e739f5148aa" /><Relationship Type="http://schemas.openxmlformats.org/officeDocument/2006/relationships/slide" Target="/ppt/slides/slide6.xml" Id="R31a6c5523d194ad5" /><Relationship Type="http://schemas.openxmlformats.org/officeDocument/2006/relationships/slide" Target="/ppt/slides/slide7.xml" Id="R4c2e6c0c226f4230" /><Relationship Type="http://schemas.openxmlformats.org/officeDocument/2006/relationships/slide" Target="/ppt/slides/slide8.xml" Id="R5cb7bc1ab54a451e" /><Relationship Type="http://schemas.openxmlformats.org/officeDocument/2006/relationships/slide" Target="/ppt/slides/slide9.xml" Id="R9b5bc857102a49d8" /><Relationship Type="http://schemas.openxmlformats.org/officeDocument/2006/relationships/slide" Target="/ppt/slides/slide10.xml" Id="R1078b63cb4504c07" /><Relationship Type="http://schemas.openxmlformats.org/officeDocument/2006/relationships/slide" Target="/ppt/slides/slide11.xml" Id="R1b025873cd9b4769" /><Relationship Type="http://schemas.openxmlformats.org/officeDocument/2006/relationships/slide" Target="/ppt/slides/slide12.xml" Id="R4a8caeb0fb664357" /><Relationship Type="http://schemas.openxmlformats.org/officeDocument/2006/relationships/slide" Target="/ppt/slides/slide13.xml" Id="R9c3f53b9382a412e" /><Relationship Type="http://schemas.openxmlformats.org/officeDocument/2006/relationships/slide" Target="/ppt/slides/slide14.xml" Id="Rd8e10428f0894808" /><Relationship Type="http://schemas.openxmlformats.org/officeDocument/2006/relationships/slide" Target="/ppt/slides/slide15.xml" Id="Rc03d8d9de8734812" /><Relationship Type="http://schemas.openxmlformats.org/officeDocument/2006/relationships/slide" Target="/ppt/slides/slide16.xml" Id="Rd5f1514c594b4b01" /><Relationship Type="http://schemas.openxmlformats.org/officeDocument/2006/relationships/slide" Target="/ppt/slides/slide17.xml" Id="Rf81f42d6869b49f8" /><Relationship Type="http://schemas.openxmlformats.org/officeDocument/2006/relationships/slide" Target="/ppt/slides/slide18.xml" Id="Reba9c01b23a84228" /><Relationship Type="http://schemas.openxmlformats.org/officeDocument/2006/relationships/slide" Target="/ppt/slides/slide19.xml" Id="Rb8fef170887b42dd" /><Relationship Type="http://schemas.openxmlformats.org/officeDocument/2006/relationships/slide" Target="/ppt/slides/slide20.xml" Id="Ra3bb16977bde415a" /><Relationship Type="http://schemas.openxmlformats.org/officeDocument/2006/relationships/slide" Target="/ppt/slides/slide21.xml" Id="Rf58770a37c8c4d59" /><Relationship Type="http://schemas.openxmlformats.org/officeDocument/2006/relationships/slide" Target="/ppt/slides/slide22.xml" Id="Rb7194cf94e3d4423" /><Relationship Type="http://schemas.openxmlformats.org/officeDocument/2006/relationships/slide" Target="/ppt/slides/slide23.xml" Id="Rfca26cdb5e424b25" /><Relationship Type="http://schemas.openxmlformats.org/officeDocument/2006/relationships/slide" Target="/ppt/slides/slide24.xml" Id="R740770566bea4bca" /><Relationship Type="http://schemas.openxmlformats.org/officeDocument/2006/relationships/slide" Target="/ppt/slides/slide25.xml" Id="R3f073eed5a344d38" /><Relationship Type="http://schemas.openxmlformats.org/officeDocument/2006/relationships/slide" Target="/ppt/slides/slide26.xml" Id="R0ac306db99f747cc" /><Relationship Type="http://schemas.openxmlformats.org/officeDocument/2006/relationships/slide" Target="/ppt/slides/slide27.xml" Id="R45d5e8bebd7f41be" /><Relationship Type="http://schemas.openxmlformats.org/officeDocument/2006/relationships/slide" Target="/ppt/slides/slide28.xml" Id="R41583a3f724f4587" /><Relationship Type="http://schemas.openxmlformats.org/officeDocument/2006/relationships/slide" Target="/ppt/slides/slide29.xml" Id="R48e7b755b4294491" /><Relationship Type="http://schemas.openxmlformats.org/officeDocument/2006/relationships/slide" Target="/ppt/slides/slide30.xml" Id="R4680fcd22bd94819" /><Relationship Type="http://schemas.openxmlformats.org/officeDocument/2006/relationships/slide" Target="/ppt/slides/slide31.xml" Id="R8703efb122fe4915" /><Relationship Type="http://schemas.openxmlformats.org/officeDocument/2006/relationships/slide" Target="/ppt/slides/slide32.xml" Id="R5754dac1c4394605" /><Relationship Type="http://schemas.openxmlformats.org/officeDocument/2006/relationships/slide" Target="/ppt/slides/slide33.xml" Id="R5e4c0d7c984c4e18" /><Relationship Type="http://schemas.openxmlformats.org/officeDocument/2006/relationships/slide" Target="/ppt/slides/slide34.xml" Id="R0a69a380517745c9" /><Relationship Type="http://schemas.openxmlformats.org/officeDocument/2006/relationships/slide" Target="/ppt/slides/slide35.xml" Id="R4a101aa557264ed9" /><Relationship Type="http://schemas.openxmlformats.org/officeDocument/2006/relationships/slide" Target="/ppt/slides/slide36.xml" Id="R51a29db170d5403e" /><Relationship Type="http://schemas.openxmlformats.org/officeDocument/2006/relationships/slide" Target="/ppt/slides/slide37.xml" Id="Rb9a1a0e2fe2241d1" /><Relationship Type="http://schemas.openxmlformats.org/officeDocument/2006/relationships/slide" Target="/ppt/slides/slide38.xml" Id="R144c0f611b6c4fe6" /><Relationship Type="http://schemas.openxmlformats.org/officeDocument/2006/relationships/slide" Target="/ppt/slides/slide39.xml" Id="Rfba988c9a7b5420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d98373157364ae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TSLA Descriptive Microscope">
      <a:dk1>
        <a:srgbClr val="000000"/>
      </a:dk1>
      <a:lt1>
        <a:srgbClr val="FFFFFF"/>
      </a:lt1>
      <a:dk2>
        <a:srgbClr val="273548"/>
      </a:dk2>
      <a:lt2>
        <a:srgbClr val="EDEDED"/>
      </a:lt2>
      <a:accent1>
        <a:srgbClr val="3D8DFF"/>
      </a:accent1>
      <a:accent2>
        <a:srgbClr val="2A9D6F"/>
      </a:accent2>
      <a:accent3>
        <a:srgbClr val="E45756"/>
      </a:accent3>
      <a:accent4>
        <a:srgbClr val="6DCBF4"/>
      </a:accent4>
      <a:accent5>
        <a:srgbClr val="7C3AED"/>
      </a:accent5>
      <a:accent6>
        <a:srgbClr val="F59E0B"/>
      </a:accent6>
      <a:hlink>
        <a:srgbClr val="3D8DFF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SLA Descriptive Microscop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06218baf1074f4a" /><Relationship Type="http://schemas.openxmlformats.org/officeDocument/2006/relationships/notesMaster" Target="/ppt/notesMasters/notesMaster1.xml" Id="R137bf56c6f35497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f2bed21542d4e63" /><Relationship Type="http://schemas.openxmlformats.org/officeDocument/2006/relationships/notesMaster" Target="/ppt/notesMasters/notesMaster1.xml" Id="R19652babfdb6499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5e1bf2336954141" /><Relationship Type="http://schemas.openxmlformats.org/officeDocument/2006/relationships/notesMaster" Target="/ppt/notesMasters/notesMaster1.xml" Id="R945894fb69b2452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47441cf4b1642fb" /><Relationship Type="http://schemas.openxmlformats.org/officeDocument/2006/relationships/notesMaster" Target="/ppt/notesMasters/notesMaster1.xml" Id="R9112e08928cb43a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759dcdbe2684a9e" /><Relationship Type="http://schemas.openxmlformats.org/officeDocument/2006/relationships/notesMaster" Target="/ppt/notesMasters/notesMaster1.xml" Id="R1cb5474404fd4e9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2291a68bd324523" /><Relationship Type="http://schemas.openxmlformats.org/officeDocument/2006/relationships/notesMaster" Target="/ppt/notesMasters/notesMaster1.xml" Id="R46657eb6bee344d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ef171dbc33a4504" /><Relationship Type="http://schemas.openxmlformats.org/officeDocument/2006/relationships/notesMaster" Target="/ppt/notesMasters/notesMaster1.xml" Id="R1fc00ae53e8e4f7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6038b35c7cf4931" /><Relationship Type="http://schemas.openxmlformats.org/officeDocument/2006/relationships/notesMaster" Target="/ppt/notesMasters/notesMaster1.xml" Id="R9fa1f9f9f274401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26b1bb187fd4bfe" /><Relationship Type="http://schemas.openxmlformats.org/officeDocument/2006/relationships/notesMaster" Target="/ppt/notesMasters/notesMaster1.xml" Id="R9efa895c94324bf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36a8531bbd04771" /><Relationship Type="http://schemas.openxmlformats.org/officeDocument/2006/relationships/notesMaster" Target="/ppt/notesMasters/notesMaster1.xml" Id="R7b4c986bb2964b0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92b624842c34dbb" /><Relationship Type="http://schemas.openxmlformats.org/officeDocument/2006/relationships/notesMaster" Target="/ppt/notesMasters/notesMaster1.xml" Id="R95dc738d7c8347a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b5e3f03be744a69" /><Relationship Type="http://schemas.openxmlformats.org/officeDocument/2006/relationships/notesMaster" Target="/ppt/notesMasters/notesMaster1.xml" Id="R6508c876de84484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5c96ab0ebd848ea" /><Relationship Type="http://schemas.openxmlformats.org/officeDocument/2006/relationships/notesMaster" Target="/ppt/notesMasters/notesMaster1.xml" Id="Rc6e200580fd3413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e6cba832c2f4901" /><Relationship Type="http://schemas.openxmlformats.org/officeDocument/2006/relationships/notesMaster" Target="/ppt/notesMasters/notesMaster1.xml" Id="R9f663736972f4ab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92ba68187814e97" /><Relationship Type="http://schemas.openxmlformats.org/officeDocument/2006/relationships/notesMaster" Target="/ppt/notesMasters/notesMaster1.xml" Id="R20a721d3fc3a483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edac5254ca84e0e" /><Relationship Type="http://schemas.openxmlformats.org/officeDocument/2006/relationships/notesMaster" Target="/ppt/notesMasters/notesMaster1.xml" Id="Rab944fb2e43b4ec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ad7c0843b274976" /><Relationship Type="http://schemas.openxmlformats.org/officeDocument/2006/relationships/notesMaster" Target="/ppt/notesMasters/notesMaster1.xml" Id="R01e0d2670cd9475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36bbcaacf66473a" /><Relationship Type="http://schemas.openxmlformats.org/officeDocument/2006/relationships/notesMaster" Target="/ppt/notesMasters/notesMaster1.xml" Id="R1912986946894b7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b65073d2d5ef437a" /><Relationship Type="http://schemas.openxmlformats.org/officeDocument/2006/relationships/notesMaster" Target="/ppt/notesMasters/notesMaster1.xml" Id="R323a80fb45b14130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fd5dd51fc094ce6" /><Relationship Type="http://schemas.openxmlformats.org/officeDocument/2006/relationships/notesMaster" Target="/ppt/notesMasters/notesMaster1.xml" Id="R0b4a0a5788aa4dba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cb0aa7ca9e314730" /><Relationship Type="http://schemas.openxmlformats.org/officeDocument/2006/relationships/notesMaster" Target="/ppt/notesMasters/notesMaster1.xml" Id="R7b83aafa45674715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475505f911a045db" /><Relationship Type="http://schemas.openxmlformats.org/officeDocument/2006/relationships/notesMaster" Target="/ppt/notesMasters/notesMaster1.xml" Id="R74c0495e85794102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f9b77b91115a40cd" /><Relationship Type="http://schemas.openxmlformats.org/officeDocument/2006/relationships/notesMaster" Target="/ppt/notesMasters/notesMaster1.xml" Id="Rf2cc02416cde40b5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383e222989f84d95" /><Relationship Type="http://schemas.openxmlformats.org/officeDocument/2006/relationships/notesMaster" Target="/ppt/notesMasters/notesMaster1.xml" Id="R49180a06d5f140f8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7a906d308c434936" /><Relationship Type="http://schemas.openxmlformats.org/officeDocument/2006/relationships/notesMaster" Target="/ppt/notesMasters/notesMaster1.xml" Id="Rf136d25f2d7f4ea6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605fd0fb400845a5" /><Relationship Type="http://schemas.openxmlformats.org/officeDocument/2006/relationships/notesMaster" Target="/ppt/notesMasters/notesMaster1.xml" Id="Rf23b406b8be84f92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763c1020cb554b5d" /><Relationship Type="http://schemas.openxmlformats.org/officeDocument/2006/relationships/notesMaster" Target="/ppt/notesMasters/notesMaster1.xml" Id="Rf45a607660bf4e9c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122d5ef610274e24" /><Relationship Type="http://schemas.openxmlformats.org/officeDocument/2006/relationships/notesMaster" Target="/ppt/notesMasters/notesMaster1.xml" Id="R1991c3ec2ca54b0a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50e3d42f48fd49ec" /><Relationship Type="http://schemas.openxmlformats.org/officeDocument/2006/relationships/notesMaster" Target="/ppt/notesMasters/notesMaster1.xml" Id="Rde1079d4748b4235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a93f5b997633427a" /><Relationship Type="http://schemas.openxmlformats.org/officeDocument/2006/relationships/notesMaster" Target="/ppt/notesMasters/notesMaster1.xml" Id="R52f0969b180042da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3ffb681934f64940" /><Relationship Type="http://schemas.openxmlformats.org/officeDocument/2006/relationships/notesMaster" Target="/ppt/notesMasters/notesMaster1.xml" Id="R8acf7018917c4674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2fdb74a2b69f4c31" /><Relationship Type="http://schemas.openxmlformats.org/officeDocument/2006/relationships/notesMaster" Target="/ppt/notesMasters/notesMaster1.xml" Id="R4ba2611a81a64943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82b1dcbea034467b" /><Relationship Type="http://schemas.openxmlformats.org/officeDocument/2006/relationships/notesMaster" Target="/ppt/notesMasters/notesMaster1.xml" Id="Re225b8f121c14dd5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8b89b80e17b94823" /><Relationship Type="http://schemas.openxmlformats.org/officeDocument/2006/relationships/notesMaster" Target="/ppt/notesMasters/notesMaster1.xml" Id="Rc6a44ffb1e86419a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ecd098ff3d764ad9" /><Relationship Type="http://schemas.openxmlformats.org/officeDocument/2006/relationships/notesMaster" Target="/ppt/notesMasters/notesMaster1.xml" Id="R2d37c66a71994670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aa1c7965e6dd452b" /><Relationship Type="http://schemas.openxmlformats.org/officeDocument/2006/relationships/notesMaster" Target="/ppt/notesMasters/notesMaster1.xml" Id="R1958530a49134443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737fe24f90914466" /><Relationship Type="http://schemas.openxmlformats.org/officeDocument/2006/relationships/notesMaster" Target="/ppt/notesMasters/notesMaster1.xml" Id="Rd4c82875074d49a2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4a88328fe2354e1c" /><Relationship Type="http://schemas.openxmlformats.org/officeDocument/2006/relationships/notesMaster" Target="/ppt/notesMasters/notesMaster1.xml" Id="Refbfb6b9f25c42f1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731e109715a04cad" /><Relationship Type="http://schemas.openxmlformats.org/officeDocument/2006/relationships/notesMaster" Target="/ppt/notesMasters/notesMaster1.xml" Id="R81988f20ea2746b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this as a running laboratory notebook, not a strategy pitch.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operator_hypothesis_lab/docs/TSLA_LAGGED_DAILY_RETURN_SCATTER_2018_2023.md</a:t>
            </a:r>
          </a:p>
          <a:p xmlns:a="http://schemas.openxmlformats.org/drawingml/2006/main">
            <a:r>
              <a:t>- operator_hypothesis_lab/docs/TSLA_ER20_PATH_REGIME_BANDS_2018_2023.md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learning objective is bottom-up hypothesis formation. The order is observation, definition, measurement, then falsification.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User-directed research workflow in this task</a:t>
            </a:r>
          </a:p>
          <a:p xmlns:a="http://schemas.openxmlformats.org/drawingml/2006/main">
            <a:r>
              <a:t>- docs/GEN5_1_POC_PROGRESS_LOG.md entries 186-188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definition before showing any statistic. The sample is the exact scatterplot surface from the prior slice.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runs/research_workbench/operator_hypothesis_lab/tsla_lagged_return_dependence_statistics_20260825/run_spec.csv</a:t>
            </a:r>
          </a:p>
          <a:p xmlns:a="http://schemas.openxmlformats.org/drawingml/2006/main">
            <a:r>
              <a:t>- runs/research_workbench/operator_hypothesis_lab/tsla_lagged_return_dependence_statistics_20260825/pair_checks.csv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eye sees a dense cloud around zero and observations in all four quadrants. This slide preserves the pre-statistics 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runs/research_workbench/operator_hypothesis_lab/tsla_lagged_daily_return_scatter_20260824/visuals/tsla_t_minus_1_vs_t_daily_log_return_scatter.png</a:t>
            </a:r>
          </a:p>
          <a:p xmlns:a="http://schemas.openxmlformats.org/drawingml/2006/main">
            <a:r>
              <a:t>- operator_hypothesis_lab/docs/TSLA_LAGGED_DAILY_RETURN_SCATTER_2018_2023.md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ER20 asks whether the trailing path was efficient. It ignores bullish versus bearish direction and does not measure volatility.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runs/research_workbench/operator_hypothesis_lab/tsla_efficiency_ratio_regime_bands_20260824/visuals/tsla_er20_path_regime_bands.png</a:t>
            </a:r>
          </a:p>
          <a:p xmlns:a="http://schemas.openxmlformats.org/drawingml/2006/main">
            <a:r>
              <a:t>- operator_hypothesis_lab/docs/TSLA_ER20_PATH_REGIME_BANDS_2018_2023.md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primary estimand is frozen before reading the result: Pearson correlation, equivalently the OLS slope in r[t] = alpha + beta r[t-1] + error.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scripts/inspect/run_tsla_lagged_return_dependence_statistics.R</a:t>
            </a:r>
          </a:p>
          <a:p xmlns:a="http://schemas.openxmlformats.org/drawingml/2006/main">
            <a:r>
              <a:t>- runs/research_workbench/operator_hypothesis_lab/tsla_lagged_return_dependence_statistics_20260825/run_spec.csv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interval includes zero and the fitted line explains roughly four hundredths of one percent of next-day return variation. HAC slope p-value is 0.451.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runs/research_workbench/operator_hypothesis_lab/tsla_lagged_return_dependence_statistics_20260825/primary_statistics.csv</a:t>
            </a:r>
          </a:p>
          <a:p xmlns:a="http://schemas.openxmlformats.org/drawingml/2006/main">
            <a:r>
              <a:t>- runs/research_workbench/operator_hypothesis_lab/tsla_lagged_return_dependence_statistics_20260825/block_bootstrap_intervals.csv</a:t>
            </a:r>
          </a:p>
          <a:p xmlns:a="http://schemas.openxmlformats.org/drawingml/2006/main">
            <a:r>
              <a:t>- runs/research_workbench/operator_hypothesis_lab/tsla_lagged_return_dependence_statistics_20260825/visuals/tsla_signed_return_dependence_fitted_scatter.png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binary direction view reaches the same conclusion as the continuous-return view. The conditional probabilities are nearly identical and their difference interval crosses zero.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runs/research_workbench/operator_hypothesis_lab/tsla_lagged_return_dependence_statistics_20260825/direction_transition_probabilities.csv</a:t>
            </a:r>
          </a:p>
          <a:p xmlns:a="http://schemas.openxmlformats.org/drawingml/2006/main">
            <a:r>
              <a:t>- runs/research_workbench/operator_hypothesis_lab/tsla_lagged_return_dependence_statistics_20260825/direction_transition_difference.csv</a:t>
            </a:r>
          </a:p>
          <a:p xmlns:a="http://schemas.openxmlformats.org/drawingml/2006/main">
            <a:r>
              <a:t>- runs/research_workbench/operator_hypothesis_lab/tsla_lagged_return_dependence_statistics_20260825/visuals/tsla_direction_transition_probabilities.png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Annual point estimates change sign, but none of the annual HAC intervals excludes zero. Rank correlation and the fixed winsor sensitivity are also near zero.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runs/research_workbench/operator_hypothesis_lab/tsla_lagged_return_dependence_statistics_20260825/annual_stability.csv</a:t>
            </a:r>
          </a:p>
          <a:p xmlns:a="http://schemas.openxmlformats.org/drawingml/2006/main">
            <a:r>
              <a:t>- runs/research_workbench/operator_hypothesis_lab/tsla_lagged_return_dependence_statistics_20260825/outlier_sensitivity.csv</a:t>
            </a:r>
          </a:p>
          <a:p xmlns:a="http://schemas.openxmlformats.org/drawingml/2006/main">
            <a:r>
              <a:t>- runs/research_workbench/operator_hypothesis_lab/tsla_lagged_return_dependence_statistics_20260825/block_bootstrap_intervals.csv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Absolute and squared returns show positive linear dependence, but the equal-count deciles are jagged and the absolute-return rank interval includes zero. Treat this as modest magnitude persistence and a separate future question.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runs/research_workbench/operator_hypothesis_lab/tsla_lagged_return_dependence_statistics_20260825/primary_statistics.csv</a:t>
            </a:r>
          </a:p>
          <a:p xmlns:a="http://schemas.openxmlformats.org/drawingml/2006/main">
            <a:r>
              <a:t>- runs/research_workbench/operator_hypothesis_lab/tsla_lagged_return_dependence_statistics_20260825/block_bootstrap_intervals.csv</a:t>
            </a:r>
          </a:p>
          <a:p xmlns:a="http://schemas.openxmlformats.org/drawingml/2006/main">
            <a:r>
              <a:t>- runs/research_workbench/operator_hypothesis_lab/tsla_lagged_return_dependence_statistics_20260825/absolute_return_deciles.csv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separating what was learned. The signed-return question stops descriptively; ER20 remains a descriptive lens; magnitude persistence is the only new clue and requires its own predeclared test before any strategy interpretation.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operator_hypothesis_lab/docs/TSLA_LAGGED_DAILY_RETURN_SCATTER_2018_2023.md</a:t>
            </a:r>
          </a:p>
          <a:p xmlns:a="http://schemas.openxmlformats.org/drawingml/2006/main">
            <a:r>
              <a:t>- operator_hypothesis_lab/docs/TSLA_ER20_PATH_REGIME_BANDS_2018_2023.md</a:t>
            </a:r>
          </a:p>
          <a:p xmlns:a="http://schemas.openxmlformats.org/drawingml/2006/main">
            <a:r>
              <a:t>- runs/research_workbench/operator_hypothesis_lab/tsla_lagged_return_dependence_statistics_20260825/report.md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section asks whether aggregating sessions reveals signed dependence hidden by the adjacent-session 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scripts/inspect/run_tsla_cumulative_return_horizon_grid.R</a:t>
            </a:r>
          </a:p>
          <a:p xmlns:a="http://schemas.openxmlformats.org/drawingml/2006/main">
            <a:r>
              <a:t>- runs/research_workbench/operator_hypothesis_lab/tsla_cumulative_return_horizon_grid_20260825/run_spec.csv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Define the information boundary first: cumulative prior return ends at the anchor close and cumulative forward return begins from that close.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runs/research_workbench/operator_hypothesis_lab/tsla_cumulative_return_horizon_grid_20260825/run_spec.csv</a:t>
            </a:r>
          </a:p>
          <a:p xmlns:a="http://schemas.openxmlformats.org/drawingml/2006/main">
            <a:r>
              <a:t>- runs/research_workbench/operator_hypothesis_lab/tsla_cumulative_return_horizon_grid_20260825/grid_checks.csv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positive region is coherent rather than a single isolated cell, but its magnitude is small and this nested grid is highly dependent.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runs/research_workbench/operator_hypothesis_lab/tsla_cumulative_return_horizon_grid_20260825/pearson_correlation_matrix.csv</a:t>
            </a:r>
          </a:p>
          <a:p xmlns:a="http://schemas.openxmlformats.org/drawingml/2006/main">
            <a:r>
              <a:t>- runs/research_workbench/operator_hypothesis_lab/tsla_cumulative_return_horizon_grid_20260825/slope_bh_q_value_matrix.csv</a:t>
            </a:r>
          </a:p>
          <a:p xmlns:a="http://schemas.openxmlformats.org/drawingml/2006/main">
            <a:r>
              <a:t>- runs/research_workbench/operator_hypothesis_lab/tsla_cumulative_return_horizon_grid_20260825/visuals/tsla_cumulative_return_pearson_heatmap.png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strongest point estimate explains less than one percent of forward-return variance, and its overlap-aware interval includes zero. Its BH q-value is 0.660.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runs/research_workbench/operator_hypothesis_lab/tsla_cumulative_return_horizon_grid_20260825/horizon_grid_statistics.csv</a:t>
            </a:r>
          </a:p>
          <a:p xmlns:a="http://schemas.openxmlformats.org/drawingml/2006/main">
            <a:r>
              <a:t>- runs/research_workbench/operator_hypothesis_lab/tsla_cumulative_return_horizon_grid_20260825/r_squared_percent_matrix.csv</a:t>
            </a:r>
          </a:p>
          <a:p xmlns:a="http://schemas.openxmlformats.org/drawingml/2006/main">
            <a:r>
              <a:t>- runs/research_workbench/operator_hypothesis_lab/tsla_cumulative_return_horizon_grid_20260825/visuals/tsla_cumulative_return_r_squared_heatmap.png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Several direction differences are positive, but the best raw p-value becomes q=0.554 after the 81-cell scan. None survives BH-FDR or Bonferroni.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runs/research_workbench/operator_hypothesis_lab/tsla_cumulative_return_horizon_grid_20260825/direction_difference_pp_matrix.csv</a:t>
            </a:r>
          </a:p>
          <a:p xmlns:a="http://schemas.openxmlformats.org/drawingml/2006/main">
            <a:r>
              <a:t>- runs/research_workbench/operator_hypothesis_lab/tsla_cumulative_return_horizon_grid_20260825/horizon_grid_statistics.csv</a:t>
            </a:r>
          </a:p>
          <a:p xmlns:a="http://schemas.openxmlformats.org/drawingml/2006/main">
            <a:r>
              <a:t>- runs/research_workbench/operator_hypothesis_lab/tsla_cumulative_return_horizon_grid_20260825/visuals/tsla_cumulative_return_direction_difference_heatmap.png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separating the descriptive pattern from evidence strength. The ridge is worth naming, but this scan does not establish predictive authority.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runs/research_workbench/operator_hypothesis_lab/tsla_cumulative_return_horizon_grid_20260825/report.md</a:t>
            </a:r>
          </a:p>
          <a:p xmlns:a="http://schemas.openxmlformats.org/drawingml/2006/main">
            <a:r>
              <a:t>- runs/research_workbench/operator_hypothesis_lab/tsla_cumulative_return_horizon_grid_20260825/cells_ranked_by_absolute_correlation.csv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section asks whether aggregating red and green path states washes out different prior-versus-forward return relationships.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operator_hypothesis_lab/docs/TSLA_ER20_PATH_REGIME_BANDS_2018_2023.md</a:t>
            </a:r>
          </a:p>
          <a:p xmlns:a="http://schemas.openxmlformats.org/drawingml/2006/main">
            <a:r>
              <a:t>- scripts/inspect/run_tsla_er20_conditioned_return_horizon_grid.R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timing is causal: ER20 at the anchor uses closes through that anchor only. One pre-2018 anchor from the aggregate grid is uncolored and excluded.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runs/research_workbench/operator_hypothesis_lab/tsla_er20_conditioned_return_horizon_grid_20260825/run_spec.csv</a:t>
            </a:r>
          </a:p>
          <a:p xmlns:a="http://schemas.openxmlformats.org/drawingml/2006/main">
            <a:r>
              <a:t>- runs/research_workbench/operator_hypothesis_lab/tsla_er20_conditioned_return_horizon_grid_20260825/grid_checks.csv</a:t>
            </a:r>
          </a:p>
          <a:p xmlns:a="http://schemas.openxmlformats.org/drawingml/2006/main">
            <a:r>
              <a:t>- operator_hypothesis_lab/docs/TSLA_ER20_PATH_REGIME_BANDS_2018_2023.md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Red states show a coherent positive island centered around 10 to 15 prior sessions and 3 to 10 forward sessions. The largest cell has an overlap-aware interval that still includes zero.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runs/research_workbench/operator_hypothesis_lab/tsla_er20_conditioned_return_horizon_grid_20260825/red_sideways_pearson_matrix.csv</a:t>
            </a:r>
          </a:p>
          <a:p xmlns:a="http://schemas.openxmlformats.org/drawingml/2006/main">
            <a:r>
              <a:t>- runs/research_workbench/operator_hypothesis_lab/tsla_er20_conditioned_return_horizon_grid_20260825/conditioned_horizon_grid_statistics.csv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runs/research_workbench/operator_hypothesis_lab/tsla_er20_conditioned_return_horizon_grid_20260825/visuals/tsla_red_sideways_pearson_heatmap.png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Green states retain small positive short-horizon patches, but the red medium-horizon island is muted or reversed and the long-prior/long-forward corner becomes negative.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runs/research_workbench/operator_hypothesis_lab/tsla_er20_conditioned_return_horizon_grid_20260825/green_trending_pearson_matrix.csv</a:t>
            </a:r>
          </a:p>
          <a:p xmlns:a="http://schemas.openxmlformats.org/drawingml/2006/main">
            <a:r>
              <a:t>- runs/research_workbench/operator_hypothesis_lab/tsla_er20_conditioned_return_horizon_grid_20260825/conditioned_horizon_grid_statistics.csv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runs/research_workbench/operator_hypothesis_lab/tsla_er20_conditioned_return_horizon_grid_20260825/visuals/tsla_green_trending_pearson_heatmap.png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largest raw regime contrast is at 15 prior and 5 forward: red correlation +0.173 versus green -0.058, a -0.231 difference. Its slope interaction has raw HAC p=0.029 but BH q=0.919; no interaction survives the grid scan.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runs/research_workbench/operator_hypothesis_lab/tsla_er20_conditioned_return_horizon_grid_20260825/green_minus_red_pearson_matrix.csv</a:t>
            </a:r>
          </a:p>
          <a:p xmlns:a="http://schemas.openxmlformats.org/drawingml/2006/main">
            <a:r>
              <a:t>- runs/research_workbench/operator_hypothesis_lab/tsla_er20_conditioned_return_horizon_grid_20260825/regime_comparison_statistics.csv</a:t>
            </a:r>
          </a:p>
          <a:p xmlns:a="http://schemas.openxmlformats.org/drawingml/2006/main">
            <a:r>
              <a:t>- runs/research_workbench/operator_hypothesis_lab/tsla_er20_conditioned_return_horizon_grid_20260825/slope_interaction_bh_q_value_matrix.csv</a:t>
            </a:r>
          </a:p>
          <a:p xmlns:a="http://schemas.openxmlformats.org/drawingml/2006/main">
            <a:r>
              <a:t>- runs/research_workbench/operator_hypothesis_lab/tsla_er20_conditioned_return_horizon_grid_20260825/visuals/tsla_green_minus_red_pearson_heatmap.png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Conditioning changes the descriptive map in a coherent way, but the finding remains exploratory. ER20 is built from the same trailing path as the prior-return variable, so a less mechanically entangled filter would be a useful comparison.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runs/research_workbench/operator_hypothesis_lab/tsla_er20_conditioned_return_horizon_grid_20260825/report.md</a:t>
            </a:r>
          </a:p>
          <a:p xmlns:a="http://schemas.openxmlformats.org/drawingml/2006/main">
            <a:r>
              <a:t>- runs/research_workbench/operator_hypothesis_lab/tsla_er20_conditioned_return_horizon_grid_20260825/conditioned_horizon_grid_statistics.csv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runs/research_workbench/operator_hypothesis_lab/tsla_er20_conditioned_return_horizon_grid_20260825/regime_comparison_statistics.csv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section asks whether signed-return dependence changes with movement capacity, using the already accepted ATR-percent classifier rather than designing new bins from this result.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operator_hypothesis_lab/docs/GEN5_HYP_REG_01_1_ATR_PERCENT_VOLATILITY_RESULTS.md</a:t>
            </a:r>
          </a:p>
          <a:p xmlns:a="http://schemas.openxmlformats.org/drawingml/2006/main">
            <a:r>
              <a:t>- operator_hypothesis_lab/docs/TSLA_ATRP_CONDITIONED_RETURN_HORIZON_GRID_2018_2023.md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state definition is reused exactly: Wilder ATR14 divided by close, current ATR-percent ranked against the prior 252 completed observations, and the accepted 30/40–60/70 hysteresis. State t is known before future returns begin.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runs/research_workbench/operator_hypothesis_lab/tsla_atrp_conditioned_return_horizon_grid_20260825/run_spec.csv</a:t>
            </a:r>
          </a:p>
          <a:p xmlns:a="http://schemas.openxmlformats.org/drawingml/2006/main">
            <a:r>
              <a:t>- runs/research_workbench/operator_hypothesis_lab/tsla_atrp_conditioned_return_horizon_grid_20260825/source_checks.csv</a:t>
            </a:r>
          </a:p>
          <a:p xmlns:a="http://schemas.openxmlformats.org/drawingml/2006/main">
            <a:r>
              <a:t>- runs/research_workbench/operator_hypothesis_lab/hyp_reg_01_1_atr_percent_20260814/hyp_reg_01_1_daily_state_ledger.csv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companion view makes the accepted volatility classifier visible in price time. Blue, gold, and red mean LOW, MEDIUM, and HIGH movement capacity; they do not mean bearish, neutral, and bullish. The lower panel shows the causal trailing ATR-percent rank and accepted hysteretic state at each close.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runs/research_workbench/operator_hypothesis_lab/tsla_atrp_conditioned_return_horizon_grid_20260825/visuals/tsla_atrp_state_price_bands.png</a:t>
            </a:r>
          </a:p>
          <a:p xmlns:a="http://schemas.openxmlformats.org/drawingml/2006/main">
            <a:r>
              <a:t>- runs/research_workbench/operator_hypothesis_lab/tsla_atrp_conditioned_return_horizon_grid_20260825/tsla_atrp_state_chart_ledger.csv</a:t>
            </a:r>
          </a:p>
          <a:p xmlns:a="http://schemas.openxmlformats.org/drawingml/2006/main">
            <a:r>
              <a:t>- runs/research_workbench/operator_hypothesis_lab/tsla_atrp_conditioned_return_horizon_grid_20260825/tsla_atrp_state_spans.csv</a:t>
            </a:r>
          </a:p>
          <a:p xmlns:a="http://schemas.openxmlformats.org/drawingml/2006/main">
            <a:r>
              <a:t>- runs/research_workbench/operator_hypothesis_lab/hyp_reg_01_1_atr_percent_20260814/hyp_reg_01_1_daily_state_ledger.csv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LOW ATR-percent anchors produce positive point estimates throughout the grid, but the strongest cell's interval crosses zero and no LOW cell survives the within-state scan.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runs/research_workbench/operator_hypothesis_lab/tsla_atrp_conditioned_return_horizon_grid_20260825/low_pearson_matrix.csv</a:t>
            </a:r>
          </a:p>
          <a:p xmlns:a="http://schemas.openxmlformats.org/drawingml/2006/main">
            <a:r>
              <a:t>- runs/research_workbench/operator_hypothesis_lab/tsla_atrp_conditioned_return_horizon_grid_20260825/conditioned_horizon_grid_statistics.csv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runs/research_workbench/operator_hypothesis_lab/tsla_atrp_conditioned_return_horizon_grid_20260825/visuals/tsla_atrp_low_pearson_heatmap.png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MEDIUM ATR-percent anchors show the most statistically stable continuation pattern. Under the strict correction across all 486 tests, the 5/3, 10/2, and 10/3 cells remain.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runs/research_workbench/operator_hypothesis_lab/tsla_atrp_conditioned_return_horizon_grid_20260825/medium_pearson_matrix.csv</a:t>
            </a:r>
          </a:p>
          <a:p xmlns:a="http://schemas.openxmlformats.org/drawingml/2006/main">
            <a:r>
              <a:t>- runs/research_workbench/operator_hypothesis_lab/tsla_atrp_conditioned_return_horizon_grid_20260825/conditioned_horizon_grid_statistics.csv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runs/research_workbench/operator_hypothesis_lab/tsla_atrp_conditioned_return_horizon_grid_20260825/visuals/tsla_atrp_medium_pearson_heatmap.png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HIGH ATR-percent anchors reverse the sign of the broad surface, especially at longer horizons. The most extreme cell is visually strong but its dependence-robust interval still crosses zero.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runs/research_workbench/operator_hypothesis_lab/tsla_atrp_conditioned_return_horizon_grid_20260825/high_pearson_matrix.csv</a:t>
            </a:r>
          </a:p>
          <a:p xmlns:a="http://schemas.openxmlformats.org/drawingml/2006/main">
            <a:r>
              <a:t>- runs/research_workbench/operator_hypothesis_lab/tsla_atrp_conditioned_return_horizon_grid_20260825/conditioned_horizon_grid_statistics.csv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runs/research_workbench/operator_hypothesis_lab/tsla_atrp_conditioned_return_horizon_grid_20260825/visuals/tsla_atrp_high_pearson_heatmap.png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largest correlation contrast is -0.548 at 25 prior and 15 forward; its within-family interaction q is 0.038 but strict omnibus q is 0.081. Three smaller HIGH-minus-MEDIUM interactions survive the omnibus correction.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runs/research_workbench/operator_hypothesis_lab/tsla_atrp_conditioned_return_horizon_grid_20260825/high_minus_medium_pearson_difference_matrix.csv</a:t>
            </a:r>
          </a:p>
          <a:p xmlns:a="http://schemas.openxmlformats.org/drawingml/2006/main">
            <a:r>
              <a:t>- runs/research_workbench/operator_hypothesis_lab/tsla_atrp_conditioned_return_horizon_grid_20260825/pairwise_state_comparison_statistics.csv</a:t>
            </a:r>
          </a:p>
          <a:p xmlns:a="http://schemas.openxmlformats.org/drawingml/2006/main">
            <a:r>
              <a:t>- runs/research_workbench/operator_hypothesis_lab/tsla_atrp_conditioned_return_horizon_grid_20260825/high_minus_medium_interaction_bh_q_matrix.csv</a:t>
            </a:r>
          </a:p>
          <a:p xmlns:a="http://schemas.openxmlformats.org/drawingml/2006/main">
            <a:r>
              <a:t>- runs/research_workbench/operator_hypothesis_lab/tsla_atrp_conditioned_return_horizon_grid_20260825/visuals/tsla_atrp_high_minus_medium_pearson_heatmap.png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ATR-percent split is the clearest conditional map in this descriptive lane and is partially multiplicity-robust, but it is still a same-sample replication candidate rather than a trading rule. The ER20 direction split and external-context filter are bookmarked, not opened here.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runs/research_workbench/operator_hypothesis_lab/tsla_atrp_conditioned_return_horizon_grid_20260825/report.md</a:t>
            </a:r>
          </a:p>
          <a:p xmlns:a="http://schemas.openxmlformats.org/drawingml/2006/main">
            <a:r>
              <a:t>- runs/research_workbench/operator_hypothesis_lab/tsla_atrp_conditioned_return_horizon_grid_20260825/conditioned_horizon_grid_statistics.csv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runs/research_workbench/operator_hypothesis_lab/tsla_atrp_conditioned_return_horizon_grid_20260825/pairwise_state_comparison_statistics.csv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section changes one authority only. TSLA still supplies every prior and following return. SPY supplies the already accepted causal ATR-percent state at the anchor close.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runs/research_workbench/operator_hypothesis_lab/tsla_spy_atrp_conditioned_return_horizon_grid_20260825/run_spec.csv</a:t>
            </a:r>
          </a:p>
          <a:p xmlns:a="http://schemas.openxmlformats.org/drawingml/2006/main">
            <a:r>
              <a:t>- runs/research_workbench/operator_hypothesis_lab/hyp_reg_01_1_atr_percent_20260814/hyp_reg_01_1_daily_state_ledger.csv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SPY classifier is reused exactly: Wilder ATR14 divided by adjusted close, prior-252 causal percentile, and 30/40 plus 60/70 hysteresis. No state definition or horizon changes after seeing TSLA returns.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runs/research_workbench/operator_hypothesis_lab/tsla_spy_atrp_conditioned_return_horizon_grid_20260825/run_spec.csv</a:t>
            </a:r>
          </a:p>
          <a:p xmlns:a="http://schemas.openxmlformats.org/drawingml/2006/main">
            <a:r>
              <a:t>- runs/research_workbench/operator_hypothesis_lab/tsla_spy_atrp_conditioned_return_horizon_grid_20260825/source_checks.csv</a:t>
            </a:r>
          </a:p>
          <a:p xmlns:a="http://schemas.openxmlformats.org/drawingml/2006/main">
            <a:r>
              <a:t>- runs/research_workbench/operator_hypothesis_lab/hyp_reg_01_1_atr_percent_20260814/hyp_reg_01_1_daily_state_ledger.csv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price stays TSLA, while every colored band and the lower-panel percentile come from SPY. This visual checks alignment in time; it does not claim that SPY state causes TSLA returns.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runs/research_workbench/operator_hypothesis_lab/tsla_spy_atrp_conditioned_return_horizon_grid_20260825/visuals/tsla_spy_atrp_state_price_bands.png</a:t>
            </a:r>
          </a:p>
          <a:p xmlns:a="http://schemas.openxmlformats.org/drawingml/2006/main">
            <a:r>
              <a:t>- runs/research_workbench/operator_hypothesis_lab/tsla_spy_atrp_conditioned_return_horizon_grid_20260825/tsla_spy_atrp_state_chart_ledger.csv</a:t>
            </a:r>
          </a:p>
          <a:p xmlns:a="http://schemas.openxmlformats.org/drawingml/2006/main">
            <a:r>
              <a:t>- runs/research_workbench/operator_hypothesis_lab/tsla_spy_atrp_conditioned_return_horizon_grid_20260825/tsla_spy_atrp_state_spans.csv</a:t>
            </a:r>
          </a:p>
          <a:p xmlns:a="http://schemas.openxmlformats.org/drawingml/2006/main">
            <a:r>
              <a:t>- runs/research_workbench/operator_hypothesis_lab/hyp_reg_01_1_atr_percent_20260814/hyp_reg_01_1_daily_state_ledger.csv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SPY LOW ATR-percent sessions contain the clearest TSLA continuation geometry. The pattern is broad, but no single within-state cell survives its 81-cell BH-FDR family.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runs/research_workbench/operator_hypothesis_lab/tsla_spy_atrp_conditioned_return_horizon_grid_20260825/visuals/tsla_spy_atrp_low_pearson_heatmap.png</a:t>
            </a:r>
          </a:p>
          <a:p xmlns:a="http://schemas.openxmlformats.org/drawingml/2006/main">
            <a:r>
              <a:t>- runs/research_workbench/operator_hypothesis_lab/tsla_spy_atrp_conditioned_return_horizon_grid_20260825/conditioned_horizon_grid_statistics.csv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SPY MEDIUM ATR-percent sessions reverse the long-forward portion of the TSLA map. This differs sharply from TSLA's own MEDIUM state, which held the earlier positive continuation island.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runs/research_workbench/operator_hypothesis_lab/tsla_spy_atrp_conditioned_return_horizon_grid_20260825/visuals/tsla_spy_atrp_medium_pearson_heatmap.png</a:t>
            </a:r>
          </a:p>
          <a:p xmlns:a="http://schemas.openxmlformats.org/drawingml/2006/main">
            <a:r>
              <a:t>- runs/research_workbench/operator_hypothesis_lab/tsla_spy_atrp_conditioned_return_horizon_grid_20260825/conditioned_horizon_grid_statistics.csv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runs/research_workbench/operator_hypothesis_lab/tsla_spy_atrp_conditioned_return_horizon_grid_20260825/own_vs_external_atrp_map_summary.csv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SPY HIGH ATR-percent does not reproduce the broad reversal seen under TSLA's own HIGH ATR-percent state. Most cells are mildly positive, with a small negative corner at the longest prior horizons.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runs/research_workbench/operator_hypothesis_lab/tsla_spy_atrp_conditioned_return_horizon_grid_20260825/visuals/tsla_spy_atrp_high_pearson_heatmap.png</a:t>
            </a:r>
          </a:p>
          <a:p xmlns:a="http://schemas.openxmlformats.org/drawingml/2006/main">
            <a:r>
              <a:t>- runs/research_workbench/operator_hypothesis_lab/tsla_spy_atrp_conditioned_return_horizon_grid_20260825/conditioned_horizon_grid_statistics.csv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runs/research_workbench/operator_hypothesis_lab/tsla_spy_atrp_conditioned_return_horizon_grid_20260825/own_vs_external_atrp_map_summary.csv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largest direct contrast is LOW continuation versus MEDIUM reversal at 5 prior and 15 forward sessions. Three neighboring MEDIUM-minus-LOW interactions survive their 81-cell family correction, but no pairwise interaction survives the stricter 486-test omnibus correction.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runs/research_workbench/operator_hypothesis_lab/tsla_spy_atrp_conditioned_return_horizon_grid_20260825/visuals/tsla_spy_atrp_medium_minus_low_pearson_heatmap.png</a:t>
            </a:r>
          </a:p>
          <a:p xmlns:a="http://schemas.openxmlformats.org/drawingml/2006/main">
            <a:r>
              <a:t>- runs/research_workbench/operator_hypothesis_lab/tsla_spy_atrp_conditioned_return_horizon_grid_20260825/pairwise_state_comparison_statistics.csv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External SPY conditioning is coherent enough to justify more descriptive cross-sectional brainstorming, but it does not confirm an edge. LOW is the most portable geometry; MEDIUM changes almost completely; HIGH keeps a related ordering while most signs shift.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runs/research_workbench/operator_hypothesis_lab/tsla_spy_atrp_conditioned_return_horizon_grid_20260825/own_vs_external_atrp_map_summary.csv</a:t>
            </a:r>
          </a:p>
          <a:p xmlns:a="http://schemas.openxmlformats.org/drawingml/2006/main">
            <a:r>
              <a:t>- runs/research_workbench/operator_hypothesis_lab/tsla_spy_atrp_conditioned_return_horizon_grid_20260825/report.md</a:t>
            </a:r>
          </a:p>
          <a:p xmlns:a="http://schemas.openxmlformats.org/drawingml/2006/main">
            <a:r>
              <a:t>- runs/research_workbench/operator_hypothesis_lab/tsla_atrp_conditioned_return_horizon_grid_20260825/conditioned_horizon_grid_statistics.csv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eb9002173a456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e5003bbffb34f2d" /><Relationship Type="http://schemas.openxmlformats.org/officeDocument/2006/relationships/slideLayout" Target="/ppt/slideLayouts/slideLayout1.xml" Id="Rd948ee55fcb74a9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948ee55fcb74a9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TSLA Descriptive Microscope">
      <a:dk1>
        <a:srgbClr val="000000"/>
      </a:dk1>
      <a:lt1>
        <a:srgbClr val="FFFFFF"/>
      </a:lt1>
      <a:dk2>
        <a:srgbClr val="273548"/>
      </a:dk2>
      <a:lt2>
        <a:srgbClr val="EDEDED"/>
      </a:lt2>
      <a:accent1>
        <a:srgbClr val="3D8DFF"/>
      </a:accent1>
      <a:accent2>
        <a:srgbClr val="2A9D6F"/>
      </a:accent2>
      <a:accent3>
        <a:srgbClr val="E45756"/>
      </a:accent3>
      <a:accent4>
        <a:srgbClr val="6DCBF4"/>
      </a:accent4>
      <a:accent5>
        <a:srgbClr val="7C3AED"/>
      </a:accent5>
      <a:accent6>
        <a:srgbClr val="F59E0B"/>
      </a:accent6>
      <a:hlink>
        <a:srgbClr val="3D8DFF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SLA Descriptive Microscop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09cf1256164924" /><Relationship Type="http://schemas.openxmlformats.org/officeDocument/2006/relationships/notesSlide" Target="/ppt/notesSlides/notesSlide1.xml" Id="R00c85ae6984e496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bb14cbd63c4968" /><Relationship Type="http://schemas.openxmlformats.org/officeDocument/2006/relationships/notesSlide" Target="/ppt/notesSlides/notesSlide2.xml" Id="R2a77415a0056456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fbd8943c3b4fb3" /><Relationship Type="http://schemas.openxmlformats.org/officeDocument/2006/relationships/notesSlide" Target="/ppt/notesSlides/notesSlide3.xml" Id="Rd9e78cd610ec48d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75fd9290384ec8" /><Relationship Type="http://schemas.openxmlformats.org/officeDocument/2006/relationships/image" Target="/ppt/media/image.png" Id="Ra949ebc4e2474916" /><Relationship Type="http://schemas.openxmlformats.org/officeDocument/2006/relationships/notesSlide" Target="/ppt/notesSlides/notesSlide4.xml" Id="Rae649c88a36a4e0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b09bd35b5e471d" /><Relationship Type="http://schemas.openxmlformats.org/officeDocument/2006/relationships/image" Target="/ppt/media/image2.png" Id="Rd465e83e98b0463b" /><Relationship Type="http://schemas.openxmlformats.org/officeDocument/2006/relationships/notesSlide" Target="/ppt/notesSlides/notesSlide5.xml" Id="R881d2cdda2064fb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33b2f68a20402a" /><Relationship Type="http://schemas.openxmlformats.org/officeDocument/2006/relationships/notesSlide" Target="/ppt/notesSlides/notesSlide6.xml" Id="R0745f6e33aaf481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3bae4ae47c45c1" /><Relationship Type="http://schemas.openxmlformats.org/officeDocument/2006/relationships/image" Target="/ppt/media/image3.png" Id="R781f521f02dc4ad4" /><Relationship Type="http://schemas.openxmlformats.org/officeDocument/2006/relationships/notesSlide" Target="/ppt/notesSlides/notesSlide7.xml" Id="R2b94976e41ff497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d23641880e4097" /><Relationship Type="http://schemas.openxmlformats.org/officeDocument/2006/relationships/image" Target="/ppt/media/image4.png" Id="Rc217c1025a9949e1" /><Relationship Type="http://schemas.openxmlformats.org/officeDocument/2006/relationships/notesSlide" Target="/ppt/notesSlides/notesSlide8.xml" Id="R0c7a35d41679491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e4b10c87fb4305" /><Relationship Type="http://schemas.openxmlformats.org/officeDocument/2006/relationships/image" Target="/ppt/media/image5.png" Id="R9afdb1b461664544" /><Relationship Type="http://schemas.openxmlformats.org/officeDocument/2006/relationships/notesSlide" Target="/ppt/notesSlides/notesSlide9.xml" Id="R1bd707b9ff454da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b49cc7dd844352" /><Relationship Type="http://schemas.openxmlformats.org/officeDocument/2006/relationships/image" Target="/ppt/media/image6.png" Id="R73fd724018224152" /><Relationship Type="http://schemas.openxmlformats.org/officeDocument/2006/relationships/notesSlide" Target="/ppt/notesSlides/notesSlide10.xml" Id="Raed742a2a054462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d1db1ac92f4087" /><Relationship Type="http://schemas.openxmlformats.org/officeDocument/2006/relationships/notesSlide" Target="/ppt/notesSlides/notesSlide11.xml" Id="R30384e72e5934cf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6f414984b44125" /><Relationship Type="http://schemas.openxmlformats.org/officeDocument/2006/relationships/notesSlide" Target="/ppt/notesSlides/notesSlide12.xml" Id="R56f3e0e1a3714fe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3d8f704b184474" /><Relationship Type="http://schemas.openxmlformats.org/officeDocument/2006/relationships/notesSlide" Target="/ppt/notesSlides/notesSlide13.xml" Id="R3d38a0bb5c0844c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e87c4064e54161" /><Relationship Type="http://schemas.openxmlformats.org/officeDocument/2006/relationships/image" Target="/ppt/media/image7.png" Id="Rca1578dd46bb40a0" /><Relationship Type="http://schemas.openxmlformats.org/officeDocument/2006/relationships/notesSlide" Target="/ppt/notesSlides/notesSlide14.xml" Id="Rb2a4a4d4f3bd4bc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75891357644e71" /><Relationship Type="http://schemas.openxmlformats.org/officeDocument/2006/relationships/image" Target="/ppt/media/image8.png" Id="R7c68ddb48c43437b" /><Relationship Type="http://schemas.openxmlformats.org/officeDocument/2006/relationships/notesSlide" Target="/ppt/notesSlides/notesSlide15.xml" Id="R637c603ed4f44a5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f850a29ea54fc5" /><Relationship Type="http://schemas.openxmlformats.org/officeDocument/2006/relationships/image" Target="/ppt/media/image9.png" Id="R6a70d1dff826462a" /><Relationship Type="http://schemas.openxmlformats.org/officeDocument/2006/relationships/notesSlide" Target="/ppt/notesSlides/notesSlide16.xml" Id="Rf2ecf958d75e469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3f311b671d4456" /><Relationship Type="http://schemas.openxmlformats.org/officeDocument/2006/relationships/notesSlide" Target="/ppt/notesSlides/notesSlide17.xml" Id="R757d060ceb85493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1792e2e0a34159" /><Relationship Type="http://schemas.openxmlformats.org/officeDocument/2006/relationships/notesSlide" Target="/ppt/notesSlides/notesSlide18.xml" Id="R1b5365282243485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4bc5d570194475" /><Relationship Type="http://schemas.openxmlformats.org/officeDocument/2006/relationships/notesSlide" Target="/ppt/notesSlides/notesSlide19.xml" Id="Rb9da7319d7e5493d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1f2e50d8b1452f" /><Relationship Type="http://schemas.openxmlformats.org/officeDocument/2006/relationships/image" Target="/ppt/media/image10.png" Id="Rb48eb01551f04684" /><Relationship Type="http://schemas.openxmlformats.org/officeDocument/2006/relationships/notesSlide" Target="/ppt/notesSlides/notesSlide20.xml" Id="R8c0e731c65eb4ab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e9a688d9fa4967" /><Relationship Type="http://schemas.openxmlformats.org/officeDocument/2006/relationships/image" Target="/ppt/media/image11.png" Id="R8b22ca6706164d25" /><Relationship Type="http://schemas.openxmlformats.org/officeDocument/2006/relationships/notesSlide" Target="/ppt/notesSlides/notesSlide21.xml" Id="R3b131bc9c7d74b11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128cacf47543d7" /><Relationship Type="http://schemas.openxmlformats.org/officeDocument/2006/relationships/image" Target="/ppt/media/image12.png" Id="R824d603f35424cd0" /><Relationship Type="http://schemas.openxmlformats.org/officeDocument/2006/relationships/notesSlide" Target="/ppt/notesSlides/notesSlide22.xml" Id="R63c2b3845bd64595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aeca1e76574591" /><Relationship Type="http://schemas.openxmlformats.org/officeDocument/2006/relationships/notesSlide" Target="/ppt/notesSlides/notesSlide23.xml" Id="R60b23706742c4ca3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de64f4b1ad47cb" /><Relationship Type="http://schemas.openxmlformats.org/officeDocument/2006/relationships/notesSlide" Target="/ppt/notesSlides/notesSlide24.xml" Id="R84f1a38626ec4db6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680c0ec474427d" /><Relationship Type="http://schemas.openxmlformats.org/officeDocument/2006/relationships/notesSlide" Target="/ppt/notesSlides/notesSlide25.xml" Id="R542acb9631294e0c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5353e659c844f4" /><Relationship Type="http://schemas.openxmlformats.org/officeDocument/2006/relationships/image" Target="/ppt/media/image13.png" Id="Rcccb688cf08e4e65" /><Relationship Type="http://schemas.openxmlformats.org/officeDocument/2006/relationships/notesSlide" Target="/ppt/notesSlides/notesSlide26.xml" Id="Ra045139b2d3f456d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c56dae2c9e4cfe" /><Relationship Type="http://schemas.openxmlformats.org/officeDocument/2006/relationships/image" Target="/ppt/media/image14.png" Id="R2175905a5c0845b0" /><Relationship Type="http://schemas.openxmlformats.org/officeDocument/2006/relationships/notesSlide" Target="/ppt/notesSlides/notesSlide27.xml" Id="R5d43749b1db64eb1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b77668ed5c4da8" /><Relationship Type="http://schemas.openxmlformats.org/officeDocument/2006/relationships/image" Target="/ppt/media/image15.png" Id="R19c05996bc8e4b93" /><Relationship Type="http://schemas.openxmlformats.org/officeDocument/2006/relationships/notesSlide" Target="/ppt/notesSlides/notesSlide28.xml" Id="R9ffa37ad073e4e00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84a51a5d324c3c" /><Relationship Type="http://schemas.openxmlformats.org/officeDocument/2006/relationships/image" Target="/ppt/media/image16.png" Id="R35f0e8b2d9294041" /><Relationship Type="http://schemas.openxmlformats.org/officeDocument/2006/relationships/notesSlide" Target="/ppt/notesSlides/notesSlide29.xml" Id="R40920fb73dd943cf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fe93eea4c24d05" /><Relationship Type="http://schemas.openxmlformats.org/officeDocument/2006/relationships/image" Target="/ppt/media/image17.png" Id="Ra6bb86f2b93044e4" /><Relationship Type="http://schemas.openxmlformats.org/officeDocument/2006/relationships/notesSlide" Target="/ppt/notesSlides/notesSlide30.xml" Id="R4e3fac18e87e46e0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3bfda3eaf24d89" /><Relationship Type="http://schemas.openxmlformats.org/officeDocument/2006/relationships/notesSlide" Target="/ppt/notesSlides/notesSlide31.xml" Id="R03ebfc5a15784dbb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3a12e8f4314f38" /><Relationship Type="http://schemas.openxmlformats.org/officeDocument/2006/relationships/notesSlide" Target="/ppt/notesSlides/notesSlide32.xml" Id="Rb9e80d8fdca04277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7549c39d994f36" /><Relationship Type="http://schemas.openxmlformats.org/officeDocument/2006/relationships/notesSlide" Target="/ppt/notesSlides/notesSlide33.xml" Id="R4e2981fb8e0244f0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28c1c1e67e44f9" /><Relationship Type="http://schemas.openxmlformats.org/officeDocument/2006/relationships/image" Target="/ppt/media/image18.png" Id="Rdcb9f657c9134c9f" /><Relationship Type="http://schemas.openxmlformats.org/officeDocument/2006/relationships/notesSlide" Target="/ppt/notesSlides/notesSlide34.xml" Id="R4d3f1f159ce1409b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afb56d6f6f4bdd" /><Relationship Type="http://schemas.openxmlformats.org/officeDocument/2006/relationships/image" Target="/ppt/media/image19.png" Id="R12f2b917ce894b65" /><Relationship Type="http://schemas.openxmlformats.org/officeDocument/2006/relationships/notesSlide" Target="/ppt/notesSlides/notesSlide35.xml" Id="Rf98c0bfb18e84c21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0a7a516c894cb7" /><Relationship Type="http://schemas.openxmlformats.org/officeDocument/2006/relationships/image" Target="/ppt/media/image20.png" Id="R4ac029ed2fe84955" /><Relationship Type="http://schemas.openxmlformats.org/officeDocument/2006/relationships/notesSlide" Target="/ppt/notesSlides/notesSlide36.xml" Id="R6d86b05383994074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821647295d4abb" /><Relationship Type="http://schemas.openxmlformats.org/officeDocument/2006/relationships/image" Target="/ppt/media/image21.png" Id="R645ad257bc454044" /><Relationship Type="http://schemas.openxmlformats.org/officeDocument/2006/relationships/notesSlide" Target="/ppt/notesSlides/notesSlide37.xml" Id="R32a94543a1bb4c83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8278353bd74187" /><Relationship Type="http://schemas.openxmlformats.org/officeDocument/2006/relationships/image" Target="/ppt/media/image22.png" Id="R62f36352ad9c4879" /><Relationship Type="http://schemas.openxmlformats.org/officeDocument/2006/relationships/notesSlide" Target="/ppt/notesSlides/notesSlide38.xml" Id="R3796666e237e4e3d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a4b7592da74a3d" /><Relationship Type="http://schemas.openxmlformats.org/officeDocument/2006/relationships/notesSlide" Target="/ppt/notesSlides/notesSlide39.xml" Id="Rf514863ab3f84b7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287F2A-19E1-4D71-8665-A325D3693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OPERATOR HYPOTHESIS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B4752F-5C3B-406E-860B-425737DDA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9545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0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60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TSLA descriptive</a:t>
            </a:r>
          </a:p>
          <a:p xmlns:a="http://schemas.openxmlformats.org/drawingml/2006/main">
            <a:pPr algn="l">
              <a:buNone/>
              <a:defRPr sz="60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60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microscope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2C665E-F0B1-4B7F-B98C-E03521668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91000"/>
            <a:ext cx="1238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A5C4CF-93D0-4941-8B4C-E3E2BA103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29150"/>
            <a:ext cx="8286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From visual intuition to measured daily-return dependence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9AA5C7-3D69-4D62-9FC3-A69A478BD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 | Descriptive research only</a:t>
            </a:r>
          </a:p>
        </p:txBody>
      </p:sp>
    </p:spTree>
    <p:extLst>
      <p:ext uri="{BB962C8B-B14F-4D97-AF65-F5344CB8AC3E}">
        <p14:creationId xmlns:p14="http://schemas.microsoft.com/office/powerpoint/2010/main" val="150197864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ection-2">
            <a:extLst xmlns:a="http://schemas.openxmlformats.org/drawingml/2006/main">
              <a:ext uri="{FF2B5EF4-FFF2-40B4-BE49-F238E27FC236}">
                <a16:creationId xmlns:a16="http://schemas.microsoft.com/office/drawing/2014/main" id="{EABBA6E1-F45F-441D-A600-8142D7D30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175C8CBF-2952-45DB-A51C-31B8AB274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lane starts with description, not strategy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CD8AFB-8939-414E-BF70-4C44373BC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2">
            <a:extLst xmlns:a="http://schemas.openxmlformats.org/drawingml/2006/main">
              <a:ext uri="{FF2B5EF4-FFF2-40B4-BE49-F238E27FC236}">
                <a16:creationId xmlns:a16="http://schemas.microsoft.com/office/drawing/2014/main" id="{DAFEC4F1-50D5-4693-B6C1-AC1138632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2">
            <a:extLst xmlns:a="http://schemas.openxmlformats.org/drawingml/2006/main">
              <a:ext uri="{FF2B5EF4-FFF2-40B4-BE49-F238E27FC236}">
                <a16:creationId xmlns:a16="http://schemas.microsoft.com/office/drawing/2014/main" id="{EF6CAA23-BA21-472E-986D-D98B4D1F2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CF66DD-540D-476F-A7F5-02147E71A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19250"/>
            <a:ext cx="762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74F55B-1446-4F42-BD1E-8FAB2CF59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81150"/>
            <a:ext cx="361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See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F1277C-2532-4E5C-8906-6DB6877BE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62100"/>
            <a:ext cx="6667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Start with raw price and return geometry before deciding what relationship ought to exist.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1372FE-75A4-4E6C-8C5E-5569ECB20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28900"/>
            <a:ext cx="1053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14A25A-AA62-4D50-B30F-5346853D0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28950"/>
            <a:ext cx="762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9AF01F-0357-4FCE-9139-7DACD43D4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90850"/>
            <a:ext cx="361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Name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63BF40-3714-43F0-ACA7-13D0F8295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971800"/>
            <a:ext cx="6667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Separate direction, magnitude, path shape, and volatility so one visual impression does not stand in for all four.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7591B6-C755-4D50-BB99-DA5C68C11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38600"/>
            <a:ext cx="1053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B0F103-9237-4C60-86EF-786CECE7E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38650"/>
            <a:ext cx="762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2839DF-980D-4991-A539-25BA44F4C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00550"/>
            <a:ext cx="361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Measure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A18768-8500-49CC-AD63-3A41DD668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381500"/>
            <a:ext cx="6667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Quantify one frozen relationship at a time; only later ask whether a finding predicts, trades, or transports.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35A8B2-7CB6-4F65-9360-0E168549E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448300"/>
            <a:ext cx="1053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44650942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ection-3">
            <a:extLst xmlns:a="http://schemas.openxmlformats.org/drawingml/2006/main">
              <a:ext uri="{FF2B5EF4-FFF2-40B4-BE49-F238E27FC236}">
                <a16:creationId xmlns:a16="http://schemas.microsoft.com/office/drawing/2014/main" id="{D21E8F50-BA1C-4536-B715-AAD5A74E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622D00AB-54E7-40F8-BC73-9A3D2344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 question, one fixed sample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977435-894D-461F-A4F7-CD91DF8A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3">
            <a:extLst xmlns:a="http://schemas.openxmlformats.org/drawingml/2006/main">
              <a:ext uri="{FF2B5EF4-FFF2-40B4-BE49-F238E27FC236}">
                <a16:creationId xmlns:a16="http://schemas.microsoft.com/office/drawing/2014/main" id="{FC53CCFE-82C8-49A0-BC48-206B3BC8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3">
            <a:extLst xmlns:a="http://schemas.openxmlformats.org/drawingml/2006/main">
              <a:ext uri="{FF2B5EF4-FFF2-40B4-BE49-F238E27FC236}">
                <a16:creationId xmlns:a16="http://schemas.microsoft.com/office/drawing/2014/main" id="{B9F045FD-2505-4635-89F0-EDCD31EF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1133C9-969B-4370-A80C-D9B73CA5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5429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r[t] = log(C[t] / C[t-1])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D8EB97-B391-424E-82EB-0DEEC881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24150"/>
            <a:ext cx="5048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Each row pairs yesterday's adjusted close-to-close log return with today's.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D10794-EB76-4BB0-B74E-31375B66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49530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834C39-6D46-429B-A2ED-F97A068A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3D83BD-5D8C-4BCB-B02F-81EB7416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67200"/>
            <a:ext cx="449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1,509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88569D-B256-4A8E-9334-C068F398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33950"/>
            <a:ext cx="4495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consecutive-session pairs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9CAED-155E-4498-A477-F11A6F4A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boundaries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D8E2E5-6744-4962-977E-E85B4891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860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Asset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D2958-8D30-49E2-9398-075A839B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TSLA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F0B4C3-3792-489F-A37E-FD53597F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432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68646-6439-4EB2-88F0-0C08EDC1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76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Price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E87A9A-C6B3-4232-84C2-9C442CAD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765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Alpaca SIP adjusted daily close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822C36-1982-4EF0-A9F3-89DAA8EA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337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A764C4-9BB1-4E82-A1F0-6E930868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Target sessions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A04E11-771F-482D-97D0-41D18323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671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2018-01-02 through 2023-12-29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EA1D46-2EB0-459D-9313-BA82DEAD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D0A15B-41F8-429C-8446-F9003B5B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57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Search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3F5128-0043-4265-B48A-E7E4E9B6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576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No alternate lag or horizon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B63F79-B572-4EF7-8C82-E4140C6E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148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8FD0A4-5938-4ECC-AC99-49139123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482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Trading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292260-C22B-4C56-9ED9-C8744785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482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822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No policy or performance calculation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617A11-8542-47F5-AD42-16C68CB8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054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258514-91F0-4BFE-BE7D-A95A1C82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387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Confirmation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3C58E3-8C22-4D23-8076-93E173576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387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No post-2023 data read</a:t>
            </a:r>
          </a:p>
        </p:txBody>
      </p:sp>
    </p:spTree>
    <p:extLst>
      <p:ext uri="{BB962C8B-B14F-4D97-AF65-F5344CB8AC3E}">
        <p14:creationId xmlns:p14="http://schemas.microsoft.com/office/powerpoint/2010/main" val="139728336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raw cloud has no clear directional structure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49ebc4e2474916"/>
          <a:stretch xmlns:a="http://schemas.openxmlformats.org/drawingml/2006/main"/>
        </p:blipFill>
        <p:spPr>
          <a:xfrm xmlns:a="http://schemas.openxmlformats.org/drawingml/2006/main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17220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First look: no fitted line, correlation, p-value, binning, or outlier removal.</a:t>
            </a:r>
          </a:p>
        </p:txBody>
      </p:sp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ection-5">
            <a:extLst xmlns:a="http://schemas.openxmlformats.org/drawingml/2006/main">
              <a:ext uri="{FF2B5EF4-FFF2-40B4-BE49-F238E27FC236}">
                <a16:creationId xmlns:a16="http://schemas.microsoft.com/office/drawing/2014/main" id="{7D217279-BBB9-4442-BD43-E35AFD380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ACF70291-6FC2-4F25-8EF7-C5343297C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ER20 labels path shape—not volatility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8E3755-2109-4A95-AAD7-09D4B54CD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5">
            <a:extLst xmlns:a="http://schemas.openxmlformats.org/drawingml/2006/main">
              <a:ext uri="{FF2B5EF4-FFF2-40B4-BE49-F238E27FC236}">
                <a16:creationId xmlns:a16="http://schemas.microsoft.com/office/drawing/2014/main" id="{3D616FCB-FD1B-4926-8056-5988E7D3F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5">
            <a:extLst xmlns:a="http://schemas.openxmlformats.org/drawingml/2006/main">
              <a:ext uri="{FF2B5EF4-FFF2-40B4-BE49-F238E27FC236}">
                <a16:creationId xmlns:a16="http://schemas.microsoft.com/office/drawing/2014/main" id="{7E3BECCF-F54F-4D27-BB58-7ED627475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6C60D3-C5F7-4C39-991D-FB86EB756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381125"/>
            <a:ext cx="8572500" cy="481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65e83e98b0463b"/>
          <a:stretch xmlns:a="http://schemas.openxmlformats.org/drawingml/2006/main"/>
        </p:blipFill>
        <p:spPr>
          <a:xfrm xmlns:a="http://schemas.openxmlformats.org/drawingml/2006/main">
            <a:off x="325967" y="1381125"/>
            <a:ext cx="8568267" cy="48196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B493DE-9AA4-4FF1-8BE2-28F352E8F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5811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How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6B1C17-35A6-411A-A67C-A4A72F63E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038350"/>
            <a:ext cx="24003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Absolute 20-session endpoint displacement divided by the total log-price path traveled.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6C96CB-CC04-417E-9ADF-6D8B711B5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4099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Read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2CCFF6-12C5-4DA0-960D-99266D204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867150"/>
            <a:ext cx="24003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Green recognizes efficient rises and declines. Red marks a locally choppy path. Daily thresholding is visibly flickery near transitions.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CC076C-14CF-4CC6-9A1F-9DE2F654A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715000"/>
            <a:ext cx="2400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B62FEB-4FFC-484D-8635-E7157EEBB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867400"/>
            <a:ext cx="2400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Descriptive state—not a future-return claim</a:t>
            </a:r>
          </a:p>
        </p:txBody>
      </p:sp>
    </p:spTree>
    <p:extLst>
      <p:ext uri="{BB962C8B-B14F-4D97-AF65-F5344CB8AC3E}">
        <p14:creationId xmlns:p14="http://schemas.microsoft.com/office/powerpoint/2010/main" val="31719134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C51E6-6E84-4C1E-8D3E-0D1B2ADE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MEASUREMENT PASS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BD659-315B-4902-8A62-88F3460E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076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 visual cloud asks one</a:t>
            </a:r>
          </a:p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precise next question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8F8D12-F796-4339-A513-DF003E6E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45830B-E6EE-4175-94D1-A484215C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923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Does r[t-1] contain measurable information about r[t]?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3AAD9-855C-47E7-9BA0-F94B71F3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19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Primary: signed linear dependence. Diagnostics: rank, sign, outliers, annual stability, and absolute-return persistence.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6E2559-6393-4E7F-A448-E0578397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8024806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ction-7">
            <a:extLst xmlns:a="http://schemas.openxmlformats.org/drawingml/2006/main">
              <a:ext uri="{FF2B5EF4-FFF2-40B4-BE49-F238E27FC236}">
                <a16:creationId xmlns:a16="http://schemas.microsoft.com/office/drawing/2014/main" id="{BAC8373F-594E-467B-A8F8-56439CEB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7592E6E5-EA60-427F-BAB4-42C154D8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Signed dependence is effectively 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52E1AC-5CE8-4847-87B1-81C28A4E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7">
            <a:extLst xmlns:a="http://schemas.openxmlformats.org/drawingml/2006/main">
              <a:ext uri="{FF2B5EF4-FFF2-40B4-BE49-F238E27FC236}">
                <a16:creationId xmlns:a16="http://schemas.microsoft.com/office/drawing/2014/main" id="{4896B590-20BC-4B46-9282-D9F5A22A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7">
            <a:extLst xmlns:a="http://schemas.openxmlformats.org/drawingml/2006/main">
              <a:ext uri="{FF2B5EF4-FFF2-40B4-BE49-F238E27FC236}">
                <a16:creationId xmlns:a16="http://schemas.microsoft.com/office/drawing/2014/main" id="{1503EFAF-F487-4981-AFDC-23F1B41A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A770DD-55E6-42DB-942A-6938E642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28750"/>
            <a:ext cx="76771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1f521f02dc4ad4"/>
          <a:stretch xmlns:a="http://schemas.openxmlformats.org/drawingml/2006/main"/>
        </p:blipFill>
        <p:spPr>
          <a:xfrm xmlns:a="http://schemas.openxmlformats.org/drawingml/2006/main">
            <a:off x="609600" y="1428750"/>
            <a:ext cx="7143750" cy="4762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5D1653-1738-47C8-BFA1-9C939028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911094-04B5-4E98-9749-4F832E6A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59A327-4374-4B4E-A3BA-F8E01649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764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-0.021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341AE3-547D-4111-ADFF-14E5545F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431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Pearson correlation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7B1C2D-BD18-4B6C-8DC8-10694F2F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4050CC-5568-4F8A-B026-EC7B8ABE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2FF9D4-D051-476B-B68A-15DCA6B4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3147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38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[-0.073, +0.028]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DFBB46-08D6-4497-AA7C-C2049757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9814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95% block-bootstrap interval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D61CC-6E5E-49EC-A5F6-E861E856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35608E-4DDE-41BA-8DF2-831CF419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548"/>
          </a:solidFill>
          <a:ln xmlns:a="http://schemas.openxmlformats.org/drawingml/2006/main" w="0">
            <a:solidFill>
              <a:srgbClr val="27354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8A976D-39D1-4C6C-803F-0D3F8BAE4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530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0.044%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1E116E-13CC-4735-B31A-B5C1846B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6197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R-squared: variance explained</a:t>
            </a:r>
          </a:p>
        </p:txBody>
      </p:sp>
    </p:spTree>
    <p:extLst>
      <p:ext uri="{BB962C8B-B14F-4D97-AF65-F5344CB8AC3E}">
        <p14:creationId xmlns:p14="http://schemas.microsoft.com/office/powerpoint/2010/main" val="158317070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ection-8">
            <a:extLst xmlns:a="http://schemas.openxmlformats.org/drawingml/2006/main">
              <a:ext uri="{FF2B5EF4-FFF2-40B4-BE49-F238E27FC236}">
                <a16:creationId xmlns:a16="http://schemas.microsoft.com/office/drawing/2014/main" id="{FC99BA28-64AB-43E8-BE2C-0E05781D1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F56141AD-6D41-4B04-9458-2EFEFD0C2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Yesterday's sign barely changes tomorrow's odds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9B866E-F8EC-4822-8F75-8738AE574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8">
            <a:extLst xmlns:a="http://schemas.openxmlformats.org/drawingml/2006/main">
              <a:ext uri="{FF2B5EF4-FFF2-40B4-BE49-F238E27FC236}">
                <a16:creationId xmlns:a16="http://schemas.microsoft.com/office/drawing/2014/main" id="{60B7304E-4F61-40B8-9568-3A46AA065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8">
            <a:extLst xmlns:a="http://schemas.openxmlformats.org/drawingml/2006/main">
              <a:ext uri="{FF2B5EF4-FFF2-40B4-BE49-F238E27FC236}">
                <a16:creationId xmlns:a16="http://schemas.microsoft.com/office/drawing/2014/main" id="{A2FDA8B5-1121-4016-B34F-180F19066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59974A-1518-4857-8A86-2EF378C5D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466850"/>
            <a:ext cx="790575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17c1025a9949e1"/>
          <a:stretch xmlns:a="http://schemas.openxmlformats.org/drawingml/2006/main"/>
        </p:blipFill>
        <p:spPr>
          <a:xfrm xmlns:a="http://schemas.openxmlformats.org/drawingml/2006/main">
            <a:off x="381000" y="1494631"/>
            <a:ext cx="7905750" cy="4611688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58CD61-4D23-41B7-A67E-B50BFA3C5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69545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C5ED96-F82C-4CF6-8B54-F372EF0D3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6954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B25F14-87B4-4B00-A519-E1B45B89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866900"/>
            <a:ext cx="2400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52.9%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2C7F50-11E4-4D99-A2B2-ED17DA9ED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533650"/>
            <a:ext cx="2400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up after a prior down day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03A160-F567-45AF-99BA-FC078BEAD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37185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71FC31-69FB-4152-99F6-85AD4E4D1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3718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D9501F-EB23-41C7-BC9F-0DCAF5ED8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543300"/>
            <a:ext cx="2400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52.1%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5E9C93-AD93-49F0-B4EC-ABFC15BEE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210050"/>
            <a:ext cx="2400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up after a prior up day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17DD6F-8CEE-4A90-8BD6-690A4FB48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219700"/>
            <a:ext cx="266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Difference: -0.7 percentage points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95% interval: -5.8 to +4.2 pp</a:t>
            </a:r>
          </a:p>
        </p:txBody>
      </p:sp>
    </p:spTree>
    <p:extLst>
      <p:ext uri="{BB962C8B-B14F-4D97-AF65-F5344CB8AC3E}">
        <p14:creationId xmlns:p14="http://schemas.microsoft.com/office/powerpoint/2010/main" val="172404363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ection-9">
            <a:extLst xmlns:a="http://schemas.openxmlformats.org/drawingml/2006/main">
              <a:ext uri="{FF2B5EF4-FFF2-40B4-BE49-F238E27FC236}">
                <a16:creationId xmlns:a16="http://schemas.microsoft.com/office/drawing/2014/main" id="{EBA183BA-1F33-43C2-A340-16B1E99A7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9">
            <a:extLst xmlns:a="http://schemas.openxmlformats.org/drawingml/2006/main">
              <a:ext uri="{FF2B5EF4-FFF2-40B4-BE49-F238E27FC236}">
                <a16:creationId xmlns:a16="http://schemas.microsoft.com/office/drawing/2014/main" id="{0663B6F4-658E-4DE8-898E-470A7CF5C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signed result stays weak under obvious checks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D2132A-BB30-4209-B894-FCC20F4F7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9">
            <a:extLst xmlns:a="http://schemas.openxmlformats.org/drawingml/2006/main">
              <a:ext uri="{FF2B5EF4-FFF2-40B4-BE49-F238E27FC236}">
                <a16:creationId xmlns:a16="http://schemas.microsoft.com/office/drawing/2014/main" id="{5B6CFEAA-57C7-4EA4-BAF7-395EC1B3D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9">
            <a:extLst xmlns:a="http://schemas.openxmlformats.org/drawingml/2006/main">
              <a:ext uri="{FF2B5EF4-FFF2-40B4-BE49-F238E27FC236}">
                <a16:creationId xmlns:a16="http://schemas.microsoft.com/office/drawing/2014/main" id="{0A964CCF-1375-4C63-86E0-327EA665B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3A4194-DA3D-4FE2-8903-084599EE6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428750"/>
            <a:ext cx="8096250" cy="481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fdb1b461664544"/>
          <a:stretch xmlns:a="http://schemas.openxmlformats.org/drawingml/2006/main"/>
        </p:blipFill>
        <p:spPr>
          <a:xfrm xmlns:a="http://schemas.openxmlformats.org/drawingml/2006/main">
            <a:off x="588479" y="1428750"/>
            <a:ext cx="7528891" cy="481012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E547BA-6B5C-4F5A-B4E4-FD99AACD6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65735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Rank check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2C0B40-DAFE-4C66-8136-964E51E1E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114550"/>
            <a:ext cx="266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Spearman rho = -0.004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95% block interval: -0.054 to +0.044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6A331B-1B89-49FE-BD19-54F1DD623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181350"/>
            <a:ext cx="266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9140A0-2615-4B81-99CA-0D43FAA4B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46710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Outlier check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7EB45D-DC9C-458B-93BD-1FA8026B7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924300"/>
            <a:ext cx="266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Pearson changes from -0.021 to -0.008 after fixed 1%/99% winsorization.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2C736D-ABB7-461A-92C1-B51479468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5105400"/>
            <a:ext cx="266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54633C-EE8B-411B-A503-F65ADB1D0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5391150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Every annual HAC interval crosses zero.</a:t>
            </a:r>
          </a:p>
        </p:txBody>
      </p:sp>
    </p:spTree>
    <p:extLst>
      <p:ext uri="{BB962C8B-B14F-4D97-AF65-F5344CB8AC3E}">
        <p14:creationId xmlns:p14="http://schemas.microsoft.com/office/powerpoint/2010/main" val="201621491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ection-10">
            <a:extLst xmlns:a="http://schemas.openxmlformats.org/drawingml/2006/main">
              <a:ext uri="{FF2B5EF4-FFF2-40B4-BE49-F238E27FC236}">
                <a16:creationId xmlns:a16="http://schemas.microsoft.com/office/drawing/2014/main" id="{956D329C-4E71-4503-8472-54BE364C9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10">
            <a:extLst xmlns:a="http://schemas.openxmlformats.org/drawingml/2006/main">
              <a:ext uri="{FF2B5EF4-FFF2-40B4-BE49-F238E27FC236}">
                <a16:creationId xmlns:a16="http://schemas.microsoft.com/office/drawing/2014/main" id="{35EE1E91-CEDB-4B30-9B21-3743CDB4D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Magnitude persistence is modest—and different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60048C-412A-4DAD-943D-CBFA422CB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0">
            <a:extLst xmlns:a="http://schemas.openxmlformats.org/drawingml/2006/main">
              <a:ext uri="{FF2B5EF4-FFF2-40B4-BE49-F238E27FC236}">
                <a16:creationId xmlns:a16="http://schemas.microsoft.com/office/drawing/2014/main" id="{81D14FDE-48EA-4462-90E0-D7741C25D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10">
            <a:extLst xmlns:a="http://schemas.openxmlformats.org/drawingml/2006/main">
              <a:ext uri="{FF2B5EF4-FFF2-40B4-BE49-F238E27FC236}">
                <a16:creationId xmlns:a16="http://schemas.microsoft.com/office/drawing/2014/main" id="{CC0DEE07-9BBD-42F7-A366-FBFDE2A08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B6EAE5-9A3B-4831-A518-2BC1EB255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47800"/>
            <a:ext cx="8096250" cy="474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fd724018224152"/>
          <a:stretch xmlns:a="http://schemas.openxmlformats.org/drawingml/2006/main"/>
        </p:blipFill>
        <p:spPr>
          <a:xfrm xmlns:a="http://schemas.openxmlformats.org/drawingml/2006/main">
            <a:off x="342900" y="1458119"/>
            <a:ext cx="8096250" cy="4722813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D70912-AFA7-4777-B92E-0384D9D34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581150"/>
            <a:ext cx="27622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898846-1713-4B00-B11B-C6CA4C6CC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581150"/>
            <a:ext cx="762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6DE226-2BE8-4FE8-ABF8-EF99CFFEC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752600"/>
            <a:ext cx="2305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+0.107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CCCFCB-521D-4ED8-B91A-B3885201C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419350"/>
            <a:ext cx="2305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Pearson correlation of |r[t-1]| and |r[t]|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1EFCBD-B9ED-4C50-8E82-6B73D26F9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371850"/>
            <a:ext cx="2362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95% block interval</a:t>
            </a:r>
          </a:p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+0.033 to +0.168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F3178D-BD60-4112-9050-39949302A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286250"/>
            <a:ext cx="2362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A399B8-7059-4CEF-8F2B-1A634DBCD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5339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Caution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0EC0EC-804C-451F-B37D-6CBD9395B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953000"/>
            <a:ext cx="23622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369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The decile pattern is not monotonic; rank correlation is only +0.053 and its interval crosses zero. This is a clue about turbulence—not direction.</a:t>
            </a:r>
          </a:p>
        </p:txBody>
      </p:sp>
    </p:spTree>
    <p:extLst>
      <p:ext uri="{BB962C8B-B14F-4D97-AF65-F5344CB8AC3E}">
        <p14:creationId xmlns:p14="http://schemas.microsoft.com/office/powerpoint/2010/main" val="188006652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survives this first measurement pass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SIGNED RETURN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79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No measurable adjacent-session continuation or reversal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Pearson -0.021; direction difference -0.7 pp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PATH SHAPE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9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ER20 usefully describes trend versus chop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Direction-agnostic, lagging, and flickery near transitions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RETURN MAGNITUDE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A modest persistence clue remains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Absolute-return Pearson +0.107; non-monotonic diagnostic pattern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Next narrow question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Does yesterday's return magnitude forecast tomorrow's magnitude on a separately frozen surface?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C51E6-6E84-4C1E-8D3E-0D1B2ADE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HORIZON GRID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BD659-315B-4902-8A62-88F3460E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076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if one session is simply</a:t>
            </a:r>
          </a:p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too noisy?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8F8D12-F796-4339-A513-DF003E6E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45830B-E6EE-4175-94D1-A484215C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923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728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Aggregate the past. Aggregate the future. Keep the boundary clean.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3AAD9-855C-47E7-9BA0-F94B71F3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19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Predeclared prior and forward horizons: 1, 2, 3, 4, 5, 10, 15, 20, and 25 sessions. No cell becomes a strategy.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6E2559-6393-4E7F-A448-E0578397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8024806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ection-3">
            <a:extLst xmlns:a="http://schemas.openxmlformats.org/drawingml/2006/main">
              <a:ext uri="{FF2B5EF4-FFF2-40B4-BE49-F238E27FC236}">
                <a16:creationId xmlns:a16="http://schemas.microsoft.com/office/drawing/2014/main" id="{D21E8F50-BA1C-4536-B715-AAD5A74E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622D00AB-54E7-40F8-BC73-9A3D2344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 fixed 9 x 9 surface tests aggregation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977435-894D-461F-A4F7-CD91DF8A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3">
            <a:extLst xmlns:a="http://schemas.openxmlformats.org/drawingml/2006/main">
              <a:ext uri="{FF2B5EF4-FFF2-40B4-BE49-F238E27FC236}">
                <a16:creationId xmlns:a16="http://schemas.microsoft.com/office/drawing/2014/main" id="{FC53CCFE-82C8-49A0-BC48-206B3BC8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3">
            <a:extLst xmlns:a="http://schemas.openxmlformats.org/drawingml/2006/main">
              <a:ext uri="{FF2B5EF4-FFF2-40B4-BE49-F238E27FC236}">
                <a16:creationId xmlns:a16="http://schemas.microsoft.com/office/drawing/2014/main" id="{B9F045FD-2505-4635-89F0-EDCD31EF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1133C9-969B-4370-A80C-D9B73CA5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5429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R-(p)  versus  R+(f)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D8EB97-B391-424E-82EB-0DEEC881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24150"/>
            <a:ext cx="5048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The prior window ends at the anchor close. The forward window begins after it—no return interval appears on both sides.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D10794-EB76-4BB0-B74E-31375B66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49530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834C39-6D46-429B-A2ED-F97A068A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3D83BD-5D8C-4BCB-B02F-81EB7416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67200"/>
            <a:ext cx="449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81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88569D-B256-4A8E-9334-C068F398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33950"/>
            <a:ext cx="4495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predeclared horizon pairs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9CAED-155E-4498-A477-F11A6F4A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boundaries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D8E2E5-6744-4962-977E-E85B4891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860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Asset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D2958-8D30-49E2-9398-075A839B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TSLA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F0B4C3-3792-489F-A37E-FD53597F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432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68646-6439-4EB2-88F0-0C08EDC1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76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Bars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E87A9A-C6B3-4232-84C2-9C442CAD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765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Alpaca SIP adjusted daily close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822C36-1982-4EF0-A9F3-89DAA8EA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337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A764C4-9BB1-4E82-A1F0-6E930868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Horizons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A04E11-771F-482D-97D0-41D18323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671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1, 2, 3, 4, 5, 10, 15, 20, 25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EA1D46-2EB0-459D-9313-BA82DEAD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D0A15B-41F8-429C-8446-F9003B5B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57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Sample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3F5128-0043-4265-B48A-E7E4E9B6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576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2018-01-02 through 2023-12-29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B63F79-B572-4EF7-8C82-E4140C6E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148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8FD0A4-5938-4ECC-AC99-49139123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482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Uncertainty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292260-C22B-4C56-9ED9-C8744785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482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Overlap-aware Newey-West / HAC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617A11-8542-47F5-AD42-16C68CB8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054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258514-91F0-4BFE-BE7D-A95A1C82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387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Multiplicity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3C58E3-8C22-4D23-8076-93E173576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387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BH-FDR plus Bonferroni across 81 cells</a:t>
            </a:r>
          </a:p>
        </p:txBody>
      </p:sp>
    </p:spTree>
    <p:extLst>
      <p:ext uri="{BB962C8B-B14F-4D97-AF65-F5344CB8AC3E}">
        <p14:creationId xmlns:p14="http://schemas.microsoft.com/office/powerpoint/2010/main" val="139728336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Aggregation reveals a weak 5–10-session ridge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Pearson correlation matrix; no BH-FDR q-value is below 0.05.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1578dd46bb40a0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ction-7">
            <a:extLst xmlns:a="http://schemas.openxmlformats.org/drawingml/2006/main">
              <a:ext uri="{FF2B5EF4-FFF2-40B4-BE49-F238E27FC236}">
                <a16:creationId xmlns:a16="http://schemas.microsoft.com/office/drawing/2014/main" id="{BAC8373F-594E-467B-A8F8-56439CEB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7592E6E5-EA60-427F-BAB4-42C154D8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ridge is weak and statistically unresolved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52E1AC-5CE8-4847-87B1-81C28A4E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7">
            <a:extLst xmlns:a="http://schemas.openxmlformats.org/drawingml/2006/main">
              <a:ext uri="{FF2B5EF4-FFF2-40B4-BE49-F238E27FC236}">
                <a16:creationId xmlns:a16="http://schemas.microsoft.com/office/drawing/2014/main" id="{4896B590-20BC-4B46-9282-D9F5A22A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7">
            <a:extLst xmlns:a="http://schemas.openxmlformats.org/drawingml/2006/main">
              <a:ext uri="{FF2B5EF4-FFF2-40B4-BE49-F238E27FC236}">
                <a16:creationId xmlns:a16="http://schemas.microsoft.com/office/drawing/2014/main" id="{1503EFAF-F487-4981-AFDC-23F1B41A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A770DD-55E6-42DB-942A-6938E642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28750"/>
            <a:ext cx="76771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5D1653-1738-47C8-BFA1-9C939028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911094-04B5-4E98-9749-4F832E6A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59A327-4374-4B4E-A3BA-F8E01649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764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+0.092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341AE3-547D-4111-ADFF-14E5545F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431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largest Pearson: 5 prior / 10 forward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7B1C2D-BD18-4B6C-8DC8-10694F2F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4050CC-5568-4F8A-B026-EC7B8ABE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2FF9D4-D051-476B-B68A-15DCA6B4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3147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38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[-0.003, +0.188]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DFBB46-08D6-4497-AA7C-C2049757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9814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95% overlap-aware HAC interval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D61CC-6E5E-49EC-A5F6-E861E856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35608E-4DDE-41BA-8DF2-831CF419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548"/>
          </a:solidFill>
          <a:ln xmlns:a="http://schemas.openxmlformats.org/drawingml/2006/main" w="0">
            <a:solidFill>
              <a:srgbClr val="27354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8A976D-39D1-4C6C-803F-0D3F8BAE4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530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0.852%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1E116E-13CC-4735-B31A-B5C1846B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6197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maximum R-squared across 81 cells</a:t>
            </a:r>
          </a:p>
        </p:txBody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68ddb48c43437b"/>
          <a:stretch xmlns:a="http://schemas.openxmlformats.org/drawingml/2006/main"/>
        </p:blipFill>
        <p:spPr>
          <a:xfrm xmlns:a="http://schemas.openxmlformats.org/drawingml/2006/main" flipH="0" flipV="0">
            <a:off x="609600" y="1428750"/>
            <a:ext cx="7143750" cy="476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17070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ection-8">
            <a:extLst xmlns:a="http://schemas.openxmlformats.org/drawingml/2006/main">
              <a:ext uri="{FF2B5EF4-FFF2-40B4-BE49-F238E27FC236}">
                <a16:creationId xmlns:a16="http://schemas.microsoft.com/office/drawing/2014/main" id="{FC99BA28-64AB-43E8-BE2C-0E05781D1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F56141AD-6D41-4B04-9458-2EFEFD0C2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Direction differences also fail the 81-cell scan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9B866E-F8EC-4822-8F75-8738AE574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8">
            <a:extLst xmlns:a="http://schemas.openxmlformats.org/drawingml/2006/main">
              <a:ext uri="{FF2B5EF4-FFF2-40B4-BE49-F238E27FC236}">
                <a16:creationId xmlns:a16="http://schemas.microsoft.com/office/drawing/2014/main" id="{60B7304E-4F61-40B8-9568-3A46AA065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8">
            <a:extLst xmlns:a="http://schemas.openxmlformats.org/drawingml/2006/main">
              <a:ext uri="{FF2B5EF4-FFF2-40B4-BE49-F238E27FC236}">
                <a16:creationId xmlns:a16="http://schemas.microsoft.com/office/drawing/2014/main" id="{A2FDA8B5-1121-4016-B34F-180F19066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59974A-1518-4857-8A86-2EF378C5D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466850"/>
            <a:ext cx="790575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58CD61-4D23-41B7-A67E-B50BFA3C5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69545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C5ED96-F82C-4CF6-8B54-F372EF0D3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6954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B25F14-87B4-4B00-A519-E1B45B89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866900"/>
            <a:ext cx="2400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+8.1 pp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2C7F50-11E4-4D99-A2B2-ED17DA9ED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533650"/>
            <a:ext cx="2400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largest raw-sign difference with p &lt; 0.05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03A160-F567-45AF-99BA-FC078BEAD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37185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71FC31-69FB-4152-99F6-85AD4E4D1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3718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D9501F-EB23-41C7-BC9F-0DCAF5ED8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543300"/>
            <a:ext cx="2400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0 / 81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5E9C93-AD93-49F0-B4EC-ABFC15BEE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210050"/>
            <a:ext cx="2400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direction cells with BH-FDR q &lt; 0.05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17DD6F-8CEE-4A90-8BD6-690A4FB48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219700"/>
            <a:ext cx="266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Best raw direction p = 0.025 at 10 prior / 3 forward.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BH q = 0.554; nested horizons share data.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70d1dff826462a"/>
          <a:stretch xmlns:a="http://schemas.openxmlformats.org/drawingml/2006/main"/>
        </p:blipFill>
        <p:spPr>
          <a:xfrm xmlns:a="http://schemas.openxmlformats.org/drawingml/2006/main" flipH="0" flipV="0">
            <a:off x="381000" y="1494631"/>
            <a:ext cx="7905750" cy="461168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04363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survives the aggregation pass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GRID PATTERN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5036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A coherent positive ridge appears near 5–10 sessions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Max Pearson +0.092 at 5 prior / 10 forward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UNCERTAINTY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7621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Every signed-return interval still includes zero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0/81 BH-FDR or Bonferroni passes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DIRECTION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5494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Probability shifts are larger but not multiplicity-stable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Best raw p=0.025; BH q=0.554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Next narrow question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Does the 5–10-session ridge deserve one frozen replication, or does this descriptive lane stop here?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C51E6-6E84-4C1E-8D3E-0D1B2ADE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REGIME CONDITIONING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BD659-315B-4902-8A62-88F3460E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076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if aggregation mixes</a:t>
            </a:r>
          </a:p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incompatible path states?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8F8D12-F796-4339-A513-DF003E6E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45830B-E6EE-4175-94D1-A484215C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923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Use the ER20 color already known at the anchor close.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3AAD9-855C-47E7-9BA0-F94B71F3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19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Red and green inherit the prior POC's fixed 20-session metric and 0.30 cutoff. No threshold search.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6E2559-6393-4E7F-A448-E0578397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8024806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ection-3">
            <a:extLst xmlns:a="http://schemas.openxmlformats.org/drawingml/2006/main">
              <a:ext uri="{FF2B5EF4-FFF2-40B4-BE49-F238E27FC236}">
                <a16:creationId xmlns:a16="http://schemas.microsoft.com/office/drawing/2014/main" id="{D21E8F50-BA1C-4536-B715-AAD5A74E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622D00AB-54E7-40F8-BC73-9A3D2344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Condition on ER20 before reading the future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977435-894D-461F-A4F7-CD91DF8A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3">
            <a:extLst xmlns:a="http://schemas.openxmlformats.org/drawingml/2006/main">
              <a:ext uri="{FF2B5EF4-FFF2-40B4-BE49-F238E27FC236}">
                <a16:creationId xmlns:a16="http://schemas.microsoft.com/office/drawing/2014/main" id="{FC53CCFE-82C8-49A0-BC48-206B3BC8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3">
            <a:extLst xmlns:a="http://schemas.openxmlformats.org/drawingml/2006/main">
              <a:ext uri="{FF2B5EF4-FFF2-40B4-BE49-F238E27FC236}">
                <a16:creationId xmlns:a16="http://schemas.microsoft.com/office/drawing/2014/main" id="{B9F045FD-2505-4635-89F0-EDCD31EF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1133C9-969B-4370-A80C-D9B73CA5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5429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State[t]  then  R+(f)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D8EB97-B391-424E-82EB-0DEEC881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24150"/>
            <a:ext cx="5048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The anchor is labeled from closes through t. Prior return ends at t; following return begins after 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D10794-EB76-4BB0-B74E-31375B66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49530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834C39-6D46-429B-A2ED-F97A068A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3D83BD-5D8C-4BCB-B02F-81EB7416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67200"/>
            <a:ext cx="449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88569D-B256-4A8E-9334-C068F398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33950"/>
            <a:ext cx="4495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fixed path states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9CAED-155E-4498-A477-F11A6F4A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conditioning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D8E2E5-6744-4962-977E-E85B4891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860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Metric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D2958-8D30-49E2-9398-075A839B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20-session log-price 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F0B4C3-3792-489F-A37E-FD53597F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432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68646-6439-4EB2-88F0-0C08EDC1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76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Red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E87A9A-C6B3-4232-84C2-9C442CAD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765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ER20 &lt; 0.30 (sideways)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822C36-1982-4EF0-A9F3-89DAA8EA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337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A764C4-9BB1-4E82-A1F0-6E930868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Green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A04E11-771F-482D-97D0-41D18323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671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ER20 &gt;= 0.30 (trending)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EA1D46-2EB0-459D-9313-BA82DEAD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D0A15B-41F8-429C-8446-F9003B5B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57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Timing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3F5128-0043-4265-B48A-E7E4E9B6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576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State known at anchor close 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B63F79-B572-4EF7-8C82-E4140C6E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148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8FD0A4-5938-4ECC-AC99-49139123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482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Surface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292260-C22B-4C56-9ED9-C8744785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482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Same 81 horizon pairs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617A11-8542-47F5-AD42-16C68CB8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054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258514-91F0-4BFE-BE7D-A95A1C82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387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Caution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3C58E3-8C22-4D23-8076-93E173576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387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ER20 and prior return share trailing price data</a:t>
            </a:r>
          </a:p>
        </p:txBody>
      </p:sp>
    </p:spTree>
    <p:extLst>
      <p:ext uri="{BB962C8B-B14F-4D97-AF65-F5344CB8AC3E}">
        <p14:creationId xmlns:p14="http://schemas.microsoft.com/office/powerpoint/2010/main" val="139728336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Red ER20 states expose a positive island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Red/sideways matrix; strongest cell +0.173 at 15 prior / 5 forward.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8eb01551f04684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Green ER20 states suppress the positive island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Green/trending matrix; long/long cells turn negative; strongest absolute cell -0.154.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22ca6706164d25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ction-7">
            <a:extLst xmlns:a="http://schemas.openxmlformats.org/drawingml/2006/main">
              <a:ext uri="{FF2B5EF4-FFF2-40B4-BE49-F238E27FC236}">
                <a16:creationId xmlns:a16="http://schemas.microsoft.com/office/drawing/2014/main" id="{BAC8373F-594E-467B-A8F8-56439CEB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7592E6E5-EA60-427F-BAB4-42C154D8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state split is coherent, but unresolved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52E1AC-5CE8-4847-87B1-81C28A4E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7">
            <a:extLst xmlns:a="http://schemas.openxmlformats.org/drawingml/2006/main">
              <a:ext uri="{FF2B5EF4-FFF2-40B4-BE49-F238E27FC236}">
                <a16:creationId xmlns:a16="http://schemas.microsoft.com/office/drawing/2014/main" id="{4896B590-20BC-4B46-9282-D9F5A22A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7">
            <a:extLst xmlns:a="http://schemas.openxmlformats.org/drawingml/2006/main">
              <a:ext uri="{FF2B5EF4-FFF2-40B4-BE49-F238E27FC236}">
                <a16:creationId xmlns:a16="http://schemas.microsoft.com/office/drawing/2014/main" id="{1503EFAF-F487-4981-AFDC-23F1B41A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A770DD-55E6-42DB-942A-6938E642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28750"/>
            <a:ext cx="76771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5D1653-1738-47C8-BFA1-9C939028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911094-04B5-4E98-9749-4F832E6A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59A327-4374-4B4E-A3BA-F8E01649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764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-0.231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341AE3-547D-4111-ADFF-14E5545F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431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largest correlation change: 15 prior / 5 forward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7B1C2D-BD18-4B6C-8DC8-10694F2F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4050CC-5568-4F8A-B026-EC7B8ABE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2FF9D4-D051-476B-B68A-15DCA6B4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3147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 = 0.029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DFBB46-08D6-4497-AA7C-C2049757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9814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raw HAC slope-interaction test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D61CC-6E5E-49EC-A5F6-E861E856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35608E-4DDE-41BA-8DF2-831CF419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548"/>
          </a:solidFill>
          <a:ln xmlns:a="http://schemas.openxmlformats.org/drawingml/2006/main" w="0">
            <a:solidFill>
              <a:srgbClr val="27354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8A976D-39D1-4C6C-803F-0D3F8BAE4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530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0 / 81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1E116E-13CC-4735-B31A-B5C1846B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6197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interaction cells with BH-FDR q &lt; 0.05</a:t>
            </a:r>
          </a:p>
        </p:txBody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4d603f35424cd0"/>
          <a:stretch xmlns:a="http://schemas.openxmlformats.org/drawingml/2006/main"/>
        </p:blipFill>
        <p:spPr>
          <a:xfrm xmlns:a="http://schemas.openxmlformats.org/drawingml/2006/main" flipH="0" flipV="0">
            <a:off x="609600" y="1428750"/>
            <a:ext cx="7143750" cy="476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170704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ER20 changes the map, but not the evidentiary stop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RED MAP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A positive island appears around 10–15 prior / 3–10 forward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Max +0.173 at 15 prior / 5 forward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GREEN MAP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The same island is muted or reversed; long/long turns negative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15 / 5 = -0.058; 25 / 25 = -0.154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UNCERTAINTY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No regime-specific or interaction result survives the scan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0/81 red; 0/81 green; 0/81 interactions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Next narrow question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Freeze 15-prior / 5-forward for separate replication—or first test a regime filter less entangled with prior return?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C51E6-6E84-4C1E-8D3E-0D1B2ADE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VOLATILITY CONDITIONING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BD659-315B-4902-8A62-88F3460E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076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Does movement capacity separate</a:t>
            </a:r>
          </a:p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continuation from reversal?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8F8D12-F796-4339-A513-DF003E6E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45830B-E6EE-4175-94D1-A484215C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923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643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Reuse the accepted ATR% state already known at the anchor close.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3AAD9-855C-47E7-9BA0-F94B71F3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19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LOW, MEDIUM, and HIGH inherit HYP-REG-01.1's fixed causal classifier. No threshold search.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6E2559-6393-4E7F-A448-E0578397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80248067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ection-3">
            <a:extLst xmlns:a="http://schemas.openxmlformats.org/drawingml/2006/main">
              <a:ext uri="{FF2B5EF4-FFF2-40B4-BE49-F238E27FC236}">
                <a16:creationId xmlns:a16="http://schemas.microsoft.com/office/drawing/2014/main" id="{D21E8F50-BA1C-4536-B715-AAD5A74E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622D00AB-54E7-40F8-BC73-9A3D2344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639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Condition on accepted ATR% before reading the future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977435-894D-461F-A4F7-CD91DF8A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3">
            <a:extLst xmlns:a="http://schemas.openxmlformats.org/drawingml/2006/main">
              <a:ext uri="{FF2B5EF4-FFF2-40B4-BE49-F238E27FC236}">
                <a16:creationId xmlns:a16="http://schemas.microsoft.com/office/drawing/2014/main" id="{FC53CCFE-82C8-49A0-BC48-206B3BC8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3">
            <a:extLst xmlns:a="http://schemas.openxmlformats.org/drawingml/2006/main">
              <a:ext uri="{FF2B5EF4-FFF2-40B4-BE49-F238E27FC236}">
                <a16:creationId xmlns:a16="http://schemas.microsoft.com/office/drawing/2014/main" id="{B9F045FD-2505-4635-89F0-EDCD31EF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1133C9-969B-4370-A80C-D9B73CA5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5429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State[t]  then  R+(f)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D8EB97-B391-424E-82EB-0DEEC881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24150"/>
            <a:ext cx="5048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ATR% state is assigned at anchor close t. Prior return ends at t; following return begins after t. It measures capacity—not direction.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D10794-EB76-4BB0-B74E-31375B66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49530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834C39-6D46-429B-A2ED-F97A068A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3D83BD-5D8C-4BCB-B02F-81EB7416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67200"/>
            <a:ext cx="449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88569D-B256-4A8E-9334-C068F398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33950"/>
            <a:ext cx="4495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accepted volatility states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9CAED-155E-4498-A477-F11A6F4A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conditioning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D8E2E5-6744-4962-977E-E85B4891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860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Metric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D2958-8D30-49E2-9398-075A839B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Wilder ATR14 / close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F0B4C3-3792-489F-A37E-FD53597F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432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68646-6439-4EB2-88F0-0C08EDC1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76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Memory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E87A9A-C6B3-4232-84C2-9C442CAD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765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Prior 252 completed sessions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822C36-1982-4EF0-A9F3-89DAA8EA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337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A764C4-9BB1-4E82-A1F0-6E930868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States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A04E11-771F-482D-97D0-41D18323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671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LOW / MEDIUM / HIGH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EA1D46-2EB0-459D-9313-BA82DEAD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D0A15B-41F8-429C-8446-F9003B5B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57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Hysteresis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3F5128-0043-4265-B48A-E7E4E9B6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576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30/40 and 60/70 gates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B63F79-B572-4EF7-8C82-E4140C6E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148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8FD0A4-5938-4ECC-AC99-49139123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482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Timing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292260-C22B-4C56-9ED9-C8744785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482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Known at anchor close 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617A11-8542-47F5-AD42-16C68CB8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054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258514-91F0-4BFE-BE7D-A95A1C82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387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Surface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3C58E3-8C22-4D23-8076-93E173576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387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Same 81 horizon pairs</a:t>
            </a:r>
          </a:p>
        </p:txBody>
      </p:sp>
    </p:spTree>
    <p:extLst>
      <p:ext uri="{BB962C8B-B14F-4D97-AF65-F5344CB8AC3E}">
        <p14:creationId xmlns:p14="http://schemas.microsoft.com/office/powerpoint/2010/main" val="139728336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ection-5">
            <a:extLst xmlns:a="http://schemas.openxmlformats.org/drawingml/2006/main">
              <a:ext uri="{FF2B5EF4-FFF2-40B4-BE49-F238E27FC236}">
                <a16:creationId xmlns:a16="http://schemas.microsoft.com/office/drawing/2014/main" id="{7D217279-BBB9-4442-BD43-E35AFD380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ACF70291-6FC2-4F25-8EF7-C5343297C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ATR% shows movement capacity—not direction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8E3755-2109-4A95-AAD7-09D4B54CD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5">
            <a:extLst xmlns:a="http://schemas.openxmlformats.org/drawingml/2006/main">
              <a:ext uri="{FF2B5EF4-FFF2-40B4-BE49-F238E27FC236}">
                <a16:creationId xmlns:a16="http://schemas.microsoft.com/office/drawing/2014/main" id="{3D616FCB-FD1B-4926-8056-5988E7D3F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5">
            <a:extLst xmlns:a="http://schemas.openxmlformats.org/drawingml/2006/main">
              <a:ext uri="{FF2B5EF4-FFF2-40B4-BE49-F238E27FC236}">
                <a16:creationId xmlns:a16="http://schemas.microsoft.com/office/drawing/2014/main" id="{7E3BECCF-F54F-4D27-BB58-7ED627475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6C60D3-C5F7-4C39-991D-FB86EB756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381125"/>
            <a:ext cx="8572500" cy="481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B493DE-9AA4-4FF1-8BE2-28F352E8F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5811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How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6B1C17-35A6-411A-A67C-A4A72F63E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038350"/>
            <a:ext cx="24003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Accepted state uses Wilder ATR14 / close, ranked against the prior 252 completed ATR% observations.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6C96CB-CC04-417E-9ADF-6D8B711B5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4099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Read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2CCFF6-12C5-4DA0-960D-99266D204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867150"/>
            <a:ext cx="24003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Blue marks LOW, gold MEDIUM, and red HIGH movement capacity. Price and the causal trailing ATR% rank are shown together.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CC076C-14CF-4CC6-9A1F-9DE2F654A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715000"/>
            <a:ext cx="2400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B62FEB-4FFC-484D-8635-E7157EEBB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867400"/>
            <a:ext cx="2400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Descriptive state—not a future-return claim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cb688cf08e4e65"/>
          <a:stretch xmlns:a="http://schemas.openxmlformats.org/drawingml/2006/main"/>
        </p:blipFill>
        <p:spPr>
          <a:xfrm xmlns:a="http://schemas.openxmlformats.org/drawingml/2006/main" flipH="0" flipV="0">
            <a:off x="325967" y="1381125"/>
            <a:ext cx="8568267" cy="48196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191340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LOW ATR% is broadly positive, but no cell passes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All 81 cells positive; strongest +0.198 at 10 prior / 25 forward; 0/81 within-state BH passes.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75905a5c0845b0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973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MEDIUM ATR% contains the stable continuation island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All 81 cells positive; 21/81 within-state BH passes; strict survivors cluster at 5–10 prior / 2–3 forward.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c05996bc8e4b93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HIGH ATR% flips the surface toward reversal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77/81 cells negative; strongest -0.301 at 20 prior / 20 forward; 0/81 within-state BH passes.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f0e8b2d9294041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ction-7">
            <a:extLst xmlns:a="http://schemas.openxmlformats.org/drawingml/2006/main">
              <a:ext uri="{FF2B5EF4-FFF2-40B4-BE49-F238E27FC236}">
                <a16:creationId xmlns:a16="http://schemas.microsoft.com/office/drawing/2014/main" id="{BAC8373F-594E-467B-A8F8-56439CEB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7592E6E5-EA60-427F-BAB4-42C154D8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HIGH and MEDIUM contain direct state differences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52E1AC-5CE8-4847-87B1-81C28A4E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7">
            <a:extLst xmlns:a="http://schemas.openxmlformats.org/drawingml/2006/main">
              <a:ext uri="{FF2B5EF4-FFF2-40B4-BE49-F238E27FC236}">
                <a16:creationId xmlns:a16="http://schemas.microsoft.com/office/drawing/2014/main" id="{4896B590-20BC-4B46-9282-D9F5A22A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7">
            <a:extLst xmlns:a="http://schemas.openxmlformats.org/drawingml/2006/main">
              <a:ext uri="{FF2B5EF4-FFF2-40B4-BE49-F238E27FC236}">
                <a16:creationId xmlns:a16="http://schemas.microsoft.com/office/drawing/2014/main" id="{1503EFAF-F487-4981-AFDC-23F1B41A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A770DD-55E6-42DB-942A-6938E642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28750"/>
            <a:ext cx="76771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5D1653-1738-47C8-BFA1-9C939028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911094-04B5-4E98-9749-4F832E6A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59A327-4374-4B4E-A3BA-F8E01649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764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-0.548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341AE3-547D-4111-ADFF-14E5545F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431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largest correlation change: 25 prior / 15 forward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7B1C2D-BD18-4B6C-8DC8-10694F2F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4050CC-5568-4F8A-B026-EC7B8ABE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2FF9D4-D051-476B-B68A-15DCA6B4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3147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q = 0.038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DFBB46-08D6-4497-AA7C-C2049757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9814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within HIGH-minus-MEDIUM family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D61CC-6E5E-49EC-A5F6-E861E856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35608E-4DDE-41BA-8DF2-831CF419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548"/>
          </a:solidFill>
          <a:ln xmlns:a="http://schemas.openxmlformats.org/drawingml/2006/main" w="0">
            <a:solidFill>
              <a:srgbClr val="27354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8A976D-39D1-4C6C-803F-0D3F8BAE4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530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3 / 243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1E116E-13CC-4735-B31A-B5C1846B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6197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pairwise cells surviving strict omnibus BH</a:t>
            </a:r>
          </a:p>
        </p:txBody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bb86f2b93044e4"/>
          <a:stretch xmlns:a="http://schemas.openxmlformats.org/drawingml/2006/main"/>
        </p:blipFill>
        <p:spPr>
          <a:xfrm xmlns:a="http://schemas.openxmlformats.org/drawingml/2006/main" flipH="0" flipV="0">
            <a:off x="609600" y="1428750"/>
            <a:ext cx="7143750" cy="476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170704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8324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ATR% changes the map—and leaves a replication candidate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LOW MAP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All cells are positive, but none survive the within-state scan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Max +0.198; 0/81 BH passes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MEDIUM MAP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A continuation island survives around 5–10 prior / 2–3 forward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21/81 family; 3 strict omnibus passes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HIGH MAP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The surface broadly reverses, especially at longer horizons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77/81 negative; max |r| = 0.301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4715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Bookmarked next questions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Replicate ATR% on a frozen sample. Then split green ER20 into up/down direction and test external market context.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C51E6-6E84-4C1E-8D3E-0D1B2ADE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EXTERNAL MARKET CONTEXT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BD659-315B-4902-8A62-88F3460E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076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Can SPY movement capacity organize TSLA returns?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8F8D12-F796-4339-A513-DF003E6E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45830B-E6EE-4175-94D1-A484215C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923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881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Use SPY's accepted ATR% state at the same TSLA anchor close.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3AAD9-855C-47E7-9BA0-F94B71F3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19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TSLA, sample, return windows, and uncertainty stay fixed. No threshold search.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6E2559-6393-4E7F-A448-E0578397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80248067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ection-3">
            <a:extLst xmlns:a="http://schemas.openxmlformats.org/drawingml/2006/main">
              <a:ext uri="{FF2B5EF4-FFF2-40B4-BE49-F238E27FC236}">
                <a16:creationId xmlns:a16="http://schemas.microsoft.com/office/drawing/2014/main" id="{D21E8F50-BA1C-4536-B715-AAD5A74E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622D00AB-54E7-40F8-BC73-9A3D2344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424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Condition on SPY ATR% before reading TSLA's future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977435-894D-461F-A4F7-CD91DF8A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3">
            <a:extLst xmlns:a="http://schemas.openxmlformats.org/drawingml/2006/main">
              <a:ext uri="{FF2B5EF4-FFF2-40B4-BE49-F238E27FC236}">
                <a16:creationId xmlns:a16="http://schemas.microsoft.com/office/drawing/2014/main" id="{FC53CCFE-82C8-49A0-BC48-206B3BC8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3">
            <a:extLst xmlns:a="http://schemas.openxmlformats.org/drawingml/2006/main">
              <a:ext uri="{FF2B5EF4-FFF2-40B4-BE49-F238E27FC236}">
                <a16:creationId xmlns:a16="http://schemas.microsoft.com/office/drawing/2014/main" id="{B9F045FD-2505-4635-89F0-EDCD31EF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1133C9-969B-4370-A80C-D9B73CA5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5429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SPY state  →  TSLA future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D8EB97-B391-424E-82EB-0DEEC881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24150"/>
            <a:ext cx="5048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SPY labels anchor close t. TSLA prior return ends at t; TSLA following return begins after 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D10794-EB76-4BB0-B74E-31375B66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49530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834C39-6D46-429B-A2ED-F97A068A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3D83BD-5D8C-4BCB-B02F-81EB7416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67200"/>
            <a:ext cx="449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88569D-B256-4A8E-9334-C068F398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33950"/>
            <a:ext cx="4495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accepted external states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9CAED-155E-4498-A477-F11A6F4A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conditioning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D8E2E5-6744-4962-977E-E85B4891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860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Metric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D2958-8D30-49E2-9398-075A839B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Wilder ATR14 / SPY close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F0B4C3-3792-489F-A37E-FD53597F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432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68646-6439-4EB2-88F0-0C08EDC1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76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Memory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E87A9A-C6B3-4232-84C2-9C442CAD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765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Prior 252 completed sessions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822C36-1982-4EF0-A9F3-89DAA8EA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337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A764C4-9BB1-4E82-A1F0-6E930868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States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A04E11-771F-482D-97D0-41D18323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671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LOW / MEDIUM / HIGH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EA1D46-2EB0-459D-9313-BA82DEAD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D0A15B-41F8-429C-8446-F9003B5B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57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Hysteresis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3F5128-0043-4265-B48A-E7E4E9B6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576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30/40 and 60/70 gates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B63F79-B572-4EF7-8C82-E4140C6E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148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8FD0A4-5938-4ECC-AC99-49139123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482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Timing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292260-C22B-4C56-9ED9-C8744785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482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Known at anchor close 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617A11-8542-47F5-AD42-16C68CB8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054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258514-91F0-4BFE-BE7D-A95A1C82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387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Surface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3C58E3-8C22-4D23-8076-93E173576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387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Same 81 horizon pairs</a:t>
            </a:r>
          </a:p>
        </p:txBody>
      </p:sp>
    </p:spTree>
    <p:extLst>
      <p:ext uri="{BB962C8B-B14F-4D97-AF65-F5344CB8AC3E}">
        <p14:creationId xmlns:p14="http://schemas.microsoft.com/office/powerpoint/2010/main" val="1397283360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ection-5">
            <a:extLst xmlns:a="http://schemas.openxmlformats.org/drawingml/2006/main">
              <a:ext uri="{FF2B5EF4-FFF2-40B4-BE49-F238E27FC236}">
                <a16:creationId xmlns:a16="http://schemas.microsoft.com/office/drawing/2014/main" id="{7D217279-BBB9-4442-BD43-E35AFD380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ACF70291-6FC2-4F25-8EF7-C5343297C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SPY ATR% supplies context—not TSLA direction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8E3755-2109-4A95-AAD7-09D4B54CD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5">
            <a:extLst xmlns:a="http://schemas.openxmlformats.org/drawingml/2006/main">
              <a:ext uri="{FF2B5EF4-FFF2-40B4-BE49-F238E27FC236}">
                <a16:creationId xmlns:a16="http://schemas.microsoft.com/office/drawing/2014/main" id="{3D616FCB-FD1B-4926-8056-5988E7D3F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5">
            <a:extLst xmlns:a="http://schemas.openxmlformats.org/drawingml/2006/main">
              <a:ext uri="{FF2B5EF4-FFF2-40B4-BE49-F238E27FC236}">
                <a16:creationId xmlns:a16="http://schemas.microsoft.com/office/drawing/2014/main" id="{7E3BECCF-F54F-4D27-BB58-7ED627475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6C60D3-C5F7-4C39-991D-FB86EB756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381125"/>
            <a:ext cx="8572500" cy="481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B493DE-9AA4-4FF1-8BE2-28F352E8F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5811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How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6B1C17-35A6-411A-A67C-A4A72F63E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038350"/>
            <a:ext cx="24003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Accepted SPY state uses Wilder ATR14 / close, ranked against the prior 252 completed SPY ATR% observations.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6C96CB-CC04-417E-9ADF-6D8B711B5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4099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Read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2CCFF6-12C5-4DA0-960D-99266D204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867150"/>
            <a:ext cx="24003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Bands are SPY states over TSLA price. Blue LOW and red HIGH describe movement capacity—not bullish or bearish calls.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CC076C-14CF-4CC6-9A1F-9DE2F654A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715000"/>
            <a:ext cx="2400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B62FEB-4FFC-484D-8635-E7157EEBB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867400"/>
            <a:ext cx="2400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Descriptive state—not a future-return claim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b9f657c9134c9f"/>
          <a:stretch xmlns:a="http://schemas.openxmlformats.org/drawingml/2006/main"/>
        </p:blipFill>
        <p:spPr>
          <a:xfrm xmlns:a="http://schemas.openxmlformats.org/drawingml/2006/main" flipH="0" flipV="0">
            <a:off x="325967" y="1381125"/>
            <a:ext cx="8568267" cy="48196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191340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SPY LOW reveals TSLA continuation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72/81 cells positive; strongest +0.228 at 5 prior / 10 forward; 0/81 within-state BH passes.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f2b917ce894b65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SPY MEDIUM turns long-forward returns negative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67/81 cells negative; strongest -0.191 at 15 prior / 20 forward; 0/81 within-state BH passes.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c029ed2fe84955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SPY HIGH leaves a mild TSLA surface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60/81 cells positive; max |r| = 0.103 at 25 prior / 15 forward; 0/81 within-state BH passes.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5ad257bc454044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ction-7">
            <a:extLst xmlns:a="http://schemas.openxmlformats.org/drawingml/2006/main">
              <a:ext uri="{FF2B5EF4-FFF2-40B4-BE49-F238E27FC236}">
                <a16:creationId xmlns:a16="http://schemas.microsoft.com/office/drawing/2014/main" id="{BAC8373F-594E-467B-A8F8-56439CEB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7592E6E5-EA60-427F-BAB4-42C154D8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SPY LOW versus MEDIUM is the clearest contrast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52E1AC-5CE8-4847-87B1-81C28A4E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7">
            <a:extLst xmlns:a="http://schemas.openxmlformats.org/drawingml/2006/main">
              <a:ext uri="{FF2B5EF4-FFF2-40B4-BE49-F238E27FC236}">
                <a16:creationId xmlns:a16="http://schemas.microsoft.com/office/drawing/2014/main" id="{4896B590-20BC-4B46-9282-D9F5A22A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7">
            <a:extLst xmlns:a="http://schemas.openxmlformats.org/drawingml/2006/main">
              <a:ext uri="{FF2B5EF4-FFF2-40B4-BE49-F238E27FC236}">
                <a16:creationId xmlns:a16="http://schemas.microsoft.com/office/drawing/2014/main" id="{1503EFAF-F487-4981-AFDC-23F1B41A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A770DD-55E6-42DB-942A-6938E642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28750"/>
            <a:ext cx="76771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5D1653-1738-47C8-BFA1-9C939028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911094-04B5-4E98-9749-4F832E6A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59A327-4374-4B4E-A3BA-F8E01649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764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-0.389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341AE3-547D-4111-ADFF-14E5545F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431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largest correlation change: 5 prior / 15 forward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7B1C2D-BD18-4B6C-8DC8-10694F2F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4050CC-5568-4F8A-B026-EC7B8ABE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2FF9D4-D051-476B-B68A-15DCA6B4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3147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q = 0.016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DFBB46-08D6-4497-AA7C-C2049757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9814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within MEDIUM-minus-LOW family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D61CC-6E5E-49EC-A5F6-E861E856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35608E-4DDE-41BA-8DF2-831CF419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548"/>
          </a:solidFill>
          <a:ln xmlns:a="http://schemas.openxmlformats.org/drawingml/2006/main" w="0">
            <a:solidFill>
              <a:srgbClr val="27354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8A976D-39D1-4C6C-803F-0D3F8BAE4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530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0 / 243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1E116E-13CC-4735-B31A-B5C1846B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6197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pairwise cells surviving strict omnibus BH</a:t>
            </a:r>
          </a:p>
        </p:txBody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f36352ad9c4879"/>
          <a:stretch xmlns:a="http://schemas.openxmlformats.org/drawingml/2006/main"/>
        </p:blipFill>
        <p:spPr>
          <a:xfrm xmlns:a="http://schemas.openxmlformats.org/drawingml/2006/main" flipH="0" flipV="0">
            <a:off x="609600" y="1428750"/>
            <a:ext cx="7143750" cy="476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170704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007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External context changes the map—but confirms no edge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SPY LOW MAP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501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Broadly preserves the positive continuation geometry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72/81 same sign vs own LOW; mean r +0.091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SPY MEDIUM MAP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568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Reverses the own-asset MEDIUM interpretation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14/81 same sign; mean r -0.058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SPY HIGH MAP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048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Mild and mixed—not broad TSLA reversal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25/81 same sign; mean r +0.031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What this earns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External context is a promising descriptive axis. Next: brainstorm cross-sectional cues; keep replication and strategy gates closed.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theme/theme1.xml><?xml version="1.0" encoding="utf-8"?>
<a:theme xmlns:a="http://schemas.openxmlformats.org/drawingml/2006/main" name="ChatGPT">
  <a:themeElements>
    <a:clrScheme name="TSLA Descriptive Microscope">
      <a:dk1>
        <a:srgbClr val="000000"/>
      </a:dk1>
      <a:lt1>
        <a:srgbClr val="FFFFFF"/>
      </a:lt1>
      <a:dk2>
        <a:srgbClr val="273548"/>
      </a:dk2>
      <a:lt2>
        <a:srgbClr val="EDEDED"/>
      </a:lt2>
      <a:accent1>
        <a:srgbClr val="3D8DFF"/>
      </a:accent1>
      <a:accent2>
        <a:srgbClr val="2A9D6F"/>
      </a:accent2>
      <a:accent3>
        <a:srgbClr val="E45756"/>
      </a:accent3>
      <a:accent4>
        <a:srgbClr val="6DCBF4"/>
      </a:accent4>
      <a:accent5>
        <a:srgbClr val="7C3AED"/>
      </a:accent5>
      <a:accent6>
        <a:srgbClr val="F59E0B"/>
      </a:accent6>
      <a:hlink>
        <a:srgbClr val="3D8DFF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SLA Descriptive Microscop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2026-08-26T00:33:55.0520000Z</dcterms:created>
  <dcterms:modified xsi:type="dcterms:W3CDTF">2026-08-26T00:33:55.0530000Z</dcterms:modified>
</coreProperties>
</file>