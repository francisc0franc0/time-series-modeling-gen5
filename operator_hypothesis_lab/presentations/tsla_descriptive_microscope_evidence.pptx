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ee1a8c425540df" /><Relationship Type="http://schemas.openxmlformats.org/officeDocument/2006/relationships/extended-properties" Target="/docProps/app.xml" Id="Rc66586e935944d99" /><Relationship Type="http://schemas.openxmlformats.org/officeDocument/2006/relationships/officeDocument" Target="/ppt/presentation.xml" Id="Rd96cbe22574c4ede" /></Relationships>
</file>

<file path=ppt/presentation.xml><?xml version="1.0" encoding="utf-8"?>
<p:presentation xmlns:p="http://schemas.openxmlformats.org/presentationml/2006/main">
  <p:sldMasterIdLst>
    <p:sldMasterId xmlns:r="http://schemas.openxmlformats.org/officeDocument/2006/relationships" id="2147483648" r:id="R7817733fda034187"/>
  </p:sldMasterIdLst>
  <p:notesMasterIdLst>
    <p:notesMasterId xmlns:r="http://schemas.openxmlformats.org/officeDocument/2006/relationships" r:id="R85526feaa82d43b5"/>
  </p:notesMasterIdLst>
  <p:sldIdLst>
    <p:sldId xmlns:r="http://schemas.openxmlformats.org/officeDocument/2006/relationships" id="256" r:id="R2b76e902326e43ed"/>
    <p:sldId xmlns:r="http://schemas.openxmlformats.org/officeDocument/2006/relationships" id="257" r:id="Rd537788a6870414b"/>
    <p:sldId xmlns:r="http://schemas.openxmlformats.org/officeDocument/2006/relationships" id="258" r:id="R19aaab3ab992475e"/>
    <p:sldId xmlns:r="http://schemas.openxmlformats.org/officeDocument/2006/relationships" id="259" r:id="Ra402eb7f0d2343c7"/>
    <p:sldId xmlns:r="http://schemas.openxmlformats.org/officeDocument/2006/relationships" id="260" r:id="R205f5311a24241ae"/>
    <p:sldId xmlns:r="http://schemas.openxmlformats.org/officeDocument/2006/relationships" id="261" r:id="Rfd178f18d241413e"/>
    <p:sldId xmlns:r="http://schemas.openxmlformats.org/officeDocument/2006/relationships" id="262" r:id="R829431ec076946b1"/>
    <p:sldId xmlns:r="http://schemas.openxmlformats.org/officeDocument/2006/relationships" id="263" r:id="Rff9b8266ab624c2b"/>
    <p:sldId xmlns:r="http://schemas.openxmlformats.org/officeDocument/2006/relationships" id="264" r:id="R7547cc34e77a49a8"/>
    <p:sldId xmlns:r="http://schemas.openxmlformats.org/officeDocument/2006/relationships" id="265" r:id="R7ba7d8f86ea24704"/>
    <p:sldId xmlns:r="http://schemas.openxmlformats.org/officeDocument/2006/relationships" id="266" r:id="R7a0c17721a314c73"/>
    <p:sldId xmlns:r="http://schemas.openxmlformats.org/officeDocument/2006/relationships" id="267" r:id="R6d26b6940d6e4e88"/>
    <p:sldId xmlns:r="http://schemas.openxmlformats.org/officeDocument/2006/relationships" id="268" r:id="Rce74927ce60a4db6"/>
    <p:sldId xmlns:r="http://schemas.openxmlformats.org/officeDocument/2006/relationships" id="269" r:id="Rfbebdd7011f9487c"/>
    <p:sldId xmlns:r="http://schemas.openxmlformats.org/officeDocument/2006/relationships" id="270" r:id="Rdb3292c6557049f3"/>
    <p:sldId xmlns:r="http://schemas.openxmlformats.org/officeDocument/2006/relationships" id="271" r:id="R71a510f924e646b3"/>
    <p:sldId xmlns:r="http://schemas.openxmlformats.org/officeDocument/2006/relationships" id="272" r:id="R8ead8e47473e4cce"/>
    <p:sldId xmlns:r="http://schemas.openxmlformats.org/officeDocument/2006/relationships" id="273" r:id="R7f181387ffd34f8c"/>
    <p:sldId xmlns:r="http://schemas.openxmlformats.org/officeDocument/2006/relationships" id="274" r:id="R492c34f36d4846b3"/>
    <p:sldId xmlns:r="http://schemas.openxmlformats.org/officeDocument/2006/relationships" id="275" r:id="R49922587e2524ccb"/>
    <p:sldId xmlns:r="http://schemas.openxmlformats.org/officeDocument/2006/relationships" id="276" r:id="Rbb56cbd6f6f64e41"/>
    <p:sldId xmlns:r="http://schemas.openxmlformats.org/officeDocument/2006/relationships" id="277" r:id="R6f83fff04c454aa9"/>
    <p:sldId xmlns:r="http://schemas.openxmlformats.org/officeDocument/2006/relationships" id="278" r:id="R87180b3c34b048b0"/>
    <p:sldId xmlns:r="http://schemas.openxmlformats.org/officeDocument/2006/relationships" id="279" r:id="Rd7fb79a511b24b76"/>
    <p:sldId xmlns:r="http://schemas.openxmlformats.org/officeDocument/2006/relationships" id="280" r:id="R341fc3ae62df431d"/>
    <p:sldId xmlns:r="http://schemas.openxmlformats.org/officeDocument/2006/relationships" id="281" r:id="R255fadd040784f5c"/>
    <p:sldId xmlns:r="http://schemas.openxmlformats.org/officeDocument/2006/relationships" id="282" r:id="Rc63b3245828e45ba"/>
    <p:sldId xmlns:r="http://schemas.openxmlformats.org/officeDocument/2006/relationships" id="283" r:id="R4efb89753f894257"/>
    <p:sldId xmlns:r="http://schemas.openxmlformats.org/officeDocument/2006/relationships" id="284" r:id="R08e1f49e5b49447c"/>
    <p:sldId xmlns:r="http://schemas.openxmlformats.org/officeDocument/2006/relationships" id="285" r:id="R5c5ae60859774f1d"/>
    <p:sldId xmlns:r="http://schemas.openxmlformats.org/officeDocument/2006/relationships" id="286" r:id="Rc675551c0c3041b4"/>
    <p:sldId xmlns:r="http://schemas.openxmlformats.org/officeDocument/2006/relationships" id="287" r:id="R72e25e16188d45ad"/>
    <p:sldId xmlns:r="http://schemas.openxmlformats.org/officeDocument/2006/relationships" id="288" r:id="Rf054d5370fc74f1c"/>
    <p:sldId xmlns:r="http://schemas.openxmlformats.org/officeDocument/2006/relationships" id="289" r:id="R435b545e14ea4151"/>
    <p:sldId xmlns:r="http://schemas.openxmlformats.org/officeDocument/2006/relationships" id="290" r:id="R9b48f6aa26444efd"/>
    <p:sldId xmlns:r="http://schemas.openxmlformats.org/officeDocument/2006/relationships" id="291" r:id="Rbfc3296caaa74472"/>
    <p:sldId xmlns:r="http://schemas.openxmlformats.org/officeDocument/2006/relationships" id="292" r:id="R635d0e1259264b14"/>
    <p:sldId xmlns:r="http://schemas.openxmlformats.org/officeDocument/2006/relationships" id="293" r:id="R81b2203568494260"/>
    <p:sldId xmlns:r="http://schemas.openxmlformats.org/officeDocument/2006/relationships" id="294" r:id="Re3eb2677a94c4c21"/>
    <p:sldId xmlns:r="http://schemas.openxmlformats.org/officeDocument/2006/relationships" id="295" r:id="R6b91981b36ea40b4"/>
    <p:sldId xmlns:r="http://schemas.openxmlformats.org/officeDocument/2006/relationships" id="296" r:id="Rf420ea089e1c430d"/>
    <p:sldId xmlns:r="http://schemas.openxmlformats.org/officeDocument/2006/relationships" id="297" r:id="Rccc47205aca24e22"/>
    <p:sldId xmlns:r="http://schemas.openxmlformats.org/officeDocument/2006/relationships" id="298" r:id="R58e880250d904596"/>
    <p:sldId xmlns:r="http://schemas.openxmlformats.org/officeDocument/2006/relationships" id="299" r:id="R50e2264a54ab47b6"/>
    <p:sldId xmlns:r="http://schemas.openxmlformats.org/officeDocument/2006/relationships" id="300" r:id="Rfdc8cfe0a82e47d1"/>
    <p:sldId xmlns:r="http://schemas.openxmlformats.org/officeDocument/2006/relationships" id="301" r:id="Rba69c092392243e1"/>
    <p:sldId xmlns:r="http://schemas.openxmlformats.org/officeDocument/2006/relationships" id="302" r:id="R620e1f89f48e49c0"/>
    <p:sldId xmlns:r="http://schemas.openxmlformats.org/officeDocument/2006/relationships" id="303" r:id="R356d6784af7247c2"/>
    <p:sldId xmlns:r="http://schemas.openxmlformats.org/officeDocument/2006/relationships" id="304" r:id="Ra1e24b74531d4b87"/>
    <p:sldId xmlns:r="http://schemas.openxmlformats.org/officeDocument/2006/relationships" id="305" r:id="R7e8bc4b24e284946"/>
    <p:sldId xmlns:r="http://schemas.openxmlformats.org/officeDocument/2006/relationships" id="306" r:id="R33af63d381bf456e"/>
    <p:sldId xmlns:r="http://schemas.openxmlformats.org/officeDocument/2006/relationships" id="307" r:id="R483eb16861584546"/>
    <p:sldId xmlns:r="http://schemas.openxmlformats.org/officeDocument/2006/relationships" id="308" r:id="R9b92a5386d8f47c8"/>
    <p:sldId xmlns:r="http://schemas.openxmlformats.org/officeDocument/2006/relationships" id="309" r:id="R7cb19624983e432d"/>
    <p:sldId xmlns:r="http://schemas.openxmlformats.org/officeDocument/2006/relationships" id="310" r:id="R36b6d72fcc604911"/>
    <p:sldId xmlns:r="http://schemas.openxmlformats.org/officeDocument/2006/relationships" id="311" r:id="R96a9853c2ade4b54"/>
    <p:sldId xmlns:r="http://schemas.openxmlformats.org/officeDocument/2006/relationships" id="312" r:id="Re8b8981562e44648"/>
    <p:sldId xmlns:r="http://schemas.openxmlformats.org/officeDocument/2006/relationships" id="313" r:id="Rcab5c66a8a1745db"/>
    <p:sldId xmlns:r="http://schemas.openxmlformats.org/officeDocument/2006/relationships" id="314" r:id="R65f20dee86b84dbb"/>
    <p:sldId xmlns:r="http://schemas.openxmlformats.org/officeDocument/2006/relationships" id="315" r:id="R7c3851e8259f4b5f"/>
    <p:sldId xmlns:r="http://schemas.openxmlformats.org/officeDocument/2006/relationships" id="316" r:id="R3129bb04c3fc4be5"/>
    <p:sldId xmlns:r="http://schemas.openxmlformats.org/officeDocument/2006/relationships" id="317" r:id="R63583e90a9094e7e"/>
    <p:sldId xmlns:r="http://schemas.openxmlformats.org/officeDocument/2006/relationships" id="318" r:id="R35fc4b2f6ed64e95"/>
    <p:sldId xmlns:r="http://schemas.openxmlformats.org/officeDocument/2006/relationships" id="319" r:id="R90de4c8ef39a4e71"/>
    <p:sldId xmlns:r="http://schemas.openxmlformats.org/officeDocument/2006/relationships" id="320" r:id="R93dadfd029f54cbd"/>
    <p:sldId xmlns:r="http://schemas.openxmlformats.org/officeDocument/2006/relationships" id="321" r:id="R08df6d5b8abb41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bb7a1a9dcd74f9d" /><Relationship Type="http://schemas.openxmlformats.org/officeDocument/2006/relationships/slideMaster" Target="/ppt/slideMasters/slideMaster1.xml" Id="R7817733fda034187" /><Relationship Type="http://schemas.openxmlformats.org/officeDocument/2006/relationships/notesMaster" Target="/ppt/notesMasters/notesMaster1.xml" Id="R85526feaa82d43b5" /><Relationship Type="http://schemas.openxmlformats.org/officeDocument/2006/relationships/presProps" Target="/ppt/presProps.xml" Id="R9699843029b640e5" /><Relationship Type="http://schemas.openxmlformats.org/officeDocument/2006/relationships/tableStyles" Target="/ppt/tableStyles.xml" Id="Rca06a61f0b95493b" /><Relationship Type="http://schemas.openxmlformats.org/officeDocument/2006/relationships/slide" Target="/ppt/slides/slide1.xml" Id="R2b76e902326e43ed" /><Relationship Type="http://schemas.openxmlformats.org/officeDocument/2006/relationships/slide" Target="/ppt/slides/slide2.xml" Id="Rd537788a6870414b" /><Relationship Type="http://schemas.openxmlformats.org/officeDocument/2006/relationships/slide" Target="/ppt/slides/slide3.xml" Id="R19aaab3ab992475e" /><Relationship Type="http://schemas.openxmlformats.org/officeDocument/2006/relationships/slide" Target="/ppt/slides/slide4.xml" Id="Ra402eb7f0d2343c7" /><Relationship Type="http://schemas.openxmlformats.org/officeDocument/2006/relationships/slide" Target="/ppt/slides/slide5.xml" Id="R205f5311a24241ae" /><Relationship Type="http://schemas.openxmlformats.org/officeDocument/2006/relationships/slide" Target="/ppt/slides/slide6.xml" Id="Rfd178f18d241413e" /><Relationship Type="http://schemas.openxmlformats.org/officeDocument/2006/relationships/slide" Target="/ppt/slides/slide7.xml" Id="R829431ec076946b1" /><Relationship Type="http://schemas.openxmlformats.org/officeDocument/2006/relationships/slide" Target="/ppt/slides/slide8.xml" Id="Rff9b8266ab624c2b" /><Relationship Type="http://schemas.openxmlformats.org/officeDocument/2006/relationships/slide" Target="/ppt/slides/slide9.xml" Id="R7547cc34e77a49a8" /><Relationship Type="http://schemas.openxmlformats.org/officeDocument/2006/relationships/slide" Target="/ppt/slides/slide10.xml" Id="R7ba7d8f86ea24704" /><Relationship Type="http://schemas.openxmlformats.org/officeDocument/2006/relationships/slide" Target="/ppt/slides/slide11.xml" Id="R7a0c17721a314c73" /><Relationship Type="http://schemas.openxmlformats.org/officeDocument/2006/relationships/slide" Target="/ppt/slides/slide12.xml" Id="R6d26b6940d6e4e88" /><Relationship Type="http://schemas.openxmlformats.org/officeDocument/2006/relationships/slide" Target="/ppt/slides/slide13.xml" Id="Rce74927ce60a4db6" /><Relationship Type="http://schemas.openxmlformats.org/officeDocument/2006/relationships/slide" Target="/ppt/slides/slide14.xml" Id="Rfbebdd7011f9487c" /><Relationship Type="http://schemas.openxmlformats.org/officeDocument/2006/relationships/slide" Target="/ppt/slides/slide15.xml" Id="Rdb3292c6557049f3" /><Relationship Type="http://schemas.openxmlformats.org/officeDocument/2006/relationships/slide" Target="/ppt/slides/slide16.xml" Id="R71a510f924e646b3" /><Relationship Type="http://schemas.openxmlformats.org/officeDocument/2006/relationships/slide" Target="/ppt/slides/slide17.xml" Id="R8ead8e47473e4cce" /><Relationship Type="http://schemas.openxmlformats.org/officeDocument/2006/relationships/slide" Target="/ppt/slides/slide18.xml" Id="R7f181387ffd34f8c" /><Relationship Type="http://schemas.openxmlformats.org/officeDocument/2006/relationships/slide" Target="/ppt/slides/slide19.xml" Id="R492c34f36d4846b3" /><Relationship Type="http://schemas.openxmlformats.org/officeDocument/2006/relationships/slide" Target="/ppt/slides/slide20.xml" Id="R49922587e2524ccb" /><Relationship Type="http://schemas.openxmlformats.org/officeDocument/2006/relationships/slide" Target="/ppt/slides/slide21.xml" Id="Rbb56cbd6f6f64e41" /><Relationship Type="http://schemas.openxmlformats.org/officeDocument/2006/relationships/slide" Target="/ppt/slides/slide22.xml" Id="R6f83fff04c454aa9" /><Relationship Type="http://schemas.openxmlformats.org/officeDocument/2006/relationships/slide" Target="/ppt/slides/slide23.xml" Id="R87180b3c34b048b0" /><Relationship Type="http://schemas.openxmlformats.org/officeDocument/2006/relationships/slide" Target="/ppt/slides/slide24.xml" Id="Rd7fb79a511b24b76" /><Relationship Type="http://schemas.openxmlformats.org/officeDocument/2006/relationships/slide" Target="/ppt/slides/slide25.xml" Id="R341fc3ae62df431d" /><Relationship Type="http://schemas.openxmlformats.org/officeDocument/2006/relationships/slide" Target="/ppt/slides/slide26.xml" Id="R255fadd040784f5c" /><Relationship Type="http://schemas.openxmlformats.org/officeDocument/2006/relationships/slide" Target="/ppt/slides/slide27.xml" Id="Rc63b3245828e45ba" /><Relationship Type="http://schemas.openxmlformats.org/officeDocument/2006/relationships/slide" Target="/ppt/slides/slide28.xml" Id="R4efb89753f894257" /><Relationship Type="http://schemas.openxmlformats.org/officeDocument/2006/relationships/slide" Target="/ppt/slides/slide29.xml" Id="R08e1f49e5b49447c" /><Relationship Type="http://schemas.openxmlformats.org/officeDocument/2006/relationships/slide" Target="/ppt/slides/slide30.xml" Id="R5c5ae60859774f1d" /><Relationship Type="http://schemas.openxmlformats.org/officeDocument/2006/relationships/slide" Target="/ppt/slides/slide31.xml" Id="Rc675551c0c3041b4" /><Relationship Type="http://schemas.openxmlformats.org/officeDocument/2006/relationships/slide" Target="/ppt/slides/slide32.xml" Id="R72e25e16188d45ad" /><Relationship Type="http://schemas.openxmlformats.org/officeDocument/2006/relationships/slide" Target="/ppt/slides/slide33.xml" Id="Rf054d5370fc74f1c" /><Relationship Type="http://schemas.openxmlformats.org/officeDocument/2006/relationships/slide" Target="/ppt/slides/slide34.xml" Id="R435b545e14ea4151" /><Relationship Type="http://schemas.openxmlformats.org/officeDocument/2006/relationships/slide" Target="/ppt/slides/slide35.xml" Id="R9b48f6aa26444efd" /><Relationship Type="http://schemas.openxmlformats.org/officeDocument/2006/relationships/slide" Target="/ppt/slides/slide36.xml" Id="Rbfc3296caaa74472" /><Relationship Type="http://schemas.openxmlformats.org/officeDocument/2006/relationships/slide" Target="/ppt/slides/slide37.xml" Id="R635d0e1259264b14" /><Relationship Type="http://schemas.openxmlformats.org/officeDocument/2006/relationships/slide" Target="/ppt/slides/slide38.xml" Id="R81b2203568494260" /><Relationship Type="http://schemas.openxmlformats.org/officeDocument/2006/relationships/slide" Target="/ppt/slides/slide39.xml" Id="Re3eb2677a94c4c21" /><Relationship Type="http://schemas.openxmlformats.org/officeDocument/2006/relationships/slide" Target="/ppt/slides/slide40.xml" Id="R6b91981b36ea40b4" /><Relationship Type="http://schemas.openxmlformats.org/officeDocument/2006/relationships/slide" Target="/ppt/slides/slide41.xml" Id="Rf420ea089e1c430d" /><Relationship Type="http://schemas.openxmlformats.org/officeDocument/2006/relationships/slide" Target="/ppt/slides/slide42.xml" Id="Rccc47205aca24e22" /><Relationship Type="http://schemas.openxmlformats.org/officeDocument/2006/relationships/slide" Target="/ppt/slides/slide43.xml" Id="R58e880250d904596" /><Relationship Type="http://schemas.openxmlformats.org/officeDocument/2006/relationships/slide" Target="/ppt/slides/slide44.xml" Id="R50e2264a54ab47b6" /><Relationship Type="http://schemas.openxmlformats.org/officeDocument/2006/relationships/slide" Target="/ppt/slides/slide45.xml" Id="Rfdc8cfe0a82e47d1" /><Relationship Type="http://schemas.openxmlformats.org/officeDocument/2006/relationships/slide" Target="/ppt/slides/slide46.xml" Id="Rba69c092392243e1" /><Relationship Type="http://schemas.openxmlformats.org/officeDocument/2006/relationships/slide" Target="/ppt/slides/slide47.xml" Id="R620e1f89f48e49c0" /><Relationship Type="http://schemas.openxmlformats.org/officeDocument/2006/relationships/slide" Target="/ppt/slides/slide48.xml" Id="R356d6784af7247c2" /><Relationship Type="http://schemas.openxmlformats.org/officeDocument/2006/relationships/slide" Target="/ppt/slides/slide49.xml" Id="Ra1e24b74531d4b87" /><Relationship Type="http://schemas.openxmlformats.org/officeDocument/2006/relationships/slide" Target="/ppt/slides/slide50.xml" Id="R7e8bc4b24e284946" /><Relationship Type="http://schemas.openxmlformats.org/officeDocument/2006/relationships/slide" Target="/ppt/slides/slide51.xml" Id="R33af63d381bf456e" /><Relationship Type="http://schemas.openxmlformats.org/officeDocument/2006/relationships/slide" Target="/ppt/slides/slide52.xml" Id="R483eb16861584546" /><Relationship Type="http://schemas.openxmlformats.org/officeDocument/2006/relationships/slide" Target="/ppt/slides/slide53.xml" Id="R9b92a5386d8f47c8" /><Relationship Type="http://schemas.openxmlformats.org/officeDocument/2006/relationships/slide" Target="/ppt/slides/slide54.xml" Id="R7cb19624983e432d" /><Relationship Type="http://schemas.openxmlformats.org/officeDocument/2006/relationships/slide" Target="/ppt/slides/slide55.xml" Id="R36b6d72fcc604911" /><Relationship Type="http://schemas.openxmlformats.org/officeDocument/2006/relationships/slide" Target="/ppt/slides/slide56.xml" Id="R96a9853c2ade4b54" /><Relationship Type="http://schemas.openxmlformats.org/officeDocument/2006/relationships/slide" Target="/ppt/slides/slide57.xml" Id="Re8b8981562e44648" /><Relationship Type="http://schemas.openxmlformats.org/officeDocument/2006/relationships/slide" Target="/ppt/slides/slide58.xml" Id="Rcab5c66a8a1745db" /><Relationship Type="http://schemas.openxmlformats.org/officeDocument/2006/relationships/slide" Target="/ppt/slides/slide59.xml" Id="R65f20dee86b84dbb" /><Relationship Type="http://schemas.openxmlformats.org/officeDocument/2006/relationships/slide" Target="/ppt/slides/slide60.xml" Id="R7c3851e8259f4b5f" /><Relationship Type="http://schemas.openxmlformats.org/officeDocument/2006/relationships/slide" Target="/ppt/slides/slide61.xml" Id="R3129bb04c3fc4be5" /><Relationship Type="http://schemas.openxmlformats.org/officeDocument/2006/relationships/slide" Target="/ppt/slides/slide62.xml" Id="R63583e90a9094e7e" /><Relationship Type="http://schemas.openxmlformats.org/officeDocument/2006/relationships/slide" Target="/ppt/slides/slide63.xml" Id="R35fc4b2f6ed64e95" /><Relationship Type="http://schemas.openxmlformats.org/officeDocument/2006/relationships/slide" Target="/ppt/slides/slide64.xml" Id="R90de4c8ef39a4e71" /><Relationship Type="http://schemas.openxmlformats.org/officeDocument/2006/relationships/slide" Target="/ppt/slides/slide65.xml" Id="R93dadfd029f54cbd" /><Relationship Type="http://schemas.openxmlformats.org/officeDocument/2006/relationships/slide" Target="/ppt/slides/slide66.xml" Id="R08df6d5b8abb41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a1d232ca78246f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ec6029ec01d40bb" /><Relationship Type="http://schemas.openxmlformats.org/officeDocument/2006/relationships/notesMaster" Target="/ppt/notesMasters/notesMaster1.xml" Id="R0005f1340aae4c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d138e54fdd4f1d" /><Relationship Type="http://schemas.openxmlformats.org/officeDocument/2006/relationships/notesMaster" Target="/ppt/notesMasters/notesMaster1.xml" Id="R37468a014d3b43d6" /></Relationships>
</file>

<file path=ppt/notesSlides/_rels/notesSlide3.xml.rels>&#65279;<?xml version="1.0" encoding="utf-8"?><Relationships xmlns="http://schemas.openxmlformats.org/package/2006/relationships"><Relationship Type="http://schemas.openxmlformats.org/officeDocument/2006/relationships/slide" Target="/ppt/slides/slide3.xml" Id="R79970f1cf63d4e02" /><Relationship Type="http://schemas.openxmlformats.org/officeDocument/2006/relationships/notesMaster" Target="/ppt/notesMasters/notesMaster1.xml" Id="R613f6ac25c4d453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850a97104e466f" /><Relationship Type="http://schemas.openxmlformats.org/officeDocument/2006/relationships/notesMaster" Target="/ppt/notesMasters/notesMaster1.xml" Id="Rd3870a32452648ce" /></Relationships>
</file>

<file path=ppt/notesSlides/_rels/notesSlide5.xml.rels>&#65279;<?xml version="1.0" encoding="utf-8"?><Relationships xmlns="http://schemas.openxmlformats.org/package/2006/relationships"><Relationship Type="http://schemas.openxmlformats.org/officeDocument/2006/relationships/slide" Target="/ppt/slides/slide5.xml" Id="R96fefe0dbd6b4a04" /><Relationship Type="http://schemas.openxmlformats.org/officeDocument/2006/relationships/notesMaster" Target="/ppt/notesMasters/notesMaster1.xml" Id="R960bfb2c74d54039" /></Relationships>
</file>

<file path=ppt/notesSlides/_rels/notesSlide6.xml.rels>&#65279;<?xml version="1.0" encoding="utf-8"?><Relationships xmlns="http://schemas.openxmlformats.org/package/2006/relationships"><Relationship Type="http://schemas.openxmlformats.org/officeDocument/2006/relationships/slide" Target="/ppt/slides/slide6.xml" Id="R96fa9d3e602149c0" /><Relationship Type="http://schemas.openxmlformats.org/officeDocument/2006/relationships/notesMaster" Target="/ppt/notesMasters/notesMaster1.xml" Id="R328353a1dd974f63" /></Relationships>
</file>

<file path=ppt/notesSlides/_rels/notesSlide7.xml.rels>&#65279;<?xml version="1.0" encoding="utf-8"?><Relationships xmlns="http://schemas.openxmlformats.org/package/2006/relationships"><Relationship Type="http://schemas.openxmlformats.org/officeDocument/2006/relationships/slide" Target="/ppt/slides/slide7.xml" Id="Rd0e97f0dbb254268" /><Relationship Type="http://schemas.openxmlformats.org/officeDocument/2006/relationships/notesMaster" Target="/ppt/notesMasters/notesMaster1.xml" Id="Re4c24cade5814d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5c66cb09764384" /><Relationship Type="http://schemas.openxmlformats.org/officeDocument/2006/relationships/notesMaster" Target="/ppt/notesMasters/notesMaster1.xml" Id="R25ba10648f3541bf" /></Relationships>
</file>

<file path=ppt/notesSlides/_rels/notesSlide9.xml.rels>&#65279;<?xml version="1.0" encoding="utf-8"?><Relationships xmlns="http://schemas.openxmlformats.org/package/2006/relationships"><Relationship Type="http://schemas.openxmlformats.org/officeDocument/2006/relationships/slide" Target="/ppt/slides/slide9.xml" Id="R13333a1014164c30" /><Relationship Type="http://schemas.openxmlformats.org/officeDocument/2006/relationships/notesMaster" Target="/ppt/notesMasters/notesMaster1.xml" Id="R440efc81501d409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ad412bf63254765" /><Relationship Type="http://schemas.openxmlformats.org/officeDocument/2006/relationships/notesMaster" Target="/ppt/notesMasters/notesMaster1.xml" Id="R50bfb1e2108941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5b7677fae954fef" /><Relationship Type="http://schemas.openxmlformats.org/officeDocument/2006/relationships/notesMaster" Target="/ppt/notesMasters/notesMaster1.xml" Id="R7c1384a83c7d426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29cc8f756a646f8" /><Relationship Type="http://schemas.openxmlformats.org/officeDocument/2006/relationships/notesMaster" Target="/ppt/notesMasters/notesMaster1.xml" Id="Re410a1fdb89142b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2386c40eb948b8" /><Relationship Type="http://schemas.openxmlformats.org/officeDocument/2006/relationships/notesMaster" Target="/ppt/notesMasters/notesMaster1.xml" Id="R31271b5adff8452b"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649910f29344a8d" /><Relationship Type="http://schemas.openxmlformats.org/officeDocument/2006/relationships/notesMaster" Target="/ppt/notesMasters/notesMaster1.xml" Id="Rf334a3a46c4b496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5de95366d2d4c99" /><Relationship Type="http://schemas.openxmlformats.org/officeDocument/2006/relationships/notesMaster" Target="/ppt/notesMasters/notesMaster1.xml" Id="Rae8a86a51d5e46f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3aca8111fa44887" /><Relationship Type="http://schemas.openxmlformats.org/officeDocument/2006/relationships/notesMaster" Target="/ppt/notesMasters/notesMaster1.xml" Id="R1cf7930eda6c4c3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c3da56af1014d1f" /><Relationship Type="http://schemas.openxmlformats.org/officeDocument/2006/relationships/notesMaster" Target="/ppt/notesMasters/notesMaster1.xml" Id="R578a0099b6ad464e"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1c45768a6694245" /><Relationship Type="http://schemas.openxmlformats.org/officeDocument/2006/relationships/notesMaster" Target="/ppt/notesMasters/notesMaster1.xml" Id="R30b7f8ae5e584a1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f4b1805eddb4f00" /><Relationship Type="http://schemas.openxmlformats.org/officeDocument/2006/relationships/notesMaster" Target="/ppt/notesMasters/notesMaster1.xml" Id="R139d0db57cb44d8e"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d3599c7807e477b" /><Relationship Type="http://schemas.openxmlformats.org/officeDocument/2006/relationships/notesMaster" Target="/ppt/notesMasters/notesMaster1.xml" Id="R5a0536a4f32348e2"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0a4fdb22919c4dfd" /><Relationship Type="http://schemas.openxmlformats.org/officeDocument/2006/relationships/notesMaster" Target="/ppt/notesMasters/notesMaster1.xml" Id="Re7a9dea3940845c1"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5a2c3db2836a4556" /><Relationship Type="http://schemas.openxmlformats.org/officeDocument/2006/relationships/notesMaster" Target="/ppt/notesMasters/notesMaster1.xml" Id="Re713d132ed3b4222"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a290ba63c774af7" /><Relationship Type="http://schemas.openxmlformats.org/officeDocument/2006/relationships/notesMaster" Target="/ppt/notesMasters/notesMaster1.xml" Id="Rf1d1fa79436c443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584e3ee8c7140a2" /><Relationship Type="http://schemas.openxmlformats.org/officeDocument/2006/relationships/notesMaster" Target="/ppt/notesMasters/notesMaster1.xml" Id="R697d5f4cd228401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045a6dc6d8d48e4" /><Relationship Type="http://schemas.openxmlformats.org/officeDocument/2006/relationships/notesMaster" Target="/ppt/notesMasters/notesMaster1.xml" Id="R020bb1332b054341"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9f1ce8ee5ee4a0d" /><Relationship Type="http://schemas.openxmlformats.org/officeDocument/2006/relationships/notesMaster" Target="/ppt/notesMasters/notesMaster1.xml" Id="R1eedf3290f544d3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c29d43ba3dc44c9" /><Relationship Type="http://schemas.openxmlformats.org/officeDocument/2006/relationships/notesMaster" Target="/ppt/notesMasters/notesMaster1.xml" Id="Rbcfdf7d3e65e4b6b"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b2d6e15458b4020" /><Relationship Type="http://schemas.openxmlformats.org/officeDocument/2006/relationships/notesMaster" Target="/ppt/notesMasters/notesMaster1.xml" Id="R27fe061c5bb345d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5deb8c0bca14f90" /><Relationship Type="http://schemas.openxmlformats.org/officeDocument/2006/relationships/notesMaster" Target="/ppt/notesMasters/notesMaster1.xml" Id="Rc56b242b2c654ce4"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e412646b00264b69" /><Relationship Type="http://schemas.openxmlformats.org/officeDocument/2006/relationships/notesMaster" Target="/ppt/notesMasters/notesMaster1.xml" Id="R6bd99a0ad9df4e80"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3420fc50fb54b1d" /><Relationship Type="http://schemas.openxmlformats.org/officeDocument/2006/relationships/notesMaster" Target="/ppt/notesMasters/notesMaster1.xml" Id="R997945b529e846a8"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ca73749225234b66" /><Relationship Type="http://schemas.openxmlformats.org/officeDocument/2006/relationships/notesMaster" Target="/ppt/notesMasters/notesMaster1.xml" Id="R4d9d22203e0c4b77"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63bab1f37534bef" /><Relationship Type="http://schemas.openxmlformats.org/officeDocument/2006/relationships/notesMaster" Target="/ppt/notesMasters/notesMaster1.xml" Id="Rcf13738d126d4b4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f25709dd55a64bc5" /><Relationship Type="http://schemas.openxmlformats.org/officeDocument/2006/relationships/notesMaster" Target="/ppt/notesMasters/notesMaster1.xml" Id="R6be63b978eef4a84"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9223a02252148cd" /><Relationship Type="http://schemas.openxmlformats.org/officeDocument/2006/relationships/notesMaster" Target="/ppt/notesMasters/notesMaster1.xml" Id="R395576a18c5749b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cc3ecaafd97442fa" /><Relationship Type="http://schemas.openxmlformats.org/officeDocument/2006/relationships/notesMaster" Target="/ppt/notesMasters/notesMaster1.xml" Id="R425caf8d1fb64f08"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390e715bdd384d55" /><Relationship Type="http://schemas.openxmlformats.org/officeDocument/2006/relationships/notesMaster" Target="/ppt/notesMasters/notesMaster1.xml" Id="R4af580a6d63a469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cc1f6431e8a6484d" /><Relationship Type="http://schemas.openxmlformats.org/officeDocument/2006/relationships/notesMaster" Target="/ppt/notesMasters/notesMaster1.xml" Id="R3c9faa72f022454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8ac1710fd4be4903" /><Relationship Type="http://schemas.openxmlformats.org/officeDocument/2006/relationships/notesMaster" Target="/ppt/notesMasters/notesMaster1.xml" Id="R220bbf497eb742e1"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cb0ed216224e4314" /><Relationship Type="http://schemas.openxmlformats.org/officeDocument/2006/relationships/notesMaster" Target="/ppt/notesMasters/notesMaster1.xml" Id="R5b3fed8062c2442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313a2219c964608" /><Relationship Type="http://schemas.openxmlformats.org/officeDocument/2006/relationships/notesMaster" Target="/ppt/notesMasters/notesMaster1.xml" Id="R380777a9569747f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f0a098fff36c4e51" /><Relationship Type="http://schemas.openxmlformats.org/officeDocument/2006/relationships/notesMaster" Target="/ppt/notesMasters/notesMaster1.xml" Id="Rb9489775ac2b487f"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e1549d8266d54c96" /><Relationship Type="http://schemas.openxmlformats.org/officeDocument/2006/relationships/notesMaster" Target="/ppt/notesMasters/notesMaster1.xml" Id="R82dfdd48575c42d7"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292b7cdfdd64a8e" /><Relationship Type="http://schemas.openxmlformats.org/officeDocument/2006/relationships/notesMaster" Target="/ppt/notesMasters/notesMaster1.xml" Id="Rce62f15ea40644d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2c0cb4fe9224e39" /><Relationship Type="http://schemas.openxmlformats.org/officeDocument/2006/relationships/notesMaster" Target="/ppt/notesMasters/notesMaster1.xml" Id="Rb71298fac1cb4895"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417de0f04b64f8a" /><Relationship Type="http://schemas.openxmlformats.org/officeDocument/2006/relationships/notesMaster" Target="/ppt/notesMasters/notesMaster1.xml" Id="Rd4688bb7223b443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52c346e7dbab484d" /><Relationship Type="http://schemas.openxmlformats.org/officeDocument/2006/relationships/notesMaster" Target="/ppt/notesMasters/notesMaster1.xml" Id="R2103a76f1f2a4c9b"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0bba5bb823540c0" /><Relationship Type="http://schemas.openxmlformats.org/officeDocument/2006/relationships/notesMaster" Target="/ppt/notesMasters/notesMaster1.xml" Id="R97d41a3a971c426b"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8052301f32749b0" /><Relationship Type="http://schemas.openxmlformats.org/officeDocument/2006/relationships/notesMaster" Target="/ppt/notesMasters/notesMaster1.xml" Id="R901594858471411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1f4d6889f5849c6" /><Relationship Type="http://schemas.openxmlformats.org/officeDocument/2006/relationships/notesMaster" Target="/ppt/notesMasters/notesMaster1.xml" Id="Rdd4812c99dfc404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bb8419489944baf" /><Relationship Type="http://schemas.openxmlformats.org/officeDocument/2006/relationships/notesMaster" Target="/ppt/notesMasters/notesMaster1.xml" Id="R71e9a17ebe484fb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e39972467f764d14" /><Relationship Type="http://schemas.openxmlformats.org/officeDocument/2006/relationships/notesMaster" Target="/ppt/notesMasters/notesMaster1.xml" Id="R0c98f52d19a648b7"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beaf71c5d33444f" /><Relationship Type="http://schemas.openxmlformats.org/officeDocument/2006/relationships/notesMaster" Target="/ppt/notesMasters/notesMaster1.xml" Id="R93dfc16f33284f33"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cee43fa10dd4d2f" /><Relationship Type="http://schemas.openxmlformats.org/officeDocument/2006/relationships/notesMaster" Target="/ppt/notesMasters/notesMaster1.xml" Id="R3726e23e6b48424a"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8543fdd4f72d4baf" /><Relationship Type="http://schemas.openxmlformats.org/officeDocument/2006/relationships/notesMaster" Target="/ppt/notesMasters/notesMaster1.xml" Id="R81ff0017c50d462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4d48eae78f4845e2" /><Relationship Type="http://schemas.openxmlformats.org/officeDocument/2006/relationships/notesMaster" Target="/ppt/notesMasters/notesMaster1.xml" Id="R68d4d5b6bb00497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91a11ffe9764881" /><Relationship Type="http://schemas.openxmlformats.org/officeDocument/2006/relationships/notesMaster" Target="/ppt/notesMasters/notesMaster1.xml" Id="R131e776d15544b18"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b0e3463c12fb427d" /><Relationship Type="http://schemas.openxmlformats.org/officeDocument/2006/relationships/notesMaster" Target="/ppt/notesMasters/notesMaster1.xml" Id="Rce0f465085f34c47"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ad12358ff604849" /><Relationship Type="http://schemas.openxmlformats.org/officeDocument/2006/relationships/notesMaster" Target="/ppt/notesMasters/notesMaster1.xml" Id="R80ddbe25f3094158"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f3ee83e1c6ba4933" /><Relationship Type="http://schemas.openxmlformats.org/officeDocument/2006/relationships/notesMaster" Target="/ppt/notesMasters/notesMaster1.xml" Id="Rd0e873a7ca4941f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295f285cb5ee4721" /><Relationship Type="http://schemas.openxmlformats.org/officeDocument/2006/relationships/notesMaster" Target="/ppt/notesMasters/notesMaster1.xml" Id="R62a6da04073846a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0aa0caa8a1043d2" /><Relationship Type="http://schemas.openxmlformats.org/officeDocument/2006/relationships/notesMaster" Target="/ppt/notesMasters/notesMaster1.xml" Id="Rca1d98a1d5a84a33"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6471281519ae491a" /><Relationship Type="http://schemas.openxmlformats.org/officeDocument/2006/relationships/notesMaster" Target="/ppt/notesMasters/notesMaster1.xml" Id="Re4abb6b4c56f4c0b"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f54ef813cc9470b" /><Relationship Type="http://schemas.openxmlformats.org/officeDocument/2006/relationships/notesMaster" Target="/ppt/notesMasters/notesMaster1.xml" Id="R9c8903709b484193"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5445df6790847ca" /><Relationship Type="http://schemas.openxmlformats.org/officeDocument/2006/relationships/notesMaster" Target="/ppt/notesMasters/notesMaster1.xml" Id="R91a2322d82c54e19"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e76936580f2f4567" /><Relationship Type="http://schemas.openxmlformats.org/officeDocument/2006/relationships/notesMaster" Target="/ppt/notesMasters/notesMaster1.xml" Id="Rf7aabfa23735405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this as a running laboratory notebook, not a strategy pitch.</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learning objective is bottom-up hypothesis formation. The order is observation, definition, measurement, then falsification.</a:t>
            </a:r>
          </a:p>
          <a:p xmlns:a="http://schemas.openxmlformats.org/drawingml/2006/main">
            <a:r>
              <a:t/>
            </a:r>
          </a:p>
          <a:p xmlns:a="http://schemas.openxmlformats.org/drawingml/2006/main">
            <a:r>
              <a:t>[Sources]</a:t>
            </a:r>
          </a:p>
          <a:p xmlns:a="http://schemas.openxmlformats.org/drawingml/2006/main">
            <a:r>
              <a:t>- User-directed research workflow in this task</a:t>
            </a:r>
          </a:p>
          <a:p xmlns:a="http://schemas.openxmlformats.org/drawingml/2006/main">
            <a:r>
              <a:t>- docs/GEN5_1_POC_PROGRESS_LOG.md entries 186-188</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definition before showing any statistic. The sample is the exact scatterplot surface from the prior slice.</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runs/research_workbench/operator_hypothesis_lab/tsla_lagged_return_dependence_statistics_20260825/run_spec.csv</a:t>
            </a:r>
          </a:p>
          <a:p xmlns:a="http://schemas.openxmlformats.org/drawingml/2006/main">
            <a:r>
              <a:t>- runs/research_workbench/operator_hypothesis_lab/tsla_lagged_return_dependence_statistics_20260825/pair_checks.csv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eye sees a dense cloud around zero and observations in all four quadrants. This slide preserves the pre-statistics view.</a:t>
            </a:r>
          </a:p>
          <a:p xmlns:a="http://schemas.openxmlformats.org/drawingml/2006/main">
            <a:r>
              <a:t/>
            </a:r>
          </a:p>
          <a:p xmlns:a="http://schemas.openxmlformats.org/drawingml/2006/main">
            <a:r>
              <a:t>[Sources]</a:t>
            </a:r>
          </a:p>
          <a:p xmlns:a="http://schemas.openxmlformats.org/drawingml/2006/main">
            <a:r>
              <a:t>- runs/research_workbench/operator_hypothesis_lab/tsla_lagged_daily_return_scatter_20260824/visuals/tsla_t_minus_1_vs_t_daily_log_return_scatter.png</a:t>
            </a:r>
          </a:p>
          <a:p xmlns:a="http://schemas.openxmlformats.org/drawingml/2006/main">
            <a:r>
              <a:t>- operator_hypothesis_lab/docs/TSLA_LAGGED_DAILY_RETURN_SCATTER_2018_2023.md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ER20 asks whether the trailing path was efficient. It ignores bullish versus bearish direction and does not measure volatility.</a:t>
            </a:r>
          </a:p>
          <a:p xmlns:a="http://schemas.openxmlformats.org/drawingml/2006/main">
            <a:r>
              <a:t/>
            </a:r>
          </a:p>
          <a:p xmlns:a="http://schemas.openxmlformats.org/drawingml/2006/main">
            <a:r>
              <a:t>[Sources]</a:t>
            </a:r>
          </a:p>
          <a:p xmlns:a="http://schemas.openxmlformats.org/drawingml/2006/main">
            <a:r>
              <a:t>- runs/research_workbench/operator_hypothesis_lab/tsla_efficiency_ratio_regime_bands_20260824/visuals/tsla_er20_path_regime_bands.png</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primary estimand is frozen before reading the result: Pearson correlation, equivalently the OLS slope in r[t] = alpha + beta r[t-1] + error.</a:t>
            </a:r>
          </a:p>
          <a:p xmlns:a="http://schemas.openxmlformats.org/drawingml/2006/main">
            <a:r>
              <a:t/>
            </a:r>
          </a:p>
          <a:p xmlns:a="http://schemas.openxmlformats.org/drawingml/2006/main">
            <a:r>
              <a:t>[Sources]</a:t>
            </a:r>
          </a:p>
          <a:p xmlns:a="http://schemas.openxmlformats.org/drawingml/2006/main">
            <a:r>
              <a:t>- scripts/inspect/run_tsla_lagged_return_dependence_statistics.R</a:t>
            </a:r>
          </a:p>
          <a:p xmlns:a="http://schemas.openxmlformats.org/drawingml/2006/main">
            <a:r>
              <a:t>- runs/research_workbench/operator_hypothesis_lab/tsla_lagged_return_dependence_statistics_20260825/run_spec.csv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interval includes zero and the fitted line explains roughly four hundredths of one percent of next-day return variation. HAC slope p-value is 0.451.</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runs/research_workbench/operator_hypothesis_lab/tsla_lagged_return_dependence_statistics_20260825/visuals/tsla_signed_return_dependence_fitted_scatter.png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binary direction view reaches the same conclusion as the continuous-return view. The conditional probabilities are nearly identical and their difference interval crosses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runs/research_workbench/operator_hypothesis_lab/tsla_lagged_return_dependence_statistics_20260825/direction_transition_probabilities.csv</a:t>
            </a:r>
          </a:p>
          <a:p xmlns:a="http://schemas.openxmlformats.org/drawingml/2006/main">
            <a:r>
              <a:t>- runs/research_workbench/operator_hypothesis_lab/tsla_lagged_return_dependence_statistics_20260825/direction_transition_difference.csv</a:t>
            </a:r>
          </a:p>
          <a:p xmlns:a="http://schemas.openxmlformats.org/drawingml/2006/main">
            <a:r>
              <a:t>- runs/research_workbench/operator_hypothesis_lab/tsla_lagged_return_dependence_statistics_20260825/visuals/tsla_direction_transition_probabilities.png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Annual point estimates change sign, but none of the annual HAC intervals excludes zero. Rank correlation and the fixed winsor sensitivity are also near zero.</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runs/research_workbench/operator_hypothesis_lab/tsla_lagged_return_dependence_statistics_20260825/annual_stability.csv</a:t>
            </a:r>
          </a:p>
          <a:p xmlns:a="http://schemas.openxmlformats.org/drawingml/2006/main">
            <a:r>
              <a:t>- runs/research_workbench/operator_hypothesis_lab/tsla_lagged_return_dependence_statistics_20260825/outlier_sensitivity.csv</a:t>
            </a:r>
          </a:p>
          <a:p xmlns:a="http://schemas.openxmlformats.org/drawingml/2006/main">
            <a:r>
              <a:t>- runs/research_workbench/operator_hypothesis_lab/tsla_lagged_return_dependence_statistics_20260825/block_bootstrap_intervals.csv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Absolute and squared returns show positive linear dependence, but the equal-count deciles are jagged and the absolute-return rank interval includes zero. Treat this as modest magnitude persistence and a separate future question.</a:t>
            </a:r>
          </a:p>
          <a:p xmlns:a="http://schemas.openxmlformats.org/drawingml/2006/main">
            <a:r>
              <a:t/>
            </a:r>
          </a:p>
          <a:p xmlns:a="http://schemas.openxmlformats.org/drawingml/2006/main">
            <a:r>
              <a:t>[Sources]</a:t>
            </a:r>
          </a:p>
          <a:p xmlns:a="http://schemas.openxmlformats.org/drawingml/2006/main">
            <a:r>
              <a:t>- runs/research_workbench/operator_hypothesis_lab/tsla_lagged_return_dependence_statistics_20260825/primary_statistics.csv</a:t>
            </a:r>
          </a:p>
          <a:p xmlns:a="http://schemas.openxmlformats.org/drawingml/2006/main">
            <a:r>
              <a:t>- runs/research_workbench/operator_hypothesis_lab/tsla_lagged_return_dependence_statistics_20260825/block_bootstrap_intervals.csv</a:t>
            </a:r>
          </a:p>
          <a:p xmlns:a="http://schemas.openxmlformats.org/drawingml/2006/main">
            <a:r>
              <a:t>- runs/research_workbench/operator_hypothesis_lab/tsla_lagged_return_dependence_statistics_20260825/absolute_return_deciles.csv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what was learned. The signed-return question stops descriptively; ER20 remains a descriptive lens; magnitude persistence is the only new clue and requires its own predeclared test before any strategy interpretation.</a:t>
            </a:r>
          </a:p>
          <a:p xmlns:a="http://schemas.openxmlformats.org/drawingml/2006/main">
            <a:r>
              <a:t/>
            </a:r>
          </a:p>
          <a:p xmlns:a="http://schemas.openxmlformats.org/drawingml/2006/main">
            <a:r>
              <a:t>[Sources]</a:t>
            </a:r>
          </a:p>
          <a:p xmlns:a="http://schemas.openxmlformats.org/drawingml/2006/main">
            <a:r>
              <a:t>- operator_hypothesis_lab/docs/TSLA_LAGGED_DAILY_RETURN_SCATTER_2018_2023.md</a:t>
            </a:r>
          </a:p>
          <a:p xmlns:a="http://schemas.openxmlformats.org/drawingml/2006/main">
            <a:r>
              <a:t>- operator_hypothesis_lab/docs/TSLA_ER20_PATH_REGIME_BANDS_2018_2023.md</a:t>
            </a:r>
          </a:p>
          <a:p xmlns:a="http://schemas.openxmlformats.org/drawingml/2006/main">
            <a:r>
              <a:t>- runs/research_workbench/operator_hypothesis_lab/tsla_lagged_return_dependence_statistics_20260825/report.md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sessions reveals signed dependence hidden by the adjacent-session view.</a:t>
            </a:r>
          </a:p>
          <a:p xmlns:a="http://schemas.openxmlformats.org/drawingml/2006/main">
            <a:r>
              <a:t/>
            </a:r>
          </a:p>
          <a:p xmlns:a="http://schemas.openxmlformats.org/drawingml/2006/main">
            <a:r>
              <a:t>[Sources]</a:t>
            </a:r>
          </a:p>
          <a:p xmlns:a="http://schemas.openxmlformats.org/drawingml/2006/main">
            <a:r>
              <a:t>- scripts/inspect/run_tsla_cumulative_return_horizon_grid.R</a:t>
            </a:r>
          </a:p>
          <a:p xmlns:a="http://schemas.openxmlformats.org/drawingml/2006/main">
            <a:r>
              <a:t>- runs/research_workbench/operator_hypothesis_lab/tsla_cumulative_return_horizon_grid_20260825/run_spec.csv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Define the information boundary first: cumulative prior return ends at the anchor close and cumulative forward return begins from that close.</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runs/research_workbench/operator_hypothesis_lab/tsla_cumulative_return_horizon_grid_20260825/run_spec.csv</a:t>
            </a:r>
          </a:p>
          <a:p xmlns:a="http://schemas.openxmlformats.org/drawingml/2006/main">
            <a:r>
              <a:t>- runs/research_workbench/operator_hypothesis_lab/tsla_cumulative_return_horizon_grid_20260825/grid_checks.csv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positive region is coherent rather than a single isolated cell, but its magnitude is small and this nested grid is highly dependent.</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runs/research_workbench/operator_hypothesis_lab/tsla_cumulative_return_horizon_grid_20260825/pearson_correlation_matrix.csv</a:t>
            </a:r>
          </a:p>
          <a:p xmlns:a="http://schemas.openxmlformats.org/drawingml/2006/main">
            <a:r>
              <a:t>- runs/research_workbench/operator_hypothesis_lab/tsla_cumulative_return_horizon_grid_20260825/slope_bh_q_value_matrix.csv</a:t>
            </a:r>
          </a:p>
          <a:p xmlns:a="http://schemas.openxmlformats.org/drawingml/2006/main">
            <a:r>
              <a:t>- runs/research_workbench/operator_hypothesis_lab/tsla_cumulative_return_horizon_grid_20260825/visuals/tsla_cumulative_return_pearson_heatmap.png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strongest point estimate explains less than one percent of forward-return variance, and its overlap-aware interval includes zero. Its BH q-value is 0.660.</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runs/research_workbench/operator_hypothesis_lab/tsla_cumulative_return_horizon_grid_20260825/r_squared_percent_matrix.csv</a:t>
            </a:r>
          </a:p>
          <a:p xmlns:a="http://schemas.openxmlformats.org/drawingml/2006/main">
            <a:r>
              <a:t>- runs/research_workbench/operator_hypothesis_lab/tsla_cumulative_return_horizon_grid_20260825/visuals/tsla_cumulative_return_r_squared_heatmap.png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Several direction differences are positive, but the best raw p-value becomes q=0.554 after the 81-cell scan. None survives BH-FDR or Bonferroni.</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runs/research_workbench/operator_hypothesis_lab/tsla_cumulative_return_horizon_grid_20260825/direction_difference_pp_matrix.csv</a:t>
            </a:r>
          </a:p>
          <a:p xmlns:a="http://schemas.openxmlformats.org/drawingml/2006/main">
            <a:r>
              <a:t>- runs/research_workbench/operator_hypothesis_lab/tsla_cumulative_return_horizon_grid_20260825/horizon_grid_statistics.csv</a:t>
            </a:r>
          </a:p>
          <a:p xmlns:a="http://schemas.openxmlformats.org/drawingml/2006/main">
            <a:r>
              <a:t>- runs/research_workbench/operator_hypothesis_lab/tsla_cumulative_return_horizon_grid_20260825/visuals/tsla_cumulative_return_direction_difference_heatmap.png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by separating the descriptive pattern from evidence strength. The ridge is worth naming, but this scan does not establish predictive authority.</a:t>
            </a:r>
          </a:p>
          <a:p xmlns:a="http://schemas.openxmlformats.org/drawingml/2006/main">
            <a:r>
              <a:t/>
            </a:r>
          </a:p>
          <a:p xmlns:a="http://schemas.openxmlformats.org/drawingml/2006/main">
            <a:r>
              <a:t>[Sources]</a:t>
            </a:r>
          </a:p>
          <a:p xmlns:a="http://schemas.openxmlformats.org/drawingml/2006/main">
            <a:r>
              <a:t>- runs/research_workbench/operator_hypothesis_lab/tsla_cumulative_return_horizon_grid_20260825/report.md</a:t>
            </a:r>
          </a:p>
          <a:p xmlns:a="http://schemas.openxmlformats.org/drawingml/2006/main">
            <a:r>
              <a:t>- runs/research_workbench/operator_hypothesis_lab/tsla_cumulative_return_horizon_grid_20260825/cells_ranked_by_absolute_correlation.csv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aggregating red and green path states washes out different prior-versus-forward return relationships.</a:t>
            </a:r>
          </a:p>
          <a:p xmlns:a="http://schemas.openxmlformats.org/drawingml/2006/main">
            <a:r>
              <a:t/>
            </a:r>
          </a:p>
          <a:p xmlns:a="http://schemas.openxmlformats.org/drawingml/2006/main">
            <a:r>
              <a:t>[Sources]</a:t>
            </a:r>
          </a:p>
          <a:p xmlns:a="http://schemas.openxmlformats.org/drawingml/2006/main">
            <a:r>
              <a:t>- operator_hypothesis_lab/docs/TSLA_ER20_PATH_REGIME_BANDS_2018_2023.md</a:t>
            </a:r>
          </a:p>
          <a:p xmlns:a="http://schemas.openxmlformats.org/drawingml/2006/main">
            <a:r>
              <a:t>- scripts/inspect/run_tsla_er20_conditioned_return_horizon_grid.R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timing is causal: ER20 at the anchor uses closes through that anchor only. One pre-2018 anchor from the aggregate grid is uncolored and excluded.</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runs/research_workbench/operator_hypothesis_lab/tsla_er20_conditioned_return_horizon_grid_20260825/run_spec.csv</a:t>
            </a:r>
          </a:p>
          <a:p xmlns:a="http://schemas.openxmlformats.org/drawingml/2006/main">
            <a:r>
              <a:t>- runs/research_workbench/operator_hypothesis_lab/tsla_er20_conditioned_return_horizon_grid_20260825/grid_checks.csv</a:t>
            </a:r>
          </a:p>
          <a:p xmlns:a="http://schemas.openxmlformats.org/drawingml/2006/main">
            <a:r>
              <a:t>- operator_hypothesis_lab/docs/TSLA_ER20_PATH_REGIME_BANDS_2018_2023.md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Red states show a coherent positive island centered around 10 to 15 prior sessions and 3 to 10 forward sessions. The largest cell has an overlap-aware interval that still includes zero.</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runs/research_workbench/operator_hypothesis_lab/tsla_er20_conditioned_return_horizon_grid_20260825/red_sideways_pearson_matrix.csv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runs/research_workbench/operator_hypothesis_lab/tsla_er20_conditioned_return_horizon_grid_20260825/visuals/tsla_red_sideways_pearson_heatmap.png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Green states retain small positive short-horizon patches, but the red medium-horizon island is muted or reversed and the long-prior/long-forward corner becomes negative.</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runs/research_workbench/operator_hypothesis_lab/tsla_er20_conditioned_return_horizon_grid_20260825/green_trending_pearson_matrix.csv</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runs/research_workbench/operator_hypothesis_lab/tsla_er20_conditioned_return_horizon_grid_20260825/visuals/tsla_green_trending_pearson_heatmap.png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raw regime contrast is at 15 prior and 5 forward: red correlation +0.173 versus green -0.058, a -0.231 difference. Its slope interaction has raw HAC p=0.029 but BH q=0.919; no interaction survives the grid scan.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runs/research_workbench/operator_hypothesis_lab/tsla_er20_conditioned_return_horizon_grid_20260825/green_minus_red_pearson_matrix.csv</a:t>
            </a:r>
          </a:p>
          <a:p xmlns:a="http://schemas.openxmlformats.org/drawingml/2006/main">
            <a:r>
              <a:t>- runs/research_workbench/operator_hypothesis_lab/tsla_er20_conditioned_return_horizon_grid_20260825/regime_comparison_statistics.csv</a:t>
            </a:r>
          </a:p>
          <a:p xmlns:a="http://schemas.openxmlformats.org/drawingml/2006/main">
            <a:r>
              <a:t>- runs/research_workbench/operator_hypothesis_lab/tsla_er20_conditioned_return_horizon_grid_20260825/slope_interaction_bh_q_value_matrix.csv</a:t>
            </a:r>
          </a:p>
          <a:p xmlns:a="http://schemas.openxmlformats.org/drawingml/2006/main">
            <a:r>
              <a:t>- runs/research_workbench/operator_hypothesis_lab/tsla_er20_conditioned_return_horizon_grid_20260825/visuals/tsla_green_minus_red_pearson_heatmap.png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Conditioning changes the descriptive map in a coherent way, but the finding remains exploratory. ER20 is built from the same trailing path as the prior-return variable, so a less mechanically entangled filter would be a useful comparison.</a:t>
            </a:r>
          </a:p>
          <a:p xmlns:a="http://schemas.openxmlformats.org/drawingml/2006/main">
            <a:r>
              <a:t/>
            </a:r>
          </a:p>
          <a:p xmlns:a="http://schemas.openxmlformats.org/drawingml/2006/main">
            <a:r>
              <a:t>[Sources]</a:t>
            </a:r>
          </a:p>
          <a:p xmlns:a="http://schemas.openxmlformats.org/drawingml/2006/main">
            <a:r>
              <a:t>- runs/research_workbench/operator_hypothesis_lab/tsla_er20_conditioned_return_horizon_grid_20260825/report.md</a:t>
            </a:r>
          </a:p>
          <a:p xmlns:a="http://schemas.openxmlformats.org/drawingml/2006/main">
            <a:r>
              <a:t>- runs/research_workbench/operator_hypothesis_lab/tsla_er20_conditioned_return_horizon_grid_20260825/conditioned_horizon_grid_statistics.csv</a:t>
            </a:r>
          </a:p>
          <a:p xmlns:a="http://schemas.openxmlformats.org/drawingml/2006/main">
            <a:r>
              <a:t>- runs/research_workbench/operator_hypothesis_lab/tsla_er20_conditioned_return_horizon_grid_20260825/regime_comparison_statistics.csv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signed-return dependence changes with movement capacity, using the already accepted ATR-percent classifier rather than designing new bins from this result.</a:t>
            </a:r>
          </a:p>
          <a:p xmlns:a="http://schemas.openxmlformats.org/drawingml/2006/main">
            <a:r>
              <a:t/>
            </a:r>
          </a:p>
          <a:p xmlns:a="http://schemas.openxmlformats.org/drawingml/2006/main">
            <a:r>
              <a:t>[Sources]</a:t>
            </a:r>
          </a:p>
          <a:p xmlns:a="http://schemas.openxmlformats.org/drawingml/2006/main">
            <a:r>
              <a:t>- operator_hypothesis_lab/docs/GEN5_HYP_REG_01_1_ATR_PERCENT_VOLATILITY_RESULTS.md</a:t>
            </a:r>
          </a:p>
          <a:p xmlns:a="http://schemas.openxmlformats.org/drawingml/2006/main">
            <a:r>
              <a:t>- operator_hypothesis_lab/docs/TSLA_ATRP_CONDITIONED_RETURN_HORIZON_GRID_2018_2023.md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state definition is reused exactly: Wilder ATR14 divided by close, current ATR-percent ranked against the prior 252 completed observations, and the accepted 30/40–60/70 hysteresis. State t is known before future returns begin.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runs/research_workbench/operator_hypothesis_lab/tsla_atrp_conditioned_return_horizon_grid_20260825/run_spec.csv</a:t>
            </a:r>
          </a:p>
          <a:p xmlns:a="http://schemas.openxmlformats.org/drawingml/2006/main">
            <a:r>
              <a:t>- runs/research_workbench/operator_hypothesis_lab/tsla_atrp_conditioned_return_horizon_grid_20260825/source_checks.csv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companion view makes the accepted volatility classifier visible in price time. Blue, gold, and red mean LOW, MEDIUM, and HIGH movement capacity; they do not mean bearish, neutral, and bullish. The lower panel shows the causal trailing ATR-percent rank and accepted hysteretic state at each close.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runs/research_workbench/operator_hypothesis_lab/tsla_atrp_conditioned_return_horizon_grid_20260825/visuals/tsla_atrp_state_price_bands.png</a:t>
            </a:r>
          </a:p>
          <a:p xmlns:a="http://schemas.openxmlformats.org/drawingml/2006/main">
            <a:r>
              <a:t>- runs/research_workbench/operator_hypothesis_lab/tsla_atrp_conditioned_return_horizon_grid_20260825/tsla_atrp_state_chart_ledger.csv</a:t>
            </a:r>
          </a:p>
          <a:p xmlns:a="http://schemas.openxmlformats.org/drawingml/2006/main">
            <a:r>
              <a:t>- runs/research_workbench/operator_hypothesis_lab/tsla_atrp_conditioned_return_horizon_grid_20260825/tsla_atrp_state_spans.csv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LOW ATR-percent anchors produce positive point estimates throughout the grid, but the strongest cell's interval crosses zero and no LOW cell survives the within-state scan.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runs/research_workbench/operator_hypothesis_lab/tsla_atrp_conditioned_return_horizon_grid_20260825/low_pearson_matrix.csv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runs/research_workbench/operator_hypothesis_lab/tsla_atrp_conditioned_return_horizon_grid_20260825/visuals/tsla_atrp_low_pearson_heatmap.png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MEDIUM ATR-percent anchors show the most statistically stable continuation pattern. Under the strict correction across all 486 tests, the 5/3, 10/2, and 10/3 cells remain.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runs/research_workbench/operator_hypothesis_lab/tsla_atrp_conditioned_return_horizon_grid_20260825/medium_pearson_matrix.csv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HIGH ATR-percent anchors reverse the sign of the broad surface, especially at longer horizons. The most extreme cell is visually strong but its dependence-robust interval still crosses zero.</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runs/research_workbench/operator_hypothesis_lab/tsla_atrp_conditioned_return_horizon_grid_20260825/high_pearson_matrix.csv</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runs/research_workbench/operator_hypothesis_lab/tsla_atrp_conditioned_return_horizon_grid_20260825/visuals/tsla_atrp_high_pearson_heatmap.png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correlation contrast is -0.548 at 25 prior and 15 forward; its within-family interaction q is 0.038 but strict omnibus q is 0.081. Three smaller HIGH-minus-MEDIUM interactions survive the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runs/research_workbench/operator_hypothesis_lab/tsla_atrp_conditioned_return_horizon_grid_20260825/high_minus_medium_pearson_difference_matrix.csv</a:t>
            </a:r>
          </a:p>
          <a:p xmlns:a="http://schemas.openxmlformats.org/drawingml/2006/main">
            <a:r>
              <a:t>- runs/research_workbench/operator_hypothesis_lab/tsla_atrp_conditioned_return_horizon_grid_20260825/pairwise_state_comparison_statistics.csv</a:t>
            </a:r>
          </a:p>
          <a:p xmlns:a="http://schemas.openxmlformats.org/drawingml/2006/main">
            <a:r>
              <a:t>- runs/research_workbench/operator_hypothesis_lab/tsla_atrp_conditioned_return_horizon_grid_20260825/high_minus_medium_interaction_bh_q_matrix.csv</a:t>
            </a:r>
          </a:p>
          <a:p xmlns:a="http://schemas.openxmlformats.org/drawingml/2006/main">
            <a:r>
              <a:t>- runs/research_workbench/operator_hypothesis_lab/tsla_atrp_conditioned_return_horizon_grid_20260825/visuals/tsla_atrp_high_minus_medium_pearson_heatmap.png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ATR-percent split is the clearest conditional map in this descriptive lane and is partially multiplicity-robust, but it is still a same-sample replication candidate rather than a trading rule. The ER20 direction split and external-context filter are bookmarked, not opened here.</a:t>
            </a:r>
          </a:p>
          <a:p xmlns:a="http://schemas.openxmlformats.org/drawingml/2006/main">
            <a:r>
              <a:t/>
            </a:r>
          </a:p>
          <a:p xmlns:a="http://schemas.openxmlformats.org/drawingml/2006/main">
            <a:r>
              <a:t>[Sources]</a:t>
            </a:r>
          </a:p>
          <a:p xmlns:a="http://schemas.openxmlformats.org/drawingml/2006/main">
            <a:r>
              <a:t>- runs/research_workbench/operator_hypothesis_lab/tsla_atrp_conditioned_return_horizon_grid_20260825/report.md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 runs/research_workbench/operator_hypothesis_lab/tsla_atrp_conditioned_return_horizon_grid_20260825/pairwise_state_comparison_statistics.csv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changes one authority only. TSLA still supplies every prior and following return. SPY supplies the already accepted causal ATR-percent state at the anchor close.</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SPY classifier is reused exactly: Wilder ATR14 divided by adjusted close, prior-252 causal percentile, and 30/40 plus 60/70 hysteresis. No state definition or horizon changes after seeing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runs/research_workbench/operator_hypothesis_lab/tsla_spy_atrp_conditioned_return_horizon_grid_20260825/run_spec.csv</a:t>
            </a:r>
          </a:p>
          <a:p xmlns:a="http://schemas.openxmlformats.org/drawingml/2006/main">
            <a:r>
              <a:t>- runs/research_workbench/operator_hypothesis_lab/tsla_spy_atrp_conditioned_return_horizon_grid_20260825/source_checks.csv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price stays TSLA, while every colored band and the lower-panel percentile come from SPY. This visual checks alignment in time; it does not claim that SPY state causes TSLA returns.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runs/research_workbench/operator_hypothesis_lab/tsla_spy_atrp_conditioned_return_horizon_grid_20260825/visuals/tsla_spy_atrp_state_price_bands.png</a:t>
            </a:r>
          </a:p>
          <a:p xmlns:a="http://schemas.openxmlformats.org/drawingml/2006/main">
            <a:r>
              <a:t>- runs/research_workbench/operator_hypothesis_lab/tsla_spy_atrp_conditioned_return_horizon_grid_20260825/tsla_spy_atrp_state_chart_ledger.csv</a:t>
            </a:r>
          </a:p>
          <a:p xmlns:a="http://schemas.openxmlformats.org/drawingml/2006/main">
            <a:r>
              <a:t>- runs/research_workbench/operator_hypothesis_lab/tsla_spy_atrp_conditioned_return_horizon_grid_20260825/tsla_spy_atrp_state_spans.csv</a:t>
            </a:r>
          </a:p>
          <a:p xmlns:a="http://schemas.openxmlformats.org/drawingml/2006/main">
            <a:r>
              <a:t>- runs/research_workbench/operator_hypothesis_lab/hyp_reg_01_1_atr_percent_20260814/hyp_reg_01_1_daily_state_ledger.csv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LOW ATR-percent sessions contain the clearest TSLA continuation geometry. The pattern is broad, but no single within-state cell survives its 81-cell BH-FDR family.</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runs/research_workbench/operator_hypothesis_lab/tsla_spy_atrp_conditioned_return_horizon_grid_20260825/visuals/tsla_spy_atrp_low_pearson_heatmap.png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MEDIUM ATR-percent sessions reverse the long-forward portion of the TSLA map. This differs sharply from TSLA's own MEDIUM state, which held the earlier positive continuation island.</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SPY HIGH ATR-percent does not reproduce the broad reversal seen under TSLA's own HIGH ATR-percent state. Most cells are mildly positive, with a small negative corner at the longest prior horizons.</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runs/research_workbench/operator_hypothesis_lab/tsla_spy_atrp_conditioned_return_horizon_grid_20260825/visuals/tsla_spy_atrp_high_pearson_heatmap.png</a:t>
            </a:r>
          </a:p>
          <a:p xmlns:a="http://schemas.openxmlformats.org/drawingml/2006/main">
            <a:r>
              <a:t>- runs/research_workbench/operator_hypothesis_lab/tsla_spy_atrp_conditioned_return_horizon_grid_20260825/conditioned_horizon_grid_statistics.csv</a:t>
            </a:r>
          </a:p>
          <a:p xmlns:a="http://schemas.openxmlformats.org/drawingml/2006/main">
            <a:r>
              <a:t>- runs/research_workbench/operator_hypothesis_lab/tsla_spy_atrp_conditioned_return_horizon_grid_20260825/own_vs_external_atrp_map_summary.csv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largest direct contrast is LOW continuation versus MEDIUM reversal at 5 prior and 15 forward sessions. Three neighboring MEDIUM-minus-LOW interactions survive their 81-cell family correction, but no pairwise interaction survives the stricter 486-test omnibus correction.</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runs/research_workbench/operator_hypothesis_lab/tsla_spy_atrp_conditioned_return_horizon_grid_20260825/visuals/tsla_spy_atrp_medium_minus_low_pearson_heatmap.png</a:t>
            </a:r>
          </a:p>
          <a:p xmlns:a="http://schemas.openxmlformats.org/drawingml/2006/main">
            <a:r>
              <a:t>- runs/research_workbench/operator_hypothesis_lab/tsla_spy_atrp_conditioned_return_horizon_grid_20260825/pairwise_state_comparison_statistics.csv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External SPY conditioning is coherent enough to justify more descriptive cross-sectional brainstorming, but it does not confirm an edge. LOW is the most portable geometry; MEDIUM changes almost completely; HIGH keeps a related ordering while most signs shift.</a:t>
            </a:r>
          </a:p>
          <a:p xmlns:a="http://schemas.openxmlformats.org/drawingml/2006/main">
            <a:r>
              <a:t/>
            </a:r>
          </a:p>
          <a:p xmlns:a="http://schemas.openxmlformats.org/drawingml/2006/main">
            <a:r>
              <a:t>[Sources]</a:t>
            </a:r>
          </a:p>
          <a:p xmlns:a="http://schemas.openxmlformats.org/drawingml/2006/main">
            <a:r>
              <a:t>- runs/research_workbench/operator_hypothesis_lab/tsla_spy_atrp_conditioned_return_horizon_grid_20260825/own_vs_external_atrp_map_summary.csv</a:t>
            </a:r>
          </a:p>
          <a:p xmlns:a="http://schemas.openxmlformats.org/drawingml/2006/main">
            <a:r>
              <a:t>- runs/research_workbench/operator_hypothesis_lab/tsla_spy_atrp_conditioned_return_horizon_grid_20260825/report.md</a:t>
            </a:r>
          </a:p>
          <a:p xmlns:a="http://schemas.openxmlformats.org/drawingml/2006/main">
            <a:r>
              <a:t>- runs/research_workbench/operator_hypothesis_lab/tsla_atrp_conditioned_return_horizon_grid_20260825/conditioned_horizon_grid_statistics.csv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runs/research_workbench/operator_hypothesis_lab/tsla_qqq_atrp_conditioned_return_horizon_grid_20260825/</a:t>
            </a:r>
          </a:p>
          <a:p xmlns:a="http://schemas.openxmlformats.org/drawingml/2006/main">
            <a:r>
              <a:t>Internal Gen5 note: operator_hypothesis_lab/docs/TSLA_QQQ_ATRP_CONDITIONED_RETURN_HORIZON_GRID_2018_2023.md</a:t>
            </a:r>
          </a:p>
          <a:p xmlns:a="http://schemas.openxmlformats.org/drawingml/2006/main">
            <a:r>
              <a:t>Internal Gen5 comparison packet: runs/research_workbench/operator_hypothesis_lab/tsla_atrp_conditioned_return_horizon_grid_20260825/</a:t>
            </a:r>
          </a:p>
          <a:p xmlns:a="http://schemas.openxmlformats.org/drawingml/2006/main">
            <a:r>
              <a:t>Internal Gen5 comparison packet: runs/research_workbench/operator_hypothesis_lab/tsla_spy_atrp_conditioned_return_horizon_grid_20260825/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own-return baseline packet: runs/research_workbench/operator_hypothesis_lab/tsla_cumulative_return_horizon_grid_20260825/</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a:t>
            </a:r>
          </a:p>
          <a:p xmlns:a="http://schemas.openxmlformats.org/drawingml/2006/main">
            <a:r>
              <a:t>Internal Gen5 packet: runs/research_workbench/operator_hypothesis_lab/tsla_qqq_spy_prior_return_horizon_grid_20260825/</a:t>
            </a:r>
          </a:p>
          <a:p xmlns:a="http://schemas.openxmlformats.org/drawingml/2006/main">
            <a:r>
              <a:t>Internal Gen5 note: operator_hypothesis_lab/docs/TSLA_QQQ_SPY_PRIOR_RETURN_HORIZON_GRID_2018_2023.md</a:t>
            </a:r>
          </a:p>
          <a:p xmlns:a="http://schemas.openxmlformats.org/drawingml/2006/main">
            <a:r>
              <a:t>Internal Gen5 comparison packet: runs/research_workbench/operator_hypothesis_lab/tsla_return_horizon_grid_20260824/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asks whether pooling negative and positive prior returns hides a branch-specific relationship with future TSLA return.</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split is descriptive, not a trading signal. Keeping the signed scale preserves the distinction between a rebound slope and sign persistence.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runs/research_workbench/operator_hypothesis_lab/tsla_prior_return_sign_asymmetry_20260825/run_spec.csv</a:t>
            </a:r>
          </a:p>
          <a:p xmlns:a="http://schemas.openxmlformats.org/drawingml/2006/main">
            <a:r>
              <a:t>- runs/research_workbench/operator_hypothesis_lab/tsla_prior_return_sign_asymmetry_20260825/family_checks.csv</a:t>
            </a:r>
          </a:p>
          <a:p xmlns:a="http://schemas.openxmlformats.org/drawingml/2006/main">
            <a:r>
              <a:t>- runs/research_workbench/operator_hypothesis_lab/tsla_prior_return_sign_asymmetry_20260825/report.md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negative branch slopes downward: more severe prior losses are associated with stronger next-session rebound. This is not continuation and not a sign-based win-rate edge.</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runs/research_workbench/operator_hypothesis_lab/tsla_prior_return_sign_asymmetry_20260825/one_by_one_branch_summary.csv</a:t>
            </a:r>
          </a:p>
          <a:p xmlns:a="http://schemas.openxmlformats.org/drawingml/2006/main">
            <a:r>
              <a:t>- runs/research_workbench/operator_hypothesis_lab/tsla_prior_return_sign_asymmetry_20260825/one_by_one_asymmetry_test.csv</a:t>
            </a:r>
          </a:p>
          <a:p xmlns:a="http://schemas.openxmlformats.org/drawingml/2006/main">
            <a:r>
              <a:t>- runs/research_workbench/operator_hypothesis_lab/tsla_prior_return_sign_asymmetry_20260825/visuals/tsla_one_by_one_prior_sign_split_scatter.png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Four of 81 direct slope-interaction tests pass BH. The 20-session cells are nested and should be read as one descriptive cluster, not three independent discoveries.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runs/research_workbench/operator_hypothesis_lab/tsla_prior_return_sign_asymmetry_20260825/visuals/tsla_unfiltered_prior_sign_heatmaps.png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Positive-minus-negative does not subtract two realized returns. It compares the positive-branch slope with the negative-branch slope. In the current survivors, b− &lt; 0 and b+ is near zero, so loss severity contains information only after losses. A future long-only implementation would score loss severity inside X &lt; 0 and act only if the full conditional forecast clears drift, costs, and a safety margin. The intercept matters: slope asymmetry alone does not imply positive expectancy.</a:t>
            </a:r>
          </a:p>
          <a:p xmlns:a="http://schemas.openxmlformats.org/drawingml/2006/main">
            <a:r>
              <a:t/>
            </a:r>
          </a:p>
          <a:p xmlns:a="http://schemas.openxmlformats.org/drawingml/2006/main">
            <a:r>
              <a:t>[Sources]</a:t>
            </a:r>
          </a:p>
          <a:p xmlns:a="http://schemas.openxmlformats.org/drawingml/2006/main">
            <a:r>
              <a:t>- scripts/inspect/run_tsla_prior_return_sign_asymmetry.R</a:t>
            </a:r>
          </a:p>
          <a:p xmlns:a="http://schemas.openxmlformats.org/drawingml/2006/main">
            <a:r>
              <a:t>- runs/research_workbench/operator_hypothesis_lab/tsla_prior_return_sign_asymmetry_20260825/unfiltered_branch_statistics.csv</a:t>
            </a:r>
          </a:p>
          <a:p xmlns:a="http://schemas.openxmlformats.org/drawingml/2006/main">
            <a:r>
              <a:t>- runs/research_workbench/operator_hypothesis_lab/tsla_prior_return_sign_asymmetry_20260825/unfiltered_asymmetry_tests.csv</a:t>
            </a:r>
          </a:p>
          <a:p xmlns:a="http://schemas.openxmlformats.org/drawingml/2006/main">
            <a:r>
              <a:t>- operator_hypothesis_lab/docs/TSLA_PRIOR_RETURN_SIGN_ASYMMETRY_2018_2023.md</a:t>
            </a:r>
          </a:p>
          <a:p xmlns:a="http://schemas.openxmlformats.org/drawingml/2006/main">
            <a:r>
              <a:t>- Current Codex task, operator/assistant exchange dated 2026-08-26: ‘Positive minus negative as a kink detector.’</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ER20 split produces different-looking surfaces but no multiplicity survivor. ER20 is also not independent of the predictor because both use trailing TSLA prices.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runs/research_workbench/operator_hypothesis_lab/tsla_prior_return_sign_asymmetry_20260825/er20_branch_statistics.csv</a:t>
            </a:r>
          </a:p>
          <a:p xmlns:a="http://schemas.openxmlformats.org/drawingml/2006/main">
            <a:r>
              <a:t>- runs/research_workbench/operator_hypothesis_lab/tsla_prior_return_sign_asymmetry_20260825/er20_asymmetry_tests.csv</a:t>
            </a:r>
          </a:p>
          <a:p xmlns:a="http://schemas.openxmlformats.org/drawingml/2006/main">
            <a:r>
              <a:t>- runs/research_workbench/operator_hypothesis_lab/tsla_prior_return_sign_asymmetry_20260825/visuals/tsla_er20_prior_sign_heatmaps.png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ATR percent identifies a high-volatility adjacent-session survivor and a low-volatility long-horizon cluster. The long-horizon negative branches are relatively small and need outlier and temporal-stability checks.</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runs/research_workbench/operator_hypothesis_lab/tsla_prior_return_sign_asymmetry_20260825/atrp_branch_statistics.csv</a:t>
            </a:r>
          </a:p>
          <a:p xmlns:a="http://schemas.openxmlformats.org/drawingml/2006/main">
            <a:r>
              <a:t>- runs/research_workbench/operator_hypothesis_lab/tsla_prior_return_sign_asymmetry_20260825/atrp_asymmetry_tests.csv</a:t>
            </a:r>
          </a:p>
          <a:p xmlns:a="http://schemas.openxmlformats.org/drawingml/2006/main">
            <a:r>
              <a:t>- runs/research_workbench/operator_hypothesis_lab/tsla_prior_return_sign_asymmetry_20260825/visuals/tsla_atrp_prior_sign_heatmaps.png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earns a narrow confirmation step, not strategy construction. Freeze the surviving cells and inspect outlier dependence and temporal stability before reading economic meaning into them.</a:t>
            </a:r>
          </a:p>
          <a:p xmlns:a="http://schemas.openxmlformats.org/drawingml/2006/main">
            <a:r>
              <a:t/>
            </a:r>
          </a:p>
          <a:p xmlns:a="http://schemas.openxmlformats.org/drawingml/2006/main">
            <a:r>
              <a:t>[Sources]</a:t>
            </a:r>
          </a:p>
          <a:p xmlns:a="http://schemas.openxmlformats.org/drawingml/2006/main">
            <a:r>
              <a:t>- runs/research_workbench/operator_hypothesis_lab/tsla_prior_return_sign_asymmetry_20260825/report.md</a:t>
            </a:r>
          </a:p>
          <a:p xmlns:a="http://schemas.openxmlformats.org/drawingml/2006/main">
            <a:r>
              <a:t>- operator_hypothesis_lab/docs/TSLA_PRIOR_RETURN_SIGN_ASYMMETRY_2018_2023.md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section completes the earlier direction-agnostic ER20 lens by retaining the sign of its net displacement. It measures state behavior only.</a:t>
            </a:r>
          </a:p>
          <a:p xmlns:a="http://schemas.openxmlformats.org/drawingml/2006/main">
            <a:r>
              <a:t/>
            </a:r>
          </a:p>
          <a:p xmlns:a="http://schemas.openxmlformats.org/drawingml/2006/main">
            <a:r>
              <a:t>[Sources]</a:t>
            </a:r>
          </a:p>
          <a:p xmlns:a="http://schemas.openxmlformats.org/drawingml/2006/main">
            <a:r>
              <a:t>- operator_hypothesis_lab/docs/TSLA_SIGNED_ER20_TREND_DIRECTION_2018_2023.md</a:t>
            </a:r>
          </a:p>
          <a:p xmlns:a="http://schemas.openxmlformats.org/drawingml/2006/main">
            <a:r>
              <a:t>- runs/research_workbench/operator_hypothesis_lab/tsla_signed_er20_trend_direction_20260826/run_spec.csv</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Signed ER20 is bounded from minus one to plus one. Sign supplies direction and magnitude supplies path efficiency. It is not independent of ER20 because its absolute value is ER20.</a:t>
            </a:r>
          </a:p>
          <a:p xmlns:a="http://schemas.openxmlformats.org/drawingml/2006/main">
            <a:r>
              <a:t/>
            </a:r>
          </a:p>
          <a:p xmlns:a="http://schemas.openxmlformats.org/drawingml/2006/main">
            <a:r>
              <a:t>[Sources]</a:t>
            </a:r>
          </a:p>
          <a:p xmlns:a="http://schemas.openxmlformats.org/drawingml/2006/main">
            <a:r>
              <a:t>- operator_hypothesis_lab/R/tsla_signed_er20_direction.R</a:t>
            </a:r>
          </a:p>
          <a:p xmlns:a="http://schemas.openxmlformats.org/drawingml/2006/main">
            <a:r>
              <a:t>- runs/research_workbench/operator_hypothesis_lab/tsla_signed_er20_trend_direction_20260826/run_spec.csv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neutral band absorbs every observed direction reversal, so no session jumps directly from up trend to down trend or vice versa. The chart also shows that down states are less prevalent and shorter than up states on this TSLA sample.</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runs/research_workbench/operator_hypothesis_lab/tsla_signed_er20_trend_direction_20260826/visuals/tsla_signed_er20_direction_bands.png</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operator_hypothesis_lab/docs/TSLA_SIGNED_ER20_TREND_DIRECTION_2018_2023.md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fixed state is adequate as a reusable descriptive baseline, but its brief down spans and one-session boundary states remain visible limitations. The next methodological step is to apply this unchanged state to the existing return surfaces; parameter and time-window selection remain deferred.</a:t>
            </a:r>
          </a:p>
          <a:p xmlns:a="http://schemas.openxmlformats.org/drawingml/2006/main">
            <a:r>
              <a:t/>
            </a:r>
          </a:p>
          <a:p xmlns:a="http://schemas.openxmlformats.org/drawingml/2006/main">
            <a:r>
              <a:t>[Sources]</a:t>
            </a:r>
          </a:p>
          <a:p xmlns:a="http://schemas.openxmlformats.org/drawingml/2006/main">
            <a:r>
              <a:t>- runs/research_workbench/operator_hypothesis_lab/tsla_signed_er20_trend_direction_20260826/state_occupancy.csv</a:t>
            </a:r>
          </a:p>
          <a:p xmlns:a="http://schemas.openxmlformats.org/drawingml/2006/main">
            <a:r>
              <a:t>- runs/research_workbench/operator_hypothesis_lab/tsla_signed_er20_trend_direction_20260826/state_duration_summary.csv</a:t>
            </a:r>
          </a:p>
          <a:p xmlns:a="http://schemas.openxmlformats.org/drawingml/2006/main">
            <a:r>
              <a:t>- runs/research_workbench/operator_hypothesis_lab/tsla_signed_er20_trend_direction_20260826/state_quality_summary.csv</a:t>
            </a:r>
          </a:p>
          <a:p xmlns:a="http://schemas.openxmlformats.org/drawingml/2006/main">
            <a:r>
              <a:t>- operator_hypothesis_lab/docs/TSLA_SIGNED_ER20_TREND_DIRECTION_2018_2023.md</a:t>
            </a:r>
          </a:p>
          <a:p xmlns:a="http://schemas.openxmlformats.org/drawingml/2006/main">
            <a:r>
              <a:t>- operator_hypothesis_lab/docs/OWN_ASSET_RETURN_GEOMETRY_WORKFLOW_ROADMAP.md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3845cd78308454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f0c1f02fe3c45e1" /><Relationship Type="http://schemas.openxmlformats.org/officeDocument/2006/relationships/slideLayout" Target="/ppt/slideLayouts/slideLayout1.xml" Id="R1aa2f8955074476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aa2f8955074476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ec3b1b77c3d4820" /><Relationship Type="http://schemas.openxmlformats.org/officeDocument/2006/relationships/notesSlide" Target="/ppt/notesSlides/notesSlide1.xml" Id="Rc3c98e071e9345c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dc92e593214b29" /><Relationship Type="http://schemas.openxmlformats.org/officeDocument/2006/relationships/notesSlide" Target="/ppt/notesSlides/notesSlide2.xml" Id="R7bab90ad00a0473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deb120a1a4d4d55" /><Relationship Type="http://schemas.openxmlformats.org/officeDocument/2006/relationships/notesSlide" Target="/ppt/notesSlides/notesSlide3.xml" Id="R4b9a5abdd71144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3d9f2bf81045c6" /><Relationship Type="http://schemas.openxmlformats.org/officeDocument/2006/relationships/image" Target="/ppt/media/image.png" Id="R996df163818547f2" /><Relationship Type="http://schemas.openxmlformats.org/officeDocument/2006/relationships/notesSlide" Target="/ppt/notesSlides/notesSlide4.xml" Id="Rc4051b45a8d24ca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f35d47771df431e" /><Relationship Type="http://schemas.openxmlformats.org/officeDocument/2006/relationships/image" Target="/ppt/media/image2.png" Id="R062a962d537641a4" /><Relationship Type="http://schemas.openxmlformats.org/officeDocument/2006/relationships/notesSlide" Target="/ppt/notesSlides/notesSlide5.xml" Id="R87ad1e6906cd4fe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48b9bc1bc9c4e99" /><Relationship Type="http://schemas.openxmlformats.org/officeDocument/2006/relationships/notesSlide" Target="/ppt/notesSlides/notesSlide6.xml" Id="Rc4f8c8d67946454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769d0aafe884576" /><Relationship Type="http://schemas.openxmlformats.org/officeDocument/2006/relationships/image" Target="/ppt/media/image3.png" Id="R8bcbc424d1814914" /><Relationship Type="http://schemas.openxmlformats.org/officeDocument/2006/relationships/notesSlide" Target="/ppt/notesSlides/notesSlide7.xml" Id="Raff243addaa8402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c8bffb3481c4cdc" /><Relationship Type="http://schemas.openxmlformats.org/officeDocument/2006/relationships/image" Target="/ppt/media/image4.png" Id="R1c2e1a8157e54b2d" /><Relationship Type="http://schemas.openxmlformats.org/officeDocument/2006/relationships/notesSlide" Target="/ppt/notesSlides/notesSlide8.xml" Id="Rd81e5a30c45d412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5f11193884a43a7" /><Relationship Type="http://schemas.openxmlformats.org/officeDocument/2006/relationships/image" Target="/ppt/media/image5.png" Id="Re746a0b3a3d74f8b" /><Relationship Type="http://schemas.openxmlformats.org/officeDocument/2006/relationships/notesSlide" Target="/ppt/notesSlides/notesSlide9.xml" Id="Rdb221b1fd3c0452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eeda175cd114482" /><Relationship Type="http://schemas.openxmlformats.org/officeDocument/2006/relationships/image" Target="/ppt/media/image6.png" Id="Rd3b11098df5543a8" /><Relationship Type="http://schemas.openxmlformats.org/officeDocument/2006/relationships/notesSlide" Target="/ppt/notesSlides/notesSlide10.xml" Id="R6c7019cdd804431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819f87389154cc0" /><Relationship Type="http://schemas.openxmlformats.org/officeDocument/2006/relationships/notesSlide" Target="/ppt/notesSlides/notesSlide11.xml" Id="R4a36b710fda7456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16098f1a6f17466c" /><Relationship Type="http://schemas.openxmlformats.org/officeDocument/2006/relationships/notesSlide" Target="/ppt/notesSlides/notesSlide12.xml" Id="Rf097a1a81cc140b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eda91ec4863c47d3" /><Relationship Type="http://schemas.openxmlformats.org/officeDocument/2006/relationships/notesSlide" Target="/ppt/notesSlides/notesSlide13.xml" Id="Rd7fd40c563604b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35313cd51cc45b7" /><Relationship Type="http://schemas.openxmlformats.org/officeDocument/2006/relationships/image" Target="/ppt/media/image7.png" Id="Rcb08cf481a9646a2" /><Relationship Type="http://schemas.openxmlformats.org/officeDocument/2006/relationships/notesSlide" Target="/ppt/notesSlides/notesSlide14.xml" Id="R5b212fd516ef447a"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d532a8fc6e04614" /><Relationship Type="http://schemas.openxmlformats.org/officeDocument/2006/relationships/image" Target="/ppt/media/image8.png" Id="R5a3b3e0404ff4b31" /><Relationship Type="http://schemas.openxmlformats.org/officeDocument/2006/relationships/notesSlide" Target="/ppt/notesSlides/notesSlide15.xml" Id="Rb760fd4fcb2d418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55c84aa9eb544d0f" /><Relationship Type="http://schemas.openxmlformats.org/officeDocument/2006/relationships/image" Target="/ppt/media/image9.png" Id="R3c9a7cfb848f4598" /><Relationship Type="http://schemas.openxmlformats.org/officeDocument/2006/relationships/notesSlide" Target="/ppt/notesSlides/notesSlide16.xml" Id="R5e0092310a2c45d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e7dcf9b808a4006" /><Relationship Type="http://schemas.openxmlformats.org/officeDocument/2006/relationships/notesSlide" Target="/ppt/notesSlides/notesSlide17.xml" Id="R5d21d64e19ae444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a504b63c7fb4299" /><Relationship Type="http://schemas.openxmlformats.org/officeDocument/2006/relationships/notesSlide" Target="/ppt/notesSlides/notesSlide18.xml" Id="Red0a66aad637417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db557d202178462d" /><Relationship Type="http://schemas.openxmlformats.org/officeDocument/2006/relationships/notesSlide" Target="/ppt/notesSlides/notesSlide19.xml" Id="Rf3dfade11a2c461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57f46c226a84456" /><Relationship Type="http://schemas.openxmlformats.org/officeDocument/2006/relationships/image" Target="/ppt/media/image10.png" Id="R8df272523fd84d91" /><Relationship Type="http://schemas.openxmlformats.org/officeDocument/2006/relationships/notesSlide" Target="/ppt/notesSlides/notesSlide20.xml" Id="R29eb5a7c6ce54d9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87f7a0003f764cd0" /><Relationship Type="http://schemas.openxmlformats.org/officeDocument/2006/relationships/image" Target="/ppt/media/image11.png" Id="Rf0d1d590c3514c7a" /><Relationship Type="http://schemas.openxmlformats.org/officeDocument/2006/relationships/notesSlide" Target="/ppt/notesSlides/notesSlide21.xml" Id="R8544432639a94e11"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73b267de2194948" /><Relationship Type="http://schemas.openxmlformats.org/officeDocument/2006/relationships/image" Target="/ppt/media/image12.png" Id="R187eb592d3b54473" /><Relationship Type="http://schemas.openxmlformats.org/officeDocument/2006/relationships/notesSlide" Target="/ppt/notesSlides/notesSlide22.xml" Id="Rc72dcded09c446e2"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0f156a71d935431a" /><Relationship Type="http://schemas.openxmlformats.org/officeDocument/2006/relationships/notesSlide" Target="/ppt/notesSlides/notesSlide23.xml" Id="Rb75772fe5da84eb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b5cc9f2e9024978" /><Relationship Type="http://schemas.openxmlformats.org/officeDocument/2006/relationships/notesSlide" Target="/ppt/notesSlides/notesSlide24.xml" Id="R40e9111533bc4010"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d78181cf89b44c50" /><Relationship Type="http://schemas.openxmlformats.org/officeDocument/2006/relationships/notesSlide" Target="/ppt/notesSlides/notesSlide25.xml" Id="Rde61c833290749f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0d27cd0b7a4405a" /><Relationship Type="http://schemas.openxmlformats.org/officeDocument/2006/relationships/image" Target="/ppt/media/image13.png" Id="R70fc1e4252d54079" /><Relationship Type="http://schemas.openxmlformats.org/officeDocument/2006/relationships/notesSlide" Target="/ppt/notesSlides/notesSlide26.xml" Id="R9c0b1dc53c194dc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17b41c2c7c94a86" /><Relationship Type="http://schemas.openxmlformats.org/officeDocument/2006/relationships/image" Target="/ppt/media/image14.png" Id="R5ca41df4eb6d41ff" /><Relationship Type="http://schemas.openxmlformats.org/officeDocument/2006/relationships/notesSlide" Target="/ppt/notesSlides/notesSlide27.xml" Id="R5d6e29b921344ff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1ac8edb850a34162" /><Relationship Type="http://schemas.openxmlformats.org/officeDocument/2006/relationships/image" Target="/ppt/media/image15.png" Id="Rb7d612054d3c4a3b" /><Relationship Type="http://schemas.openxmlformats.org/officeDocument/2006/relationships/notesSlide" Target="/ppt/notesSlides/notesSlide28.xml" Id="R9e3305605c304ba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5b0f1cf8d164914" /><Relationship Type="http://schemas.openxmlformats.org/officeDocument/2006/relationships/image" Target="/ppt/media/image16.png" Id="Re93aca1e4e774146" /><Relationship Type="http://schemas.openxmlformats.org/officeDocument/2006/relationships/notesSlide" Target="/ppt/notesSlides/notesSlide29.xml" Id="R3e3c5c50c67c4f1f"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4afed998c7e4766" /><Relationship Type="http://schemas.openxmlformats.org/officeDocument/2006/relationships/image" Target="/ppt/media/image17.png" Id="R0865b35d35de4d7c" /><Relationship Type="http://schemas.openxmlformats.org/officeDocument/2006/relationships/notesSlide" Target="/ppt/notesSlides/notesSlide30.xml" Id="R70254a900eca460e"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8af353579f0e4de2" /><Relationship Type="http://schemas.openxmlformats.org/officeDocument/2006/relationships/notesSlide" Target="/ppt/notesSlides/notesSlide31.xml" Id="Ra7b8e11bc7c34f69"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9e8b786b326464c" /><Relationship Type="http://schemas.openxmlformats.org/officeDocument/2006/relationships/notesSlide" Target="/ppt/notesSlides/notesSlide32.xml" Id="R6ce0e550dc584f54"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b7c4525520be4a86" /><Relationship Type="http://schemas.openxmlformats.org/officeDocument/2006/relationships/notesSlide" Target="/ppt/notesSlides/notesSlide33.xml" Id="Re9876674c1c0452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b90148d02e974b04" /><Relationship Type="http://schemas.openxmlformats.org/officeDocument/2006/relationships/image" Target="/ppt/media/image18.png" Id="R2b49bc60750746c4" /><Relationship Type="http://schemas.openxmlformats.org/officeDocument/2006/relationships/image" Target="/ppt/media/image19.png" Id="R8f4d4e0ee9404cf2" /><Relationship Type="http://schemas.openxmlformats.org/officeDocument/2006/relationships/notesSlide" Target="/ppt/notesSlides/notesSlide34.xml" Id="R13b1ee8759d04cd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3c425c6235da4bef" /><Relationship Type="http://schemas.openxmlformats.org/officeDocument/2006/relationships/image" Target="/ppt/media/image20.png" Id="R40577cfaabf941de" /><Relationship Type="http://schemas.openxmlformats.org/officeDocument/2006/relationships/image" Target="/ppt/media/image21.png" Id="R5e324b1cd4874944" /><Relationship Type="http://schemas.openxmlformats.org/officeDocument/2006/relationships/notesSlide" Target="/ppt/notesSlides/notesSlide35.xml" Id="R717e3b3d28cd43e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3527ba0585724b56" /><Relationship Type="http://schemas.openxmlformats.org/officeDocument/2006/relationships/image" Target="/ppt/media/image22.png" Id="Rab71ea3379dc416a" /><Relationship Type="http://schemas.openxmlformats.org/officeDocument/2006/relationships/image" Target="/ppt/media/image23.png" Id="R378c554d49d54071" /><Relationship Type="http://schemas.openxmlformats.org/officeDocument/2006/relationships/notesSlide" Target="/ppt/notesSlides/notesSlide36.xml" Id="R3b5185e409464cd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01421fbaa44246d3" /><Relationship Type="http://schemas.openxmlformats.org/officeDocument/2006/relationships/image" Target="/ppt/media/image24.png" Id="R5a4f13b976884dae" /><Relationship Type="http://schemas.openxmlformats.org/officeDocument/2006/relationships/image" Target="/ppt/media/image25.png" Id="R8a73872ba3324967" /><Relationship Type="http://schemas.openxmlformats.org/officeDocument/2006/relationships/notesSlide" Target="/ppt/notesSlides/notesSlide37.xml" Id="R277d8705c89042e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ff1cab0990bb495a" /><Relationship Type="http://schemas.openxmlformats.org/officeDocument/2006/relationships/image" Target="/ppt/media/image26.png" Id="Rc6435ca733b04c90" /><Relationship Type="http://schemas.openxmlformats.org/officeDocument/2006/relationships/image" Target="/ppt/media/image27.png" Id="Rba4e6d84f509401c" /><Relationship Type="http://schemas.openxmlformats.org/officeDocument/2006/relationships/notesSlide" Target="/ppt/notesSlides/notesSlide38.xml" Id="Raf8158fe809640a7"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606b744391b545ac" /><Relationship Type="http://schemas.openxmlformats.org/officeDocument/2006/relationships/notesSlide" Target="/ppt/notesSlides/notesSlide39.xml" Id="R985ec583ced04b0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03a8b93555ec4cfb" /><Relationship Type="http://schemas.openxmlformats.org/officeDocument/2006/relationships/notesSlide" Target="/ppt/notesSlides/notesSlide40.xml" Id="R805d5c609eb74d4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34179d5872e4e18" /><Relationship Type="http://schemas.openxmlformats.org/officeDocument/2006/relationships/notesSlide" Target="/ppt/notesSlides/notesSlide41.xml" Id="R1c803044f43b4cc3"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0c5c48606c304356" /><Relationship Type="http://schemas.openxmlformats.org/officeDocument/2006/relationships/image" Target="/ppt/media/image18.png" Id="R775de632016349c0" /><Relationship Type="http://schemas.openxmlformats.org/officeDocument/2006/relationships/image" Target="/ppt/media/image28.png" Id="R16086b40b52c4eea" /><Relationship Type="http://schemas.openxmlformats.org/officeDocument/2006/relationships/notesSlide" Target="/ppt/notesSlides/notesSlide42.xml" Id="Ra11cfd959c9d4b64"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93a9fa1131be4aa3" /><Relationship Type="http://schemas.openxmlformats.org/officeDocument/2006/relationships/image" Target="/ppt/media/image20.png" Id="R0546b729b4384054" /><Relationship Type="http://schemas.openxmlformats.org/officeDocument/2006/relationships/image" Target="/ppt/media/image29.png" Id="Rc5d895cd55914ca8" /><Relationship Type="http://schemas.openxmlformats.org/officeDocument/2006/relationships/notesSlide" Target="/ppt/notesSlides/notesSlide43.xml" Id="R1dade92eb7ee476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8b6d79731e944120" /><Relationship Type="http://schemas.openxmlformats.org/officeDocument/2006/relationships/image" Target="/ppt/media/image22.png" Id="R3c4612c6725b43b0" /><Relationship Type="http://schemas.openxmlformats.org/officeDocument/2006/relationships/image" Target="/ppt/media/image30.png" Id="R78bfca00f6b64fef" /><Relationship Type="http://schemas.openxmlformats.org/officeDocument/2006/relationships/notesSlide" Target="/ppt/notesSlides/notesSlide44.xml" Id="R9f2720d48009427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d7a7df20ce394cf3" /><Relationship Type="http://schemas.openxmlformats.org/officeDocument/2006/relationships/image" Target="/ppt/media/image24.png" Id="R75cba9ea2b814e17" /><Relationship Type="http://schemas.openxmlformats.org/officeDocument/2006/relationships/image" Target="/ppt/media/image31.png" Id="R25b79ae865434cb3" /><Relationship Type="http://schemas.openxmlformats.org/officeDocument/2006/relationships/notesSlide" Target="/ppt/notesSlides/notesSlide45.xml" Id="R96207e9889dd4d7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11948bc2b82d419f" /><Relationship Type="http://schemas.openxmlformats.org/officeDocument/2006/relationships/image" Target="/ppt/media/image26.png" Id="R505521163c5a42b9" /><Relationship Type="http://schemas.openxmlformats.org/officeDocument/2006/relationships/image" Target="/ppt/media/image32.png" Id="R67f4dde03342408a" /><Relationship Type="http://schemas.openxmlformats.org/officeDocument/2006/relationships/notesSlide" Target="/ppt/notesSlides/notesSlide46.xml" Id="Rb55e1b5a0209406a"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28f0e72450c4418c" /><Relationship Type="http://schemas.openxmlformats.org/officeDocument/2006/relationships/notesSlide" Target="/ppt/notesSlides/notesSlide47.xml" Id="R16b6e9de4e4548ca"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b8e904c299094d2a" /><Relationship Type="http://schemas.openxmlformats.org/officeDocument/2006/relationships/notesSlide" Target="/ppt/notesSlides/notesSlide48.xml" Id="R9b12c1adf3a14fb0"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30994ede694640df" /><Relationship Type="http://schemas.openxmlformats.org/officeDocument/2006/relationships/notesSlide" Target="/ppt/notesSlides/notesSlide49.xml" Id="R16c523d0cb9248a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76bd0468798d43e9" /><Relationship Type="http://schemas.openxmlformats.org/officeDocument/2006/relationships/image" Target="/ppt/media/image20.png" Id="R22ba4e36e5eb4d1b" /><Relationship Type="http://schemas.openxmlformats.org/officeDocument/2006/relationships/image" Target="/ppt/media/image33.png" Id="R6c63698516324790" /><Relationship Type="http://schemas.openxmlformats.org/officeDocument/2006/relationships/notesSlide" Target="/ppt/notesSlides/notesSlide50.xml" Id="R1168fc5c1db8434c"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e2a7211e54b643a8" /><Relationship Type="http://schemas.openxmlformats.org/officeDocument/2006/relationships/image" Target="/ppt/media/image20.png" Id="Ra2b3f3d4c82e4e60" /><Relationship Type="http://schemas.openxmlformats.org/officeDocument/2006/relationships/image" Target="/ppt/media/image34.png" Id="R99c5145f2b3247f7" /><Relationship Type="http://schemas.openxmlformats.org/officeDocument/2006/relationships/notesSlide" Target="/ppt/notesSlides/notesSlide51.xml" Id="R758c30114bc04b9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f201e4c6d9244801" /><Relationship Type="http://schemas.openxmlformats.org/officeDocument/2006/relationships/image" Target="/ppt/media/image26.png" Id="Rd077bb3f976d4e62" /><Relationship Type="http://schemas.openxmlformats.org/officeDocument/2006/relationships/image" Target="/ppt/media/image35.png" Id="R478a358af076414f" /><Relationship Type="http://schemas.openxmlformats.org/officeDocument/2006/relationships/notesSlide" Target="/ppt/notesSlides/notesSlide52.xml" Id="R5cc0553d6ec04a9d"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476c683888f84833" /><Relationship Type="http://schemas.openxmlformats.org/officeDocument/2006/relationships/image" Target="/ppt/media/image7.png" Id="Rc74ff4967d0f4dde" /><Relationship Type="http://schemas.openxmlformats.org/officeDocument/2006/relationships/image" Target="/ppt/media/image36.png" Id="R9b0260c6ccde4d21" /><Relationship Type="http://schemas.openxmlformats.org/officeDocument/2006/relationships/notesSlide" Target="/ppt/notesSlides/notesSlide53.xml" Id="R4e0a3777d732422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d4c4403ccca34d2c" /><Relationship Type="http://schemas.openxmlformats.org/officeDocument/2006/relationships/notesSlide" Target="/ppt/notesSlides/notesSlide54.xml" Id="R9ce0beb407e04b6a"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b96c8bd369404674" /><Relationship Type="http://schemas.openxmlformats.org/officeDocument/2006/relationships/notesSlide" Target="/ppt/notesSlides/notesSlide55.xml" Id="Rc3e159af97a64a3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bea52841a1b7410f" /><Relationship Type="http://schemas.openxmlformats.org/officeDocument/2006/relationships/notesSlide" Target="/ppt/notesSlides/notesSlide56.xml" Id="Rce5d923f3b3d46f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21a0643a6c6c4fb0" /><Relationship Type="http://schemas.openxmlformats.org/officeDocument/2006/relationships/image" Target="/ppt/media/image37.png" Id="Refb1c97f13ac47f0" /><Relationship Type="http://schemas.openxmlformats.org/officeDocument/2006/relationships/image" Target="/ppt/media/image38.png" Id="R2276c5b952644f8e" /><Relationship Type="http://schemas.openxmlformats.org/officeDocument/2006/relationships/notesSlide" Target="/ppt/notesSlides/notesSlide57.xml" Id="R33d775ac6a29426c"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3b3d33d8ecba4b72" /><Relationship Type="http://schemas.openxmlformats.org/officeDocument/2006/relationships/image" Target="/ppt/media/image7.png" Id="Rc781f78feb7e42e4" /><Relationship Type="http://schemas.openxmlformats.org/officeDocument/2006/relationships/image" Target="/ppt/media/image39.png" Id="R590aa6c20147439e" /><Relationship Type="http://schemas.openxmlformats.org/officeDocument/2006/relationships/notesSlide" Target="/ppt/notesSlides/notesSlide58.xml" Id="R4cf2e8dc220a4874"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94ca8eddcab74faf" /><Relationship Type="http://schemas.openxmlformats.org/officeDocument/2006/relationships/notesSlide" Target="/ppt/notesSlides/notesSlide59.xml" Id="R108c6809b8f84571"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900f80c256774648" /><Relationship Type="http://schemas.openxmlformats.org/officeDocument/2006/relationships/image" Target="/ppt/media/image40.png" Id="R3c17de4ebea74ee3" /><Relationship Type="http://schemas.openxmlformats.org/officeDocument/2006/relationships/image" Target="/ppt/media/image41.png" Id="R9434c015dba748ba" /><Relationship Type="http://schemas.openxmlformats.org/officeDocument/2006/relationships/notesSlide" Target="/ppt/notesSlides/notesSlide60.xml" Id="R04d647f060754b1b"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a4119b4ff2214578" /><Relationship Type="http://schemas.openxmlformats.org/officeDocument/2006/relationships/image" Target="/ppt/media/image42.png" Id="R8c8401a2b3514145" /><Relationship Type="http://schemas.openxmlformats.org/officeDocument/2006/relationships/image" Target="/ppt/media/image43.png" Id="R6ba660e5c4724b5e" /><Relationship Type="http://schemas.openxmlformats.org/officeDocument/2006/relationships/notesSlide" Target="/ppt/notesSlides/notesSlide61.xml" Id="R57231b7ee33a4cf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16cc29347a5148ea" /><Relationship Type="http://schemas.openxmlformats.org/officeDocument/2006/relationships/notesSlide" Target="/ppt/notesSlides/notesSlide62.xml" Id="R83ef9a6946944523"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52eca6b38fcd4181" /><Relationship Type="http://schemas.openxmlformats.org/officeDocument/2006/relationships/notesSlide" Target="/ppt/notesSlides/notesSlide63.xml" Id="R0b3b9e3fa1674dd7"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12df7c06741c4c85" /><Relationship Type="http://schemas.openxmlformats.org/officeDocument/2006/relationships/notesSlide" Target="/ppt/notesSlides/notesSlide64.xml" Id="R54524b98bc7c44f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3d8bd07b60a4a99" /><Relationship Type="http://schemas.openxmlformats.org/officeDocument/2006/relationships/image" Target="/ppt/media/image44.png" Id="Rffc531cfa5e542c9" /><Relationship Type="http://schemas.openxmlformats.org/officeDocument/2006/relationships/notesSlide" Target="/ppt/notesSlides/notesSlide65.xml" Id="Rb298fc80b1904ef9"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7795deea10f449fe" /><Relationship Type="http://schemas.openxmlformats.org/officeDocument/2006/relationships/notesSlide" Target="/ppt/notesSlides/notesSlide66.xml" Id="R9c2fecfc2cf542cd"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C287F2A-19E1-4D71-8665-A325D3693E9B}"/>
              </a:ext>
            </a:extLst>
          </p:cNvPr>
          <p:cNvSpPr>
            <a:spLocks xmlns:a="http://schemas.openxmlformats.org/drawingml/2006/main" noGrp="1"/>
          </p:cNvSpPr>
          <p:nvPr/>
        </p:nvSpPr>
        <p:spPr>
          <a:xfrm xmlns:a="http://schemas.openxmlformats.org/drawingml/2006/main">
            <a:off x="457200" y="400050"/>
            <a:ext cx="4953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OPERATOR HYPOTHESIS LAB</a:t>
            </a:r>
          </a:p>
        </p:txBody>
      </p:sp>
      <p:sp>
        <p:nvSpPr>
          <p:cNvPr id="2" name="">
            <a:extLst xmlns:a="http://schemas.openxmlformats.org/drawingml/2006/main">
              <a:ext uri="{FF2B5EF4-FFF2-40B4-BE49-F238E27FC236}">
                <a16:creationId xmlns:a16="http://schemas.microsoft.com/office/drawing/2014/main" id="{87B4752F-5C3B-406E-860B-425737DDAD92}"/>
              </a:ext>
            </a:extLst>
          </p:cNvPr>
          <p:cNvSpPr>
            <a:spLocks xmlns:a="http://schemas.openxmlformats.org/drawingml/2006/main" noGrp="1"/>
          </p:cNvSpPr>
          <p:nvPr/>
        </p:nvSpPr>
        <p:spPr>
          <a:xfrm xmlns:a="http://schemas.openxmlformats.org/drawingml/2006/main">
            <a:off x="457200" y="1695450"/>
            <a:ext cx="10001250"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TSLA descriptive</a:t>
            </a:r>
          </a:p>
          <a:p xmlns:a="http://schemas.openxmlformats.org/drawingml/2006/main">
            <a:pPr algn="l">
              <a:buNone/>
              <a:defRPr sz="6000" b="1">
                <a:solidFill>
                  <a:srgbClr val="000000"/>
                </a:solidFill>
                <a:latin typeface="Arial"/>
                <a:ea typeface="Arial"/>
                <a:cs typeface="Arial"/>
              </a:defRPr>
            </a:pPr>
            <a:r>
              <a:rPr sz="6000" b="1">
                <a:solidFill>
                  <a:srgbClr val="000000"/>
                </a:solidFill>
                <a:latin typeface="Arial"/>
                <a:ea typeface="Arial"/>
                <a:cs typeface="Arial"/>
              </a:rPr>
              <a:t>microscope</a:t>
            </a:r>
          </a:p>
        </p:txBody>
      </p:sp>
      <p:sp>
        <p:nvSpPr>
          <p:cNvPr id="3" name="">
            <a:extLst xmlns:a="http://schemas.openxmlformats.org/drawingml/2006/main">
              <a:ext uri="{FF2B5EF4-FFF2-40B4-BE49-F238E27FC236}">
                <a16:creationId xmlns:a16="http://schemas.microsoft.com/office/drawing/2014/main" id="{192C665E-F0B1-4B7F-B98C-E0352166847C}"/>
              </a:ext>
            </a:extLst>
          </p:cNvPr>
          <p:cNvSpPr>
            <a:spLocks xmlns:a="http://schemas.openxmlformats.org/drawingml/2006/main" noGrp="1"/>
          </p:cNvSpPr>
          <p:nvPr/>
        </p:nvSpPr>
        <p:spPr>
          <a:xfrm xmlns:a="http://schemas.openxmlformats.org/drawingml/2006/main">
            <a:off x="457200" y="4191000"/>
            <a:ext cx="123825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2CA5C4CF-93D0-4941-8B4C-E3E2BA103068}"/>
              </a:ext>
            </a:extLst>
          </p:cNvPr>
          <p:cNvSpPr>
            <a:spLocks xmlns:a="http://schemas.openxmlformats.org/drawingml/2006/main" noGrp="1"/>
          </p:cNvSpPr>
          <p:nvPr/>
        </p:nvSpPr>
        <p:spPr>
          <a:xfrm xmlns:a="http://schemas.openxmlformats.org/drawingml/2006/main">
            <a:off x="457200" y="4629150"/>
            <a:ext cx="8286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325" b="0">
                <a:solidFill>
                  <a:srgbClr val="273548"/>
                </a:solidFill>
                <a:latin typeface="Arial"/>
                <a:ea typeface="Arial"/>
                <a:cs typeface="Arial"/>
              </a:defRPr>
            </a:pPr>
            <a:r>
              <a:rPr sz="2325" b="0">
                <a:solidFill>
                  <a:srgbClr val="273548"/>
                </a:solidFill>
                <a:latin typeface="Arial"/>
                <a:ea typeface="Arial"/>
                <a:cs typeface="Arial"/>
              </a:rPr>
              <a:t>From visual intuition to measured daily-return dependence</a:t>
            </a:r>
          </a:p>
        </p:txBody>
      </p:sp>
      <p:sp>
        <p:nvSpPr>
          <p:cNvPr id="5" name="">
            <a:extLst xmlns:a="http://schemas.openxmlformats.org/drawingml/2006/main">
              <a:ext uri="{FF2B5EF4-FFF2-40B4-BE49-F238E27FC236}">
                <a16:creationId xmlns:a16="http://schemas.microsoft.com/office/drawing/2014/main" id="{F79AA5C7-3D69-4D62-9FC3-A69A478BDE05}"/>
              </a:ext>
            </a:extLst>
          </p:cNvPr>
          <p:cNvSpPr>
            <a:spLocks xmlns:a="http://schemas.openxmlformats.org/drawingml/2006/main" noGrp="1"/>
          </p:cNvSpPr>
          <p:nvPr/>
        </p:nvSpPr>
        <p:spPr>
          <a:xfrm xmlns:a="http://schemas.openxmlformats.org/drawingml/2006/main">
            <a:off x="457200" y="6096000"/>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384"/>
                </a:solidFill>
                <a:latin typeface="Arial"/>
                <a:ea typeface="Arial"/>
                <a:cs typeface="Arial"/>
              </a:defRPr>
            </a:pPr>
            <a:r>
              <a:rPr sz="1350" b="0">
                <a:solidFill>
                  <a:srgbClr val="667384"/>
                </a:solidFill>
                <a:latin typeface="Arial"/>
                <a:ea typeface="Arial"/>
                <a:cs typeface="Arial"/>
              </a:rPr>
              <a:t>Adjusted daily TSLA | 2018-2023 | Descriptive research only</a:t>
            </a:r>
          </a:p>
        </p:txBody>
      </p:sp>
    </p:spTree>
    <p:extLst>
      <p:ext uri="{BB962C8B-B14F-4D97-AF65-F5344CB8AC3E}">
        <p14:creationId xmlns:p14="http://schemas.microsoft.com/office/powerpoint/2010/main" val="150197864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ection-2">
            <a:extLst xmlns:a="http://schemas.openxmlformats.org/drawingml/2006/main">
              <a:ext uri="{FF2B5EF4-FFF2-40B4-BE49-F238E27FC236}">
                <a16:creationId xmlns:a16="http://schemas.microsoft.com/office/drawing/2014/main" id="{EABBA6E1-F45F-441D-A600-8142D7D302DC}"/>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2">
            <a:extLst xmlns:a="http://schemas.openxmlformats.org/drawingml/2006/main">
              <a:ext uri="{FF2B5EF4-FFF2-40B4-BE49-F238E27FC236}">
                <a16:creationId xmlns:a16="http://schemas.microsoft.com/office/drawing/2014/main" id="{175C8CBF-2952-45DB-A51C-31B8AB274828}"/>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lane starts with description, not strategy</a:t>
            </a:r>
          </a:p>
        </p:txBody>
      </p:sp>
      <p:sp>
        <p:nvSpPr>
          <p:cNvPr id="3" name="">
            <a:extLst xmlns:a="http://schemas.openxmlformats.org/drawingml/2006/main">
              <a:ext uri="{FF2B5EF4-FFF2-40B4-BE49-F238E27FC236}">
                <a16:creationId xmlns:a16="http://schemas.microsoft.com/office/drawing/2014/main" id="{ECCD8AFB-8939-414E-BF70-4C44373BCDDB}"/>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2">
            <a:extLst xmlns:a="http://schemas.openxmlformats.org/drawingml/2006/main">
              <a:ext uri="{FF2B5EF4-FFF2-40B4-BE49-F238E27FC236}">
                <a16:creationId xmlns:a16="http://schemas.microsoft.com/office/drawing/2014/main" id="{DAFEC4F1-50D5-4693-B6C1-AC1138632163}"/>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2">
            <a:extLst xmlns:a="http://schemas.openxmlformats.org/drawingml/2006/main">
              <a:ext uri="{FF2B5EF4-FFF2-40B4-BE49-F238E27FC236}">
                <a16:creationId xmlns:a16="http://schemas.microsoft.com/office/drawing/2014/main" id="{EF6CAA23-BA21-472E-986D-D98B4D1F2C84}"/>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27CF66DD-540D-476F-A7F5-02147E71AD61}"/>
              </a:ext>
            </a:extLst>
          </p:cNvPr>
          <p:cNvSpPr>
            <a:spLocks xmlns:a="http://schemas.openxmlformats.org/drawingml/2006/main" noGrp="1"/>
          </p:cNvSpPr>
          <p:nvPr/>
        </p:nvSpPr>
        <p:spPr>
          <a:xfrm xmlns:a="http://schemas.openxmlformats.org/drawingml/2006/main">
            <a:off x="590550" y="1619250"/>
            <a:ext cx="7620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7" name="">
            <a:extLst xmlns:a="http://schemas.openxmlformats.org/drawingml/2006/main">
              <a:ext uri="{FF2B5EF4-FFF2-40B4-BE49-F238E27FC236}">
                <a16:creationId xmlns:a16="http://schemas.microsoft.com/office/drawing/2014/main" id="{5374F55B-1446-4F42-BD1E-8FAB2CF59C32}"/>
              </a:ext>
            </a:extLst>
          </p:cNvPr>
          <p:cNvSpPr>
            <a:spLocks xmlns:a="http://schemas.openxmlformats.org/drawingml/2006/main" noGrp="1"/>
          </p:cNvSpPr>
          <p:nvPr/>
        </p:nvSpPr>
        <p:spPr>
          <a:xfrm xmlns:a="http://schemas.openxmlformats.org/drawingml/2006/main">
            <a:off x="895350" y="15811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See</a:t>
            </a:r>
          </a:p>
        </p:txBody>
      </p:sp>
      <p:sp>
        <p:nvSpPr>
          <p:cNvPr id="8" name="">
            <a:extLst xmlns:a="http://schemas.openxmlformats.org/drawingml/2006/main">
              <a:ext uri="{FF2B5EF4-FFF2-40B4-BE49-F238E27FC236}">
                <a16:creationId xmlns:a16="http://schemas.microsoft.com/office/drawing/2014/main" id="{05F1277C-2532-4E5C-8906-6DB6877BE9CA}"/>
              </a:ext>
            </a:extLst>
          </p:cNvPr>
          <p:cNvSpPr>
            <a:spLocks xmlns:a="http://schemas.openxmlformats.org/drawingml/2006/main" noGrp="1"/>
          </p:cNvSpPr>
          <p:nvPr/>
        </p:nvSpPr>
        <p:spPr>
          <a:xfrm xmlns:a="http://schemas.openxmlformats.org/drawingml/2006/main">
            <a:off x="4762500" y="15621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Start with raw price and return geometry before deciding what relationship ought to exist.</a:t>
            </a:r>
          </a:p>
        </p:txBody>
      </p:sp>
      <p:sp>
        <p:nvSpPr>
          <p:cNvPr id="9" name="">
            <a:extLst xmlns:a="http://schemas.openxmlformats.org/drawingml/2006/main">
              <a:ext uri="{FF2B5EF4-FFF2-40B4-BE49-F238E27FC236}">
                <a16:creationId xmlns:a16="http://schemas.microsoft.com/office/drawing/2014/main" id="{C71372FE-75A4-4E6C-8C5E-5569ECB204F5}"/>
              </a:ext>
            </a:extLst>
          </p:cNvPr>
          <p:cNvSpPr>
            <a:spLocks xmlns:a="http://schemas.openxmlformats.org/drawingml/2006/main" noGrp="1"/>
          </p:cNvSpPr>
          <p:nvPr/>
        </p:nvSpPr>
        <p:spPr>
          <a:xfrm xmlns:a="http://schemas.openxmlformats.org/drawingml/2006/main">
            <a:off x="895350" y="26289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0" name="">
            <a:extLst xmlns:a="http://schemas.openxmlformats.org/drawingml/2006/main">
              <a:ext uri="{FF2B5EF4-FFF2-40B4-BE49-F238E27FC236}">
                <a16:creationId xmlns:a16="http://schemas.microsoft.com/office/drawing/2014/main" id="{4D14A25A-AA62-4D50-B30F-5346853D08EC}"/>
              </a:ext>
            </a:extLst>
          </p:cNvPr>
          <p:cNvSpPr>
            <a:spLocks xmlns:a="http://schemas.openxmlformats.org/drawingml/2006/main" noGrp="1"/>
          </p:cNvSpPr>
          <p:nvPr/>
        </p:nvSpPr>
        <p:spPr>
          <a:xfrm xmlns:a="http://schemas.openxmlformats.org/drawingml/2006/main">
            <a:off x="590550" y="3028950"/>
            <a:ext cx="7620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1" name="">
            <a:extLst xmlns:a="http://schemas.openxmlformats.org/drawingml/2006/main">
              <a:ext uri="{FF2B5EF4-FFF2-40B4-BE49-F238E27FC236}">
                <a16:creationId xmlns:a16="http://schemas.microsoft.com/office/drawing/2014/main" id="{C29AF01F-0357-4FCE-9139-7DACD43D482C}"/>
              </a:ext>
            </a:extLst>
          </p:cNvPr>
          <p:cNvSpPr>
            <a:spLocks xmlns:a="http://schemas.openxmlformats.org/drawingml/2006/main" noGrp="1"/>
          </p:cNvSpPr>
          <p:nvPr/>
        </p:nvSpPr>
        <p:spPr>
          <a:xfrm xmlns:a="http://schemas.openxmlformats.org/drawingml/2006/main">
            <a:off x="895350" y="29908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Name</a:t>
            </a:r>
          </a:p>
        </p:txBody>
      </p:sp>
      <p:sp>
        <p:nvSpPr>
          <p:cNvPr id="12" name="">
            <a:extLst xmlns:a="http://schemas.openxmlformats.org/drawingml/2006/main">
              <a:ext uri="{FF2B5EF4-FFF2-40B4-BE49-F238E27FC236}">
                <a16:creationId xmlns:a16="http://schemas.microsoft.com/office/drawing/2014/main" id="{EC63BF40-3714-43F0-ACA7-13D0F8295739}"/>
              </a:ext>
            </a:extLst>
          </p:cNvPr>
          <p:cNvSpPr>
            <a:spLocks xmlns:a="http://schemas.openxmlformats.org/drawingml/2006/main" noGrp="1"/>
          </p:cNvSpPr>
          <p:nvPr/>
        </p:nvSpPr>
        <p:spPr>
          <a:xfrm xmlns:a="http://schemas.openxmlformats.org/drawingml/2006/main">
            <a:off x="4762500" y="29718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Separate direction, magnitude, path shape, and volatility so one visual impression does not stand in for all four.</a:t>
            </a:r>
          </a:p>
        </p:txBody>
      </p:sp>
      <p:sp>
        <p:nvSpPr>
          <p:cNvPr id="13" name="">
            <a:extLst xmlns:a="http://schemas.openxmlformats.org/drawingml/2006/main">
              <a:ext uri="{FF2B5EF4-FFF2-40B4-BE49-F238E27FC236}">
                <a16:creationId xmlns:a16="http://schemas.microsoft.com/office/drawing/2014/main" id="{6C7591B6-C755-4D50-BB99-DA5C68C11389}"/>
              </a:ext>
            </a:extLst>
          </p:cNvPr>
          <p:cNvSpPr>
            <a:spLocks xmlns:a="http://schemas.openxmlformats.org/drawingml/2006/main" noGrp="1"/>
          </p:cNvSpPr>
          <p:nvPr/>
        </p:nvSpPr>
        <p:spPr>
          <a:xfrm xmlns:a="http://schemas.openxmlformats.org/drawingml/2006/main">
            <a:off x="895350" y="40386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18B0F103-9237-4C60-86EF-786CECE7EA53}"/>
              </a:ext>
            </a:extLst>
          </p:cNvPr>
          <p:cNvSpPr>
            <a:spLocks xmlns:a="http://schemas.openxmlformats.org/drawingml/2006/main" noGrp="1"/>
          </p:cNvSpPr>
          <p:nvPr/>
        </p:nvSpPr>
        <p:spPr>
          <a:xfrm xmlns:a="http://schemas.openxmlformats.org/drawingml/2006/main">
            <a:off x="590550" y="4438650"/>
            <a:ext cx="7620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5" name="">
            <a:extLst xmlns:a="http://schemas.openxmlformats.org/drawingml/2006/main">
              <a:ext uri="{FF2B5EF4-FFF2-40B4-BE49-F238E27FC236}">
                <a16:creationId xmlns:a16="http://schemas.microsoft.com/office/drawing/2014/main" id="{922839DF-980D-4991-A539-25BA44F4CB56}"/>
              </a:ext>
            </a:extLst>
          </p:cNvPr>
          <p:cNvSpPr>
            <a:spLocks xmlns:a="http://schemas.openxmlformats.org/drawingml/2006/main" noGrp="1"/>
          </p:cNvSpPr>
          <p:nvPr/>
        </p:nvSpPr>
        <p:spPr>
          <a:xfrm xmlns:a="http://schemas.openxmlformats.org/drawingml/2006/main">
            <a:off x="895350" y="440055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273548"/>
                </a:solidFill>
                <a:latin typeface="Arial"/>
                <a:ea typeface="Arial"/>
                <a:cs typeface="Arial"/>
              </a:defRPr>
            </a:pPr>
            <a:r>
              <a:rPr sz="2100" b="1">
                <a:solidFill>
                  <a:srgbClr val="273548"/>
                </a:solidFill>
                <a:latin typeface="Arial"/>
                <a:ea typeface="Arial"/>
                <a:cs typeface="Arial"/>
              </a:rPr>
              <a:t>Measure</a:t>
            </a:r>
          </a:p>
        </p:txBody>
      </p:sp>
      <p:sp>
        <p:nvSpPr>
          <p:cNvPr id="16" name="">
            <a:extLst xmlns:a="http://schemas.openxmlformats.org/drawingml/2006/main">
              <a:ext uri="{FF2B5EF4-FFF2-40B4-BE49-F238E27FC236}">
                <a16:creationId xmlns:a16="http://schemas.microsoft.com/office/drawing/2014/main" id="{E1A18768-8500-49CC-AD63-3A41DD6680E7}"/>
              </a:ext>
            </a:extLst>
          </p:cNvPr>
          <p:cNvSpPr>
            <a:spLocks xmlns:a="http://schemas.openxmlformats.org/drawingml/2006/main" noGrp="1"/>
          </p:cNvSpPr>
          <p:nvPr/>
        </p:nvSpPr>
        <p:spPr>
          <a:xfrm xmlns:a="http://schemas.openxmlformats.org/drawingml/2006/main">
            <a:off x="4762500" y="4381500"/>
            <a:ext cx="6667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273548"/>
                </a:solidFill>
                <a:latin typeface="Arial"/>
                <a:ea typeface="Arial"/>
                <a:cs typeface="Arial"/>
              </a:defRPr>
            </a:pPr>
            <a:r>
              <a:rPr sz="1650" b="0">
                <a:solidFill>
                  <a:srgbClr val="273548"/>
                </a:solidFill>
                <a:latin typeface="Arial"/>
                <a:ea typeface="Arial"/>
                <a:cs typeface="Arial"/>
              </a:rPr>
              <a:t>Quantify one frozen relationship at a time; only later ask whether a finding predicts, trades, or transports.</a:t>
            </a:r>
          </a:p>
        </p:txBody>
      </p:sp>
      <p:sp>
        <p:nvSpPr>
          <p:cNvPr id="17" name="">
            <a:extLst xmlns:a="http://schemas.openxmlformats.org/drawingml/2006/main">
              <a:ext uri="{FF2B5EF4-FFF2-40B4-BE49-F238E27FC236}">
                <a16:creationId xmlns:a16="http://schemas.microsoft.com/office/drawing/2014/main" id="{4835A8B2-7CB6-4F65-9360-0E168549EE12}"/>
              </a:ext>
            </a:extLst>
          </p:cNvPr>
          <p:cNvSpPr>
            <a:spLocks xmlns:a="http://schemas.openxmlformats.org/drawingml/2006/main" noGrp="1"/>
          </p:cNvSpPr>
          <p:nvPr/>
        </p:nvSpPr>
        <p:spPr>
          <a:xfrm xmlns:a="http://schemas.openxmlformats.org/drawingml/2006/main">
            <a:off x="895350" y="5448300"/>
            <a:ext cx="105346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Tree>
    <p:extLst>
      <p:ext uri="{BB962C8B-B14F-4D97-AF65-F5344CB8AC3E}">
        <p14:creationId xmlns:p14="http://schemas.microsoft.com/office/powerpoint/2010/main" val="44650942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One question, one fixed sample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r[t] = log(C[t] / C[t-1])</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Each row pairs yesterday's adjusted close-to-close log return with today's.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1,509</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consecutive-session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Price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 sessions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alternate lag or horizon</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Trading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82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policy or performance calculation</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Confirmation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post-2023 data read</a:t>
            </a:r>
          </a:p>
        </p:txBody>
      </p:sp>
    </p:spTree>
    <p:extLst>
      <p:ext uri="{BB962C8B-B14F-4D97-AF65-F5344CB8AC3E}">
        <p14:creationId xmlns:p14="http://schemas.microsoft.com/office/powerpoint/2010/main" val="139728336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raw cloud has no clear directional structure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996df163818547f2"/>
          <a:stretch xmlns:a="http://schemas.openxmlformats.org/drawingml/2006/main"/>
        </p:blipFill>
        <p:spPr>
          <a:xfrm xmlns:a="http://schemas.openxmlformats.org/drawingml/2006/main">
            <a:off x="2942545" y="1352550"/>
            <a:ext cx="6306911" cy="490537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172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First look: no fitted line, correlation, p-value, binning, or outlier removal.</a:t>
            </a:r>
          </a:p>
        </p:txBody>
      </p:sp>
    </p:spTree>
    <p:extLst>
      <p:ext uri="{BB962C8B-B14F-4D97-AF65-F5344CB8AC3E}">
        <p14:creationId xmlns:p14="http://schemas.microsoft.com/office/powerpoint/2010/main" val="400872380"/>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labels path shape—not volatility</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62a962d537641a4"/>
          <a:stretch xmlns:a="http://schemas.openxmlformats.org/drawingml/2006/main"/>
        </p:blipFill>
        <p:spPr>
          <a:xfrm xmlns:a="http://schemas.openxmlformats.org/drawingml/2006/main">
            <a:off x="325967" y="1381125"/>
            <a:ext cx="8568267" cy="48196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Absolute 20-session endpoint displacement divided by the total log-price path traveled.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recognizes efficient rises and declines. Red marks a locally choppy path. Daily thresholding is visibly flickery near transitions.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spTree>
    <p:extLst>
      <p:ext uri="{BB962C8B-B14F-4D97-AF65-F5344CB8AC3E}">
        <p14:creationId xmlns:p14="http://schemas.microsoft.com/office/powerpoint/2010/main" val="317191340"/>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MEASUREMENT PASS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A visual cloud asks one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precise next question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Does r[t-1] contain measurable information about r[t]?</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Primary: signed linear dependence. Diagnostics: rank, sign, outliers, annual stability, and absolute-return persistence.</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a:t>
            </a:r>
          </a:p>
        </p:txBody>
      </p:sp>
    </p:spTree>
    <p:extLst>
      <p:ext uri="{BB962C8B-B14F-4D97-AF65-F5344CB8AC3E}">
        <p14:creationId xmlns:p14="http://schemas.microsoft.com/office/powerpoint/2010/main" val="8024806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dependence is effectively zero</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8bcbc424d1814914"/>
          <a:stretch xmlns:a="http://schemas.openxmlformats.org/drawingml/2006/main"/>
        </p:blipFill>
        <p:spPr>
          <a:xfrm xmlns:a="http://schemas.openxmlformats.org/drawingml/2006/main">
            <a:off x="609600" y="1428750"/>
            <a:ext cx="7143750" cy="4762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-0.021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[-0.073, +0.028]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block-bootstrap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0.044%</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R-squared: variance explained</a:t>
            </a:r>
          </a:p>
        </p:txBody>
      </p:sp>
    </p:spTree>
    <p:extLst>
      <p:ext uri="{BB962C8B-B14F-4D97-AF65-F5344CB8AC3E}">
        <p14:creationId xmlns:p14="http://schemas.microsoft.com/office/powerpoint/2010/main" val="158317070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Yesterday's sign barely changes tomorrow's odds</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1c2e1a8157e54b2d"/>
          <a:stretch xmlns:a="http://schemas.openxmlformats.org/drawingml/2006/main"/>
        </p:blipFill>
        <p:spPr>
          <a:xfrm xmlns:a="http://schemas.openxmlformats.org/drawingml/2006/main">
            <a:off x="381000" y="1494631"/>
            <a:ext cx="7905750" cy="4611688"/>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52.9%</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down day</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52.1%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after a prior up day</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Difference: -0.7 percentage points</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95% interval: -5.8 to +4.2 pp</a:t>
            </a:r>
          </a:p>
        </p:txBody>
      </p:sp>
    </p:spTree>
    <p:extLst>
      <p:ext uri="{BB962C8B-B14F-4D97-AF65-F5344CB8AC3E}">
        <p14:creationId xmlns:p14="http://schemas.microsoft.com/office/powerpoint/2010/main" val="172404363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ection-9">
            <a:extLst xmlns:a="http://schemas.openxmlformats.org/drawingml/2006/main">
              <a:ext uri="{FF2B5EF4-FFF2-40B4-BE49-F238E27FC236}">
                <a16:creationId xmlns:a16="http://schemas.microsoft.com/office/drawing/2014/main" id="{EBA183BA-1F33-43C2-A340-16B1E99A7378}"/>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9">
            <a:extLst xmlns:a="http://schemas.openxmlformats.org/drawingml/2006/main">
              <a:ext uri="{FF2B5EF4-FFF2-40B4-BE49-F238E27FC236}">
                <a16:creationId xmlns:a16="http://schemas.microsoft.com/office/drawing/2014/main" id="{0663B6F4-658E-4DE8-898E-470A7CF5CC9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signed result stays weak under obvious checks</a:t>
            </a:r>
          </a:p>
        </p:txBody>
      </p:sp>
      <p:sp>
        <p:nvSpPr>
          <p:cNvPr id="3" name="">
            <a:extLst xmlns:a="http://schemas.openxmlformats.org/drawingml/2006/main">
              <a:ext uri="{FF2B5EF4-FFF2-40B4-BE49-F238E27FC236}">
                <a16:creationId xmlns:a16="http://schemas.microsoft.com/office/drawing/2014/main" id="{A4D2132A-BB30-4209-B894-FCC20F4F7A8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9">
            <a:extLst xmlns:a="http://schemas.openxmlformats.org/drawingml/2006/main">
              <a:ext uri="{FF2B5EF4-FFF2-40B4-BE49-F238E27FC236}">
                <a16:creationId xmlns:a16="http://schemas.microsoft.com/office/drawing/2014/main" id="{5B6CFEAA-57C7-4EA4-BAF7-395EC1B3D457}"/>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9">
            <a:extLst xmlns:a="http://schemas.openxmlformats.org/drawingml/2006/main">
              <a:ext uri="{FF2B5EF4-FFF2-40B4-BE49-F238E27FC236}">
                <a16:creationId xmlns:a16="http://schemas.microsoft.com/office/drawing/2014/main" id="{0A964CCF-1375-4C63-86E0-327EA665BDE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4B3A4194-DA3D-4FE2-8903-084599EE63EF}"/>
              </a:ext>
            </a:extLst>
          </p:cNvPr>
          <p:cNvSpPr>
            <a:spLocks xmlns:a="http://schemas.openxmlformats.org/drawingml/2006/main" noGrp="1"/>
          </p:cNvSpPr>
          <p:nvPr/>
        </p:nvSpPr>
        <p:spPr>
          <a:xfrm xmlns:a="http://schemas.openxmlformats.org/drawingml/2006/main">
            <a:off x="304800" y="1428750"/>
            <a:ext cx="8096250" cy="481012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e746a0b3a3d74f8b"/>
          <a:stretch xmlns:a="http://schemas.openxmlformats.org/drawingml/2006/main"/>
        </p:blipFill>
        <p:spPr>
          <a:xfrm xmlns:a="http://schemas.openxmlformats.org/drawingml/2006/main">
            <a:off x="588479" y="1428750"/>
            <a:ext cx="7528891" cy="4810125"/>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F5E547BA-6B5C-4F5A-B4E4-FD99AACD6FB4}"/>
              </a:ext>
            </a:extLst>
          </p:cNvPr>
          <p:cNvSpPr>
            <a:spLocks xmlns:a="http://schemas.openxmlformats.org/drawingml/2006/main" noGrp="1"/>
          </p:cNvSpPr>
          <p:nvPr/>
        </p:nvSpPr>
        <p:spPr>
          <a:xfrm xmlns:a="http://schemas.openxmlformats.org/drawingml/2006/main">
            <a:off x="8724900" y="165735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Rank check</a:t>
            </a:r>
          </a:p>
        </p:txBody>
      </p:sp>
      <p:sp>
        <p:nvSpPr>
          <p:cNvPr id="9" name="">
            <a:extLst xmlns:a="http://schemas.openxmlformats.org/drawingml/2006/main">
              <a:ext uri="{FF2B5EF4-FFF2-40B4-BE49-F238E27FC236}">
                <a16:creationId xmlns:a16="http://schemas.microsoft.com/office/drawing/2014/main" id="{8E2C0B40-DAFE-4C66-8136-964E51E1E49B}"/>
              </a:ext>
            </a:extLst>
          </p:cNvPr>
          <p:cNvSpPr>
            <a:spLocks xmlns:a="http://schemas.openxmlformats.org/drawingml/2006/main" noGrp="1"/>
          </p:cNvSpPr>
          <p:nvPr/>
        </p:nvSpPr>
        <p:spPr>
          <a:xfrm xmlns:a="http://schemas.openxmlformats.org/drawingml/2006/main">
            <a:off x="8724900" y="2114550"/>
            <a:ext cx="2667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Spearman rho = -0.004</a:t>
            </a:r>
          </a:p>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95% block interval: -0.054 to +0.044</a:t>
            </a:r>
          </a:p>
        </p:txBody>
      </p:sp>
      <p:sp>
        <p:nvSpPr>
          <p:cNvPr id="10" name="">
            <a:extLst xmlns:a="http://schemas.openxmlformats.org/drawingml/2006/main">
              <a:ext uri="{FF2B5EF4-FFF2-40B4-BE49-F238E27FC236}">
                <a16:creationId xmlns:a16="http://schemas.microsoft.com/office/drawing/2014/main" id="{BF6A331B-1B89-49FE-BD19-54F1DD6232A9}"/>
              </a:ext>
            </a:extLst>
          </p:cNvPr>
          <p:cNvSpPr>
            <a:spLocks xmlns:a="http://schemas.openxmlformats.org/drawingml/2006/main" noGrp="1"/>
          </p:cNvSpPr>
          <p:nvPr/>
        </p:nvSpPr>
        <p:spPr>
          <a:xfrm xmlns:a="http://schemas.openxmlformats.org/drawingml/2006/main">
            <a:off x="8724900" y="318135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0A9140A0-2615-4B81-99CA-0D43FAA4B62B}"/>
              </a:ext>
            </a:extLst>
          </p:cNvPr>
          <p:cNvSpPr>
            <a:spLocks xmlns:a="http://schemas.openxmlformats.org/drawingml/2006/main" noGrp="1"/>
          </p:cNvSpPr>
          <p:nvPr/>
        </p:nvSpPr>
        <p:spPr>
          <a:xfrm xmlns:a="http://schemas.openxmlformats.org/drawingml/2006/main">
            <a:off x="8724900" y="3467100"/>
            <a:ext cx="2571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000000"/>
                </a:solidFill>
                <a:latin typeface="Arial"/>
                <a:ea typeface="Arial"/>
                <a:cs typeface="Arial"/>
              </a:defRPr>
            </a:pPr>
            <a:r>
              <a:rPr sz="2025" b="1">
                <a:solidFill>
                  <a:srgbClr val="000000"/>
                </a:solidFill>
                <a:latin typeface="Arial"/>
                <a:ea typeface="Arial"/>
                <a:cs typeface="Arial"/>
              </a:rPr>
              <a:t>Outlier check</a:t>
            </a:r>
          </a:p>
        </p:txBody>
      </p:sp>
      <p:sp>
        <p:nvSpPr>
          <p:cNvPr id="12" name="">
            <a:extLst xmlns:a="http://schemas.openxmlformats.org/drawingml/2006/main">
              <a:ext uri="{FF2B5EF4-FFF2-40B4-BE49-F238E27FC236}">
                <a16:creationId xmlns:a16="http://schemas.microsoft.com/office/drawing/2014/main" id="{DE7EB45D-DC9C-458B-93BD-1FA8026B7058}"/>
              </a:ext>
            </a:extLst>
          </p:cNvPr>
          <p:cNvSpPr>
            <a:spLocks xmlns:a="http://schemas.openxmlformats.org/drawingml/2006/main" noGrp="1"/>
          </p:cNvSpPr>
          <p:nvPr/>
        </p:nvSpPr>
        <p:spPr>
          <a:xfrm xmlns:a="http://schemas.openxmlformats.org/drawingml/2006/main">
            <a:off x="8724900" y="3924300"/>
            <a:ext cx="26670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Pearson changes from -0.021 to -0.008 after fixed 1%/99% winsorization.</a:t>
            </a:r>
          </a:p>
        </p:txBody>
      </p:sp>
      <p:sp>
        <p:nvSpPr>
          <p:cNvPr id="13" name="">
            <a:extLst xmlns:a="http://schemas.openxmlformats.org/drawingml/2006/main">
              <a:ext uri="{FF2B5EF4-FFF2-40B4-BE49-F238E27FC236}">
                <a16:creationId xmlns:a16="http://schemas.microsoft.com/office/drawing/2014/main" id="{782C736D-ABB7-461A-92C1-B5147946828D}"/>
              </a:ext>
            </a:extLst>
          </p:cNvPr>
          <p:cNvSpPr>
            <a:spLocks xmlns:a="http://schemas.openxmlformats.org/drawingml/2006/main" noGrp="1"/>
          </p:cNvSpPr>
          <p:nvPr/>
        </p:nvSpPr>
        <p:spPr>
          <a:xfrm xmlns:a="http://schemas.openxmlformats.org/drawingml/2006/main">
            <a:off x="8724900" y="5105400"/>
            <a:ext cx="26670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D954633C-EE8B-411B-A503-F65ADB1D0271}"/>
              </a:ext>
            </a:extLst>
          </p:cNvPr>
          <p:cNvSpPr>
            <a:spLocks xmlns:a="http://schemas.openxmlformats.org/drawingml/2006/main" noGrp="1"/>
          </p:cNvSpPr>
          <p:nvPr/>
        </p:nvSpPr>
        <p:spPr>
          <a:xfrm xmlns:a="http://schemas.openxmlformats.org/drawingml/2006/main">
            <a:off x="8724900" y="5391150"/>
            <a:ext cx="266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1">
                <a:solidFill>
                  <a:srgbClr val="E45756"/>
                </a:solidFill>
                <a:latin typeface="Arial"/>
                <a:ea typeface="Arial"/>
                <a:cs typeface="Arial"/>
              </a:defRPr>
            </a:pPr>
            <a:r>
              <a:rPr sz="1575" b="1">
                <a:solidFill>
                  <a:srgbClr val="E45756"/>
                </a:solidFill>
                <a:latin typeface="Arial"/>
                <a:ea typeface="Arial"/>
                <a:cs typeface="Arial"/>
              </a:rPr>
              <a:t>Every annual HAC interval crosses zero.</a:t>
            </a:r>
          </a:p>
        </p:txBody>
      </p:sp>
    </p:spTree>
    <p:extLst>
      <p:ext uri="{BB962C8B-B14F-4D97-AF65-F5344CB8AC3E}">
        <p14:creationId xmlns:p14="http://schemas.microsoft.com/office/powerpoint/2010/main" val="2016214912"/>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section-10">
            <a:extLst xmlns:a="http://schemas.openxmlformats.org/drawingml/2006/main">
              <a:ext uri="{FF2B5EF4-FFF2-40B4-BE49-F238E27FC236}">
                <a16:creationId xmlns:a16="http://schemas.microsoft.com/office/drawing/2014/main" id="{956D329C-4E71-4503-8472-54BE364C9DB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0">
            <a:extLst xmlns:a="http://schemas.openxmlformats.org/drawingml/2006/main">
              <a:ext uri="{FF2B5EF4-FFF2-40B4-BE49-F238E27FC236}">
                <a16:creationId xmlns:a16="http://schemas.microsoft.com/office/drawing/2014/main" id="{35EE1E91-CEDB-4B30-9B21-3743CDB4DF2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Magnitude persistence is modest—and different</a:t>
            </a:r>
          </a:p>
        </p:txBody>
      </p:sp>
      <p:sp>
        <p:nvSpPr>
          <p:cNvPr id="3" name="">
            <a:extLst xmlns:a="http://schemas.openxmlformats.org/drawingml/2006/main">
              <a:ext uri="{FF2B5EF4-FFF2-40B4-BE49-F238E27FC236}">
                <a16:creationId xmlns:a16="http://schemas.microsoft.com/office/drawing/2014/main" id="{C360048C-412A-4DAD-943D-CBFA422CB48C}"/>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0">
            <a:extLst xmlns:a="http://schemas.openxmlformats.org/drawingml/2006/main">
              <a:ext uri="{FF2B5EF4-FFF2-40B4-BE49-F238E27FC236}">
                <a16:creationId xmlns:a16="http://schemas.microsoft.com/office/drawing/2014/main" id="{81D14FDE-48EA-4462-90E0-D7741C25D1C9}"/>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0">
            <a:extLst xmlns:a="http://schemas.openxmlformats.org/drawingml/2006/main">
              <a:ext uri="{FF2B5EF4-FFF2-40B4-BE49-F238E27FC236}">
                <a16:creationId xmlns:a16="http://schemas.microsoft.com/office/drawing/2014/main" id="{CC0DEE07-9BBD-42F7-A366-FBFDE2A0883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30B6EAE5-9A3B-4831-A518-2BC1EB255217}"/>
              </a:ext>
            </a:extLst>
          </p:cNvPr>
          <p:cNvSpPr>
            <a:spLocks xmlns:a="http://schemas.openxmlformats.org/drawingml/2006/main" noGrp="1"/>
          </p:cNvSpPr>
          <p:nvPr/>
        </p:nvSpPr>
        <p:spPr>
          <a:xfrm xmlns:a="http://schemas.openxmlformats.org/drawingml/2006/main">
            <a:off x="342900" y="1447800"/>
            <a:ext cx="8096250" cy="47434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3b11098df5543a8"/>
          <a:stretch xmlns:a="http://schemas.openxmlformats.org/drawingml/2006/main"/>
        </p:blipFill>
        <p:spPr>
          <a:xfrm xmlns:a="http://schemas.openxmlformats.org/drawingml/2006/main">
            <a:off x="342900" y="1458119"/>
            <a:ext cx="8096250" cy="4722813"/>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3CD70912-AFA7-4777-B92E-0384D9D34CA2}"/>
              </a:ext>
            </a:extLst>
          </p:cNvPr>
          <p:cNvSpPr>
            <a:spLocks xmlns:a="http://schemas.openxmlformats.org/drawingml/2006/main" noGrp="1"/>
          </p:cNvSpPr>
          <p:nvPr/>
        </p:nvSpPr>
        <p:spPr>
          <a:xfrm xmlns:a="http://schemas.openxmlformats.org/drawingml/2006/main">
            <a:off x="8763000" y="1581150"/>
            <a:ext cx="2762250" cy="156210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59898846-1713-4B00-B11B-C6CA4C6CC69C}"/>
              </a:ext>
            </a:extLst>
          </p:cNvPr>
          <p:cNvSpPr>
            <a:spLocks xmlns:a="http://schemas.openxmlformats.org/drawingml/2006/main" noGrp="1"/>
          </p:cNvSpPr>
          <p:nvPr/>
        </p:nvSpPr>
        <p:spPr>
          <a:xfrm xmlns:a="http://schemas.openxmlformats.org/drawingml/2006/main">
            <a:off x="8763000" y="1581150"/>
            <a:ext cx="76200" cy="15621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C16DE226-2BE8-4FE8-ABF8-EF99CFFECB5A}"/>
              </a:ext>
            </a:extLst>
          </p:cNvPr>
          <p:cNvSpPr>
            <a:spLocks xmlns:a="http://schemas.openxmlformats.org/drawingml/2006/main" noGrp="1"/>
          </p:cNvSpPr>
          <p:nvPr/>
        </p:nvSpPr>
        <p:spPr>
          <a:xfrm xmlns:a="http://schemas.openxmlformats.org/drawingml/2006/main">
            <a:off x="9029700" y="1752600"/>
            <a:ext cx="2305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+0.107</a:t>
            </a:r>
          </a:p>
        </p:txBody>
      </p:sp>
      <p:sp>
        <p:nvSpPr>
          <p:cNvPr id="11" name="">
            <a:extLst xmlns:a="http://schemas.openxmlformats.org/drawingml/2006/main">
              <a:ext uri="{FF2B5EF4-FFF2-40B4-BE49-F238E27FC236}">
                <a16:creationId xmlns:a16="http://schemas.microsoft.com/office/drawing/2014/main" id="{F3CCCFCB-521D-4ED8-B91A-B3885201C3DA}"/>
              </a:ext>
            </a:extLst>
          </p:cNvPr>
          <p:cNvSpPr>
            <a:spLocks xmlns:a="http://schemas.openxmlformats.org/drawingml/2006/main" noGrp="1"/>
          </p:cNvSpPr>
          <p:nvPr/>
        </p:nvSpPr>
        <p:spPr>
          <a:xfrm xmlns:a="http://schemas.openxmlformats.org/drawingml/2006/main">
            <a:off x="9029700" y="2419350"/>
            <a:ext cx="23050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Pearson correlation of |r[t-1]| and |r[t]|</a:t>
            </a:r>
          </a:p>
        </p:txBody>
      </p:sp>
      <p:sp>
        <p:nvSpPr>
          <p:cNvPr id="12" name="">
            <a:extLst xmlns:a="http://schemas.openxmlformats.org/drawingml/2006/main">
              <a:ext uri="{FF2B5EF4-FFF2-40B4-BE49-F238E27FC236}">
                <a16:creationId xmlns:a16="http://schemas.microsoft.com/office/drawing/2014/main" id="{411EFCBD-B9ED-4C50-8E82-6B73D26F987D}"/>
              </a:ext>
            </a:extLst>
          </p:cNvPr>
          <p:cNvSpPr>
            <a:spLocks xmlns:a="http://schemas.openxmlformats.org/drawingml/2006/main" noGrp="1"/>
          </p:cNvSpPr>
          <p:nvPr/>
        </p:nvSpPr>
        <p:spPr>
          <a:xfrm xmlns:a="http://schemas.openxmlformats.org/drawingml/2006/main">
            <a:off x="8972550" y="3371850"/>
            <a:ext cx="23622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95% block interval</a:t>
            </a:r>
          </a:p>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+0.033 to +0.168</a:t>
            </a:r>
          </a:p>
        </p:txBody>
      </p:sp>
      <p:sp>
        <p:nvSpPr>
          <p:cNvPr id="13" name="">
            <a:extLst xmlns:a="http://schemas.openxmlformats.org/drawingml/2006/main">
              <a:ext uri="{FF2B5EF4-FFF2-40B4-BE49-F238E27FC236}">
                <a16:creationId xmlns:a16="http://schemas.microsoft.com/office/drawing/2014/main" id="{3CF3178D-BD60-4112-9050-39949302A7F4}"/>
              </a:ext>
            </a:extLst>
          </p:cNvPr>
          <p:cNvSpPr>
            <a:spLocks xmlns:a="http://schemas.openxmlformats.org/drawingml/2006/main" noGrp="1"/>
          </p:cNvSpPr>
          <p:nvPr/>
        </p:nvSpPr>
        <p:spPr>
          <a:xfrm xmlns:a="http://schemas.openxmlformats.org/drawingml/2006/main">
            <a:off x="8972550" y="4286250"/>
            <a:ext cx="23622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4" name="">
            <a:extLst xmlns:a="http://schemas.openxmlformats.org/drawingml/2006/main">
              <a:ext uri="{FF2B5EF4-FFF2-40B4-BE49-F238E27FC236}">
                <a16:creationId xmlns:a16="http://schemas.microsoft.com/office/drawing/2014/main" id="{40A399B8-7059-4CEF-8F2B-1A634DBCD24F}"/>
              </a:ext>
            </a:extLst>
          </p:cNvPr>
          <p:cNvSpPr>
            <a:spLocks xmlns:a="http://schemas.openxmlformats.org/drawingml/2006/main" noGrp="1"/>
          </p:cNvSpPr>
          <p:nvPr/>
        </p:nvSpPr>
        <p:spPr>
          <a:xfrm xmlns:a="http://schemas.openxmlformats.org/drawingml/2006/main">
            <a:off x="8972550" y="4533900"/>
            <a:ext cx="228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E45756"/>
                </a:solidFill>
                <a:latin typeface="Arial"/>
                <a:ea typeface="Arial"/>
                <a:cs typeface="Arial"/>
              </a:defRPr>
            </a:pPr>
            <a:r>
              <a:rPr sz="1950" b="1">
                <a:solidFill>
                  <a:srgbClr val="E45756"/>
                </a:solidFill>
                <a:latin typeface="Arial"/>
                <a:ea typeface="Arial"/>
                <a:cs typeface="Arial"/>
              </a:rPr>
              <a:t>Caution</a:t>
            </a:r>
          </a:p>
        </p:txBody>
      </p:sp>
      <p:sp>
        <p:nvSpPr>
          <p:cNvPr id="15" name="">
            <a:extLst xmlns:a="http://schemas.openxmlformats.org/drawingml/2006/main">
              <a:ext uri="{FF2B5EF4-FFF2-40B4-BE49-F238E27FC236}">
                <a16:creationId xmlns:a16="http://schemas.microsoft.com/office/drawing/2014/main" id="{D20EC0EC-804C-451F-B37D-6CBD9395B9D0}"/>
              </a:ext>
            </a:extLst>
          </p:cNvPr>
          <p:cNvSpPr>
            <a:spLocks xmlns:a="http://schemas.openxmlformats.org/drawingml/2006/main" noGrp="1"/>
          </p:cNvSpPr>
          <p:nvPr/>
        </p:nvSpPr>
        <p:spPr>
          <a:xfrm xmlns:a="http://schemas.openxmlformats.org/drawingml/2006/main">
            <a:off x="8972550" y="4953000"/>
            <a:ext cx="23622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369"/>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The decile pattern is not monotonic; rank correlation is only +0.053 and its interval crosses zero. This is a clue about turbulence—not direction.</a:t>
            </a:r>
          </a:p>
        </p:txBody>
      </p:sp>
    </p:spTree>
    <p:extLst>
      <p:ext uri="{BB962C8B-B14F-4D97-AF65-F5344CB8AC3E}">
        <p14:creationId xmlns:p14="http://schemas.microsoft.com/office/powerpoint/2010/main" val="1880066524"/>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this first measurement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SIGNED RETURN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7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measurable adjacent-session continuation or reversal</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Pearson -0.021; direction difference -0.7 pp</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PATH SHAPE</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93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usefully describes trend versus chop</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Direction-agnostic, lagging, and flickery near transitions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RETURN MAGNITUDE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modest persistence clue remains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Absolute-return Pearson +0.107; non-monotonic diagnostic pattern</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yesterday's return magnitude forecast tomorrow's magnitude on a separately frozen surface?</a:t>
            </a:r>
          </a:p>
        </p:txBody>
      </p:sp>
    </p:spTree>
    <p:extLst>
      <p:ext uri="{BB962C8B-B14F-4D97-AF65-F5344CB8AC3E}">
        <p14:creationId xmlns:p14="http://schemas.microsoft.com/office/powerpoint/2010/main" val="66653628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HORIZON GRID</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one session is simply</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too noisy?</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72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Aggregate the past. Aggregate the future. Keep the boundary clean.</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Predeclared prior and forward horizons: 1, 2, 3, 4, 5, 10, 15, 20, and 25 sessions. No cell becomes a strategy.</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12</a:t>
            </a:r>
          </a:p>
        </p:txBody>
      </p:sp>
    </p:spTree>
    <p:extLst>
      <p:ext uri="{BB962C8B-B14F-4D97-AF65-F5344CB8AC3E}">
        <p14:creationId xmlns:p14="http://schemas.microsoft.com/office/powerpoint/2010/main" val="802480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 fixed 9 x 9 surface tests aggregation</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R-(p)  versus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prior window ends at the anchor close. The forward window begins after it—no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81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predeclared horizon pairs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boundaries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Asset</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TSLA</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Bars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Alpaca SIP adjusted daily close</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Horizons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Sample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2018-01-02 through 2023-12-29</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BH-FDR plus Bonferroni across 81 cells</a:t>
            </a:r>
          </a:p>
        </p:txBody>
      </p:sp>
    </p:spTree>
    <p:extLst>
      <p:ext uri="{BB962C8B-B14F-4D97-AF65-F5344CB8AC3E}">
        <p14:creationId xmlns:p14="http://schemas.microsoft.com/office/powerpoint/2010/main" val="139728336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Aggregation reveals a weak 5–10-session ridge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Pearson correlation matrix; no BH-FDR q-value is below 0.05.</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b08cf481a9646a2"/>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ridge is weak and statistically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+0.092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Pearson: 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38"/>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[-0.003, +0.188]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95% overlap-aware HAC interval</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0.852%</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maximum R-squared across 81 cells</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a3b3e0404ff4b31"/>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section-8">
            <a:extLst xmlns:a="http://schemas.openxmlformats.org/drawingml/2006/main">
              <a:ext uri="{FF2B5EF4-FFF2-40B4-BE49-F238E27FC236}">
                <a16:creationId xmlns:a16="http://schemas.microsoft.com/office/drawing/2014/main" id="{FC99BA28-64AB-43E8-BE2C-0E05781D108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8">
            <a:extLst xmlns:a="http://schemas.openxmlformats.org/drawingml/2006/main">
              <a:ext uri="{FF2B5EF4-FFF2-40B4-BE49-F238E27FC236}">
                <a16:creationId xmlns:a16="http://schemas.microsoft.com/office/drawing/2014/main" id="{F56141AD-6D41-4B04-9458-2EFEFD0C222B}"/>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differences also fail the 81-cell scan</a:t>
            </a:r>
          </a:p>
        </p:txBody>
      </p:sp>
      <p:sp>
        <p:nvSpPr>
          <p:cNvPr id="3" name="">
            <a:extLst xmlns:a="http://schemas.openxmlformats.org/drawingml/2006/main">
              <a:ext uri="{FF2B5EF4-FFF2-40B4-BE49-F238E27FC236}">
                <a16:creationId xmlns:a16="http://schemas.microsoft.com/office/drawing/2014/main" id="{8C9B866E-F8EC-4822-8F75-8738AE5743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8">
            <a:extLst xmlns:a="http://schemas.openxmlformats.org/drawingml/2006/main">
              <a:ext uri="{FF2B5EF4-FFF2-40B4-BE49-F238E27FC236}">
                <a16:creationId xmlns:a16="http://schemas.microsoft.com/office/drawing/2014/main" id="{60B7304E-4F61-40B8-9568-3A46AA0656E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8">
            <a:extLst xmlns:a="http://schemas.openxmlformats.org/drawingml/2006/main">
              <a:ext uri="{FF2B5EF4-FFF2-40B4-BE49-F238E27FC236}">
                <a16:creationId xmlns:a16="http://schemas.microsoft.com/office/drawing/2014/main" id="{A2FDA8B5-1121-4016-B34F-180F19066411}"/>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3559974A-1518-4857-8A86-2EF378C5D0E7}"/>
              </a:ext>
            </a:extLst>
          </p:cNvPr>
          <p:cNvSpPr>
            <a:spLocks xmlns:a="http://schemas.openxmlformats.org/drawingml/2006/main" noGrp="1"/>
          </p:cNvSpPr>
          <p:nvPr/>
        </p:nvSpPr>
        <p:spPr>
          <a:xfrm xmlns:a="http://schemas.openxmlformats.org/drawingml/2006/main">
            <a:off x="381000" y="1466850"/>
            <a:ext cx="7905750" cy="46672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F158CD61-4D23-41B7-A67E-B50BFA3C534B}"/>
              </a:ext>
            </a:extLst>
          </p:cNvPr>
          <p:cNvSpPr>
            <a:spLocks xmlns:a="http://schemas.openxmlformats.org/drawingml/2006/main" noGrp="1"/>
          </p:cNvSpPr>
          <p:nvPr/>
        </p:nvSpPr>
        <p:spPr>
          <a:xfrm xmlns:a="http://schemas.openxmlformats.org/drawingml/2006/main">
            <a:off x="8610600" y="16954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44C5ED96-F82C-4CF6-8B54-F372EF0D3357}"/>
              </a:ext>
            </a:extLst>
          </p:cNvPr>
          <p:cNvSpPr>
            <a:spLocks xmlns:a="http://schemas.openxmlformats.org/drawingml/2006/main" noGrp="1"/>
          </p:cNvSpPr>
          <p:nvPr/>
        </p:nvSpPr>
        <p:spPr>
          <a:xfrm xmlns:a="http://schemas.openxmlformats.org/drawingml/2006/main">
            <a:off x="8610600" y="16954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E9B25F14-87B4-4B00-A519-E1B45B8944EF}"/>
              </a:ext>
            </a:extLst>
          </p:cNvPr>
          <p:cNvSpPr>
            <a:spLocks xmlns:a="http://schemas.openxmlformats.org/drawingml/2006/main" noGrp="1"/>
          </p:cNvSpPr>
          <p:nvPr/>
        </p:nvSpPr>
        <p:spPr>
          <a:xfrm xmlns:a="http://schemas.openxmlformats.org/drawingml/2006/main">
            <a:off x="8877300" y="18669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+8.1 pp</a:t>
            </a:r>
          </a:p>
        </p:txBody>
      </p:sp>
      <p:sp>
        <p:nvSpPr>
          <p:cNvPr id="11" name="">
            <a:extLst xmlns:a="http://schemas.openxmlformats.org/drawingml/2006/main">
              <a:ext uri="{FF2B5EF4-FFF2-40B4-BE49-F238E27FC236}">
                <a16:creationId xmlns:a16="http://schemas.microsoft.com/office/drawing/2014/main" id="{272C7F50-11E4-4D99-A2B2-ED17DA9ED760}"/>
              </a:ext>
            </a:extLst>
          </p:cNvPr>
          <p:cNvSpPr>
            <a:spLocks xmlns:a="http://schemas.openxmlformats.org/drawingml/2006/main" noGrp="1"/>
          </p:cNvSpPr>
          <p:nvPr/>
        </p:nvSpPr>
        <p:spPr>
          <a:xfrm xmlns:a="http://schemas.openxmlformats.org/drawingml/2006/main">
            <a:off x="8877300" y="25336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raw-sign difference with p &lt; 0.05</a:t>
            </a:r>
          </a:p>
        </p:txBody>
      </p:sp>
      <p:sp>
        <p:nvSpPr>
          <p:cNvPr id="12" name="">
            <a:extLst xmlns:a="http://schemas.openxmlformats.org/drawingml/2006/main">
              <a:ext uri="{FF2B5EF4-FFF2-40B4-BE49-F238E27FC236}">
                <a16:creationId xmlns:a16="http://schemas.microsoft.com/office/drawing/2014/main" id="{5C03A160-F567-45AF-99BA-FC078BEAD28C}"/>
              </a:ext>
            </a:extLst>
          </p:cNvPr>
          <p:cNvSpPr>
            <a:spLocks xmlns:a="http://schemas.openxmlformats.org/drawingml/2006/main" noGrp="1"/>
          </p:cNvSpPr>
          <p:nvPr/>
        </p:nvSpPr>
        <p:spPr>
          <a:xfrm xmlns:a="http://schemas.openxmlformats.org/drawingml/2006/main">
            <a:off x="8610600" y="3371850"/>
            <a:ext cx="285750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CF71FC31-69FB-4152-99F6-85AD4E4D1518}"/>
              </a:ext>
            </a:extLst>
          </p:cNvPr>
          <p:cNvSpPr>
            <a:spLocks xmlns:a="http://schemas.openxmlformats.org/drawingml/2006/main" noGrp="1"/>
          </p:cNvSpPr>
          <p:nvPr/>
        </p:nvSpPr>
        <p:spPr>
          <a:xfrm xmlns:a="http://schemas.openxmlformats.org/drawingml/2006/main">
            <a:off x="8610600" y="3371850"/>
            <a:ext cx="76200" cy="14287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4" name="">
            <a:extLst xmlns:a="http://schemas.openxmlformats.org/drawingml/2006/main">
              <a:ext uri="{FF2B5EF4-FFF2-40B4-BE49-F238E27FC236}">
                <a16:creationId xmlns:a16="http://schemas.microsoft.com/office/drawing/2014/main" id="{8ED9501F-EB23-41C7-BC9F-0DCAF5ED836D}"/>
              </a:ext>
            </a:extLst>
          </p:cNvPr>
          <p:cNvSpPr>
            <a:spLocks xmlns:a="http://schemas.openxmlformats.org/drawingml/2006/main" noGrp="1"/>
          </p:cNvSpPr>
          <p:nvPr/>
        </p:nvSpPr>
        <p:spPr>
          <a:xfrm xmlns:a="http://schemas.openxmlformats.org/drawingml/2006/main">
            <a:off x="8877300" y="3543300"/>
            <a:ext cx="24003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A9D6F"/>
                </a:solidFill>
                <a:latin typeface="Arial"/>
                <a:ea typeface="Arial"/>
                <a:cs typeface="Arial"/>
              </a:defRPr>
            </a:pPr>
            <a:r>
              <a:rPr sz="3225" b="1">
                <a:solidFill>
                  <a:srgbClr val="2A9D6F"/>
                </a:solidFill>
                <a:latin typeface="Arial"/>
                <a:ea typeface="Arial"/>
                <a:cs typeface="Arial"/>
              </a:rPr>
              <a:t>0 / 81</a:t>
            </a:r>
          </a:p>
        </p:txBody>
      </p:sp>
      <p:sp>
        <p:nvSpPr>
          <p:cNvPr id="15" name="">
            <a:extLst xmlns:a="http://schemas.openxmlformats.org/drawingml/2006/main">
              <a:ext uri="{FF2B5EF4-FFF2-40B4-BE49-F238E27FC236}">
                <a16:creationId xmlns:a16="http://schemas.microsoft.com/office/drawing/2014/main" id="{1A5E9C93-AD93-49F0-B4EC-ABFC15BEED2F}"/>
              </a:ext>
            </a:extLst>
          </p:cNvPr>
          <p:cNvSpPr>
            <a:spLocks xmlns:a="http://schemas.openxmlformats.org/drawingml/2006/main" noGrp="1"/>
          </p:cNvSpPr>
          <p:nvPr/>
        </p:nvSpPr>
        <p:spPr>
          <a:xfrm xmlns:a="http://schemas.openxmlformats.org/drawingml/2006/main">
            <a:off x="8877300" y="4210050"/>
            <a:ext cx="24003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direction cells with BH-FDR q &lt; 0.05</a:t>
            </a:r>
          </a:p>
        </p:txBody>
      </p:sp>
      <p:sp>
        <p:nvSpPr>
          <p:cNvPr id="16" name="">
            <a:extLst xmlns:a="http://schemas.openxmlformats.org/drawingml/2006/main">
              <a:ext uri="{FF2B5EF4-FFF2-40B4-BE49-F238E27FC236}">
                <a16:creationId xmlns:a16="http://schemas.microsoft.com/office/drawing/2014/main" id="{FC17DD6F-8CEE-4A90-8BD6-690A4FB48045}"/>
              </a:ext>
            </a:extLst>
          </p:cNvPr>
          <p:cNvSpPr>
            <a:spLocks xmlns:a="http://schemas.openxmlformats.org/drawingml/2006/main" noGrp="1"/>
          </p:cNvSpPr>
          <p:nvPr/>
        </p:nvSpPr>
        <p:spPr>
          <a:xfrm xmlns:a="http://schemas.openxmlformats.org/drawingml/2006/main">
            <a:off x="8705850" y="5219700"/>
            <a:ext cx="2667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500"/>
          </a:bodyPr>
          <a:lstStyle xmlns:a="http://schemas.openxmlformats.org/drawingml/2006/main"/>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Best raw direction p = 0.025 at 10 prior / 3 forward.</a:t>
            </a:r>
          </a:p>
          <a:p xmlns:a="http://schemas.openxmlformats.org/drawingml/2006/main">
            <a:pPr algn="l">
              <a:buNone/>
              <a:defRPr sz="1500" b="1">
                <a:solidFill>
                  <a:srgbClr val="273548"/>
                </a:solidFill>
                <a:latin typeface="Arial"/>
                <a:ea typeface="Arial"/>
                <a:cs typeface="Arial"/>
              </a:defRPr>
            </a:pPr>
            <a:r>
              <a:rPr sz="1500" b="1">
                <a:solidFill>
                  <a:srgbClr val="273548"/>
                </a:solidFill>
                <a:latin typeface="Arial"/>
                <a:ea typeface="Arial"/>
                <a:cs typeface="Arial"/>
              </a:rPr>
              <a:t>BH q = 0.554; nested horizons share data.</a:t>
            </a:r>
          </a:p>
        </p:txBody>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3c9a7cfb848f4598"/>
          <a:stretch xmlns:a="http://schemas.openxmlformats.org/drawingml/2006/main"/>
        </p:blipFill>
        <p:spPr>
          <a:xfrm xmlns:a="http://schemas.openxmlformats.org/drawingml/2006/main" flipH="0" flipV="0">
            <a:off x="381000" y="1494631"/>
            <a:ext cx="7905750" cy="4611688"/>
          </a:xfrm>
          <a:prstGeom xmlns:a="http://schemas.openxmlformats.org/drawingml/2006/main" prst="rect">
            <a:avLst/>
          </a:prstGeom>
        </p:spPr>
      </p:pic>
    </p:spTree>
    <p:extLst>
      <p:ext uri="{BB962C8B-B14F-4D97-AF65-F5344CB8AC3E}">
        <p14:creationId xmlns:p14="http://schemas.microsoft.com/office/powerpoint/2010/main" val="172404363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What survives the aggregation pass</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GRID PATTERN</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3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coherent positive ridge appears near 5–10 sessions</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Pearson +0.092 at 5 prior / 10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UNCERTAINTY</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7621"/>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signed-return interval still includes zero</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BH-FDR or Bonferroni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DIRECTION</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494"/>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Probability shifts are larger but not multiplicity-stable</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Best raw p=0.025; BH q=0.554</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Does the 5–10-session ridge deserve one frozen replication, or does this descriptive lane stop here?</a:t>
            </a:r>
          </a:p>
        </p:txBody>
      </p:sp>
    </p:spTree>
    <p:extLst>
      <p:ext uri="{BB962C8B-B14F-4D97-AF65-F5344CB8AC3E}">
        <p14:creationId xmlns:p14="http://schemas.microsoft.com/office/powerpoint/2010/main" val="66653628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REGIME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What if aggregation mixes</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incompatible path states?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the ER20 color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Red and green inherit the prior POC's fixed 20-session metric and 0.30 cutoff.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18</a:t>
            </a:r>
          </a:p>
        </p:txBody>
      </p:sp>
    </p:spTree>
    <p:extLst>
      <p:ext uri="{BB962C8B-B14F-4D97-AF65-F5344CB8AC3E}">
        <p14:creationId xmlns:p14="http://schemas.microsoft.com/office/powerpoint/2010/main" val="8024806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ER20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anchor is labeled from closes through t. Prior return ends at t;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path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20-session log-price ER</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Red</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&lt; 0.30 (sideways)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Green</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&gt;= 0.30 (trending)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State 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Caution</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ER20 and prior return share trailing price data</a:t>
            </a:r>
          </a:p>
        </p:txBody>
      </p:sp>
    </p:spTree>
    <p:extLst>
      <p:ext uri="{BB962C8B-B14F-4D97-AF65-F5344CB8AC3E}">
        <p14:creationId xmlns:p14="http://schemas.microsoft.com/office/powerpoint/2010/main" val="13972833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Red ER20 states expose a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Red/sideways matrix; strongest cell +0.173 at 15 prior / 5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8df272523fd84d9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Green ER20 states suppress the positive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Green/trending matrix; long/long cells turn negative; strongest absolute cell -0.154.</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f0d1d590c3514c7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state split is coherent, but unresolved</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-0.231</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15 prior / 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p = 0.029</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raw HAC slope-interaction test</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81</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interaction cells with BH-FDR q &lt; 0.05</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187eb592d3b54473"/>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changes the map, but not the evidentiary stop</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RED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positive island appears around 10–15 prior / 3–10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+0.173 at 15 prior / 5 forward</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GREEN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is muted or reversed; long/long turns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 / 5 = -0.058; 25 / 25 = -0.154</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UNCERTAINTY</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No regime-specific or interaction result survives the scan</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0/81 red; 0/81 green; 0/81 interactions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Next narrow question</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15-prior / 5-forward for separate replication—or first test a regime filter less entangled with prior return?</a:t>
            </a:r>
          </a:p>
        </p:txBody>
      </p:sp>
    </p:spTree>
    <p:extLst>
      <p:ext uri="{BB962C8B-B14F-4D97-AF65-F5344CB8AC3E}">
        <p14:creationId xmlns:p14="http://schemas.microsoft.com/office/powerpoint/2010/main" val="66653628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VOLATILITY CONDITIONING</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movement capacity separate</a:t>
            </a:r>
          </a:p>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continuation from reversal?</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464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Reuse the accepted ATR% state already known at the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LOW, MEDIUM, and HIGH inherit HYP-REG-01.1's fixed causal classifier.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24</a:t>
            </a:r>
          </a:p>
        </p:txBody>
      </p:sp>
    </p:spTree>
    <p:extLst>
      <p:ext uri="{BB962C8B-B14F-4D97-AF65-F5344CB8AC3E}">
        <p14:creationId xmlns:p14="http://schemas.microsoft.com/office/powerpoint/2010/main" val="802480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3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accepted ATR% before reading the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State[t]  then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ATR% state is assigned at anchor close t. Prior return ends at t; following return begins after t. It measures capacity—not direction.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volatility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shows movement capacity—not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state uses Wilder ATR14 / close, ranked against the prior 252 completed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Blue marks LOW, gold MEDIUM, and red HIGH movement capacity. Price and the causal trailing ATR% rank are shown together.</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70fc1e4252d54079"/>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LOW ATR% is broadly positive, but no cell passes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strongest +0.198 at 10 prior / 25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5ca41df4eb6d41f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9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MEDIUM ATR% contains the stable continuation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All 81 cells positive; 21/81 within-state BH passes; strict survivors cluster at 5–10 prior / 2–3 forward.</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b7d612054d3c4a3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ATR% flips the surface toward reversal</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negative; strongest -0.301 at 20 prior / 20 forward; 0/81 within-state BH passes.</a:t>
            </a:r>
          </a:p>
        </p:txBody>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93aca1e4e774146"/>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HIGH and MEDIUM contain direct state differences</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-0.548</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25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0.038</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HIGH-minus-MEDIUM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3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0865b35d35de4d7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3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changes the map—and leaves a replication candidate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All cells are positive, but none survive the within-state scan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Max +0.198; 0/81 BH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A continuation island survives around 5–10 prior / 2–3 forward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21/81 family; 3 strict omnibus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surface broadly reverses, especially at longer horizons</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negative; max |r| = 0.301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715"/>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Bookmarked next questions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Replicate ATR% on a frozen sample. Then split green ER20 into up/down direction and test external market context.</a:t>
            </a:r>
          </a:p>
        </p:txBody>
      </p:sp>
    </p:spTree>
    <p:extLst>
      <p:ext uri="{BB962C8B-B14F-4D97-AF65-F5344CB8AC3E}">
        <p14:creationId xmlns:p14="http://schemas.microsoft.com/office/powerpoint/2010/main" val="66653628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SPY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881"/>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SPY's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32</a:t>
            </a:r>
          </a:p>
        </p:txBody>
      </p:sp>
    </p:spTree>
    <p:extLst>
      <p:ext uri="{BB962C8B-B14F-4D97-AF65-F5344CB8AC3E}">
        <p14:creationId xmlns:p14="http://schemas.microsoft.com/office/powerpoint/2010/main" val="8024806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4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SPY ATR% before reading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SPY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SPY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SPY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SPY state uses Wilder ATR14 / close, ranked against the prior 252 completed SPY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SPY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b49bc60750746c4"/>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8f4d4e0ee9404cf2"/>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reveals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+0.228 at 5 prior / 10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40577cfaabf941d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5e324b1cd487494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MEDIUM turns long-forward returns negative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67/81 cells negative; strongest -0.191 at 15 prior / 20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b71ea3379dc416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378c554d49d54071"/>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HIGH leaves a mild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60/81 cells positive; max |r| = 0.103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5a4f13b976884da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8a73872ba332496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SPY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-0.389</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5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0.016</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c6435ca733b04c90"/>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ba4e6d84f509401c"/>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context changes the map—but confirms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SPY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501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Broadly preserves the positive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same sign vs own LOW; mean r +0.091</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568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Reverses the own-asset MEDIUM interpretation</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14/81 same sign; mean r -0.058</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SPY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0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and mixed—not broad TSLA reversal</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25/81 same sign; mean r +0.031</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External context is a promising descriptive axis. Next: brainstorm cross-sectional cues; keep replication and strategy gates closed.</a:t>
            </a:r>
          </a:p>
        </p:txBody>
      </p:sp>
    </p:spTree>
    <p:extLst>
      <p:ext uri="{BB962C8B-B14F-4D97-AF65-F5344CB8AC3E}">
        <p14:creationId xmlns:p14="http://schemas.microsoft.com/office/powerpoint/2010/main" val="66653628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QUASI-EXTERNAL MARKET CONTEXT</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QQQ movement capacity organize TSLA returns?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563"/>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Use QQQ's accepted ATR% state at the same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TSLA, sample, return windows, and uncertainty stay fixed. QQQ is quasi-external; no threshold search.</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40</a:t>
            </a:r>
          </a:p>
        </p:txBody>
      </p:sp>
    </p:spTree>
    <p:extLst>
      <p:ext uri="{BB962C8B-B14F-4D97-AF65-F5344CB8AC3E}">
        <p14:creationId xmlns:p14="http://schemas.microsoft.com/office/powerpoint/2010/main" val="8024806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Condition on QQQ ATR% to read TSLA's future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state  →  TSLA future</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QQQ labels anchor close t. TSLA prior return ends at t; TSLA following return begins after t.</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accepted external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conditioning</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Metric</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Wilder ATR14 / QQQ close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Memory</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Prior 252 completed sessions</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States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LOW / MEDIUM / HIGH</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Hysteresis</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30/40 and 60/70 gates</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Surface</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Same 81 horizon pairs</a:t>
            </a:r>
          </a:p>
        </p:txBody>
      </p:sp>
    </p:spTree>
    <p:extLst>
      <p:ext uri="{BB962C8B-B14F-4D97-AF65-F5344CB8AC3E}">
        <p14:creationId xmlns:p14="http://schemas.microsoft.com/office/powerpoint/2010/main" val="1397283360"/>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ATR% supplies context—not TSLA direction</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Accepted QQQ state uses Wilder ATR14 / close, ranked against the prior 252 completed QQQ ATR% observations.</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Bands are QQQ states over TSLA price. Blue LOW and red HIGH describe movement capacity—not bullish or bearish calls.</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775de632016349c0"/>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6086b40b52c4eea"/>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reveals broad TSLA continuation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77/81 cells positive; strongest +0.260 at 10 prior / 5 forward; family q = 0.051,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0546b729b438405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c5d895cd55914ca8"/>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MEDIUM weakens at longer horizons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44/81 cells positive; long/long cells turn negative; strongest -0.224 at 20 prior / 25 forward;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c4612c6725b43b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78bfca00f6b64fef"/>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HIGH leaves a mild negative TSLA surface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59/81 cells negative; max |r| = 0.112 at 25 prior / 15 forward; 0/81 within-state BH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75cba9ea2b814e1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5b79ae865434cb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LOW versus MEDIUM is the clearest contrast</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-0.342</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correlation change: 10 prior / 15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q = 0.274</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within MEDIUM-minus-LOW family</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0 / 243</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pairwise cells surviving strict omnibus BH</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05521163c5a42b9"/>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7f4dde03342408a"/>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reshapes TSLA returns—but leaves no edge</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LOW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5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Preserves the broad continuation geometry</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77/81 positive; 77/81 same sign vs own; mean r +0.123</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QQQ MEDIUM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Weakens own-asset MEDIUM; long horizons turn negative</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44/81 positive; 44/81 same sign vs own; mean r -0.010</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QQQ HIGH MAP</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Mild negative map; closer to TSLA-own HIGH than SPY HIGH</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59/81 negative; 63/81 same sign vs own; mean r -0.022</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QQQ is a coherent quasi-external axis—not independent evidence. Next: frozen QQQ/SPY lead–lag grid; keep strategy gates closed.</a:t>
            </a:r>
          </a:p>
        </p:txBody>
      </p:sp>
    </p:spTree>
    <p:extLst>
      <p:ext uri="{BB962C8B-B14F-4D97-AF65-F5344CB8AC3E}">
        <p14:creationId xmlns:p14="http://schemas.microsoft.com/office/powerpoint/2010/main" val="66653628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CROSS-ASSET PRIOR RETURNS</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prior market return foreshadow TSLA?</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235"/>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Compare QQQ and SPY return windows ending at the TSLA anchor close.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target, sample, horizons, timing boundary, and uncertainty. No relative-strength model.</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48</a:t>
            </a:r>
          </a:p>
        </p:txBody>
      </p:sp>
    </p:spTree>
    <p:extLst>
      <p:ext uri="{BB962C8B-B14F-4D97-AF65-F5344CB8AC3E}">
        <p14:creationId xmlns:p14="http://schemas.microsoft.com/office/powerpoint/2010/main" val="80248067"/>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58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market return ends before TSLA's future begins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4485"/>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QQQ / SPY R−(p)  →  TSLA R+(f)</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market-return window ends at anchor close t. TSLA's following return begins after t—no return interval appears on both sides.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2</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separate prior-return authorities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cross-asset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Predictors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QQQ and SPY</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each; 162 pooled BH tests</a:t>
            </a:r>
          </a:p>
        </p:txBody>
      </p:sp>
    </p:spTree>
    <p:extLst>
      <p:ext uri="{BB962C8B-B14F-4D97-AF65-F5344CB8AC3E}">
        <p14:creationId xmlns:p14="http://schemas.microsoft.com/office/powerpoint/2010/main" val="1397283360"/>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QQQ return reveals a medium-horizon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72/81 cells positive; strongest +0.134 at 10 prior / 10 forward; family q = 0.361,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22ba4e36e5eb4d1b"/>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c6369851632479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Prior SPY return traces the same, weaker island</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70/81 cells positive; strongest +0.111 at 10 prior / 5 forward; family q = 0.662, so 0/81 passes.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2b3f3d4c82e4e6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9c5145f2b3247f7"/>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section-7">
            <a:extLst xmlns:a="http://schemas.openxmlformats.org/drawingml/2006/main">
              <a:ext uri="{FF2B5EF4-FFF2-40B4-BE49-F238E27FC236}">
                <a16:creationId xmlns:a16="http://schemas.microsoft.com/office/drawing/2014/main" id="{BAC8373F-594E-467B-A8F8-56439CEBE044}"/>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7">
            <a:extLst xmlns:a="http://schemas.openxmlformats.org/drawingml/2006/main">
              <a:ext uri="{FF2B5EF4-FFF2-40B4-BE49-F238E27FC236}">
                <a16:creationId xmlns:a16="http://schemas.microsoft.com/office/drawing/2014/main" id="{7592E6E5-EA60-427F-BAB4-42C154D8CC5F}"/>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maps differ only modestly</a:t>
            </a:r>
          </a:p>
        </p:txBody>
      </p:sp>
      <p:sp>
        <p:nvSpPr>
          <p:cNvPr id="3" name="">
            <a:extLst xmlns:a="http://schemas.openxmlformats.org/drawingml/2006/main">
              <a:ext uri="{FF2B5EF4-FFF2-40B4-BE49-F238E27FC236}">
                <a16:creationId xmlns:a16="http://schemas.microsoft.com/office/drawing/2014/main" id="{C852E1AC-5CE8-4847-87B1-81C28A4EFEDE}"/>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7">
            <a:extLst xmlns:a="http://schemas.openxmlformats.org/drawingml/2006/main">
              <a:ext uri="{FF2B5EF4-FFF2-40B4-BE49-F238E27FC236}">
                <a16:creationId xmlns:a16="http://schemas.microsoft.com/office/drawing/2014/main" id="{4896B590-20BC-4B46-9282-D9F5A22A0CC5}"/>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7">
            <a:extLst xmlns:a="http://schemas.openxmlformats.org/drawingml/2006/main">
              <a:ext uri="{FF2B5EF4-FFF2-40B4-BE49-F238E27FC236}">
                <a16:creationId xmlns:a16="http://schemas.microsoft.com/office/drawing/2014/main" id="{1503EFAF-F487-4981-AFDC-23F1B41A720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4AA770DD-55E6-42DB-942A-6938E642B1A0}"/>
              </a:ext>
            </a:extLst>
          </p:cNvPr>
          <p:cNvSpPr>
            <a:spLocks xmlns:a="http://schemas.openxmlformats.org/drawingml/2006/main" noGrp="1"/>
          </p:cNvSpPr>
          <p:nvPr/>
        </p:nvSpPr>
        <p:spPr>
          <a:xfrm xmlns:a="http://schemas.openxmlformats.org/drawingml/2006/main">
            <a:off x="342900" y="1428750"/>
            <a:ext cx="7677150" cy="476250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925D1653-1738-47C8-BFA1-9C9390285CC4}"/>
              </a:ext>
            </a:extLst>
          </p:cNvPr>
          <p:cNvSpPr>
            <a:spLocks xmlns:a="http://schemas.openxmlformats.org/drawingml/2006/main" noGrp="1"/>
          </p:cNvSpPr>
          <p:nvPr/>
        </p:nvSpPr>
        <p:spPr>
          <a:xfrm xmlns:a="http://schemas.openxmlformats.org/drawingml/2006/main">
            <a:off x="8362950" y="15049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AD911094-04B5-4E98-9749-4F832E6A7030}"/>
              </a:ext>
            </a:extLst>
          </p:cNvPr>
          <p:cNvSpPr>
            <a:spLocks xmlns:a="http://schemas.openxmlformats.org/drawingml/2006/main" noGrp="1"/>
          </p:cNvSpPr>
          <p:nvPr/>
        </p:nvSpPr>
        <p:spPr>
          <a:xfrm xmlns:a="http://schemas.openxmlformats.org/drawingml/2006/main">
            <a:off x="8362950" y="1504950"/>
            <a:ext cx="76200" cy="14287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10" name="">
            <a:extLst xmlns:a="http://schemas.openxmlformats.org/drawingml/2006/main">
              <a:ext uri="{FF2B5EF4-FFF2-40B4-BE49-F238E27FC236}">
                <a16:creationId xmlns:a16="http://schemas.microsoft.com/office/drawing/2014/main" id="{8259A327-4374-4B4E-A3BA-F8E016498564}"/>
              </a:ext>
            </a:extLst>
          </p:cNvPr>
          <p:cNvSpPr>
            <a:spLocks xmlns:a="http://schemas.openxmlformats.org/drawingml/2006/main" noGrp="1"/>
          </p:cNvSpPr>
          <p:nvPr/>
        </p:nvSpPr>
        <p:spPr>
          <a:xfrm xmlns:a="http://schemas.openxmlformats.org/drawingml/2006/main">
            <a:off x="8629650" y="16764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E45756"/>
                </a:solidFill>
                <a:latin typeface="Arial"/>
                <a:ea typeface="Arial"/>
                <a:cs typeface="Arial"/>
              </a:defRPr>
            </a:pPr>
            <a:r>
              <a:rPr sz="3225" b="1">
                <a:solidFill>
                  <a:srgbClr val="E45756"/>
                </a:solidFill>
                <a:latin typeface="Arial"/>
                <a:ea typeface="Arial"/>
                <a:cs typeface="Arial"/>
              </a:rPr>
              <a:t>+0.035</a:t>
            </a:r>
          </a:p>
        </p:txBody>
      </p:sp>
      <p:sp>
        <p:nvSpPr>
          <p:cNvPr id="11" name="">
            <a:extLst xmlns:a="http://schemas.openxmlformats.org/drawingml/2006/main">
              <a:ext uri="{FF2B5EF4-FFF2-40B4-BE49-F238E27FC236}">
                <a16:creationId xmlns:a16="http://schemas.microsoft.com/office/drawing/2014/main" id="{BE341AE3-547D-4111-ADFF-14E5545F2DBF}"/>
              </a:ext>
            </a:extLst>
          </p:cNvPr>
          <p:cNvSpPr>
            <a:spLocks xmlns:a="http://schemas.openxmlformats.org/drawingml/2006/main" noGrp="1"/>
          </p:cNvSpPr>
          <p:nvPr/>
        </p:nvSpPr>
        <p:spPr>
          <a:xfrm xmlns:a="http://schemas.openxmlformats.org/drawingml/2006/main">
            <a:off x="8629650" y="23431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largest QQQ-minus-SPY change: 15 prior / 10 forward</a:t>
            </a:r>
          </a:p>
        </p:txBody>
      </p:sp>
      <p:sp>
        <p:nvSpPr>
          <p:cNvPr id="12" name="">
            <a:extLst xmlns:a="http://schemas.openxmlformats.org/drawingml/2006/main">
              <a:ext uri="{FF2B5EF4-FFF2-40B4-BE49-F238E27FC236}">
                <a16:creationId xmlns:a16="http://schemas.microsoft.com/office/drawing/2014/main" id="{627B1C2D-BD18-4B6C-8DC8-10694F2FD365}"/>
              </a:ext>
            </a:extLst>
          </p:cNvPr>
          <p:cNvSpPr>
            <a:spLocks xmlns:a="http://schemas.openxmlformats.org/drawingml/2006/main" noGrp="1"/>
          </p:cNvSpPr>
          <p:nvPr/>
        </p:nvSpPr>
        <p:spPr>
          <a:xfrm xmlns:a="http://schemas.openxmlformats.org/drawingml/2006/main">
            <a:off x="8362950" y="31432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3" name="">
            <a:extLst xmlns:a="http://schemas.openxmlformats.org/drawingml/2006/main">
              <a:ext uri="{FF2B5EF4-FFF2-40B4-BE49-F238E27FC236}">
                <a16:creationId xmlns:a16="http://schemas.microsoft.com/office/drawing/2014/main" id="{1A4050CC-5568-4F8A-B026-EC7B8ABEFB7A}"/>
              </a:ext>
            </a:extLst>
          </p:cNvPr>
          <p:cNvSpPr>
            <a:spLocks xmlns:a="http://schemas.openxmlformats.org/drawingml/2006/main" noGrp="1"/>
          </p:cNvSpPr>
          <p:nvPr/>
        </p:nvSpPr>
        <p:spPr>
          <a:xfrm xmlns:a="http://schemas.openxmlformats.org/drawingml/2006/main">
            <a:off x="8362950" y="3143250"/>
            <a:ext cx="76200" cy="14287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4" name="">
            <a:extLst xmlns:a="http://schemas.openxmlformats.org/drawingml/2006/main">
              <a:ext uri="{FF2B5EF4-FFF2-40B4-BE49-F238E27FC236}">
                <a16:creationId xmlns:a16="http://schemas.microsoft.com/office/drawing/2014/main" id="{502FF9D4-D051-476B-B68A-15DCA6B44FE9}"/>
              </a:ext>
            </a:extLst>
          </p:cNvPr>
          <p:cNvSpPr>
            <a:spLocks xmlns:a="http://schemas.openxmlformats.org/drawingml/2006/main" noGrp="1"/>
          </p:cNvSpPr>
          <p:nvPr/>
        </p:nvSpPr>
        <p:spPr>
          <a:xfrm xmlns:a="http://schemas.openxmlformats.org/drawingml/2006/main">
            <a:off x="8629650" y="33147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79 / 81</a:t>
            </a:r>
          </a:p>
        </p:txBody>
      </p:sp>
      <p:sp>
        <p:nvSpPr>
          <p:cNvPr id="15" name="">
            <a:extLst xmlns:a="http://schemas.openxmlformats.org/drawingml/2006/main">
              <a:ext uri="{FF2B5EF4-FFF2-40B4-BE49-F238E27FC236}">
                <a16:creationId xmlns:a16="http://schemas.microsoft.com/office/drawing/2014/main" id="{03DFBB46-08D6-4497-AA7C-C2049757E9DE}"/>
              </a:ext>
            </a:extLst>
          </p:cNvPr>
          <p:cNvSpPr>
            <a:spLocks xmlns:a="http://schemas.openxmlformats.org/drawingml/2006/main" noGrp="1"/>
          </p:cNvSpPr>
          <p:nvPr/>
        </p:nvSpPr>
        <p:spPr>
          <a:xfrm xmlns:a="http://schemas.openxmlformats.org/drawingml/2006/main">
            <a:off x="8629650" y="39814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cells with the same correlation sign</a:t>
            </a:r>
          </a:p>
        </p:txBody>
      </p:sp>
      <p:sp>
        <p:nvSpPr>
          <p:cNvPr id="16" name="">
            <a:extLst xmlns:a="http://schemas.openxmlformats.org/drawingml/2006/main">
              <a:ext uri="{FF2B5EF4-FFF2-40B4-BE49-F238E27FC236}">
                <a16:creationId xmlns:a16="http://schemas.microsoft.com/office/drawing/2014/main" id="{509D61CC-6E5E-49EC-A5F6-E861E8561441}"/>
              </a:ext>
            </a:extLst>
          </p:cNvPr>
          <p:cNvSpPr>
            <a:spLocks xmlns:a="http://schemas.openxmlformats.org/drawingml/2006/main" noGrp="1"/>
          </p:cNvSpPr>
          <p:nvPr/>
        </p:nvSpPr>
        <p:spPr>
          <a:xfrm xmlns:a="http://schemas.openxmlformats.org/drawingml/2006/main">
            <a:off x="8362950" y="4781550"/>
            <a:ext cx="3143250" cy="14287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17" name="">
            <a:extLst xmlns:a="http://schemas.openxmlformats.org/drawingml/2006/main">
              <a:ext uri="{FF2B5EF4-FFF2-40B4-BE49-F238E27FC236}">
                <a16:creationId xmlns:a16="http://schemas.microsoft.com/office/drawing/2014/main" id="{A935608E-4DDE-41BA-8DF2-831CF419565B}"/>
              </a:ext>
            </a:extLst>
          </p:cNvPr>
          <p:cNvSpPr>
            <a:spLocks xmlns:a="http://schemas.openxmlformats.org/drawingml/2006/main" noGrp="1"/>
          </p:cNvSpPr>
          <p:nvPr/>
        </p:nvSpPr>
        <p:spPr>
          <a:xfrm xmlns:a="http://schemas.openxmlformats.org/drawingml/2006/main">
            <a:off x="8362950" y="4781550"/>
            <a:ext cx="76200" cy="1428750"/>
          </a:xfrm>
          <a:prstGeom xmlns:a="http://schemas.openxmlformats.org/drawingml/2006/main" prst="rect">
            <a:avLst/>
          </a:prstGeom>
          <a:solidFill xmlns:a="http://schemas.openxmlformats.org/drawingml/2006/main">
            <a:srgbClr val="273548"/>
          </a:solidFill>
          <a:ln xmlns:a="http://schemas.openxmlformats.org/drawingml/2006/main" w="0">
            <a:solidFill>
              <a:srgbClr val="273548"/>
            </a:solidFill>
            <a:prstDash val="solid"/>
          </a:ln>
        </p:spPr>
      </p:sp>
      <p:sp>
        <p:nvSpPr>
          <p:cNvPr id="18" name="">
            <a:extLst xmlns:a="http://schemas.openxmlformats.org/drawingml/2006/main">
              <a:ext uri="{FF2B5EF4-FFF2-40B4-BE49-F238E27FC236}">
                <a16:creationId xmlns:a16="http://schemas.microsoft.com/office/drawing/2014/main" id="{088A976D-39D1-4C6C-803F-0D3F8BAE4A28}"/>
              </a:ext>
            </a:extLst>
          </p:cNvPr>
          <p:cNvSpPr>
            <a:spLocks xmlns:a="http://schemas.openxmlformats.org/drawingml/2006/main" noGrp="1"/>
          </p:cNvSpPr>
          <p:nvPr/>
        </p:nvSpPr>
        <p:spPr>
          <a:xfrm xmlns:a="http://schemas.openxmlformats.org/drawingml/2006/main">
            <a:off x="8629650" y="4953000"/>
            <a:ext cx="26860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273548"/>
                </a:solidFill>
                <a:latin typeface="Arial"/>
                <a:ea typeface="Arial"/>
                <a:cs typeface="Arial"/>
              </a:defRPr>
            </a:pPr>
            <a:r>
              <a:rPr sz="3225" b="1">
                <a:solidFill>
                  <a:srgbClr val="273548"/>
                </a:solidFill>
                <a:latin typeface="Arial"/>
                <a:ea typeface="Arial"/>
                <a:cs typeface="Arial"/>
              </a:rPr>
              <a:t>r = 0.947</a:t>
            </a:r>
          </a:p>
        </p:txBody>
      </p:sp>
      <p:sp>
        <p:nvSpPr>
          <p:cNvPr id="19" name="">
            <a:extLst xmlns:a="http://schemas.openxmlformats.org/drawingml/2006/main">
              <a:ext uri="{FF2B5EF4-FFF2-40B4-BE49-F238E27FC236}">
                <a16:creationId xmlns:a16="http://schemas.microsoft.com/office/drawing/2014/main" id="{AA1E116E-13CC-4735-B31A-B5C1846B2D22}"/>
              </a:ext>
            </a:extLst>
          </p:cNvPr>
          <p:cNvSpPr>
            <a:spLocks xmlns:a="http://schemas.openxmlformats.org/drawingml/2006/main" noGrp="1"/>
          </p:cNvSpPr>
          <p:nvPr/>
        </p:nvSpPr>
        <p:spPr>
          <a:xfrm xmlns:a="http://schemas.openxmlformats.org/drawingml/2006/main">
            <a:off x="8629650" y="5619750"/>
            <a:ext cx="26860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cellwise correlation between the two maps</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d077bb3f976d4e62"/>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478a358af076414f"/>
          <a:stretch xmlns:a="http://schemas.openxmlformats.org/drawingml/2006/main"/>
        </p:blipFill>
        <p:spPr>
          <a:xfrm xmlns:a="http://schemas.openxmlformats.org/drawingml/2006/main" flipH="0" flipV="0">
            <a:off x="609600" y="1428750"/>
            <a:ext cx="7143750" cy="4762500"/>
          </a:xfrm>
          <a:prstGeom xmlns:a="http://schemas.openxmlformats.org/drawingml/2006/main" prst="rect">
            <a:avLst/>
          </a:prstGeom>
        </p:spPr>
      </p:pic>
    </p:spTree>
    <p:extLst>
      <p:ext uri="{BB962C8B-B14F-4D97-AF65-F5344CB8AC3E}">
        <p14:creationId xmlns:p14="http://schemas.microsoft.com/office/powerpoint/2010/main" val="1583170704"/>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47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QQQ and SPY largely reproduce TSLA's own horizon map</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Map correlation vs TSLA-own: QQQ +0.906, SPY +0.965; no external BH survivor.</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74ff4967d0f4dd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b0260c6ccde4d21"/>
          <a:stretch xmlns:a="http://schemas.openxmlformats.org/drawingml/2006/main"/>
        </p:blipFill>
        <p:spPr>
          <a:xfrm xmlns:a="http://schemas.openxmlformats.org/drawingml/2006/main">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007"/>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External prior returns reveal shared geometry—not a lead</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QQQ PRIOR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4325"/>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Positive island peaks around 5–10 prior / 5–10 forward</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72/81 positive; max r +0.134; 0/81 family passes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SPY PRIOR MAP</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Nearly the same surface, with slightly weaker point estimates</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70/81 positive; max r +0.111; 0/81 family passes</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TSLA-OWN BASELINE</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The same island already exists in TSLA's own prior-return map</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QQQ/own map r +0.906; SPY/own r +0.965</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Shared trend geometry is a useful clue, but no distinct external lead or multiplicity survivor is established. Keep the strategy gate closed.</a:t>
            </a:r>
          </a:p>
        </p:txBody>
      </p:sp>
    </p:spTree>
    <p:extLst>
      <p:ext uri="{BB962C8B-B14F-4D97-AF65-F5344CB8AC3E}">
        <p14:creationId xmlns:p14="http://schemas.microsoft.com/office/powerpoint/2010/main" val="66653628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SIGN ASYMMETRY</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Does the aggregate map mix losses and gains?</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2898"/>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Split the same signed prior return at zero—without changing its scale.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horizons, timing, ER20, and ATR% states. No rule or post-2023 data.</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55</a:t>
            </a:r>
          </a:p>
        </p:txBody>
      </p:sp>
    </p:spTree>
    <p:extLst>
      <p:ext uri="{BB962C8B-B14F-4D97-AF65-F5344CB8AC3E}">
        <p14:creationId xmlns:p14="http://schemas.microsoft.com/office/powerpoint/2010/main" val="80248067"/>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224"/>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Loss and gain branches share one signed return scale</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X &lt; 0  versus  X &gt; 0</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Negative values stay negative. A joint interaction model allows both the intercept and slope to differ across the two branches.</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6</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fixed conditioning surfaces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asymmetry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Branches</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Negative and positive</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Prior windows</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1, 2, 3, 4, 5, 10, 15, 20, 25</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Target</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63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Following TSLA cumulative log return</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anchor close t</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Uncertainty</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Overlap-aware Newey-West / HAC</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Multiplicity</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81 / 162 / 243 direct BH tests</a:t>
            </a:r>
          </a:p>
        </p:txBody>
      </p:sp>
    </p:spTree>
    <p:extLst>
      <p:ext uri="{BB962C8B-B14F-4D97-AF65-F5344CB8AC3E}">
        <p14:creationId xmlns:p14="http://schemas.microsoft.com/office/powerpoint/2010/main" val="1397283360"/>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1×1 survivor is rebound geometry after losses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Negative slope −0.182 vs positive +0.053; difference +0.235, 81-cell BH q=0.044. Up odds: 52.9% vs 52.1%.</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fb1c97f13ac47f0"/>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2276c5b952644f8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Four unfiltered cells survive the BH asymmetry scan</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1/1 and a 20-prior / 4–10-forward cluster survive; negative branches reverse while positive branches stay near zero.</a:t>
            </a:r>
          </a:p>
        </p:txBody>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c781f78feb7e42e4"/>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CCA475D3-61B6-47E4-B4AF-667A5724B835}"/>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CDD3DA"/>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590aa6c20147439e"/>
          <a:stretch xmlns:a="http://schemas.openxmlformats.org/drawingml/2006/main"/>
        </p:blipFill>
        <p:spPr>
          <a:xfrm xmlns:a="http://schemas.openxmlformats.org/drawingml/2006/main" flipH="0" flipV="0">
            <a:off x="1000125" y="1581150"/>
            <a:ext cx="10191750" cy="38385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793"/>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Positive minus negative detects a kink—not a spread</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b+ − b−</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0546"/>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Compare two conditional slopes. Like an asymmetric spring, deeper losses can create rebound pressure while larger gains add little information.</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1</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hinge at prior return = 0</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How to read the blue cells</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Negative branch</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&lt; 0: deeper loss → stronger rebound</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Positive branch</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748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0: gain size → little information</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Difference</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 − b− &gt; 0: sign changes the mapping</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Not a trade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 realized returns are being subtracted</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Candidate use</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6602"/>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Score loss severity only inside X &lt; 0</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Guardrail</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667"/>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Slope asymmetry ≠ positive expectancy</a:t>
            </a:r>
          </a:p>
        </p:txBody>
      </p:sp>
    </p:spTree>
    <p:extLst>
      <p:ext uri="{BB962C8B-B14F-4D97-AF65-F5344CB8AC3E}">
        <p14:creationId xmlns:p14="http://schemas.microsoft.com/office/powerpoint/2010/main" val="139728336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8718"/>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ER20 reorganizes the branches, but no asymmetry survives</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0/162 direct slope interactions pass BH; ER20 and prior return share trailing TSLA path data.</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3c17de4ebea74ee3"/>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434c015dba748ba"/>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section-4">
            <a:extLst xmlns:a="http://schemas.openxmlformats.org/drawingml/2006/main">
              <a:ext uri="{FF2B5EF4-FFF2-40B4-BE49-F238E27FC236}">
                <a16:creationId xmlns:a16="http://schemas.microsoft.com/office/drawing/2014/main" id="{8AE0A271-669A-49F0-A82E-C4438BEE27D9}"/>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4">
            <a:extLst xmlns:a="http://schemas.openxmlformats.org/drawingml/2006/main">
              <a:ext uri="{FF2B5EF4-FFF2-40B4-BE49-F238E27FC236}">
                <a16:creationId xmlns:a16="http://schemas.microsoft.com/office/drawing/2014/main" id="{50C6F92F-721A-4252-9CF8-B5C9B01C7310}"/>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ATR% isolates two clusters—but not a rule</a:t>
            </a:r>
          </a:p>
        </p:txBody>
      </p:sp>
      <p:sp>
        <p:nvSpPr>
          <p:cNvPr id="3" name="">
            <a:extLst xmlns:a="http://schemas.openxmlformats.org/drawingml/2006/main">
              <a:ext uri="{FF2B5EF4-FFF2-40B4-BE49-F238E27FC236}">
                <a16:creationId xmlns:a16="http://schemas.microsoft.com/office/drawing/2014/main" id="{242399F2-4D0A-4337-B17E-DB3599DC380F}"/>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4">
            <a:extLst xmlns:a="http://schemas.openxmlformats.org/drawingml/2006/main">
              <a:ext uri="{FF2B5EF4-FFF2-40B4-BE49-F238E27FC236}">
                <a16:creationId xmlns:a16="http://schemas.microsoft.com/office/drawing/2014/main" id="{BF8B82CA-1E48-4669-BAD8-1FF8C09FCBF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4">
            <a:extLst xmlns:a="http://schemas.openxmlformats.org/drawingml/2006/main">
              <a:ext uri="{FF2B5EF4-FFF2-40B4-BE49-F238E27FC236}">
                <a16:creationId xmlns:a16="http://schemas.microsoft.com/office/drawing/2014/main" id="{05959AEC-B0A5-45F0-A65B-C94C3E5A032F}"/>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9C8DEA29-E57D-4C8D-8538-2028FF89DA7C}"/>
              </a:ext>
            </a:extLst>
          </p:cNvPr>
          <p:cNvSpPr>
            <a:spLocks xmlns:a="http://schemas.openxmlformats.org/drawingml/2006/main" noGrp="1"/>
          </p:cNvSpPr>
          <p:nvPr/>
        </p:nvSpPr>
        <p:spPr>
          <a:xfrm xmlns:a="http://schemas.openxmlformats.org/drawingml/2006/main">
            <a:off x="1000125" y="1352550"/>
            <a:ext cx="10191750" cy="4905375"/>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4346A5F2-8CC4-4151-9BDB-346D47A3096B}"/>
              </a:ext>
            </a:extLst>
          </p:cNvPr>
          <p:cNvSpPr>
            <a:spLocks xmlns:a="http://schemas.openxmlformats.org/drawingml/2006/main" noGrp="1"/>
          </p:cNvSpPr>
          <p:nvPr/>
        </p:nvSpPr>
        <p:spPr>
          <a:xfrm xmlns:a="http://schemas.openxmlformats.org/drawingml/2006/main">
            <a:off x="1143000" y="6286500"/>
            <a:ext cx="9906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3750"/>
          </a:bodyPr>
          <a:lstStyle xmlns:a="http://schemas.openxmlformats.org/drawingml/2006/main"/>
          <a:p xmlns:a="http://schemas.openxmlformats.org/drawingml/2006/main">
            <a:pPr algn="ctr">
              <a:buNone/>
              <a:defRPr sz="1200" b="0">
                <a:solidFill>
                  <a:srgbClr val="667384"/>
                </a:solidFill>
                <a:latin typeface="Arial"/>
                <a:ea typeface="Arial"/>
                <a:cs typeface="Arial"/>
              </a:defRPr>
            </a:pPr>
            <a:r>
              <a:rPr sz="1200" b="0">
                <a:solidFill>
                  <a:srgbClr val="667384"/>
                </a:solidFill>
                <a:latin typeface="Arial"/>
                <a:ea typeface="Arial"/>
                <a:cs typeface="Arial"/>
              </a:rPr>
              <a:t>HIGH 1/1 plus LOW 20–25 prior / 15–20 forward: 5/243 pass BH. LOW loss branches have only 165–167 observations.</a:t>
            </a:r>
          </a:p>
        </p:txBody>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8c8401a2b3514145"/>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ba660e5c4724b5e"/>
          <a:stretch xmlns:a="http://schemas.openxmlformats.org/drawingml/2006/main"/>
        </p:blipFill>
        <p:spPr>
          <a:xfrm xmlns:a="http://schemas.openxmlformats.org/drawingml/2006/main" flipH="0" flipV="0">
            <a:off x="2942545" y="1352550"/>
            <a:ext cx="6306911" cy="4905375"/>
          </a:xfrm>
          <a:prstGeom xmlns:a="http://schemas.openxmlformats.org/drawingml/2006/main" prst="rect">
            <a:avLst/>
          </a:prstGeom>
        </p:spPr>
      </p:pic>
    </p:spTree>
    <p:extLst>
      <p:ext uri="{BB962C8B-B14F-4D97-AF65-F5344CB8AC3E}">
        <p14:creationId xmlns:p14="http://schemas.microsoft.com/office/powerpoint/2010/main" val="400872380"/>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The split reveals rebound geometry—not momentum</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ADJACENT</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19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Rebound slope after losses—not sign persistence</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q=0.044; up odds 52.9% after loss vs 52.1% after gain</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UNFILTERED 9×9</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24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Coherent 20-prior / 4–10-forward rebound cluster</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4/81 BH passes; nested horizons share data</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REGIME SPLITS</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0513"/>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ER20 none; ATR% HIGH 1×1 plus LOW long-horizon cluster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0/162 ER20; 5/243 ATR%</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A novel in-sample asymmetry worth frozen sensitivity—not a trading rule. Keep the strategy gate closed.</a:t>
            </a:r>
          </a:p>
        </p:txBody>
      </p:sp>
    </p:spTree>
    <p:extLst>
      <p:ext uri="{BB962C8B-B14F-4D97-AF65-F5344CB8AC3E}">
        <p14:creationId xmlns:p14="http://schemas.microsoft.com/office/powerpoint/2010/main" val="66653628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2BC51E6-6E84-4C1E-8D3E-0D1B2ADE0DA7}"/>
              </a:ext>
            </a:extLst>
          </p:cNvPr>
          <p:cNvSpPr>
            <a:spLocks xmlns:a="http://schemas.openxmlformats.org/drawingml/2006/main" noGrp="1"/>
          </p:cNvSpPr>
          <p:nvPr/>
        </p:nvSpPr>
        <p:spPr>
          <a:xfrm xmlns:a="http://schemas.openxmlformats.org/drawingml/2006/main">
            <a:off x="457200" y="4000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667384"/>
                </a:solidFill>
                <a:latin typeface="Arial"/>
                <a:ea typeface="Arial"/>
                <a:cs typeface="Arial"/>
              </a:defRPr>
            </a:pPr>
            <a:r>
              <a:rPr sz="1350" b="1">
                <a:solidFill>
                  <a:srgbClr val="667384"/>
                </a:solidFill>
                <a:latin typeface="Arial"/>
                <a:ea typeface="Arial"/>
                <a:cs typeface="Arial"/>
              </a:rPr>
              <a:t>TREND DIRECTION</a:t>
            </a:r>
          </a:p>
        </p:txBody>
      </p:sp>
      <p:sp>
        <p:nvSpPr>
          <p:cNvPr id="2" name="">
            <a:extLst xmlns:a="http://schemas.openxmlformats.org/drawingml/2006/main">
              <a:ext uri="{FF2B5EF4-FFF2-40B4-BE49-F238E27FC236}">
                <a16:creationId xmlns:a16="http://schemas.microsoft.com/office/drawing/2014/main" id="{D5FBD659-315B-4902-8A62-88F3460EC6CC}"/>
              </a:ext>
            </a:extLst>
          </p:cNvPr>
          <p:cNvSpPr>
            <a:spLocks xmlns:a="http://schemas.openxmlformats.org/drawingml/2006/main" noGrp="1"/>
          </p:cNvSpPr>
          <p:nvPr/>
        </p:nvSpPr>
        <p:spPr>
          <a:xfrm xmlns:a="http://schemas.openxmlformats.org/drawingml/2006/main">
            <a:off x="457200" y="1562100"/>
            <a:ext cx="107632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a:buNone/>
              <a:defRPr sz="5100" b="1">
                <a:solidFill>
                  <a:srgbClr val="000000"/>
                </a:solidFill>
                <a:latin typeface="Arial"/>
                <a:ea typeface="Arial"/>
                <a:cs typeface="Arial"/>
              </a:defRPr>
            </a:pPr>
            <a:r>
              <a:rPr sz="5100" b="1">
                <a:solidFill>
                  <a:srgbClr val="000000"/>
                </a:solidFill>
                <a:latin typeface="Arial"/>
                <a:ea typeface="Arial"/>
                <a:cs typeface="Arial"/>
              </a:rPr>
              <a:t>Can path efficiency also reveal direction?</a:t>
            </a:r>
          </a:p>
        </p:txBody>
      </p:sp>
      <p:sp>
        <p:nvSpPr>
          <p:cNvPr id="3" name="">
            <a:extLst xmlns:a="http://schemas.openxmlformats.org/drawingml/2006/main">
              <a:ext uri="{FF2B5EF4-FFF2-40B4-BE49-F238E27FC236}">
                <a16:creationId xmlns:a16="http://schemas.microsoft.com/office/drawing/2014/main" id="{108F8D12-F796-4339-A513-DF003E6E5740}"/>
              </a:ext>
            </a:extLst>
          </p:cNvPr>
          <p:cNvSpPr>
            <a:spLocks xmlns:a="http://schemas.openxmlformats.org/drawingml/2006/main" noGrp="1"/>
          </p:cNvSpPr>
          <p:nvPr/>
        </p:nvSpPr>
        <p:spPr>
          <a:xfrm xmlns:a="http://schemas.openxmlformats.org/drawingml/2006/main">
            <a:off x="457200" y="3714750"/>
            <a:ext cx="1257300" cy="7620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4" name="">
            <a:extLst xmlns:a="http://schemas.openxmlformats.org/drawingml/2006/main">
              <a:ext uri="{FF2B5EF4-FFF2-40B4-BE49-F238E27FC236}">
                <a16:creationId xmlns:a16="http://schemas.microsoft.com/office/drawing/2014/main" id="{8345830B-E6EE-4175-94D1-A484215C8069}"/>
              </a:ext>
            </a:extLst>
          </p:cNvPr>
          <p:cNvSpPr>
            <a:spLocks xmlns:a="http://schemas.openxmlformats.org/drawingml/2006/main" noGrp="1"/>
          </p:cNvSpPr>
          <p:nvPr/>
        </p:nvSpPr>
        <p:spPr>
          <a:xfrm xmlns:a="http://schemas.openxmlformats.org/drawingml/2006/main">
            <a:off x="457200" y="4171950"/>
            <a:ext cx="9239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550" b="0">
                <a:solidFill>
                  <a:srgbClr val="273548"/>
                </a:solidFill>
                <a:latin typeface="Arial"/>
                <a:ea typeface="Arial"/>
                <a:cs typeface="Arial"/>
              </a:defRPr>
            </a:pPr>
            <a:r>
              <a:rPr sz="2550" b="0">
                <a:solidFill>
                  <a:srgbClr val="273548"/>
                </a:solidFill>
                <a:latin typeface="Arial"/>
                <a:ea typeface="Arial"/>
                <a:cs typeface="Arial"/>
              </a:rPr>
              <a:t>Retain the sign of the same 20-session efficiency score.</a:t>
            </a:r>
          </a:p>
        </p:txBody>
      </p:sp>
      <p:sp>
        <p:nvSpPr>
          <p:cNvPr id="5" name="">
            <a:extLst xmlns:a="http://schemas.openxmlformats.org/drawingml/2006/main">
              <a:ext uri="{FF2B5EF4-FFF2-40B4-BE49-F238E27FC236}">
                <a16:creationId xmlns:a16="http://schemas.microsoft.com/office/drawing/2014/main" id="{93B3AAD9-855C-47E7-9BA0-F94B71F3F42B}"/>
              </a:ext>
            </a:extLst>
          </p:cNvPr>
          <p:cNvSpPr>
            <a:spLocks xmlns:a="http://schemas.openxmlformats.org/drawingml/2006/main" noGrp="1"/>
          </p:cNvSpPr>
          <p:nvPr/>
        </p:nvSpPr>
        <p:spPr>
          <a:xfrm xmlns:a="http://schemas.openxmlformats.org/drawingml/2006/main">
            <a:off x="457200" y="5429250"/>
            <a:ext cx="10191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0">
                <a:solidFill>
                  <a:srgbClr val="667384"/>
                </a:solidFill>
                <a:latin typeface="Arial"/>
                <a:ea typeface="Arial"/>
                <a:cs typeface="Arial"/>
              </a:defRPr>
            </a:pPr>
            <a:r>
              <a:rPr sz="1650" b="0">
                <a:solidFill>
                  <a:srgbClr val="667384"/>
                </a:solidFill>
                <a:latin typeface="Arial"/>
                <a:ea typeface="Arial"/>
                <a:cs typeface="Arial"/>
              </a:rPr>
              <a:t>Same TSLA sample, window, cutoff, and causal timing. No return-grid conditioning yet.</a:t>
            </a:r>
          </a:p>
        </p:txBody>
      </p:sp>
      <p:sp>
        <p:nvSpPr>
          <p:cNvPr id="6" name="">
            <a:extLst xmlns:a="http://schemas.openxmlformats.org/drawingml/2006/main">
              <a:ext uri="{FF2B5EF4-FFF2-40B4-BE49-F238E27FC236}">
                <a16:creationId xmlns:a16="http://schemas.microsoft.com/office/drawing/2014/main" id="{C26E2559-6393-4E7F-A448-E0578397EEA2}"/>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63</a:t>
            </a:r>
          </a:p>
        </p:txBody>
      </p:sp>
    </p:spTree>
    <p:extLst>
      <p:ext uri="{BB962C8B-B14F-4D97-AF65-F5344CB8AC3E}">
        <p14:creationId xmlns:p14="http://schemas.microsoft.com/office/powerpoint/2010/main" val="80248067"/>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section-3">
            <a:extLst xmlns:a="http://schemas.openxmlformats.org/drawingml/2006/main">
              <a:ext uri="{FF2B5EF4-FFF2-40B4-BE49-F238E27FC236}">
                <a16:creationId xmlns:a16="http://schemas.microsoft.com/office/drawing/2014/main" id="{D21E8F50-BA1C-4536-B715-AAD5A74ED82B}"/>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3">
            <a:extLst xmlns:a="http://schemas.openxmlformats.org/drawingml/2006/main">
              <a:ext uri="{FF2B5EF4-FFF2-40B4-BE49-F238E27FC236}">
                <a16:creationId xmlns:a16="http://schemas.microsoft.com/office/drawing/2014/main" id="{622D00AB-54E7-40F8-BC73-9A3D2344F48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turns one path score into three states</a:t>
            </a:r>
          </a:p>
        </p:txBody>
      </p:sp>
      <p:sp>
        <p:nvSpPr>
          <p:cNvPr id="3" name="">
            <a:extLst xmlns:a="http://schemas.openxmlformats.org/drawingml/2006/main">
              <a:ext uri="{FF2B5EF4-FFF2-40B4-BE49-F238E27FC236}">
                <a16:creationId xmlns:a16="http://schemas.microsoft.com/office/drawing/2014/main" id="{C3977435-894D-461F-A4F7-CD91DF8A8A55}"/>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3">
            <a:extLst xmlns:a="http://schemas.openxmlformats.org/drawingml/2006/main">
              <a:ext uri="{FF2B5EF4-FFF2-40B4-BE49-F238E27FC236}">
                <a16:creationId xmlns:a16="http://schemas.microsoft.com/office/drawing/2014/main" id="{FC53CCFE-82C8-49A0-BC48-206B3BC8CC1B}"/>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3">
            <a:extLst xmlns:a="http://schemas.openxmlformats.org/drawingml/2006/main">
              <a:ext uri="{FF2B5EF4-FFF2-40B4-BE49-F238E27FC236}">
                <a16:creationId xmlns:a16="http://schemas.microsoft.com/office/drawing/2014/main" id="{B9F045FD-2505-4635-89F0-EDCD31EF4080}"/>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4748B"/>
                </a:solidFill>
                <a:latin typeface="Arial"/>
                <a:ea typeface="Arial"/>
                <a:cs typeface="Arial"/>
              </a:defRPr>
            </a:pPr>
            <a:r>
              <a:rPr sz="825" b="0">
                <a:solidFill>
                  <a:srgbClr val="64748B"/>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551133C9-969B-4370-A80C-D9B73CA522F0}"/>
              </a:ext>
            </a:extLst>
          </p:cNvPr>
          <p:cNvSpPr>
            <a:spLocks xmlns:a="http://schemas.openxmlformats.org/drawingml/2006/main" noGrp="1"/>
          </p:cNvSpPr>
          <p:nvPr/>
        </p:nvSpPr>
        <p:spPr>
          <a:xfrm xmlns:a="http://schemas.openxmlformats.org/drawingml/2006/main">
            <a:off x="628650" y="1752600"/>
            <a:ext cx="5429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300" b="1">
                <a:solidFill>
                  <a:srgbClr val="3D8DFF"/>
                </a:solidFill>
                <a:latin typeface="Arial"/>
                <a:ea typeface="Arial"/>
                <a:cs typeface="Arial"/>
              </a:defRPr>
            </a:pPr>
            <a:r>
              <a:rPr sz="3300" b="1">
                <a:solidFill>
                  <a:srgbClr val="3D8DFF"/>
                </a:solidFill>
                <a:latin typeface="Arial"/>
                <a:ea typeface="Arial"/>
                <a:cs typeface="Arial"/>
              </a:rPr>
              <a:t>net move / total path</a:t>
            </a:r>
          </a:p>
        </p:txBody>
      </p:sp>
      <p:sp>
        <p:nvSpPr>
          <p:cNvPr id="7" name="">
            <a:extLst xmlns:a="http://schemas.openxmlformats.org/drawingml/2006/main">
              <a:ext uri="{FF2B5EF4-FFF2-40B4-BE49-F238E27FC236}">
                <a16:creationId xmlns:a16="http://schemas.microsoft.com/office/drawing/2014/main" id="{82D8EB97-B391-424E-82EB-0DEEC881C286}"/>
              </a:ext>
            </a:extLst>
          </p:cNvPr>
          <p:cNvSpPr>
            <a:spLocks xmlns:a="http://schemas.openxmlformats.org/drawingml/2006/main" noGrp="1"/>
          </p:cNvSpPr>
          <p:nvPr/>
        </p:nvSpPr>
        <p:spPr>
          <a:xfrm xmlns:a="http://schemas.openxmlformats.org/drawingml/2006/main">
            <a:off x="628650" y="2724150"/>
            <a:ext cx="50482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875" b="0">
                <a:solidFill>
                  <a:srgbClr val="273548"/>
                </a:solidFill>
                <a:latin typeface="Arial"/>
                <a:ea typeface="Arial"/>
                <a:cs typeface="Arial"/>
              </a:defRPr>
            </a:pPr>
            <a:r>
              <a:rPr sz="1875" b="0">
                <a:solidFill>
                  <a:srgbClr val="273548"/>
                </a:solidFill>
                <a:latin typeface="Arial"/>
                <a:ea typeface="Arial"/>
                <a:cs typeface="Arial"/>
              </a:rPr>
              <a:t>The numerator keeps direction; the denominator penalizes churn. Taking the absolute value reproduces ER20 exactly.</a:t>
            </a:r>
          </a:p>
        </p:txBody>
      </p:sp>
      <p:sp>
        <p:nvSpPr>
          <p:cNvPr id="8" name="">
            <a:extLst xmlns:a="http://schemas.openxmlformats.org/drawingml/2006/main">
              <a:ext uri="{FF2B5EF4-FFF2-40B4-BE49-F238E27FC236}">
                <a16:creationId xmlns:a16="http://schemas.microsoft.com/office/drawing/2014/main" id="{8FD10794-EB76-4BB0-B74E-31375B660ECD}"/>
              </a:ext>
            </a:extLst>
          </p:cNvPr>
          <p:cNvSpPr>
            <a:spLocks xmlns:a="http://schemas.openxmlformats.org/drawingml/2006/main" noGrp="1"/>
          </p:cNvSpPr>
          <p:nvPr/>
        </p:nvSpPr>
        <p:spPr>
          <a:xfrm xmlns:a="http://schemas.openxmlformats.org/drawingml/2006/main">
            <a:off x="628650" y="4095750"/>
            <a:ext cx="4953000" cy="1695450"/>
          </a:xfrm>
          <a:prstGeom xmlns:a="http://schemas.openxmlformats.org/drawingml/2006/main" prst="rect">
            <a:avLst/>
          </a:prstGeom>
          <a:solidFill xmlns:a="http://schemas.openxmlformats.org/drawingml/2006/main">
            <a:srgbClr val="EDEDED"/>
          </a:solidFill>
          <a:ln xmlns:a="http://schemas.openxmlformats.org/drawingml/2006/main" w="0">
            <a:solidFill>
              <a:srgbClr val="EDEDED"/>
            </a:solidFill>
            <a:prstDash val="solid"/>
          </a:ln>
        </p:spPr>
      </p:sp>
      <p:sp>
        <p:nvSpPr>
          <p:cNvPr id="9" name="">
            <a:extLst xmlns:a="http://schemas.openxmlformats.org/drawingml/2006/main">
              <a:ext uri="{FF2B5EF4-FFF2-40B4-BE49-F238E27FC236}">
                <a16:creationId xmlns:a16="http://schemas.microsoft.com/office/drawing/2014/main" id="{E8834C39-6D46-429B-A2ED-F97A068A843A}"/>
              </a:ext>
            </a:extLst>
          </p:cNvPr>
          <p:cNvSpPr>
            <a:spLocks xmlns:a="http://schemas.openxmlformats.org/drawingml/2006/main" noGrp="1"/>
          </p:cNvSpPr>
          <p:nvPr/>
        </p:nvSpPr>
        <p:spPr>
          <a:xfrm xmlns:a="http://schemas.openxmlformats.org/drawingml/2006/main">
            <a:off x="628650" y="4095750"/>
            <a:ext cx="76200" cy="16954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0" name="">
            <a:extLst xmlns:a="http://schemas.openxmlformats.org/drawingml/2006/main">
              <a:ext uri="{FF2B5EF4-FFF2-40B4-BE49-F238E27FC236}">
                <a16:creationId xmlns:a16="http://schemas.microsoft.com/office/drawing/2014/main" id="{743D83BD-5D8C-4BCB-B02F-81EB74163C70}"/>
              </a:ext>
            </a:extLst>
          </p:cNvPr>
          <p:cNvSpPr>
            <a:spLocks xmlns:a="http://schemas.openxmlformats.org/drawingml/2006/main" noGrp="1"/>
          </p:cNvSpPr>
          <p:nvPr/>
        </p:nvSpPr>
        <p:spPr>
          <a:xfrm xmlns:a="http://schemas.openxmlformats.org/drawingml/2006/main">
            <a:off x="895350" y="4267200"/>
            <a:ext cx="44958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3D8DFF"/>
                </a:solidFill>
                <a:latin typeface="Arial"/>
                <a:ea typeface="Arial"/>
                <a:cs typeface="Arial"/>
              </a:defRPr>
            </a:pPr>
            <a:r>
              <a:rPr sz="3225" b="1">
                <a:solidFill>
                  <a:srgbClr val="3D8DFF"/>
                </a:solidFill>
                <a:latin typeface="Arial"/>
                <a:ea typeface="Arial"/>
                <a:cs typeface="Arial"/>
              </a:rPr>
              <a:t>3</a:t>
            </a:r>
          </a:p>
        </p:txBody>
      </p:sp>
      <p:sp>
        <p:nvSpPr>
          <p:cNvPr id="11" name="">
            <a:extLst xmlns:a="http://schemas.openxmlformats.org/drawingml/2006/main">
              <a:ext uri="{FF2B5EF4-FFF2-40B4-BE49-F238E27FC236}">
                <a16:creationId xmlns:a16="http://schemas.microsoft.com/office/drawing/2014/main" id="{ED88569D-B256-4A8E-9334-C068F39865EA}"/>
              </a:ext>
            </a:extLst>
          </p:cNvPr>
          <p:cNvSpPr>
            <a:spLocks xmlns:a="http://schemas.openxmlformats.org/drawingml/2006/main" noGrp="1"/>
          </p:cNvSpPr>
          <p:nvPr/>
        </p:nvSpPr>
        <p:spPr>
          <a:xfrm xmlns:a="http://schemas.openxmlformats.org/drawingml/2006/main">
            <a:off x="895350" y="4933950"/>
            <a:ext cx="4495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273548"/>
                </a:solidFill>
                <a:latin typeface="Arial"/>
                <a:ea typeface="Arial"/>
                <a:cs typeface="Arial"/>
              </a:defRPr>
            </a:pPr>
            <a:r>
              <a:rPr sz="1350" b="0">
                <a:solidFill>
                  <a:srgbClr val="273548"/>
                </a:solidFill>
                <a:latin typeface="Arial"/>
                <a:ea typeface="Arial"/>
                <a:cs typeface="Arial"/>
              </a:rPr>
              <a:t>up / sideways / down states</a:t>
            </a:r>
          </a:p>
        </p:txBody>
      </p:sp>
      <p:sp>
        <p:nvSpPr>
          <p:cNvPr id="12" name="">
            <a:extLst xmlns:a="http://schemas.openxmlformats.org/drawingml/2006/main">
              <a:ext uri="{FF2B5EF4-FFF2-40B4-BE49-F238E27FC236}">
                <a16:creationId xmlns:a16="http://schemas.microsoft.com/office/drawing/2014/main" id="{1139CAED-155E-4498-A477-F11A6F4A02F8}"/>
              </a:ext>
            </a:extLst>
          </p:cNvPr>
          <p:cNvSpPr>
            <a:spLocks xmlns:a="http://schemas.openxmlformats.org/drawingml/2006/main" noGrp="1"/>
          </p:cNvSpPr>
          <p:nvPr/>
        </p:nvSpPr>
        <p:spPr>
          <a:xfrm xmlns:a="http://schemas.openxmlformats.org/drawingml/2006/main">
            <a:off x="6667500" y="16764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250" b="1">
                <a:solidFill>
                  <a:srgbClr val="000000"/>
                </a:solidFill>
                <a:latin typeface="Arial"/>
                <a:ea typeface="Arial"/>
                <a:cs typeface="Arial"/>
              </a:defRPr>
            </a:pPr>
            <a:r>
              <a:rPr sz="2250" b="1">
                <a:solidFill>
                  <a:srgbClr val="000000"/>
                </a:solidFill>
                <a:latin typeface="Arial"/>
                <a:ea typeface="Arial"/>
                <a:cs typeface="Arial"/>
              </a:rPr>
              <a:t>Fixed direction surface</a:t>
            </a:r>
          </a:p>
        </p:txBody>
      </p:sp>
      <p:sp>
        <p:nvSpPr>
          <p:cNvPr id="13" name="">
            <a:extLst xmlns:a="http://schemas.openxmlformats.org/drawingml/2006/main">
              <a:ext uri="{FF2B5EF4-FFF2-40B4-BE49-F238E27FC236}">
                <a16:creationId xmlns:a16="http://schemas.microsoft.com/office/drawing/2014/main" id="{09D8E2E5-6744-4962-977E-E85B48910BDF}"/>
              </a:ext>
            </a:extLst>
          </p:cNvPr>
          <p:cNvSpPr>
            <a:spLocks xmlns:a="http://schemas.openxmlformats.org/drawingml/2006/main" noGrp="1"/>
          </p:cNvSpPr>
          <p:nvPr/>
        </p:nvSpPr>
        <p:spPr>
          <a:xfrm xmlns:a="http://schemas.openxmlformats.org/drawingml/2006/main">
            <a:off x="6667500" y="22860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Window</a:t>
            </a:r>
          </a:p>
        </p:txBody>
      </p:sp>
      <p:sp>
        <p:nvSpPr>
          <p:cNvPr id="14" name="">
            <a:extLst xmlns:a="http://schemas.openxmlformats.org/drawingml/2006/main">
              <a:ext uri="{FF2B5EF4-FFF2-40B4-BE49-F238E27FC236}">
                <a16:creationId xmlns:a16="http://schemas.microsoft.com/office/drawing/2014/main" id="{60FD2958-8D30-49E2-9398-075A839B2785}"/>
              </a:ext>
            </a:extLst>
          </p:cNvPr>
          <p:cNvSpPr>
            <a:spLocks xmlns:a="http://schemas.openxmlformats.org/drawingml/2006/main" noGrp="1"/>
          </p:cNvSpPr>
          <p:nvPr/>
        </p:nvSpPr>
        <p:spPr>
          <a:xfrm xmlns:a="http://schemas.openxmlformats.org/drawingml/2006/main">
            <a:off x="8572500" y="22860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20 sessions</a:t>
            </a:r>
          </a:p>
        </p:txBody>
      </p:sp>
      <p:sp>
        <p:nvSpPr>
          <p:cNvPr id="15" name="">
            <a:extLst xmlns:a="http://schemas.openxmlformats.org/drawingml/2006/main">
              <a:ext uri="{FF2B5EF4-FFF2-40B4-BE49-F238E27FC236}">
                <a16:creationId xmlns:a16="http://schemas.microsoft.com/office/drawing/2014/main" id="{B5F0B4C3-3792-489F-A37E-FD53597FE449}"/>
              </a:ext>
            </a:extLst>
          </p:cNvPr>
          <p:cNvSpPr>
            <a:spLocks xmlns:a="http://schemas.openxmlformats.org/drawingml/2006/main" noGrp="1"/>
          </p:cNvSpPr>
          <p:nvPr/>
        </p:nvSpPr>
        <p:spPr>
          <a:xfrm xmlns:a="http://schemas.openxmlformats.org/drawingml/2006/main">
            <a:off x="6667500" y="27432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1F168646-6439-4EB2-88F0-0C08EDC14E3F}"/>
              </a:ext>
            </a:extLst>
          </p:cNvPr>
          <p:cNvSpPr>
            <a:spLocks xmlns:a="http://schemas.openxmlformats.org/drawingml/2006/main" noGrp="1"/>
          </p:cNvSpPr>
          <p:nvPr/>
        </p:nvSpPr>
        <p:spPr>
          <a:xfrm xmlns:a="http://schemas.openxmlformats.org/drawingml/2006/main">
            <a:off x="6667500" y="28765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Up state</a:t>
            </a:r>
          </a:p>
        </p:txBody>
      </p:sp>
      <p:sp>
        <p:nvSpPr>
          <p:cNvPr id="17" name="">
            <a:extLst xmlns:a="http://schemas.openxmlformats.org/drawingml/2006/main">
              <a:ext uri="{FF2B5EF4-FFF2-40B4-BE49-F238E27FC236}">
                <a16:creationId xmlns:a16="http://schemas.microsoft.com/office/drawing/2014/main" id="{5CE87A9A-C6B3-4232-84C2-9C442CAD9C05}"/>
              </a:ext>
            </a:extLst>
          </p:cNvPr>
          <p:cNvSpPr>
            <a:spLocks xmlns:a="http://schemas.openxmlformats.org/drawingml/2006/main" noGrp="1"/>
          </p:cNvSpPr>
          <p:nvPr/>
        </p:nvSpPr>
        <p:spPr>
          <a:xfrm xmlns:a="http://schemas.openxmlformats.org/drawingml/2006/main">
            <a:off x="8572500" y="28765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18" name="">
            <a:extLst xmlns:a="http://schemas.openxmlformats.org/drawingml/2006/main">
              <a:ext uri="{FF2B5EF4-FFF2-40B4-BE49-F238E27FC236}">
                <a16:creationId xmlns:a16="http://schemas.microsoft.com/office/drawing/2014/main" id="{4C822C36-1982-4EF0-A9F3-89DAA8EAA125}"/>
              </a:ext>
            </a:extLst>
          </p:cNvPr>
          <p:cNvSpPr>
            <a:spLocks xmlns:a="http://schemas.openxmlformats.org/drawingml/2006/main" noGrp="1"/>
          </p:cNvSpPr>
          <p:nvPr/>
        </p:nvSpPr>
        <p:spPr>
          <a:xfrm xmlns:a="http://schemas.openxmlformats.org/drawingml/2006/main">
            <a:off x="6667500" y="33337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9" name="">
            <a:extLst xmlns:a="http://schemas.openxmlformats.org/drawingml/2006/main">
              <a:ext uri="{FF2B5EF4-FFF2-40B4-BE49-F238E27FC236}">
                <a16:creationId xmlns:a16="http://schemas.microsoft.com/office/drawing/2014/main" id="{FFA764C4-9BB1-4E82-A1F0-6E930868FEC3}"/>
              </a:ext>
            </a:extLst>
          </p:cNvPr>
          <p:cNvSpPr>
            <a:spLocks xmlns:a="http://schemas.openxmlformats.org/drawingml/2006/main" noGrp="1"/>
          </p:cNvSpPr>
          <p:nvPr/>
        </p:nvSpPr>
        <p:spPr>
          <a:xfrm xmlns:a="http://schemas.openxmlformats.org/drawingml/2006/main">
            <a:off x="6667500" y="34671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Sideways</a:t>
            </a:r>
          </a:p>
        </p:txBody>
      </p:sp>
      <p:sp>
        <p:nvSpPr>
          <p:cNvPr id="20" name="">
            <a:extLst xmlns:a="http://schemas.openxmlformats.org/drawingml/2006/main">
              <a:ext uri="{FF2B5EF4-FFF2-40B4-BE49-F238E27FC236}">
                <a16:creationId xmlns:a16="http://schemas.microsoft.com/office/drawing/2014/main" id="{62A04E11-771F-482D-97D0-41D18323CD03}"/>
              </a:ext>
            </a:extLst>
          </p:cNvPr>
          <p:cNvSpPr>
            <a:spLocks xmlns:a="http://schemas.openxmlformats.org/drawingml/2006/main" noGrp="1"/>
          </p:cNvSpPr>
          <p:nvPr/>
        </p:nvSpPr>
        <p:spPr>
          <a:xfrm xmlns:a="http://schemas.openxmlformats.org/drawingml/2006/main">
            <a:off x="8572500" y="34671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between −0.30 and +0.30</a:t>
            </a:r>
          </a:p>
        </p:txBody>
      </p:sp>
      <p:sp>
        <p:nvSpPr>
          <p:cNvPr id="21" name="">
            <a:extLst xmlns:a="http://schemas.openxmlformats.org/drawingml/2006/main">
              <a:ext uri="{FF2B5EF4-FFF2-40B4-BE49-F238E27FC236}">
                <a16:creationId xmlns:a16="http://schemas.microsoft.com/office/drawing/2014/main" id="{2AEA1D46-2EB0-459D-9313-BA82DEAD9553}"/>
              </a:ext>
            </a:extLst>
          </p:cNvPr>
          <p:cNvSpPr>
            <a:spLocks xmlns:a="http://schemas.openxmlformats.org/drawingml/2006/main" noGrp="1"/>
          </p:cNvSpPr>
          <p:nvPr/>
        </p:nvSpPr>
        <p:spPr>
          <a:xfrm xmlns:a="http://schemas.openxmlformats.org/drawingml/2006/main">
            <a:off x="6667500" y="39243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2" name="">
            <a:extLst xmlns:a="http://schemas.openxmlformats.org/drawingml/2006/main">
              <a:ext uri="{FF2B5EF4-FFF2-40B4-BE49-F238E27FC236}">
                <a16:creationId xmlns:a16="http://schemas.microsoft.com/office/drawing/2014/main" id="{AAD0A15B-41F8-429C-8446-F9003B5B4E6F}"/>
              </a:ext>
            </a:extLst>
          </p:cNvPr>
          <p:cNvSpPr>
            <a:spLocks xmlns:a="http://schemas.openxmlformats.org/drawingml/2006/main" noGrp="1"/>
          </p:cNvSpPr>
          <p:nvPr/>
        </p:nvSpPr>
        <p:spPr>
          <a:xfrm xmlns:a="http://schemas.openxmlformats.org/drawingml/2006/main">
            <a:off x="6667500" y="40576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Down state</a:t>
            </a:r>
          </a:p>
        </p:txBody>
      </p:sp>
      <p:sp>
        <p:nvSpPr>
          <p:cNvPr id="23" name="">
            <a:extLst xmlns:a="http://schemas.openxmlformats.org/drawingml/2006/main">
              <a:ext uri="{FF2B5EF4-FFF2-40B4-BE49-F238E27FC236}">
                <a16:creationId xmlns:a16="http://schemas.microsoft.com/office/drawing/2014/main" id="{A13F5128-0043-4265-B48A-E7E4E9B6F96C}"/>
              </a:ext>
            </a:extLst>
          </p:cNvPr>
          <p:cNvSpPr>
            <a:spLocks xmlns:a="http://schemas.openxmlformats.org/drawingml/2006/main" noGrp="1"/>
          </p:cNvSpPr>
          <p:nvPr/>
        </p:nvSpPr>
        <p:spPr>
          <a:xfrm xmlns:a="http://schemas.openxmlformats.org/drawingml/2006/main">
            <a:off x="8572500" y="40576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signed ER20 ≤ −0.30</a:t>
            </a:r>
          </a:p>
        </p:txBody>
      </p:sp>
      <p:sp>
        <p:nvSpPr>
          <p:cNvPr id="24" name="">
            <a:extLst xmlns:a="http://schemas.openxmlformats.org/drawingml/2006/main">
              <a:ext uri="{FF2B5EF4-FFF2-40B4-BE49-F238E27FC236}">
                <a16:creationId xmlns:a16="http://schemas.microsoft.com/office/drawing/2014/main" id="{1BB63F79-B572-4EF7-8C82-E4140C6E382C}"/>
              </a:ext>
            </a:extLst>
          </p:cNvPr>
          <p:cNvSpPr>
            <a:spLocks xmlns:a="http://schemas.openxmlformats.org/drawingml/2006/main" noGrp="1"/>
          </p:cNvSpPr>
          <p:nvPr/>
        </p:nvSpPr>
        <p:spPr>
          <a:xfrm xmlns:a="http://schemas.openxmlformats.org/drawingml/2006/main">
            <a:off x="6667500" y="451485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5" name="">
            <a:extLst xmlns:a="http://schemas.openxmlformats.org/drawingml/2006/main">
              <a:ext uri="{FF2B5EF4-FFF2-40B4-BE49-F238E27FC236}">
                <a16:creationId xmlns:a16="http://schemas.microsoft.com/office/drawing/2014/main" id="{F58FD0A4-5938-4ECC-AC99-491391233E24}"/>
              </a:ext>
            </a:extLst>
          </p:cNvPr>
          <p:cNvSpPr>
            <a:spLocks xmlns:a="http://schemas.openxmlformats.org/drawingml/2006/main" noGrp="1"/>
          </p:cNvSpPr>
          <p:nvPr/>
        </p:nvSpPr>
        <p:spPr>
          <a:xfrm xmlns:a="http://schemas.openxmlformats.org/drawingml/2006/main">
            <a:off x="6667500" y="464820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Timing</a:t>
            </a:r>
          </a:p>
        </p:txBody>
      </p:sp>
      <p:sp>
        <p:nvSpPr>
          <p:cNvPr id="26" name="">
            <a:extLst xmlns:a="http://schemas.openxmlformats.org/drawingml/2006/main">
              <a:ext uri="{FF2B5EF4-FFF2-40B4-BE49-F238E27FC236}">
                <a16:creationId xmlns:a16="http://schemas.microsoft.com/office/drawing/2014/main" id="{AA292260-C22B-4C56-9ED9-C8744785B552}"/>
              </a:ext>
            </a:extLst>
          </p:cNvPr>
          <p:cNvSpPr>
            <a:spLocks xmlns:a="http://schemas.openxmlformats.org/drawingml/2006/main" noGrp="1"/>
          </p:cNvSpPr>
          <p:nvPr/>
        </p:nvSpPr>
        <p:spPr>
          <a:xfrm xmlns:a="http://schemas.openxmlformats.org/drawingml/2006/main">
            <a:off x="8572500" y="464820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Known at close t</a:t>
            </a:r>
          </a:p>
        </p:txBody>
      </p:sp>
      <p:sp>
        <p:nvSpPr>
          <p:cNvPr id="27" name="">
            <a:extLst xmlns:a="http://schemas.openxmlformats.org/drawingml/2006/main">
              <a:ext uri="{FF2B5EF4-FFF2-40B4-BE49-F238E27FC236}">
                <a16:creationId xmlns:a16="http://schemas.microsoft.com/office/drawing/2014/main" id="{6C617A11-8542-47F5-AD42-16C68CB863E7}"/>
              </a:ext>
            </a:extLst>
          </p:cNvPr>
          <p:cNvSpPr>
            <a:spLocks xmlns:a="http://schemas.openxmlformats.org/drawingml/2006/main" noGrp="1"/>
          </p:cNvSpPr>
          <p:nvPr/>
        </p:nvSpPr>
        <p:spPr>
          <a:xfrm xmlns:a="http://schemas.openxmlformats.org/drawingml/2006/main">
            <a:off x="6667500" y="5105400"/>
            <a:ext cx="485775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8" name="">
            <a:extLst xmlns:a="http://schemas.openxmlformats.org/drawingml/2006/main">
              <a:ext uri="{FF2B5EF4-FFF2-40B4-BE49-F238E27FC236}">
                <a16:creationId xmlns:a16="http://schemas.microsoft.com/office/drawing/2014/main" id="{D3258514-91F0-4BFE-BE7D-A95A1C826021}"/>
              </a:ext>
            </a:extLst>
          </p:cNvPr>
          <p:cNvSpPr>
            <a:spLocks xmlns:a="http://schemas.openxmlformats.org/drawingml/2006/main" noGrp="1"/>
          </p:cNvSpPr>
          <p:nvPr/>
        </p:nvSpPr>
        <p:spPr>
          <a:xfrm xmlns:a="http://schemas.openxmlformats.org/drawingml/2006/main">
            <a:off x="6667500" y="5238750"/>
            <a:ext cx="1809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667384"/>
                </a:solidFill>
                <a:latin typeface="Arial"/>
                <a:ea typeface="Arial"/>
                <a:cs typeface="Arial"/>
              </a:defRPr>
            </a:pPr>
            <a:r>
              <a:rPr sz="1500" b="1">
                <a:solidFill>
                  <a:srgbClr val="667384"/>
                </a:solidFill>
                <a:latin typeface="Arial"/>
                <a:ea typeface="Arial"/>
                <a:cs typeface="Arial"/>
              </a:rPr>
              <a:t>Search</a:t>
            </a:r>
          </a:p>
        </p:txBody>
      </p:sp>
      <p:sp>
        <p:nvSpPr>
          <p:cNvPr id="29" name="">
            <a:extLst xmlns:a="http://schemas.openxmlformats.org/drawingml/2006/main">
              <a:ext uri="{FF2B5EF4-FFF2-40B4-BE49-F238E27FC236}">
                <a16:creationId xmlns:a16="http://schemas.microsoft.com/office/drawing/2014/main" id="{F73C58E3-8C22-4D23-8076-93E173576113}"/>
              </a:ext>
            </a:extLst>
          </p:cNvPr>
          <p:cNvSpPr>
            <a:spLocks xmlns:a="http://schemas.openxmlformats.org/drawingml/2006/main" noGrp="1"/>
          </p:cNvSpPr>
          <p:nvPr/>
        </p:nvSpPr>
        <p:spPr>
          <a:xfrm xmlns:a="http://schemas.openxmlformats.org/drawingml/2006/main">
            <a:off x="8572500" y="5238750"/>
            <a:ext cx="2952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None</a:t>
            </a:r>
          </a:p>
        </p:txBody>
      </p:sp>
    </p:spTree>
    <p:extLst>
      <p:ext uri="{BB962C8B-B14F-4D97-AF65-F5344CB8AC3E}">
        <p14:creationId xmlns:p14="http://schemas.microsoft.com/office/powerpoint/2010/main" val="1397283360"/>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section-5">
            <a:extLst xmlns:a="http://schemas.openxmlformats.org/drawingml/2006/main">
              <a:ext uri="{FF2B5EF4-FFF2-40B4-BE49-F238E27FC236}">
                <a16:creationId xmlns:a16="http://schemas.microsoft.com/office/drawing/2014/main" id="{7D217279-BBB9-4442-BD43-E35AFD380A36}"/>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5">
            <a:extLst xmlns:a="http://schemas.openxmlformats.org/drawingml/2006/main">
              <a:ext uri="{FF2B5EF4-FFF2-40B4-BE49-F238E27FC236}">
                <a16:creationId xmlns:a16="http://schemas.microsoft.com/office/drawing/2014/main" id="{ACF70291-6FC2-4F25-8EF7-C5343297C791}"/>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69"/>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Signed ER20 separates direction without a crossover</a:t>
            </a:r>
          </a:p>
        </p:txBody>
      </p:sp>
      <p:sp>
        <p:nvSpPr>
          <p:cNvPr id="3" name="">
            <a:extLst xmlns:a="http://schemas.openxmlformats.org/drawingml/2006/main">
              <a:ext uri="{FF2B5EF4-FFF2-40B4-BE49-F238E27FC236}">
                <a16:creationId xmlns:a16="http://schemas.microsoft.com/office/drawing/2014/main" id="{DC8E3755-2109-4A95-AAD7-09D4B54CD317}"/>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5">
            <a:extLst xmlns:a="http://schemas.openxmlformats.org/drawingml/2006/main">
              <a:ext uri="{FF2B5EF4-FFF2-40B4-BE49-F238E27FC236}">
                <a16:creationId xmlns:a16="http://schemas.microsoft.com/office/drawing/2014/main" id="{3D616FCB-FD1B-4926-8056-5988E7D3FD76}"/>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0">
                <a:solidFill>
                  <a:srgbClr val="667384"/>
                </a:solidFill>
                <a:latin typeface="Arial"/>
                <a:ea typeface="Arial"/>
                <a:cs typeface="Arial"/>
              </a:defRPr>
            </a:pPr>
            <a:r>
              <a:rPr sz="1050" b="0">
                <a:solidFill>
                  <a:srgbClr val="667384"/>
                </a:solidFill>
                <a:latin typeface="Arial"/>
                <a:ea typeface="Arial"/>
                <a:cs typeface="Arial"/>
              </a:rPr>
              <a:t>Adjusted daily TSLA | 2018-2023</a:t>
            </a:r>
          </a:p>
        </p:txBody>
      </p:sp>
      <p:sp>
        <p:nvSpPr>
          <p:cNvPr id="5" name="footer-number-5">
            <a:extLst xmlns:a="http://schemas.openxmlformats.org/drawingml/2006/main">
              <a:ext uri="{FF2B5EF4-FFF2-40B4-BE49-F238E27FC236}">
                <a16:creationId xmlns:a16="http://schemas.microsoft.com/office/drawing/2014/main" id="{7E3BECCF-F54F-4D27-BB58-7ED627475AF5}"/>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C96C60D3-C5F7-4C39-991D-FB86EB75687F}"/>
              </a:ext>
            </a:extLst>
          </p:cNvPr>
          <p:cNvSpPr>
            <a:spLocks xmlns:a="http://schemas.openxmlformats.org/drawingml/2006/main" noGrp="1"/>
          </p:cNvSpPr>
          <p:nvPr/>
        </p:nvSpPr>
        <p:spPr>
          <a:xfrm xmlns:a="http://schemas.openxmlformats.org/drawingml/2006/main">
            <a:off x="323850" y="1381125"/>
            <a:ext cx="8572500" cy="4819650"/>
          </a:xfrm>
          <a:prstGeom xmlns:a="http://schemas.openxmlformats.org/drawingml/2006/main" prst="rect">
            <a:avLst/>
          </a:prstGeom>
          <a:solidFill xmlns:a="http://schemas.openxmlformats.org/drawingml/2006/main">
            <a:srgbClr val="FFFFFF"/>
          </a:solidFill>
          <a:ln xmlns:a="http://schemas.openxmlformats.org/drawingml/2006/main" w="9525">
            <a:solidFill>
              <a:srgbClr val="B8BCC4"/>
            </a:solidFill>
            <a:prstDash val="solid"/>
          </a:ln>
        </p:spPr>
      </p:sp>
      <p:sp>
        <p:nvSpPr>
          <p:cNvPr id="8" name="">
            <a:extLst xmlns:a="http://schemas.openxmlformats.org/drawingml/2006/main">
              <a:ext uri="{FF2B5EF4-FFF2-40B4-BE49-F238E27FC236}">
                <a16:creationId xmlns:a16="http://schemas.microsoft.com/office/drawing/2014/main" id="{C5B493DE-9AA4-4FF1-8BE2-28F352E8FA07}"/>
              </a:ext>
            </a:extLst>
          </p:cNvPr>
          <p:cNvSpPr>
            <a:spLocks xmlns:a="http://schemas.openxmlformats.org/drawingml/2006/main" noGrp="1"/>
          </p:cNvSpPr>
          <p:nvPr/>
        </p:nvSpPr>
        <p:spPr>
          <a:xfrm xmlns:a="http://schemas.openxmlformats.org/drawingml/2006/main">
            <a:off x="9201150" y="15811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How</a:t>
            </a:r>
          </a:p>
        </p:txBody>
      </p:sp>
      <p:sp>
        <p:nvSpPr>
          <p:cNvPr id="9" name="">
            <a:extLst xmlns:a="http://schemas.openxmlformats.org/drawingml/2006/main">
              <a:ext uri="{FF2B5EF4-FFF2-40B4-BE49-F238E27FC236}">
                <a16:creationId xmlns:a16="http://schemas.microsoft.com/office/drawing/2014/main" id="{5B6B1C17-35A6-411A-A67C-A4A72F63EF67}"/>
              </a:ext>
            </a:extLst>
          </p:cNvPr>
          <p:cNvSpPr>
            <a:spLocks xmlns:a="http://schemas.openxmlformats.org/drawingml/2006/main" noGrp="1"/>
          </p:cNvSpPr>
          <p:nvPr/>
        </p:nvSpPr>
        <p:spPr>
          <a:xfrm xmlns:a="http://schemas.openxmlformats.org/drawingml/2006/main">
            <a:off x="9201150" y="2038350"/>
            <a:ext cx="24003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Net 20-session log displacement divided by the total path traveled; sign is retained.</a:t>
            </a:r>
          </a:p>
        </p:txBody>
      </p:sp>
      <p:sp>
        <p:nvSpPr>
          <p:cNvPr id="10" name="">
            <a:extLst xmlns:a="http://schemas.openxmlformats.org/drawingml/2006/main">
              <a:ext uri="{FF2B5EF4-FFF2-40B4-BE49-F238E27FC236}">
                <a16:creationId xmlns:a16="http://schemas.microsoft.com/office/drawing/2014/main" id="{1E6C96CB-CC04-417E-9ADF-6D8B711B5273}"/>
              </a:ext>
            </a:extLst>
          </p:cNvPr>
          <p:cNvSpPr>
            <a:spLocks xmlns:a="http://schemas.openxmlformats.org/drawingml/2006/main" noGrp="1"/>
          </p:cNvSpPr>
          <p:nvPr/>
        </p:nvSpPr>
        <p:spPr>
          <a:xfrm xmlns:a="http://schemas.openxmlformats.org/drawingml/2006/main">
            <a:off x="9201150" y="34099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100" b="1">
                <a:solidFill>
                  <a:srgbClr val="000000"/>
                </a:solidFill>
                <a:latin typeface="Arial"/>
                <a:ea typeface="Arial"/>
                <a:cs typeface="Arial"/>
              </a:defRPr>
            </a:pPr>
            <a:r>
              <a:rPr sz="2100" b="1">
                <a:solidFill>
                  <a:srgbClr val="000000"/>
                </a:solidFill>
                <a:latin typeface="Arial"/>
                <a:ea typeface="Arial"/>
                <a:cs typeface="Arial"/>
              </a:rPr>
              <a:t>Read</a:t>
            </a:r>
          </a:p>
        </p:txBody>
      </p:sp>
      <p:sp>
        <p:nvSpPr>
          <p:cNvPr id="11" name="">
            <a:extLst xmlns:a="http://schemas.openxmlformats.org/drawingml/2006/main">
              <a:ext uri="{FF2B5EF4-FFF2-40B4-BE49-F238E27FC236}">
                <a16:creationId xmlns:a16="http://schemas.microsoft.com/office/drawing/2014/main" id="{6C2CCFF6-12C5-4DA0-960D-99266D20441C}"/>
              </a:ext>
            </a:extLst>
          </p:cNvPr>
          <p:cNvSpPr>
            <a:spLocks xmlns:a="http://schemas.openxmlformats.org/drawingml/2006/main" noGrp="1"/>
          </p:cNvSpPr>
          <p:nvPr/>
        </p:nvSpPr>
        <p:spPr>
          <a:xfrm xmlns:a="http://schemas.openxmlformats.org/drawingml/2006/main">
            <a:off x="9201150" y="3867150"/>
            <a:ext cx="2400300" cy="1657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273548"/>
                </a:solidFill>
                <a:latin typeface="Arial"/>
                <a:ea typeface="Arial"/>
                <a:cs typeface="Arial"/>
              </a:defRPr>
            </a:pPr>
            <a:r>
              <a:rPr sz="1500" b="0">
                <a:solidFill>
                  <a:srgbClr val="273548"/>
                </a:solidFill>
                <a:latin typeface="Arial"/>
                <a:ea typeface="Arial"/>
                <a:cs typeface="Arial"/>
              </a:rPr>
              <a:t>Green marks efficient rises, red efficient declines, and gray an inefficient path. Down states are visibly shorter on TSLA.</a:t>
            </a:r>
          </a:p>
        </p:txBody>
      </p:sp>
      <p:sp>
        <p:nvSpPr>
          <p:cNvPr id="12" name="">
            <a:extLst xmlns:a="http://schemas.openxmlformats.org/drawingml/2006/main">
              <a:ext uri="{FF2B5EF4-FFF2-40B4-BE49-F238E27FC236}">
                <a16:creationId xmlns:a16="http://schemas.microsoft.com/office/drawing/2014/main" id="{0ACC076C-14CF-4CC6-9A1F-9DE2F654A640}"/>
              </a:ext>
            </a:extLst>
          </p:cNvPr>
          <p:cNvSpPr>
            <a:spLocks xmlns:a="http://schemas.openxmlformats.org/drawingml/2006/main" noGrp="1"/>
          </p:cNvSpPr>
          <p:nvPr/>
        </p:nvSpPr>
        <p:spPr>
          <a:xfrm xmlns:a="http://schemas.openxmlformats.org/drawingml/2006/main">
            <a:off x="9201150" y="5715000"/>
            <a:ext cx="2400300" cy="3810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3" name="">
            <a:extLst xmlns:a="http://schemas.openxmlformats.org/drawingml/2006/main">
              <a:ext uri="{FF2B5EF4-FFF2-40B4-BE49-F238E27FC236}">
                <a16:creationId xmlns:a16="http://schemas.microsoft.com/office/drawing/2014/main" id="{75B62FEB-4FFC-484D-8635-E7157EEBB857}"/>
              </a:ext>
            </a:extLst>
          </p:cNvPr>
          <p:cNvSpPr>
            <a:spLocks xmlns:a="http://schemas.openxmlformats.org/drawingml/2006/main" noGrp="1"/>
          </p:cNvSpPr>
          <p:nvPr/>
        </p:nvSpPr>
        <p:spPr>
          <a:xfrm xmlns:a="http://schemas.openxmlformats.org/drawingml/2006/main">
            <a:off x="9201150" y="5867400"/>
            <a:ext cx="2400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2A9D6F"/>
                </a:solidFill>
                <a:latin typeface="Arial"/>
                <a:ea typeface="Arial"/>
                <a:cs typeface="Arial"/>
              </a:defRPr>
            </a:pPr>
            <a:r>
              <a:rPr sz="1275" b="1">
                <a:solidFill>
                  <a:srgbClr val="2A9D6F"/>
                </a:solidFill>
                <a:latin typeface="Arial"/>
                <a:ea typeface="Arial"/>
                <a:cs typeface="Arial"/>
              </a:rPr>
              <a:t>Descriptive state—not a future-return claim</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fc531cfa5e542c9"/>
          <a:stretch xmlns:a="http://schemas.openxmlformats.org/drawingml/2006/main"/>
        </p:blipFill>
        <p:spPr>
          <a:xfrm xmlns:a="http://schemas.openxmlformats.org/drawingml/2006/main" flipH="0" flipV="0">
            <a:off x="325967" y="1381125"/>
            <a:ext cx="8568267" cy="4819650"/>
          </a:xfrm>
          <a:prstGeom xmlns:a="http://schemas.openxmlformats.org/drawingml/2006/main" prst="rect">
            <a:avLst/>
          </a:prstGeom>
        </p:spPr>
      </p:pic>
    </p:spTree>
    <p:extLst>
      <p:ext uri="{BB962C8B-B14F-4D97-AF65-F5344CB8AC3E}">
        <p14:creationId xmlns:p14="http://schemas.microsoft.com/office/powerpoint/2010/main" val="317191340"/>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ection-11">
            <a:extLst xmlns:a="http://schemas.openxmlformats.org/drawingml/2006/main">
              <a:ext uri="{FF2B5EF4-FFF2-40B4-BE49-F238E27FC236}">
                <a16:creationId xmlns:a16="http://schemas.microsoft.com/office/drawing/2014/main" id="{272ED433-B59C-436C-9DFB-4D317B90A13F}"/>
              </a:ext>
            </a:extLst>
          </p:cNvPr>
          <p:cNvSpPr>
            <a:spLocks xmlns:a="http://schemas.openxmlformats.org/drawingml/2006/main" noGrp="1"/>
          </p:cNvSpPr>
          <p:nvPr/>
        </p:nvSpPr>
        <p:spPr>
          <a:xfrm xmlns:a="http://schemas.openxmlformats.org/drawingml/2006/main">
            <a:off x="457200" y="228600"/>
            <a:ext cx="4191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1">
                <a:solidFill>
                  <a:srgbClr val="667384"/>
                </a:solidFill>
                <a:latin typeface="Arial"/>
                <a:ea typeface="Arial"/>
                <a:cs typeface="Arial"/>
              </a:defRPr>
            </a:pPr>
            <a:r>
              <a:rPr sz="1200" b="1">
                <a:solidFill>
                  <a:srgbClr val="667384"/>
                </a:solidFill>
                <a:latin typeface="Arial"/>
                <a:ea typeface="Arial"/>
                <a:cs typeface="Arial"/>
              </a:rPr>
              <a:t>TSLA DESCRIPTIVE MICROSCOPE</a:t>
            </a:r>
          </a:p>
        </p:txBody>
      </p:sp>
      <p:sp>
        <p:nvSpPr>
          <p:cNvPr id="2" name="title-11">
            <a:extLst xmlns:a="http://schemas.openxmlformats.org/drawingml/2006/main">
              <a:ext uri="{FF2B5EF4-FFF2-40B4-BE49-F238E27FC236}">
                <a16:creationId xmlns:a16="http://schemas.microsoft.com/office/drawing/2014/main" id="{3EC40708-7E00-432C-8ECE-907FA5705292}"/>
              </a:ext>
            </a:extLst>
          </p:cNvPr>
          <p:cNvSpPr>
            <a:spLocks xmlns:a="http://schemas.openxmlformats.org/drawingml/2006/main" noGrp="1"/>
          </p:cNvSpPr>
          <p:nvPr/>
        </p:nvSpPr>
        <p:spPr>
          <a:xfrm xmlns:a="http://schemas.openxmlformats.org/drawingml/2006/main">
            <a:off x="457200" y="533400"/>
            <a:ext cx="112776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525" b="1">
                <a:solidFill>
                  <a:srgbClr val="000000"/>
                </a:solidFill>
                <a:latin typeface="Arial"/>
                <a:ea typeface="Arial"/>
                <a:cs typeface="Arial"/>
              </a:defRPr>
            </a:pPr>
            <a:r>
              <a:rPr sz="3525" b="1">
                <a:solidFill>
                  <a:srgbClr val="000000"/>
                </a:solidFill>
                <a:latin typeface="Arial"/>
                <a:ea typeface="Arial"/>
                <a:cs typeface="Arial"/>
              </a:rPr>
              <a:t>Direction is readable—but still flickery</a:t>
            </a:r>
          </a:p>
        </p:txBody>
      </p:sp>
      <p:sp>
        <p:nvSpPr>
          <p:cNvPr id="3" name="">
            <a:extLst xmlns:a="http://schemas.openxmlformats.org/drawingml/2006/main">
              <a:ext uri="{FF2B5EF4-FFF2-40B4-BE49-F238E27FC236}">
                <a16:creationId xmlns:a16="http://schemas.microsoft.com/office/drawing/2014/main" id="{D5CA0FCE-75E8-41EF-A76A-23E9E2120C6A}"/>
              </a:ext>
            </a:extLst>
          </p:cNvPr>
          <p:cNvSpPr>
            <a:spLocks xmlns:a="http://schemas.openxmlformats.org/drawingml/2006/main" noGrp="1"/>
          </p:cNvSpPr>
          <p:nvPr/>
        </p:nvSpPr>
        <p:spPr>
          <a:xfrm xmlns:a="http://schemas.openxmlformats.org/drawingml/2006/main">
            <a:off x="457200" y="1200150"/>
            <a:ext cx="11277600" cy="19050"/>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4" name="footer-left-11">
            <a:extLst xmlns:a="http://schemas.openxmlformats.org/drawingml/2006/main">
              <a:ext uri="{FF2B5EF4-FFF2-40B4-BE49-F238E27FC236}">
                <a16:creationId xmlns:a16="http://schemas.microsoft.com/office/drawing/2014/main" id="{700DA765-80E0-4197-8700-00D867B86FA2}"/>
              </a:ext>
            </a:extLst>
          </p:cNvPr>
          <p:cNvSpPr>
            <a:spLocks xmlns:a="http://schemas.openxmlformats.org/drawingml/2006/main" noGrp="1"/>
          </p:cNvSpPr>
          <p:nvPr/>
        </p:nvSpPr>
        <p:spPr>
          <a:xfrm xmlns:a="http://schemas.openxmlformats.org/drawingml/2006/main">
            <a:off x="457200" y="65151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0">
                <a:solidFill>
                  <a:srgbClr val="64748B"/>
                </a:solidFill>
                <a:latin typeface="Arial"/>
                <a:ea typeface="Arial"/>
                <a:cs typeface="Arial"/>
              </a:defRPr>
            </a:pPr>
            <a:r>
              <a:rPr sz="825" b="0">
                <a:solidFill>
                  <a:srgbClr val="64748B"/>
                </a:solidFill>
                <a:latin typeface="Arial"/>
                <a:ea typeface="Arial"/>
                <a:cs typeface="Arial"/>
              </a:rPr>
              <a:t>Adjusted daily TSLA | 2018-2023</a:t>
            </a:r>
          </a:p>
        </p:txBody>
      </p:sp>
      <p:sp>
        <p:nvSpPr>
          <p:cNvPr id="5" name="footer-number-11">
            <a:extLst xmlns:a="http://schemas.openxmlformats.org/drawingml/2006/main">
              <a:ext uri="{FF2B5EF4-FFF2-40B4-BE49-F238E27FC236}">
                <a16:creationId xmlns:a16="http://schemas.microsoft.com/office/drawing/2014/main" id="{83896276-4112-4532-AF7C-776C67C58B77}"/>
              </a:ext>
            </a:extLst>
          </p:cNvPr>
          <p:cNvSpPr>
            <a:spLocks xmlns:a="http://schemas.openxmlformats.org/drawingml/2006/main" noGrp="1"/>
          </p:cNvSpPr>
          <p:nvPr/>
        </p:nvSpPr>
        <p:spPr>
          <a:xfrm xmlns:a="http://schemas.openxmlformats.org/drawingml/2006/main">
            <a:off x="11239500" y="6496050"/>
            <a:ext cx="495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0">
                <a:solidFill>
                  <a:srgbClr val="667384"/>
                </a:solidFill>
                <a:latin typeface="Arial"/>
                <a:ea typeface="Arial"/>
                <a:cs typeface="Arial"/>
              </a:defRPr>
            </a:pPr>
            <a:r>
              <a:rPr sz="1050" b="0">
                <a:solidFill>
                  <a:srgbClr val="667384"/>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10F4BA85-46C5-47BD-BA74-EC806E663D58}"/>
              </a:ext>
            </a:extLst>
          </p:cNvPr>
          <p:cNvSpPr>
            <a:spLocks xmlns:a="http://schemas.openxmlformats.org/drawingml/2006/main" noGrp="1"/>
          </p:cNvSpPr>
          <p:nvPr/>
        </p:nvSpPr>
        <p:spPr>
          <a:xfrm xmlns:a="http://schemas.openxmlformats.org/drawingml/2006/main">
            <a:off x="552450" y="1600200"/>
            <a:ext cx="95250" cy="895350"/>
          </a:xfrm>
          <a:prstGeom xmlns:a="http://schemas.openxmlformats.org/drawingml/2006/main" prst="rect">
            <a:avLst/>
          </a:prstGeom>
          <a:solidFill xmlns:a="http://schemas.openxmlformats.org/drawingml/2006/main">
            <a:srgbClr val="E45756"/>
          </a:solidFill>
          <a:ln xmlns:a="http://schemas.openxmlformats.org/drawingml/2006/main" w="0">
            <a:solidFill>
              <a:srgbClr val="E45756"/>
            </a:solidFill>
            <a:prstDash val="solid"/>
          </a:ln>
        </p:spPr>
      </p:sp>
      <p:sp>
        <p:nvSpPr>
          <p:cNvPr id="7" name="">
            <a:extLst xmlns:a="http://schemas.openxmlformats.org/drawingml/2006/main">
              <a:ext uri="{FF2B5EF4-FFF2-40B4-BE49-F238E27FC236}">
                <a16:creationId xmlns:a16="http://schemas.microsoft.com/office/drawing/2014/main" id="{7EF5B945-9D04-48FA-BA66-96DE813A9715}"/>
              </a:ext>
            </a:extLst>
          </p:cNvPr>
          <p:cNvSpPr>
            <a:spLocks xmlns:a="http://schemas.openxmlformats.org/drawingml/2006/main" noGrp="1"/>
          </p:cNvSpPr>
          <p:nvPr/>
        </p:nvSpPr>
        <p:spPr>
          <a:xfrm xmlns:a="http://schemas.openxmlformats.org/drawingml/2006/main">
            <a:off x="876300" y="15811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E45756"/>
                </a:solidFill>
                <a:latin typeface="Arial"/>
                <a:ea typeface="Arial"/>
                <a:cs typeface="Arial"/>
              </a:defRPr>
            </a:pPr>
            <a:r>
              <a:rPr sz="1350" b="1">
                <a:solidFill>
                  <a:srgbClr val="E45756"/>
                </a:solidFill>
                <a:latin typeface="Arial"/>
                <a:ea typeface="Arial"/>
                <a:cs typeface="Arial"/>
              </a:rPr>
              <a:t>STATE MAP</a:t>
            </a:r>
          </a:p>
        </p:txBody>
      </p:sp>
      <p:sp>
        <p:nvSpPr>
          <p:cNvPr id="8" name="">
            <a:extLst xmlns:a="http://schemas.openxmlformats.org/drawingml/2006/main">
              <a:ext uri="{FF2B5EF4-FFF2-40B4-BE49-F238E27FC236}">
                <a16:creationId xmlns:a16="http://schemas.microsoft.com/office/drawing/2014/main" id="{655CF75D-5F23-4C7F-BE9C-764036D0B9E8}"/>
              </a:ext>
            </a:extLst>
          </p:cNvPr>
          <p:cNvSpPr>
            <a:spLocks xmlns:a="http://schemas.openxmlformats.org/drawingml/2006/main" noGrp="1"/>
          </p:cNvSpPr>
          <p:nvPr/>
        </p:nvSpPr>
        <p:spPr>
          <a:xfrm xmlns:a="http://schemas.openxmlformats.org/drawingml/2006/main">
            <a:off x="3105150" y="15621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Green up, gray sideways, red down</a:t>
            </a:r>
          </a:p>
        </p:txBody>
      </p:sp>
      <p:sp>
        <p:nvSpPr>
          <p:cNvPr id="9" name="">
            <a:extLst xmlns:a="http://schemas.openxmlformats.org/drawingml/2006/main">
              <a:ext uri="{FF2B5EF4-FFF2-40B4-BE49-F238E27FC236}">
                <a16:creationId xmlns:a16="http://schemas.microsoft.com/office/drawing/2014/main" id="{3E0B76F2-4514-4DD8-934B-ABE42A34E950}"/>
              </a:ext>
            </a:extLst>
          </p:cNvPr>
          <p:cNvSpPr>
            <a:spLocks xmlns:a="http://schemas.openxmlformats.org/drawingml/2006/main" noGrp="1"/>
          </p:cNvSpPr>
          <p:nvPr/>
        </p:nvSpPr>
        <p:spPr>
          <a:xfrm xmlns:a="http://schemas.openxmlformats.org/drawingml/2006/main">
            <a:off x="8096250" y="15811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1,509 causal daily labels</a:t>
            </a:r>
          </a:p>
        </p:txBody>
      </p:sp>
      <p:sp>
        <p:nvSpPr>
          <p:cNvPr id="10" name="">
            <a:extLst xmlns:a="http://schemas.openxmlformats.org/drawingml/2006/main">
              <a:ext uri="{FF2B5EF4-FFF2-40B4-BE49-F238E27FC236}">
                <a16:creationId xmlns:a16="http://schemas.microsoft.com/office/drawing/2014/main" id="{294777C3-6D2F-4277-840E-7E984FB4554D}"/>
              </a:ext>
            </a:extLst>
          </p:cNvPr>
          <p:cNvSpPr>
            <a:spLocks xmlns:a="http://schemas.openxmlformats.org/drawingml/2006/main" noGrp="1"/>
          </p:cNvSpPr>
          <p:nvPr/>
        </p:nvSpPr>
        <p:spPr>
          <a:xfrm xmlns:a="http://schemas.openxmlformats.org/drawingml/2006/main">
            <a:off x="876300" y="25908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1" name="">
            <a:extLst xmlns:a="http://schemas.openxmlformats.org/drawingml/2006/main">
              <a:ext uri="{FF2B5EF4-FFF2-40B4-BE49-F238E27FC236}">
                <a16:creationId xmlns:a16="http://schemas.microsoft.com/office/drawing/2014/main" id="{F894CF3F-AD63-423C-8F01-64C507896579}"/>
              </a:ext>
            </a:extLst>
          </p:cNvPr>
          <p:cNvSpPr>
            <a:spLocks xmlns:a="http://schemas.openxmlformats.org/drawingml/2006/main" noGrp="1"/>
          </p:cNvSpPr>
          <p:nvPr/>
        </p:nvSpPr>
        <p:spPr>
          <a:xfrm xmlns:a="http://schemas.openxmlformats.org/drawingml/2006/main">
            <a:off x="552450" y="2800350"/>
            <a:ext cx="95250" cy="895350"/>
          </a:xfrm>
          <a:prstGeom xmlns:a="http://schemas.openxmlformats.org/drawingml/2006/main" prst="rect">
            <a:avLst/>
          </a:prstGeom>
          <a:solidFill xmlns:a="http://schemas.openxmlformats.org/drawingml/2006/main">
            <a:srgbClr val="2A9D6F"/>
          </a:solidFill>
          <a:ln xmlns:a="http://schemas.openxmlformats.org/drawingml/2006/main" w="0">
            <a:solidFill>
              <a:srgbClr val="2A9D6F"/>
            </a:solidFill>
            <a:prstDash val="solid"/>
          </a:ln>
        </p:spPr>
      </p:sp>
      <p:sp>
        <p:nvSpPr>
          <p:cNvPr id="12" name="">
            <a:extLst xmlns:a="http://schemas.openxmlformats.org/drawingml/2006/main">
              <a:ext uri="{FF2B5EF4-FFF2-40B4-BE49-F238E27FC236}">
                <a16:creationId xmlns:a16="http://schemas.microsoft.com/office/drawing/2014/main" id="{D3953D03-6A7A-4FEE-B242-02BF0319C169}"/>
              </a:ext>
            </a:extLst>
          </p:cNvPr>
          <p:cNvSpPr>
            <a:spLocks xmlns:a="http://schemas.openxmlformats.org/drawingml/2006/main" noGrp="1"/>
          </p:cNvSpPr>
          <p:nvPr/>
        </p:nvSpPr>
        <p:spPr>
          <a:xfrm xmlns:a="http://schemas.openxmlformats.org/drawingml/2006/main">
            <a:off x="876300" y="278130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2A9D6F"/>
                </a:solidFill>
                <a:latin typeface="Arial"/>
                <a:ea typeface="Arial"/>
                <a:cs typeface="Arial"/>
              </a:defRPr>
            </a:pPr>
            <a:r>
              <a:rPr sz="1350" b="1">
                <a:solidFill>
                  <a:srgbClr val="2A9D6F"/>
                </a:solidFill>
                <a:latin typeface="Arial"/>
                <a:ea typeface="Arial"/>
                <a:cs typeface="Arial"/>
              </a:rPr>
              <a:t>CHURN CONTROL</a:t>
            </a:r>
          </a:p>
        </p:txBody>
      </p:sp>
      <p:sp>
        <p:nvSpPr>
          <p:cNvPr id="13" name="">
            <a:extLst xmlns:a="http://schemas.openxmlformats.org/drawingml/2006/main">
              <a:ext uri="{FF2B5EF4-FFF2-40B4-BE49-F238E27FC236}">
                <a16:creationId xmlns:a16="http://schemas.microsoft.com/office/drawing/2014/main" id="{52D1DBE8-EAF6-4492-89E7-5C97A3A6A395}"/>
              </a:ext>
            </a:extLst>
          </p:cNvPr>
          <p:cNvSpPr>
            <a:spLocks xmlns:a="http://schemas.openxmlformats.org/drawingml/2006/main" noGrp="1"/>
          </p:cNvSpPr>
          <p:nvPr/>
        </p:nvSpPr>
        <p:spPr>
          <a:xfrm xmlns:a="http://schemas.openxmlformats.org/drawingml/2006/main">
            <a:off x="3105150" y="276225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1886"/>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Every direction reversal crosses the neutral band</a:t>
            </a:r>
          </a:p>
        </p:txBody>
      </p:sp>
      <p:sp>
        <p:nvSpPr>
          <p:cNvPr id="14" name="">
            <a:extLst xmlns:a="http://schemas.openxmlformats.org/drawingml/2006/main">
              <a:ext uri="{FF2B5EF4-FFF2-40B4-BE49-F238E27FC236}">
                <a16:creationId xmlns:a16="http://schemas.microsoft.com/office/drawing/2014/main" id="{2CAF0156-C9E6-4210-8A8A-BFEDD044631B}"/>
              </a:ext>
            </a:extLst>
          </p:cNvPr>
          <p:cNvSpPr>
            <a:spLocks xmlns:a="http://schemas.openxmlformats.org/drawingml/2006/main" noGrp="1"/>
          </p:cNvSpPr>
          <p:nvPr/>
        </p:nvSpPr>
        <p:spPr>
          <a:xfrm xmlns:a="http://schemas.openxmlformats.org/drawingml/2006/main">
            <a:off x="8096250" y="278130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0 direct up/down flips; 10.3% daily transition rate</a:t>
            </a:r>
          </a:p>
        </p:txBody>
      </p:sp>
      <p:sp>
        <p:nvSpPr>
          <p:cNvPr id="15" name="">
            <a:extLst xmlns:a="http://schemas.openxmlformats.org/drawingml/2006/main">
              <a:ext uri="{FF2B5EF4-FFF2-40B4-BE49-F238E27FC236}">
                <a16:creationId xmlns:a16="http://schemas.microsoft.com/office/drawing/2014/main" id="{B126165D-5B65-44DB-99BD-15ED33F9B90F}"/>
              </a:ext>
            </a:extLst>
          </p:cNvPr>
          <p:cNvSpPr>
            <a:spLocks xmlns:a="http://schemas.openxmlformats.org/drawingml/2006/main" noGrp="1"/>
          </p:cNvSpPr>
          <p:nvPr/>
        </p:nvSpPr>
        <p:spPr>
          <a:xfrm xmlns:a="http://schemas.openxmlformats.org/drawingml/2006/main">
            <a:off x="876300" y="379095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16" name="">
            <a:extLst xmlns:a="http://schemas.openxmlformats.org/drawingml/2006/main">
              <a:ext uri="{FF2B5EF4-FFF2-40B4-BE49-F238E27FC236}">
                <a16:creationId xmlns:a16="http://schemas.microsoft.com/office/drawing/2014/main" id="{7DC0911F-9587-4B19-84C6-11974DB2A91C}"/>
              </a:ext>
            </a:extLst>
          </p:cNvPr>
          <p:cNvSpPr>
            <a:spLocks xmlns:a="http://schemas.openxmlformats.org/drawingml/2006/main" noGrp="1"/>
          </p:cNvSpPr>
          <p:nvPr/>
        </p:nvSpPr>
        <p:spPr>
          <a:xfrm xmlns:a="http://schemas.openxmlformats.org/drawingml/2006/main">
            <a:off x="552450" y="4000500"/>
            <a:ext cx="95250" cy="895350"/>
          </a:xfrm>
          <a:prstGeom xmlns:a="http://schemas.openxmlformats.org/drawingml/2006/main" prst="rect">
            <a:avLst/>
          </a:prstGeom>
          <a:solidFill xmlns:a="http://schemas.openxmlformats.org/drawingml/2006/main">
            <a:srgbClr val="3D8DFF"/>
          </a:solidFill>
          <a:ln xmlns:a="http://schemas.openxmlformats.org/drawingml/2006/main" w="0">
            <a:solidFill>
              <a:srgbClr val="3D8DFF"/>
            </a:solidFill>
            <a:prstDash val="solid"/>
          </a:ln>
        </p:spPr>
      </p:sp>
      <p:sp>
        <p:nvSpPr>
          <p:cNvPr id="17" name="">
            <a:extLst xmlns:a="http://schemas.openxmlformats.org/drawingml/2006/main">
              <a:ext uri="{FF2B5EF4-FFF2-40B4-BE49-F238E27FC236}">
                <a16:creationId xmlns:a16="http://schemas.microsoft.com/office/drawing/2014/main" id="{DAB53991-F50C-4B95-9F23-DAE86BCEDF3B}"/>
              </a:ext>
            </a:extLst>
          </p:cNvPr>
          <p:cNvSpPr>
            <a:spLocks xmlns:a="http://schemas.openxmlformats.org/drawingml/2006/main" noGrp="1"/>
          </p:cNvSpPr>
          <p:nvPr/>
        </p:nvSpPr>
        <p:spPr>
          <a:xfrm xmlns:a="http://schemas.openxmlformats.org/drawingml/2006/main">
            <a:off x="876300" y="39814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1">
                <a:solidFill>
                  <a:srgbClr val="3D8DFF"/>
                </a:solidFill>
                <a:latin typeface="Arial"/>
                <a:ea typeface="Arial"/>
                <a:cs typeface="Arial"/>
              </a:defRPr>
            </a:pPr>
            <a:r>
              <a:rPr sz="1350" b="1">
                <a:solidFill>
                  <a:srgbClr val="3D8DFF"/>
                </a:solidFill>
                <a:latin typeface="Arial"/>
                <a:ea typeface="Arial"/>
                <a:cs typeface="Arial"/>
              </a:rPr>
              <a:t>LIMIT</a:t>
            </a:r>
          </a:p>
        </p:txBody>
      </p:sp>
      <p:sp>
        <p:nvSpPr>
          <p:cNvPr id="18" name="">
            <a:extLst xmlns:a="http://schemas.openxmlformats.org/drawingml/2006/main">
              <a:ext uri="{FF2B5EF4-FFF2-40B4-BE49-F238E27FC236}">
                <a16:creationId xmlns:a16="http://schemas.microsoft.com/office/drawing/2014/main" id="{5DFACF3B-08BC-4148-A40A-2004DFB81D71}"/>
              </a:ext>
            </a:extLst>
          </p:cNvPr>
          <p:cNvSpPr>
            <a:spLocks xmlns:a="http://schemas.openxmlformats.org/drawingml/2006/main" noGrp="1"/>
          </p:cNvSpPr>
          <p:nvPr/>
        </p:nvSpPr>
        <p:spPr>
          <a:xfrm xmlns:a="http://schemas.openxmlformats.org/drawingml/2006/main">
            <a:off x="3105150" y="39624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3548"/>
          </a:bodyPr>
          <a:lstStyle xmlns:a="http://schemas.openxmlformats.org/drawingml/2006/main"/>
          <a:p xmlns:a="http://schemas.openxmlformats.org/drawingml/2006/main">
            <a:pPr algn="l">
              <a:buNone/>
              <a:defRPr sz="1950" b="1">
                <a:solidFill>
                  <a:srgbClr val="273548"/>
                </a:solidFill>
                <a:latin typeface="Arial"/>
                <a:ea typeface="Arial"/>
                <a:cs typeface="Arial"/>
              </a:defRPr>
            </a:pPr>
            <a:r>
              <a:rPr sz="1950" b="1">
                <a:solidFill>
                  <a:srgbClr val="273548"/>
                </a:solidFill>
                <a:latin typeface="Arial"/>
                <a:ea typeface="Arial"/>
                <a:cs typeface="Arial"/>
              </a:rPr>
              <a:t>Down states are brief and boundaries still flicker</a:t>
            </a:r>
          </a:p>
        </p:txBody>
      </p:sp>
      <p:sp>
        <p:nvSpPr>
          <p:cNvPr id="19" name="">
            <a:extLst xmlns:a="http://schemas.openxmlformats.org/drawingml/2006/main">
              <a:ext uri="{FF2B5EF4-FFF2-40B4-BE49-F238E27FC236}">
                <a16:creationId xmlns:a16="http://schemas.microsoft.com/office/drawing/2014/main" id="{C907D23B-44A2-43C4-9658-4C6E38430BF5}"/>
              </a:ext>
            </a:extLst>
          </p:cNvPr>
          <p:cNvSpPr>
            <a:spLocks xmlns:a="http://schemas.openxmlformats.org/drawingml/2006/main" noGrp="1"/>
          </p:cNvSpPr>
          <p:nvPr/>
        </p:nvSpPr>
        <p:spPr>
          <a:xfrm xmlns:a="http://schemas.openxmlformats.org/drawingml/2006/main">
            <a:off x="8096250" y="3981450"/>
            <a:ext cx="33337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425" b="0">
                <a:solidFill>
                  <a:srgbClr val="667384"/>
                </a:solidFill>
                <a:latin typeface="Arial"/>
                <a:ea typeface="Arial"/>
                <a:cs typeface="Arial"/>
              </a:defRPr>
            </a:pPr>
            <a:r>
              <a:rPr sz="1425" b="0">
                <a:solidFill>
                  <a:srgbClr val="667384"/>
                </a:solidFill>
                <a:latin typeface="Arial"/>
                <a:ea typeface="Arial"/>
                <a:cs typeface="Arial"/>
              </a:rPr>
              <a:t>12.1% occupancy; median span 2 sessions</a:t>
            </a:r>
          </a:p>
        </p:txBody>
      </p:sp>
      <p:sp>
        <p:nvSpPr>
          <p:cNvPr id="20" name="">
            <a:extLst xmlns:a="http://schemas.openxmlformats.org/drawingml/2006/main">
              <a:ext uri="{FF2B5EF4-FFF2-40B4-BE49-F238E27FC236}">
                <a16:creationId xmlns:a16="http://schemas.microsoft.com/office/drawing/2014/main" id="{8042DFC4-7E22-47E6-8C53-1E63A8411C3A}"/>
              </a:ext>
            </a:extLst>
          </p:cNvPr>
          <p:cNvSpPr>
            <a:spLocks xmlns:a="http://schemas.openxmlformats.org/drawingml/2006/main" noGrp="1"/>
          </p:cNvSpPr>
          <p:nvPr/>
        </p:nvSpPr>
        <p:spPr>
          <a:xfrm xmlns:a="http://schemas.openxmlformats.org/drawingml/2006/main">
            <a:off x="876300" y="4991100"/>
            <a:ext cx="10553700" cy="9525"/>
          </a:xfrm>
          <a:prstGeom xmlns:a="http://schemas.openxmlformats.org/drawingml/2006/main" prst="rect">
            <a:avLst/>
          </a:prstGeom>
          <a:solidFill xmlns:a="http://schemas.openxmlformats.org/drawingml/2006/main">
            <a:srgbClr val="B8BCC4"/>
          </a:solidFill>
          <a:ln xmlns:a="http://schemas.openxmlformats.org/drawingml/2006/main" w="0">
            <a:solidFill>
              <a:srgbClr val="B8BCC4"/>
            </a:solidFill>
            <a:prstDash val="solid"/>
          </a:ln>
        </p:spPr>
      </p:sp>
      <p:sp>
        <p:nvSpPr>
          <p:cNvPr id="21" name="">
            <a:extLst xmlns:a="http://schemas.openxmlformats.org/drawingml/2006/main">
              <a:ext uri="{FF2B5EF4-FFF2-40B4-BE49-F238E27FC236}">
                <a16:creationId xmlns:a16="http://schemas.microsoft.com/office/drawing/2014/main" id="{F4066D54-676B-4D0F-93B6-2152B57E41AF}"/>
              </a:ext>
            </a:extLst>
          </p:cNvPr>
          <p:cNvSpPr>
            <a:spLocks xmlns:a="http://schemas.openxmlformats.org/drawingml/2006/main" noGrp="1"/>
          </p:cNvSpPr>
          <p:nvPr/>
        </p:nvSpPr>
        <p:spPr>
          <a:xfrm xmlns:a="http://schemas.openxmlformats.org/drawingml/2006/main">
            <a:off x="552450" y="5353050"/>
            <a:ext cx="10877550" cy="781050"/>
          </a:xfrm>
          <a:prstGeom xmlns:a="http://schemas.openxmlformats.org/drawingml/2006/main" prst="rect">
            <a:avLst/>
          </a:prstGeom>
          <a:solidFill xmlns:a="http://schemas.openxmlformats.org/drawingml/2006/main">
            <a:srgbClr val="EAF5FB"/>
          </a:solidFill>
          <a:ln xmlns:a="http://schemas.openxmlformats.org/drawingml/2006/main" w="0">
            <a:solidFill>
              <a:srgbClr val="EAF5FB"/>
            </a:solidFill>
            <a:prstDash val="solid"/>
          </a:ln>
        </p:spPr>
      </p:sp>
      <p:sp>
        <p:nvSpPr>
          <p:cNvPr id="22" name="">
            <a:extLst xmlns:a="http://schemas.openxmlformats.org/drawingml/2006/main">
              <a:ext uri="{FF2B5EF4-FFF2-40B4-BE49-F238E27FC236}">
                <a16:creationId xmlns:a16="http://schemas.microsoft.com/office/drawing/2014/main" id="{6E4C79AE-EB98-4B5B-B3D3-11ED0D4C729B}"/>
              </a:ext>
            </a:extLst>
          </p:cNvPr>
          <p:cNvSpPr>
            <a:spLocks xmlns:a="http://schemas.openxmlformats.org/drawingml/2006/main" noGrp="1"/>
          </p:cNvSpPr>
          <p:nvPr/>
        </p:nvSpPr>
        <p:spPr>
          <a:xfrm xmlns:a="http://schemas.openxmlformats.org/drawingml/2006/main">
            <a:off x="781050" y="5524500"/>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3D8DFF"/>
                </a:solidFill>
                <a:latin typeface="Arial"/>
                <a:ea typeface="Arial"/>
                <a:cs typeface="Arial"/>
              </a:defRPr>
            </a:pPr>
            <a:r>
              <a:rPr sz="1725" b="1">
                <a:solidFill>
                  <a:srgbClr val="3D8DFF"/>
                </a:solidFill>
                <a:latin typeface="Arial"/>
                <a:ea typeface="Arial"/>
                <a:cs typeface="Arial"/>
              </a:rPr>
              <a:t>What this earns</a:t>
            </a:r>
          </a:p>
        </p:txBody>
      </p:sp>
      <p:sp>
        <p:nvSpPr>
          <p:cNvPr id="23" name="">
            <a:extLst xmlns:a="http://schemas.openxmlformats.org/drawingml/2006/main">
              <a:ext uri="{FF2B5EF4-FFF2-40B4-BE49-F238E27FC236}">
                <a16:creationId xmlns:a16="http://schemas.microsoft.com/office/drawing/2014/main" id="{3320D60E-6067-4236-80ED-A898A863026E}"/>
              </a:ext>
            </a:extLst>
          </p:cNvPr>
          <p:cNvSpPr>
            <a:spLocks xmlns:a="http://schemas.openxmlformats.org/drawingml/2006/main" noGrp="1"/>
          </p:cNvSpPr>
          <p:nvPr/>
        </p:nvSpPr>
        <p:spPr>
          <a:xfrm xmlns:a="http://schemas.openxmlformats.org/drawingml/2006/main">
            <a:off x="3333750" y="5486400"/>
            <a:ext cx="7810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76389"/>
          </a:bodyPr>
          <a:lstStyle xmlns:a="http://schemas.openxmlformats.org/drawingml/2006/main"/>
          <a:p xmlns:a="http://schemas.openxmlformats.org/drawingml/2006/main">
            <a:pPr algn="l">
              <a:buNone/>
              <a:defRPr sz="1800" b="1">
                <a:solidFill>
                  <a:srgbClr val="273548"/>
                </a:solidFill>
                <a:latin typeface="Arial"/>
                <a:ea typeface="Arial"/>
                <a:cs typeface="Arial"/>
              </a:defRPr>
            </a:pPr>
            <a:r>
              <a:rPr sz="1800" b="1">
                <a:solidFill>
                  <a:srgbClr val="273548"/>
                </a:solidFill>
                <a:latin typeface="Arial"/>
                <a:ea typeface="Arial"/>
                <a:cs typeface="Arial"/>
              </a:rPr>
              <a:t>Freeze as the template's direction baseline—not a predictor. Parameter search waits until after the multi-asset atlas.</a:t>
            </a:r>
          </a:p>
        </p:txBody>
      </p:sp>
    </p:spTree>
    <p:extLst>
      <p:ext uri="{BB962C8B-B14F-4D97-AF65-F5344CB8AC3E}">
        <p14:creationId xmlns:p14="http://schemas.microsoft.com/office/powerpoint/2010/main" val="666536286"/>
      </p:ext>
    </p:extLst>
  </p:cSld>
</p:sld>
</file>

<file path=ppt/theme/theme1.xml><?xml version="1.0" encoding="utf-8"?>
<a:theme xmlns:a="http://schemas.openxmlformats.org/drawingml/2006/main" name="ChatGPT">
  <a:themeElements>
    <a:clrScheme name="TSLA Descriptive Microscope">
      <a:dk1>
        <a:srgbClr val="000000"/>
      </a:dk1>
      <a:lt1>
        <a:srgbClr val="FFFFFF"/>
      </a:lt1>
      <a:dk2>
        <a:srgbClr val="273548"/>
      </a:dk2>
      <a:lt2>
        <a:srgbClr val="EDEDED"/>
      </a:lt2>
      <a:accent1>
        <a:srgbClr val="3D8DFF"/>
      </a:accent1>
      <a:accent2>
        <a:srgbClr val="2A9D6F"/>
      </a:accent2>
      <a:accent3>
        <a:srgbClr val="E45756"/>
      </a:accent3>
      <a:accent4>
        <a:srgbClr val="6DCBF4"/>
      </a:accent4>
      <a:accent5>
        <a:srgbClr val="7C3AED"/>
      </a:accent5>
      <a:accent6>
        <a:srgbClr val="F59E0B"/>
      </a:accent6>
      <a:hlink>
        <a:srgbClr val="3D8DFF"/>
      </a:hlink>
      <a:folHlink>
        <a:srgbClr val="7C3AED"/>
      </a:folHlink>
    </a:clrScheme>
    <a:fontScheme name="Office">
      <a:majorFont>
        <a:latin typeface="Calibri Light"/>
        <a:ea typeface="Calibri Light"/>
        <a:cs typeface="Calibri Light"/>
      </a:majorFont>
      <a:minorFont>
        <a:latin typeface="Calibri"/>
        <a:ea typeface="Calibri"/>
        <a:cs typeface="Calibri"/>
      </a:minorFont>
    </a:fontScheme>
    <a:fmtScheme name="TSLA Descriptive Microscope">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2026-08-26T17:54:33.9750000Z</dcterms:created>
  <dcterms:modified xsi:type="dcterms:W3CDTF">2026-08-26T17:54:33.9750000Z</dcterms:modified>
</coreProperties>
</file>