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10c7c7843d450b" /><Relationship Type="http://schemas.openxmlformats.org/officeDocument/2006/relationships/extended-properties" Target="/docProps/app.xml" Id="Rf8d891a6d26e443c" /><Relationship Type="http://schemas.openxmlformats.org/officeDocument/2006/relationships/officeDocument" Target="/ppt/presentation.xml" Id="R4ee8f07e8328416c" /></Relationships>
</file>

<file path=ppt/presentation.xml><?xml version="1.0" encoding="utf-8"?>
<p:presentation xmlns:p="http://schemas.openxmlformats.org/presentationml/2006/main">
  <p:sldMasterIdLst>
    <p:sldMasterId xmlns:r="http://schemas.openxmlformats.org/officeDocument/2006/relationships" id="2147483648" r:id="Rd8ef2af02ed04155"/>
  </p:sldMasterIdLst>
  <p:notesMasterIdLst>
    <p:notesMasterId xmlns:r="http://schemas.openxmlformats.org/officeDocument/2006/relationships" r:id="Rc0c52bbd432c4349"/>
  </p:notesMasterIdLst>
  <p:sldIdLst>
    <p:sldId xmlns:r="http://schemas.openxmlformats.org/officeDocument/2006/relationships" id="256" r:id="R1607c543595540c3"/>
    <p:sldId xmlns:r="http://schemas.openxmlformats.org/officeDocument/2006/relationships" id="257" r:id="R919b51e496744c58"/>
    <p:sldId xmlns:r="http://schemas.openxmlformats.org/officeDocument/2006/relationships" id="258" r:id="Rfcc14ad645d64a8f"/>
    <p:sldId xmlns:r="http://schemas.openxmlformats.org/officeDocument/2006/relationships" id="259" r:id="R08b301256b9046a9"/>
    <p:sldId xmlns:r="http://schemas.openxmlformats.org/officeDocument/2006/relationships" id="260" r:id="R6ee6df7b53524143"/>
    <p:sldId xmlns:r="http://schemas.openxmlformats.org/officeDocument/2006/relationships" id="261" r:id="Rf17fa307fee14ae0"/>
    <p:sldId xmlns:r="http://schemas.openxmlformats.org/officeDocument/2006/relationships" id="262" r:id="R1e22ef49ec6e4748"/>
    <p:sldId xmlns:r="http://schemas.openxmlformats.org/officeDocument/2006/relationships" id="263" r:id="R4a8313372f724cee"/>
    <p:sldId xmlns:r="http://schemas.openxmlformats.org/officeDocument/2006/relationships" id="264" r:id="R6b899ee0b0a64ec9"/>
    <p:sldId xmlns:r="http://schemas.openxmlformats.org/officeDocument/2006/relationships" id="265" r:id="R0b5d8ef486ca4a98"/>
    <p:sldId xmlns:r="http://schemas.openxmlformats.org/officeDocument/2006/relationships" id="266" r:id="R5aa6c06262c04387"/>
    <p:sldId xmlns:r="http://schemas.openxmlformats.org/officeDocument/2006/relationships" id="267" r:id="Ra32ae21a0f634cb8"/>
    <p:sldId xmlns:r="http://schemas.openxmlformats.org/officeDocument/2006/relationships" id="268" r:id="Rb5ce5b616d81424e"/>
    <p:sldId xmlns:r="http://schemas.openxmlformats.org/officeDocument/2006/relationships" id="269" r:id="R029531fbb069490f"/>
    <p:sldId xmlns:r="http://schemas.openxmlformats.org/officeDocument/2006/relationships" id="270" r:id="R90e3b0b76a1c4301"/>
    <p:sldId xmlns:r="http://schemas.openxmlformats.org/officeDocument/2006/relationships" id="271" r:id="R5e4a9eb8790a43ec"/>
    <p:sldId xmlns:r="http://schemas.openxmlformats.org/officeDocument/2006/relationships" id="272" r:id="R5682fcb764384854"/>
    <p:sldId xmlns:r="http://schemas.openxmlformats.org/officeDocument/2006/relationships" id="273" r:id="R9740bd3c57a346d9"/>
    <p:sldId xmlns:r="http://schemas.openxmlformats.org/officeDocument/2006/relationships" id="274" r:id="Rdf464f0556ac4093"/>
    <p:sldId xmlns:r="http://schemas.openxmlformats.org/officeDocument/2006/relationships" id="275" r:id="R30f7c63edc364e2b"/>
    <p:sldId xmlns:r="http://schemas.openxmlformats.org/officeDocument/2006/relationships" id="276" r:id="R6d468e63a6fb4962"/>
    <p:sldId xmlns:r="http://schemas.openxmlformats.org/officeDocument/2006/relationships" id="277" r:id="R19f960423b154e04"/>
    <p:sldId xmlns:r="http://schemas.openxmlformats.org/officeDocument/2006/relationships" id="278" r:id="Radf43c8ad9be429f"/>
    <p:sldId xmlns:r="http://schemas.openxmlformats.org/officeDocument/2006/relationships" id="279" r:id="R6486ab8ea014454d"/>
    <p:sldId xmlns:r="http://schemas.openxmlformats.org/officeDocument/2006/relationships" id="280" r:id="R7fdf3176c0224744"/>
    <p:sldId xmlns:r="http://schemas.openxmlformats.org/officeDocument/2006/relationships" id="281" r:id="R02daa6223b034fa8"/>
    <p:sldId xmlns:r="http://schemas.openxmlformats.org/officeDocument/2006/relationships" id="282" r:id="R01ba281e9b544f0b"/>
    <p:sldId xmlns:r="http://schemas.openxmlformats.org/officeDocument/2006/relationships" id="283" r:id="R5c8a2eab61c74f55"/>
    <p:sldId xmlns:r="http://schemas.openxmlformats.org/officeDocument/2006/relationships" id="284" r:id="Re539c1ead0f446bc"/>
    <p:sldId xmlns:r="http://schemas.openxmlformats.org/officeDocument/2006/relationships" id="285" r:id="R0cb99d720faf411b"/>
    <p:sldId xmlns:r="http://schemas.openxmlformats.org/officeDocument/2006/relationships" id="286" r:id="R3cb206decd924086"/>
    <p:sldId xmlns:r="http://schemas.openxmlformats.org/officeDocument/2006/relationships" id="287" r:id="Rc78b8c4f5e8b42c3"/>
    <p:sldId xmlns:r="http://schemas.openxmlformats.org/officeDocument/2006/relationships" id="288" r:id="R531d80f80bc44f20"/>
    <p:sldId xmlns:r="http://schemas.openxmlformats.org/officeDocument/2006/relationships" id="289" r:id="Rdd65d38b4509425a"/>
    <p:sldId xmlns:r="http://schemas.openxmlformats.org/officeDocument/2006/relationships" id="290" r:id="Rc0e3492c2a064556"/>
    <p:sldId xmlns:r="http://schemas.openxmlformats.org/officeDocument/2006/relationships" id="291" r:id="R8e6b1a5d77214741"/>
    <p:sldId xmlns:r="http://schemas.openxmlformats.org/officeDocument/2006/relationships" id="292" r:id="R391891b0528f414e"/>
    <p:sldId xmlns:r="http://schemas.openxmlformats.org/officeDocument/2006/relationships" id="293" r:id="Rfaa1bc82d39d40be"/>
    <p:sldId xmlns:r="http://schemas.openxmlformats.org/officeDocument/2006/relationships" id="294" r:id="R3b06d8c9dfe6423a"/>
    <p:sldId xmlns:r="http://schemas.openxmlformats.org/officeDocument/2006/relationships" id="295" r:id="R8d4c879a82974f85"/>
    <p:sldId xmlns:r="http://schemas.openxmlformats.org/officeDocument/2006/relationships" id="296" r:id="R5b8ce6cf48a54919"/>
    <p:sldId xmlns:r="http://schemas.openxmlformats.org/officeDocument/2006/relationships" id="297" r:id="Re870738eaf7f4939"/>
    <p:sldId xmlns:r="http://schemas.openxmlformats.org/officeDocument/2006/relationships" id="298" r:id="Rde9c397885b942d0"/>
    <p:sldId xmlns:r="http://schemas.openxmlformats.org/officeDocument/2006/relationships" id="299" r:id="Rfd5724f16fc14a77"/>
    <p:sldId xmlns:r="http://schemas.openxmlformats.org/officeDocument/2006/relationships" id="300" r:id="Ra942615ecbdf461c"/>
    <p:sldId xmlns:r="http://schemas.openxmlformats.org/officeDocument/2006/relationships" id="301" r:id="Rb65a642d3b524bc8"/>
    <p:sldId xmlns:r="http://schemas.openxmlformats.org/officeDocument/2006/relationships" id="302" r:id="R98fd0cf40ca442ce"/>
    <p:sldId xmlns:r="http://schemas.openxmlformats.org/officeDocument/2006/relationships" id="303" r:id="R0d27cdec91a4485b"/>
    <p:sldId xmlns:r="http://schemas.openxmlformats.org/officeDocument/2006/relationships" id="304" r:id="R1a6f32ceaead4763"/>
    <p:sldId xmlns:r="http://schemas.openxmlformats.org/officeDocument/2006/relationships" id="305" r:id="Rf9dd68ddba3e4e01"/>
    <p:sldId xmlns:r="http://schemas.openxmlformats.org/officeDocument/2006/relationships" id="306" r:id="R134754bde7624501"/>
    <p:sldId xmlns:r="http://schemas.openxmlformats.org/officeDocument/2006/relationships" id="307" r:id="Redd8f50e171a48e5"/>
    <p:sldId xmlns:r="http://schemas.openxmlformats.org/officeDocument/2006/relationships" id="308" r:id="Ra7e8aad79b524b05"/>
    <p:sldId xmlns:r="http://schemas.openxmlformats.org/officeDocument/2006/relationships" id="309" r:id="R5e18826c605e4572"/>
    <p:sldId xmlns:r="http://schemas.openxmlformats.org/officeDocument/2006/relationships" id="310" r:id="R74b1cb51bb8647e5"/>
    <p:sldId xmlns:r="http://schemas.openxmlformats.org/officeDocument/2006/relationships" id="311" r:id="R656a9843667c4ddd"/>
    <p:sldId xmlns:r="http://schemas.openxmlformats.org/officeDocument/2006/relationships" id="312" r:id="Rbb3dc4db8566443a"/>
    <p:sldId xmlns:r="http://schemas.openxmlformats.org/officeDocument/2006/relationships" id="313" r:id="R8a91c4ae05524538"/>
    <p:sldId xmlns:r="http://schemas.openxmlformats.org/officeDocument/2006/relationships" id="314" r:id="R1efba7a057524156"/>
    <p:sldId xmlns:r="http://schemas.openxmlformats.org/officeDocument/2006/relationships" id="315" r:id="R81b1687dcc484197"/>
    <p:sldId xmlns:r="http://schemas.openxmlformats.org/officeDocument/2006/relationships" id="316" r:id="R129cdf73e6ce4a14"/>
    <p:sldId xmlns:r="http://schemas.openxmlformats.org/officeDocument/2006/relationships" id="317" r:id="R04846b8497ba4c39"/>
    <p:sldId xmlns:r="http://schemas.openxmlformats.org/officeDocument/2006/relationships" id="318" r:id="R4ec963d6cbd04330"/>
    <p:sldId xmlns:r="http://schemas.openxmlformats.org/officeDocument/2006/relationships" id="319" r:id="Rbb41b6ba69194617"/>
    <p:sldId xmlns:r="http://schemas.openxmlformats.org/officeDocument/2006/relationships" id="320" r:id="Rd7e12f5d4e7249f3"/>
    <p:sldId xmlns:r="http://schemas.openxmlformats.org/officeDocument/2006/relationships" id="321" r:id="R26fa338d47fb44ca"/>
    <p:sldId xmlns:r="http://schemas.openxmlformats.org/officeDocument/2006/relationships" id="322" r:id="R374ecf31463c47d3"/>
    <p:sldId xmlns:r="http://schemas.openxmlformats.org/officeDocument/2006/relationships" id="323" r:id="Rcc163bb5c07f46ae"/>
    <p:sldId xmlns:r="http://schemas.openxmlformats.org/officeDocument/2006/relationships" id="324" r:id="R4a9fa126cb244d7e"/>
    <p:sldId xmlns:r="http://schemas.openxmlformats.org/officeDocument/2006/relationships" id="325" r:id="R697b75f175e9442a"/>
    <p:sldId xmlns:r="http://schemas.openxmlformats.org/officeDocument/2006/relationships" id="326" r:id="R664101b8ff794dbd"/>
    <p:sldId xmlns:r="http://schemas.openxmlformats.org/officeDocument/2006/relationships" id="327" r:id="R70721dba5f794a75"/>
    <p:sldId xmlns:r="http://schemas.openxmlformats.org/officeDocument/2006/relationships" id="328" r:id="R88b564fe67104a16"/>
    <p:sldId xmlns:r="http://schemas.openxmlformats.org/officeDocument/2006/relationships" id="329" r:id="R53046cbc92d7436d"/>
    <p:sldId xmlns:r="http://schemas.openxmlformats.org/officeDocument/2006/relationships" id="330" r:id="Rb95d09edb34048c4"/>
    <p:sldId xmlns:r="http://schemas.openxmlformats.org/officeDocument/2006/relationships" id="331" r:id="Re4d89edf5e6243ac"/>
    <p:sldId xmlns:r="http://schemas.openxmlformats.org/officeDocument/2006/relationships" id="332" r:id="R2b5f3438d4aa4471"/>
    <p:sldId xmlns:r="http://schemas.openxmlformats.org/officeDocument/2006/relationships" id="333" r:id="Rf617db443ce646af"/>
    <p:sldId xmlns:r="http://schemas.openxmlformats.org/officeDocument/2006/relationships" id="334" r:id="Rec97fa8cd46b45f6"/>
    <p:sldId xmlns:r="http://schemas.openxmlformats.org/officeDocument/2006/relationships" id="335" r:id="R06775d75ca7c4443"/>
    <p:sldId xmlns:r="http://schemas.openxmlformats.org/officeDocument/2006/relationships" id="336" r:id="R0d6108bc29c847be"/>
    <p:sldId xmlns:r="http://schemas.openxmlformats.org/officeDocument/2006/relationships" id="337" r:id="Re595cac1d0d24a45"/>
    <p:sldId xmlns:r="http://schemas.openxmlformats.org/officeDocument/2006/relationships" id="338" r:id="R5288fba8288644ed"/>
    <p:sldId xmlns:r="http://schemas.openxmlformats.org/officeDocument/2006/relationships" id="339" r:id="R9cb28e13dfc44ff7"/>
    <p:sldId xmlns:r="http://schemas.openxmlformats.org/officeDocument/2006/relationships" id="340" r:id="Rcc92b1f2c6c64caf"/>
    <p:sldId xmlns:r="http://schemas.openxmlformats.org/officeDocument/2006/relationships" id="341" r:id="Ra4bae361112446de"/>
    <p:sldId xmlns:r="http://schemas.openxmlformats.org/officeDocument/2006/relationships" id="342" r:id="R4008e9f78c964f6d"/>
    <p:sldId xmlns:r="http://schemas.openxmlformats.org/officeDocument/2006/relationships" id="343" r:id="Rae78e97fd22f4b06"/>
    <p:sldId xmlns:r="http://schemas.openxmlformats.org/officeDocument/2006/relationships" id="344" r:id="R398aed11953d44c2"/>
    <p:sldId xmlns:r="http://schemas.openxmlformats.org/officeDocument/2006/relationships" id="345" r:id="Rc8d7138d66954df5"/>
    <p:sldId xmlns:r="http://schemas.openxmlformats.org/officeDocument/2006/relationships" id="346" r:id="R0acbafe6fcbf4524"/>
    <p:sldId xmlns:r="http://schemas.openxmlformats.org/officeDocument/2006/relationships" id="347" r:id="Raedde9122c664254"/>
    <p:sldId xmlns:r="http://schemas.openxmlformats.org/officeDocument/2006/relationships" id="348" r:id="R902e7f786c6c458e"/>
    <p:sldId xmlns:r="http://schemas.openxmlformats.org/officeDocument/2006/relationships" id="349" r:id="R20f04ccf7c2d4fd6"/>
    <p:sldId xmlns:r="http://schemas.openxmlformats.org/officeDocument/2006/relationships" id="350" r:id="Rd82a5f2182da4d6d"/>
    <p:sldId xmlns:r="http://schemas.openxmlformats.org/officeDocument/2006/relationships" id="351" r:id="R4151c23f5067424a"/>
    <p:sldId xmlns:r="http://schemas.openxmlformats.org/officeDocument/2006/relationships" id="352" r:id="R33a064ea706e4f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ccbac3236745f6" /><Relationship Type="http://schemas.openxmlformats.org/officeDocument/2006/relationships/slideMaster" Target="/ppt/slideMasters/slideMaster1.xml" Id="Rd8ef2af02ed04155" /><Relationship Type="http://schemas.openxmlformats.org/officeDocument/2006/relationships/notesMaster" Target="/ppt/notesMasters/notesMaster1.xml" Id="Rc0c52bbd432c4349" /><Relationship Type="http://schemas.openxmlformats.org/officeDocument/2006/relationships/presProps" Target="/ppt/presProps.xml" Id="Rad967adf46b444ee" /><Relationship Type="http://schemas.openxmlformats.org/officeDocument/2006/relationships/tableStyles" Target="/ppt/tableStyles.xml" Id="R3714d179a2f346d4" /><Relationship Type="http://schemas.openxmlformats.org/officeDocument/2006/relationships/slide" Target="/ppt/slides/slide1.xml" Id="R1607c543595540c3" /><Relationship Type="http://schemas.openxmlformats.org/officeDocument/2006/relationships/slide" Target="/ppt/slides/slide2.xml" Id="R919b51e496744c58" /><Relationship Type="http://schemas.openxmlformats.org/officeDocument/2006/relationships/slide" Target="/ppt/slides/slide3.xml" Id="Rfcc14ad645d64a8f" /><Relationship Type="http://schemas.openxmlformats.org/officeDocument/2006/relationships/slide" Target="/ppt/slides/slide4.xml" Id="R08b301256b9046a9" /><Relationship Type="http://schemas.openxmlformats.org/officeDocument/2006/relationships/slide" Target="/ppt/slides/slide5.xml" Id="R6ee6df7b53524143" /><Relationship Type="http://schemas.openxmlformats.org/officeDocument/2006/relationships/slide" Target="/ppt/slides/slide6.xml" Id="Rf17fa307fee14ae0" /><Relationship Type="http://schemas.openxmlformats.org/officeDocument/2006/relationships/slide" Target="/ppt/slides/slide7.xml" Id="R1e22ef49ec6e4748" /><Relationship Type="http://schemas.openxmlformats.org/officeDocument/2006/relationships/slide" Target="/ppt/slides/slide8.xml" Id="R4a8313372f724cee" /><Relationship Type="http://schemas.openxmlformats.org/officeDocument/2006/relationships/slide" Target="/ppt/slides/slide9.xml" Id="R6b899ee0b0a64ec9" /><Relationship Type="http://schemas.openxmlformats.org/officeDocument/2006/relationships/slide" Target="/ppt/slides/slide10.xml" Id="R0b5d8ef486ca4a98" /><Relationship Type="http://schemas.openxmlformats.org/officeDocument/2006/relationships/slide" Target="/ppt/slides/slide11.xml" Id="R5aa6c06262c04387" /><Relationship Type="http://schemas.openxmlformats.org/officeDocument/2006/relationships/slide" Target="/ppt/slides/slide12.xml" Id="Ra32ae21a0f634cb8" /><Relationship Type="http://schemas.openxmlformats.org/officeDocument/2006/relationships/slide" Target="/ppt/slides/slide13.xml" Id="Rb5ce5b616d81424e" /><Relationship Type="http://schemas.openxmlformats.org/officeDocument/2006/relationships/slide" Target="/ppt/slides/slide14.xml" Id="R029531fbb069490f" /><Relationship Type="http://schemas.openxmlformats.org/officeDocument/2006/relationships/slide" Target="/ppt/slides/slide15.xml" Id="R90e3b0b76a1c4301" /><Relationship Type="http://schemas.openxmlformats.org/officeDocument/2006/relationships/slide" Target="/ppt/slides/slide16.xml" Id="R5e4a9eb8790a43ec" /><Relationship Type="http://schemas.openxmlformats.org/officeDocument/2006/relationships/slide" Target="/ppt/slides/slide17.xml" Id="R5682fcb764384854" /><Relationship Type="http://schemas.openxmlformats.org/officeDocument/2006/relationships/slide" Target="/ppt/slides/slide18.xml" Id="R9740bd3c57a346d9" /><Relationship Type="http://schemas.openxmlformats.org/officeDocument/2006/relationships/slide" Target="/ppt/slides/slide19.xml" Id="Rdf464f0556ac4093" /><Relationship Type="http://schemas.openxmlformats.org/officeDocument/2006/relationships/slide" Target="/ppt/slides/slide20.xml" Id="R30f7c63edc364e2b" /><Relationship Type="http://schemas.openxmlformats.org/officeDocument/2006/relationships/slide" Target="/ppt/slides/slide21.xml" Id="R6d468e63a6fb4962" /><Relationship Type="http://schemas.openxmlformats.org/officeDocument/2006/relationships/slide" Target="/ppt/slides/slide22.xml" Id="R19f960423b154e04" /><Relationship Type="http://schemas.openxmlformats.org/officeDocument/2006/relationships/slide" Target="/ppt/slides/slide23.xml" Id="Radf43c8ad9be429f" /><Relationship Type="http://schemas.openxmlformats.org/officeDocument/2006/relationships/slide" Target="/ppt/slides/slide24.xml" Id="R6486ab8ea014454d" /><Relationship Type="http://schemas.openxmlformats.org/officeDocument/2006/relationships/slide" Target="/ppt/slides/slide25.xml" Id="R7fdf3176c0224744" /><Relationship Type="http://schemas.openxmlformats.org/officeDocument/2006/relationships/slide" Target="/ppt/slides/slide26.xml" Id="R02daa6223b034fa8" /><Relationship Type="http://schemas.openxmlformats.org/officeDocument/2006/relationships/slide" Target="/ppt/slides/slide27.xml" Id="R01ba281e9b544f0b" /><Relationship Type="http://schemas.openxmlformats.org/officeDocument/2006/relationships/slide" Target="/ppt/slides/slide28.xml" Id="R5c8a2eab61c74f55" /><Relationship Type="http://schemas.openxmlformats.org/officeDocument/2006/relationships/slide" Target="/ppt/slides/slide29.xml" Id="Re539c1ead0f446bc" /><Relationship Type="http://schemas.openxmlformats.org/officeDocument/2006/relationships/slide" Target="/ppt/slides/slide30.xml" Id="R0cb99d720faf411b" /><Relationship Type="http://schemas.openxmlformats.org/officeDocument/2006/relationships/slide" Target="/ppt/slides/slide31.xml" Id="R3cb206decd924086" /><Relationship Type="http://schemas.openxmlformats.org/officeDocument/2006/relationships/slide" Target="/ppt/slides/slide32.xml" Id="Rc78b8c4f5e8b42c3" /><Relationship Type="http://schemas.openxmlformats.org/officeDocument/2006/relationships/slide" Target="/ppt/slides/slide33.xml" Id="R531d80f80bc44f20" /><Relationship Type="http://schemas.openxmlformats.org/officeDocument/2006/relationships/slide" Target="/ppt/slides/slide34.xml" Id="Rdd65d38b4509425a" /><Relationship Type="http://schemas.openxmlformats.org/officeDocument/2006/relationships/slide" Target="/ppt/slides/slide35.xml" Id="Rc0e3492c2a064556" /><Relationship Type="http://schemas.openxmlformats.org/officeDocument/2006/relationships/slide" Target="/ppt/slides/slide36.xml" Id="R8e6b1a5d77214741" /><Relationship Type="http://schemas.openxmlformats.org/officeDocument/2006/relationships/slide" Target="/ppt/slides/slide37.xml" Id="R391891b0528f414e" /><Relationship Type="http://schemas.openxmlformats.org/officeDocument/2006/relationships/slide" Target="/ppt/slides/slide38.xml" Id="Rfaa1bc82d39d40be" /><Relationship Type="http://schemas.openxmlformats.org/officeDocument/2006/relationships/slide" Target="/ppt/slides/slide39.xml" Id="R3b06d8c9dfe6423a" /><Relationship Type="http://schemas.openxmlformats.org/officeDocument/2006/relationships/slide" Target="/ppt/slides/slide40.xml" Id="R8d4c879a82974f85" /><Relationship Type="http://schemas.openxmlformats.org/officeDocument/2006/relationships/slide" Target="/ppt/slides/slide41.xml" Id="R5b8ce6cf48a54919" /><Relationship Type="http://schemas.openxmlformats.org/officeDocument/2006/relationships/slide" Target="/ppt/slides/slide42.xml" Id="Re870738eaf7f4939" /><Relationship Type="http://schemas.openxmlformats.org/officeDocument/2006/relationships/slide" Target="/ppt/slides/slide43.xml" Id="Rde9c397885b942d0" /><Relationship Type="http://schemas.openxmlformats.org/officeDocument/2006/relationships/slide" Target="/ppt/slides/slide44.xml" Id="Rfd5724f16fc14a77" /><Relationship Type="http://schemas.openxmlformats.org/officeDocument/2006/relationships/slide" Target="/ppt/slides/slide45.xml" Id="Ra942615ecbdf461c" /><Relationship Type="http://schemas.openxmlformats.org/officeDocument/2006/relationships/slide" Target="/ppt/slides/slide46.xml" Id="Rb65a642d3b524bc8" /><Relationship Type="http://schemas.openxmlformats.org/officeDocument/2006/relationships/slide" Target="/ppt/slides/slide47.xml" Id="R98fd0cf40ca442ce" /><Relationship Type="http://schemas.openxmlformats.org/officeDocument/2006/relationships/slide" Target="/ppt/slides/slide48.xml" Id="R0d27cdec91a4485b" /><Relationship Type="http://schemas.openxmlformats.org/officeDocument/2006/relationships/slide" Target="/ppt/slides/slide49.xml" Id="R1a6f32ceaead4763" /><Relationship Type="http://schemas.openxmlformats.org/officeDocument/2006/relationships/slide" Target="/ppt/slides/slide50.xml" Id="Rf9dd68ddba3e4e01" /><Relationship Type="http://schemas.openxmlformats.org/officeDocument/2006/relationships/slide" Target="/ppt/slides/slide51.xml" Id="R134754bde7624501" /><Relationship Type="http://schemas.openxmlformats.org/officeDocument/2006/relationships/slide" Target="/ppt/slides/slide52.xml" Id="Redd8f50e171a48e5" /><Relationship Type="http://schemas.openxmlformats.org/officeDocument/2006/relationships/slide" Target="/ppt/slides/slide53.xml" Id="Ra7e8aad79b524b05" /><Relationship Type="http://schemas.openxmlformats.org/officeDocument/2006/relationships/slide" Target="/ppt/slides/slide54.xml" Id="R5e18826c605e4572" /><Relationship Type="http://schemas.openxmlformats.org/officeDocument/2006/relationships/slide" Target="/ppt/slides/slide55.xml" Id="R74b1cb51bb8647e5" /><Relationship Type="http://schemas.openxmlformats.org/officeDocument/2006/relationships/slide" Target="/ppt/slides/slide56.xml" Id="R656a9843667c4ddd" /><Relationship Type="http://schemas.openxmlformats.org/officeDocument/2006/relationships/slide" Target="/ppt/slides/slide57.xml" Id="Rbb3dc4db8566443a" /><Relationship Type="http://schemas.openxmlformats.org/officeDocument/2006/relationships/slide" Target="/ppt/slides/slide58.xml" Id="R8a91c4ae05524538" /><Relationship Type="http://schemas.openxmlformats.org/officeDocument/2006/relationships/slide" Target="/ppt/slides/slide59.xml" Id="R1efba7a057524156" /><Relationship Type="http://schemas.openxmlformats.org/officeDocument/2006/relationships/slide" Target="/ppt/slides/slide60.xml" Id="R81b1687dcc484197" /><Relationship Type="http://schemas.openxmlformats.org/officeDocument/2006/relationships/slide" Target="/ppt/slides/slide61.xml" Id="R129cdf73e6ce4a14" /><Relationship Type="http://schemas.openxmlformats.org/officeDocument/2006/relationships/slide" Target="/ppt/slides/slide62.xml" Id="R04846b8497ba4c39" /><Relationship Type="http://schemas.openxmlformats.org/officeDocument/2006/relationships/slide" Target="/ppt/slides/slide63.xml" Id="R4ec963d6cbd04330" /><Relationship Type="http://schemas.openxmlformats.org/officeDocument/2006/relationships/slide" Target="/ppt/slides/slide64.xml" Id="Rbb41b6ba69194617" /><Relationship Type="http://schemas.openxmlformats.org/officeDocument/2006/relationships/slide" Target="/ppt/slides/slide65.xml" Id="Rd7e12f5d4e7249f3" /><Relationship Type="http://schemas.openxmlformats.org/officeDocument/2006/relationships/slide" Target="/ppt/slides/slide66.xml" Id="R26fa338d47fb44ca" /><Relationship Type="http://schemas.openxmlformats.org/officeDocument/2006/relationships/slide" Target="/ppt/slides/slide67.xml" Id="R374ecf31463c47d3" /><Relationship Type="http://schemas.openxmlformats.org/officeDocument/2006/relationships/slide" Target="/ppt/slides/slide68.xml" Id="Rcc163bb5c07f46ae" /><Relationship Type="http://schemas.openxmlformats.org/officeDocument/2006/relationships/slide" Target="/ppt/slides/slide69.xml" Id="R4a9fa126cb244d7e" /><Relationship Type="http://schemas.openxmlformats.org/officeDocument/2006/relationships/slide" Target="/ppt/slides/slide70.xml" Id="R697b75f175e9442a" /><Relationship Type="http://schemas.openxmlformats.org/officeDocument/2006/relationships/slide" Target="/ppt/slides/slide71.xml" Id="R664101b8ff794dbd" /><Relationship Type="http://schemas.openxmlformats.org/officeDocument/2006/relationships/slide" Target="/ppt/slides/slide72.xml" Id="R70721dba5f794a75" /><Relationship Type="http://schemas.openxmlformats.org/officeDocument/2006/relationships/slide" Target="/ppt/slides/slide73.xml" Id="R88b564fe67104a16" /><Relationship Type="http://schemas.openxmlformats.org/officeDocument/2006/relationships/slide" Target="/ppt/slides/slide74.xml" Id="R53046cbc92d7436d" /><Relationship Type="http://schemas.openxmlformats.org/officeDocument/2006/relationships/slide" Target="/ppt/slides/slide75.xml" Id="Rb95d09edb34048c4" /><Relationship Type="http://schemas.openxmlformats.org/officeDocument/2006/relationships/slide" Target="/ppt/slides/slide76.xml" Id="Re4d89edf5e6243ac" /><Relationship Type="http://schemas.openxmlformats.org/officeDocument/2006/relationships/slide" Target="/ppt/slides/slide77.xml" Id="R2b5f3438d4aa4471" /><Relationship Type="http://schemas.openxmlformats.org/officeDocument/2006/relationships/slide" Target="/ppt/slides/slide78.xml" Id="Rf617db443ce646af" /><Relationship Type="http://schemas.openxmlformats.org/officeDocument/2006/relationships/slide" Target="/ppt/slides/slide79.xml" Id="Rec97fa8cd46b45f6" /><Relationship Type="http://schemas.openxmlformats.org/officeDocument/2006/relationships/slide" Target="/ppt/slides/slide80.xml" Id="R06775d75ca7c4443" /><Relationship Type="http://schemas.openxmlformats.org/officeDocument/2006/relationships/slide" Target="/ppt/slides/slide81.xml" Id="R0d6108bc29c847be" /><Relationship Type="http://schemas.openxmlformats.org/officeDocument/2006/relationships/slide" Target="/ppt/slides/slide82.xml" Id="Re595cac1d0d24a45" /><Relationship Type="http://schemas.openxmlformats.org/officeDocument/2006/relationships/slide" Target="/ppt/slides/slide83.xml" Id="R5288fba8288644ed" /><Relationship Type="http://schemas.openxmlformats.org/officeDocument/2006/relationships/slide" Target="/ppt/slides/slide84.xml" Id="R9cb28e13dfc44ff7" /><Relationship Type="http://schemas.openxmlformats.org/officeDocument/2006/relationships/slide" Target="/ppt/slides/slide85.xml" Id="Rcc92b1f2c6c64caf" /><Relationship Type="http://schemas.openxmlformats.org/officeDocument/2006/relationships/slide" Target="/ppt/slides/slide86.xml" Id="Ra4bae361112446de" /><Relationship Type="http://schemas.openxmlformats.org/officeDocument/2006/relationships/slide" Target="/ppt/slides/slide87.xml" Id="R4008e9f78c964f6d" /><Relationship Type="http://schemas.openxmlformats.org/officeDocument/2006/relationships/slide" Target="/ppt/slides/slide88.xml" Id="Rae78e97fd22f4b06" /><Relationship Type="http://schemas.openxmlformats.org/officeDocument/2006/relationships/slide" Target="/ppt/slides/slide89.xml" Id="R398aed11953d44c2" /><Relationship Type="http://schemas.openxmlformats.org/officeDocument/2006/relationships/slide" Target="/ppt/slides/slide90.xml" Id="Rc8d7138d66954df5" /><Relationship Type="http://schemas.openxmlformats.org/officeDocument/2006/relationships/slide" Target="/ppt/slides/slide91.xml" Id="R0acbafe6fcbf4524" /><Relationship Type="http://schemas.openxmlformats.org/officeDocument/2006/relationships/slide" Target="/ppt/slides/slide92.xml" Id="Raedde9122c664254" /><Relationship Type="http://schemas.openxmlformats.org/officeDocument/2006/relationships/slide" Target="/ppt/slides/slide93.xml" Id="R902e7f786c6c458e" /><Relationship Type="http://schemas.openxmlformats.org/officeDocument/2006/relationships/slide" Target="/ppt/slides/slide94.xml" Id="R20f04ccf7c2d4fd6" /><Relationship Type="http://schemas.openxmlformats.org/officeDocument/2006/relationships/slide" Target="/ppt/slides/slide95.xml" Id="Rd82a5f2182da4d6d" /><Relationship Type="http://schemas.openxmlformats.org/officeDocument/2006/relationships/slide" Target="/ppt/slides/slide96.xml" Id="R4151c23f5067424a" /><Relationship Type="http://schemas.openxmlformats.org/officeDocument/2006/relationships/slide" Target="/ppt/slides/slide97.xml" Id="R33a064ea706e4f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48b2f24432c472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f9752786b384e17" /><Relationship Type="http://schemas.openxmlformats.org/officeDocument/2006/relationships/notesMaster" Target="/ppt/notesMasters/notesMaster1.xml" Id="Rff7c271f38784c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bc8f04de14b4084" /><Relationship Type="http://schemas.openxmlformats.org/officeDocument/2006/relationships/notesMaster" Target="/ppt/notesMasters/notesMaster1.xml" Id="Rec11c7890200491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e27a9e0f924e3e" /><Relationship Type="http://schemas.openxmlformats.org/officeDocument/2006/relationships/notesMaster" Target="/ppt/notesMasters/notesMaster1.xml" Id="Re1a26779dbd545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566dbc5fc34965" /><Relationship Type="http://schemas.openxmlformats.org/officeDocument/2006/relationships/notesMaster" Target="/ppt/notesMasters/notesMaster1.xml" Id="Rbe6b59c51a2949b4"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156a6c291640a6" /><Relationship Type="http://schemas.openxmlformats.org/officeDocument/2006/relationships/notesMaster" Target="/ppt/notesMasters/notesMaster1.xml" Id="Rf07de808ad5a4af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f9dfd76686473f" /><Relationship Type="http://schemas.openxmlformats.org/officeDocument/2006/relationships/notesMaster" Target="/ppt/notesMasters/notesMaster1.xml" Id="Rc610a4de9c4b44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19088264264c4e" /><Relationship Type="http://schemas.openxmlformats.org/officeDocument/2006/relationships/notesMaster" Target="/ppt/notesMasters/notesMaster1.xml" Id="R8e95bc53ecbd48e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f9d5e81af940ec" /><Relationship Type="http://schemas.openxmlformats.org/officeDocument/2006/relationships/notesMaster" Target="/ppt/notesMasters/notesMaster1.xml" Id="R99b68525aea249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97fa42bf404909" /><Relationship Type="http://schemas.openxmlformats.org/officeDocument/2006/relationships/notesMaster" Target="/ppt/notesMasters/notesMaster1.xml" Id="R5d8ac2338ee940d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ab29ddd6784461" /><Relationship Type="http://schemas.openxmlformats.org/officeDocument/2006/relationships/notesMaster" Target="/ppt/notesMasters/notesMaster1.xml" Id="Ra604cc3804ff4b9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e80862648b4cf2" /><Relationship Type="http://schemas.openxmlformats.org/officeDocument/2006/relationships/notesMaster" Target="/ppt/notesMasters/notesMaster1.xml" Id="R97d0988405904fb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e53e5f27dbb4ac9" /><Relationship Type="http://schemas.openxmlformats.org/officeDocument/2006/relationships/notesMaster" Target="/ppt/notesMasters/notesMaster1.xml" Id="R7c4e275418ac453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d62b08da645480f" /><Relationship Type="http://schemas.openxmlformats.org/officeDocument/2006/relationships/notesMaster" Target="/ppt/notesMasters/notesMaster1.xml" Id="R1531a615430e4db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a0af615a71c4453" /><Relationship Type="http://schemas.openxmlformats.org/officeDocument/2006/relationships/notesMaster" Target="/ppt/notesMasters/notesMaster1.xml" Id="R3c546bc8abbe4e7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502c6939e8944fc" /><Relationship Type="http://schemas.openxmlformats.org/officeDocument/2006/relationships/notesMaster" Target="/ppt/notesMasters/notesMaster1.xml" Id="R37bcae922c7c43d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54350bd4a3d43cc" /><Relationship Type="http://schemas.openxmlformats.org/officeDocument/2006/relationships/notesMaster" Target="/ppt/notesMasters/notesMaster1.xml" Id="R4b49598c66c14e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a2cc940d9a04854" /><Relationship Type="http://schemas.openxmlformats.org/officeDocument/2006/relationships/notesMaster" Target="/ppt/notesMasters/notesMaster1.xml" Id="R92e9724affb74d2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917e21e4ee24752" /><Relationship Type="http://schemas.openxmlformats.org/officeDocument/2006/relationships/notesMaster" Target="/ppt/notesMasters/notesMaster1.xml" Id="Rf88d2197bd50481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f2c4c231c1141b3" /><Relationship Type="http://schemas.openxmlformats.org/officeDocument/2006/relationships/notesMaster" Target="/ppt/notesMasters/notesMaster1.xml" Id="R4ddfe425a316415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e425ecc969349bf" /><Relationship Type="http://schemas.openxmlformats.org/officeDocument/2006/relationships/notesMaster" Target="/ppt/notesMasters/notesMaster1.xml" Id="R11132e013117489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c2d35e9eb27460a" /><Relationship Type="http://schemas.openxmlformats.org/officeDocument/2006/relationships/notesMaster" Target="/ppt/notesMasters/notesMaster1.xml" Id="Rf0575202a1e84c1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aa7725c210e49b5" /><Relationship Type="http://schemas.openxmlformats.org/officeDocument/2006/relationships/notesMaster" Target="/ppt/notesMasters/notesMaster1.xml" Id="Reeb3fd8f4215401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c49a8d759dc4de7" /><Relationship Type="http://schemas.openxmlformats.org/officeDocument/2006/relationships/notesMaster" Target="/ppt/notesMasters/notesMaster1.xml" Id="Rbb0ef94e54de44c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505d1585c1b4c5c" /><Relationship Type="http://schemas.openxmlformats.org/officeDocument/2006/relationships/notesMaster" Target="/ppt/notesMasters/notesMaster1.xml" Id="Rfc2fc9e4c77641a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95ee3c75ac94204" /><Relationship Type="http://schemas.openxmlformats.org/officeDocument/2006/relationships/notesMaster" Target="/ppt/notesMasters/notesMaster1.xml" Id="R0f640790e7d14cb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6a67de8a0a344ea" /><Relationship Type="http://schemas.openxmlformats.org/officeDocument/2006/relationships/notesMaster" Target="/ppt/notesMasters/notesMaster1.xml" Id="R15670d556ca642c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7c0d81a730d400d" /><Relationship Type="http://schemas.openxmlformats.org/officeDocument/2006/relationships/notesMaster" Target="/ppt/notesMasters/notesMaster1.xml" Id="R2911edc269594c2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78627f33d2e4c13" /><Relationship Type="http://schemas.openxmlformats.org/officeDocument/2006/relationships/notesMaster" Target="/ppt/notesMasters/notesMaster1.xml" Id="R6288a11e7d2b477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2b4a9b07cdc4fa4" /><Relationship Type="http://schemas.openxmlformats.org/officeDocument/2006/relationships/notesMaster" Target="/ppt/notesMasters/notesMaster1.xml" Id="R9636301054bb4ae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4bd6c8812004dae" /><Relationship Type="http://schemas.openxmlformats.org/officeDocument/2006/relationships/notesMaster" Target="/ppt/notesMasters/notesMaster1.xml" Id="R83a7d8566e174bf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0bbc81b6f3e47ea" /><Relationship Type="http://schemas.openxmlformats.org/officeDocument/2006/relationships/notesMaster" Target="/ppt/notesMasters/notesMaster1.xml" Id="Ref5a9e4d66934f0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307abc6899445b3" /><Relationship Type="http://schemas.openxmlformats.org/officeDocument/2006/relationships/notesMaster" Target="/ppt/notesMasters/notesMaster1.xml" Id="R89d65e2ec8ca49e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2dea00c1f0a43ee" /><Relationship Type="http://schemas.openxmlformats.org/officeDocument/2006/relationships/notesMaster" Target="/ppt/notesMasters/notesMaster1.xml" Id="R8b4522bf4b16437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a74f065dd014765" /><Relationship Type="http://schemas.openxmlformats.org/officeDocument/2006/relationships/notesMaster" Target="/ppt/notesMasters/notesMaster1.xml" Id="Rc4e832e71dd0458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b3a3995d7f94eff" /><Relationship Type="http://schemas.openxmlformats.org/officeDocument/2006/relationships/notesMaster" Target="/ppt/notesMasters/notesMaster1.xml" Id="R78a8145dc9a641e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c9011f81f3b43b4" /><Relationship Type="http://schemas.openxmlformats.org/officeDocument/2006/relationships/notesMaster" Target="/ppt/notesMasters/notesMaster1.xml" Id="R70c7be4c645b4b5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54a12dab5294dd3" /><Relationship Type="http://schemas.openxmlformats.org/officeDocument/2006/relationships/notesMaster" Target="/ppt/notesMasters/notesMaster1.xml" Id="R54343c8cf9cd4a4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cfbf9b8cba24294" /><Relationship Type="http://schemas.openxmlformats.org/officeDocument/2006/relationships/notesMaster" Target="/ppt/notesMasters/notesMaster1.xml" Id="R524a07b461e84f7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ef27d219f4d4f9f" /><Relationship Type="http://schemas.openxmlformats.org/officeDocument/2006/relationships/notesMaster" Target="/ppt/notesMasters/notesMaster1.xml" Id="Rfeeca219159d4dd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93c12393b4749d7" /><Relationship Type="http://schemas.openxmlformats.org/officeDocument/2006/relationships/notesMaster" Target="/ppt/notesMasters/notesMaster1.xml" Id="R3b274446e44346e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246ad78c5564535" /><Relationship Type="http://schemas.openxmlformats.org/officeDocument/2006/relationships/notesMaster" Target="/ppt/notesMasters/notesMaster1.xml" Id="Rd795e46267e9491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14ed6912e6d49b1" /><Relationship Type="http://schemas.openxmlformats.org/officeDocument/2006/relationships/notesMaster" Target="/ppt/notesMasters/notesMaster1.xml" Id="R9ec98de77385493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df83d29d46c4ce3" /><Relationship Type="http://schemas.openxmlformats.org/officeDocument/2006/relationships/notesMaster" Target="/ppt/notesMasters/notesMaster1.xml" Id="R785ff62257d5436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4d26b0e6c1f4e33" /><Relationship Type="http://schemas.openxmlformats.org/officeDocument/2006/relationships/notesMaster" Target="/ppt/notesMasters/notesMaster1.xml" Id="Rf6116e6b0b0749e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6a0d76e9b1a4ecd" /><Relationship Type="http://schemas.openxmlformats.org/officeDocument/2006/relationships/notesMaster" Target="/ppt/notesMasters/notesMaster1.xml" Id="R141eb760d3234f2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139a7a18b1b465e" /><Relationship Type="http://schemas.openxmlformats.org/officeDocument/2006/relationships/notesMaster" Target="/ppt/notesMasters/notesMaster1.xml" Id="R7db520e6e535489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db6aa60f09b43e5" /><Relationship Type="http://schemas.openxmlformats.org/officeDocument/2006/relationships/notesMaster" Target="/ppt/notesMasters/notesMaster1.xml" Id="R0348e258069d42b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54397721e264adc" /><Relationship Type="http://schemas.openxmlformats.org/officeDocument/2006/relationships/notesMaster" Target="/ppt/notesMasters/notesMaster1.xml" Id="R6338be793bd0487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1acb8b610514a2d" /><Relationship Type="http://schemas.openxmlformats.org/officeDocument/2006/relationships/notesMaster" Target="/ppt/notesMasters/notesMaster1.xml" Id="R7a2cc9d8ef3f41f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686062d4c6e46c6" /><Relationship Type="http://schemas.openxmlformats.org/officeDocument/2006/relationships/notesMaster" Target="/ppt/notesMasters/notesMaster1.xml" Id="Rece969b2bcbd418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259958c32084258" /><Relationship Type="http://schemas.openxmlformats.org/officeDocument/2006/relationships/notesMaster" Target="/ppt/notesMasters/notesMaster1.xml" Id="Rbb54d16f40af400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dec47a746bf41c3" /><Relationship Type="http://schemas.openxmlformats.org/officeDocument/2006/relationships/notesMaster" Target="/ppt/notesMasters/notesMaster1.xml" Id="Rcb3da3c4325840c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f19a2c08ee940af" /><Relationship Type="http://schemas.openxmlformats.org/officeDocument/2006/relationships/notesMaster" Target="/ppt/notesMasters/notesMaster1.xml" Id="R5b0ebd7f7e5346f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fb6e806ad26483c" /><Relationship Type="http://schemas.openxmlformats.org/officeDocument/2006/relationships/notesMaster" Target="/ppt/notesMasters/notesMaster1.xml" Id="Rd9ce3e9d290748f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43ad22cc08f47a8" /><Relationship Type="http://schemas.openxmlformats.org/officeDocument/2006/relationships/notesMaster" Target="/ppt/notesMasters/notesMaster1.xml" Id="Ra116339b417740f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3ef967b27ec45d6" /><Relationship Type="http://schemas.openxmlformats.org/officeDocument/2006/relationships/notesMaster" Target="/ppt/notesMasters/notesMaster1.xml" Id="Rc07b51f9c82542d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ff6a1dff4e44c4d" /><Relationship Type="http://schemas.openxmlformats.org/officeDocument/2006/relationships/notesMaster" Target="/ppt/notesMasters/notesMaster1.xml" Id="R0799ee7af99440c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a3322175f9d4c4b" /><Relationship Type="http://schemas.openxmlformats.org/officeDocument/2006/relationships/notesMaster" Target="/ppt/notesMasters/notesMaster1.xml" Id="Re78504b44d5042f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71f990018ab49ff" /><Relationship Type="http://schemas.openxmlformats.org/officeDocument/2006/relationships/notesMaster" Target="/ppt/notesMasters/notesMaster1.xml" Id="Re1e8bf9a860e461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54b6f27e9414716" /><Relationship Type="http://schemas.openxmlformats.org/officeDocument/2006/relationships/notesMaster" Target="/ppt/notesMasters/notesMaster1.xml" Id="R78363320997e4cb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a28d9858c56408e" /><Relationship Type="http://schemas.openxmlformats.org/officeDocument/2006/relationships/notesMaster" Target="/ppt/notesMasters/notesMaster1.xml" Id="R31203f444cbc4dc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1557c11ba0941cb" /><Relationship Type="http://schemas.openxmlformats.org/officeDocument/2006/relationships/notesMaster" Target="/ppt/notesMasters/notesMaster1.xml" Id="Rb827a62b3ef1483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0dc74f471d34b14" /><Relationship Type="http://schemas.openxmlformats.org/officeDocument/2006/relationships/notesMaster" Target="/ppt/notesMasters/notesMaster1.xml" Id="R0870e820041e475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b100a70ab5e462b" /><Relationship Type="http://schemas.openxmlformats.org/officeDocument/2006/relationships/notesMaster" Target="/ppt/notesMasters/notesMaster1.xml" Id="R9e48e01adb2a49c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d010152a7c8404a" /><Relationship Type="http://schemas.openxmlformats.org/officeDocument/2006/relationships/notesMaster" Target="/ppt/notesMasters/notesMaster1.xml" Id="R720007540ffd41a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375a5e55dcd4fd3" /><Relationship Type="http://schemas.openxmlformats.org/officeDocument/2006/relationships/notesMaster" Target="/ppt/notesMasters/notesMaster1.xml" Id="R4df39e72ba48400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66bace823444857" /><Relationship Type="http://schemas.openxmlformats.org/officeDocument/2006/relationships/notesMaster" Target="/ppt/notesMasters/notesMaster1.xml" Id="Rb538cb375c99441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d86c999f69c42ff" /><Relationship Type="http://schemas.openxmlformats.org/officeDocument/2006/relationships/notesMaster" Target="/ppt/notesMasters/notesMaster1.xml" Id="R351bd977c2244f37"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9ce5fe5aedf4a3b" /><Relationship Type="http://schemas.openxmlformats.org/officeDocument/2006/relationships/notesMaster" Target="/ppt/notesMasters/notesMaster1.xml" Id="Rfaffc24f5268412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9257d382b6442d7" /><Relationship Type="http://schemas.openxmlformats.org/officeDocument/2006/relationships/notesMaster" Target="/ppt/notesMasters/notesMaster1.xml" Id="Re151db36a73f4099"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313bd53ecc244f0" /><Relationship Type="http://schemas.openxmlformats.org/officeDocument/2006/relationships/notesMaster" Target="/ppt/notesMasters/notesMaster1.xml" Id="Re528b9d786e140a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68bb0fa390040ad" /><Relationship Type="http://schemas.openxmlformats.org/officeDocument/2006/relationships/notesMaster" Target="/ppt/notesMasters/notesMaster1.xml" Id="R31903e1b1964449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481ff05031fb4566" /><Relationship Type="http://schemas.openxmlformats.org/officeDocument/2006/relationships/notesMaster" Target="/ppt/notesMasters/notesMaster1.xml" Id="R80e248ca08204fa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66034f3743346a9" /><Relationship Type="http://schemas.openxmlformats.org/officeDocument/2006/relationships/notesMaster" Target="/ppt/notesMasters/notesMaster1.xml" Id="Rf955670ccbe04ee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876b418e3fe4f9f" /><Relationship Type="http://schemas.openxmlformats.org/officeDocument/2006/relationships/notesMaster" Target="/ppt/notesMasters/notesMaster1.xml" Id="R36bbedb4ceb44bb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2825a75d1d4145cf" /><Relationship Type="http://schemas.openxmlformats.org/officeDocument/2006/relationships/notesMaster" Target="/ppt/notesMasters/notesMaster1.xml" Id="R180c280b79fa44d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b9b7626e59934137" /><Relationship Type="http://schemas.openxmlformats.org/officeDocument/2006/relationships/notesMaster" Target="/ppt/notesMasters/notesMaster1.xml" Id="R572277a0ae684072"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721aa33447d42e0" /><Relationship Type="http://schemas.openxmlformats.org/officeDocument/2006/relationships/notesMaster" Target="/ppt/notesMasters/notesMaster1.xml" Id="R37423791b929458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bb6c7a37792432f" /><Relationship Type="http://schemas.openxmlformats.org/officeDocument/2006/relationships/notesMaster" Target="/ppt/notesMasters/notesMaster1.xml" Id="Re180af45d6e342ea"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5378dbcb6d842d7" /><Relationship Type="http://schemas.openxmlformats.org/officeDocument/2006/relationships/notesMaster" Target="/ppt/notesMasters/notesMaster1.xml" Id="R0a655f78278e4e76"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a2da42af7b04d60" /><Relationship Type="http://schemas.openxmlformats.org/officeDocument/2006/relationships/notesMaster" Target="/ppt/notesMasters/notesMaster1.xml" Id="R9fbd556a237a430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3853ec5ae884347" /><Relationship Type="http://schemas.openxmlformats.org/officeDocument/2006/relationships/notesMaster" Target="/ppt/notesMasters/notesMaster1.xml" Id="R1d8b8e8e40a2474d"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29c8397342eb47fc" /><Relationship Type="http://schemas.openxmlformats.org/officeDocument/2006/relationships/notesMaster" Target="/ppt/notesMasters/notesMaster1.xml" Id="Ra7923be3190e45c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47e722a529db4115" /><Relationship Type="http://schemas.openxmlformats.org/officeDocument/2006/relationships/notesMaster" Target="/ppt/notesMasters/notesMaster1.xml" Id="R1c1079cd65c64f7a"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f27b58e753fa4f20" /><Relationship Type="http://schemas.openxmlformats.org/officeDocument/2006/relationships/notesMaster" Target="/ppt/notesMasters/notesMaster1.xml" Id="R129b67112bba476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9ed6699caf44440f" /><Relationship Type="http://schemas.openxmlformats.org/officeDocument/2006/relationships/notesMaster" Target="/ppt/notesMasters/notesMaster1.xml" Id="Reeb18d659da749b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5d20d710f8b4710" /><Relationship Type="http://schemas.openxmlformats.org/officeDocument/2006/relationships/notesMaster" Target="/ppt/notesMasters/notesMaster1.xml" Id="R2689f0f14d1945d9"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f5992ca45344cb8" /><Relationship Type="http://schemas.openxmlformats.org/officeDocument/2006/relationships/notesMaster" Target="/ppt/notesMasters/notesMaster1.xml" Id="R3ecaf20711594cf4"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d131e9139d334e21" /><Relationship Type="http://schemas.openxmlformats.org/officeDocument/2006/relationships/notesMaster" Target="/ppt/notesMasters/notesMaster1.xml" Id="R009d98243de94461"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af499f443a842d7" /><Relationship Type="http://schemas.openxmlformats.org/officeDocument/2006/relationships/notesMaster" Target="/ppt/notesMasters/notesMaster1.xml" Id="R9b01a4b0de83475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696a1ed1e7f74850" /><Relationship Type="http://schemas.openxmlformats.org/officeDocument/2006/relationships/notesMaster" Target="/ppt/notesMasters/notesMaster1.xml" Id="Rb56fcbc4ea474cf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b01361fb5cc4541" /><Relationship Type="http://schemas.openxmlformats.org/officeDocument/2006/relationships/notesMaster" Target="/ppt/notesMasters/notesMaster1.xml" Id="R2abbffdc9fd94d22"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056b6cede415443b" /><Relationship Type="http://schemas.openxmlformats.org/officeDocument/2006/relationships/notesMaster" Target="/ppt/notesMasters/notesMaster1.xml" Id="R759bacf4cd744fe8"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1390aa75fec4b51" /><Relationship Type="http://schemas.openxmlformats.org/officeDocument/2006/relationships/notesMaster" Target="/ppt/notesMasters/notesMaster1.xml" Id="R318958a50a71469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92afe22e6df14c60" /><Relationship Type="http://schemas.openxmlformats.org/officeDocument/2006/relationships/notesMaster" Target="/ppt/notesMasters/notesMaster1.xml" Id="R7dba73da2f0b4c64"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15a54b901614458d" /><Relationship Type="http://schemas.openxmlformats.org/officeDocument/2006/relationships/notesMaster" Target="/ppt/notesMasters/notesMaster1.xml" Id="Rd546758a4ed94131"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2622d704bbd944b6" /><Relationship Type="http://schemas.openxmlformats.org/officeDocument/2006/relationships/notesMaster" Target="/ppt/notesMasters/notesMaster1.xml" Id="Re72ddb945f4a402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a running laboratory notebook, not a strategy pitch.</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objective is bottom-up hypothesis formation. The order is observation, definition, measurement, then falsification.</a:t>
            </a:r>
          </a:p>
          <a:p xmlns:a="http://schemas.openxmlformats.org/drawingml/2006/main">
            <a:r>
              <a:t/>
            </a:r>
          </a:p>
          <a:p xmlns:a="http://schemas.openxmlformats.org/drawingml/2006/main">
            <a:r>
              <a:t>[Sources]</a:t>
            </a:r>
          </a:p>
          <a:p xmlns:a="http://schemas.openxmlformats.org/drawingml/2006/main">
            <a:r>
              <a:t>- User-directed research workflow in this task</a:t>
            </a:r>
          </a:p>
          <a:p xmlns:a="http://schemas.openxmlformats.org/drawingml/2006/main">
            <a:r>
              <a:t>- docs/GEN5_1_POC_PROGRESS_LOG.md entries 186-188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definition before showing any statistic. The sample is the exact scatterplot surface from the prior slice.</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runs/research_workbench/operator_hypothesis_lab/tsla_lagged_return_dependence_statistics_20260825/run_spec.csv</a:t>
            </a:r>
          </a:p>
          <a:p xmlns:a="http://schemas.openxmlformats.org/drawingml/2006/main">
            <a:r>
              <a:t>- runs/research_workbench/operator_hypothesis_lab/tsla_lagged_return_dependence_statistics_20260825/pair_checks.csv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eye sees a dense cloud around zero and observations in all four quadrants. This slide preserves the pre-statistics view.</a:t>
            </a:r>
          </a:p>
          <a:p xmlns:a="http://schemas.openxmlformats.org/drawingml/2006/main">
            <a:r>
              <a:t/>
            </a:r>
          </a:p>
          <a:p xmlns:a="http://schemas.openxmlformats.org/drawingml/2006/main">
            <a:r>
              <a:t>[Sources]</a:t>
            </a:r>
          </a:p>
          <a:p xmlns:a="http://schemas.openxmlformats.org/drawingml/2006/main">
            <a:r>
              <a:t>- runs/research_workbench/operator_hypothesis_lab/tsla_lagged_daily_return_scatter_20260824/visuals/tsla_t_minus_1_vs_t_daily_log_return_scatter.png</a:t>
            </a:r>
          </a:p>
          <a:p xmlns:a="http://schemas.openxmlformats.org/drawingml/2006/main">
            <a:r>
              <a:t>- operator_hypothesis_lab/docs/TSLA_LAGGED_DAILY_RETURN_SCATTER_2018_2023.md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ER20 asks whether the trailing path was efficient. It ignores bullish versus bearish direction and does not measure volatility.</a:t>
            </a:r>
          </a:p>
          <a:p xmlns:a="http://schemas.openxmlformats.org/drawingml/2006/main">
            <a:r>
              <a:t/>
            </a:r>
          </a:p>
          <a:p xmlns:a="http://schemas.openxmlformats.org/drawingml/2006/main">
            <a:r>
              <a:t>[Sources]</a:t>
            </a:r>
          </a:p>
          <a:p xmlns:a="http://schemas.openxmlformats.org/drawingml/2006/main">
            <a:r>
              <a:t>- runs/research_workbench/operator_hypothesis_lab/tsla_efficiency_ratio_regime_bands_20260824/visuals/tsla_er20_path_regime_bands.png</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estimand is frozen before reading the result: Pearson correlation, equivalently the OLS slope in r[t] = alpha + beta r[t-1] + error.</a:t>
            </a:r>
          </a:p>
          <a:p xmlns:a="http://schemas.openxmlformats.org/drawingml/2006/main">
            <a:r>
              <a:t/>
            </a:r>
          </a:p>
          <a:p xmlns:a="http://schemas.openxmlformats.org/drawingml/2006/main">
            <a:r>
              <a:t>[Sources]</a:t>
            </a:r>
          </a:p>
          <a:p xmlns:a="http://schemas.openxmlformats.org/drawingml/2006/main">
            <a:r>
              <a:t>- scripts/inspect/run_tsla_lagged_return_dependence_statistics.R</a:t>
            </a:r>
          </a:p>
          <a:p xmlns:a="http://schemas.openxmlformats.org/drawingml/2006/main">
            <a:r>
              <a:t>- runs/research_workbench/operator_hypothesis_lab/tsla_lagged_return_dependence_statistics_20260825/run_spec.csv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interval includes zero and the fitted line explains roughly four hundredths of one percent of next-day return variation. HAC slope p-value is 0.451.</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runs/research_workbench/operator_hypothesis_lab/tsla_lagged_return_dependence_statistics_20260825/visuals/tsla_signed_return_dependence_fitted_scatter.png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binary direction view reaches the same conclusion as the continuous-return view. The conditional probabilities are nearly identical and their difference interval crosses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runs/research_workbench/operator_hypothesis_lab/tsla_lagged_return_dependence_statistics_20260825/direction_transition_probabilities.csv</a:t>
            </a:r>
          </a:p>
          <a:p xmlns:a="http://schemas.openxmlformats.org/drawingml/2006/main">
            <a:r>
              <a:t>- runs/research_workbench/operator_hypothesis_lab/tsla_lagged_return_dependence_statistics_20260825/direction_transition_difference.csv</a:t>
            </a:r>
          </a:p>
          <a:p xmlns:a="http://schemas.openxmlformats.org/drawingml/2006/main">
            <a:r>
              <a:t>- runs/research_workbench/operator_hypothesis_lab/tsla_lagged_return_dependence_statistics_20260825/visuals/tsla_direction_transition_probabilities.png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Annual point estimates change sign, but none of the annual HAC intervals excludes zero. Rank correlation and the fixed winsor sensitivity are also near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runs/research_workbench/operator_hypothesis_lab/tsla_lagged_return_dependence_statistics_20260825/annual_stability.csv</a:t>
            </a:r>
          </a:p>
          <a:p xmlns:a="http://schemas.openxmlformats.org/drawingml/2006/main">
            <a:r>
              <a:t>- runs/research_workbench/operator_hypothesis_lab/tsla_lagged_return_dependence_statistics_20260825/outlier_sensitivity.csv</a:t>
            </a:r>
          </a:p>
          <a:p xmlns:a="http://schemas.openxmlformats.org/drawingml/2006/main">
            <a:r>
              <a:t>- runs/research_workbench/operator_hypothesis_lab/tsla_lagged_return_dependence_statistics_20260825/block_bootstrap_intervals.csv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Absolute and squared returns show positive linear dependence, but the equal-count deciles are jagged and the absolute-return rank interval includes zero. Treat this as modest magnitude persistence and a separate future question.</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runs/research_workbench/operator_hypothesis_lab/tsla_lagged_return_dependence_statistics_20260825/absolute_return_deciles.csv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what was learned. The signed-return question stops descriptively; ER20 remains a descriptive lens; magnitude persistence is the only new clue and requires its own predeclared test before any strategy interpretation.</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 runs/research_workbench/operator_hypothesis_lab/tsla_lagged_return_dependence_statistics_20260825/report.md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sessions reveals signed dependence hidden by the adjacent-session view.</a:t>
            </a:r>
          </a:p>
          <a:p xmlns:a="http://schemas.openxmlformats.org/drawingml/2006/main">
            <a:r>
              <a:t/>
            </a:r>
          </a:p>
          <a:p xmlns:a="http://schemas.openxmlformats.org/drawingml/2006/main">
            <a:r>
              <a:t>[Sources]</a:t>
            </a:r>
          </a:p>
          <a:p xmlns:a="http://schemas.openxmlformats.org/drawingml/2006/main">
            <a:r>
              <a:t>- scripts/inspect/run_tsla_cumulative_return_horizon_grid.R</a:t>
            </a:r>
          </a:p>
          <a:p xmlns:a="http://schemas.openxmlformats.org/drawingml/2006/main">
            <a:r>
              <a:t>- runs/research_workbench/operator_hypothesis_lab/tsla_cumulative_return_horizon_grid_20260825/run_spec.csv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information boundary first: cumulative prior return ends at the anchor close and cumulative forward return begins from that close.</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runs/research_workbench/operator_hypothesis_lab/tsla_cumulative_return_horizon_grid_20260825/run_spec.csv</a:t>
            </a:r>
          </a:p>
          <a:p xmlns:a="http://schemas.openxmlformats.org/drawingml/2006/main">
            <a:r>
              <a:t>- runs/research_workbench/operator_hypothesis_lab/tsla_cumulative_return_horizon_grid_20260825/grid_checks.csv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region is coherent rather than a single isolated cell, but its magnitude is small and this nested grid is highly dependent.</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runs/research_workbench/operator_hypothesis_lab/tsla_cumulative_return_horizon_grid_20260825/pearson_correlation_matrix.csv</a:t>
            </a:r>
          </a:p>
          <a:p xmlns:a="http://schemas.openxmlformats.org/drawingml/2006/main">
            <a:r>
              <a:t>- runs/research_workbench/operator_hypothesis_lab/tsla_cumulative_return_horizon_grid_20260825/slope_bh_q_value_matrix.csv</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point estimate explains less than one percent of forward-return variance, and its overlap-aware interval includes zero. Its BH q-value is 0.660.</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runs/research_workbench/operator_hypothesis_lab/tsla_cumulative_return_horizon_grid_20260825/r_squared_percent_matrix.csv</a:t>
            </a:r>
          </a:p>
          <a:p xmlns:a="http://schemas.openxmlformats.org/drawingml/2006/main">
            <a:r>
              <a:t>- runs/research_workbench/operator_hypothesis_lab/tsla_cumulative_return_horizon_grid_20260825/visuals/tsla_cumulative_return_r_squared_heatmap.png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direction differences are positive, but the best raw p-value becomes q=0.554 after the 81-cell scan. None survives BH-FDR or Bonferroni.</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runs/research_workbench/operator_hypothesis_lab/tsla_cumulative_return_horizon_grid_20260825/direction_difference_pp_matrix.csv</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runs/research_workbench/operator_hypothesis_lab/tsla_cumulative_return_horizon_grid_20260825/visuals/tsla_cumulative_return_direction_difference_heatmap.png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the descriptive pattern from evidence strength. The ridge is worth naming, but this scan does not establish predictive authority.</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runs/research_workbench/operator_hypothesis_lab/tsla_cumulative_return_horizon_grid_20260825/report.md</a:t>
            </a:r>
          </a:p>
          <a:p xmlns:a="http://schemas.openxmlformats.org/drawingml/2006/main">
            <a:r>
              <a:t>- runs/research_workbench/operator_hypothesis_lab/tsla_cumulative_return_horizon_grid_20260825/cells_ranked_by_absolute_correlation.csv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red and green path states washes out different prior-versus-forward return relationships.</a:t>
            </a:r>
          </a:p>
          <a:p xmlns:a="http://schemas.openxmlformats.org/drawingml/2006/main">
            <a:r>
              <a:t/>
            </a:r>
          </a:p>
          <a:p xmlns:a="http://schemas.openxmlformats.org/drawingml/2006/main">
            <a:r>
              <a:t>[Sources]</a:t>
            </a:r>
          </a:p>
          <a:p xmlns:a="http://schemas.openxmlformats.org/drawingml/2006/main">
            <a:r>
              <a:t>- operator_hypothesis_lab/docs/TSLA_ER20_PATH_REGIME_BANDS_2018_2023.md</a:t>
            </a:r>
          </a:p>
          <a:p xmlns:a="http://schemas.openxmlformats.org/drawingml/2006/main">
            <a:r>
              <a:t>- scripts/inspect/run_tsla_er20_conditioned_return_horizon_grid.R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timing is causal: ER20 at the anchor uses closes through that anchor only. One pre-2018 anchor from the aggregate grid is uncolored and excluded.</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runs/research_workbench/operator_hypothesis_lab/tsla_er20_conditioned_return_horizon_grid_20260825/run_spec.csv</a:t>
            </a:r>
          </a:p>
          <a:p xmlns:a="http://schemas.openxmlformats.org/drawingml/2006/main">
            <a:r>
              <a:t>- runs/research_workbench/operator_hypothesis_lab/tsla_er20_conditioned_return_horizon_grid_20260825/grid_checks.csv</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states show a coherent positive island centered around 10 to 15 prior sessions and 3 to 10 forward sessions. The largest cell has an overlap-aware interval that still includes zero.</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runs/research_workbench/operator_hypothesis_lab/tsla_er20_conditioned_return_horizon_grid_20260825/red_sideways_pearson_matrix.csv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runs/research_workbench/operator_hypothesis_lab/tsla_er20_conditioned_return_horizon_grid_20260825/visuals/tsla_red_sideways_pearson_heatmap.png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Green states retain small positive short-horizon patches, but the red medium-horizon island is muted or reversed and the long-prior/long-forward corner becomes negative.</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runs/research_workbench/operator_hypothesis_lab/tsla_er20_conditioned_return_horizon_grid_20260825/green_trending_pearson_matrix.csv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runs/research_workbench/operator_hypothesis_lab/tsla_er20_conditioned_return_horizon_grid_20260825/visuals/tsla_green_trending_pearson_heatmap.png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raw regime contrast is at 15 prior and 5 forward: red correlation +0.173 versus green -0.058, a -0.231 difference. Its slope interaction has raw HAC p=0.029 but BH q=0.919; no interaction survives the grid scan.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runs/research_workbench/operator_hypothesis_lab/tsla_er20_conditioned_return_horizon_grid_20260825/green_minus_red_pearson_matrix.csv</a:t>
            </a:r>
          </a:p>
          <a:p xmlns:a="http://schemas.openxmlformats.org/drawingml/2006/main">
            <a:r>
              <a:t>- runs/research_workbench/operator_hypothesis_lab/tsla_er20_conditioned_return_horizon_grid_20260825/regime_comparison_statistics.csv</a:t>
            </a:r>
          </a:p>
          <a:p xmlns:a="http://schemas.openxmlformats.org/drawingml/2006/main">
            <a:r>
              <a:t>- runs/research_workbench/operator_hypothesis_lab/tsla_er20_conditioned_return_horizon_grid_20260825/slope_interaction_bh_q_value_matrix.csv</a:t>
            </a:r>
          </a:p>
          <a:p xmlns:a="http://schemas.openxmlformats.org/drawingml/2006/main">
            <a:r>
              <a:t>- runs/research_workbench/operator_hypothesis_lab/tsla_er20_conditioned_return_horizon_grid_20260825/visuals/tsla_green_minus_red_pearson_heatmap.png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Conditioning changes the descriptive map in a coherent way, but the finding remains exploratory. ER20 is built from the same trailing path as the prior-return variable, so a less mechanically entangled filter would be a useful comparison.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runs/research_workbench/operator_hypothesis_lab/tsla_er20_conditioned_return_horizon_grid_20260825/report.md</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runs/research_workbench/operator_hypothesis_lab/tsla_er20_conditioned_return_horizon_grid_20260825/regime_comparison_statistics.csv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signed-return dependence changes with movement capacity, using the already accepted ATR-percent classifier rather than designing new bins from this result.</a:t>
            </a:r>
          </a:p>
          <a:p xmlns:a="http://schemas.openxmlformats.org/drawingml/2006/main">
            <a:r>
              <a:t/>
            </a:r>
          </a:p>
          <a:p xmlns:a="http://schemas.openxmlformats.org/drawingml/2006/main">
            <a:r>
              <a:t>[Sources]</a:t>
            </a:r>
          </a:p>
          <a:p xmlns:a="http://schemas.openxmlformats.org/drawingml/2006/main">
            <a:r>
              <a:t>- operator_hypothesis_lab/docs/GEN5_HYP_REG_01_1_ATR_PERCENT_VOLATILITY_RESULTS.md</a:t>
            </a:r>
          </a:p>
          <a:p xmlns:a="http://schemas.openxmlformats.org/drawingml/2006/main">
            <a:r>
              <a:t>- operator_hypothesis_lab/docs/TSLA_ATRP_CONDITIONED_RETURN_HORIZON_GRID_2018_2023.md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definition is reused exactly: Wilder ATR14 divided by close, current ATR-percent ranked against the prior 252 completed observations, and the accepted 30/40–60/70 hysteresis. State t is known before future returns begin.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runs/research_workbench/operator_hypothesis_lab/tsla_atrp_conditioned_return_horizon_grid_20260825/run_spec.csv</a:t>
            </a:r>
          </a:p>
          <a:p xmlns:a="http://schemas.openxmlformats.org/drawingml/2006/main">
            <a:r>
              <a:t>- runs/research_workbench/operator_hypothesis_lab/tsla_atrp_conditioned_return_horizon_grid_20260825/source_checks.csv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view makes the accepted volatility classifier visible in price time. Blue, gold, and red mean LOW, MEDIUM, and HIGH movement capacity; they do not mean bearish, neutral, and bullish. The lower panel shows the causal trailing ATR-percent rank and accepted hysteretic state at each close.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runs/research_workbench/operator_hypothesis_lab/tsla_atrp_conditioned_return_horizon_grid_20260825/visuals/tsla_atrp_state_price_bands.png</a:t>
            </a:r>
          </a:p>
          <a:p xmlns:a="http://schemas.openxmlformats.org/drawingml/2006/main">
            <a:r>
              <a:t>- runs/research_workbench/operator_hypothesis_lab/tsla_atrp_conditioned_return_horizon_grid_20260825/tsla_atrp_state_chart_ledger.csv</a:t>
            </a:r>
          </a:p>
          <a:p xmlns:a="http://schemas.openxmlformats.org/drawingml/2006/main">
            <a:r>
              <a:t>- runs/research_workbench/operator_hypothesis_lab/tsla_atrp_conditioned_return_horizon_grid_20260825/tsla_atrp_state_spans.csv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 ATR-percent anchors produce positive point estimates throughout the grid, but the strongest cell's interval crosses zero and no LOW cell survives the within-state scan.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runs/research_workbench/operator_hypothesis_lab/tsla_atrp_conditioned_return_horizon_grid_20260825/low_pearson_matrix.csv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runs/research_workbench/operator_hypothesis_lab/tsla_atrp_conditioned_return_horizon_grid_20260825/visuals/tsla_atrp_low_pearson_heatmap.png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MEDIUM ATR-percent anchors show the most statistically stable continuation pattern. Under the strict correction across all 486 tests, the 5/3, 10/2, and 10/3 cells remain.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runs/research_workbench/operator_hypothesis_lab/tsla_atrp_conditioned_return_horizon_grid_20260825/medium_pearson_matrix.csv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 ATR-percent anchors reverse the sign of the broad surface, especially at longer horizons. The most extreme cell is visually strong but its dependence-robust interval still crosses zero.</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runs/research_workbench/operator_hypothesis_lab/tsla_atrp_conditioned_return_horizon_grid_20260825/visuals/tsla_atrp_high_pearson_heatmap.png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correlation contrast is -0.548 at 25 prior and 15 forward; its within-family interaction q is 0.038 but strict omnibus q is 0.081. Three smaller HIGH-minus-MEDIUM interactions survive the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runs/research_workbench/operator_hypothesis_lab/tsla_atrp_conditioned_return_horizon_grid_20260825/high_minus_medium_pearson_difference_matrix.csv</a:t>
            </a:r>
          </a:p>
          <a:p xmlns:a="http://schemas.openxmlformats.org/drawingml/2006/main">
            <a:r>
              <a:t>- runs/research_workbench/operator_hypothesis_lab/tsla_atrp_conditioned_return_horizon_grid_20260825/pairwise_state_comparison_statistics.csv</a:t>
            </a:r>
          </a:p>
          <a:p xmlns:a="http://schemas.openxmlformats.org/drawingml/2006/main">
            <a:r>
              <a:t>- runs/research_workbench/operator_hypothesis_lab/tsla_atrp_conditioned_return_horizon_grid_20260825/high_minus_medium_interaction_bh_q_matrix.csv</a:t>
            </a:r>
          </a:p>
          <a:p xmlns:a="http://schemas.openxmlformats.org/drawingml/2006/main">
            <a:r>
              <a:t>- runs/research_workbench/operator_hypothesis_lab/tsla_atrp_conditioned_return_horizon_grid_20260825/visuals/tsla_atrp_high_minus_medium_pearson_heatmap.png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ATR-percent split is the clearest conditional map in this descriptive lane and is partially multiplicity-robust, but it is still a same-sample replication candidate rather than a trading rule. The ER20 direction split and external-context filter are bookmarked, not opened here.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one authority only. TSLA still supplies every prior and following return. SPY supplies the already accepted causal ATR-percent state at the anchor close.</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SPY classifier is reused exactly: Wilder ATR14 divided by adjusted close, prior-252 causal percentile, and 30/40 plus 60/70 hysteresis. No state definition or horizon changes after seeing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runs/research_workbench/operator_hypothesis_lab/tsla_spy_atrp_conditioned_return_horizon_grid_20260825/source_checks.csv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stays TSLA, while every colored band and the lower-panel percentile come from SPY. This visual checks alignment in time; it does not claim that SPY state causes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runs/research_workbench/operator_hypothesis_lab/tsla_spy_atrp_conditioned_return_horizon_grid_20260825/visuals/tsla_spy_atrp_state_price_bands.png</a:t>
            </a:r>
          </a:p>
          <a:p xmlns:a="http://schemas.openxmlformats.org/drawingml/2006/main">
            <a:r>
              <a:t>- runs/research_workbench/operator_hypothesis_lab/tsla_spy_atrp_conditioned_return_horizon_grid_20260825/tsla_spy_atrp_state_chart_ledger.csv</a:t>
            </a:r>
          </a:p>
          <a:p xmlns:a="http://schemas.openxmlformats.org/drawingml/2006/main">
            <a:r>
              <a:t>- runs/research_workbench/operator_hypothesis_lab/tsla_spy_atrp_conditioned_return_horizon_grid_20260825/tsla_spy_atrp_state_spans.csv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LOW ATR-percent sessions contain the clearest TSLA continuation geometry. The pattern is broad, but no single within-state cell survives its 81-cell BH-FDR family.</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runs/research_workbench/operator_hypothesis_lab/tsla_spy_atrp_conditioned_return_horizon_grid_20260825/visuals/tsla_spy_atrp_low_pearson_heatmap.png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MEDIUM ATR-percent sessions reverse the long-forward portion of the TSLA map. This differs sharply from TSLA's own MEDIUM state, which held the earlier positive continuation island.</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HIGH ATR-percent does not reproduce the broad reversal seen under TSLA's own HIGH ATR-percent state. Most cells are mildly positive, with a small negative corner at the longest prior horizons.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runs/research_workbench/operator_hypothesis_lab/tsla_spy_atrp_conditioned_return_horizon_grid_20260825/visuals/tsla_spy_atrp_high_pearson_heatmap.png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direct contrast is LOW continuation versus MEDIUM reversal at 5 prior and 15 forward sessions. Three neighboring MEDIUM-minus-LOW interactions survive their 81-cell family correction, but no pairwise interaction survives the stricter 486-test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runs/research_workbench/operator_hypothesis_lab/tsla_spy_atrp_conditioned_return_horizon_grid_20260825/visuals/tsla_spy_atrp_medium_minus_low_pearson_heatmap.png</a:t>
            </a:r>
          </a:p>
          <a:p xmlns:a="http://schemas.openxmlformats.org/drawingml/2006/main">
            <a:r>
              <a:t>- runs/research_workbench/operator_hypothesis_lab/tsla_spy_atrp_conditioned_return_horizon_grid_20260825/pairwise_state_comparison_statistics.csv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External SPY conditioning is coherent enough to justify more descriptive cross-sectional brainstorming, but it does not confirm an edge. LOW is the most portable geometry; MEDIUM changes almost completely; HIGH keeps a related ordering while most signs shift.</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runs/research_workbench/operator_hypothesis_lab/tsla_spy_atrp_conditioned_return_horizon_grid_20260825/own_vs_external_atrp_map_summary.csv</a:t>
            </a:r>
          </a:p>
          <a:p xmlns:a="http://schemas.openxmlformats.org/drawingml/2006/main">
            <a:r>
              <a:t>- runs/research_workbench/operator_hypothesis_lab/tsla_spy_atrp_conditioned_return_horizon_grid_20260825/report.md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a:p xmlns:a="http://schemas.openxmlformats.org/drawingml/2006/main">
            <a:r>
              <a:t>Internal Gen5 comparison packet: runs/research_workbench/operator_hypothesis_lab/tsla_atrp_conditioned_return_horizon_grid_20260825/</a:t>
            </a:r>
          </a:p>
          <a:p xmlns:a="http://schemas.openxmlformats.org/drawingml/2006/main">
            <a:r>
              <a:t>Internal Gen5 comparison packet: runs/research_workbench/operator_hypothesis_lab/tsla_spy_atrp_conditioned_return_horizon_grid_20260825/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own-return baseline packet: runs/research_workbench/operator_hypothesis_lab/tsla_cumulative_return_horizon_grid_20260825/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comparison packet: runs/research_workbench/operator_hypothesis_lab/tsla_return_horizon_grid_20260824/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pooling negative and positive prior returns hides a branch-specific relationship with future TSLA return.</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is descriptive, not a trading signal. Keeping the signed scale preserves the distinction between a rebound slope and sign persistence.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runs/research_workbench/operator_hypothesis_lab/tsla_prior_return_sign_asymmetry_20260825/run_spec.csv</a:t>
            </a:r>
          </a:p>
          <a:p xmlns:a="http://schemas.openxmlformats.org/drawingml/2006/main">
            <a:r>
              <a:t>- runs/research_workbench/operator_hypothesis_lab/tsla_prior_return_sign_asymmetry_20260825/family_checks.csv</a:t>
            </a:r>
          </a:p>
          <a:p xmlns:a="http://schemas.openxmlformats.org/drawingml/2006/main">
            <a:r>
              <a:t>- runs/research_workbench/operator_hypothesis_lab/tsla_prior_return_sign_asymmetry_20260825/report.md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branch slopes downward: more severe prior losses are associated with stronger next-session rebound. This is not continuation and not a sign-based win-rate edge.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runs/research_workbench/operator_hypothesis_lab/tsla_prior_return_sign_asymmetry_20260825/one_by_one_branch_summary.csv</a:t>
            </a:r>
          </a:p>
          <a:p xmlns:a="http://schemas.openxmlformats.org/drawingml/2006/main">
            <a:r>
              <a:t>- runs/research_workbench/operator_hypothesis_lab/tsla_prior_return_sign_asymmetry_20260825/one_by_one_asymmetry_test.csv</a:t>
            </a:r>
          </a:p>
          <a:p xmlns:a="http://schemas.openxmlformats.org/drawingml/2006/main">
            <a:r>
              <a:t>- runs/research_workbench/operator_hypothesis_lab/tsla_prior_return_sign_asymmetry_20260825/visuals/tsla_one_by_one_prior_sign_split_scatter.png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81 direct slope-interaction tests pass BH. The 20-session cells are nested and should be read as one descriptive cluster, not three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runs/research_workbench/operator_hypothesis_lab/tsla_prior_return_sign_asymmetry_20260825/visuals/tsla_unfiltered_prior_sign_heatmaps.png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Positive-minus-negative does not subtract two realized returns. It compares the positive-branch slope with the negative-branch slope. In the current survivors, b− &lt; 0 and b+ is near zero, so loss severity contains information only after losses. A future long-only implementation would score loss severity inside X &lt; 0 and act only if the full conditional forecast clears drift, costs, and a safety margin. The intercept matters: slope asymmetry alone does not imply positive expectancy.</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operator_hypothesis_lab/docs/TSLA_PRIOR_RETURN_SIGN_ASYMMETRY_2018_2023.md</a:t>
            </a:r>
          </a:p>
          <a:p xmlns:a="http://schemas.openxmlformats.org/drawingml/2006/main">
            <a:r>
              <a:t>- Current Codex task, operator/assistant exchange dated 2026-08-26: ‘Positive minus negative as a kink detector.’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ER20 split produces different-looking surfaces but no multiplicity survivor. ER20 is also not independent of the predictor because both use trailing TSLA prices.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runs/research_workbench/operator_hypothesis_lab/tsla_prior_return_sign_asymmetry_20260825/er20_branch_statistics.csv</a:t>
            </a:r>
          </a:p>
          <a:p xmlns:a="http://schemas.openxmlformats.org/drawingml/2006/main">
            <a:r>
              <a:t>- runs/research_workbench/operator_hypothesis_lab/tsla_prior_return_sign_asymmetry_20260825/er20_asymmetry_tests.csv</a:t>
            </a:r>
          </a:p>
          <a:p xmlns:a="http://schemas.openxmlformats.org/drawingml/2006/main">
            <a:r>
              <a:t>- runs/research_workbench/operator_hypothesis_lab/tsla_prior_return_sign_asymmetry_20260825/visuals/tsla_er20_prior_sign_heatmaps.png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ATR percent identifies a high-volatility adjacent-session survivor and a low-volatility long-horizon cluster. The long-horizon negative branches are relatively small and need outlier and temporal-stability checks.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runs/research_workbench/operator_hypothesis_lab/tsla_prior_return_sign_asymmetry_20260825/atrp_branch_statistics.csv</a:t>
            </a:r>
          </a:p>
          <a:p xmlns:a="http://schemas.openxmlformats.org/drawingml/2006/main">
            <a:r>
              <a:t>- runs/research_workbench/operator_hypothesis_lab/tsla_prior_return_sign_asymmetry_20260825/atrp_asymmetry_tests.csv</a:t>
            </a:r>
          </a:p>
          <a:p xmlns:a="http://schemas.openxmlformats.org/drawingml/2006/main">
            <a:r>
              <a:t>- runs/research_workbench/operator_hypothesis_lab/tsla_prior_return_sign_asymmetry_20260825/visuals/tsla_atrp_prior_sign_heatmaps.png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earns a narrow confirmation step, not strategy construction. Freeze the surviving cells and inspect outlier dependence and temporal stability before reading economic meaning into them.</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runs/research_workbench/operator_hypothesis_lab/tsla_prior_return_sign_asymmetry_20260825/report.md</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completes the earlier direction-agnostic ER20 lens by retaining the sign of its net displacement. It measures state behavior only.</a:t>
            </a:r>
          </a:p>
          <a:p xmlns:a="http://schemas.openxmlformats.org/drawingml/2006/main">
            <a:r>
              <a:t/>
            </a:r>
          </a:p>
          <a:p xmlns:a="http://schemas.openxmlformats.org/drawingml/2006/main">
            <a:r>
              <a:t>[Sources]</a:t>
            </a:r>
          </a:p>
          <a:p xmlns:a="http://schemas.openxmlformats.org/drawingml/2006/main">
            <a:r>
              <a:t>- operator_hypothesis_lab/docs/TSLA_SIGNED_ER20_TREND_DIRECTION_2018_2023.md</a:t>
            </a:r>
          </a:p>
          <a:p xmlns:a="http://schemas.openxmlformats.org/drawingml/2006/main">
            <a:r>
              <a:t>- runs/research_workbench/operator_hypothesis_lab/tsla_signed_er20_trend_direction_20260826/run_spec.csv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is bounded from minus one to plus one. Sign supplies direction and magnitude supplies path efficiency. It is not independent of ER20 because its absolute value is ER20.</a:t>
            </a:r>
          </a:p>
          <a:p xmlns:a="http://schemas.openxmlformats.org/drawingml/2006/main">
            <a:r>
              <a:t/>
            </a:r>
          </a:p>
          <a:p xmlns:a="http://schemas.openxmlformats.org/drawingml/2006/main">
            <a:r>
              <a:t>[Sources]</a:t>
            </a:r>
          </a:p>
          <a:p xmlns:a="http://schemas.openxmlformats.org/drawingml/2006/main">
            <a:r>
              <a:t>- operator_hypothesis_lab/R/tsla_signed_er20_direction.R</a:t>
            </a:r>
          </a:p>
          <a:p xmlns:a="http://schemas.openxmlformats.org/drawingml/2006/main">
            <a:r>
              <a:t>- runs/research_workbench/operator_hypothesis_lab/tsla_signed_er20_trend_direction_20260826/run_spec.csv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neutral band absorbs every observed direction reversal, so no session jumps directly from up trend to down trend or vice versa. The chart also shows that down states are less prevalent and shorter than up states on this TSLA sample.</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runs/research_workbench/operator_hypothesis_lab/tsla_signed_er20_trend_direction_20260826/visuals/tsla_signed_er20_direction_bands.png</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state is adequate as a reusable descriptive baseline, but its brief down spans and one-session boundary states remain visible limitations. The next methodological step is to apply this unchanged state to the existing return surfaces; parameter and time-window selection remain deferred.</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runs/research_workbench/operator_hypothesis_lab/tsla_signed_er20_trend_direction_20260826/state_quality_summary.csv</a:t>
            </a:r>
          </a:p>
          <a:p xmlns:a="http://schemas.openxmlformats.org/drawingml/2006/main">
            <a:r>
              <a:t>- operator_hypothesis_lab/docs/TSLA_SIGNED_ER20_TREND_DIRECTION_2018_2023.md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applies the already-demonstrated signed ER20 state without changing its window or cutoff. It preserves the return grid and prior-sign split from the preceding sections.</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 means not estimable, not no effect. At prior horizon 20 the signed state and the prior-return sign share the exact numerator. Opposite-sign branch counts also fall below 30 at nearby horizons.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runs/research_workbench/operator_hypothesis_lab/tsla_signed_er20_conditioned_grid_20260826/run_spec.csv</a:t>
            </a:r>
          </a:p>
          <a:p xmlns:a="http://schemas.openxmlformats.org/drawingml/2006/main">
            <a:r>
              <a:t>- runs/research_workbench/operator_hypothesis_lab/tsla_signed_er20_conditioned_grid_20260826/sign_asymmetry_estimability_summary.csv</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operator_hypothesis_lab/docs/TSLA_SIGNED_ER20_CONDITIONED_RETURN_GEOMETRY_2018_2023.md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DOWN-state correlations mean deeper completed declines align with stronger subsequent rebounds. At p20/f20 the mean following return is positive 5.61% and the following return is positive 61.2% of the time; this is not downside continuation.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runs/research_workbench/operator_hypothesis_lab/tsla_signed_er20_conditioned_grid_20260826/visuals/tsla_signed_er20_state_pearson_heatmaps.png</a:t>
            </a:r>
          </a:p>
          <a:p xmlns:a="http://schemas.openxmlformats.org/drawingml/2006/main">
            <a:r>
              <a:t>- runs/research_workbench/operator_hypothesis_lab/tsla_signed_er20_conditioned_grid_20260826/state_grid_statistics.csv</a:t>
            </a:r>
          </a:p>
          <a:p xmlns:a="http://schemas.openxmlformats.org/drawingml/2006/main">
            <a:r>
              <a:t>- runs/research_workbench/operator_hypothesis_lab/tsla_signed_er20_conditioned_grid_20260826/state_family_bh_pass_summary.csv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DOWN-minus-SIDEWAYS has family-level survivors. The pairwise interaction model compares OLS slopes with overlap-aware HAC; the visible values are descriptive correlation deltas.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runs/research_workbench/operator_hypothesis_lab/tsla_signed_er20_conditioned_grid_20260826/visuals/tsla_signed_er20_state_difference_heatmaps.png</a:t>
            </a:r>
          </a:p>
          <a:p xmlns:a="http://schemas.openxmlformats.org/drawingml/2006/main">
            <a:r>
              <a:t>- runs/research_workbench/operator_hypothesis_lab/tsla_signed_er20_conditioned_grid_20260826/state_pair_comparison_statistics.csv</a:t>
            </a:r>
          </a:p>
          <a:p xmlns:a="http://schemas.openxmlformats.org/drawingml/2006/main">
            <a:r>
              <a:t>- runs/research_workbench/operator_hypothesis_lab/tsla_signed_er20_conditioned_grid_20260826/state_comparison_family_bh_pass_summary.csv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DOWN p5/f20, negative-prior Pearson is -0.341 and positive-prior Pearson is +0.471. Both branches have positive mean following returns; the interaction is a slope difference, not a realized-return spread.</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runs/research_workbench/operator_hypothesis_lab/tsla_signed_er20_conditioned_grid_20260826/sign_asymmetry_estimability_summary.csv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main selection-geometry safeguard. Red outlines mean fewer than 30 observations in the smaller sign branch. These cells are excluded from direct sign-interaction estimation and BH correction.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successful descriptive filter application. The unexpected result is rebound geometry inside trending-down paths, not continuation inside trending-up paths. The next gate is a frozen workflow template and predeclared asset transport, not parameter tuning.</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runs/research_workbench/operator_hypothesis_lab/tsla_signed_er20_conditioned_grid_20260826/global_bh_pass_summary.csv</a:t>
            </a:r>
          </a:p>
          <a:p xmlns:a="http://schemas.openxmlformats.org/drawingml/2006/main">
            <a:r>
              <a:t>- runs/research_workbench/operator_hypothesis_lab/tsla_signed_er20_conditioned_grid_20260826/grid_checks.csv</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answers the sequencing question by transporting the frozen TSLA microscope before adding 6–9-session horizons. The aim is morphology, not a strategy or performance claim.</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runs/research_workbench/operator_hypothesis_lab/own_asset_return_geometry_atlas_20260826/run_spec.csv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and inferential cells were fixed before examining cross-asset outcomes. Complete grids are descriptive; formal inference is limited to seven TSLA-discovered comparisons.</a:t>
            </a:r>
          </a:p>
          <a:p xmlns:a="http://schemas.openxmlformats.org/drawingml/2006/main">
            <a:r>
              <a:t/>
            </a:r>
          </a:p>
          <a:p xmlns:a="http://schemas.openxmlformats.org/drawingml/2006/main">
            <a:r>
              <a:t>[Sources]</a:t>
            </a:r>
          </a:p>
          <a:p xmlns:a="http://schemas.openxmlformats.org/drawingml/2006/main">
            <a:r>
              <a:t>- operator_hypothesis_lab/registries/own_asset_return_geometry_atlas.csv</a:t>
            </a:r>
          </a:p>
          <a:p xmlns:a="http://schemas.openxmlformats.org/drawingml/2006/main">
            <a:r>
              <a:t>- runs/research_workbench/operator_hypothesis_lab/own_asset_return_geometry_atlas_20260826/run_spec.csv</a:t>
            </a:r>
          </a:p>
          <a:p xmlns:a="http://schemas.openxmlformats.org/drawingml/2006/main">
            <a:r>
              <a:t>- runs/research_workbench/operator_hypothesis_lab/own_asset_return_geometry_atlas_20260826/atlas_checks.csv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direction of the TSLA finding repeats in 23 of 29 transport assets. This is breadth evidence for the morphology, not a trading rule.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runs/research_workbench/operator_hypothesis_lab/own_asset_return_geometry_atlas_20260826/visuals/signed_er20_down_p20_f20_asset_effects.png</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runs/research_workbench/operator_hypothesis_lab/own_asset_return_geometry_atlas_20260826/frozen_replication_inference.csv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cross-asset median surface shows a broad long-prior, long-following negative island. That argues against a cell-specific accident and points to the 15–25-session neighborhood if later refinement is authorized.</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runs/research_workbench/operator_hypothesis_lab/own_asset_return_geometry_atlas_20260826/visuals/signed_er20_down_equal_asset_median_heatmap.png</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effect is not confined to operator favorites or high-beta equities. All six behavior groups have negative median correlation at the frozen DOWN p20/f20 cell.</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runs/research_workbench/operator_hypothesis_lab/own_asset_return_geometry_atlas_20260826/visuals/frozen_replication_group_breadth.png</a:t>
            </a:r>
          </a:p>
          <a:p xmlns:a="http://schemas.openxmlformats.org/drawingml/2006/main">
            <a:r>
              <a:t>- runs/research_workbench/operator_hypothesis_lab/own_asset_return_geometry_atlas_20260826/frozen_replication_group_summary.csv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contact sheet is a morphology check. It shows recurring long-horizon rebound geometry without pretending every asset has the same map or effect size.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runs/research_workbench/operator_hypothesis_lab/own_asset_return_geometry_atlas_20260826/visuals/signed_er20_down_asset_heatmap_atlas.png</a:t>
            </a:r>
          </a:p>
          <a:p xmlns:a="http://schemas.openxmlformats.org/drawingml/2006/main">
            <a:r>
              <a:t>- runs/research_workbench/operator_hypothesis_lab/own_asset_return_geometry_atlas_20260826/asset_state_grid_cells.csv</a:t>
            </a:r>
          </a:p>
          <a:p xmlns:a="http://schemas.openxmlformats.org/drawingml/2006/main">
            <a:r>
              <a:t>- runs/research_workbench/operator_hypothesis_lab/own_asset_return_geometry_atlas_20260826/asset_map_similarity_to_tsla.csv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separates the robust descriptive shape from the TSLA-local wrinkle. The DOWN-state long-horizon rebound transports; the unfiltered 1x1 sign kink does not.</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runs/research_workbench/operator_hypothesis_lab/own_asset_return_geometry_atlas_20260826/frozen_replication_group_summary.csv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 strengthens the case that the morphology is real in-sample, but it does not resolve shared-path conditioning, same-date dependence, later-time stability, or realizable returns.</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runs/research_workbench/operator_hypothesis_lab/own_asset_return_geometry_atlas_20260826/report.md</a:t>
            </a:r>
          </a:p>
          <a:p xmlns:a="http://schemas.openxmlformats.org/drawingml/2006/main">
            <a:r>
              <a:t>- runs/research_workbench/operator_hypothesis_lab/own_asset_return_geometry_atlas_20260826/tsla_parity_checks.csv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gives no special reason to add 6–9-session horizons. If the operator opens refinement, the evidence-backed target is the broad 15–25-session neighborhood, ideally with a frozen later-time increment before strategy work.</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atlas can be read as a behavioral microscope. Prior-return sign and the within-branch slope define four archetypes, while the existing state filters change which archetype is most prevalent.</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grammar prevents the investigation from repeatedly renaming whichever cell looks interesting. A positive slope means continuation within that sign branch; a negative slope means reversal within that branch.</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runs/research_workbench/operator_hypothesis_lab/return_geometry_behavior_catalog_20260826/visuals/behavior_archetype_grammar.png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supported cell requires at least 20 estimable assets and at least 60 percent same-sign breadth. These are post-hoc display rules for cataloging the inspected atlas, not inferential thresholds.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runs/research_workbench/operator_hypothesis_lab/return_geometry_behavior_catalog_20260826/visuals/behavior_state_catalog.png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classical momentum-like branch is visible, but not where a simple trending-up intuition would put it. It clusters most strongly in path-sideways observations and more modestly in low ATR percent; the signed-up state instead leans toward gain exhaustion.</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runs/research_workbench/operator_hypothesis_lab/return_geometry_behavior_catalog_20260826/visuals/gain_continuation_state_heatmaps.png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atlas-wide catalog dims the spotlight on one TSLA-discovered cell. Loss rebound is a broad family of geometry across several states, although signed-down maps retain structural blanks where conditioning and prior sign cannot coexist.</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runs/research_workbench/operator_hypothesis_lab/return_geometry_behavior_catalog_20260826/visuals/loss_rebound_state_heatmaps.png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Information diffusion, extension, overshoot, liquidity relief, volatility normalization, and forced deleveraging are candidate mechanisms only. Shared-path selection, overlap, drift, and common shocks remain competing explanations.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runs/research_workbench/operator_hypothesis_lab/return_geometry_behavior_catalog_20260826/visuals/behavior_mechanism_theses.png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catalog is a naming and discrimination layer. It earns clearer hypothesis generation, not a strategy. Any next confirmation should predeclare one archetype, one state, and one horizon neighborhood rather than search the complete atlas again.</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runs/research_workbench/operator_hypothesis_lab/return_geometry_behavior_catalog_20260826/behavior_catalog_state_summary.csv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coarse atlas earned one finer descriptive slice. The question is topological: bounded island, exact-window artifact, or broad open surface. The slice does not search for a tradable parameter.</a:t>
            </a:r>
          </a:p>
          <a:p xmlns:a="http://schemas.openxmlformats.org/drawingml/2006/main">
            <a:r>
              <a:t/>
            </a:r>
          </a:p>
          <a:p xmlns:a="http://schemas.openxmlformats.org/drawingml/2006/main">
            <a:r>
              <a:t>[Sources]</a:t>
            </a:r>
          </a:p>
          <a:p xmlns:a="http://schemas.openxmlformats.org/drawingml/2006/main">
            <a:r>
              <a:t>- operator_hypothesis_lab/docs/OWN_ASSET_RETURN_GEOMETRY_REBOUND_TOPOLOGY_2018_2023.md</a:t>
            </a:r>
          </a:p>
          <a:p xmlns:a="http://schemas.openxmlformats.org/drawingml/2006/main">
            <a:r>
              <a:t>- runs/research_workbench/operator_hypothesis_lab/return_geometry_rebound_topology_20260827/run_spec.csv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the horizon resolution changes. The primary state and two comparators were declared before the surface was interpreted, and the old coarse cells serve as an exact parity check.</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runs/research_workbench/operator_hypothesis_lab/return_geometry_rebound_topology_20260827/run_spec.csv</a:t>
            </a:r>
          </a:p>
          <a:p xmlns:a="http://schemas.openxmlformats.org/drawingml/2006/main">
            <a:r>
              <a:t>- runs/research_workbench/operator_hypothesis_lab/return_geometry_rebound_topology_20260827/topology_checks.csv</a:t>
            </a:r>
          </a:p>
          <a:p xmlns:a="http://schemas.openxmlformats.org/drawingml/2006/main">
            <a:r>
              <a:t>- operator_hypothesis_lab/registries/own_asset_return_geometry_atlas.csv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Black outlines mark the predeclared strong-cell rule. The signed-down component spans 414 cells and touches every edge of the inspected 10–30 grid.</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runs/research_workbench/operator_hypothesis_lab/return_geometry_rebound_topology_20260827/visuals/fine_grid_equal_asset_median_surfaces.png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Cross-asset breadth is the guard against a single-name color patch. It does not turn common calendar observations into independent evidence.</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runs/research_workbench/operator_hypothesis_lab/return_geometry_rebound_topology_20260827/visuals/fine_grid_cross_asset_breadth_surfaces.png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signed-down prior-20 row median differs from adjacent rows by only -0.0036; its following-20 column differs from adjacent columns by -0.0099. That reduces, but does not eliminate, shared-path coupling concern.</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runs/research_workbench/operator_hypothesis_lab/return_geometry_rebound_topology_20260827/visuals/p20_topology_cross_sections.png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group maps preserve identity rather than pooling everything into one result. Five assets per group are enough to show heterogeneity, not to estimate an asset-class population.</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runs/research_workbench/operator_hypothesis_lab/return_geometry_rebound_topology_20260827/visuals/signed_down_behavior_group_surfaces.png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largest strong component touches the grid boundary. The correct label is open plateau or ridge; 20→26 and 18→24 are descriptive extrema, not selected parameters.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runs/research_workbench/operator_hypothesis_lab/return_geometry_rebound_topology_20260827/visuals/topology_coverage_summary.png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fine grid answers the approved question: the transported rebound is a broad open surface rather than an exact-window island. The current 30 assets are sufficient for that diagnosis, but not for population-level asset-class claims. No later data, horizon extension, breadth expansion, or rule is opened here.</a:t>
            </a:r>
          </a:p>
          <a:p xmlns:a="http://schemas.openxmlformats.org/drawingml/2006/main">
            <a:r>
              <a:t/>
            </a:r>
          </a:p>
          <a:p xmlns:a="http://schemas.openxmlformats.org/drawingml/2006/main">
            <a:r>
              <a:t>[Sources]</a:t>
            </a:r>
          </a:p>
          <a:p xmlns:a="http://schemas.openxmlformats.org/drawingml/2006/main">
            <a:r>
              <a:t>- operator_hypothesis_lab/docs/OWN_ASSET_RETURN_GEOMETRY_REBOUND_TOPOLOGY_2018_2023.md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7f3c23ac0f4e4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3e9a24fb4247ea" /><Relationship Type="http://schemas.openxmlformats.org/officeDocument/2006/relationships/slideLayout" Target="/ppt/slideLayouts/slideLayout1.xml" Id="Rf007dae6c04942e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007dae6c04942e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e003260dde9494e" /><Relationship Type="http://schemas.openxmlformats.org/officeDocument/2006/relationships/notesSlide" Target="/ppt/notesSlides/notesSlide1.xml" Id="R21e7454574de48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95e8cd068f04429" /><Relationship Type="http://schemas.openxmlformats.org/officeDocument/2006/relationships/notesSlide" Target="/ppt/notesSlides/notesSlide2.xml" Id="Re220987a8a764b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2ffd11078fb43b0" /><Relationship Type="http://schemas.openxmlformats.org/officeDocument/2006/relationships/notesSlide" Target="/ppt/notesSlides/notesSlide3.xml" Id="Ra742109ae3c7433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e15a6b66cfa4794" /><Relationship Type="http://schemas.openxmlformats.org/officeDocument/2006/relationships/image" Target="/ppt/media/image.png" Id="R02f6346d6acb4f1e" /><Relationship Type="http://schemas.openxmlformats.org/officeDocument/2006/relationships/notesSlide" Target="/ppt/notesSlides/notesSlide4.xml" Id="R1241119d702d4a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9f41bec54074110" /><Relationship Type="http://schemas.openxmlformats.org/officeDocument/2006/relationships/image" Target="/ppt/media/image2.png" Id="R3f27e5a93778419c" /><Relationship Type="http://schemas.openxmlformats.org/officeDocument/2006/relationships/notesSlide" Target="/ppt/notesSlides/notesSlide5.xml" Id="Rbede1adafb3e42d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31b074893904c94" /><Relationship Type="http://schemas.openxmlformats.org/officeDocument/2006/relationships/notesSlide" Target="/ppt/notesSlides/notesSlide6.xml" Id="R718caeb67023415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cb7c9777edb4d76" /><Relationship Type="http://schemas.openxmlformats.org/officeDocument/2006/relationships/image" Target="/ppt/media/image3.png" Id="Rce8f6145ae494f54" /><Relationship Type="http://schemas.openxmlformats.org/officeDocument/2006/relationships/notesSlide" Target="/ppt/notesSlides/notesSlide7.xml" Id="Rb0afbc94c82b457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da6fa94557540c6" /><Relationship Type="http://schemas.openxmlformats.org/officeDocument/2006/relationships/image" Target="/ppt/media/image4.png" Id="Re3e8c3eba5d34c44" /><Relationship Type="http://schemas.openxmlformats.org/officeDocument/2006/relationships/notesSlide" Target="/ppt/notesSlides/notesSlide8.xml" Id="Rba261f0cceb84a7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3446bbf9596434b" /><Relationship Type="http://schemas.openxmlformats.org/officeDocument/2006/relationships/image" Target="/ppt/media/image5.png" Id="R2c726a42e3014656" /><Relationship Type="http://schemas.openxmlformats.org/officeDocument/2006/relationships/notesSlide" Target="/ppt/notesSlides/notesSlide9.xml" Id="R155399bf8e424d4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a63679adcd14d87" /><Relationship Type="http://schemas.openxmlformats.org/officeDocument/2006/relationships/image" Target="/ppt/media/image6.png" Id="R868f4bc86d5245f9" /><Relationship Type="http://schemas.openxmlformats.org/officeDocument/2006/relationships/notesSlide" Target="/ppt/notesSlides/notesSlide10.xml" Id="R801378a9645a414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d052988f25442d6" /><Relationship Type="http://schemas.openxmlformats.org/officeDocument/2006/relationships/notesSlide" Target="/ppt/notesSlides/notesSlide11.xml" Id="R20c7885d6c30434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5bd0aa15448481f" /><Relationship Type="http://schemas.openxmlformats.org/officeDocument/2006/relationships/notesSlide" Target="/ppt/notesSlides/notesSlide12.xml" Id="Raef61cbdf8164e7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5d0040cde184679" /><Relationship Type="http://schemas.openxmlformats.org/officeDocument/2006/relationships/notesSlide" Target="/ppt/notesSlides/notesSlide13.xml" Id="Raa0427037382470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46462a434604327" /><Relationship Type="http://schemas.openxmlformats.org/officeDocument/2006/relationships/image" Target="/ppt/media/image7.png" Id="Rc7a870343d5a41d5" /><Relationship Type="http://schemas.openxmlformats.org/officeDocument/2006/relationships/notesSlide" Target="/ppt/notesSlides/notesSlide14.xml" Id="Re077082ea69e4b6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a5276a0c2c346f8" /><Relationship Type="http://schemas.openxmlformats.org/officeDocument/2006/relationships/image" Target="/ppt/media/image8.png" Id="Rd0ae1f559e30475b" /><Relationship Type="http://schemas.openxmlformats.org/officeDocument/2006/relationships/notesSlide" Target="/ppt/notesSlides/notesSlide15.xml" Id="Rb216216fe08347e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9f771d224f4427c" /><Relationship Type="http://schemas.openxmlformats.org/officeDocument/2006/relationships/image" Target="/ppt/media/image9.png" Id="Rc0ae09cb4f0a4582" /><Relationship Type="http://schemas.openxmlformats.org/officeDocument/2006/relationships/notesSlide" Target="/ppt/notesSlides/notesSlide16.xml" Id="R36ca8778b01f4a0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d85b183927544a6" /><Relationship Type="http://schemas.openxmlformats.org/officeDocument/2006/relationships/notesSlide" Target="/ppt/notesSlides/notesSlide17.xml" Id="R76a37ca47a6f49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27e50cef8554e20" /><Relationship Type="http://schemas.openxmlformats.org/officeDocument/2006/relationships/notesSlide" Target="/ppt/notesSlides/notesSlide18.xml" Id="R862b69025a4d408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a3173a37a404163" /><Relationship Type="http://schemas.openxmlformats.org/officeDocument/2006/relationships/notesSlide" Target="/ppt/notesSlides/notesSlide19.xml" Id="R67dd7a31594a432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07989ee1e4e4b07" /><Relationship Type="http://schemas.openxmlformats.org/officeDocument/2006/relationships/image" Target="/ppt/media/image10.png" Id="R1237bd187696445a" /><Relationship Type="http://schemas.openxmlformats.org/officeDocument/2006/relationships/notesSlide" Target="/ppt/notesSlides/notesSlide20.xml" Id="R57bd31dc366c494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a76b4793fc7461b" /><Relationship Type="http://schemas.openxmlformats.org/officeDocument/2006/relationships/image" Target="/ppt/media/image11.png" Id="R74b3d38bbf244ee3" /><Relationship Type="http://schemas.openxmlformats.org/officeDocument/2006/relationships/notesSlide" Target="/ppt/notesSlides/notesSlide21.xml" Id="R8f9fc1f3c0be42e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09b8ce41c584fb2" /><Relationship Type="http://schemas.openxmlformats.org/officeDocument/2006/relationships/image" Target="/ppt/media/image12.png" Id="R7ef69802c0b14739" /><Relationship Type="http://schemas.openxmlformats.org/officeDocument/2006/relationships/notesSlide" Target="/ppt/notesSlides/notesSlide22.xml" Id="R882ca026b3a24f7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eff635d71574b99" /><Relationship Type="http://schemas.openxmlformats.org/officeDocument/2006/relationships/notesSlide" Target="/ppt/notesSlides/notesSlide23.xml" Id="Rf6513aa598ea45f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bcbf4e6fada48c7" /><Relationship Type="http://schemas.openxmlformats.org/officeDocument/2006/relationships/notesSlide" Target="/ppt/notesSlides/notesSlide24.xml" Id="Rff8e023afe9c45b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10109725cd64cb4" /><Relationship Type="http://schemas.openxmlformats.org/officeDocument/2006/relationships/notesSlide" Target="/ppt/notesSlides/notesSlide25.xml" Id="Rfde7c027d2ff46d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cade2ba03054d4b" /><Relationship Type="http://schemas.openxmlformats.org/officeDocument/2006/relationships/image" Target="/ppt/media/image13.png" Id="R84ee9ce5153e4472" /><Relationship Type="http://schemas.openxmlformats.org/officeDocument/2006/relationships/notesSlide" Target="/ppt/notesSlides/notesSlide26.xml" Id="R46c41c8293f2449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477c2d5072b4cd1" /><Relationship Type="http://schemas.openxmlformats.org/officeDocument/2006/relationships/image" Target="/ppt/media/image14.png" Id="Rb9fa7e0cd0b942b0" /><Relationship Type="http://schemas.openxmlformats.org/officeDocument/2006/relationships/notesSlide" Target="/ppt/notesSlides/notesSlide27.xml" Id="Rf378db30aefe4c2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8e7f979786f4c88" /><Relationship Type="http://schemas.openxmlformats.org/officeDocument/2006/relationships/image" Target="/ppt/media/image15.png" Id="R23d8a177e196428e" /><Relationship Type="http://schemas.openxmlformats.org/officeDocument/2006/relationships/notesSlide" Target="/ppt/notesSlides/notesSlide28.xml" Id="R74560bd2778344b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0eb12e7d0594f3e" /><Relationship Type="http://schemas.openxmlformats.org/officeDocument/2006/relationships/image" Target="/ppt/media/image16.png" Id="R092644ff9c0a4383" /><Relationship Type="http://schemas.openxmlformats.org/officeDocument/2006/relationships/notesSlide" Target="/ppt/notesSlides/notesSlide29.xml" Id="Rebf5f388ab97406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8ebe328be694920" /><Relationship Type="http://schemas.openxmlformats.org/officeDocument/2006/relationships/image" Target="/ppt/media/image17.png" Id="R0d69dda73f6b4fd1" /><Relationship Type="http://schemas.openxmlformats.org/officeDocument/2006/relationships/notesSlide" Target="/ppt/notesSlides/notesSlide30.xml" Id="Rb6975e5d9af94c1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89d048e0a4a446fa" /><Relationship Type="http://schemas.openxmlformats.org/officeDocument/2006/relationships/notesSlide" Target="/ppt/notesSlides/notesSlide31.xml" Id="R7fc6d45ae29649f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11339df7daf4f7e" /><Relationship Type="http://schemas.openxmlformats.org/officeDocument/2006/relationships/notesSlide" Target="/ppt/notesSlides/notesSlide32.xml" Id="Rfdcc80f58b35498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c66a81644db4be4" /><Relationship Type="http://schemas.openxmlformats.org/officeDocument/2006/relationships/notesSlide" Target="/ppt/notesSlides/notesSlide33.xml" Id="R3e914f396e724d8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a1cf52a8623496a" /><Relationship Type="http://schemas.openxmlformats.org/officeDocument/2006/relationships/image" Target="/ppt/media/image18.png" Id="Rfad0c6773eb24033" /><Relationship Type="http://schemas.openxmlformats.org/officeDocument/2006/relationships/image" Target="/ppt/media/image19.png" Id="R1df70769f7af4264" /><Relationship Type="http://schemas.openxmlformats.org/officeDocument/2006/relationships/notesSlide" Target="/ppt/notesSlides/notesSlide34.xml" Id="R4bb0f1334e8c43b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569e0f204a984a32" /><Relationship Type="http://schemas.openxmlformats.org/officeDocument/2006/relationships/image" Target="/ppt/media/image20.png" Id="Rdbf37c3d554b4af2" /><Relationship Type="http://schemas.openxmlformats.org/officeDocument/2006/relationships/image" Target="/ppt/media/image21.png" Id="R49f671ae375d4e21" /><Relationship Type="http://schemas.openxmlformats.org/officeDocument/2006/relationships/notesSlide" Target="/ppt/notesSlides/notesSlide35.xml" Id="R1ca993ffa52347f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e97487b01c294598" /><Relationship Type="http://schemas.openxmlformats.org/officeDocument/2006/relationships/image" Target="/ppt/media/image22.png" Id="R5997e507937b477a" /><Relationship Type="http://schemas.openxmlformats.org/officeDocument/2006/relationships/image" Target="/ppt/media/image23.png" Id="R0786c221412842b7" /><Relationship Type="http://schemas.openxmlformats.org/officeDocument/2006/relationships/notesSlide" Target="/ppt/notesSlides/notesSlide36.xml" Id="Rf7b8960ed82640b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b7ccffcc0b684bd0" /><Relationship Type="http://schemas.openxmlformats.org/officeDocument/2006/relationships/image" Target="/ppt/media/image24.png" Id="Rcfa99e27c6314b8f" /><Relationship Type="http://schemas.openxmlformats.org/officeDocument/2006/relationships/image" Target="/ppt/media/image25.png" Id="R653e811a08bf445f" /><Relationship Type="http://schemas.openxmlformats.org/officeDocument/2006/relationships/notesSlide" Target="/ppt/notesSlides/notesSlide37.xml" Id="R6739367c732f431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66d78f19d9644764" /><Relationship Type="http://schemas.openxmlformats.org/officeDocument/2006/relationships/image" Target="/ppt/media/image26.png" Id="R35ed67ad186b4ad2" /><Relationship Type="http://schemas.openxmlformats.org/officeDocument/2006/relationships/image" Target="/ppt/media/image27.png" Id="R04ec7f9bed154dbc" /><Relationship Type="http://schemas.openxmlformats.org/officeDocument/2006/relationships/notesSlide" Target="/ppt/notesSlides/notesSlide38.xml" Id="Rd92ff47196674a7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bd166f70d3a4165" /><Relationship Type="http://schemas.openxmlformats.org/officeDocument/2006/relationships/notesSlide" Target="/ppt/notesSlides/notesSlide39.xml" Id="R2c85df7d20cd4e9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1c321d3aa96b413f" /><Relationship Type="http://schemas.openxmlformats.org/officeDocument/2006/relationships/notesSlide" Target="/ppt/notesSlides/notesSlide40.xml" Id="R801e5181bf934db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31779633054449f" /><Relationship Type="http://schemas.openxmlformats.org/officeDocument/2006/relationships/notesSlide" Target="/ppt/notesSlides/notesSlide41.xml" Id="Rcbc5db09c9e74de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9103b6e41f74995" /><Relationship Type="http://schemas.openxmlformats.org/officeDocument/2006/relationships/image" Target="/ppt/media/image18.png" Id="R43e2ac4969ee4597" /><Relationship Type="http://schemas.openxmlformats.org/officeDocument/2006/relationships/image" Target="/ppt/media/image28.png" Id="Re53b086be7b8430e" /><Relationship Type="http://schemas.openxmlformats.org/officeDocument/2006/relationships/notesSlide" Target="/ppt/notesSlides/notesSlide42.xml" Id="R33ecd04272e2480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f37876d2ee574874" /><Relationship Type="http://schemas.openxmlformats.org/officeDocument/2006/relationships/image" Target="/ppt/media/image20.png" Id="R351eb114bf6d40db" /><Relationship Type="http://schemas.openxmlformats.org/officeDocument/2006/relationships/image" Target="/ppt/media/image29.png" Id="R59f620f086fb4b1d" /><Relationship Type="http://schemas.openxmlformats.org/officeDocument/2006/relationships/notesSlide" Target="/ppt/notesSlides/notesSlide43.xml" Id="R39ecbce0d8bf459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c07a38bb9f854cbb" /><Relationship Type="http://schemas.openxmlformats.org/officeDocument/2006/relationships/image" Target="/ppt/media/image22.png" Id="R54fe00df51084a32" /><Relationship Type="http://schemas.openxmlformats.org/officeDocument/2006/relationships/image" Target="/ppt/media/image30.png" Id="Rd136867d69a143d2" /><Relationship Type="http://schemas.openxmlformats.org/officeDocument/2006/relationships/notesSlide" Target="/ppt/notesSlides/notesSlide44.xml" Id="R6c497c01ebdd460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14ec2a1f6d24116" /><Relationship Type="http://schemas.openxmlformats.org/officeDocument/2006/relationships/image" Target="/ppt/media/image24.png" Id="R57ec4784a10d4455" /><Relationship Type="http://schemas.openxmlformats.org/officeDocument/2006/relationships/image" Target="/ppt/media/image31.png" Id="R395ce924b1e34db6" /><Relationship Type="http://schemas.openxmlformats.org/officeDocument/2006/relationships/notesSlide" Target="/ppt/notesSlides/notesSlide45.xml" Id="Re4ca962a377b4ef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8d9d4d611bee4259" /><Relationship Type="http://schemas.openxmlformats.org/officeDocument/2006/relationships/image" Target="/ppt/media/image26.png" Id="Rab0dc10c1e78403c" /><Relationship Type="http://schemas.openxmlformats.org/officeDocument/2006/relationships/image" Target="/ppt/media/image32.png" Id="Rd600eb9def564b0d" /><Relationship Type="http://schemas.openxmlformats.org/officeDocument/2006/relationships/notesSlide" Target="/ppt/notesSlides/notesSlide46.xml" Id="R3d6872ce2131431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dc61868c7d8f4884" /><Relationship Type="http://schemas.openxmlformats.org/officeDocument/2006/relationships/notesSlide" Target="/ppt/notesSlides/notesSlide47.xml" Id="Rb21fd2bcb32848f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d931e10fed364daa" /><Relationship Type="http://schemas.openxmlformats.org/officeDocument/2006/relationships/notesSlide" Target="/ppt/notesSlides/notesSlide48.xml" Id="Rfff6994cc17440f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1abc37c4b6949c0" /><Relationship Type="http://schemas.openxmlformats.org/officeDocument/2006/relationships/notesSlide" Target="/ppt/notesSlides/notesSlide49.xml" Id="R11005b930047479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1c2f1ace3cb548ff" /><Relationship Type="http://schemas.openxmlformats.org/officeDocument/2006/relationships/image" Target="/ppt/media/image20.png" Id="R5606427e80034204" /><Relationship Type="http://schemas.openxmlformats.org/officeDocument/2006/relationships/image" Target="/ppt/media/image33.png" Id="R8bbbba8790b641a4" /><Relationship Type="http://schemas.openxmlformats.org/officeDocument/2006/relationships/notesSlide" Target="/ppt/notesSlides/notesSlide50.xml" Id="R70f5c37508524db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859a5fd262b4871" /><Relationship Type="http://schemas.openxmlformats.org/officeDocument/2006/relationships/image" Target="/ppt/media/image20.png" Id="R277c750fea58451f" /><Relationship Type="http://schemas.openxmlformats.org/officeDocument/2006/relationships/image" Target="/ppt/media/image34.png" Id="R4deb045077414a2d" /><Relationship Type="http://schemas.openxmlformats.org/officeDocument/2006/relationships/notesSlide" Target="/ppt/notesSlides/notesSlide51.xml" Id="R6fafa943ea7e4f5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f0f7e49927ec4b35" /><Relationship Type="http://schemas.openxmlformats.org/officeDocument/2006/relationships/image" Target="/ppt/media/image26.png" Id="Rb6f6e279d09d4e97" /><Relationship Type="http://schemas.openxmlformats.org/officeDocument/2006/relationships/image" Target="/ppt/media/image35.png" Id="Re40db291dd6f434d" /><Relationship Type="http://schemas.openxmlformats.org/officeDocument/2006/relationships/notesSlide" Target="/ppt/notesSlides/notesSlide52.xml" Id="R5754f41d0588465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e873e4f16ee74e45" /><Relationship Type="http://schemas.openxmlformats.org/officeDocument/2006/relationships/image" Target="/ppt/media/image7.png" Id="Rcfc4d56765df4ed3" /><Relationship Type="http://schemas.openxmlformats.org/officeDocument/2006/relationships/image" Target="/ppt/media/image36.png" Id="Rc335c0fe338b4e00" /><Relationship Type="http://schemas.openxmlformats.org/officeDocument/2006/relationships/notesSlide" Target="/ppt/notesSlides/notesSlide53.xml" Id="R45386810549345f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c8c4e73f8d444947" /><Relationship Type="http://schemas.openxmlformats.org/officeDocument/2006/relationships/notesSlide" Target="/ppt/notesSlides/notesSlide54.xml" Id="R2cc7764aa1cd42a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38d2f4632cc4cf6" /><Relationship Type="http://schemas.openxmlformats.org/officeDocument/2006/relationships/notesSlide" Target="/ppt/notesSlides/notesSlide55.xml" Id="R7fd724ac61634eb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c801b6a16fa24fb3" /><Relationship Type="http://schemas.openxmlformats.org/officeDocument/2006/relationships/notesSlide" Target="/ppt/notesSlides/notesSlide56.xml" Id="R450f7361209c48c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7863cc6eca7243ab" /><Relationship Type="http://schemas.openxmlformats.org/officeDocument/2006/relationships/image" Target="/ppt/media/image37.png" Id="R05c40c145e814512" /><Relationship Type="http://schemas.openxmlformats.org/officeDocument/2006/relationships/image" Target="/ppt/media/image38.png" Id="R2fa4d709704545d7" /><Relationship Type="http://schemas.openxmlformats.org/officeDocument/2006/relationships/notesSlide" Target="/ppt/notesSlides/notesSlide57.xml" Id="Refd2a51ec56849c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d863fdf34f264cac" /><Relationship Type="http://schemas.openxmlformats.org/officeDocument/2006/relationships/image" Target="/ppt/media/image7.png" Id="R204d4b69846e4a0b" /><Relationship Type="http://schemas.openxmlformats.org/officeDocument/2006/relationships/image" Target="/ppt/media/image39.png" Id="R555921a5667f47b6" /><Relationship Type="http://schemas.openxmlformats.org/officeDocument/2006/relationships/notesSlide" Target="/ppt/notesSlides/notesSlide58.xml" Id="Rb3aaac73a62846a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9b613162f5a46fb" /><Relationship Type="http://schemas.openxmlformats.org/officeDocument/2006/relationships/notesSlide" Target="/ppt/notesSlides/notesSlide59.xml" Id="R8baef6fb00574db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62c6fa66f4654fdb" /><Relationship Type="http://schemas.openxmlformats.org/officeDocument/2006/relationships/image" Target="/ppt/media/image40.png" Id="Rc8f3b2d82b4a4ddd" /><Relationship Type="http://schemas.openxmlformats.org/officeDocument/2006/relationships/image" Target="/ppt/media/image41.png" Id="R667ff313212143b5" /><Relationship Type="http://schemas.openxmlformats.org/officeDocument/2006/relationships/notesSlide" Target="/ppt/notesSlides/notesSlide60.xml" Id="Rbbdbed9979384f09"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2b2a2a25a90d47ef" /><Relationship Type="http://schemas.openxmlformats.org/officeDocument/2006/relationships/image" Target="/ppt/media/image42.png" Id="Rd80eb43aaaed4e18" /><Relationship Type="http://schemas.openxmlformats.org/officeDocument/2006/relationships/image" Target="/ppt/media/image43.png" Id="R5539580216bd4bf1" /><Relationship Type="http://schemas.openxmlformats.org/officeDocument/2006/relationships/notesSlide" Target="/ppt/notesSlides/notesSlide61.xml" Id="R94b5c2182fcb40ec"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d59d310119fe42ab" /><Relationship Type="http://schemas.openxmlformats.org/officeDocument/2006/relationships/notesSlide" Target="/ppt/notesSlides/notesSlide62.xml" Id="Rf8b311204da648a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641fb25f9a1d4c41" /><Relationship Type="http://schemas.openxmlformats.org/officeDocument/2006/relationships/notesSlide" Target="/ppt/notesSlides/notesSlide63.xml" Id="Rd2d753237ce64902"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3b51e73b5ef14df0" /><Relationship Type="http://schemas.openxmlformats.org/officeDocument/2006/relationships/notesSlide" Target="/ppt/notesSlides/notesSlide64.xml" Id="R120a464841e640c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71b248fde7641bb" /><Relationship Type="http://schemas.openxmlformats.org/officeDocument/2006/relationships/image" Target="/ppt/media/image44.png" Id="R27873e36d83d48ad" /><Relationship Type="http://schemas.openxmlformats.org/officeDocument/2006/relationships/notesSlide" Target="/ppt/notesSlides/notesSlide65.xml" Id="R5a4c0cffece44e13"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e4daa47b5dcc409c" /><Relationship Type="http://schemas.openxmlformats.org/officeDocument/2006/relationships/notesSlide" Target="/ppt/notesSlides/notesSlide66.xml" Id="R41613ae3d3c14fc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23749f4b7d2c459a" /><Relationship Type="http://schemas.openxmlformats.org/officeDocument/2006/relationships/notesSlide" Target="/ppt/notesSlides/notesSlide67.xml" Id="R55df3b197229433c"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7fe7d0d664ac46a8" /><Relationship Type="http://schemas.openxmlformats.org/officeDocument/2006/relationships/notesSlide" Target="/ppt/notesSlides/notesSlide68.xml" Id="R54f7397be6b1444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8502b49194794cd8" /><Relationship Type="http://schemas.openxmlformats.org/officeDocument/2006/relationships/image" Target="/ppt/media/image45.png" Id="R05a4fcaf11fe47a2" /><Relationship Type="http://schemas.openxmlformats.org/officeDocument/2006/relationships/notesSlide" Target="/ppt/notesSlides/notesSlide69.xml" Id="R210670bfa8e240b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0d4fb904314a4105" /><Relationship Type="http://schemas.openxmlformats.org/officeDocument/2006/relationships/image" Target="/ppt/media/image46.png" Id="R077a1d2663cc43b8" /><Relationship Type="http://schemas.openxmlformats.org/officeDocument/2006/relationships/notesSlide" Target="/ppt/notesSlides/notesSlide70.xml" Id="Rc199c834016a4d7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49ce266b2bad4762" /><Relationship Type="http://schemas.openxmlformats.org/officeDocument/2006/relationships/image" Target="/ppt/media/image47.png" Id="R56c90c8989d94c48" /><Relationship Type="http://schemas.openxmlformats.org/officeDocument/2006/relationships/notesSlide" Target="/ppt/notesSlides/notesSlide71.xml" Id="R0adc30feff384b4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a9159a4e3bab4046" /><Relationship Type="http://schemas.openxmlformats.org/officeDocument/2006/relationships/image" Target="/ppt/media/image48.png" Id="R43c0942381f94c09" /><Relationship Type="http://schemas.openxmlformats.org/officeDocument/2006/relationships/notesSlide" Target="/ppt/notesSlides/notesSlide72.xml" Id="Rd17ae28bd289435c"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6a7a8138855f4e76" /><Relationship Type="http://schemas.openxmlformats.org/officeDocument/2006/relationships/notesSlide" Target="/ppt/notesSlides/notesSlide73.xml" Id="R963026e88c71432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49971fa9f9e84566" /><Relationship Type="http://schemas.openxmlformats.org/officeDocument/2006/relationships/notesSlide" Target="/ppt/notesSlides/notesSlide74.xml" Id="Rdca62cfabb474e8e"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ee6f5f4482eb4e17" /><Relationship Type="http://schemas.openxmlformats.org/officeDocument/2006/relationships/notesSlide" Target="/ppt/notesSlides/notesSlide75.xml" Id="Rf35369aa0afa4f28"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f33c5f4f03d743ba" /><Relationship Type="http://schemas.openxmlformats.org/officeDocument/2006/relationships/image" Target="/ppt/media/image49.png" Id="R0d482a6370bc4b11" /><Relationship Type="http://schemas.openxmlformats.org/officeDocument/2006/relationships/notesSlide" Target="/ppt/notesSlides/notesSlide76.xml" Id="R86bb9e9b25064d0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ac554038442d45fe" /><Relationship Type="http://schemas.openxmlformats.org/officeDocument/2006/relationships/image" Target="/ppt/media/image50.png" Id="R8d05b062b86f4387" /><Relationship Type="http://schemas.openxmlformats.org/officeDocument/2006/relationships/notesSlide" Target="/ppt/notesSlides/notesSlide77.xml" Id="R446fb33531e841c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ddd1c95cfcd0451d" /><Relationship Type="http://schemas.openxmlformats.org/officeDocument/2006/relationships/image" Target="/ppt/media/image51.png" Id="R4fa793166df14184" /><Relationship Type="http://schemas.openxmlformats.org/officeDocument/2006/relationships/notesSlide" Target="/ppt/notesSlides/notesSlide78.xml" Id="Rf615c7a3865d486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83e45170d68642fc" /><Relationship Type="http://schemas.openxmlformats.org/officeDocument/2006/relationships/image" Target="/ppt/media/image52.png" Id="R904d51a11af14114" /><Relationship Type="http://schemas.openxmlformats.org/officeDocument/2006/relationships/notesSlide" Target="/ppt/notesSlides/notesSlide79.xml" Id="Rccf8129e95874b9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0a427b0d19eb4943" /><Relationship Type="http://schemas.openxmlformats.org/officeDocument/2006/relationships/notesSlide" Target="/ppt/notesSlides/notesSlide80.xml" Id="R3ad93ce26efe445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c8ff4cccd42f4679" /><Relationship Type="http://schemas.openxmlformats.org/officeDocument/2006/relationships/notesSlide" Target="/ppt/notesSlides/notesSlide81.xml" Id="R749df5b6d0cf4ada"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069d793d16dc41d7" /><Relationship Type="http://schemas.openxmlformats.org/officeDocument/2006/relationships/notesSlide" Target="/ppt/notesSlides/notesSlide82.xml" Id="R9d1b46f50bcf40c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7232dd2675864a30" /><Relationship Type="http://schemas.openxmlformats.org/officeDocument/2006/relationships/notesSlide" Target="/ppt/notesSlides/notesSlide83.xml" Id="R51960d08df214d1a"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dea4a41a55e14fe4" /><Relationship Type="http://schemas.openxmlformats.org/officeDocument/2006/relationships/image" Target="/ppt/media/image53.png" Id="R1bce7748d5f34e0b" /><Relationship Type="http://schemas.openxmlformats.org/officeDocument/2006/relationships/notesSlide" Target="/ppt/notesSlides/notesSlide84.xml" Id="R7e9e257908484b72"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6bf5795a377b4f90" /><Relationship Type="http://schemas.openxmlformats.org/officeDocument/2006/relationships/image" Target="/ppt/media/image54.png" Id="Rdd053642300b40c9" /><Relationship Type="http://schemas.openxmlformats.org/officeDocument/2006/relationships/notesSlide" Target="/ppt/notesSlides/notesSlide85.xml" Id="Raf5aeb75e8cb4e98"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5bd8fd4d65834693" /><Relationship Type="http://schemas.openxmlformats.org/officeDocument/2006/relationships/image" Target="/ppt/media/image55.png" Id="R8b543c7877324bda" /><Relationship Type="http://schemas.openxmlformats.org/officeDocument/2006/relationships/notesSlide" Target="/ppt/notesSlides/notesSlide86.xml" Id="Rf9928b0555d64f0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8cff30f2561545ac" /><Relationship Type="http://schemas.openxmlformats.org/officeDocument/2006/relationships/image" Target="/ppt/media/image56.png" Id="R1eaf2b4485884a82" /><Relationship Type="http://schemas.openxmlformats.org/officeDocument/2006/relationships/notesSlide" Target="/ppt/notesSlides/notesSlide87.xml" Id="R5455c2aa77a9403e"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afcdf9c11a29435e" /><Relationship Type="http://schemas.openxmlformats.org/officeDocument/2006/relationships/image" Target="/ppt/media/image57.png" Id="Rdb0d176d4e4b4db8" /><Relationship Type="http://schemas.openxmlformats.org/officeDocument/2006/relationships/notesSlide" Target="/ppt/notesSlides/notesSlide88.xml" Id="Rddbe06fdaf324f1f"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dbc71dcd5a654dd9" /><Relationship Type="http://schemas.openxmlformats.org/officeDocument/2006/relationships/notesSlide" Target="/ppt/notesSlides/notesSlide89.xml" Id="Rf0bacfe39eac45a7"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45be7bf233024066" /><Relationship Type="http://schemas.openxmlformats.org/officeDocument/2006/relationships/notesSlide" Target="/ppt/notesSlides/notesSlide90.xml" Id="Rf56630d0ade84549"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a214bbf42dfa4d7c" /><Relationship Type="http://schemas.openxmlformats.org/officeDocument/2006/relationships/notesSlide" Target="/ppt/notesSlides/notesSlide91.xml" Id="R50bb86270f2b42f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9e5bb92000574ea6" /><Relationship Type="http://schemas.openxmlformats.org/officeDocument/2006/relationships/image" Target="/ppt/media/image58.png" Id="R1c0dd956b27f4360" /><Relationship Type="http://schemas.openxmlformats.org/officeDocument/2006/relationships/notesSlide" Target="/ppt/notesSlides/notesSlide92.xml" Id="Rf45ad0c118f141df"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972c9b51ef454059" /><Relationship Type="http://schemas.openxmlformats.org/officeDocument/2006/relationships/image" Target="/ppt/media/image59.png" Id="Red3c85a304734b32" /><Relationship Type="http://schemas.openxmlformats.org/officeDocument/2006/relationships/notesSlide" Target="/ppt/notesSlides/notesSlide93.xml" Id="R21c08216a3ef465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8cad8392021d4d31" /><Relationship Type="http://schemas.openxmlformats.org/officeDocument/2006/relationships/image" Target="/ppt/media/image60.png" Id="R3bdeb5bcd4a24679" /><Relationship Type="http://schemas.openxmlformats.org/officeDocument/2006/relationships/notesSlide" Target="/ppt/notesSlides/notesSlide94.xml" Id="R243b51c20792435d"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52c2e725867a4afc" /><Relationship Type="http://schemas.openxmlformats.org/officeDocument/2006/relationships/image" Target="/ppt/media/image61.png" Id="Rb30bb2d46eb34ec9" /><Relationship Type="http://schemas.openxmlformats.org/officeDocument/2006/relationships/notesSlide" Target="/ppt/notesSlides/notesSlide95.xml" Id="Rd591084582224061"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410320409f0d4f10" /><Relationship Type="http://schemas.openxmlformats.org/officeDocument/2006/relationships/image" Target="/ppt/media/image62.png" Id="R0810eaf1d89649e5" /><Relationship Type="http://schemas.openxmlformats.org/officeDocument/2006/relationships/notesSlide" Target="/ppt/notesSlides/notesSlide96.xml" Id="Rdc6facc185844ea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a58468db34a140fd" /><Relationship Type="http://schemas.openxmlformats.org/officeDocument/2006/relationships/notesSlide" Target="/ppt/notesSlides/notesSlide97.xml" Id="R0b19edbf15294ff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287F2A-19E1-4D71-8665-A325D3693E9B}"/>
              </a:ext>
            </a:extLst>
          </p:cNvPr>
          <p:cNvSpPr>
            <a:spLocks xmlns:a="http://schemas.openxmlformats.org/drawingml/2006/main" noGrp="1"/>
          </p:cNvSpPr>
          <p:nvPr/>
        </p:nvSpPr>
        <p:spPr>
          <a:xfrm xmlns:a="http://schemas.openxmlformats.org/drawingml/2006/main">
            <a:off x="457200" y="400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OPERATOR HYPOTHESIS LAB</a:t>
            </a:r>
          </a:p>
        </p:txBody>
      </p:sp>
      <p:sp>
        <p:nvSpPr>
          <p:cNvPr id="2" name="">
            <a:extLst xmlns:a="http://schemas.openxmlformats.org/drawingml/2006/main">
              <a:ext uri="{FF2B5EF4-FFF2-40B4-BE49-F238E27FC236}">
                <a16:creationId xmlns:a16="http://schemas.microsoft.com/office/drawing/2014/main" id="{87B4752F-5C3B-406E-860B-425737DDAD92}"/>
              </a:ext>
            </a:extLst>
          </p:cNvPr>
          <p:cNvSpPr>
            <a:spLocks xmlns:a="http://schemas.openxmlformats.org/drawingml/2006/main" noGrp="1"/>
          </p:cNvSpPr>
          <p:nvPr/>
        </p:nvSpPr>
        <p:spPr>
          <a:xfrm xmlns:a="http://schemas.openxmlformats.org/drawingml/2006/main">
            <a:off x="457200" y="1695450"/>
            <a:ext cx="10001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TSLA descriptive</a:t>
            </a:r>
          </a:p>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microscope</a:t>
            </a:r>
          </a:p>
        </p:txBody>
      </p:sp>
      <p:sp>
        <p:nvSpPr>
          <p:cNvPr id="3" name="">
            <a:extLst xmlns:a="http://schemas.openxmlformats.org/drawingml/2006/main">
              <a:ext uri="{FF2B5EF4-FFF2-40B4-BE49-F238E27FC236}">
                <a16:creationId xmlns:a16="http://schemas.microsoft.com/office/drawing/2014/main" id="{192C665E-F0B1-4B7F-B98C-E0352166847C}"/>
              </a:ext>
            </a:extLst>
          </p:cNvPr>
          <p:cNvSpPr>
            <a:spLocks xmlns:a="http://schemas.openxmlformats.org/drawingml/2006/main" noGrp="1"/>
          </p:cNvSpPr>
          <p:nvPr/>
        </p:nvSpPr>
        <p:spPr>
          <a:xfrm xmlns:a="http://schemas.openxmlformats.org/drawingml/2006/main">
            <a:off x="457200" y="4191000"/>
            <a:ext cx="12382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2CA5C4CF-93D0-4941-8B4C-E3E2BA103068}"/>
              </a:ext>
            </a:extLst>
          </p:cNvPr>
          <p:cNvSpPr>
            <a:spLocks xmlns:a="http://schemas.openxmlformats.org/drawingml/2006/main" noGrp="1"/>
          </p:cNvSpPr>
          <p:nvPr/>
        </p:nvSpPr>
        <p:spPr>
          <a:xfrm xmlns:a="http://schemas.openxmlformats.org/drawingml/2006/main">
            <a:off x="457200" y="4629150"/>
            <a:ext cx="8286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0">
                <a:solidFill>
                  <a:srgbClr val="273548"/>
                </a:solidFill>
                <a:latin typeface="Arial"/>
                <a:ea typeface="Arial"/>
                <a:cs typeface="Arial"/>
              </a:defRPr>
            </a:pPr>
            <a:r>
              <a:rPr sz="2325" b="0">
                <a:solidFill>
                  <a:srgbClr val="273548"/>
                </a:solidFill>
                <a:latin typeface="Arial"/>
                <a:ea typeface="Arial"/>
                <a:cs typeface="Arial"/>
              </a:rPr>
              <a:t>From visual intuition to measured daily-return dependence</a:t>
            </a:r>
          </a:p>
        </p:txBody>
      </p:sp>
      <p:sp>
        <p:nvSpPr>
          <p:cNvPr id="5" name="">
            <a:extLst xmlns:a="http://schemas.openxmlformats.org/drawingml/2006/main">
              <a:ext uri="{FF2B5EF4-FFF2-40B4-BE49-F238E27FC236}">
                <a16:creationId xmlns:a16="http://schemas.microsoft.com/office/drawing/2014/main" id="{F79AA5C7-3D69-4D62-9FC3-A69A478BDE05}"/>
              </a:ext>
            </a:extLst>
          </p:cNvPr>
          <p:cNvSpPr>
            <a:spLocks xmlns:a="http://schemas.openxmlformats.org/drawingml/2006/main" noGrp="1"/>
          </p:cNvSpPr>
          <p:nvPr/>
        </p:nvSpPr>
        <p:spPr>
          <a:xfrm xmlns:a="http://schemas.openxmlformats.org/drawingml/2006/main">
            <a:off x="457200" y="6096000"/>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384"/>
                </a:solidFill>
                <a:latin typeface="Arial"/>
                <a:ea typeface="Arial"/>
                <a:cs typeface="Arial"/>
              </a:defRPr>
            </a:pPr>
            <a:r>
              <a:rPr sz="1350" b="0">
                <a:solidFill>
                  <a:srgbClr val="667384"/>
                </a:solidFill>
                <a:latin typeface="Arial"/>
                <a:ea typeface="Arial"/>
                <a:cs typeface="Arial"/>
              </a:rPr>
              <a:t>Adjusted daily TSLA | 2018-2023 | Descriptive research only</a:t>
            </a:r>
          </a:p>
        </p:txBody>
      </p:sp>
    </p:spTree>
    <p:extLst>
      <p:ext uri="{BB962C8B-B14F-4D97-AF65-F5344CB8AC3E}">
        <p14:creationId xmlns:p14="http://schemas.microsoft.com/office/powerpoint/2010/main" val="1501978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ection-2">
            <a:extLst xmlns:a="http://schemas.openxmlformats.org/drawingml/2006/main">
              <a:ext uri="{FF2B5EF4-FFF2-40B4-BE49-F238E27FC236}">
                <a16:creationId xmlns:a16="http://schemas.microsoft.com/office/drawing/2014/main" id="{EABBA6E1-F45F-441D-A600-8142D7D302D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2">
            <a:extLst xmlns:a="http://schemas.openxmlformats.org/drawingml/2006/main">
              <a:ext uri="{FF2B5EF4-FFF2-40B4-BE49-F238E27FC236}">
                <a16:creationId xmlns:a16="http://schemas.microsoft.com/office/drawing/2014/main" id="{175C8CBF-2952-45DB-A51C-31B8AB27482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lane starts with description, not strategy</a:t>
            </a:r>
          </a:p>
        </p:txBody>
      </p:sp>
      <p:sp>
        <p:nvSpPr>
          <p:cNvPr id="3" name="">
            <a:extLst xmlns:a="http://schemas.openxmlformats.org/drawingml/2006/main">
              <a:ext uri="{FF2B5EF4-FFF2-40B4-BE49-F238E27FC236}">
                <a16:creationId xmlns:a16="http://schemas.microsoft.com/office/drawing/2014/main" id="{ECCD8AFB-8939-414E-BF70-4C44373BCD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2">
            <a:extLst xmlns:a="http://schemas.openxmlformats.org/drawingml/2006/main">
              <a:ext uri="{FF2B5EF4-FFF2-40B4-BE49-F238E27FC236}">
                <a16:creationId xmlns:a16="http://schemas.microsoft.com/office/drawing/2014/main" id="{DAFEC4F1-50D5-4693-B6C1-AC1138632163}"/>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2">
            <a:extLst xmlns:a="http://schemas.openxmlformats.org/drawingml/2006/main">
              <a:ext uri="{FF2B5EF4-FFF2-40B4-BE49-F238E27FC236}">
                <a16:creationId xmlns:a16="http://schemas.microsoft.com/office/drawing/2014/main" id="{EF6CAA23-BA21-472E-986D-D98B4D1F2C84}"/>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27CF66DD-540D-476F-A7F5-02147E71AD61}"/>
              </a:ext>
            </a:extLst>
          </p:cNvPr>
          <p:cNvSpPr>
            <a:spLocks xmlns:a="http://schemas.openxmlformats.org/drawingml/2006/main" noGrp="1"/>
          </p:cNvSpPr>
          <p:nvPr/>
        </p:nvSpPr>
        <p:spPr>
          <a:xfrm xmlns:a="http://schemas.openxmlformats.org/drawingml/2006/main">
            <a:off x="590550" y="1619250"/>
            <a:ext cx="7620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7" name="">
            <a:extLst xmlns:a="http://schemas.openxmlformats.org/drawingml/2006/main">
              <a:ext uri="{FF2B5EF4-FFF2-40B4-BE49-F238E27FC236}">
                <a16:creationId xmlns:a16="http://schemas.microsoft.com/office/drawing/2014/main" id="{5374F55B-1446-4F42-BD1E-8FAB2CF59C32}"/>
              </a:ext>
            </a:extLst>
          </p:cNvPr>
          <p:cNvSpPr>
            <a:spLocks xmlns:a="http://schemas.openxmlformats.org/drawingml/2006/main" noGrp="1"/>
          </p:cNvSpPr>
          <p:nvPr/>
        </p:nvSpPr>
        <p:spPr>
          <a:xfrm xmlns:a="http://schemas.openxmlformats.org/drawingml/2006/main">
            <a:off x="895350" y="15811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See</a:t>
            </a:r>
          </a:p>
        </p:txBody>
      </p:sp>
      <p:sp>
        <p:nvSpPr>
          <p:cNvPr id="8" name="">
            <a:extLst xmlns:a="http://schemas.openxmlformats.org/drawingml/2006/main">
              <a:ext uri="{FF2B5EF4-FFF2-40B4-BE49-F238E27FC236}">
                <a16:creationId xmlns:a16="http://schemas.microsoft.com/office/drawing/2014/main" id="{05F1277C-2532-4E5C-8906-6DB6877BE9CA}"/>
              </a:ext>
            </a:extLst>
          </p:cNvPr>
          <p:cNvSpPr>
            <a:spLocks xmlns:a="http://schemas.openxmlformats.org/drawingml/2006/main" noGrp="1"/>
          </p:cNvSpPr>
          <p:nvPr/>
        </p:nvSpPr>
        <p:spPr>
          <a:xfrm xmlns:a="http://schemas.openxmlformats.org/drawingml/2006/main">
            <a:off x="4762500" y="15621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Start with raw price and return geometry before deciding what relationship ought to exist.</a:t>
            </a:r>
          </a:p>
        </p:txBody>
      </p:sp>
      <p:sp>
        <p:nvSpPr>
          <p:cNvPr id="9" name="">
            <a:extLst xmlns:a="http://schemas.openxmlformats.org/drawingml/2006/main">
              <a:ext uri="{FF2B5EF4-FFF2-40B4-BE49-F238E27FC236}">
                <a16:creationId xmlns:a16="http://schemas.microsoft.com/office/drawing/2014/main" id="{C71372FE-75A4-4E6C-8C5E-5569ECB204F5}"/>
              </a:ext>
            </a:extLst>
          </p:cNvPr>
          <p:cNvSpPr>
            <a:spLocks xmlns:a="http://schemas.openxmlformats.org/drawingml/2006/main" noGrp="1"/>
          </p:cNvSpPr>
          <p:nvPr/>
        </p:nvSpPr>
        <p:spPr>
          <a:xfrm xmlns:a="http://schemas.openxmlformats.org/drawingml/2006/main">
            <a:off x="895350" y="26289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4D14A25A-AA62-4D50-B30F-5346853D08EC}"/>
              </a:ext>
            </a:extLst>
          </p:cNvPr>
          <p:cNvSpPr>
            <a:spLocks xmlns:a="http://schemas.openxmlformats.org/drawingml/2006/main" noGrp="1"/>
          </p:cNvSpPr>
          <p:nvPr/>
        </p:nvSpPr>
        <p:spPr>
          <a:xfrm xmlns:a="http://schemas.openxmlformats.org/drawingml/2006/main">
            <a:off x="590550" y="3028950"/>
            <a:ext cx="7620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1" name="">
            <a:extLst xmlns:a="http://schemas.openxmlformats.org/drawingml/2006/main">
              <a:ext uri="{FF2B5EF4-FFF2-40B4-BE49-F238E27FC236}">
                <a16:creationId xmlns:a16="http://schemas.microsoft.com/office/drawing/2014/main" id="{C29AF01F-0357-4FCE-9139-7DACD43D482C}"/>
              </a:ext>
            </a:extLst>
          </p:cNvPr>
          <p:cNvSpPr>
            <a:spLocks xmlns:a="http://schemas.openxmlformats.org/drawingml/2006/main" noGrp="1"/>
          </p:cNvSpPr>
          <p:nvPr/>
        </p:nvSpPr>
        <p:spPr>
          <a:xfrm xmlns:a="http://schemas.openxmlformats.org/drawingml/2006/main">
            <a:off x="895350" y="29908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Name</a:t>
            </a:r>
          </a:p>
        </p:txBody>
      </p:sp>
      <p:sp>
        <p:nvSpPr>
          <p:cNvPr id="12" name="">
            <a:extLst xmlns:a="http://schemas.openxmlformats.org/drawingml/2006/main">
              <a:ext uri="{FF2B5EF4-FFF2-40B4-BE49-F238E27FC236}">
                <a16:creationId xmlns:a16="http://schemas.microsoft.com/office/drawing/2014/main" id="{EC63BF40-3714-43F0-ACA7-13D0F8295739}"/>
              </a:ext>
            </a:extLst>
          </p:cNvPr>
          <p:cNvSpPr>
            <a:spLocks xmlns:a="http://schemas.openxmlformats.org/drawingml/2006/main" noGrp="1"/>
          </p:cNvSpPr>
          <p:nvPr/>
        </p:nvSpPr>
        <p:spPr>
          <a:xfrm xmlns:a="http://schemas.openxmlformats.org/drawingml/2006/main">
            <a:off x="4762500" y="29718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Separate direction, magnitude, path shape, and volatility so one visual impression does not stand in for all four.</a:t>
            </a:r>
          </a:p>
        </p:txBody>
      </p:sp>
      <p:sp>
        <p:nvSpPr>
          <p:cNvPr id="13" name="">
            <a:extLst xmlns:a="http://schemas.openxmlformats.org/drawingml/2006/main">
              <a:ext uri="{FF2B5EF4-FFF2-40B4-BE49-F238E27FC236}">
                <a16:creationId xmlns:a16="http://schemas.microsoft.com/office/drawing/2014/main" id="{6C7591B6-C755-4D50-BB99-DA5C68C11389}"/>
              </a:ext>
            </a:extLst>
          </p:cNvPr>
          <p:cNvSpPr>
            <a:spLocks xmlns:a="http://schemas.openxmlformats.org/drawingml/2006/main" noGrp="1"/>
          </p:cNvSpPr>
          <p:nvPr/>
        </p:nvSpPr>
        <p:spPr>
          <a:xfrm xmlns:a="http://schemas.openxmlformats.org/drawingml/2006/main">
            <a:off x="895350" y="40386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18B0F103-9237-4C60-86EF-786CECE7EA53}"/>
              </a:ext>
            </a:extLst>
          </p:cNvPr>
          <p:cNvSpPr>
            <a:spLocks xmlns:a="http://schemas.openxmlformats.org/drawingml/2006/main" noGrp="1"/>
          </p:cNvSpPr>
          <p:nvPr/>
        </p:nvSpPr>
        <p:spPr>
          <a:xfrm xmlns:a="http://schemas.openxmlformats.org/drawingml/2006/main">
            <a:off x="590550" y="4438650"/>
            <a:ext cx="7620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5" name="">
            <a:extLst xmlns:a="http://schemas.openxmlformats.org/drawingml/2006/main">
              <a:ext uri="{FF2B5EF4-FFF2-40B4-BE49-F238E27FC236}">
                <a16:creationId xmlns:a16="http://schemas.microsoft.com/office/drawing/2014/main" id="{922839DF-980D-4991-A539-25BA44F4CB56}"/>
              </a:ext>
            </a:extLst>
          </p:cNvPr>
          <p:cNvSpPr>
            <a:spLocks xmlns:a="http://schemas.openxmlformats.org/drawingml/2006/main" noGrp="1"/>
          </p:cNvSpPr>
          <p:nvPr/>
        </p:nvSpPr>
        <p:spPr>
          <a:xfrm xmlns:a="http://schemas.openxmlformats.org/drawingml/2006/main">
            <a:off x="895350" y="44005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Measure</a:t>
            </a:r>
          </a:p>
        </p:txBody>
      </p:sp>
      <p:sp>
        <p:nvSpPr>
          <p:cNvPr id="16" name="">
            <a:extLst xmlns:a="http://schemas.openxmlformats.org/drawingml/2006/main">
              <a:ext uri="{FF2B5EF4-FFF2-40B4-BE49-F238E27FC236}">
                <a16:creationId xmlns:a16="http://schemas.microsoft.com/office/drawing/2014/main" id="{E1A18768-8500-49CC-AD63-3A41DD6680E7}"/>
              </a:ext>
            </a:extLst>
          </p:cNvPr>
          <p:cNvSpPr>
            <a:spLocks xmlns:a="http://schemas.openxmlformats.org/drawingml/2006/main" noGrp="1"/>
          </p:cNvSpPr>
          <p:nvPr/>
        </p:nvSpPr>
        <p:spPr>
          <a:xfrm xmlns:a="http://schemas.openxmlformats.org/drawingml/2006/main">
            <a:off x="4762500" y="43815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Quantify one frozen relationship at a time; only later ask whether a finding predicts, trades, or transports.</a:t>
            </a:r>
          </a:p>
        </p:txBody>
      </p:sp>
      <p:sp>
        <p:nvSpPr>
          <p:cNvPr id="17" name="">
            <a:extLst xmlns:a="http://schemas.openxmlformats.org/drawingml/2006/main">
              <a:ext uri="{FF2B5EF4-FFF2-40B4-BE49-F238E27FC236}">
                <a16:creationId xmlns:a16="http://schemas.microsoft.com/office/drawing/2014/main" id="{4835A8B2-7CB6-4F65-9360-0E168549EE12}"/>
              </a:ext>
            </a:extLst>
          </p:cNvPr>
          <p:cNvSpPr>
            <a:spLocks xmlns:a="http://schemas.openxmlformats.org/drawingml/2006/main" noGrp="1"/>
          </p:cNvSpPr>
          <p:nvPr/>
        </p:nvSpPr>
        <p:spPr>
          <a:xfrm xmlns:a="http://schemas.openxmlformats.org/drawingml/2006/main">
            <a:off x="895350" y="54483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Tree>
    <p:extLst>
      <p:ext uri="{BB962C8B-B14F-4D97-AF65-F5344CB8AC3E}">
        <p14:creationId xmlns:p14="http://schemas.microsoft.com/office/powerpoint/2010/main" val="446509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question, one fixed sample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r[t] = log(C[t] / C[t-1])</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Each row pairs yesterday's adjusted close-to-close log return with today's.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1,509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consecutive-session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Price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 sessions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alternate lag or horizon</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Trading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2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policy or performance calculation</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Confirmation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post-2023 data read</a:t>
            </a:r>
          </a:p>
        </p:txBody>
      </p:sp>
    </p:spTree>
    <p:extLst>
      <p:ext uri="{BB962C8B-B14F-4D97-AF65-F5344CB8AC3E}">
        <p14:creationId xmlns:p14="http://schemas.microsoft.com/office/powerpoint/2010/main" val="13972833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cloud has no clear directional structure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02f6346d6acb4f1e"/>
          <a:stretch xmlns:a="http://schemas.openxmlformats.org/drawingml/2006/main"/>
        </p:blipFill>
        <p:spPr>
          <a:xfrm xmlns:a="http://schemas.openxmlformats.org/drawingml/2006/main">
            <a:off x="2942545" y="1352550"/>
            <a:ext cx="6306911"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172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First look: no fitted line, correlation, p-value, binning, or outlier removal.</a:t>
            </a:r>
          </a:p>
        </p:txBody>
      </p:sp>
    </p:spTree>
    <p:extLst>
      <p:ext uri="{BB962C8B-B14F-4D97-AF65-F5344CB8AC3E}">
        <p14:creationId xmlns:p14="http://schemas.microsoft.com/office/powerpoint/2010/main" val="400872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labels path shape—not volatility</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f27e5a93778419c"/>
          <a:stretch xmlns:a="http://schemas.openxmlformats.org/drawingml/2006/main"/>
        </p:blipFill>
        <p:spPr>
          <a:xfrm xmlns:a="http://schemas.openxmlformats.org/drawingml/2006/main">
            <a:off x="325967" y="1381125"/>
            <a:ext cx="8568267" cy="4819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Absolute 20-session endpoint displacement divided by the total log-price path traveled.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recognizes efficient rises and declines. Red marks a locally choppy path. Daily thresholding is visibly flickery near transitions.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spTree>
    <p:extLst>
      <p:ext uri="{BB962C8B-B14F-4D97-AF65-F5344CB8AC3E}">
        <p14:creationId xmlns:p14="http://schemas.microsoft.com/office/powerpoint/2010/main" val="3171913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MEASUREMENT PASS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A visual cloud asks one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precise next question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Does r[t-1] contain measurable information about r[t]?</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Primary: signed linear dependence. Diagnostics: rank, sign, outliers, annual stability, and absolute-return persistence.</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Tree>
    <p:extLst>
      <p:ext uri="{BB962C8B-B14F-4D97-AF65-F5344CB8AC3E}">
        <p14:creationId xmlns:p14="http://schemas.microsoft.com/office/powerpoint/2010/main" val="80248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dependence is effectively zero</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ce8f6145ae494f54"/>
          <a:stretch xmlns:a="http://schemas.openxmlformats.org/drawingml/2006/main"/>
        </p:blipFill>
        <p:spPr>
          <a:xfrm xmlns:a="http://schemas.openxmlformats.org/drawingml/2006/main">
            <a:off x="609600" y="1428750"/>
            <a:ext cx="714375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-0.021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[-0.073, +0.028]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block-bootstrap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0.044%</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R-squared: variance explained</a:t>
            </a:r>
          </a:p>
        </p:txBody>
      </p:sp>
    </p:spTree>
    <p:extLst>
      <p:ext uri="{BB962C8B-B14F-4D97-AF65-F5344CB8AC3E}">
        <p14:creationId xmlns:p14="http://schemas.microsoft.com/office/powerpoint/2010/main" val="15831707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Yesterday's sign barely changes tomorrow's odds</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e3e8c3eba5d34c44"/>
          <a:stretch xmlns:a="http://schemas.openxmlformats.org/drawingml/2006/main"/>
        </p:blipFill>
        <p:spPr>
          <a:xfrm xmlns:a="http://schemas.openxmlformats.org/drawingml/2006/main">
            <a:off x="381000" y="1494631"/>
            <a:ext cx="7905750" cy="46116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52.9%</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down day</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52.1%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up day</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Difference: -0.7 percentage points</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95% interval: -5.8 to +4.2 pp</a:t>
            </a:r>
          </a:p>
        </p:txBody>
      </p:sp>
    </p:spTree>
    <p:extLst>
      <p:ext uri="{BB962C8B-B14F-4D97-AF65-F5344CB8AC3E}">
        <p14:creationId xmlns:p14="http://schemas.microsoft.com/office/powerpoint/2010/main" val="1724043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ection-9">
            <a:extLst xmlns:a="http://schemas.openxmlformats.org/drawingml/2006/main">
              <a:ext uri="{FF2B5EF4-FFF2-40B4-BE49-F238E27FC236}">
                <a16:creationId xmlns:a16="http://schemas.microsoft.com/office/drawing/2014/main" id="{EBA183BA-1F33-43C2-A340-16B1E99A7378}"/>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9">
            <a:extLst xmlns:a="http://schemas.openxmlformats.org/drawingml/2006/main">
              <a:ext uri="{FF2B5EF4-FFF2-40B4-BE49-F238E27FC236}">
                <a16:creationId xmlns:a16="http://schemas.microsoft.com/office/drawing/2014/main" id="{0663B6F4-658E-4DE8-898E-470A7CF5CC9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signed result stays weak under obvious checks</a:t>
            </a:r>
          </a:p>
        </p:txBody>
      </p:sp>
      <p:sp>
        <p:nvSpPr>
          <p:cNvPr id="3" name="">
            <a:extLst xmlns:a="http://schemas.openxmlformats.org/drawingml/2006/main">
              <a:ext uri="{FF2B5EF4-FFF2-40B4-BE49-F238E27FC236}">
                <a16:creationId xmlns:a16="http://schemas.microsoft.com/office/drawing/2014/main" id="{A4D2132A-BB30-4209-B894-FCC20F4F7A8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9">
            <a:extLst xmlns:a="http://schemas.openxmlformats.org/drawingml/2006/main">
              <a:ext uri="{FF2B5EF4-FFF2-40B4-BE49-F238E27FC236}">
                <a16:creationId xmlns:a16="http://schemas.microsoft.com/office/drawing/2014/main" id="{5B6CFEAA-57C7-4EA4-BAF7-395EC1B3D457}"/>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9">
            <a:extLst xmlns:a="http://schemas.openxmlformats.org/drawingml/2006/main">
              <a:ext uri="{FF2B5EF4-FFF2-40B4-BE49-F238E27FC236}">
                <a16:creationId xmlns:a16="http://schemas.microsoft.com/office/drawing/2014/main" id="{0A964CCF-1375-4C63-86E0-327EA665BDE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4B3A4194-DA3D-4FE2-8903-084599EE63EF}"/>
              </a:ext>
            </a:extLst>
          </p:cNvPr>
          <p:cNvSpPr>
            <a:spLocks xmlns:a="http://schemas.openxmlformats.org/drawingml/2006/main" noGrp="1"/>
          </p:cNvSpPr>
          <p:nvPr/>
        </p:nvSpPr>
        <p:spPr>
          <a:xfrm xmlns:a="http://schemas.openxmlformats.org/drawingml/2006/main">
            <a:off x="304800" y="1428750"/>
            <a:ext cx="8096250" cy="481012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2c726a42e3014656"/>
          <a:stretch xmlns:a="http://schemas.openxmlformats.org/drawingml/2006/main"/>
        </p:blipFill>
        <p:spPr>
          <a:xfrm xmlns:a="http://schemas.openxmlformats.org/drawingml/2006/main">
            <a:off x="588479" y="1428750"/>
            <a:ext cx="7528891" cy="4810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5E547BA-6B5C-4F5A-B4E4-FD99AACD6FB4}"/>
              </a:ext>
            </a:extLst>
          </p:cNvPr>
          <p:cNvSpPr>
            <a:spLocks xmlns:a="http://schemas.openxmlformats.org/drawingml/2006/main" noGrp="1"/>
          </p:cNvSpPr>
          <p:nvPr/>
        </p:nvSpPr>
        <p:spPr>
          <a:xfrm xmlns:a="http://schemas.openxmlformats.org/drawingml/2006/main">
            <a:off x="8724900" y="16573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Rank check</a:t>
            </a:r>
          </a:p>
        </p:txBody>
      </p:sp>
      <p:sp>
        <p:nvSpPr>
          <p:cNvPr id="9" name="">
            <a:extLst xmlns:a="http://schemas.openxmlformats.org/drawingml/2006/main">
              <a:ext uri="{FF2B5EF4-FFF2-40B4-BE49-F238E27FC236}">
                <a16:creationId xmlns:a16="http://schemas.microsoft.com/office/drawing/2014/main" id="{8E2C0B40-DAFE-4C66-8136-964E51E1E49B}"/>
              </a:ext>
            </a:extLst>
          </p:cNvPr>
          <p:cNvSpPr>
            <a:spLocks xmlns:a="http://schemas.openxmlformats.org/drawingml/2006/main" noGrp="1"/>
          </p:cNvSpPr>
          <p:nvPr/>
        </p:nvSpPr>
        <p:spPr>
          <a:xfrm xmlns:a="http://schemas.openxmlformats.org/drawingml/2006/main">
            <a:off x="8724900" y="2114550"/>
            <a:ext cx="266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Spearman rho = -0.004</a:t>
            </a:r>
          </a:p>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95% block interval: -0.054 to +0.044</a:t>
            </a:r>
          </a:p>
        </p:txBody>
      </p:sp>
      <p:sp>
        <p:nvSpPr>
          <p:cNvPr id="10" name="">
            <a:extLst xmlns:a="http://schemas.openxmlformats.org/drawingml/2006/main">
              <a:ext uri="{FF2B5EF4-FFF2-40B4-BE49-F238E27FC236}">
                <a16:creationId xmlns:a16="http://schemas.microsoft.com/office/drawing/2014/main" id="{BF6A331B-1B89-49FE-BD19-54F1DD6232A9}"/>
              </a:ext>
            </a:extLst>
          </p:cNvPr>
          <p:cNvSpPr>
            <a:spLocks xmlns:a="http://schemas.openxmlformats.org/drawingml/2006/main" noGrp="1"/>
          </p:cNvSpPr>
          <p:nvPr/>
        </p:nvSpPr>
        <p:spPr>
          <a:xfrm xmlns:a="http://schemas.openxmlformats.org/drawingml/2006/main">
            <a:off x="8724900" y="318135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0A9140A0-2615-4B81-99CA-0D43FAA4B62B}"/>
              </a:ext>
            </a:extLst>
          </p:cNvPr>
          <p:cNvSpPr>
            <a:spLocks xmlns:a="http://schemas.openxmlformats.org/drawingml/2006/main" noGrp="1"/>
          </p:cNvSpPr>
          <p:nvPr/>
        </p:nvSpPr>
        <p:spPr>
          <a:xfrm xmlns:a="http://schemas.openxmlformats.org/drawingml/2006/main">
            <a:off x="8724900" y="34671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Outlier check</a:t>
            </a:r>
          </a:p>
        </p:txBody>
      </p:sp>
      <p:sp>
        <p:nvSpPr>
          <p:cNvPr id="12" name="">
            <a:extLst xmlns:a="http://schemas.openxmlformats.org/drawingml/2006/main">
              <a:ext uri="{FF2B5EF4-FFF2-40B4-BE49-F238E27FC236}">
                <a16:creationId xmlns:a16="http://schemas.microsoft.com/office/drawing/2014/main" id="{DE7EB45D-DC9C-458B-93BD-1FA8026B7058}"/>
              </a:ext>
            </a:extLst>
          </p:cNvPr>
          <p:cNvSpPr>
            <a:spLocks xmlns:a="http://schemas.openxmlformats.org/drawingml/2006/main" noGrp="1"/>
          </p:cNvSpPr>
          <p:nvPr/>
        </p:nvSpPr>
        <p:spPr>
          <a:xfrm xmlns:a="http://schemas.openxmlformats.org/drawingml/2006/main">
            <a:off x="8724900" y="3924300"/>
            <a:ext cx="266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Pearson changes from -0.021 to -0.008 after fixed 1%/99% winsorization.</a:t>
            </a:r>
          </a:p>
        </p:txBody>
      </p:sp>
      <p:sp>
        <p:nvSpPr>
          <p:cNvPr id="13" name="">
            <a:extLst xmlns:a="http://schemas.openxmlformats.org/drawingml/2006/main">
              <a:ext uri="{FF2B5EF4-FFF2-40B4-BE49-F238E27FC236}">
                <a16:creationId xmlns:a16="http://schemas.microsoft.com/office/drawing/2014/main" id="{782C736D-ABB7-461A-92C1-B5147946828D}"/>
              </a:ext>
            </a:extLst>
          </p:cNvPr>
          <p:cNvSpPr>
            <a:spLocks xmlns:a="http://schemas.openxmlformats.org/drawingml/2006/main" noGrp="1"/>
          </p:cNvSpPr>
          <p:nvPr/>
        </p:nvSpPr>
        <p:spPr>
          <a:xfrm xmlns:a="http://schemas.openxmlformats.org/drawingml/2006/main">
            <a:off x="8724900" y="510540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D954633C-EE8B-411B-A503-F65ADB1D0271}"/>
              </a:ext>
            </a:extLst>
          </p:cNvPr>
          <p:cNvSpPr>
            <a:spLocks xmlns:a="http://schemas.openxmlformats.org/drawingml/2006/main" noGrp="1"/>
          </p:cNvSpPr>
          <p:nvPr/>
        </p:nvSpPr>
        <p:spPr>
          <a:xfrm xmlns:a="http://schemas.openxmlformats.org/drawingml/2006/main">
            <a:off x="8724900" y="539115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E45756"/>
                </a:solidFill>
                <a:latin typeface="Arial"/>
                <a:ea typeface="Arial"/>
                <a:cs typeface="Arial"/>
              </a:defRPr>
            </a:pPr>
            <a:r>
              <a:rPr sz="1575" b="1">
                <a:solidFill>
                  <a:srgbClr val="E45756"/>
                </a:solidFill>
                <a:latin typeface="Arial"/>
                <a:ea typeface="Arial"/>
                <a:cs typeface="Arial"/>
              </a:rPr>
              <a:t>Every annual HAC interval crosses zero.</a:t>
            </a:r>
          </a:p>
        </p:txBody>
      </p:sp>
    </p:spTree>
    <p:extLst>
      <p:ext uri="{BB962C8B-B14F-4D97-AF65-F5344CB8AC3E}">
        <p14:creationId xmlns:p14="http://schemas.microsoft.com/office/powerpoint/2010/main" val="20162149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ection-10">
            <a:extLst xmlns:a="http://schemas.openxmlformats.org/drawingml/2006/main">
              <a:ext uri="{FF2B5EF4-FFF2-40B4-BE49-F238E27FC236}">
                <a16:creationId xmlns:a16="http://schemas.microsoft.com/office/drawing/2014/main" id="{956D329C-4E71-4503-8472-54BE364C9DB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0">
            <a:extLst xmlns:a="http://schemas.openxmlformats.org/drawingml/2006/main">
              <a:ext uri="{FF2B5EF4-FFF2-40B4-BE49-F238E27FC236}">
                <a16:creationId xmlns:a16="http://schemas.microsoft.com/office/drawing/2014/main" id="{35EE1E91-CEDB-4B30-9B21-3743CDB4DF2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Magnitude persistence is modest—and different</a:t>
            </a:r>
          </a:p>
        </p:txBody>
      </p:sp>
      <p:sp>
        <p:nvSpPr>
          <p:cNvPr id="3" name="">
            <a:extLst xmlns:a="http://schemas.openxmlformats.org/drawingml/2006/main">
              <a:ext uri="{FF2B5EF4-FFF2-40B4-BE49-F238E27FC236}">
                <a16:creationId xmlns:a16="http://schemas.microsoft.com/office/drawing/2014/main" id="{C360048C-412A-4DAD-943D-CBFA422CB48C}"/>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0">
            <a:extLst xmlns:a="http://schemas.openxmlformats.org/drawingml/2006/main">
              <a:ext uri="{FF2B5EF4-FFF2-40B4-BE49-F238E27FC236}">
                <a16:creationId xmlns:a16="http://schemas.microsoft.com/office/drawing/2014/main" id="{81D14FDE-48EA-4462-90E0-D7741C25D1C9}"/>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0">
            <a:extLst xmlns:a="http://schemas.openxmlformats.org/drawingml/2006/main">
              <a:ext uri="{FF2B5EF4-FFF2-40B4-BE49-F238E27FC236}">
                <a16:creationId xmlns:a16="http://schemas.microsoft.com/office/drawing/2014/main" id="{CC0DEE07-9BBD-42F7-A366-FBFDE2A0883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30B6EAE5-9A3B-4831-A518-2BC1EB255217}"/>
              </a:ext>
            </a:extLst>
          </p:cNvPr>
          <p:cNvSpPr>
            <a:spLocks xmlns:a="http://schemas.openxmlformats.org/drawingml/2006/main" noGrp="1"/>
          </p:cNvSpPr>
          <p:nvPr/>
        </p:nvSpPr>
        <p:spPr>
          <a:xfrm xmlns:a="http://schemas.openxmlformats.org/drawingml/2006/main">
            <a:off x="342900" y="1447800"/>
            <a:ext cx="8096250" cy="47434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68f4bc86d5245f9"/>
          <a:stretch xmlns:a="http://schemas.openxmlformats.org/drawingml/2006/main"/>
        </p:blipFill>
        <p:spPr>
          <a:xfrm xmlns:a="http://schemas.openxmlformats.org/drawingml/2006/main">
            <a:off x="342900" y="1458119"/>
            <a:ext cx="8096250" cy="472281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CD70912-AFA7-4777-B92E-0384D9D34CA2}"/>
              </a:ext>
            </a:extLst>
          </p:cNvPr>
          <p:cNvSpPr>
            <a:spLocks xmlns:a="http://schemas.openxmlformats.org/drawingml/2006/main" noGrp="1"/>
          </p:cNvSpPr>
          <p:nvPr/>
        </p:nvSpPr>
        <p:spPr>
          <a:xfrm xmlns:a="http://schemas.openxmlformats.org/drawingml/2006/main">
            <a:off x="8763000" y="1581150"/>
            <a:ext cx="2762250" cy="1562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59898846-1713-4B00-B11B-C6CA4C6CC69C}"/>
              </a:ext>
            </a:extLst>
          </p:cNvPr>
          <p:cNvSpPr>
            <a:spLocks xmlns:a="http://schemas.openxmlformats.org/drawingml/2006/main" noGrp="1"/>
          </p:cNvSpPr>
          <p:nvPr/>
        </p:nvSpPr>
        <p:spPr>
          <a:xfrm xmlns:a="http://schemas.openxmlformats.org/drawingml/2006/main">
            <a:off x="8763000" y="1581150"/>
            <a:ext cx="76200" cy="1562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C16DE226-2BE8-4FE8-ABF8-EF99CFFECB5A}"/>
              </a:ext>
            </a:extLst>
          </p:cNvPr>
          <p:cNvSpPr>
            <a:spLocks xmlns:a="http://schemas.openxmlformats.org/drawingml/2006/main" noGrp="1"/>
          </p:cNvSpPr>
          <p:nvPr/>
        </p:nvSpPr>
        <p:spPr>
          <a:xfrm xmlns:a="http://schemas.openxmlformats.org/drawingml/2006/main">
            <a:off x="9029700" y="175260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+0.107</a:t>
            </a:r>
          </a:p>
        </p:txBody>
      </p:sp>
      <p:sp>
        <p:nvSpPr>
          <p:cNvPr id="11" name="">
            <a:extLst xmlns:a="http://schemas.openxmlformats.org/drawingml/2006/main">
              <a:ext uri="{FF2B5EF4-FFF2-40B4-BE49-F238E27FC236}">
                <a16:creationId xmlns:a16="http://schemas.microsoft.com/office/drawing/2014/main" id="{F3CCCFCB-521D-4ED8-B91A-B3885201C3DA}"/>
              </a:ext>
            </a:extLst>
          </p:cNvPr>
          <p:cNvSpPr>
            <a:spLocks xmlns:a="http://schemas.openxmlformats.org/drawingml/2006/main" noGrp="1"/>
          </p:cNvSpPr>
          <p:nvPr/>
        </p:nvSpPr>
        <p:spPr>
          <a:xfrm xmlns:a="http://schemas.openxmlformats.org/drawingml/2006/main">
            <a:off x="9029700" y="2419350"/>
            <a:ext cx="2305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 of |r[t-1]| and |r[t]|</a:t>
            </a:r>
          </a:p>
        </p:txBody>
      </p:sp>
      <p:sp>
        <p:nvSpPr>
          <p:cNvPr id="12" name="">
            <a:extLst xmlns:a="http://schemas.openxmlformats.org/drawingml/2006/main">
              <a:ext uri="{FF2B5EF4-FFF2-40B4-BE49-F238E27FC236}">
                <a16:creationId xmlns:a16="http://schemas.microsoft.com/office/drawing/2014/main" id="{411EFCBD-B9ED-4C50-8E82-6B73D26F987D}"/>
              </a:ext>
            </a:extLst>
          </p:cNvPr>
          <p:cNvSpPr>
            <a:spLocks xmlns:a="http://schemas.openxmlformats.org/drawingml/2006/main" noGrp="1"/>
          </p:cNvSpPr>
          <p:nvPr/>
        </p:nvSpPr>
        <p:spPr>
          <a:xfrm xmlns:a="http://schemas.openxmlformats.org/drawingml/2006/main">
            <a:off x="8972550" y="3371850"/>
            <a:ext cx="2362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95% block interval</a:t>
            </a:r>
          </a:p>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+0.033 to +0.168</a:t>
            </a:r>
          </a:p>
        </p:txBody>
      </p:sp>
      <p:sp>
        <p:nvSpPr>
          <p:cNvPr id="13" name="">
            <a:extLst xmlns:a="http://schemas.openxmlformats.org/drawingml/2006/main">
              <a:ext uri="{FF2B5EF4-FFF2-40B4-BE49-F238E27FC236}">
                <a16:creationId xmlns:a16="http://schemas.microsoft.com/office/drawing/2014/main" id="{3CF3178D-BD60-4112-9050-39949302A7F4}"/>
              </a:ext>
            </a:extLst>
          </p:cNvPr>
          <p:cNvSpPr>
            <a:spLocks xmlns:a="http://schemas.openxmlformats.org/drawingml/2006/main" noGrp="1"/>
          </p:cNvSpPr>
          <p:nvPr/>
        </p:nvSpPr>
        <p:spPr>
          <a:xfrm xmlns:a="http://schemas.openxmlformats.org/drawingml/2006/main">
            <a:off x="8972550" y="4286250"/>
            <a:ext cx="23622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40A399B8-7059-4CEF-8F2B-1A634DBCD24F}"/>
              </a:ext>
            </a:extLst>
          </p:cNvPr>
          <p:cNvSpPr>
            <a:spLocks xmlns:a="http://schemas.openxmlformats.org/drawingml/2006/main" noGrp="1"/>
          </p:cNvSpPr>
          <p:nvPr/>
        </p:nvSpPr>
        <p:spPr>
          <a:xfrm xmlns:a="http://schemas.openxmlformats.org/drawingml/2006/main">
            <a:off x="8972550" y="4533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E45756"/>
                </a:solidFill>
                <a:latin typeface="Arial"/>
                <a:ea typeface="Arial"/>
                <a:cs typeface="Arial"/>
              </a:defRPr>
            </a:pPr>
            <a:r>
              <a:rPr sz="1950" b="1">
                <a:solidFill>
                  <a:srgbClr val="E45756"/>
                </a:solidFill>
                <a:latin typeface="Arial"/>
                <a:ea typeface="Arial"/>
                <a:cs typeface="Arial"/>
              </a:rPr>
              <a:t>Caution</a:t>
            </a:r>
          </a:p>
        </p:txBody>
      </p:sp>
      <p:sp>
        <p:nvSpPr>
          <p:cNvPr id="15" name="">
            <a:extLst xmlns:a="http://schemas.openxmlformats.org/drawingml/2006/main">
              <a:ext uri="{FF2B5EF4-FFF2-40B4-BE49-F238E27FC236}">
                <a16:creationId xmlns:a16="http://schemas.microsoft.com/office/drawing/2014/main" id="{D20EC0EC-804C-451F-B37D-6CBD9395B9D0}"/>
              </a:ext>
            </a:extLst>
          </p:cNvPr>
          <p:cNvSpPr>
            <a:spLocks xmlns:a="http://schemas.openxmlformats.org/drawingml/2006/main" noGrp="1"/>
          </p:cNvSpPr>
          <p:nvPr/>
        </p:nvSpPr>
        <p:spPr>
          <a:xfrm xmlns:a="http://schemas.openxmlformats.org/drawingml/2006/main">
            <a:off x="8972550" y="4953000"/>
            <a:ext cx="2362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The decile pattern is not monotonic; rank correlation is only +0.053 and its interval crosses zero. This is a clue about turbulence—not direction.</a:t>
            </a:r>
          </a:p>
        </p:txBody>
      </p:sp>
    </p:spTree>
    <p:extLst>
      <p:ext uri="{BB962C8B-B14F-4D97-AF65-F5344CB8AC3E}">
        <p14:creationId xmlns:p14="http://schemas.microsoft.com/office/powerpoint/2010/main" val="188006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this first measurement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SIGNED RETURN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7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measurable adjacent-session continuation or reversal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Pearson -0.021; direction difference -0.7 pp</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PATH SHAPE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93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usefully describes trend versus chop</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Direction-agnostic, lagging, and flickery near transitions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RETURN MAGNITUDE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modest persistence clue remains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Absolute-return Pearson +0.107; non-monotonic diagnostic pattern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yesterday's return magnitude forecast tomorrow's magnitude on a separately frozen surface?</a:t>
            </a:r>
          </a:p>
        </p:txBody>
      </p:sp>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HORIZON GRID</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one session is simply</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too noisy?</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2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Aggregate the past. Aggregate the future. Keep the boundary clean.</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Predeclared prior and forward horizons: 1, 2, 3, 4, 5, 10, 15, 20, and 25 sessions. No cell becomes a strategy.</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spTree>
    <p:extLst>
      <p:ext uri="{BB962C8B-B14F-4D97-AF65-F5344CB8AC3E}">
        <p14:creationId xmlns:p14="http://schemas.microsoft.com/office/powerpoint/2010/main" val="80248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fixed 9 x 9 surface tests aggregation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R-(p)  versus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prior window ends at the anchor close. The forward window begins after it—no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81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predeclared horizon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Bars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BH-FDR plus Bonferroni across 81 cells</a:t>
            </a:r>
          </a:p>
        </p:txBody>
      </p:sp>
    </p:spTree>
    <p:extLst>
      <p:ext uri="{BB962C8B-B14F-4D97-AF65-F5344CB8AC3E}">
        <p14:creationId xmlns:p14="http://schemas.microsoft.com/office/powerpoint/2010/main" val="13972833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Aggregation reveals a weak 5–10-session ridge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Pearson correlation matrix; no BH-FDR q-value is below 0.05.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7a870343d5a41d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ridge is weak and statistically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+0.092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Pearson: 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[-0.003, +0.188]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overlap-aware HAC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0.852%</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maximum R-squared across 81 cells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d0ae1f559e30475b"/>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differences also fail the 81-cell scan</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+8.1 pp</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raw-sign difference with p &lt; 0.05</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0 / 81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direction cells with BH-FDR q &lt; 0.05</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5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Best raw direction p = 0.025 at 10 prior / 3 forward.</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BH q = 0.554; nested horizons share data.</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c0ae09cb4f0a4582"/>
          <a:stretch xmlns:a="http://schemas.openxmlformats.org/drawingml/2006/main"/>
        </p:blipFill>
        <p:spPr>
          <a:xfrm xmlns:a="http://schemas.openxmlformats.org/drawingml/2006/main" flipH="0" flipV="0">
            <a:off x="381000" y="1494631"/>
            <a:ext cx="7905750" cy="4611688"/>
          </a:xfrm>
          <a:prstGeom xmlns:a="http://schemas.openxmlformats.org/drawingml/2006/main" prst="rect">
            <a:avLst/>
          </a:prstGeom>
        </p:spPr>
      </p:pic>
    </p:spTree>
    <p:extLst>
      <p:ext uri="{BB962C8B-B14F-4D97-AF65-F5344CB8AC3E}">
        <p14:creationId xmlns:p14="http://schemas.microsoft.com/office/powerpoint/2010/main" val="172404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the aggregation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GRID PATTERN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3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coherent positive ridge appears near 5–10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Pearson +0.092 at 5 prior / 10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6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signed-return interval still includes zero</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BH-FDR or Bonferroni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DIRECTION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49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Probability shifts are larger but not multiplicity-stable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Best raw p=0.025; BH q=0.554</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the 5–10-session ridge deserve one frozen replication, or does this descriptive lane stop here?</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REGIME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aggregation mixes</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incompatible path states?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the ER20 color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Red and green inherit the prior POC's fixed 20-session metric and 0.30 cutoff.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spTree>
    <p:extLst>
      <p:ext uri="{BB962C8B-B14F-4D97-AF65-F5344CB8AC3E}">
        <p14:creationId xmlns:p14="http://schemas.microsoft.com/office/powerpoint/2010/main" val="802480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ER20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anchor is labeled from closes through t. Prior return ends at t;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path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20-session log-price ER</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Red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&lt; 0.30 (sideways)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Green</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&gt;= 0.30 (trending)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State 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Caution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and prior return share trailing price data</a:t>
            </a:r>
          </a:p>
        </p:txBody>
      </p:sp>
    </p:spTree>
    <p:extLst>
      <p:ext uri="{BB962C8B-B14F-4D97-AF65-F5344CB8AC3E}">
        <p14:creationId xmlns:p14="http://schemas.microsoft.com/office/powerpoint/2010/main" val="1397283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Red ER20 states expose a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Red/sideways matrix; strongest cell +0.173 at 15 prior / 5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1237bd187696445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Green ER20 states suppress the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Green/trending matrix; long/long cells turn negative; strongest absolute cell -0.154.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4b3d38bbf244ee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split is coherent, but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-0.231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15 prior / 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p = 0.029</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raw HAC slope-interaction test</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81</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interaction cells with BH-FDR q &lt; 0.05</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7ef69802c0b14739"/>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changes the map, but not the evidentiary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RED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positive island appears around 10–15 prior / 3–10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+0.173 at 15 prior / 5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GREEN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is muted or reversed; long/long turns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 5 = -0.058; 25 / 25 = -0.154</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UNCERTAINTY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regime-specific or interaction result survives the scan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red; 0/81 green; 0/81 interactions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15-prior / 5-forward for separate replication—or first test a regime filter less entangled with prior return?</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VOLATILITY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movement capacity separate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continuation from reversal?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4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Reuse the accepted ATR% state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LOW, MEDIUM, and HIGH inherit HYP-REG-01.1's fixed causal classifier.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Tree>
    <p:extLst>
      <p:ext uri="{BB962C8B-B14F-4D97-AF65-F5344CB8AC3E}">
        <p14:creationId xmlns:p14="http://schemas.microsoft.com/office/powerpoint/2010/main" val="8024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3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accepted ATR%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ATR% state is assigned at anchor close t. Prior return ends at t; following return begins after t. It measures capacity—not direction.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volatility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shows movement capacity—not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state uses Wilder ATR14 / close, ranked against the prior 252 completed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Blue marks LOW, gold MEDIUM, and red HIGH movement capacity. Price and the causal trailing ATR% rank are shown together.</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84ee9ce5153e4472"/>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LOW ATR% is broadly positive, but no cell passes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strongest +0.198 at 10 prior / 25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9fa7e0cd0b942b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contains the stable continuation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21/81 within-state BH passes; strict survivors cluster at 5–10 prior / 2–3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3d8a177e196428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ATR% flips the surface toward reversal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negative; strongest -0.301 at 20 prior / 20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92644ff9c0a438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and MEDIUM contain direct state differences</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-0.548</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25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0.038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HIGH-minus-MEDIUM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3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0d69dda73f6b4fd1"/>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3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changes the map—and leaves a replication candidate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cells are positive, but none survive the within-state scan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+0.198; 0/81 BH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continuation island survives around 5–10 prior / 2–3 forward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21/81 family; 3 strict omnibus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surface broadly reverses, especially at longer horizons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negative; max |r| = 0.301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15"/>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Bookmarked next questions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Replicate ATR% on a frozen sample. Then split green ER20 into up/down direction and test external market context.</a:t>
            </a:r>
          </a:p>
        </p:txBody>
      </p:sp>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SPY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881"/>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SPY's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spTree>
    <p:extLst>
      <p:ext uri="{BB962C8B-B14F-4D97-AF65-F5344CB8AC3E}">
        <p14:creationId xmlns:p14="http://schemas.microsoft.com/office/powerpoint/2010/main" val="802480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SPY ATR% before reading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SPY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SPY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SPY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SPY state uses Wilder ATR14 / close, ranked against the prior 252 completed SPY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SPY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ad0c6773eb24033"/>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1df70769f7af4264"/>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reveals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+0.228 at 5 prior / 10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bf37c3d554b4af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9f671ae375d4e2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MEDIUM turns long-forward returns negative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67/81 cells negative; strongest -0.191 at 15 prior / 20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997e507937b477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786c221412842b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HIGH leaves a mild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60/81 cells positive; max |r| = 0.103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fa99e27c6314b8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53e811a08bf445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-0.389</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0.016</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35ed67ad186b4ad2"/>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04ec7f9bed154dbc"/>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context changes the map—but confirms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SPY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1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Broadly preserves the positive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same sign vs own LOW; mean r +0.091</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68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Reverses the own-asset MEDIUM interpretation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14/81 same sign; mean r -0.058</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SPY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0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and mixed—not broad TSLA reversal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25/81 same sign; mean r +0.031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External context is a promising descriptive axis. Next: brainstorm cross-sectional cues; keep replication and strategy gates closed.</a:t>
            </a:r>
          </a:p>
        </p:txBody>
      </p:sp>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QUASI-EXTERNAL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QQQ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6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QQQ's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QQQ is quasi-external;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spTree>
    <p:extLst>
      <p:ext uri="{BB962C8B-B14F-4D97-AF65-F5344CB8AC3E}">
        <p14:creationId xmlns:p14="http://schemas.microsoft.com/office/powerpoint/2010/main" val="802480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QQQ ATR% to read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QQQ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QQQ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QQQ state uses Wilder ATR14 / close, ranked against the prior 252 completed QQQ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QQQ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3e2ac4969ee4597"/>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53b086be7b8430e"/>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reveals broad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positive; strongest +0.260 at 10 prior / 5 forward; family q = 0.051,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51eb114bf6d40d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9f620f086fb4b1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MEDIUM weakens at longer horizons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44/81 cells positive; long/long cells turn negative; strongest -0.224 at 20 prior / 25 forward;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4fe00df51084a3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136867d69a143d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HIGH leaves a mild negative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59/81 cells negative; max |r| = 0.112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7ec4784a10d445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95ce924b1e34db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-0.342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10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0.274</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ab0dc10c1e78403c"/>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d600eb9def564b0d"/>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reshapes TSLA returns—but leaves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5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Preserves the broad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positive; 77/81 same sign vs own; mean r +0.123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QQQ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Weakens own-asset MEDIUM; long horizons turn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44/81 positive; 44/81 same sign vs own; mean r -0.010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QQQ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negative map; closer to TSLA-own HIGH than SPY 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59/81 negative; 63/81 same sign vs own; mean r -0.022</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QQQ is a coherent quasi-external axis—not independent evidence. Next: frozen QQQ/SPY lead–lag grid; keep strategy gates closed.</a:t>
            </a:r>
          </a:p>
        </p:txBody>
      </p:sp>
    </p:spTree>
    <p:extLst>
      <p:ext uri="{BB962C8B-B14F-4D97-AF65-F5344CB8AC3E}">
        <p14:creationId xmlns:p14="http://schemas.microsoft.com/office/powerpoint/2010/main" val="6665362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PRIOR RETURNS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prior market return foreshadow TSLA?</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Compare QQQ and SPY return windows ending at the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target, sample, horizons, timing boundary, and uncertainty. No relative-strength model.</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48</a:t>
            </a:r>
          </a:p>
        </p:txBody>
      </p:sp>
    </p:spTree>
    <p:extLst>
      <p:ext uri="{BB962C8B-B14F-4D97-AF65-F5344CB8AC3E}">
        <p14:creationId xmlns:p14="http://schemas.microsoft.com/office/powerpoint/2010/main" val="8024806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8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market return ends before TSLA's future begins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485"/>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 SPY R−(p)  →  TSLA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market-return window ends at anchor close t. TSLA's following return begins after 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separate prior-return authorities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cross-asset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Predictors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QQQ and SPY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each; 162 pooled BH tests</a:t>
            </a:r>
          </a:p>
        </p:txBody>
      </p:sp>
    </p:spTree>
    <p:extLst>
      <p:ext uri="{BB962C8B-B14F-4D97-AF65-F5344CB8AC3E}">
        <p14:creationId xmlns:p14="http://schemas.microsoft.com/office/powerpoint/2010/main" val="13972833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QQQ return reveals a medium-horizon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+0.134 at 10 prior / 10 forward; family q = 0.361,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606427e8003420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bbbba8790b641a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SPY return traces the same, weaker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70/81 cells positive; strongest +0.111 at 10 prior / 5 forward; family q = 0.662,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77c750fea58451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deb045077414a2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maps differ only modestly</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+0.035</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QQQ-minus-SPY change: 15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79 / 81</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cells with the same correlation sign</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r = 0.947</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cellwise correlation between the two maps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b6f6e279d09d4e97"/>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e40db291dd6f434d"/>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largely reproduce TSLA's own horizon map</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Map correlation vs TSLA-own: QQQ +0.906, SPY +0.965; no external BH survivor.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fc4d56765df4ed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c335c0fe338b4e00"/>
          <a:stretch xmlns:a="http://schemas.openxmlformats.org/drawingml/2006/main"/>
        </p:blipFill>
        <p:spPr>
          <a:xfrm xmlns:a="http://schemas.openxmlformats.org/drawingml/2006/main">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prior returns reveal shared geometry—not a lead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PRIOR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325"/>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island peaks around 5–10 prior / 5–10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positive; max r +0.134; 0/81 family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PRIOR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Nearly the same surface, with slightly weaker point estimates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70/81 positive; max r +0.111; 0/81 family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TSLA-OWN BASELINE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already exists in TSLA's own prior-return map</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QQQ/own map r +0.906; SPY/own r +0.965</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Shared trend geometry is a useful clue, but no distinct external lead or multiplicity survivor is established. Keep the strategy gate closed.</a:t>
            </a:r>
          </a:p>
        </p:txBody>
      </p:sp>
    </p:spTree>
    <p:extLst>
      <p:ext uri="{BB962C8B-B14F-4D97-AF65-F5344CB8AC3E}">
        <p14:creationId xmlns:p14="http://schemas.microsoft.com/office/powerpoint/2010/main" val="66653628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SIGN ASYMMETRY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aggregate map mix losses and gains?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9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Split the same signed prior return at zero—without changing its scale.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horizons, timing, ER20, and ATR% states. No rule or post-2023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55</a:t>
            </a:r>
          </a:p>
        </p:txBody>
      </p:sp>
    </p:spTree>
    <p:extLst>
      <p:ext uri="{BB962C8B-B14F-4D97-AF65-F5344CB8AC3E}">
        <p14:creationId xmlns:p14="http://schemas.microsoft.com/office/powerpoint/2010/main" val="8024806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and gain branches share one signed return scale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X &lt; 0  versus  X &gt; 0</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Negative values stay negative. A joint interaction model allows both the intercept and slope to differ across the two branches.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6</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conditioning surfaces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asymmetry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Negative and positive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 162 / 243 direct BH tests</a:t>
            </a:r>
          </a:p>
        </p:txBody>
      </p:sp>
    </p:spTree>
    <p:extLst>
      <p:ext uri="{BB962C8B-B14F-4D97-AF65-F5344CB8AC3E}">
        <p14:creationId xmlns:p14="http://schemas.microsoft.com/office/powerpoint/2010/main" val="13972833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1×1 survivor is rebound geometry after losses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Negative slope −0.182 vs positive +0.053; difference +0.235, 81-cell BH q=0.044. Up odds: 52.9% vs 52.1%.</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5c40c145e81451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fa4d709704545d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unfiltered cells survive the BH asymmetry scan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1/1 and a 20-prior / 4–10-forward cluster survive; negative branches reverse while positive branches stay near zero.</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04d4b69846e4a0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555921a5667f47b6"/>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79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minus negative detects a kink—not a spread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b+ − b−</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546"/>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Compare two conditional slopes. Like an asymmetric spring, deeper losses can create rebound pressure while larger gains add little information.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hinge at prior return = 0</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How to read the blue cells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Negative branch</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&lt; 0: deeper loss → stronger rebound</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Positive branch</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8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0: gain size → little information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Difference</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b− &gt; 0: sign changes the mapping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Not a trade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realized returns are being subtracted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Candidate use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0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Score loss severity only inside X &lt; 0</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Guardrail</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Slope asymmetry ≠ positive expectancy</a:t>
            </a:r>
          </a:p>
        </p:txBody>
      </p:sp>
    </p:spTree>
    <p:extLst>
      <p:ext uri="{BB962C8B-B14F-4D97-AF65-F5344CB8AC3E}">
        <p14:creationId xmlns:p14="http://schemas.microsoft.com/office/powerpoint/2010/main" val="139728336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1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reorganizes the branches, but no asymmetry survives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0/162 direct slope interactions pass BH; ER20 and prior return share trailing TSLA path data.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8f3b2d82b4a4dd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67ff313212143b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isolates two clusters—but not a rule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HIGH 1/1 plus LOW 20–25 prior / 15–20 forward: 5/243 pass BH. LOW loss branches have only 165–167 observations.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80eb43aaaed4e1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539580216bd4bf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split reveals rebound geometry—not momentum</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ADJACENT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1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slope after losses—not sign persistence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q=0.044; up odds 52.9% after loss vs 52.1% after gain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UNFILTERED 9×9</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4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Coherent 20-prior / 4–10-forward rebound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4/81 BH passes; nested horizons share data</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REGIME SPLITS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none; ATR% HIGH 1×1 plus LOW long-horizon cluster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0/162 ER20; 5/243 ATR%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novel in-sample asymmetry worth frozen sensitivity—not a trading rule. Keep the strategy gate closed.</a:t>
            </a:r>
          </a:p>
        </p:txBody>
      </p:sp>
    </p:spTree>
    <p:extLst>
      <p:ext uri="{BB962C8B-B14F-4D97-AF65-F5344CB8AC3E}">
        <p14:creationId xmlns:p14="http://schemas.microsoft.com/office/powerpoint/2010/main" val="6665362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TREND DIRECTION</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path efficiency also reveal direction?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Retain the sign of the same 20-session efficiency score.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window, cutoff, and causal timing. No return-grid conditioning yet.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63</a:t>
            </a:r>
          </a:p>
        </p:txBody>
      </p:sp>
    </p:spTree>
    <p:extLst>
      <p:ext uri="{BB962C8B-B14F-4D97-AF65-F5344CB8AC3E}">
        <p14:creationId xmlns:p14="http://schemas.microsoft.com/office/powerpoint/2010/main" val="8024806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turns one path score into three states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net move / total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numerator keeps direction; the denominator penalizes churn. Taking the absolute value reproduces ER20 exactly.</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 sideways / down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direction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Window</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 sessions</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Up state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Sideways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between −0.30 and +0.30</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Down state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None</a:t>
            </a:r>
          </a:p>
        </p:txBody>
      </p:sp>
    </p:spTree>
    <p:extLst>
      <p:ext uri="{BB962C8B-B14F-4D97-AF65-F5344CB8AC3E}">
        <p14:creationId xmlns:p14="http://schemas.microsoft.com/office/powerpoint/2010/main" val="139728336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6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separates direction without a crossover</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Net 20-session log displacement divided by the total path traveled; sign is retained.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marks efficient rises, red efficient declines, and gray an inefficient path. Down states are visibly shorter on TSLA.</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27873e36d83d48ad"/>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is readable—but still flickery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STATE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Green up, gray sideways, red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1,509 causal daily labels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CHURN CONTROL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88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direction reversal crosses the neutral band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direct up/down flips; 10.3% daily transition rate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5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states are brief and boundaries still flicker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12.1% occupancy; median span 2 sessions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as the template's direction baseline—not a predictor. Parameter search waits until after the multi-asset atlas.</a:t>
            </a:r>
          </a:p>
        </p:txBody>
      </p:sp>
    </p:spTree>
    <p:extLst>
      <p:ext uri="{BB962C8B-B14F-4D97-AF65-F5344CB8AC3E}">
        <p14:creationId xmlns:p14="http://schemas.microsoft.com/office/powerpoint/2010/main" val="66653628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RETURN GEOMETRY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changes when direction meets the return grid?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Apply the frozen three-state label to the existing 9 × 9 surface.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data, horizons, uncertainty, and sign branches. No tuning or later-period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67</a:t>
            </a:r>
          </a:p>
        </p:txBody>
      </p:sp>
    </p:spTree>
    <p:extLst>
      <p:ext uri="{BB962C8B-B14F-4D97-AF65-F5344CB8AC3E}">
        <p14:creationId xmlns:p14="http://schemas.microsoft.com/office/powerpoint/2010/main" val="8024806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partly determines prior-return sign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p=20 shares the numerator</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 p=20, prior return and signed ER20 use the same displacement. Opposite-sign trend branches cannot exist.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171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estimable sign-branch contrasts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 / SIDEWAYS / DOWN</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Grid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 prior × 9 following</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 floor</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 ≥ 30 per sign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Structural NE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1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UP-negative; DOWN-positive at p=20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Family + global BH</a:t>
            </a:r>
          </a:p>
        </p:txBody>
      </p:sp>
    </p:spTree>
    <p:extLst>
      <p:ext uri="{BB962C8B-B14F-4D97-AF65-F5344CB8AC3E}">
        <p14:creationId xmlns:p14="http://schemas.microsoft.com/office/powerpoint/2010/main" val="139728336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states reveal a broad rebound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 18/81 within-state BH passes; UP and SIDEWAYS: 0/81. Strongest p20→f20 r = −0.576.</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5a4fcaf11fe47a2"/>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differs sharply from SIDEWAYS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DOWN−SIDEWAYS: 24/81 pairwise BH passes; strongest correlation delta −0.551 at p20→f20.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77a1d2663cc43b8"/>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Short-prior asymmetry concentrates in DOWN states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17 DOWN interactions pass BH at prior 1–5; p5→f20 correlation delta +0.812. NE marks branch n&lt;30.</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6c90c8989d94c4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filter makes some sign branches unobservable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p20, UP has no negative-prior observations and DOWN no positive-prior observations; nearby horizons are sparse.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3c0942381f94c09"/>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exposes rebound—not trend continuation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AGGREGATE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island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18/81 BH; p20→f20 r −0.576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BRANCH KINK</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short-prior slope split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17 BH; p5→f20 delta r +0.812</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DEPENDENCE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Filter and predictor share the path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p20 opposite-sign branches are structurally empty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4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the DOWN-rebound shape for cross-asset transport—no tuning and no trading rule.</a:t>
            </a:r>
          </a:p>
        </p:txBody>
      </p:sp>
    </p:spTree>
    <p:extLst>
      <p:ext uri="{BB962C8B-B14F-4D97-AF65-F5344CB8AC3E}">
        <p14:creationId xmlns:p14="http://schemas.microsoft.com/office/powerpoint/2010/main" val="66653628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TRANSPORT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TSLA rebound shape survive transport?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Run the same signed-ER20 microscope across a predeclared 30-asset atlas.</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Atlas first. Finer horizons wait until cross-asset morphology gives us a reason to zoom.</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74</a:t>
            </a:r>
          </a:p>
        </p:txBody>
      </p:sp>
    </p:spTree>
    <p:extLst>
      <p:ext uri="{BB962C8B-B14F-4D97-AF65-F5344CB8AC3E}">
        <p14:creationId xmlns:p14="http://schemas.microsoft.com/office/powerpoint/2010/main" val="802480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8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Atlas first—transport the frozen microscope unchanged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30 assets / 6 behavior groups</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basket spans high-beta names, mature growth, cyclicals, defensives, equity ETFs, and non-equity proxies.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non-TSLA transport assets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Frozen transport contract</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Adjusted daily, 2018–2023</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1,2,3,4,5,10,15,20,25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Conditioning</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ER20 + ATR%</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Frozen cells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7 TSLA-discovered comparisons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Inference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HAC + fixed-family BH</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 refinement</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6–9 sessions not searched</a:t>
            </a:r>
          </a:p>
        </p:txBody>
      </p:sp>
    </p:spTree>
    <p:extLst>
      <p:ext uri="{BB962C8B-B14F-4D97-AF65-F5344CB8AC3E}">
        <p14:creationId xmlns:p14="http://schemas.microsoft.com/office/powerpoint/2010/main" val="139728336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frozen DOWN p20→f20 cell transports broadly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23/29 transport assets are negative; median Pearson r = −0.196. Twelve survive fixed-family BH.</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d482a6370bc4b11"/>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Rebound spans the 15–25-session neighborhood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Every equal-asset median in the 15/20/25 × 15/20/25 corner is negative; 70%–83% of assets agree per cell.</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d05b062b86f4387"/>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behavior group leans toward rebound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six group medians are negative at DOWN p20→f20; strength varies, but no group reverses the sign.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fa793166df14184"/>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Thirty maps repeat the corner—but differ locally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long-horizon red corner recurs across many assets, while local surface shape remains heterogeneous.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04d51a11af14114"/>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transports—and what does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TRANSPORTS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23/29 negative; median r −0.196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WEAKENS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1×1 sign kink</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raw passes; 27.6% same sign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HETEROGENEITY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Maps differ in strength and detail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all 6 group medians still negative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26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Keep the broad DOWN-rebound morphology; retire any universal sign-kink interpretation.</a:t>
            </a:r>
          </a:p>
        </p:txBody>
      </p:sp>
    </p:spTree>
    <p:extLst>
      <p:ext uri="{BB962C8B-B14F-4D97-AF65-F5344CB8AC3E}">
        <p14:creationId xmlns:p14="http://schemas.microsoft.com/office/powerpoint/2010/main" val="66653628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Why breadth is still not an edge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81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 and predictor share the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02"/>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Signed ER20 defines DOWN using the same trailing displacement used by the p20 prior return. Selection geometry can amplify the pattern.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trading claims authorized</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Evidence boundary</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have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cross-asset morphology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lack</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later-time confirmation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Also absent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expectancy, costs, execution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Mechanical caveat</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p20 displacement is shared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Interpretation</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descriptive dependence</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Next authority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operator opens next gate</a:t>
            </a:r>
          </a:p>
        </p:txBody>
      </p:sp>
    </p:spTree>
    <p:extLst>
      <p:ext uri="{BB962C8B-B14F-4D97-AF65-F5344CB8AC3E}">
        <p14:creationId xmlns:p14="http://schemas.microsoft.com/office/powerpoint/2010/main" val="139728336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stop before adding 6–9 sessions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NOW</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Frozen atlas is complete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broad transport demonstrated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NOT YET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6–9-session local zoom</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motivated by atlas shape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NEXT GATE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confirm or refine 15–25</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with a frozen, later-time design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Atlas first was the right order. Any finer search should target the transported 15–25-session neighborhood.</a:t>
            </a:r>
          </a:p>
        </p:txBody>
      </p:sp>
    </p:spTree>
    <p:extLst>
      <p:ext uri="{BB962C8B-B14F-4D97-AF65-F5344CB8AC3E}">
        <p14:creationId xmlns:p14="http://schemas.microsoft.com/office/powerpoint/2010/main" val="66653628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BEHAVIORAL CATALOG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else can this microscope reveal?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Treat return geometry as a four-archetype behavioral vocabulary—not a search for one recurring cell.</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The atlas has already populated several archetypes. The next slides show what was observed and what remains absent.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83</a:t>
            </a:r>
          </a:p>
        </p:txBody>
      </p:sp>
    </p:spTree>
    <p:extLst>
      <p:ext uri="{BB962C8B-B14F-4D97-AF65-F5344CB8AC3E}">
        <p14:creationId xmlns:p14="http://schemas.microsoft.com/office/powerpoint/2010/main" val="8024806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can express four return behaviors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Prior sign and within-branch slope define the archetype; conditioning changes its prevalence.</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bce7748d5f34e0b"/>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Conditioning changes which behavior dominates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gain exhaustion dominates trending/up states; gain continuation clusters in sideways paths.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d053642300b40c9"/>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Momentum-like continuation is conditional—not universal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Sideways: 39/81 supported cells; ATR low: 17/81; signed up: 0/45.</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b543c7877324bda"/>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rebound is broader than the DOWN 20→20 cell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unfiltered and strongest in high-volatility and signed-down long-horizon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eaf2b4485884a82"/>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Mechanism stories become hypotheses to falsify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geometry organizes candidate explanations; correlation alone cannot identify the mechanism.</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b0d176d4e4b4db8"/>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catalogs behavior—not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METHOD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Four branch archetypes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engine, different states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OBSERVED</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Continuation is conditional</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sideways + low ATR%</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BOUNDARY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Mechanisms remain hypotheses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causal or trading authority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this catalog as the method’s descriptive vocabulary; future tests name one behavior, one state, and one horizon neighborhood.</a:t>
            </a:r>
          </a:p>
        </p:txBody>
      </p:sp>
    </p:spTree>
    <p:extLst>
      <p:ext uri="{BB962C8B-B14F-4D97-AF65-F5344CB8AC3E}">
        <p14:creationId xmlns:p14="http://schemas.microsoft.com/office/powerpoint/2010/main" val="666536286"/>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FINE-GRID TOPOLOGY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Is the rebound a real neighborhood—or a 20-session artifact?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Resolve the transported loss-rebound region from 10 to 30 sessions, one session at a time.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30 assets. Same 2018–2023 data. Negative-prior branch only. No new inference or trading test.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90</a:t>
            </a:r>
          </a:p>
        </p:txBody>
      </p:sp>
    </p:spTree>
    <p:extLst>
      <p:ext uri="{BB962C8B-B14F-4D97-AF65-F5344CB8AC3E}">
        <p14:creationId xmlns:p14="http://schemas.microsoft.com/office/powerpoint/2010/main" val="80248067"/>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slice changes resolution—not the question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LOCKED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30 assets + six groups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2018–2023 daily bars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PRIMARY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Signed-ER20 DOWN losses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10–30 by 10–30 grid</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CONTROLS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 ATR%-high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p-values or BH scan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remains fixed</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Coarse 10/15/20/25 anchors must reproduce exactly; neighboring cells are morphology, not independent tests.</a:t>
            </a:r>
          </a:p>
        </p:txBody>
      </p:sp>
    </p:spTree>
    <p:extLst>
      <p:ext uri="{BB962C8B-B14F-4D97-AF65-F5344CB8AC3E}">
        <p14:creationId xmlns:p14="http://schemas.microsoft.com/office/powerpoint/2010/main" val="666536286"/>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Fine resolution reveals an open rebound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Strong cells form connected regions across all three negative-prior views—not a bounded 20→20 island.</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c0dd956b27f4360"/>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7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shape is shared across assets—not carried by one name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least 70% of assets are negative in most signed-down and ATR%-high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d3c85a304734b32"/>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Window 20 sits inside the curve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Holding one horizon at 20 produces broad curves, not a singular notch at the signed-ER measurement window.</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bdeb5bcd4a24679"/>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Group maps reveal meaningful heterogeneity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Equity ETFs and defensive equities are darkest; five-name groups remain exploratory representation.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30bb2d46eb34ec9"/>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Coverage—not the hottest cell—defines the finding</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Strong-cell coverage: 66% unfiltered, 95% ATR%-high, and 94% signed-down.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810eaf1d89649e5"/>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freeze one open plateau—then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rebound plateau</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a 20-session island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EARNS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Less coupling concern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geometry across windows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chosen horizon or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edge or causality claim</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1002"/>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gate belongs to the operator</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Choose temporal transport of one frozen neighborhood summary or a separately predeclared atlas-breadth expansion. Do not chase the open boundary.</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2026-08-27T05:39:05.2330000Z</dcterms:created>
  <dcterms:modified xsi:type="dcterms:W3CDTF">2026-08-27T05:39:05.2330000Z</dcterms:modified>
</coreProperties>
</file>