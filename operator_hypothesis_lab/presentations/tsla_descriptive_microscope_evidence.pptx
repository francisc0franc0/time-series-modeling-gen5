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e67506ec934e00" /><Relationship Type="http://schemas.openxmlformats.org/officeDocument/2006/relationships/extended-properties" Target="/docProps/app.xml" Id="Rb8f378a152c94364" /><Relationship Type="http://schemas.openxmlformats.org/officeDocument/2006/relationships/officeDocument" Target="/ppt/presentation.xml" Id="R62d52a1c6dd140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1dd1f23718494c"/>
  </p:sldMasterIdLst>
  <p:notesMasterIdLst>
    <p:notesMasterId xmlns:r="http://schemas.openxmlformats.org/officeDocument/2006/relationships" r:id="R81b9721162024041"/>
  </p:notesMasterIdLst>
  <p:sldIdLst>
    <p:sldId xmlns:r="http://schemas.openxmlformats.org/officeDocument/2006/relationships" id="256" r:id="Rd529e9f358b244a8"/>
    <p:sldId xmlns:r="http://schemas.openxmlformats.org/officeDocument/2006/relationships" id="257" r:id="Rc356486f566f4c2d"/>
    <p:sldId xmlns:r="http://schemas.openxmlformats.org/officeDocument/2006/relationships" id="258" r:id="Re82aef3c68f04574"/>
    <p:sldId xmlns:r="http://schemas.openxmlformats.org/officeDocument/2006/relationships" id="259" r:id="R466e892a068d4664"/>
    <p:sldId xmlns:r="http://schemas.openxmlformats.org/officeDocument/2006/relationships" id="260" r:id="Re417a43f19134f68"/>
    <p:sldId xmlns:r="http://schemas.openxmlformats.org/officeDocument/2006/relationships" id="261" r:id="R271f45b6d12c4495"/>
    <p:sldId xmlns:r="http://schemas.openxmlformats.org/officeDocument/2006/relationships" id="262" r:id="Ra863e21e033d4d76"/>
    <p:sldId xmlns:r="http://schemas.openxmlformats.org/officeDocument/2006/relationships" id="263" r:id="R8232b5c9785d4cbc"/>
    <p:sldId xmlns:r="http://schemas.openxmlformats.org/officeDocument/2006/relationships" id="264" r:id="Rc1acf6d23e044b0e"/>
    <p:sldId xmlns:r="http://schemas.openxmlformats.org/officeDocument/2006/relationships" id="265" r:id="Rb7ec82c82c8c44dc"/>
    <p:sldId xmlns:r="http://schemas.openxmlformats.org/officeDocument/2006/relationships" id="266" r:id="Rf2c7793e025b4400"/>
    <p:sldId xmlns:r="http://schemas.openxmlformats.org/officeDocument/2006/relationships" id="267" r:id="R20791de619b74893"/>
    <p:sldId xmlns:r="http://schemas.openxmlformats.org/officeDocument/2006/relationships" id="268" r:id="R312c8a5fd9354a03"/>
    <p:sldId xmlns:r="http://schemas.openxmlformats.org/officeDocument/2006/relationships" id="269" r:id="R6267bdbaeb1449f0"/>
    <p:sldId xmlns:r="http://schemas.openxmlformats.org/officeDocument/2006/relationships" id="270" r:id="R38d4bb1e362b4bdd"/>
    <p:sldId xmlns:r="http://schemas.openxmlformats.org/officeDocument/2006/relationships" id="271" r:id="R1b58016fb1d042df"/>
    <p:sldId xmlns:r="http://schemas.openxmlformats.org/officeDocument/2006/relationships" id="272" r:id="R2898cb1bddef4c5c"/>
    <p:sldId xmlns:r="http://schemas.openxmlformats.org/officeDocument/2006/relationships" id="273" r:id="R33a1585bb05144cd"/>
    <p:sldId xmlns:r="http://schemas.openxmlformats.org/officeDocument/2006/relationships" id="274" r:id="R547410e006904312"/>
    <p:sldId xmlns:r="http://schemas.openxmlformats.org/officeDocument/2006/relationships" id="275" r:id="Ref611fff2b354357"/>
    <p:sldId xmlns:r="http://schemas.openxmlformats.org/officeDocument/2006/relationships" id="276" r:id="Rdbb3af3237464437"/>
    <p:sldId xmlns:r="http://schemas.openxmlformats.org/officeDocument/2006/relationships" id="277" r:id="R255205585b564edd"/>
    <p:sldId xmlns:r="http://schemas.openxmlformats.org/officeDocument/2006/relationships" id="278" r:id="R2de7367c44454c4e"/>
    <p:sldId xmlns:r="http://schemas.openxmlformats.org/officeDocument/2006/relationships" id="279" r:id="Rb140ee5455714ab5"/>
    <p:sldId xmlns:r="http://schemas.openxmlformats.org/officeDocument/2006/relationships" id="280" r:id="Re3170730671c4b8c"/>
    <p:sldId xmlns:r="http://schemas.openxmlformats.org/officeDocument/2006/relationships" id="281" r:id="R3007416aff5347b4"/>
    <p:sldId xmlns:r="http://schemas.openxmlformats.org/officeDocument/2006/relationships" id="282" r:id="R115c58aa49174245"/>
    <p:sldId xmlns:r="http://schemas.openxmlformats.org/officeDocument/2006/relationships" id="283" r:id="R994bb15582184ec0"/>
    <p:sldId xmlns:r="http://schemas.openxmlformats.org/officeDocument/2006/relationships" id="284" r:id="R1b996ff9f0024938"/>
    <p:sldId xmlns:r="http://schemas.openxmlformats.org/officeDocument/2006/relationships" id="285" r:id="R5a22998ac5a0497d"/>
    <p:sldId xmlns:r="http://schemas.openxmlformats.org/officeDocument/2006/relationships" id="286" r:id="R7c475a0f575e4aa8"/>
    <p:sldId xmlns:r="http://schemas.openxmlformats.org/officeDocument/2006/relationships" id="287" r:id="R3b45af128ea74c6a"/>
    <p:sldId xmlns:r="http://schemas.openxmlformats.org/officeDocument/2006/relationships" id="288" r:id="R19b26324dfbb4383"/>
    <p:sldId xmlns:r="http://schemas.openxmlformats.org/officeDocument/2006/relationships" id="289" r:id="R6ed55f6b04014b49"/>
    <p:sldId xmlns:r="http://schemas.openxmlformats.org/officeDocument/2006/relationships" id="290" r:id="R835a57eaaae64903"/>
    <p:sldId xmlns:r="http://schemas.openxmlformats.org/officeDocument/2006/relationships" id="291" r:id="R65a926a64c0b4c0e"/>
    <p:sldId xmlns:r="http://schemas.openxmlformats.org/officeDocument/2006/relationships" id="292" r:id="Ra9839fa44c77492a"/>
    <p:sldId xmlns:r="http://schemas.openxmlformats.org/officeDocument/2006/relationships" id="293" r:id="R64dc8a30f4ea4728"/>
    <p:sldId xmlns:r="http://schemas.openxmlformats.org/officeDocument/2006/relationships" id="294" r:id="R6a754a44c34f4bb1"/>
    <p:sldId xmlns:r="http://schemas.openxmlformats.org/officeDocument/2006/relationships" id="295" r:id="Rd11cc658b8b34b22"/>
    <p:sldId xmlns:r="http://schemas.openxmlformats.org/officeDocument/2006/relationships" id="296" r:id="Rfeb0eeab965c4579"/>
    <p:sldId xmlns:r="http://schemas.openxmlformats.org/officeDocument/2006/relationships" id="297" r:id="R44e04f7905f4410e"/>
    <p:sldId xmlns:r="http://schemas.openxmlformats.org/officeDocument/2006/relationships" id="298" r:id="R038cd30c6eda455d"/>
    <p:sldId xmlns:r="http://schemas.openxmlformats.org/officeDocument/2006/relationships" id="299" r:id="Red0a0811517d4db8"/>
    <p:sldId xmlns:r="http://schemas.openxmlformats.org/officeDocument/2006/relationships" id="300" r:id="Re5f12015abb14c9a"/>
    <p:sldId xmlns:r="http://schemas.openxmlformats.org/officeDocument/2006/relationships" id="301" r:id="Raf568e89fb1d4048"/>
    <p:sldId xmlns:r="http://schemas.openxmlformats.org/officeDocument/2006/relationships" id="302" r:id="Rabe8660e61b741df"/>
    <p:sldId xmlns:r="http://schemas.openxmlformats.org/officeDocument/2006/relationships" id="303" r:id="R1e3bb9b4fb694bf7"/>
    <p:sldId xmlns:r="http://schemas.openxmlformats.org/officeDocument/2006/relationships" id="304" r:id="Rbd4fbf1d201047a9"/>
    <p:sldId xmlns:r="http://schemas.openxmlformats.org/officeDocument/2006/relationships" id="305" r:id="Rfbfcb626eabe4614"/>
    <p:sldId xmlns:r="http://schemas.openxmlformats.org/officeDocument/2006/relationships" id="306" r:id="Rd82e957cec7e42e8"/>
    <p:sldId xmlns:r="http://schemas.openxmlformats.org/officeDocument/2006/relationships" id="307" r:id="Rf5fd6644ebf94e6a"/>
    <p:sldId xmlns:r="http://schemas.openxmlformats.org/officeDocument/2006/relationships" id="308" r:id="R06d63831d43b48e5"/>
    <p:sldId xmlns:r="http://schemas.openxmlformats.org/officeDocument/2006/relationships" id="309" r:id="Rdc2f36f62e9b41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68a167d517401b" /><Relationship Type="http://schemas.openxmlformats.org/officeDocument/2006/relationships/slideMaster" Target="/ppt/slideMasters/slideMaster1.xml" Id="Rf61dd1f23718494c" /><Relationship Type="http://schemas.openxmlformats.org/officeDocument/2006/relationships/notesMaster" Target="/ppt/notesMasters/notesMaster1.xml" Id="R81b9721162024041" /><Relationship Type="http://schemas.openxmlformats.org/officeDocument/2006/relationships/presProps" Target="/ppt/presProps.xml" Id="R4ac66c9abd1a44e4" /><Relationship Type="http://schemas.openxmlformats.org/officeDocument/2006/relationships/tableStyles" Target="/ppt/tableStyles.xml" Id="R3a56d343d9324fce" /><Relationship Type="http://schemas.openxmlformats.org/officeDocument/2006/relationships/slide" Target="/ppt/slides/slide1.xml" Id="Rd529e9f358b244a8" /><Relationship Type="http://schemas.openxmlformats.org/officeDocument/2006/relationships/slide" Target="/ppt/slides/slide2.xml" Id="Rc356486f566f4c2d" /><Relationship Type="http://schemas.openxmlformats.org/officeDocument/2006/relationships/slide" Target="/ppt/slides/slide3.xml" Id="Re82aef3c68f04574" /><Relationship Type="http://schemas.openxmlformats.org/officeDocument/2006/relationships/slide" Target="/ppt/slides/slide4.xml" Id="R466e892a068d4664" /><Relationship Type="http://schemas.openxmlformats.org/officeDocument/2006/relationships/slide" Target="/ppt/slides/slide5.xml" Id="Re417a43f19134f68" /><Relationship Type="http://schemas.openxmlformats.org/officeDocument/2006/relationships/slide" Target="/ppt/slides/slide6.xml" Id="R271f45b6d12c4495" /><Relationship Type="http://schemas.openxmlformats.org/officeDocument/2006/relationships/slide" Target="/ppt/slides/slide7.xml" Id="Ra863e21e033d4d76" /><Relationship Type="http://schemas.openxmlformats.org/officeDocument/2006/relationships/slide" Target="/ppt/slides/slide8.xml" Id="R8232b5c9785d4cbc" /><Relationship Type="http://schemas.openxmlformats.org/officeDocument/2006/relationships/slide" Target="/ppt/slides/slide9.xml" Id="Rc1acf6d23e044b0e" /><Relationship Type="http://schemas.openxmlformats.org/officeDocument/2006/relationships/slide" Target="/ppt/slides/slide10.xml" Id="Rb7ec82c82c8c44dc" /><Relationship Type="http://schemas.openxmlformats.org/officeDocument/2006/relationships/slide" Target="/ppt/slides/slide11.xml" Id="Rf2c7793e025b4400" /><Relationship Type="http://schemas.openxmlformats.org/officeDocument/2006/relationships/slide" Target="/ppt/slides/slide12.xml" Id="R20791de619b74893" /><Relationship Type="http://schemas.openxmlformats.org/officeDocument/2006/relationships/slide" Target="/ppt/slides/slide13.xml" Id="R312c8a5fd9354a03" /><Relationship Type="http://schemas.openxmlformats.org/officeDocument/2006/relationships/slide" Target="/ppt/slides/slide14.xml" Id="R6267bdbaeb1449f0" /><Relationship Type="http://schemas.openxmlformats.org/officeDocument/2006/relationships/slide" Target="/ppt/slides/slide15.xml" Id="R38d4bb1e362b4bdd" /><Relationship Type="http://schemas.openxmlformats.org/officeDocument/2006/relationships/slide" Target="/ppt/slides/slide16.xml" Id="R1b58016fb1d042df" /><Relationship Type="http://schemas.openxmlformats.org/officeDocument/2006/relationships/slide" Target="/ppt/slides/slide17.xml" Id="R2898cb1bddef4c5c" /><Relationship Type="http://schemas.openxmlformats.org/officeDocument/2006/relationships/slide" Target="/ppt/slides/slide18.xml" Id="R33a1585bb05144cd" /><Relationship Type="http://schemas.openxmlformats.org/officeDocument/2006/relationships/slide" Target="/ppt/slides/slide19.xml" Id="R547410e006904312" /><Relationship Type="http://schemas.openxmlformats.org/officeDocument/2006/relationships/slide" Target="/ppt/slides/slide20.xml" Id="Ref611fff2b354357" /><Relationship Type="http://schemas.openxmlformats.org/officeDocument/2006/relationships/slide" Target="/ppt/slides/slide21.xml" Id="Rdbb3af3237464437" /><Relationship Type="http://schemas.openxmlformats.org/officeDocument/2006/relationships/slide" Target="/ppt/slides/slide22.xml" Id="R255205585b564edd" /><Relationship Type="http://schemas.openxmlformats.org/officeDocument/2006/relationships/slide" Target="/ppt/slides/slide23.xml" Id="R2de7367c44454c4e" /><Relationship Type="http://schemas.openxmlformats.org/officeDocument/2006/relationships/slide" Target="/ppt/slides/slide24.xml" Id="Rb140ee5455714ab5" /><Relationship Type="http://schemas.openxmlformats.org/officeDocument/2006/relationships/slide" Target="/ppt/slides/slide25.xml" Id="Re3170730671c4b8c" /><Relationship Type="http://schemas.openxmlformats.org/officeDocument/2006/relationships/slide" Target="/ppt/slides/slide26.xml" Id="R3007416aff5347b4" /><Relationship Type="http://schemas.openxmlformats.org/officeDocument/2006/relationships/slide" Target="/ppt/slides/slide27.xml" Id="R115c58aa49174245" /><Relationship Type="http://schemas.openxmlformats.org/officeDocument/2006/relationships/slide" Target="/ppt/slides/slide28.xml" Id="R994bb15582184ec0" /><Relationship Type="http://schemas.openxmlformats.org/officeDocument/2006/relationships/slide" Target="/ppt/slides/slide29.xml" Id="R1b996ff9f0024938" /><Relationship Type="http://schemas.openxmlformats.org/officeDocument/2006/relationships/slide" Target="/ppt/slides/slide30.xml" Id="R5a22998ac5a0497d" /><Relationship Type="http://schemas.openxmlformats.org/officeDocument/2006/relationships/slide" Target="/ppt/slides/slide31.xml" Id="R7c475a0f575e4aa8" /><Relationship Type="http://schemas.openxmlformats.org/officeDocument/2006/relationships/slide" Target="/ppt/slides/slide32.xml" Id="R3b45af128ea74c6a" /><Relationship Type="http://schemas.openxmlformats.org/officeDocument/2006/relationships/slide" Target="/ppt/slides/slide33.xml" Id="R19b26324dfbb4383" /><Relationship Type="http://schemas.openxmlformats.org/officeDocument/2006/relationships/slide" Target="/ppt/slides/slide34.xml" Id="R6ed55f6b04014b49" /><Relationship Type="http://schemas.openxmlformats.org/officeDocument/2006/relationships/slide" Target="/ppt/slides/slide35.xml" Id="R835a57eaaae64903" /><Relationship Type="http://schemas.openxmlformats.org/officeDocument/2006/relationships/slide" Target="/ppt/slides/slide36.xml" Id="R65a926a64c0b4c0e" /><Relationship Type="http://schemas.openxmlformats.org/officeDocument/2006/relationships/slide" Target="/ppt/slides/slide37.xml" Id="Ra9839fa44c77492a" /><Relationship Type="http://schemas.openxmlformats.org/officeDocument/2006/relationships/slide" Target="/ppt/slides/slide38.xml" Id="R64dc8a30f4ea4728" /><Relationship Type="http://schemas.openxmlformats.org/officeDocument/2006/relationships/slide" Target="/ppt/slides/slide39.xml" Id="R6a754a44c34f4bb1" /><Relationship Type="http://schemas.openxmlformats.org/officeDocument/2006/relationships/slide" Target="/ppt/slides/slide40.xml" Id="Rd11cc658b8b34b22" /><Relationship Type="http://schemas.openxmlformats.org/officeDocument/2006/relationships/slide" Target="/ppt/slides/slide41.xml" Id="Rfeb0eeab965c4579" /><Relationship Type="http://schemas.openxmlformats.org/officeDocument/2006/relationships/slide" Target="/ppt/slides/slide42.xml" Id="R44e04f7905f4410e" /><Relationship Type="http://schemas.openxmlformats.org/officeDocument/2006/relationships/slide" Target="/ppt/slides/slide43.xml" Id="R038cd30c6eda455d" /><Relationship Type="http://schemas.openxmlformats.org/officeDocument/2006/relationships/slide" Target="/ppt/slides/slide44.xml" Id="Red0a0811517d4db8" /><Relationship Type="http://schemas.openxmlformats.org/officeDocument/2006/relationships/slide" Target="/ppt/slides/slide45.xml" Id="Re5f12015abb14c9a" /><Relationship Type="http://schemas.openxmlformats.org/officeDocument/2006/relationships/slide" Target="/ppt/slides/slide46.xml" Id="Raf568e89fb1d4048" /><Relationship Type="http://schemas.openxmlformats.org/officeDocument/2006/relationships/slide" Target="/ppt/slides/slide47.xml" Id="Rabe8660e61b741df" /><Relationship Type="http://schemas.openxmlformats.org/officeDocument/2006/relationships/slide" Target="/ppt/slides/slide48.xml" Id="R1e3bb9b4fb694bf7" /><Relationship Type="http://schemas.openxmlformats.org/officeDocument/2006/relationships/slide" Target="/ppt/slides/slide49.xml" Id="Rbd4fbf1d201047a9" /><Relationship Type="http://schemas.openxmlformats.org/officeDocument/2006/relationships/slide" Target="/ppt/slides/slide50.xml" Id="Rfbfcb626eabe4614" /><Relationship Type="http://schemas.openxmlformats.org/officeDocument/2006/relationships/slide" Target="/ppt/slides/slide51.xml" Id="Rd82e957cec7e42e8" /><Relationship Type="http://schemas.openxmlformats.org/officeDocument/2006/relationships/slide" Target="/ppt/slides/slide52.xml" Id="Rf5fd6644ebf94e6a" /><Relationship Type="http://schemas.openxmlformats.org/officeDocument/2006/relationships/slide" Target="/ppt/slides/slide53.xml" Id="R06d63831d43b48e5" /><Relationship Type="http://schemas.openxmlformats.org/officeDocument/2006/relationships/slide" Target="/ppt/slides/slide54.xml" Id="Rdc2f36f62e9b41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9a503fa22249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7443dd12864829" /><Relationship Type="http://schemas.openxmlformats.org/officeDocument/2006/relationships/notesMaster" Target="/ppt/notesMasters/notesMaster1.xml" Id="R6d2f6a6d431e46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27eae7e98a49f1" /><Relationship Type="http://schemas.openxmlformats.org/officeDocument/2006/relationships/notesMaster" Target="/ppt/notesMasters/notesMaster1.xml" Id="Re3932321d1f143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267f04777c49a8" /><Relationship Type="http://schemas.openxmlformats.org/officeDocument/2006/relationships/notesMaster" Target="/ppt/notesMasters/notesMaster1.xml" Id="R8344f514e9cb47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5f8be1c26c4c47" /><Relationship Type="http://schemas.openxmlformats.org/officeDocument/2006/relationships/notesMaster" Target="/ppt/notesMasters/notesMaster1.xml" Id="Re328ae0a0d5448f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feeaa837604c50" /><Relationship Type="http://schemas.openxmlformats.org/officeDocument/2006/relationships/notesMaster" Target="/ppt/notesMasters/notesMaster1.xml" Id="Rf6f7705ae98b42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d3a4fc923b4fa6" /><Relationship Type="http://schemas.openxmlformats.org/officeDocument/2006/relationships/notesMaster" Target="/ppt/notesMasters/notesMaster1.xml" Id="R8924417d4fdf47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7081e17e1f4bbd" /><Relationship Type="http://schemas.openxmlformats.org/officeDocument/2006/relationships/notesMaster" Target="/ppt/notesMasters/notesMaster1.xml" Id="R6aa3f5a395b9497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fbec7e561aa41fd" /><Relationship Type="http://schemas.openxmlformats.org/officeDocument/2006/relationships/notesMaster" Target="/ppt/notesMasters/notesMaster1.xml" Id="Rbe88fa0b43d34f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3f19035ac34052" /><Relationship Type="http://schemas.openxmlformats.org/officeDocument/2006/relationships/notesMaster" Target="/ppt/notesMasters/notesMaster1.xml" Id="R09488bd0e2c74f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f5b59de3e93446e" /><Relationship Type="http://schemas.openxmlformats.org/officeDocument/2006/relationships/notesMaster" Target="/ppt/notesMasters/notesMaster1.xml" Id="R9e3a3367b731435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0981ecb6ede4617" /><Relationship Type="http://schemas.openxmlformats.org/officeDocument/2006/relationships/notesMaster" Target="/ppt/notesMasters/notesMaster1.xml" Id="R7057ac68bc4540b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2f76b691ffa4cbb" /><Relationship Type="http://schemas.openxmlformats.org/officeDocument/2006/relationships/notesMaster" Target="/ppt/notesMasters/notesMaster1.xml" Id="R84a0e7677b0c4d9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5c22ac65e674ac0" /><Relationship Type="http://schemas.openxmlformats.org/officeDocument/2006/relationships/notesMaster" Target="/ppt/notesMasters/notesMaster1.xml" Id="R9a675e5a9b8a4f3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2180f02bc8a4efd" /><Relationship Type="http://schemas.openxmlformats.org/officeDocument/2006/relationships/notesMaster" Target="/ppt/notesMasters/notesMaster1.xml" Id="R23cff67312924e6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6830938557346f3" /><Relationship Type="http://schemas.openxmlformats.org/officeDocument/2006/relationships/notesMaster" Target="/ppt/notesMasters/notesMaster1.xml" Id="Rdaca5bd2336146e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ce742dca52e4a7f" /><Relationship Type="http://schemas.openxmlformats.org/officeDocument/2006/relationships/notesMaster" Target="/ppt/notesMasters/notesMaster1.xml" Id="R5b22cc2971b84e6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a158770d33c4de2" /><Relationship Type="http://schemas.openxmlformats.org/officeDocument/2006/relationships/notesMaster" Target="/ppt/notesMasters/notesMaster1.xml" Id="R58c981f1d069447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4c3d14e27f643f7" /><Relationship Type="http://schemas.openxmlformats.org/officeDocument/2006/relationships/notesMaster" Target="/ppt/notesMasters/notesMaster1.xml" Id="R15dbbf1874f1484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2ce471251264ee0" /><Relationship Type="http://schemas.openxmlformats.org/officeDocument/2006/relationships/notesMaster" Target="/ppt/notesMasters/notesMaster1.xml" Id="Rc997193824344d1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337b44b073b497c" /><Relationship Type="http://schemas.openxmlformats.org/officeDocument/2006/relationships/notesMaster" Target="/ppt/notesMasters/notesMaster1.xml" Id="R8e6deedd13854a4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f79797ff50546c7" /><Relationship Type="http://schemas.openxmlformats.org/officeDocument/2006/relationships/notesMaster" Target="/ppt/notesMasters/notesMaster1.xml" Id="Re32b1558d9ef4c9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9a757709b224959" /><Relationship Type="http://schemas.openxmlformats.org/officeDocument/2006/relationships/notesMaster" Target="/ppt/notesMasters/notesMaster1.xml" Id="Rcf0e2d5d78724e9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33a190a44344fef" /><Relationship Type="http://schemas.openxmlformats.org/officeDocument/2006/relationships/notesMaster" Target="/ppt/notesMasters/notesMaster1.xml" Id="R872f856951444b6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cda96f28d8544ff" /><Relationship Type="http://schemas.openxmlformats.org/officeDocument/2006/relationships/notesMaster" Target="/ppt/notesMasters/notesMaster1.xml" Id="R9cb1787819324c3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82d7855bfb54dc1" /><Relationship Type="http://schemas.openxmlformats.org/officeDocument/2006/relationships/notesMaster" Target="/ppt/notesMasters/notesMaster1.xml" Id="Rb3c02c00efcd401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435a3828cdb41fe" /><Relationship Type="http://schemas.openxmlformats.org/officeDocument/2006/relationships/notesMaster" Target="/ppt/notesMasters/notesMaster1.xml" Id="Rbf3c410ec1da4f0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d3fba82af8a4375" /><Relationship Type="http://schemas.openxmlformats.org/officeDocument/2006/relationships/notesMaster" Target="/ppt/notesMasters/notesMaster1.xml" Id="Rdbb8adfb0b2248b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9bba702b72040a6" /><Relationship Type="http://schemas.openxmlformats.org/officeDocument/2006/relationships/notesMaster" Target="/ppt/notesMasters/notesMaster1.xml" Id="R5ef80c67c61447a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1dcb000e4764acf" /><Relationship Type="http://schemas.openxmlformats.org/officeDocument/2006/relationships/notesMaster" Target="/ppt/notesMasters/notesMaster1.xml" Id="R078fa37f77554e2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70e463b56114af4" /><Relationship Type="http://schemas.openxmlformats.org/officeDocument/2006/relationships/notesMaster" Target="/ppt/notesMasters/notesMaster1.xml" Id="R7c6b31399428400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9e3f5104d1d460c" /><Relationship Type="http://schemas.openxmlformats.org/officeDocument/2006/relationships/notesMaster" Target="/ppt/notesMasters/notesMaster1.xml" Id="R665d7f1f0f384b2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be803faeec5491b" /><Relationship Type="http://schemas.openxmlformats.org/officeDocument/2006/relationships/notesMaster" Target="/ppt/notesMasters/notesMaster1.xml" Id="Rd13f564fcf65415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6b5faba02584a6d" /><Relationship Type="http://schemas.openxmlformats.org/officeDocument/2006/relationships/notesMaster" Target="/ppt/notesMasters/notesMaster1.xml" Id="R23d809b6d91f4d6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f359cbd6df44e21" /><Relationship Type="http://schemas.openxmlformats.org/officeDocument/2006/relationships/notesMaster" Target="/ppt/notesMasters/notesMaster1.xml" Id="Rebb815676ae4433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2fe51e2daba45f3" /><Relationship Type="http://schemas.openxmlformats.org/officeDocument/2006/relationships/notesMaster" Target="/ppt/notesMasters/notesMaster1.xml" Id="Re5629dbb8995407c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4865de264884843" /><Relationship Type="http://schemas.openxmlformats.org/officeDocument/2006/relationships/notesMaster" Target="/ppt/notesMasters/notesMaster1.xml" Id="R7d317bad658345a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66d3b8918104e70" /><Relationship Type="http://schemas.openxmlformats.org/officeDocument/2006/relationships/notesMaster" Target="/ppt/notesMasters/notesMaster1.xml" Id="Ra0eab258cc11414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6696de07de5473d" /><Relationship Type="http://schemas.openxmlformats.org/officeDocument/2006/relationships/notesMaster" Target="/ppt/notesMasters/notesMaster1.xml" Id="Rd76e3fb40ddd4690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bff7194a3ab14f86" /><Relationship Type="http://schemas.openxmlformats.org/officeDocument/2006/relationships/notesMaster" Target="/ppt/notesMasters/notesMaster1.xml" Id="R3e09a475078b4c8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9aefdcf7ca94947" /><Relationship Type="http://schemas.openxmlformats.org/officeDocument/2006/relationships/notesMaster" Target="/ppt/notesMasters/notesMaster1.xml" Id="R8a101f018fd04590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0e73f1f84ea4471" /><Relationship Type="http://schemas.openxmlformats.org/officeDocument/2006/relationships/notesMaster" Target="/ppt/notesMasters/notesMaster1.xml" Id="Rf5e701145488453e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5088e5d353c4ff1" /><Relationship Type="http://schemas.openxmlformats.org/officeDocument/2006/relationships/notesMaster" Target="/ppt/notesMasters/notesMaster1.xml" Id="R3b4a80e788954b01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b2fb8bac8104df4" /><Relationship Type="http://schemas.openxmlformats.org/officeDocument/2006/relationships/notesMaster" Target="/ppt/notesMasters/notesMaster1.xml" Id="Raddca06fc1df4da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c0f84b2cbf594ffe" /><Relationship Type="http://schemas.openxmlformats.org/officeDocument/2006/relationships/notesMaster" Target="/ppt/notesMasters/notesMaster1.xml" Id="Rcd4525a88c284a81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80a80c63b6b49e0" /><Relationship Type="http://schemas.openxmlformats.org/officeDocument/2006/relationships/notesMaster" Target="/ppt/notesMasters/notesMaster1.xml" Id="Rbcfa27fbdbfa49b6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d5acf30ac73e4098" /><Relationship Type="http://schemas.openxmlformats.org/officeDocument/2006/relationships/notesMaster" Target="/ppt/notesMasters/notesMaster1.xml" Id="Raaa460b2c5c84943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78052de4e9694bee" /><Relationship Type="http://schemas.openxmlformats.org/officeDocument/2006/relationships/notesMaster" Target="/ppt/notesMasters/notesMaster1.xml" Id="Rc57667060fc34cb3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08b8afdfa23548eb" /><Relationship Type="http://schemas.openxmlformats.org/officeDocument/2006/relationships/notesMaster" Target="/ppt/notesMasters/notesMaster1.xml" Id="R74c51907e97b4f54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e3d12ba89ce64fad" /><Relationship Type="http://schemas.openxmlformats.org/officeDocument/2006/relationships/notesMaster" Target="/ppt/notesMasters/notesMaster1.xml" Id="Rd4f58af2237b487b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1de821f1699a46b9" /><Relationship Type="http://schemas.openxmlformats.org/officeDocument/2006/relationships/notesMaster" Target="/ppt/notesMasters/notesMaster1.xml" Id="R0ef690b5f25c4cda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58dc728b42d74ca4" /><Relationship Type="http://schemas.openxmlformats.org/officeDocument/2006/relationships/notesMaster" Target="/ppt/notesMasters/notesMaster1.xml" Id="Ra3277a02e90b4ef3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2e87b0d36f4f4903" /><Relationship Type="http://schemas.openxmlformats.org/officeDocument/2006/relationships/notesMaster" Target="/ppt/notesMasters/notesMaster1.xml" Id="Rfa1af83e37764c25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8c61342cdcdd4b5e" /><Relationship Type="http://schemas.openxmlformats.org/officeDocument/2006/relationships/notesMaster" Target="/ppt/notesMasters/notesMaster1.xml" Id="Rf83d0f4044554c8f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b01372160b66439a" /><Relationship Type="http://schemas.openxmlformats.org/officeDocument/2006/relationships/notesMaster" Target="/ppt/notesMasters/notesMaster1.xml" Id="Rbf6cf68f2dfb41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this as a running laboratory notebook, not a strategy pitch.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learning objective is bottom-up hypothesis formation. The order is observation, definition, measurement, then falsification.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User-directed research workflow in this task</a:t>
            </a:r>
          </a:p>
          <a:p xmlns:a="http://schemas.openxmlformats.org/drawingml/2006/main">
            <a:r>
              <a:t>- docs/GEN5_1_POC_PROGRESS_LOG.md entries 186-188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definition before showing any statistic. The sample is the exact scatterplot surface from the prior slice.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- runs/research_workbench/operator_hypothesis_lab/tsla_lagged_return_dependence_statistics_20260825/pair_checks.csv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eye sees a dense cloud around zero and observations in all four quadrants. This slide preserves the pre-statistics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runs/research_workbench/operator_hypothesis_lab/tsla_lagged_daily_return_scatter_20260824/visuals/tsla_t_minus_1_vs_t_daily_log_return_scatter.png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ER20 asks whether the trailing path was efficient. It ignores bullish versus bearish direction and does not measure volatility.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runs/research_workbench/operator_hypothesis_lab/tsla_efficiency_ratio_regime_bands_20260824/visuals/tsla_er20_path_regime_bands.png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primary estimand is frozen before reading the result: Pearson correlation, equivalently the OLS slope in r[t] = alpha + beta r[t-1] +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scripts/inspect/run_tsla_lagged_return_dependence_statistics.R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interval includes zero and the fitted line explains roughly four hundredths of one percent of next-day return variation. HAC slope p-value is 0.451.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runs/research_workbench/operator_hypothesis_lab/tsla_lagged_return_dependence_statistics_20260825/visuals/tsla_signed_return_dependence_fitted_scatter.png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binary direction view reaches the same conclusion as the continuous-return view. The conditional probabilities are nearly identical and their difference interval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runs/research_workbench/operator_hypothesis_lab/tsla_lagged_return_dependence_statistics_20260825/direction_transition_probabilities.csv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runs/research_workbench/operator_hypothesis_lab/tsla_lagged_return_dependence_statistics_20260825/direction_transition_difference.csv</a:t>
            </a:r>
          </a:p>
          <a:p xmlns:a="http://schemas.openxmlformats.org/drawingml/2006/main">
            <a:r>
              <a:t>- runs/research_workbench/operator_hypothesis_lab/tsla_lagged_return_dependence_statistics_20260825/visuals/tsla_direction_transition_probabilities.png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Annual point estimates change sign, but none of the annual HAC intervals excludes zero. Rank correlation and the fixed winsor sensitivity are also near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runs/research_workbench/operator_hypothesis_lab/tsla_lagged_return_dependence_statistics_20260825/annual_stability.csv</a:t>
            </a:r>
          </a:p>
          <a:p xmlns:a="http://schemas.openxmlformats.org/drawingml/2006/main">
            <a:r>
              <a:t>- runs/research_workbench/operator_hypothesis_lab/tsla_lagged_return_dependence_statistics_20260825/outlier_sensitivity.csv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Absolute and squared returns show positive linear dependence, but the equal-count deciles are jagged and the absolute-return rank interval includes zero. Treat this as modest magnitude persistence and a separate future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runs/research_workbench/operator_hypothesis_lab/tsla_lagged_return_dependence_statistics_20260825/absolute_return_deciles.csv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what was learned. The signed-return question stops descriptively; ER20 remains a descriptive lens; magnitude persistence is the only new clue and requires its own predeclared test before any strategy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runs/research_workbench/operator_hypothesis_lab/tsla_lagged_return_dependence_statistics_20260825/report.md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sessions reveals signed dependence hidden by the adjacent-session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scripts/inspect/run_tsla_cumulative_return_horizon_grid.R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information boundary first: cumulative prior return ends at the anchor close and cumulative forward return begins from that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- runs/research_workbench/operator_hypothesis_lab/tsla_cumulative_return_horizon_grid_20260825/grid_checks.csv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positive region is coherent rather than a single isolated cell, but its magnitude is small and this nested grid is highly dependent.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runs/research_workbench/operator_hypothesis_lab/tsla_cumulative_return_horizon_grid_20260825/pearson_correlation_matrix.csv</a:t>
            </a:r>
          </a:p>
          <a:p xmlns:a="http://schemas.openxmlformats.org/drawingml/2006/main">
            <a:r>
              <a:t>- runs/research_workbench/operator_hypothesis_lab/tsla_cumulative_return_horizon_grid_20260825/slope_bh_q_value_matrix.csv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strongest point estimate explains less than one percent of forward-return variance, and its overlap-aware interval includes zero. Its BH q-value is 0.660.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runs/research_workbench/operator_hypothesis_lab/tsla_cumulative_return_horizon_grid_20260825/r_squared_percent_matrix.csv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runs/research_workbench/operator_hypothesis_lab/tsla_cumulative_return_horizon_grid_20260825/visuals/tsla_cumulative_return_r_squared_heatmap.png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Several direction differences are positive, but the best raw p-value becomes q=0.554 after the 81-cell scan. None survives BH-FDR or Bonferroni.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runs/research_workbench/operator_hypothesis_lab/tsla_cumulative_return_horizon_grid_20260825/direction_difference_pp_matrix.csv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runs/research_workbench/operator_hypothesis_lab/tsla_cumulative_return_horizon_grid_20260825/visuals/tsla_cumulative_return_direction_difference_heatmap.png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the descriptive pattern from evidence strength. The ridge is worth naming, but this scan does not establish predictive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runs/research_workbench/operator_hypothesis_lab/tsla_cumulative_return_horizon_grid_20260825/report.md</a:t>
            </a:r>
          </a:p>
          <a:p xmlns:a="http://schemas.openxmlformats.org/drawingml/2006/main">
            <a:r>
              <a:t>- runs/research_workbench/operator_hypothesis_lab/tsla_cumulative_return_horizon_grid_20260825/cells_ranked_by_absolute_correlation.csv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red and green path states washes out different prior-versus-forward return relationships.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scripts/inspect/run_tsla_er20_conditioned_return_horizon_grid.R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timing is causal: ER20 at the anchor uses closes through that anchor only. One pre-2018 anchor from the aggregate grid is uncolored and excluded.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runs/research_workbench/operator_hypothesis_lab/tsla_er20_conditioned_return_horizon_grid_20260825/run_spec.csv</a:t>
            </a:r>
          </a:p>
          <a:p xmlns:a="http://schemas.openxmlformats.org/drawingml/2006/main">
            <a:r>
              <a:t>- runs/research_workbench/operator_hypothesis_lab/tsla_er20_conditioned_return_horizon_grid_20260825/grid_checks.csv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 states show a coherent positive island centered around 10 to 15 prior sessions and 3 to 10 forward sessions. The largest cell has an overlap-aware interval that still includes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runs/research_workbench/operator_hypothesis_lab/tsla_er20_conditioned_return_horizon_grid_20260825/red_sideways_pearson_matrix.csv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runs/research_workbench/operator_hypothesis_lab/tsla_er20_conditioned_return_horizon_grid_20260825/visuals/tsla_red_sideways_pearson_heatmap.png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Green states retain small positive short-horizon patches, but the red medium-horizon island is muted or reversed and the long-prior/long-forward corner becomes negative.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runs/research_workbench/operator_hypothesis_lab/tsla_er20_conditioned_return_horizon_grid_20260825/green_trending_pearson_matrix.csv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runs/research_workbench/operator_hypothesis_lab/tsla_er20_conditioned_return_horizon_grid_20260825/visuals/tsla_green_trending_pearson_heatmap.png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raw regime contrast is at 15 prior and 5 forward: red correlation +0.173 versus green -0.058, a -0.231 difference. Its slope interaction has raw HAC p=0.029 but BH q=0.919; no interaction survives the grid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runs/research_workbench/operator_hypothesis_lab/tsla_er20_conditioned_return_horizon_grid_20260825/green_minus_red_pearson_matrix.csv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- runs/research_workbench/operator_hypothesis_lab/tsla_er20_conditioned_return_horizon_grid_20260825/slope_interaction_bh_q_value_matrix.csv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runs/research_workbench/operator_hypothesis_lab/tsla_er20_conditioned_return_horizon_grid_20260825/visuals/tsla_green_minus_red_pearson_heatmap.png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Conditioning changes the descriptive map in a coherent way, but the finding remains exploratory. ER20 is built from the same trailing path as the prior-return variable, so a less mechanically entangled filter would be a useful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runs/research_workbench/operator_hypothesis_lab/tsla_er20_conditioned_return_horizon_grid_20260825/report.md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signed-return dependence changes with movement capacity, using the already accepted ATR-percent classifier rather than designing new bins from this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operator_hypothesis_lab/docs/GEN5_HYP_REG_01_1_ATR_PERCENT_VOLATILITY_RESULTS.md</a:t>
            </a:r>
          </a:p>
          <a:p xmlns:a="http://schemas.openxmlformats.org/drawingml/2006/main">
            <a:r>
              <a:t>- operator_hypothesis_lab/docs/TSLA_ATRP_CONDITIONED_RETURN_HORIZON_GRID_2018_2023.md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state definition is reused exactly: Wilder ATR14 divided by close, current ATR-percent ranked against the prior 252 completed observations, and the accepted 30/40–60/70 hysteresis. State t is known before future returns begin.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runs/research_workbench/operator_hypothesis_lab/tsla_atrp_conditioned_return_horizon_grid_20260825/run_spec.csv</a:t>
            </a:r>
          </a:p>
          <a:p xmlns:a="http://schemas.openxmlformats.org/drawingml/2006/main">
            <a:r>
              <a:t>- runs/research_workbench/operator_hypothesis_lab/tsla_atrp_conditioned_return_horizon_grid_20260825/source_checks.csv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companion view makes the accepted volatility classifier visible in price time. Blue, gold, and red mean LOW, MEDIUM, and HIGH movement capacity; they do not mean bearish, neutral, and bullish. The lower panel shows the causal trailing ATR-percent rank and accepted hysteretic state at each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runs/research_workbench/operator_hypothesis_lab/tsla_atrp_conditioned_return_horizon_grid_20260825/visuals/tsla_atrp_state_price_bands.png</a:t>
            </a:r>
          </a:p>
          <a:p xmlns:a="http://schemas.openxmlformats.org/drawingml/2006/main">
            <a:r>
              <a:t>- runs/research_workbench/operator_hypothesis_lab/tsla_atrp_conditioned_return_horizon_grid_20260825/tsla_atrp_state_chart_ledger.csv</a:t>
            </a:r>
          </a:p>
          <a:p xmlns:a="http://schemas.openxmlformats.org/drawingml/2006/main">
            <a:r>
              <a:t>- runs/research_workbench/operator_hypothesis_lab/tsla_atrp_conditioned_return_horizon_grid_20260825/tsla_atrp_state_spans.csv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LOW ATR-percent anchors produce positive point estimates throughout the grid, but the strongest cell's interval crosses zero and no LOW cell survives the within-state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runs/research_workbench/operator_hypothesis_lab/tsla_atrp_conditioned_return_horizon_grid_20260825/low_pearson_matrix.csv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runs/research_workbench/operator_hypothesis_lab/tsla_atrp_conditioned_return_horizon_grid_20260825/visuals/tsla_atrp_low_pearson_heatmap.png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MEDIUM ATR-percent anchors show the most statistically stable continuation pattern. Under the strict correction across all 486 tests, the 5/3, 10/2, and 10/3 cells remain.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runs/research_workbench/operator_hypothesis_lab/tsla_atrp_conditioned_return_horizon_grid_20260825/medium_pearson_matrix.csv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runs/research_workbench/operator_hypothesis_lab/tsla_atrp_conditioned_return_horizon_grid_20260825/visuals/tsla_atrp_medium_pearson_heatmap.png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ATR-percent anchors reverse the sign of the broad surface, especially at longer horizons. The most extreme cell is visually strong but its dependence-robust interval still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runs/research_workbench/operator_hypothesis_lab/tsla_atrp_conditioned_return_horizon_grid_20260825/high_pearson_matrix.csv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runs/research_workbench/operator_hypothesis_lab/tsla_atrp_conditioned_return_horizon_grid_20260825/visuals/tsla_atrp_high_pearson_heatmap.png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correlation contrast is -0.548 at 25 prior and 15 forward; its within-family interaction q is 0.038 but strict omnibus q is 0.081. Three smaller HIGH-minus-MEDIUM interactions survive the omnibus correction.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runs/research_workbench/operator_hypothesis_lab/tsla_atrp_conditioned_return_horizon_grid_20260825/high_minus_medium_pearson_difference_matrix.csv</a:t>
            </a:r>
          </a:p>
          <a:p xmlns:a="http://schemas.openxmlformats.org/drawingml/2006/main">
            <a:r>
              <a:t>- runs/research_workbench/operator_hypothesis_lab/tsla_atrp_conditioned_return_horizon_grid_20260825/pairwise_state_comparison_statistics.csv</a:t>
            </a:r>
          </a:p>
          <a:p xmlns:a="http://schemas.openxmlformats.org/drawingml/2006/main">
            <a:r>
              <a:t>- runs/research_workbench/operator_hypothesis_lab/tsla_atrp_conditioned_return_horizon_grid_20260825/high_minus_medium_interaction_bh_q_matrix.csv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runs/research_workbench/operator_hypothesis_lab/tsla_atrp_conditioned_return_horizon_grid_20260825/visuals/tsla_atrp_high_minus_medium_pearson_heatmap.png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ATR-percent split is the clearest conditional map in this descriptive lane and is partially multiplicity-robust, but it is still a same-sample replication candidate rather than a trading rule. The ER20 direction split and external-context filter are bookmarked, not opened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runs/research_workbench/operator_hypothesis_lab/tsla_atrp_conditioned_return_horizon_grid_20260825/report.md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runs/research_workbench/operator_hypothesis_lab/tsla_atrp_conditioned_return_horizon_grid_20260825/pairwise_state_comparison_statistics.csv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changes one authority only. TSLA still supplies every prior and following return. SPY supplies the already accepted causal ATR-percent state at the anchor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runs/research_workbench/operator_hypothesis_lab/tsla_spy_atrp_conditioned_return_horizon_grid_20260825/run_spec.csv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SPY classifier is reused exactly: Wilder ATR14 divided by adjusted close, prior-252 causal percentile, and 30/40 plus 60/70 hysteresis. No state definition or horizon changes after seeing TSLA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runs/research_workbench/operator_hypothesis_lab/tsla_spy_atrp_conditioned_return_horizon_grid_20260825/run_spec.csv</a:t>
            </a:r>
          </a:p>
          <a:p xmlns:a="http://schemas.openxmlformats.org/drawingml/2006/main">
            <a:r>
              <a:t>- runs/research_workbench/operator_hypothesis_lab/tsla_spy_atrp_conditioned_return_horizon_grid_20260825/source_checks.csv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price stays TSLA, while every colored band and the lower-panel percentile come from SPY. This visual checks alignment in time; it does not claim that SPY state causes TSLA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runs/research_workbench/operator_hypothesis_lab/tsla_spy_atrp_conditioned_return_horizon_grid_20260825/visuals/tsla_spy_atrp_state_price_bands.png</a:t>
            </a:r>
          </a:p>
          <a:p xmlns:a="http://schemas.openxmlformats.org/drawingml/2006/main">
            <a:r>
              <a:t>- runs/research_workbench/operator_hypothesis_lab/tsla_spy_atrp_conditioned_return_horizon_grid_20260825/tsla_spy_atrp_state_chart_ledger.csv</a:t>
            </a:r>
          </a:p>
          <a:p xmlns:a="http://schemas.openxmlformats.org/drawingml/2006/main">
            <a:r>
              <a:t>- runs/research_workbench/operator_hypothesis_lab/tsla_spy_atrp_conditioned_return_horizon_grid_20260825/tsla_spy_atrp_state_spans.csv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LOW ATR-percent sessions contain the clearest TSLA continuation geometry. The pattern is broad, but no single within-state cell survives its 81-cell BH-FDR family.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runs/research_workbench/operator_hypothesis_lab/tsla_spy_atrp_conditioned_return_horizon_grid_20260825/visuals/tsla_spy_atrp_low_pearson_heatmap.png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MEDIUM ATR-percent sessions reverse the long-forward portion of the TSLA map. This differs sharply from TSLA's own MEDIUM state, which held the earlier positive continuation island.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runs/research_workbench/operator_hypothesis_lab/tsla_spy_atrp_conditioned_return_horizon_grid_20260825/visuals/tsla_spy_atrp_medium_pearson_heatmap.png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HIGH ATR-percent does not reproduce the broad reversal seen under TSLA's own HIGH ATR-percent state. Most cells are mildly positive, with a small negative corner at the longest prior horizons.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runs/research_workbench/operator_hypothesis_lab/tsla_spy_atrp_conditioned_return_horizon_grid_20260825/visuals/tsla_spy_atrp_high_pearson_heatmap.png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direct contrast is LOW continuation versus MEDIUM reversal at 5 prior and 15 forward sessions. Three neighboring MEDIUM-minus-LOW interactions survive their 81-cell family correction, but no pairwise interaction survives the stricter 486-test omnibus correction.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runs/research_workbench/operator_hypothesis_lab/tsla_spy_atrp_conditioned_return_horizon_grid_20260825/visuals/tsla_spy_atrp_medium_minus_low_pearson_heatmap.png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runs/research_workbench/operator_hypothesis_lab/tsla_spy_atrp_conditioned_return_horizon_grid_20260825/pairwise_state_comparison_statistics.csv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External SPY conditioning is coherent enough to justify more descriptive cross-sectional brainstorming, but it does not confirm an edge. LOW is the most portable geometry; MEDIUM changes almost completely; HIGH keeps a related ordering while most signs shift.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- runs/research_workbench/operator_hypothesis_lab/tsla_spy_atrp_conditioned_return_horizon_grid_20260825/report.md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  <a:p xmlns:a="http://schemas.openxmlformats.org/drawingml/2006/main">
            <a:r>
              <a:t>Internal Gen5 comparison packet: runs/research_workbench/operator_hypothesis_lab/tsla_atrp_conditioned_return_horizon_grid_20260825/</a:t>
            </a:r>
          </a:p>
          <a:p xmlns:a="http://schemas.openxmlformats.org/drawingml/2006/main">
            <a:r>
              <a:t>Internal Gen5 comparison packet: runs/research_workbench/operator_hypothesis_lab/tsla_spy_atrp_conditioned_return_horizon_grid_20260825/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  <a:p xmlns:a="http://schemas.openxmlformats.org/drawingml/2006/main">
            <a:r>
              <a:t>Internal Gen5 own-return baseline packet: runs/research_workbench/operator_hypothesis_lab/tsla_cumulative_return_horizon_grid_20260825/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  <a:p xmlns:a="http://schemas.openxmlformats.org/drawingml/2006/main">
            <a:r>
              <a:t>Internal Gen5 comparison packet: runs/research_workbench/operator_hypothesis_lab/tsla_return_horizon_grid_20260824/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052776f48345e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ccc02f601f4164" /><Relationship Type="http://schemas.openxmlformats.org/officeDocument/2006/relationships/slideLayout" Target="/ppt/slideLayouts/slideLayout1.xml" Id="R153e58f707b04b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3e58f707b04b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a2b290b15b45a1" /><Relationship Type="http://schemas.openxmlformats.org/officeDocument/2006/relationships/notesSlide" Target="/ppt/notesSlides/notesSlide1.xml" Id="Rfd0eba3c150648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e85715e14c4006" /><Relationship Type="http://schemas.openxmlformats.org/officeDocument/2006/relationships/notesSlide" Target="/ppt/notesSlides/notesSlide2.xml" Id="R71cd2d52ee0648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000a8627543de" /><Relationship Type="http://schemas.openxmlformats.org/officeDocument/2006/relationships/notesSlide" Target="/ppt/notesSlides/notesSlide3.xml" Id="R0786d18921c94df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f4661830344060" /><Relationship Type="http://schemas.openxmlformats.org/officeDocument/2006/relationships/image" Target="/ppt/media/image.png" Id="Ra7520dbeb69e4a08" /><Relationship Type="http://schemas.openxmlformats.org/officeDocument/2006/relationships/notesSlide" Target="/ppt/notesSlides/notesSlide4.xml" Id="R0864e601c31d43f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ebac5b28784619" /><Relationship Type="http://schemas.openxmlformats.org/officeDocument/2006/relationships/image" Target="/ppt/media/image2.png" Id="Rfda214b5c579424b" /><Relationship Type="http://schemas.openxmlformats.org/officeDocument/2006/relationships/notesSlide" Target="/ppt/notesSlides/notesSlide5.xml" Id="R7b6856aeecc84c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cfa354012447ff" /><Relationship Type="http://schemas.openxmlformats.org/officeDocument/2006/relationships/notesSlide" Target="/ppt/notesSlides/notesSlide6.xml" Id="R3fc6e7eb20c544d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d99554fe20463c" /><Relationship Type="http://schemas.openxmlformats.org/officeDocument/2006/relationships/image" Target="/ppt/media/image3.png" Id="R2d8da2da6cde4799" /><Relationship Type="http://schemas.openxmlformats.org/officeDocument/2006/relationships/notesSlide" Target="/ppt/notesSlides/notesSlide7.xml" Id="Rf4534fae04fe49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fe673959864a18" /><Relationship Type="http://schemas.openxmlformats.org/officeDocument/2006/relationships/image" Target="/ppt/media/image4.png" Id="R0ce103d7a77a427b" /><Relationship Type="http://schemas.openxmlformats.org/officeDocument/2006/relationships/notesSlide" Target="/ppt/notesSlides/notesSlide8.xml" Id="Rc72ac252d66c40f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fe80d7c2747d7" /><Relationship Type="http://schemas.openxmlformats.org/officeDocument/2006/relationships/image" Target="/ppt/media/image5.png" Id="R1be092d3fe8043ff" /><Relationship Type="http://schemas.openxmlformats.org/officeDocument/2006/relationships/notesSlide" Target="/ppt/notesSlides/notesSlide9.xml" Id="R46663cb0e1944aa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89759c8d2241fc" /><Relationship Type="http://schemas.openxmlformats.org/officeDocument/2006/relationships/image" Target="/ppt/media/image6.png" Id="R781ccdcb81604dbe" /><Relationship Type="http://schemas.openxmlformats.org/officeDocument/2006/relationships/notesSlide" Target="/ppt/notesSlides/notesSlide10.xml" Id="R884206abad60486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906b223ee54e1e" /><Relationship Type="http://schemas.openxmlformats.org/officeDocument/2006/relationships/notesSlide" Target="/ppt/notesSlides/notesSlide11.xml" Id="Rf6e05234aa8845c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404f1d16f347bd" /><Relationship Type="http://schemas.openxmlformats.org/officeDocument/2006/relationships/notesSlide" Target="/ppt/notesSlides/notesSlide12.xml" Id="R2049212eb8654d4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ca3a16429449c0" /><Relationship Type="http://schemas.openxmlformats.org/officeDocument/2006/relationships/notesSlide" Target="/ppt/notesSlides/notesSlide13.xml" Id="R8de431ed30b345d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1d641773d84c7c" /><Relationship Type="http://schemas.openxmlformats.org/officeDocument/2006/relationships/image" Target="/ppt/media/image7.png" Id="R0988610be9cc4e56" /><Relationship Type="http://schemas.openxmlformats.org/officeDocument/2006/relationships/notesSlide" Target="/ppt/notesSlides/notesSlide14.xml" Id="Rba24a6ad24704b1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2d8f2cf3a34919" /><Relationship Type="http://schemas.openxmlformats.org/officeDocument/2006/relationships/image" Target="/ppt/media/image8.png" Id="Rf3266d2e5dae4023" /><Relationship Type="http://schemas.openxmlformats.org/officeDocument/2006/relationships/notesSlide" Target="/ppt/notesSlides/notesSlide15.xml" Id="R1c726c72258e4ff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23e2f1c5df4a39" /><Relationship Type="http://schemas.openxmlformats.org/officeDocument/2006/relationships/image" Target="/ppt/media/image9.png" Id="R90fbece7564a438e" /><Relationship Type="http://schemas.openxmlformats.org/officeDocument/2006/relationships/notesSlide" Target="/ppt/notesSlides/notesSlide16.xml" Id="R82d3fb219e39494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fa1a4cf71c495c" /><Relationship Type="http://schemas.openxmlformats.org/officeDocument/2006/relationships/notesSlide" Target="/ppt/notesSlides/notesSlide17.xml" Id="R9636ff8d2bba42b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e6d41d07f49b5" /><Relationship Type="http://schemas.openxmlformats.org/officeDocument/2006/relationships/notesSlide" Target="/ppt/notesSlides/notesSlide18.xml" Id="Rb240e183baec427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40fa5909af4c95" /><Relationship Type="http://schemas.openxmlformats.org/officeDocument/2006/relationships/notesSlide" Target="/ppt/notesSlides/notesSlide19.xml" Id="Rcf4eb9a223f446b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0690004ef741d0" /><Relationship Type="http://schemas.openxmlformats.org/officeDocument/2006/relationships/image" Target="/ppt/media/image10.png" Id="Rd8d2739ec61646db" /><Relationship Type="http://schemas.openxmlformats.org/officeDocument/2006/relationships/notesSlide" Target="/ppt/notesSlides/notesSlide20.xml" Id="R9e302ed31931418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0202dd1cc416c" /><Relationship Type="http://schemas.openxmlformats.org/officeDocument/2006/relationships/image" Target="/ppt/media/image11.png" Id="R32ee69f84bce44d3" /><Relationship Type="http://schemas.openxmlformats.org/officeDocument/2006/relationships/notesSlide" Target="/ppt/notesSlides/notesSlide21.xml" Id="Re8d524c7d37940e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76c744de345cc" /><Relationship Type="http://schemas.openxmlformats.org/officeDocument/2006/relationships/image" Target="/ppt/media/image12.png" Id="R44c89596c34b49f7" /><Relationship Type="http://schemas.openxmlformats.org/officeDocument/2006/relationships/notesSlide" Target="/ppt/notesSlides/notesSlide22.xml" Id="Re810f2f7593c40f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24150e2fd749a1" /><Relationship Type="http://schemas.openxmlformats.org/officeDocument/2006/relationships/notesSlide" Target="/ppt/notesSlides/notesSlide23.xml" Id="Rb2a0cf594c56468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e0b69230044a88" /><Relationship Type="http://schemas.openxmlformats.org/officeDocument/2006/relationships/notesSlide" Target="/ppt/notesSlides/notesSlide24.xml" Id="Rcdbc89a08dcd4a4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d10e2cc2fb4a10" /><Relationship Type="http://schemas.openxmlformats.org/officeDocument/2006/relationships/notesSlide" Target="/ppt/notesSlides/notesSlide25.xml" Id="Rf72320ce2ebb4d8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d6a804820b4cf2" /><Relationship Type="http://schemas.openxmlformats.org/officeDocument/2006/relationships/image" Target="/ppt/media/image13.png" Id="R981bb5217faa4601" /><Relationship Type="http://schemas.openxmlformats.org/officeDocument/2006/relationships/notesSlide" Target="/ppt/notesSlides/notesSlide26.xml" Id="Recac0bb80785485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1b212b453a4767" /><Relationship Type="http://schemas.openxmlformats.org/officeDocument/2006/relationships/image" Target="/ppt/media/image14.png" Id="R3236a7dfed144fd0" /><Relationship Type="http://schemas.openxmlformats.org/officeDocument/2006/relationships/notesSlide" Target="/ppt/notesSlides/notesSlide27.xml" Id="R3c2c85e2b425495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d519cc69064197" /><Relationship Type="http://schemas.openxmlformats.org/officeDocument/2006/relationships/image" Target="/ppt/media/image15.png" Id="R97755672eec54980" /><Relationship Type="http://schemas.openxmlformats.org/officeDocument/2006/relationships/notesSlide" Target="/ppt/notesSlides/notesSlide28.xml" Id="R0aec3d497167400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50174ef3864bcd" /><Relationship Type="http://schemas.openxmlformats.org/officeDocument/2006/relationships/image" Target="/ppt/media/image16.png" Id="R330aa16d701b4700" /><Relationship Type="http://schemas.openxmlformats.org/officeDocument/2006/relationships/notesSlide" Target="/ppt/notesSlides/notesSlide29.xml" Id="Ra6d39d61d2a04de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b4b458e0f64536" /><Relationship Type="http://schemas.openxmlformats.org/officeDocument/2006/relationships/image" Target="/ppt/media/image17.png" Id="R9bbbfcee6def46ff" /><Relationship Type="http://schemas.openxmlformats.org/officeDocument/2006/relationships/notesSlide" Target="/ppt/notesSlides/notesSlide30.xml" Id="R81dfb097390c447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c169da7c794bbf" /><Relationship Type="http://schemas.openxmlformats.org/officeDocument/2006/relationships/notesSlide" Target="/ppt/notesSlides/notesSlide31.xml" Id="R083f58a2c7794a4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66fee1bc7d4e94" /><Relationship Type="http://schemas.openxmlformats.org/officeDocument/2006/relationships/notesSlide" Target="/ppt/notesSlides/notesSlide32.xml" Id="R271fcf352533475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43bede448f449b" /><Relationship Type="http://schemas.openxmlformats.org/officeDocument/2006/relationships/notesSlide" Target="/ppt/notesSlides/notesSlide33.xml" Id="R64b3cad756794b2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0537ba0a064407" /><Relationship Type="http://schemas.openxmlformats.org/officeDocument/2006/relationships/image" Target="/ppt/media/image18.png" Id="R9fb5b7cc3197490f" /><Relationship Type="http://schemas.openxmlformats.org/officeDocument/2006/relationships/image" Target="/ppt/media/image19.png" Id="R7cd54ae45d7a4081" /><Relationship Type="http://schemas.openxmlformats.org/officeDocument/2006/relationships/notesSlide" Target="/ppt/notesSlides/notesSlide34.xml" Id="R635c40a608d744b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0efcbfb8084b0a" /><Relationship Type="http://schemas.openxmlformats.org/officeDocument/2006/relationships/image" Target="/ppt/media/image20.png" Id="R5c115e1fc3624940" /><Relationship Type="http://schemas.openxmlformats.org/officeDocument/2006/relationships/image" Target="/ppt/media/image21.png" Id="R84d61ca46c5e408a" /><Relationship Type="http://schemas.openxmlformats.org/officeDocument/2006/relationships/notesSlide" Target="/ppt/notesSlides/notesSlide35.xml" Id="R6ba84530ee25498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72607c1a1c43fc" /><Relationship Type="http://schemas.openxmlformats.org/officeDocument/2006/relationships/image" Target="/ppt/media/image22.png" Id="Rc92868afc270479f" /><Relationship Type="http://schemas.openxmlformats.org/officeDocument/2006/relationships/image" Target="/ppt/media/image23.png" Id="Rae259f9a50864188" /><Relationship Type="http://schemas.openxmlformats.org/officeDocument/2006/relationships/notesSlide" Target="/ppt/notesSlides/notesSlide36.xml" Id="Ra850fdb7a55b4ad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4aacd92c34041" /><Relationship Type="http://schemas.openxmlformats.org/officeDocument/2006/relationships/image" Target="/ppt/media/image24.png" Id="R3861d3fbf5eb43b8" /><Relationship Type="http://schemas.openxmlformats.org/officeDocument/2006/relationships/image" Target="/ppt/media/image25.png" Id="R32d61d750d4e4780" /><Relationship Type="http://schemas.openxmlformats.org/officeDocument/2006/relationships/notesSlide" Target="/ppt/notesSlides/notesSlide37.xml" Id="R933849194bbc47d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13477bc0d045d7" /><Relationship Type="http://schemas.openxmlformats.org/officeDocument/2006/relationships/image" Target="/ppt/media/image26.png" Id="R0351242011ba4b2b" /><Relationship Type="http://schemas.openxmlformats.org/officeDocument/2006/relationships/image" Target="/ppt/media/image27.png" Id="R6ab9b66c31e74076" /><Relationship Type="http://schemas.openxmlformats.org/officeDocument/2006/relationships/notesSlide" Target="/ppt/notesSlides/notesSlide38.xml" Id="Rce2bf3fea270474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a676b477e04f31" /><Relationship Type="http://schemas.openxmlformats.org/officeDocument/2006/relationships/notesSlide" Target="/ppt/notesSlides/notesSlide39.xml" Id="Rc844c3e5bd984e6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58fe2e0fd34f07" /><Relationship Type="http://schemas.openxmlformats.org/officeDocument/2006/relationships/notesSlide" Target="/ppt/notesSlides/notesSlide40.xml" Id="Ra709a6eb94f94ea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c0ef3492c94361" /><Relationship Type="http://schemas.openxmlformats.org/officeDocument/2006/relationships/notesSlide" Target="/ppt/notesSlides/notesSlide41.xml" Id="Rebc5b8bfe6f745f5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be610a67084f26" /><Relationship Type="http://schemas.openxmlformats.org/officeDocument/2006/relationships/image" Target="/ppt/media/image18.png" Id="R0f09c7caf7cc4ec8" /><Relationship Type="http://schemas.openxmlformats.org/officeDocument/2006/relationships/image" Target="/ppt/media/image28.png" Id="Rae1f5a56da734ad3" /><Relationship Type="http://schemas.openxmlformats.org/officeDocument/2006/relationships/notesSlide" Target="/ppt/notesSlides/notesSlide42.xml" Id="R2f0313293d634fc9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b8ef6b1e04d6e" /><Relationship Type="http://schemas.openxmlformats.org/officeDocument/2006/relationships/image" Target="/ppt/media/image20.png" Id="R018fa2bfa5b84dd8" /><Relationship Type="http://schemas.openxmlformats.org/officeDocument/2006/relationships/image" Target="/ppt/media/image29.png" Id="R6caeea9c68b244d9" /><Relationship Type="http://schemas.openxmlformats.org/officeDocument/2006/relationships/notesSlide" Target="/ppt/notesSlides/notesSlide43.xml" Id="Re45d38a068b64d2b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1bbaf103247d2" /><Relationship Type="http://schemas.openxmlformats.org/officeDocument/2006/relationships/image" Target="/ppt/media/image22.png" Id="Rd5afa9b8f0724349" /><Relationship Type="http://schemas.openxmlformats.org/officeDocument/2006/relationships/image" Target="/ppt/media/image30.png" Id="R7531d327adaa4e5b" /><Relationship Type="http://schemas.openxmlformats.org/officeDocument/2006/relationships/notesSlide" Target="/ppt/notesSlides/notesSlide44.xml" Id="Ra6d7397cb160491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bc4291f274f95" /><Relationship Type="http://schemas.openxmlformats.org/officeDocument/2006/relationships/image" Target="/ppt/media/image24.png" Id="Rc63a75766b3e4ecd" /><Relationship Type="http://schemas.openxmlformats.org/officeDocument/2006/relationships/image" Target="/ppt/media/image31.png" Id="R1df615e9bb8b4a5d" /><Relationship Type="http://schemas.openxmlformats.org/officeDocument/2006/relationships/notesSlide" Target="/ppt/notesSlides/notesSlide45.xml" Id="Rcd80b74f394143a2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737c2233054104" /><Relationship Type="http://schemas.openxmlformats.org/officeDocument/2006/relationships/image" Target="/ppt/media/image26.png" Id="Rf43d2e1642cd4294" /><Relationship Type="http://schemas.openxmlformats.org/officeDocument/2006/relationships/image" Target="/ppt/media/image32.png" Id="R1309559a2de54401" /><Relationship Type="http://schemas.openxmlformats.org/officeDocument/2006/relationships/notesSlide" Target="/ppt/notesSlides/notesSlide46.xml" Id="R71854f9136e34d45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cef8371464dd4" /><Relationship Type="http://schemas.openxmlformats.org/officeDocument/2006/relationships/notesSlide" Target="/ppt/notesSlides/notesSlide47.xml" Id="Re758979f50bc40a7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4f89d5d0f4633" /><Relationship Type="http://schemas.openxmlformats.org/officeDocument/2006/relationships/notesSlide" Target="/ppt/notesSlides/notesSlide48.xml" Id="R2e54af5b3b2d4085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9c18fe4c824b96" /><Relationship Type="http://schemas.openxmlformats.org/officeDocument/2006/relationships/notesSlide" Target="/ppt/notesSlides/notesSlide49.xml" Id="R2dedd6fe8ad9430e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0140a336c64645" /><Relationship Type="http://schemas.openxmlformats.org/officeDocument/2006/relationships/image" Target="/ppt/media/image20.png" Id="Rcd12a77403c548d9" /><Relationship Type="http://schemas.openxmlformats.org/officeDocument/2006/relationships/image" Target="/ppt/media/image33.png" Id="R013a2b654454478e" /><Relationship Type="http://schemas.openxmlformats.org/officeDocument/2006/relationships/notesSlide" Target="/ppt/notesSlides/notesSlide50.xml" Id="R00e451c63d764d90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efdeca42824d72" /><Relationship Type="http://schemas.openxmlformats.org/officeDocument/2006/relationships/image" Target="/ppt/media/image20.png" Id="Rd17ef16e3c324dbc" /><Relationship Type="http://schemas.openxmlformats.org/officeDocument/2006/relationships/image" Target="/ppt/media/image34.png" Id="R14e3c570ac2a4e96" /><Relationship Type="http://schemas.openxmlformats.org/officeDocument/2006/relationships/notesSlide" Target="/ppt/notesSlides/notesSlide51.xml" Id="Rd358becf723f4dfb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044ae1dd464932" /><Relationship Type="http://schemas.openxmlformats.org/officeDocument/2006/relationships/image" Target="/ppt/media/image26.png" Id="R9ae801dbd1b947e4" /><Relationship Type="http://schemas.openxmlformats.org/officeDocument/2006/relationships/image" Target="/ppt/media/image35.png" Id="R4e4372975ad841db" /><Relationship Type="http://schemas.openxmlformats.org/officeDocument/2006/relationships/notesSlide" Target="/ppt/notesSlides/notesSlide52.xml" Id="Re530c228510a4f67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d297c8fd8a4c51" /><Relationship Type="http://schemas.openxmlformats.org/officeDocument/2006/relationships/image" Target="/ppt/media/image7.png" Id="R0ddc4380e94a4e8a" /><Relationship Type="http://schemas.openxmlformats.org/officeDocument/2006/relationships/image" Target="/ppt/media/image36.png" Id="R359c80643a0a4c48" /><Relationship Type="http://schemas.openxmlformats.org/officeDocument/2006/relationships/notesSlide" Target="/ppt/notesSlides/notesSlide53.xml" Id="Refb00a7d2050426a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696ef2690d43fc" /><Relationship Type="http://schemas.openxmlformats.org/officeDocument/2006/relationships/notesSlide" Target="/ppt/notesSlides/notesSlide54.xml" Id="R1d0f990712eb4f1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87F2A-19E1-4D71-8665-A325D369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OPERATOR HYPOTHESIS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4752F-5C3B-406E-860B-425737DD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TSLA descriptive</a:t>
            </a:r>
          </a:p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C665E-F0B1-4B7F-B98C-E0352166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0"/>
            <a:ext cx="123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5C4CF-93D0-4941-8B4C-E3E2BA10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2915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From visual intuition to measured daily-return dependence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AA5C7-3D69-4D62-9FC3-A69A478B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 | Descriptive research only</a:t>
            </a:r>
          </a:p>
        </p:txBody>
      </p:sp>
    </p:spTree>
    <p:extLst>
      <p:ext uri="{BB962C8B-B14F-4D97-AF65-F5344CB8AC3E}">
        <p14:creationId xmlns:p14="http://schemas.microsoft.com/office/powerpoint/2010/main" val="15019786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2">
            <a:extLst xmlns:a="http://schemas.openxmlformats.org/drawingml/2006/main">
              <a:ext uri="{FF2B5EF4-FFF2-40B4-BE49-F238E27FC236}">
                <a16:creationId xmlns:a16="http://schemas.microsoft.com/office/drawing/2014/main" id="{EABBA6E1-F45F-441D-A600-8142D7D3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175C8CBF-2952-45DB-A51C-31B8AB27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lane starts with description, not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D8AFB-8939-414E-BF70-4C44373B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2">
            <a:extLst xmlns:a="http://schemas.openxmlformats.org/drawingml/2006/main">
              <a:ext uri="{FF2B5EF4-FFF2-40B4-BE49-F238E27FC236}">
                <a16:creationId xmlns:a16="http://schemas.microsoft.com/office/drawing/2014/main" id="{DAFEC4F1-50D5-4693-B6C1-AC113863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EF6CAA23-BA21-472E-986D-D98B4D1F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F66DD-540D-476F-A7F5-02147E71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4F55B-1446-4F42-BD1E-8FAB2CF5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8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F1277C-2532-4E5C-8906-6DB6877B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621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Start with raw price and return geometry before deciding what relationship ought to exist.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372FE-75A4-4E6C-8C5E-5569ECB2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289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14A25A-AA62-4D50-B30F-5346853D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9AF01F-0357-4FCE-9139-7DACD43D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Name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3BF40-3714-43F0-ACA7-13D0F829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718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Separate direction, magnitude, path shape, and volatility so one visual impression does not stand in for all four.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591B6-C755-4D50-BB99-DA5C68C1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0F103-9237-4C60-86EF-786CECE7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386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839DF-980D-4991-A539-25BA44F4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18768-8500-49CC-AD63-3A41DD66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815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Quantify one frozen relationship at a time; only later ask whether a finding predicts, trades, or transports.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35A8B2-7CB6-4F65-9360-0E168549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483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465094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question, one fixed sample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r[t] = log(C[t] / C[t-1])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Each row pairs yesterday's adjusted close-to-close log return with today's.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1,509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consecutive-session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 sessions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alternate lag or horizon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Trading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policy or performance calculation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post-2023 data read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raw cloud has no clear directional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520dbeb69e4a08"/>
          <a:stretch xmlns:a="http://schemas.openxmlformats.org/drawingml/2006/main"/>
        </p:blipFill>
        <p:spPr>
          <a:xfrm xmlns:a="http://schemas.openxmlformats.org/drawingml/2006/main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172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First look: no fitted line, correlation, p-value, binning, or outlier removal.</a:t>
            </a:r>
          </a:p>
        </p:txBody>
      </p:sp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labels path shape—not volatility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a214b5c579424b"/>
          <a:stretch xmlns:a="http://schemas.openxmlformats.org/drawingml/2006/main"/>
        </p:blipFill>
        <p:spPr>
          <a:xfrm xmlns:a="http://schemas.openxmlformats.org/drawingml/2006/main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Absolute 20-session endpoint displacement divided by the total log-price path traveled.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Green recognizes efficient rises and declines. Red marks a locally choppy path. Daily thresholding is visibly flickery near transitions.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MEASUREMENT PASS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visual cloud asks one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precise next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r[t-1] contain measurable information about r[t]?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Primary: signed linear dependence. Diagnostics: rank, sign, outliers, annual stability, and absolute-return persistence.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Signed dependence is effectively 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8da2da6cde4799"/>
          <a:stretch xmlns:a="http://schemas.openxmlformats.org/drawingml/2006/main"/>
        </p:blipFill>
        <p:spPr>
          <a:xfrm xmlns:a="http://schemas.openxmlformats.org/drawingml/2006/main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-0.021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[-0.073, +0.028]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block-bootstrap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0.044%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R-squared: variance explained</a:t>
            </a:r>
          </a:p>
        </p:txBody>
      </p:sp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Yesterday's sign barely changes tomorrow's odds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e103d7a77a427b"/>
          <a:stretch xmlns:a="http://schemas.openxmlformats.org/drawingml/2006/main"/>
        </p:blipFill>
        <p:spPr>
          <a:xfrm xmlns:a="http://schemas.openxmlformats.org/drawingml/2006/main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52.9%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down 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52.1%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up day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Difference: -0.7 percentage points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interval: -5.8 to +4.2 pp</a:t>
            </a:r>
          </a:p>
        </p:txBody>
      </p:sp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9">
            <a:extLst xmlns:a="http://schemas.openxmlformats.org/drawingml/2006/main">
              <a:ext uri="{FF2B5EF4-FFF2-40B4-BE49-F238E27FC236}">
                <a16:creationId xmlns:a16="http://schemas.microsoft.com/office/drawing/2014/main" id="{EBA183BA-1F33-43C2-A340-16B1E99A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0663B6F4-658E-4DE8-898E-470A7CF5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signed result stays weak under obvious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D2132A-BB30-4209-B894-FCC20F4F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9">
            <a:extLst xmlns:a="http://schemas.openxmlformats.org/drawingml/2006/main">
              <a:ext uri="{FF2B5EF4-FFF2-40B4-BE49-F238E27FC236}">
                <a16:creationId xmlns:a16="http://schemas.microsoft.com/office/drawing/2014/main" id="{5B6CFEAA-57C7-4EA4-BAF7-395EC1B3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9">
            <a:extLst xmlns:a="http://schemas.openxmlformats.org/drawingml/2006/main">
              <a:ext uri="{FF2B5EF4-FFF2-40B4-BE49-F238E27FC236}">
                <a16:creationId xmlns:a16="http://schemas.microsoft.com/office/drawing/2014/main" id="{0A964CCF-1375-4C63-86E0-327EA665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A4194-DA3D-4FE2-8903-084599EE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428750"/>
            <a:ext cx="8096250" cy="481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e092d3fe8043ff"/>
          <a:stretch xmlns:a="http://schemas.openxmlformats.org/drawingml/2006/main"/>
        </p:blipFill>
        <p:spPr>
          <a:xfrm xmlns:a="http://schemas.openxmlformats.org/drawingml/2006/main">
            <a:off x="588479" y="1428750"/>
            <a:ext cx="7528891" cy="4810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E547BA-6B5C-4F5A-B4E4-FD99AACD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5735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Rank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C0B40-DAFE-4C66-8136-964E51E1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1455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Spearman rho = -0.004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interval: -0.054 to +0.044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A331B-1B89-49FE-BD19-54F1DD62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8135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9140A0-2615-4B81-99CA-0D43FAA4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671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Outlier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EB45D-DC9C-458B-93BD-1FA8026B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266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changes from -0.021 to -0.008 after fixed 1%/99% winsorization.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2C736D-ABB7-461A-92C1-B5147946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10540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4633C-EE8B-411B-A503-F65ADB1D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391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Every annual HAC interval crosses zero.</a:t>
            </a:r>
          </a:p>
        </p:txBody>
      </p:sp>
    </p:spTree>
    <p:extLst>
      <p:ext uri="{BB962C8B-B14F-4D97-AF65-F5344CB8AC3E}">
        <p14:creationId xmlns:p14="http://schemas.microsoft.com/office/powerpoint/2010/main" val="20162149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10">
            <a:extLst xmlns:a="http://schemas.openxmlformats.org/drawingml/2006/main">
              <a:ext uri="{FF2B5EF4-FFF2-40B4-BE49-F238E27FC236}">
                <a16:creationId xmlns:a16="http://schemas.microsoft.com/office/drawing/2014/main" id="{956D329C-4E71-4503-8472-54BE364C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35EE1E91-CEDB-4B30-9B21-3743CDB4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 persistence is modest—and different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0048C-412A-4DAD-943D-CBFA422C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0">
            <a:extLst xmlns:a="http://schemas.openxmlformats.org/drawingml/2006/main">
              <a:ext uri="{FF2B5EF4-FFF2-40B4-BE49-F238E27FC236}">
                <a16:creationId xmlns:a16="http://schemas.microsoft.com/office/drawing/2014/main" id="{81D14FDE-48EA-4462-90E0-D7741C25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0">
            <a:extLst xmlns:a="http://schemas.openxmlformats.org/drawingml/2006/main">
              <a:ext uri="{FF2B5EF4-FFF2-40B4-BE49-F238E27FC236}">
                <a16:creationId xmlns:a16="http://schemas.microsoft.com/office/drawing/2014/main" id="{CC0DEE07-9BBD-42F7-A366-FBFDE2A0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6EAE5-9A3B-4831-A518-2BC1EB25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47800"/>
            <a:ext cx="8096250" cy="474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1ccdcb81604dbe"/>
          <a:stretch xmlns:a="http://schemas.openxmlformats.org/drawingml/2006/main"/>
        </p:blipFill>
        <p:spPr>
          <a:xfrm xmlns:a="http://schemas.openxmlformats.org/drawingml/2006/main">
            <a:off x="342900" y="1458119"/>
            <a:ext cx="8096250" cy="472281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70912-AFA7-4777-B92E-0384D9D3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27622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98846-1713-4B00-B11B-C6CA4C6C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6DE226-2BE8-4FE8-ABF8-EF99CFFE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52600"/>
            <a:ext cx="2305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+0.107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CCFCB-521D-4ED8-B91A-B3885201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419350"/>
            <a:ext cx="2305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 of |r[t-1]| and |r[t]|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1EFCBD-B9ED-4C50-8E82-6B73D26F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71850"/>
            <a:ext cx="2362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+0.033 to +0.168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F3178D-BD60-4112-9050-39949302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286250"/>
            <a:ext cx="236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A399B8-7059-4CEF-8F2B-1A634DBC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33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0EC0EC-804C-451F-B37D-6CBD9395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362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36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decile pattern is not monotonic; rank correlation is only +0.053 and its interval crosses zero. This is a clue about turbulence—not direction.</a:t>
            </a:r>
          </a:p>
        </p:txBody>
      </p:sp>
    </p:spTree>
    <p:extLst>
      <p:ext uri="{BB962C8B-B14F-4D97-AF65-F5344CB8AC3E}">
        <p14:creationId xmlns:p14="http://schemas.microsoft.com/office/powerpoint/2010/main" val="1880066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this first measurement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SIGNED RETURN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79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measurable adjacent-session continuation or reversal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-0.021; direction difference -0.7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PATH SHAPE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usefully describes trend versus chop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Direction-agnostic, lagging, and flickery near transitions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RETURN MAGNITUDE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modest persistence clue remains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Absolute-return Pearson +0.107; non-monotonic diagnostic pattern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yesterday's return magnitude forecast tomorrow's magnitude on a separately frozen surface?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 GRID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one session is simply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too noisy?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28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Aggregate the past. Aggregate the future. Keep the boundary clean.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Predeclared prior and forward horizons: 1, 2, 3, 4, 5, 10, 15, 20, and 25 sessions. No cell becomes a strategy.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fixed 9 x 9 surface tests aggregation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R-(p)  versus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prior window ends at the anchor close. The forward window begins after it—no return interval appears on both sides.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predeclared horizon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Bars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1, 2, 3, 4, 5, 10, 15, 20, 25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Sample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Overlap-aware Newey-West / HAC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Multiplicity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BH-FDR plus Bonferroni across 81 cells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Aggregation reveals a weak 5–10-session ridge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correlation matrix; no BH-FDR q-value is below 0.05.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88610be9cc4e56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ridge is weak and statistically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+0.092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Pearson: 5 prior / 10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[-0.003, +0.188]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overlap-aware HAC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0.852%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maximum R-squared across 81 cells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266d2e5dae4023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Direction differences also fail the 81-cell 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+8.1 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raw-sign difference with p &lt; 0.05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direction cells with BH-FDR q &lt; 0.05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Best raw direction p = 0.025 at 10 prior / 3 forward.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BH q = 0.554; nested horizons share data.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fbece7564a438e"/>
          <a:stretch xmlns:a="http://schemas.openxmlformats.org/drawingml/2006/main"/>
        </p:blipFill>
        <p:spPr>
          <a:xfrm xmlns:a="http://schemas.openxmlformats.org/drawingml/2006/main" flipH="0" flipV="0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the aggregation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GRID PATTERN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0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coherent positive ridge appears near 5–10 sessions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Pearson +0.092 at 5 prior / 10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6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Every signed-return interval still includes zero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BH-FDR or Bonferroni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DIRECTION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494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Probability shifts are larger but not multiplicity-stable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Best raw p=0.025; BH q=0.554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the 5–10-session ridge deserve one frozen replication, or does this descriptive lane stop here?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REGIME CONDITIONING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aggregation mixes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incompatible path states?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the ER20 color already known at the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 and green inherit the prior POC's fixed 20-session metric and 0.30 cutoff.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ER20 before reading the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State[t]  then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anchor is labeled from closes through t. Prior return ends at t;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fixed path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20-session log-price 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&lt; 0.30 (sideways)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&gt;= 0.30 (trending)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State known at anchor close 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and prior return share trailing price data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ER20 states expose a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Red/sideways matrix; strongest cell +0.173 at 15 prior / 5 forward.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d2739ec61646db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Green ER20 states suppress the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Green/trending matrix; long/long cells turn negative; strongest absolute cell -0.154.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ee69f84bce44d3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state split is coherent, but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-0.231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15 prior / 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 = 0.029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raw HAC slope-interaction 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interaction cells with BH-FDR q &lt; 0.05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c89596c34b49f7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changes the map, but not the evidentiary stop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RED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positive island appears around 10–15 prior / 3–10 forward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+0.173 at 15 prior / 5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GREEN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same island is muted or reversed; long/long turns 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 / 5 = -0.058; 25 / 25 = -0.154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regime-specific or interaction result survives the scan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red; 0/81 green; 0/81 interactions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Freeze 15-prior / 5-forward for separate replication—or first test a regime filter less entangled with prior return?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VOLATILITY CONDITIONING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Does movement capacity separate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continuation from reversal?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43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Reuse the accepted ATR% state already known at the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LOW, MEDIUM, and HIGH inherit HYP-REG-01.1's fixed causal classifier.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639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accepted ATR% before reading the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State[t]  then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ATR% state is assigned at anchor close t. Prior return ends at t; following return begins after t. It measures capacity—not direction.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volatility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ATR% shows movement capacity—not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state uses Wilder ATR14 / close, ranked against the prior 252 completed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Blue marks LOW, gold MEDIUM, and red HIGH movement capacity. Price and the causal trailing ATR% rank are shown together.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1bb5217faa4601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ATR% is broadly positive, but no cell passes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All 81 cells positive; strongest +0.198 at 10 prior / 25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36a7dfed144fd0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73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MEDIUM ATR% contains the stable continuation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All 81 cells positive; 21/81 within-state BH passes; strict survivors cluster at 5–10 prior / 2–3 forward.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755672eec54980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ATR% flips the surface toward reversal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cells negative; strongest -0.301 at 20 prior / 20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0aa16d701b4700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and MEDIUM contain direct state differences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-0.548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25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0.038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HIGH-minus-MEDIUM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3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bbfcee6def46ff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3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ATR% changes the map—and leaves a replication candidate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All cells are positive, but none survive the within-state scan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+0.198; 0/81 BH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continuation island survives around 5–10 prior / 2–3 forward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21/81 family; 3 strict omnibus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surface broadly reverses, especially at longer horizons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negative; max |r| = 0.301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715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Bookmarked next questions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Replicate ATR% on a frozen sample. Then split green ER20 into up/down direction and test external market context.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EXTERNAL MARKET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SPY movement capacity organize TSLA returns?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881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SPY's accepted ATR% state at the same TSLA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TSLA, sample, return windows, and uncertainty stay fixed.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SPY ATR% before reading TSLA's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SPY state  →  TSLA future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SPY labels anchor close t. TSLA prior return ends at t; TSLA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external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SPY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ATR% supplies context—not TSLA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SPY state uses Wilder ATR14 / close, ranked against the prior 252 completed SPY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Bands are SPY states over TSLA price. Blue LOW and red HIGH describe movement capacity—not bullish or bearish calls.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b5b7cc3197490f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d54ae45d7a4081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LOW reveals TSLA continuation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cells positive; strongest +0.228 at 5 prior / 10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115e1fc3624940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d61ca46c5e408a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MEDIUM turns long-forward returns negative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67/81 cells negative; strongest -0.191 at 15 prior / 20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2868afc270479f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259f9a50864188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HIGH leaves a mild TSLA surface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60/81 cells positive; max |r| = 0.103 at 25 prior / 15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61d3fbf5eb43b8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d61d750d4e4780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LOW versus MEDIUM is the clearest contrast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-0.389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5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0.016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MEDIUM-minus-LOW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1242011ba4b2b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9b66c31e74076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007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context changes the map—but confirms no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SPY 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01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Broadly preserves the positive continuation geometry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same sign vs own LOW; mean r +0.091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SPY 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68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Reverses the own-asset MEDIUM interpretation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14/81 same sign; mean r -0.058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SPY 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0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Mild and mixed—not broad TSLA reversal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25/81 same sign; mean r +0.031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External context is a promising descriptive axis. Next: brainstorm cross-sectional cues; keep replication and strategy gates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QUASI-EXTERNAL MARKET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QQQ movement capacity organize TSLA returns?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563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QQQ's accepted ATR% state at the same TSLA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TSLA, sample, return windows, and uncertainty stay fixed. QQQ is quasi-external;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QQQ ATR% to read TSLA's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QQQ state  →  TSLA future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QQQ labels anchor close t. TSLA prior return ends at t; TSLA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external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QQQ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ATR% supplies context—not TSLA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QQQ state uses Wilder ATR14 / close, ranked against the prior 252 completed QQQ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Bands are QQQ states over TSLA price. Blue LOW and red HIGH describe movement capacity—not bullish or bearish calls.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09c7caf7cc4ec8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1f5a56da734ad3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LOW reveals broad TSLA continuation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cells positive; strongest +0.260 at 10 prior / 5 forward; family q = 0.051, so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fa2bfa5b84dd8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eea9c68b244d9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MEDIUM weakens at longer horizons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44/81 cells positive; long/long cells turn negative; strongest -0.224 at 20 prior / 25 forward;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fa9b8f0724349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31d327adaa4e5b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HIGH leaves a mild negative TSLA surface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59/81 cells negative; max |r| = 0.112 at 25 prior / 15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3a75766b3e4ecd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f615e9bb8b4a5d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LOW versus MEDIUM is the clearest contrast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-0.342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10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0.274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MEDIUM-minus-LOW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3d2e1642cd4294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09559a2de54401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reshapes TSLA returns—but leaves no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QQQ 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8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Preserves the broad continuation geometry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positive; 77/81 same sign vs own; mean r +0.123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QQQ 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Weakens own-asset MEDIUM; long horizons turn 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44/81 positive; 44/81 same sign vs own; mean r -0.010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QQQ 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Mild negative map; closer to TSLA-own HIGH than SPY HIGH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59/81 negative; 63/81 same sign vs own; mean r -0.022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QQQ is a coherent quasi-external axis—not independent evidence. Next: frozen QQQ/SPY lead–lag grid; keep strategy gates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CROSS-ASSET PRIOR RETURNS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prior market return foreshadow TSLA?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Compare QQQ and SPY return windows ending at the TSLA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Same TSLA target, sample, horizons, timing boundary, and uncertainty. No relative-strength model.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8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Prior market return ends before TSLA's future begins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QQQ / SPY R−(p)  →  TSLA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market-return window ends at anchor close t. TSLA's following return begins after t—no return interval appears on both sides.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separate prior-return authorities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cross-asset surface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Predictors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QQQ and SPY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Prior windows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1, 2, 3, 4, 5, 10, 15, 20, 25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6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Following TSLA cumulative log return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Overlap-aware Newey-West / HAC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Multiplicity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81 each; 162 pooled BH tests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Prior QQQ return reveals a medium-horizon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cells positive; strongest +0.134 at 10 prior / 10 forward; family q = 0.361, so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12a77403c548d9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3a2b654454478e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Prior SPY return traces the same, weaker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70/81 cells positive; strongest +0.111 at 10 prior / 5 forward; family q = 0.662, so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ef16e3c324dbc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e3c570ac2a4e96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and SPY maps differ only modestly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+0.035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QQQ-minus-SPY change: 15 prior / 10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79 / 81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cells with the same correlation sign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 = 0.947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cellwise correlation between the two maps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e801dbd1b947e4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4372975ad841db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473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and SPY largely reproduce TSLA's own horizon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Map correlation vs TSLA-own: QQQ +0.906, SPY +0.965; no external BH survivor.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dc4380e94a4e8a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A475D3-61B6-47E4-B4AF-667A5724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A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9c80643a0a4c48"/>
          <a:stretch xmlns:a="http://schemas.openxmlformats.org/drawingml/2006/main"/>
        </p:blipFill>
        <p:spPr>
          <a:xfrm xmlns:a="http://schemas.openxmlformats.org/drawingml/2006/main">
            <a:off x="1000125" y="1581150"/>
            <a:ext cx="10191750" cy="38385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007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prior returns reveal shared geometry—not a lead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QQQ PRIOR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43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Positive island peaks around 5–10 prior / 5–10 forward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positive; max r +0.134; 0/81 family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SPY PRIOR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Nearly the same surface, with slightly weaker point estimates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70/81 positive; max r +0.111; 0/81 family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TSLA-OWN BASELINE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same island already exists in TSLA's own prior-return map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QQQ/own map r +0.906; SPY/own r +0.965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Shared trend geometry is a useful clue, but no distinct external lead or multiplicity survivor is established. Keep the strategy gate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theme/theme1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2026-08-26T03:43:32.9550000Z</dcterms:created>
  <dcterms:modified xsi:type="dcterms:W3CDTF">2026-08-26T03:43:32.9550000Z</dcterms:modified>
</coreProperties>
</file>