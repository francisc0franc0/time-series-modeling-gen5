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76794ff522b4063" /><Relationship Type="http://schemas.openxmlformats.org/officeDocument/2006/relationships/extended-properties" Target="/docProps/app.xml" Id="R806d1a024e0e4a15" /><Relationship Type="http://schemas.openxmlformats.org/officeDocument/2006/relationships/officeDocument" Target="/ppt/presentation.xml" Id="Rd3f627d6de8343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52f69c630134403"/>
  </p:sldMasterIdLst>
  <p:notesMasterIdLst>
    <p:notesMasterId xmlns:r="http://schemas.openxmlformats.org/officeDocument/2006/relationships" r:id="R57325cb173274937"/>
  </p:notesMasterIdLst>
  <p:sldIdLst>
    <p:sldId xmlns:r="http://schemas.openxmlformats.org/officeDocument/2006/relationships" id="256" r:id="R3d91745202c04d36"/>
    <p:sldId xmlns:r="http://schemas.openxmlformats.org/officeDocument/2006/relationships" id="257" r:id="R514dca58b41045cf"/>
    <p:sldId xmlns:r="http://schemas.openxmlformats.org/officeDocument/2006/relationships" id="258" r:id="R97f1c4a73a3042ac"/>
    <p:sldId xmlns:r="http://schemas.openxmlformats.org/officeDocument/2006/relationships" id="259" r:id="Rcbf4957169114ad9"/>
    <p:sldId xmlns:r="http://schemas.openxmlformats.org/officeDocument/2006/relationships" id="260" r:id="R35a7e896827c4d32"/>
    <p:sldId xmlns:r="http://schemas.openxmlformats.org/officeDocument/2006/relationships" id="261" r:id="R824b191bcd244b13"/>
    <p:sldId xmlns:r="http://schemas.openxmlformats.org/officeDocument/2006/relationships" id="262" r:id="R2f05df1e6a9844c3"/>
    <p:sldId xmlns:r="http://schemas.openxmlformats.org/officeDocument/2006/relationships" id="263" r:id="Raadfaddc89c7459f"/>
    <p:sldId xmlns:r="http://schemas.openxmlformats.org/officeDocument/2006/relationships" id="264" r:id="R48bc88342ff3452f"/>
    <p:sldId xmlns:r="http://schemas.openxmlformats.org/officeDocument/2006/relationships" id="265" r:id="R0e7a6a6c64bc4516"/>
    <p:sldId xmlns:r="http://schemas.openxmlformats.org/officeDocument/2006/relationships" id="266" r:id="R778ba8dbed4149d0"/>
    <p:sldId xmlns:r="http://schemas.openxmlformats.org/officeDocument/2006/relationships" id="267" r:id="R473f21589cca4062"/>
    <p:sldId xmlns:r="http://schemas.openxmlformats.org/officeDocument/2006/relationships" id="268" r:id="Re93a2de3d29d41d5"/>
    <p:sldId xmlns:r="http://schemas.openxmlformats.org/officeDocument/2006/relationships" id="269" r:id="R288622e5c9bf4bbd"/>
    <p:sldId xmlns:r="http://schemas.openxmlformats.org/officeDocument/2006/relationships" id="270" r:id="R127364fd51944af5"/>
    <p:sldId xmlns:r="http://schemas.openxmlformats.org/officeDocument/2006/relationships" id="271" r:id="R5ad94936ace94198"/>
    <p:sldId xmlns:r="http://schemas.openxmlformats.org/officeDocument/2006/relationships" id="272" r:id="Re08edc91a99d45ca"/>
    <p:sldId xmlns:r="http://schemas.openxmlformats.org/officeDocument/2006/relationships" id="273" r:id="R79f679868c444863"/>
    <p:sldId xmlns:r="http://schemas.openxmlformats.org/officeDocument/2006/relationships" id="274" r:id="R8869a3ca62f749c2"/>
    <p:sldId xmlns:r="http://schemas.openxmlformats.org/officeDocument/2006/relationships" id="275" r:id="R8c67b4c6108e4ee3"/>
    <p:sldId xmlns:r="http://schemas.openxmlformats.org/officeDocument/2006/relationships" id="276" r:id="Rf43d8d89c0b048ce"/>
    <p:sldId xmlns:r="http://schemas.openxmlformats.org/officeDocument/2006/relationships" id="277" r:id="R01d4460775c14ea4"/>
    <p:sldId xmlns:r="http://schemas.openxmlformats.org/officeDocument/2006/relationships" id="278" r:id="R3084b2f5cad34ea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815090753b648f8" /><Relationship Type="http://schemas.openxmlformats.org/officeDocument/2006/relationships/slideMaster" Target="/ppt/slideMasters/slideMaster1.xml" Id="R352f69c630134403" /><Relationship Type="http://schemas.openxmlformats.org/officeDocument/2006/relationships/notesMaster" Target="/ppt/notesMasters/notesMaster1.xml" Id="R57325cb173274937" /><Relationship Type="http://schemas.openxmlformats.org/officeDocument/2006/relationships/presProps" Target="/ppt/presProps.xml" Id="R3cfda90083c04667" /><Relationship Type="http://schemas.openxmlformats.org/officeDocument/2006/relationships/tableStyles" Target="/ppt/tableStyles.xml" Id="R8918790a883041c8" /><Relationship Type="http://schemas.openxmlformats.org/officeDocument/2006/relationships/slide" Target="/ppt/slides/slide1.xml" Id="R3d91745202c04d36" /><Relationship Type="http://schemas.openxmlformats.org/officeDocument/2006/relationships/slide" Target="/ppt/slides/slide2.xml" Id="R514dca58b41045cf" /><Relationship Type="http://schemas.openxmlformats.org/officeDocument/2006/relationships/slide" Target="/ppt/slides/slide3.xml" Id="R97f1c4a73a3042ac" /><Relationship Type="http://schemas.openxmlformats.org/officeDocument/2006/relationships/slide" Target="/ppt/slides/slide4.xml" Id="Rcbf4957169114ad9" /><Relationship Type="http://schemas.openxmlformats.org/officeDocument/2006/relationships/slide" Target="/ppt/slides/slide5.xml" Id="R35a7e896827c4d32" /><Relationship Type="http://schemas.openxmlformats.org/officeDocument/2006/relationships/slide" Target="/ppt/slides/slide6.xml" Id="R824b191bcd244b13" /><Relationship Type="http://schemas.openxmlformats.org/officeDocument/2006/relationships/slide" Target="/ppt/slides/slide7.xml" Id="R2f05df1e6a9844c3" /><Relationship Type="http://schemas.openxmlformats.org/officeDocument/2006/relationships/slide" Target="/ppt/slides/slide8.xml" Id="Raadfaddc89c7459f" /><Relationship Type="http://schemas.openxmlformats.org/officeDocument/2006/relationships/slide" Target="/ppt/slides/slide9.xml" Id="R48bc88342ff3452f" /><Relationship Type="http://schemas.openxmlformats.org/officeDocument/2006/relationships/slide" Target="/ppt/slides/slide10.xml" Id="R0e7a6a6c64bc4516" /><Relationship Type="http://schemas.openxmlformats.org/officeDocument/2006/relationships/slide" Target="/ppt/slides/slide11.xml" Id="R778ba8dbed4149d0" /><Relationship Type="http://schemas.openxmlformats.org/officeDocument/2006/relationships/slide" Target="/ppt/slides/slide12.xml" Id="R473f21589cca4062" /><Relationship Type="http://schemas.openxmlformats.org/officeDocument/2006/relationships/slide" Target="/ppt/slides/slide13.xml" Id="Re93a2de3d29d41d5" /><Relationship Type="http://schemas.openxmlformats.org/officeDocument/2006/relationships/slide" Target="/ppt/slides/slide14.xml" Id="R288622e5c9bf4bbd" /><Relationship Type="http://schemas.openxmlformats.org/officeDocument/2006/relationships/slide" Target="/ppt/slides/slide15.xml" Id="R127364fd51944af5" /><Relationship Type="http://schemas.openxmlformats.org/officeDocument/2006/relationships/slide" Target="/ppt/slides/slide16.xml" Id="R5ad94936ace94198" /><Relationship Type="http://schemas.openxmlformats.org/officeDocument/2006/relationships/slide" Target="/ppt/slides/slide17.xml" Id="Re08edc91a99d45ca" /><Relationship Type="http://schemas.openxmlformats.org/officeDocument/2006/relationships/slide" Target="/ppt/slides/slide18.xml" Id="R79f679868c444863" /><Relationship Type="http://schemas.openxmlformats.org/officeDocument/2006/relationships/slide" Target="/ppt/slides/slide19.xml" Id="R8869a3ca62f749c2" /><Relationship Type="http://schemas.openxmlformats.org/officeDocument/2006/relationships/slide" Target="/ppt/slides/slide20.xml" Id="R8c67b4c6108e4ee3" /><Relationship Type="http://schemas.openxmlformats.org/officeDocument/2006/relationships/slide" Target="/ppt/slides/slide21.xml" Id="Rf43d8d89c0b048ce" /><Relationship Type="http://schemas.openxmlformats.org/officeDocument/2006/relationships/slide" Target="/ppt/slides/slide22.xml" Id="R01d4460775c14ea4" /><Relationship Type="http://schemas.openxmlformats.org/officeDocument/2006/relationships/slide" Target="/ppt/slides/slide23.xml" Id="R3084b2f5cad34e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5d6d36239c4a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141519571e14121" /><Relationship Type="http://schemas.openxmlformats.org/officeDocument/2006/relationships/notesMaster" Target="/ppt/notesMasters/notesMaster1.xml" Id="Rd77b93c427044bc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642b6e53ab43ac" /><Relationship Type="http://schemas.openxmlformats.org/officeDocument/2006/relationships/notesMaster" Target="/ppt/notesMasters/notesMaster1.xml" Id="R343a4303adb1442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d41167b676434e" /><Relationship Type="http://schemas.openxmlformats.org/officeDocument/2006/relationships/notesMaster" Target="/ppt/notesMasters/notesMaster1.xml" Id="Rb5d0401a959f45d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290c49058f34526" /><Relationship Type="http://schemas.openxmlformats.org/officeDocument/2006/relationships/notesMaster" Target="/ppt/notesMasters/notesMaster1.xml" Id="R8b1f2a4a501c418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44309b1118439f" /><Relationship Type="http://schemas.openxmlformats.org/officeDocument/2006/relationships/notesMaster" Target="/ppt/notesMasters/notesMaster1.xml" Id="Rb0489caa63f1431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dce693fec840b3" /><Relationship Type="http://schemas.openxmlformats.org/officeDocument/2006/relationships/notesMaster" Target="/ppt/notesMasters/notesMaster1.xml" Id="Re87d87b9fe1440c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7f21d16b2c744e6" /><Relationship Type="http://schemas.openxmlformats.org/officeDocument/2006/relationships/notesMaster" Target="/ppt/notesMasters/notesMaster1.xml" Id="Rdd5f619cec42476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a8290f58f064f78" /><Relationship Type="http://schemas.openxmlformats.org/officeDocument/2006/relationships/notesMaster" Target="/ppt/notesMasters/notesMaster1.xml" Id="R1887ad520cbc455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889ca8e474a418e" /><Relationship Type="http://schemas.openxmlformats.org/officeDocument/2006/relationships/notesMaster" Target="/ppt/notesMasters/notesMaster1.xml" Id="R826dfaa5ddcf4ca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272fe7b80dd43e2" /><Relationship Type="http://schemas.openxmlformats.org/officeDocument/2006/relationships/notesMaster" Target="/ppt/notesMasters/notesMaster1.xml" Id="Rd917287cf7eb476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a5b64e0384f4078" /><Relationship Type="http://schemas.openxmlformats.org/officeDocument/2006/relationships/notesMaster" Target="/ppt/notesMasters/notesMaster1.xml" Id="R66fff03cd121406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d08631a861a4126" /><Relationship Type="http://schemas.openxmlformats.org/officeDocument/2006/relationships/notesMaster" Target="/ppt/notesMasters/notesMaster1.xml" Id="Rc8cc2880cc5345d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7d88a070b774cae" /><Relationship Type="http://schemas.openxmlformats.org/officeDocument/2006/relationships/notesMaster" Target="/ppt/notesMasters/notesMaster1.xml" Id="R0a4e918892f4419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1bdeb974ceb411a" /><Relationship Type="http://schemas.openxmlformats.org/officeDocument/2006/relationships/notesMaster" Target="/ppt/notesMasters/notesMaster1.xml" Id="R504f5f57cdfc4f6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d4636df27084aed" /><Relationship Type="http://schemas.openxmlformats.org/officeDocument/2006/relationships/notesMaster" Target="/ppt/notesMasters/notesMaster1.xml" Id="Rde2536b922294fb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9f0f72b8c554ca5" /><Relationship Type="http://schemas.openxmlformats.org/officeDocument/2006/relationships/notesMaster" Target="/ppt/notesMasters/notesMaster1.xml" Id="R71cf1064ef38443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12cc4608452483a" /><Relationship Type="http://schemas.openxmlformats.org/officeDocument/2006/relationships/notesMaster" Target="/ppt/notesMasters/notesMaster1.xml" Id="Rec99e9eccc8942d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c9d342ebb824d66" /><Relationship Type="http://schemas.openxmlformats.org/officeDocument/2006/relationships/notesMaster" Target="/ppt/notesMasters/notesMaster1.xml" Id="Rb4fdd34b562642f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6bf1ef4a0944a28" /><Relationship Type="http://schemas.openxmlformats.org/officeDocument/2006/relationships/notesMaster" Target="/ppt/notesMasters/notesMaster1.xml" Id="Refe508ec1bbb431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db6d49d9d714423" /><Relationship Type="http://schemas.openxmlformats.org/officeDocument/2006/relationships/notesMaster" Target="/ppt/notesMasters/notesMaster1.xml" Id="R641ffe31ede5469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49d79829ca541cf" /><Relationship Type="http://schemas.openxmlformats.org/officeDocument/2006/relationships/notesMaster" Target="/ppt/notesMasters/notesMaster1.xml" Id="R537f4b12688a4d8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da6a1179a1f4a5b" /><Relationship Type="http://schemas.openxmlformats.org/officeDocument/2006/relationships/notesMaster" Target="/ppt/notesMasters/notesMaster1.xml" Id="Rb38788a90bea40d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7b1d73958b84669" /><Relationship Type="http://schemas.openxmlformats.org/officeDocument/2006/relationships/notesMaster" Target="/ppt/notesMasters/notesMaster1.xml" Id="R564fa0c291b547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this as a running laboratory notebook, not a strategy pitch.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learning objective is bottom-up hypothesis formation. The order is observation, definition, measurement, then falsification.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User-directed research workflow in this task</a:t>
            </a:r>
          </a:p>
          <a:p xmlns:a="http://schemas.openxmlformats.org/drawingml/2006/main">
            <a:r>
              <a:t>- docs/GEN5_1_POC_PROGRESS_LOG.md entries 186-188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definition before showing any statistic. The sample is the exact scatterplot surface from the prior slice.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- runs/research_workbench/operator_hypothesis_lab/tsla_lagged_return_dependence_statistics_20260825/pair_checks.csv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eye sees a dense cloud around zero and observations in all four quadrants. This slide preserves the pre-statistics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runs/research_workbench/operator_hypothesis_lab/tsla_lagged_daily_return_scatter_20260824/visuals/tsla_t_minus_1_vs_t_daily_log_return_scatter.png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ER20 asks whether the trailing path was efficient. It ignores bullish versus bearish direction and does not measure volatility.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runs/research_workbench/operator_hypothesis_lab/tsla_efficiency_ratio_regime_bands_20260824/visuals/tsla_er20_path_regime_bands.png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primary estimand is frozen before reading the result: Pearson correlation, equivalently the OLS slope in r[t] = alpha + beta r[t-1] + 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scripts/inspect/run_tsla_lagged_return_dependence_statistics.R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interval includes zero and the fitted line explains roughly four hundredths of one percent of next-day return variation. HAC slope p-value is 0.451.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runs/research_workbench/operator_hypothesis_lab/tsla_lagged_return_dependence_statistics_20260825/visuals/tsla_signed_return_dependence_fitted_scatter.png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binary direction view reaches the same conclusion as the continuous-return view. The conditional probabilities are nearly identical and their difference interval crosses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runs/research_workbench/operator_hypothesis_lab/tsla_lagged_return_dependence_statistics_20260825/direction_transition_probabilities.csv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runs/research_workbench/operator_hypothesis_lab/tsla_lagged_return_dependence_statistics_20260825/direction_transition_difference.csv</a:t>
            </a:r>
          </a:p>
          <a:p xmlns:a="http://schemas.openxmlformats.org/drawingml/2006/main">
            <a:r>
              <a:t>- runs/research_workbench/operator_hypothesis_lab/tsla_lagged_return_dependence_statistics_20260825/visuals/tsla_direction_transition_probabilities.png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Annual point estimates change sign, but none of the annual HAC intervals excludes zero. Rank correlation and the fixed winsor sensitivity are also near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runs/research_workbench/operator_hypothesis_lab/tsla_lagged_return_dependence_statistics_20260825/annual_stability.csv</a:t>
            </a:r>
          </a:p>
          <a:p xmlns:a="http://schemas.openxmlformats.org/drawingml/2006/main">
            <a:r>
              <a:t>- runs/research_workbench/operator_hypothesis_lab/tsla_lagged_return_dependence_statistics_20260825/outlier_sensitivity.csv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Absolute and squared returns show positive linear dependence, but the equal-count deciles are jagged and the absolute-return rank interval includes zero. Treat this as modest magnitude persistence and a separate future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runs/research_workbench/operator_hypothesis_lab/tsla_lagged_return_dependence_statistics_20260825/absolute_return_deciles.csv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separating what was learned. The signed-return question stops descriptively; ER20 remains a descriptive lens; magnitude persistence is the only new clue and requires its own predeclared test before any strategy interpretation.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- runs/research_workbench/operator_hypothesis_lab/tsla_lagged_return_dependence_statistics_20260825/report.md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aggregating sessions reveals signed dependence hidden by the adjacent-session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scripts/inspect/run_tsla_cumulative_return_horizon_grid.R</a:t>
            </a:r>
          </a:p>
          <a:p xmlns:a="http://schemas.openxmlformats.org/drawingml/2006/main">
            <a:r>
              <a:t>- runs/research_workbench/operator_hypothesis_lab/tsla_cumulative_return_horizon_grid_20260825/run_spec.csv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information boundary first: cumulative prior return ends at the anchor close and cumulative forward return begins from that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runs/research_workbench/operator_hypothesis_lab/tsla_cumulative_return_horizon_grid_20260825/run_spec.csv</a:t>
            </a:r>
          </a:p>
          <a:p xmlns:a="http://schemas.openxmlformats.org/drawingml/2006/main">
            <a:r>
              <a:t>- runs/research_workbench/operator_hypothesis_lab/tsla_cumulative_return_horizon_grid_20260825/grid_checks.csv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positive region is coherent rather than a single isolated cell, but its magnitude is small and this nested grid is highly dependent.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runs/research_workbench/operator_hypothesis_lab/tsla_cumulative_return_horizon_grid_20260825/pearson_correlation_matrix.csv</a:t>
            </a:r>
          </a:p>
          <a:p xmlns:a="http://schemas.openxmlformats.org/drawingml/2006/main">
            <a:r>
              <a:t>- runs/research_workbench/operator_hypothesis_lab/tsla_cumulative_return_horizon_grid_20260825/slope_bh_q_value_matrix.csv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strongest point estimate explains less than one percent of forward-return variance, and its overlap-aware interval includes zero. Its BH q-value is 0.660.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runs/research_workbench/operator_hypothesis_lab/tsla_cumulative_return_horizon_grid_20260825/horizon_grid_statistics.csv</a:t>
            </a:r>
          </a:p>
          <a:p xmlns:a="http://schemas.openxmlformats.org/drawingml/2006/main">
            <a:r>
              <a:t>- runs/research_workbench/operator_hypothesis_lab/tsla_cumulative_return_horizon_grid_20260825/r_squared_percent_matrix.csv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runs/research_workbench/operator_hypothesis_lab/tsla_cumulative_return_horizon_grid_20260825/visuals/tsla_cumulative_return_r_squared_heatmap.png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Several direction differences are positive, but the best raw p-value becomes q=0.554 after the 81-cell scan. None survives BH-FDR or Bonferroni.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runs/research_workbench/operator_hypothesis_lab/tsla_cumulative_return_horizon_grid_20260825/direction_difference_pp_matrix.csv</a:t>
            </a:r>
          </a:p>
          <a:p xmlns:a="http://schemas.openxmlformats.org/drawingml/2006/main">
            <a:r>
              <a:t>- runs/research_workbench/operator_hypothesis_lab/tsla_cumulative_return_horizon_grid_20260825/horizon_grid_statistics.csv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runs/research_workbench/operator_hypothesis_lab/tsla_cumulative_return_horizon_grid_20260825/visuals/tsla_cumulative_return_direction_difference_heatmap.png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separating the descriptive pattern from evidence strength. The ridge is worth naming, but this scan does not establish predictive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runs/research_workbench/operator_hypothesis_lab/tsla_cumulative_return_horizon_grid_20260825/report.md</a:t>
            </a:r>
          </a:p>
          <a:p xmlns:a="http://schemas.openxmlformats.org/drawingml/2006/main">
            <a:r>
              <a:t>- runs/research_workbench/operator_hypothesis_lab/tsla_cumulative_return_horizon_grid_20260825/cells_ranked_by_absolute_correlation.csv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aggregating red and green path states washes out different prior-versus-forward return relationships.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- scripts/inspect/run_tsla_er20_conditioned_return_horizon_grid.R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timing is causal: ER20 at the anchor uses closes through that anchor only. One pre-2018 anchor from the aggregate grid is uncolored and excluded.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runs/research_workbench/operator_hypothesis_lab/tsla_er20_conditioned_return_horizon_grid_20260825/run_spec.csv</a:t>
            </a:r>
          </a:p>
          <a:p xmlns:a="http://schemas.openxmlformats.org/drawingml/2006/main">
            <a:r>
              <a:t>- runs/research_workbench/operator_hypothesis_lab/tsla_er20_conditioned_return_horizon_grid_20260825/grid_checks.csv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 states show a coherent positive island centered around 10 to 15 prior sessions and 3 to 10 forward sessions. The largest cell has an overlap-aware interval that still includes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runs/research_workbench/operator_hypothesis_lab/tsla_er20_conditioned_return_horizon_grid_20260825/red_sideways_pearson_matrix.csv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runs/research_workbench/operator_hypothesis_lab/tsla_er20_conditioned_return_horizon_grid_20260825/visuals/tsla_red_sideways_pearson_heatmap.png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Green states retain small positive short-horizon patches, but the red medium-horizon island is muted or reversed and the long-prior/long-forward corner becomes negative.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runs/research_workbench/operator_hypothesis_lab/tsla_er20_conditioned_return_horizon_grid_20260825/green_trending_pearson_matrix.csv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runs/research_workbench/operator_hypothesis_lab/tsla_er20_conditioned_return_horizon_grid_20260825/visuals/tsla_green_trending_pearson_heatmap.png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raw regime contrast is at 15 prior and 5 forward: red correlation +0.173 versus green -0.058, a -0.231 difference. Its slope interaction has raw HAC p=0.029 but BH q=0.919; no interaction survives the grid scan.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runs/research_workbench/operator_hypothesis_lab/tsla_er20_conditioned_return_horizon_grid_20260825/green_minus_red_pearson_matrix.csv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runs/research_workbench/operator_hypothesis_lab/tsla_er20_conditioned_return_horizon_grid_20260825/regime_comparison_statistics.csv</a:t>
            </a:r>
          </a:p>
          <a:p xmlns:a="http://schemas.openxmlformats.org/drawingml/2006/main">
            <a:r>
              <a:t>- runs/research_workbench/operator_hypothesis_lab/tsla_er20_conditioned_return_horizon_grid_20260825/slope_interaction_bh_q_value_matrix.csv</a:t>
            </a:r>
          </a:p>
          <a:p xmlns:a="http://schemas.openxmlformats.org/drawingml/2006/main">
            <a:r>
              <a:t>- runs/research_workbench/operator_hypothesis_lab/tsla_er20_conditioned_return_horizon_grid_20260825/visuals/tsla_green_minus_red_pearson_heatmap.png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Conditioning changes the descriptive map in a coherent way, but the finding remains exploratory. ER20 is built from the same trailing path as the prior-return variable, so a less mechanically entangled filter would be a useful comparison.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runs/research_workbench/operator_hypothesis_lab/tsla_er20_conditioned_return_horizon_grid_20260825/report.md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runs/research_workbench/operator_hypothesis_lab/tsla_er20_conditioned_return_horizon_grid_20260825/regime_comparison_statistics.csv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f361f8ffb34e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646dbc901544895" /><Relationship Type="http://schemas.openxmlformats.org/officeDocument/2006/relationships/slideLayout" Target="/ppt/slideLayouts/slideLayout1.xml" Id="R5ff77f7aa68e41d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f77f7aa68e41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3d715678ed4455" /><Relationship Type="http://schemas.openxmlformats.org/officeDocument/2006/relationships/notesSlide" Target="/ppt/notesSlides/notesSlide1.xml" Id="Reaa87a22f1c746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cb854021b24da6" /><Relationship Type="http://schemas.openxmlformats.org/officeDocument/2006/relationships/notesSlide" Target="/ppt/notesSlides/notesSlide2.xml" Id="R86dd52f5c03444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cb7fa01b254664" /><Relationship Type="http://schemas.openxmlformats.org/officeDocument/2006/relationships/notesSlide" Target="/ppt/notesSlides/notesSlide3.xml" Id="Rd847100136ab48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524e5bdbd4413" /><Relationship Type="http://schemas.openxmlformats.org/officeDocument/2006/relationships/image" Target="/ppt/media/image.png" Id="R7edbd1339a784db8" /><Relationship Type="http://schemas.openxmlformats.org/officeDocument/2006/relationships/notesSlide" Target="/ppt/notesSlides/notesSlide4.xml" Id="R94d64d5ea823474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8f8ea217ec4082" /><Relationship Type="http://schemas.openxmlformats.org/officeDocument/2006/relationships/image" Target="/ppt/media/image2.png" Id="R05df032fe7e44623" /><Relationship Type="http://schemas.openxmlformats.org/officeDocument/2006/relationships/notesSlide" Target="/ppt/notesSlides/notesSlide5.xml" Id="Re11e1f596f6849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4c6430ea5a48d3" /><Relationship Type="http://schemas.openxmlformats.org/officeDocument/2006/relationships/notesSlide" Target="/ppt/notesSlides/notesSlide6.xml" Id="R05dcd3a7723a44b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8bd83d045b40bc" /><Relationship Type="http://schemas.openxmlformats.org/officeDocument/2006/relationships/image" Target="/ppt/media/image3.png" Id="R68c31d3e6af841f8" /><Relationship Type="http://schemas.openxmlformats.org/officeDocument/2006/relationships/notesSlide" Target="/ppt/notesSlides/notesSlide7.xml" Id="R05af289e9eb4489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905f0eee5e4d0a" /><Relationship Type="http://schemas.openxmlformats.org/officeDocument/2006/relationships/image" Target="/ppt/media/image4.png" Id="R0c54da1429b249a0" /><Relationship Type="http://schemas.openxmlformats.org/officeDocument/2006/relationships/notesSlide" Target="/ppt/notesSlides/notesSlide8.xml" Id="Ra9ece96f4dbd4cf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fbc8ca434646b9" /><Relationship Type="http://schemas.openxmlformats.org/officeDocument/2006/relationships/image" Target="/ppt/media/image5.png" Id="R7b08d525103f4a86" /><Relationship Type="http://schemas.openxmlformats.org/officeDocument/2006/relationships/notesSlide" Target="/ppt/notesSlides/notesSlide9.xml" Id="R4e3531c5c356411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1519167d9e4c13" /><Relationship Type="http://schemas.openxmlformats.org/officeDocument/2006/relationships/image" Target="/ppt/media/image6.png" Id="R7ae0722f17364403" /><Relationship Type="http://schemas.openxmlformats.org/officeDocument/2006/relationships/notesSlide" Target="/ppt/notesSlides/notesSlide10.xml" Id="R52b229483df94d9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0131f7b18f48af" /><Relationship Type="http://schemas.openxmlformats.org/officeDocument/2006/relationships/notesSlide" Target="/ppt/notesSlides/notesSlide11.xml" Id="R46068d8494e84a0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3c02d5451f4010" /><Relationship Type="http://schemas.openxmlformats.org/officeDocument/2006/relationships/notesSlide" Target="/ppt/notesSlides/notesSlide12.xml" Id="R3fd5578b491f4d0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12d6f315d249da" /><Relationship Type="http://schemas.openxmlformats.org/officeDocument/2006/relationships/notesSlide" Target="/ppt/notesSlides/notesSlide13.xml" Id="R5ff53871fc074bb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bf56dc7c724d90" /><Relationship Type="http://schemas.openxmlformats.org/officeDocument/2006/relationships/image" Target="/ppt/media/image7.png" Id="R5c8de20f28b04419" /><Relationship Type="http://schemas.openxmlformats.org/officeDocument/2006/relationships/notesSlide" Target="/ppt/notesSlides/notesSlide14.xml" Id="R591945c1a0884f1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8cbac5cdf44325" /><Relationship Type="http://schemas.openxmlformats.org/officeDocument/2006/relationships/image" Target="/ppt/media/image8.png" Id="R37dd7decee8d40dc" /><Relationship Type="http://schemas.openxmlformats.org/officeDocument/2006/relationships/notesSlide" Target="/ppt/notesSlides/notesSlide15.xml" Id="Rb5a4375d3d02402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93c3a229d94ee4" /><Relationship Type="http://schemas.openxmlformats.org/officeDocument/2006/relationships/image" Target="/ppt/media/image9.png" Id="R895f943fe56c4a50" /><Relationship Type="http://schemas.openxmlformats.org/officeDocument/2006/relationships/notesSlide" Target="/ppt/notesSlides/notesSlide16.xml" Id="R9431d593ba64414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1c83a38d3d4fc7" /><Relationship Type="http://schemas.openxmlformats.org/officeDocument/2006/relationships/notesSlide" Target="/ppt/notesSlides/notesSlide17.xml" Id="R957a9009c81b46f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b6d4e179494fb9" /><Relationship Type="http://schemas.openxmlformats.org/officeDocument/2006/relationships/notesSlide" Target="/ppt/notesSlides/notesSlide18.xml" Id="R201f1471125a4ca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113f70259b4558" /><Relationship Type="http://schemas.openxmlformats.org/officeDocument/2006/relationships/notesSlide" Target="/ppt/notesSlides/notesSlide19.xml" Id="R610f4e062521405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b8a138232f4f28" /><Relationship Type="http://schemas.openxmlformats.org/officeDocument/2006/relationships/image" Target="/ppt/media/image10.png" Id="Rc836beb74f174414" /><Relationship Type="http://schemas.openxmlformats.org/officeDocument/2006/relationships/notesSlide" Target="/ppt/notesSlides/notesSlide20.xml" Id="R58809820bc53474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f55af11bc247da" /><Relationship Type="http://schemas.openxmlformats.org/officeDocument/2006/relationships/image" Target="/ppt/media/image11.png" Id="Red47e276ad054fc6" /><Relationship Type="http://schemas.openxmlformats.org/officeDocument/2006/relationships/notesSlide" Target="/ppt/notesSlides/notesSlide21.xml" Id="R4cb37f7e4e1948e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17ca672d564737" /><Relationship Type="http://schemas.openxmlformats.org/officeDocument/2006/relationships/image" Target="/ppt/media/image12.png" Id="R234661b337a044a4" /><Relationship Type="http://schemas.openxmlformats.org/officeDocument/2006/relationships/notesSlide" Target="/ppt/notesSlides/notesSlide22.xml" Id="Rc19b7478bae24fd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a3dbe76a25466e" /><Relationship Type="http://schemas.openxmlformats.org/officeDocument/2006/relationships/notesSlide" Target="/ppt/notesSlides/notesSlide23.xml" Id="Rb36fdecef33f4b3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287F2A-19E1-4D71-8665-A325D369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OPERATOR HYPOTHESIS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4752F-5C3B-406E-860B-425737DD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TSLA descriptive</a:t>
            </a:r>
          </a:p>
          <a:p xmlns:a="http://schemas.openxmlformats.org/drawingml/2006/main">
            <a:pPr algn="l"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microscope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2C665E-F0B1-4B7F-B98C-E0352166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0"/>
            <a:ext cx="1238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5C4CF-93D0-4941-8B4C-E3E2BA10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2915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From visual intuition to measured daily-return dependence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9AA5C7-3D69-4D62-9FC3-A69A478B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 | Descriptive research only</a:t>
            </a:r>
          </a:p>
        </p:txBody>
      </p:sp>
    </p:spTree>
    <p:extLst>
      <p:ext uri="{BB962C8B-B14F-4D97-AF65-F5344CB8AC3E}">
        <p14:creationId xmlns:p14="http://schemas.microsoft.com/office/powerpoint/2010/main" val="15019786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2">
            <a:extLst xmlns:a="http://schemas.openxmlformats.org/drawingml/2006/main">
              <a:ext uri="{FF2B5EF4-FFF2-40B4-BE49-F238E27FC236}">
                <a16:creationId xmlns:a16="http://schemas.microsoft.com/office/drawing/2014/main" id="{EABBA6E1-F45F-441D-A600-8142D7D3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175C8CBF-2952-45DB-A51C-31B8AB27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lane starts with description, not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CD8AFB-8939-414E-BF70-4C44373B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2">
            <a:extLst xmlns:a="http://schemas.openxmlformats.org/drawingml/2006/main">
              <a:ext uri="{FF2B5EF4-FFF2-40B4-BE49-F238E27FC236}">
                <a16:creationId xmlns:a16="http://schemas.microsoft.com/office/drawing/2014/main" id="{DAFEC4F1-50D5-4693-B6C1-AC113863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2">
            <a:extLst xmlns:a="http://schemas.openxmlformats.org/drawingml/2006/main">
              <a:ext uri="{FF2B5EF4-FFF2-40B4-BE49-F238E27FC236}">
                <a16:creationId xmlns:a16="http://schemas.microsoft.com/office/drawing/2014/main" id="{EF6CAA23-BA21-472E-986D-D98B4D1F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CF66DD-540D-476F-A7F5-02147E71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4F55B-1446-4F42-BD1E-8FAB2CF5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811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F1277C-2532-4E5C-8906-6DB6877B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621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Start with raw price and return geometry before deciding what relationship ought to exist.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372FE-75A4-4E6C-8C5E-5569ECB2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289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14A25A-AA62-4D50-B30F-5346853D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289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9AF01F-0357-4FCE-9139-7DACD43D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Name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63BF40-3714-43F0-ACA7-13D0F829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718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Separate direction, magnitude, path shape, and volatility so one visual impression does not stand in for all four.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7591B6-C755-4D50-BB99-DA5C68C1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B0F103-9237-4C60-86EF-786CECE7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386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839DF-980D-4991-A539-25BA44F4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005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Measure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A18768-8500-49CC-AD63-3A41DD66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815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Quantify one frozen relationship at a time; only later ask whether a finding predicts, trades, or transports.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35A8B2-7CB6-4F65-9360-0E168549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483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465094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question, one fixed sample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r[t] = log(C[t] / C[t-1])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Each row pairs yesterday's adjusted close-to-close log return with today's.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1,509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consecutive-session pairs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Alpaca SIP adjusted daily close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Target sessions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2018-01-02 through 2023-12-29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alternate lag or horizon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Trading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8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policy or performance calculation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post-2023 data read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raw cloud has no clear directional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dbd1339a784db8"/>
          <a:stretch xmlns:a="http://schemas.openxmlformats.org/drawingml/2006/main"/>
        </p:blipFill>
        <p:spPr>
          <a:xfrm xmlns:a="http://schemas.openxmlformats.org/drawingml/2006/main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172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First look: no fitted line, correlation, p-value, binning, or outlier removal.</a:t>
            </a:r>
          </a:p>
        </p:txBody>
      </p:sp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labels path shape—not volatility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df032fe7e44623"/>
          <a:stretch xmlns:a="http://schemas.openxmlformats.org/drawingml/2006/main"/>
        </p:blipFill>
        <p:spPr>
          <a:xfrm xmlns:a="http://schemas.openxmlformats.org/drawingml/2006/main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Absolute 20-session endpoint displacement divided by the total log-price path traveled.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Green recognizes efficient rises and declines. Red marks a locally choppy path. Daily thresholding is visibly flickery near transitions.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MEASUREMENT PASS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visual cloud asks one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precise next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r[t-1] contain measurable information about r[t]?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Primary: signed linear dependence. Diagnostics: rank, sign, outliers, annual stability, and absolute-return persistence.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Signed dependence is effectively 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c31d3e6af841f8"/>
          <a:stretch xmlns:a="http://schemas.openxmlformats.org/drawingml/2006/main"/>
        </p:blipFill>
        <p:spPr>
          <a:xfrm xmlns:a="http://schemas.openxmlformats.org/drawingml/2006/main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-0.021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38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[-0.073, +0.028]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block-bootstrap interval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0.044%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R-squared: variance explained</a:t>
            </a:r>
          </a:p>
        </p:txBody>
      </p:sp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8">
            <a:extLst xmlns:a="http://schemas.openxmlformats.org/drawingml/2006/main">
              <a:ext uri="{FF2B5EF4-FFF2-40B4-BE49-F238E27FC236}">
                <a16:creationId xmlns:a16="http://schemas.microsoft.com/office/drawing/2014/main" id="{FC99BA28-64AB-43E8-BE2C-0E05781D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56141AD-6D41-4B04-9458-2EFEFD0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Yesterday's sign barely changes tomorrow's odds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B866E-F8EC-4822-8F75-8738AE5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8">
            <a:extLst xmlns:a="http://schemas.openxmlformats.org/drawingml/2006/main">
              <a:ext uri="{FF2B5EF4-FFF2-40B4-BE49-F238E27FC236}">
                <a16:creationId xmlns:a16="http://schemas.microsoft.com/office/drawing/2014/main" id="{60B7304E-4F61-40B8-9568-3A46AA0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A2FDA8B5-1121-4016-B34F-180F190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974A-1518-4857-8A86-2EF378C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66850"/>
            <a:ext cx="79057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54da1429b249a0"/>
          <a:stretch xmlns:a="http://schemas.openxmlformats.org/drawingml/2006/main"/>
        </p:blipFill>
        <p:spPr>
          <a:xfrm xmlns:a="http://schemas.openxmlformats.org/drawingml/2006/main">
            <a:off x="381000" y="1494631"/>
            <a:ext cx="7905750" cy="461168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8CD61-4D23-41B7-A67E-B50BFA3C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5ED96-F82C-4CF6-8B54-F372EF0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25F14-87B4-4B00-A519-E1B45B8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669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52.9%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C7F50-11E4-4D99-A2B2-ED17DA9E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down day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A160-F567-45AF-99BA-FC078BE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C31-69FB-4152-99F6-85AD4E4D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01F-EB23-41C7-BC9F-0DCAF5E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52.1%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E9C93-AD93-49F0-B4EC-ABFC15B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100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up day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7DD6F-8CEE-4A90-8BD6-690A4FB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197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Difference: -0.7 percentage points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interval: -5.8 to +4.2 pp</a:t>
            </a:r>
          </a:p>
        </p:txBody>
      </p:sp>
    </p:spTree>
    <p:extLst>
      <p:ext uri="{BB962C8B-B14F-4D97-AF65-F5344CB8AC3E}">
        <p14:creationId xmlns:p14="http://schemas.microsoft.com/office/powerpoint/2010/main" val="17240436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-9">
            <a:extLst xmlns:a="http://schemas.openxmlformats.org/drawingml/2006/main">
              <a:ext uri="{FF2B5EF4-FFF2-40B4-BE49-F238E27FC236}">
                <a16:creationId xmlns:a16="http://schemas.microsoft.com/office/drawing/2014/main" id="{EBA183BA-1F33-43C2-A340-16B1E99A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0663B6F4-658E-4DE8-898E-470A7CF5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signed result stays weak under obvious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D2132A-BB30-4209-B894-FCC20F4F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9">
            <a:extLst xmlns:a="http://schemas.openxmlformats.org/drawingml/2006/main">
              <a:ext uri="{FF2B5EF4-FFF2-40B4-BE49-F238E27FC236}">
                <a16:creationId xmlns:a16="http://schemas.microsoft.com/office/drawing/2014/main" id="{5B6CFEAA-57C7-4EA4-BAF7-395EC1B3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9">
            <a:extLst xmlns:a="http://schemas.openxmlformats.org/drawingml/2006/main">
              <a:ext uri="{FF2B5EF4-FFF2-40B4-BE49-F238E27FC236}">
                <a16:creationId xmlns:a16="http://schemas.microsoft.com/office/drawing/2014/main" id="{0A964CCF-1375-4C63-86E0-327EA665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3A4194-DA3D-4FE2-8903-084599EE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428750"/>
            <a:ext cx="8096250" cy="481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08d525103f4a86"/>
          <a:stretch xmlns:a="http://schemas.openxmlformats.org/drawingml/2006/main"/>
        </p:blipFill>
        <p:spPr>
          <a:xfrm xmlns:a="http://schemas.openxmlformats.org/drawingml/2006/main">
            <a:off x="588479" y="1428750"/>
            <a:ext cx="7528891" cy="4810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E547BA-6B5C-4F5A-B4E4-FD99AACD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65735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Rank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2C0B40-DAFE-4C66-8136-964E51E1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1455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Spearman rho = -0.004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interval: -0.054 to +0.044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6A331B-1B89-49FE-BD19-54F1DD62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8135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9140A0-2615-4B81-99CA-0D43FAA4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4671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Outlier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7EB45D-DC9C-458B-93BD-1FA8026B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24300"/>
            <a:ext cx="266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changes from -0.021 to -0.008 after fixed 1%/99% winsorization.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2C736D-ABB7-461A-92C1-B5147946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10540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54633C-EE8B-411B-A503-F65ADB1D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3911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Every annual HAC interval crosses zero.</a:t>
            </a:r>
          </a:p>
        </p:txBody>
      </p:sp>
    </p:spTree>
    <p:extLst>
      <p:ext uri="{BB962C8B-B14F-4D97-AF65-F5344CB8AC3E}">
        <p14:creationId xmlns:p14="http://schemas.microsoft.com/office/powerpoint/2010/main" val="20162149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10">
            <a:extLst xmlns:a="http://schemas.openxmlformats.org/drawingml/2006/main">
              <a:ext uri="{FF2B5EF4-FFF2-40B4-BE49-F238E27FC236}">
                <a16:creationId xmlns:a16="http://schemas.microsoft.com/office/drawing/2014/main" id="{956D329C-4E71-4503-8472-54BE364C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35EE1E91-CEDB-4B30-9B21-3743CDB4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Magnitude persistence is modest—and different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0048C-412A-4DAD-943D-CBFA422C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0">
            <a:extLst xmlns:a="http://schemas.openxmlformats.org/drawingml/2006/main">
              <a:ext uri="{FF2B5EF4-FFF2-40B4-BE49-F238E27FC236}">
                <a16:creationId xmlns:a16="http://schemas.microsoft.com/office/drawing/2014/main" id="{81D14FDE-48EA-4462-90E0-D7741C25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0">
            <a:extLst xmlns:a="http://schemas.openxmlformats.org/drawingml/2006/main">
              <a:ext uri="{FF2B5EF4-FFF2-40B4-BE49-F238E27FC236}">
                <a16:creationId xmlns:a16="http://schemas.microsoft.com/office/drawing/2014/main" id="{CC0DEE07-9BBD-42F7-A366-FBFDE2A0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B6EAE5-9A3B-4831-A518-2BC1EB25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47800"/>
            <a:ext cx="8096250" cy="474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e0722f17364403"/>
          <a:stretch xmlns:a="http://schemas.openxmlformats.org/drawingml/2006/main"/>
        </p:blipFill>
        <p:spPr>
          <a:xfrm xmlns:a="http://schemas.openxmlformats.org/drawingml/2006/main">
            <a:off x="342900" y="1458119"/>
            <a:ext cx="8096250" cy="4722813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70912-AFA7-4777-B92E-0384D9D3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27622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98846-1713-4B00-B11B-C6CA4C6C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6DE226-2BE8-4FE8-ABF8-EF99CFFE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752600"/>
            <a:ext cx="2305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+0.107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CCFCB-521D-4ED8-B91A-B3885201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419350"/>
            <a:ext cx="2305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 of |r[t-1]| and |r[t]|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1EFCBD-B9ED-4C50-8E82-6B73D26F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71850"/>
            <a:ext cx="2362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+0.033 to +0.168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F3178D-BD60-4112-9050-39949302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286250"/>
            <a:ext cx="236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A399B8-7059-4CEF-8F2B-1A634DBC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5339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0EC0EC-804C-451F-B37D-6CBD9395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362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36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decile pattern is not monotonic; rank correlation is only +0.053 and its interval crosses zero. This is a clue about turbulence—not direction.</a:t>
            </a:r>
          </a:p>
        </p:txBody>
      </p:sp>
    </p:spTree>
    <p:extLst>
      <p:ext uri="{BB962C8B-B14F-4D97-AF65-F5344CB8AC3E}">
        <p14:creationId xmlns:p14="http://schemas.microsoft.com/office/powerpoint/2010/main" val="1880066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this first measurement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SIGNED RETURN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79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No measurable adjacent-session continuation or reversal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Pearson -0.021; direction difference -0.7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PATH SHAPE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usefully describes trend versus chop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Direction-agnostic, lagging, and flickery near transitions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RETURN MAGNITUDE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modest persistence clue remains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Absolute-return Pearson +0.107; non-monotonic diagnostic pattern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yesterday's return magnitude forecast tomorrow's magnitude on a separately frozen surface?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HORIZON GRID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one session is simply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too noisy?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728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Aggregate the past. Aggregate the future. Keep the boundary clean.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Predeclared prior and forward horizons: 1, 2, 3, 4, 5, 10, 15, 20, and 25 sessions. No cell becomes a strategy.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fixed 9 x 9 surface tests aggregation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R-(p)  versus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prior window ends at the anchor close. The forward window begins after it—no return interval appears on both sides.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81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predeclared horizon pairs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Bars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Alpaca SIP adjusted daily close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Horizons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1, 2, 3, 4, 5, 10, 15, 20, 25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Sample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2018-01-02 through 2023-12-29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Overlap-aware Newey-West / HAC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Multiplicity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BH-FDR plus Bonferroni across 81 cells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Aggregation reveals a weak 5–10-session ridge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Pearson correlation matrix; no BH-FDR q-value is below 0.05.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8de20f28b04419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ridge is weak and statistically unresolved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+0.092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Pearson: 5 prior / 10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38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[-0.003, +0.188]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overlap-aware HAC interval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0.852%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maximum R-squared across 81 cells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dd7decee8d40dc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8">
            <a:extLst xmlns:a="http://schemas.openxmlformats.org/drawingml/2006/main">
              <a:ext uri="{FF2B5EF4-FFF2-40B4-BE49-F238E27FC236}">
                <a16:creationId xmlns:a16="http://schemas.microsoft.com/office/drawing/2014/main" id="{FC99BA28-64AB-43E8-BE2C-0E05781D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56141AD-6D41-4B04-9458-2EFEFD0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Direction differences also fail the 81-cell scan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B866E-F8EC-4822-8F75-8738AE5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8">
            <a:extLst xmlns:a="http://schemas.openxmlformats.org/drawingml/2006/main">
              <a:ext uri="{FF2B5EF4-FFF2-40B4-BE49-F238E27FC236}">
                <a16:creationId xmlns:a16="http://schemas.microsoft.com/office/drawing/2014/main" id="{60B7304E-4F61-40B8-9568-3A46AA0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A2FDA8B5-1121-4016-B34F-180F190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974A-1518-4857-8A86-2EF378C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66850"/>
            <a:ext cx="79057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8CD61-4D23-41B7-A67E-B50BFA3C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5ED96-F82C-4CF6-8B54-F372EF0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25F14-87B4-4B00-A519-E1B45B8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669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+8.1 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C7F50-11E4-4D99-A2B2-ED17DA9E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raw-sign difference with p &lt; 0.05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A160-F567-45AF-99BA-FC078BE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C31-69FB-4152-99F6-85AD4E4D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01F-EB23-41C7-BC9F-0DCAF5E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0 / 81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E9C93-AD93-49F0-B4EC-ABFC15B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100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direction cells with BH-FDR q &lt; 0.05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7DD6F-8CEE-4A90-8BD6-690A4FB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197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Best raw direction p = 0.025 at 10 prior / 3 forward.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BH q = 0.554; nested horizons share data.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5f943fe56c4a50"/>
          <a:stretch xmlns:a="http://schemas.openxmlformats.org/drawingml/2006/main"/>
        </p:blipFill>
        <p:spPr>
          <a:xfrm xmlns:a="http://schemas.openxmlformats.org/drawingml/2006/main" flipH="0" flipV="0">
            <a:off x="381000" y="1494631"/>
            <a:ext cx="7905750" cy="46116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04363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the aggregation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GRID PATTERN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03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coherent positive ridge appears near 5–10 sessions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Pearson +0.092 at 5 prior / 10 forward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6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Every signed-return interval still includes zero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0/81 BH-FDR or Bonferroni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DIRECTION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494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Probability shifts are larger but not multiplicity-stable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Best raw p=0.025; BH q=0.554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the 5–10-session ridge deserve one frozen replication, or does this descriptive lane stop here?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REGIME CONDITIONING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aggregation mixes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incompatible path states?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the ER20 color already known at the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Red and green inherit the prior POC's fixed 20-session metric and 0.30 cutoff.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ER20 before reading the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State[t]  then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anchor is labeled from closes through t. Prior return ends at t; following return begins after 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fixed path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20-session log-price 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Red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&lt; 0.30 (sideways)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Green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&gt;= 0.30 (trending)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State known at anchor close 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and prior return share trailing price data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ER20 states expose a positive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Red/sideways matrix; strongest cell +0.173 at 15 prior / 5 forward.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6beb74f174414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Green ER20 states suppress the positive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Green/trending matrix; long/long cells turn negative; strongest absolute cell -0.154.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47e276ad054fc6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state split is coherent, but unresolved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-0.231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15 prior / 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 = 0.029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raw HAC slope-interaction 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 / 81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interaction cells with BH-FDR q &lt; 0.05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4661b337a044a4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changes the map, but not the evidentiary stop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RED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positive island appears around 10–15 prior / 3–10 forward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+0.173 at 15 prior / 5 forward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GREEN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same island is muted or reversed; long/long turns negative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15 / 5 = -0.058; 25 / 25 = -0.154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No regime-specific or interaction result survives the scan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0/81 red; 0/81 green; 0/81 interactions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Freeze 15-prior / 5-forward for separate replication—or first test a regime filter less entangled with prior return?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theme/theme1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2026-08-25T20:22:35.4150000Z</dcterms:created>
  <dcterms:modified xsi:type="dcterms:W3CDTF">2026-08-25T20:22:35.4150000Z</dcterms:modified>
</coreProperties>
</file>