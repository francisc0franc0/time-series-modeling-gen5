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8f758bfb1f4b15" /><Relationship Type="http://schemas.openxmlformats.org/officeDocument/2006/relationships/extended-properties" Target="/docProps/app.xml" Id="R319fd9251aca45d8" /><Relationship Type="http://schemas.openxmlformats.org/officeDocument/2006/relationships/officeDocument" Target="/ppt/presentation.xml" Id="Rec56570412754d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3e25d4ed5e4085"/>
  </p:sldMasterIdLst>
  <p:notesMasterIdLst>
    <p:notesMasterId xmlns:r="http://schemas.openxmlformats.org/officeDocument/2006/relationships" r:id="Rf51b9448f31b48fb"/>
  </p:notesMasterIdLst>
  <p:sldIdLst>
    <p:sldId xmlns:r="http://schemas.openxmlformats.org/officeDocument/2006/relationships" id="256" r:id="R313a5049ab8a4864"/>
    <p:sldId xmlns:r="http://schemas.openxmlformats.org/officeDocument/2006/relationships" id="257" r:id="R684cbccb2f7e4318"/>
    <p:sldId xmlns:r="http://schemas.openxmlformats.org/officeDocument/2006/relationships" id="258" r:id="Rd43546b846144632"/>
    <p:sldId xmlns:r="http://schemas.openxmlformats.org/officeDocument/2006/relationships" id="259" r:id="R0904e4d02a814bb7"/>
    <p:sldId xmlns:r="http://schemas.openxmlformats.org/officeDocument/2006/relationships" id="260" r:id="R8e09c44530074483"/>
    <p:sldId xmlns:r="http://schemas.openxmlformats.org/officeDocument/2006/relationships" id="261" r:id="R721fc2acff584c39"/>
    <p:sldId xmlns:r="http://schemas.openxmlformats.org/officeDocument/2006/relationships" id="262" r:id="Rd2aa90204ef24012"/>
    <p:sldId xmlns:r="http://schemas.openxmlformats.org/officeDocument/2006/relationships" id="263" r:id="Rcd04d46655c145fe"/>
    <p:sldId xmlns:r="http://schemas.openxmlformats.org/officeDocument/2006/relationships" id="264" r:id="Ra9dfb8e255eb4b02"/>
    <p:sldId xmlns:r="http://schemas.openxmlformats.org/officeDocument/2006/relationships" id="265" r:id="Rb7d67d22881a45c8"/>
    <p:sldId xmlns:r="http://schemas.openxmlformats.org/officeDocument/2006/relationships" id="266" r:id="R3c84d70927e94082"/>
    <p:sldId xmlns:r="http://schemas.openxmlformats.org/officeDocument/2006/relationships" id="267" r:id="R3e3c3532c54f4420"/>
    <p:sldId xmlns:r="http://schemas.openxmlformats.org/officeDocument/2006/relationships" id="268" r:id="R8aad5b2af05e4e5c"/>
    <p:sldId xmlns:r="http://schemas.openxmlformats.org/officeDocument/2006/relationships" id="269" r:id="Rc55dc2cb98bb46d4"/>
    <p:sldId xmlns:r="http://schemas.openxmlformats.org/officeDocument/2006/relationships" id="270" r:id="R4d819f68cee542ed"/>
    <p:sldId xmlns:r="http://schemas.openxmlformats.org/officeDocument/2006/relationships" id="271" r:id="R0d42e4668d274ac5"/>
    <p:sldId xmlns:r="http://schemas.openxmlformats.org/officeDocument/2006/relationships" id="272" r:id="R79c2eb965516494b"/>
    <p:sldId xmlns:r="http://schemas.openxmlformats.org/officeDocument/2006/relationships" id="273" r:id="R954c99706f734499"/>
    <p:sldId xmlns:r="http://schemas.openxmlformats.org/officeDocument/2006/relationships" id="274" r:id="R0398773095274bdc"/>
    <p:sldId xmlns:r="http://schemas.openxmlformats.org/officeDocument/2006/relationships" id="275" r:id="Rb84cd2bde81242a9"/>
    <p:sldId xmlns:r="http://schemas.openxmlformats.org/officeDocument/2006/relationships" id="276" r:id="R423a26e500944dbe"/>
    <p:sldId xmlns:r="http://schemas.openxmlformats.org/officeDocument/2006/relationships" id="277" r:id="R3df9a2887d8f4e2f"/>
    <p:sldId xmlns:r="http://schemas.openxmlformats.org/officeDocument/2006/relationships" id="278" r:id="Rd083ca2f4d724ed2"/>
    <p:sldId xmlns:r="http://schemas.openxmlformats.org/officeDocument/2006/relationships" id="279" r:id="Redd7b39a7fb94d92"/>
    <p:sldId xmlns:r="http://schemas.openxmlformats.org/officeDocument/2006/relationships" id="280" r:id="R5421ed5703624a59"/>
    <p:sldId xmlns:r="http://schemas.openxmlformats.org/officeDocument/2006/relationships" id="281" r:id="R9db9f6e3ddf24225"/>
    <p:sldId xmlns:r="http://schemas.openxmlformats.org/officeDocument/2006/relationships" id="282" r:id="Rc0474df3b3154a02"/>
    <p:sldId xmlns:r="http://schemas.openxmlformats.org/officeDocument/2006/relationships" id="283" r:id="R7ee856aa3152409f"/>
    <p:sldId xmlns:r="http://schemas.openxmlformats.org/officeDocument/2006/relationships" id="284" r:id="R84c9d85854434e78"/>
    <p:sldId xmlns:r="http://schemas.openxmlformats.org/officeDocument/2006/relationships" id="285" r:id="R2e2f68cc1d35493b"/>
    <p:sldId xmlns:r="http://schemas.openxmlformats.org/officeDocument/2006/relationships" id="286" r:id="Rd29086b680074c57"/>
    <p:sldId xmlns:r="http://schemas.openxmlformats.org/officeDocument/2006/relationships" id="287" r:id="R72fc35660c4c41b3"/>
    <p:sldId xmlns:r="http://schemas.openxmlformats.org/officeDocument/2006/relationships" id="288" r:id="R8696844d662f4101"/>
    <p:sldId xmlns:r="http://schemas.openxmlformats.org/officeDocument/2006/relationships" id="289" r:id="R60f162416f0141b9"/>
    <p:sldId xmlns:r="http://schemas.openxmlformats.org/officeDocument/2006/relationships" id="290" r:id="R6ebc6a583f954f05"/>
    <p:sldId xmlns:r="http://schemas.openxmlformats.org/officeDocument/2006/relationships" id="291" r:id="R64a4b505c47e4413"/>
    <p:sldId xmlns:r="http://schemas.openxmlformats.org/officeDocument/2006/relationships" id="292" r:id="R48f36925b500402f"/>
    <p:sldId xmlns:r="http://schemas.openxmlformats.org/officeDocument/2006/relationships" id="293" r:id="R6c0d37603b884ae0"/>
    <p:sldId xmlns:r="http://schemas.openxmlformats.org/officeDocument/2006/relationships" id="294" r:id="R2c4defe485a44e64"/>
    <p:sldId xmlns:r="http://schemas.openxmlformats.org/officeDocument/2006/relationships" id="295" r:id="R1d87594a02074737"/>
    <p:sldId xmlns:r="http://schemas.openxmlformats.org/officeDocument/2006/relationships" id="296" r:id="R80d1cf4c7a804586"/>
    <p:sldId xmlns:r="http://schemas.openxmlformats.org/officeDocument/2006/relationships" id="297" r:id="R882bd4d039874f5f"/>
    <p:sldId xmlns:r="http://schemas.openxmlformats.org/officeDocument/2006/relationships" id="298" r:id="R4b9c8c9bfd514e47"/>
    <p:sldId xmlns:r="http://schemas.openxmlformats.org/officeDocument/2006/relationships" id="299" r:id="R73a590281d6e4224"/>
    <p:sldId xmlns:r="http://schemas.openxmlformats.org/officeDocument/2006/relationships" id="300" r:id="R6865d80adb884244"/>
    <p:sldId xmlns:r="http://schemas.openxmlformats.org/officeDocument/2006/relationships" id="301" r:id="R17874fd54bbc445e"/>
    <p:sldId xmlns:r="http://schemas.openxmlformats.org/officeDocument/2006/relationships" id="302" r:id="Rc074c18c1d0d4b2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76c80c6b544a03" /><Relationship Type="http://schemas.openxmlformats.org/officeDocument/2006/relationships/slideMaster" Target="/ppt/slideMasters/slideMaster1.xml" Id="Raa3e25d4ed5e4085" /><Relationship Type="http://schemas.openxmlformats.org/officeDocument/2006/relationships/notesMaster" Target="/ppt/notesMasters/notesMaster1.xml" Id="Rf51b9448f31b48fb" /><Relationship Type="http://schemas.openxmlformats.org/officeDocument/2006/relationships/presProps" Target="/ppt/presProps.xml" Id="R028d8af50a7842b3" /><Relationship Type="http://schemas.openxmlformats.org/officeDocument/2006/relationships/tableStyles" Target="/ppt/tableStyles.xml" Id="Rfa464eb282ce41c3" /><Relationship Type="http://schemas.openxmlformats.org/officeDocument/2006/relationships/slide" Target="/ppt/slides/slide1.xml" Id="R313a5049ab8a4864" /><Relationship Type="http://schemas.openxmlformats.org/officeDocument/2006/relationships/slide" Target="/ppt/slides/slide2.xml" Id="R684cbccb2f7e4318" /><Relationship Type="http://schemas.openxmlformats.org/officeDocument/2006/relationships/slide" Target="/ppt/slides/slide3.xml" Id="Rd43546b846144632" /><Relationship Type="http://schemas.openxmlformats.org/officeDocument/2006/relationships/slide" Target="/ppt/slides/slide4.xml" Id="R0904e4d02a814bb7" /><Relationship Type="http://schemas.openxmlformats.org/officeDocument/2006/relationships/slide" Target="/ppt/slides/slide5.xml" Id="R8e09c44530074483" /><Relationship Type="http://schemas.openxmlformats.org/officeDocument/2006/relationships/slide" Target="/ppt/slides/slide6.xml" Id="R721fc2acff584c39" /><Relationship Type="http://schemas.openxmlformats.org/officeDocument/2006/relationships/slide" Target="/ppt/slides/slide7.xml" Id="Rd2aa90204ef24012" /><Relationship Type="http://schemas.openxmlformats.org/officeDocument/2006/relationships/slide" Target="/ppt/slides/slide8.xml" Id="Rcd04d46655c145fe" /><Relationship Type="http://schemas.openxmlformats.org/officeDocument/2006/relationships/slide" Target="/ppt/slides/slide9.xml" Id="Ra9dfb8e255eb4b02" /><Relationship Type="http://schemas.openxmlformats.org/officeDocument/2006/relationships/slide" Target="/ppt/slides/slide10.xml" Id="Rb7d67d22881a45c8" /><Relationship Type="http://schemas.openxmlformats.org/officeDocument/2006/relationships/slide" Target="/ppt/slides/slide11.xml" Id="R3c84d70927e94082" /><Relationship Type="http://schemas.openxmlformats.org/officeDocument/2006/relationships/slide" Target="/ppt/slides/slide12.xml" Id="R3e3c3532c54f4420" /><Relationship Type="http://schemas.openxmlformats.org/officeDocument/2006/relationships/slide" Target="/ppt/slides/slide13.xml" Id="R8aad5b2af05e4e5c" /><Relationship Type="http://schemas.openxmlformats.org/officeDocument/2006/relationships/slide" Target="/ppt/slides/slide14.xml" Id="Rc55dc2cb98bb46d4" /><Relationship Type="http://schemas.openxmlformats.org/officeDocument/2006/relationships/slide" Target="/ppt/slides/slide15.xml" Id="R4d819f68cee542ed" /><Relationship Type="http://schemas.openxmlformats.org/officeDocument/2006/relationships/slide" Target="/ppt/slides/slide16.xml" Id="R0d42e4668d274ac5" /><Relationship Type="http://schemas.openxmlformats.org/officeDocument/2006/relationships/slide" Target="/ppt/slides/slide17.xml" Id="R79c2eb965516494b" /><Relationship Type="http://schemas.openxmlformats.org/officeDocument/2006/relationships/slide" Target="/ppt/slides/slide18.xml" Id="R954c99706f734499" /><Relationship Type="http://schemas.openxmlformats.org/officeDocument/2006/relationships/slide" Target="/ppt/slides/slide19.xml" Id="R0398773095274bdc" /><Relationship Type="http://schemas.openxmlformats.org/officeDocument/2006/relationships/slide" Target="/ppt/slides/slide20.xml" Id="Rb84cd2bde81242a9" /><Relationship Type="http://schemas.openxmlformats.org/officeDocument/2006/relationships/slide" Target="/ppt/slides/slide21.xml" Id="R423a26e500944dbe" /><Relationship Type="http://schemas.openxmlformats.org/officeDocument/2006/relationships/slide" Target="/ppt/slides/slide22.xml" Id="R3df9a2887d8f4e2f" /><Relationship Type="http://schemas.openxmlformats.org/officeDocument/2006/relationships/slide" Target="/ppt/slides/slide23.xml" Id="Rd083ca2f4d724ed2" /><Relationship Type="http://schemas.openxmlformats.org/officeDocument/2006/relationships/slide" Target="/ppt/slides/slide24.xml" Id="Redd7b39a7fb94d92" /><Relationship Type="http://schemas.openxmlformats.org/officeDocument/2006/relationships/slide" Target="/ppt/slides/slide25.xml" Id="R5421ed5703624a59" /><Relationship Type="http://schemas.openxmlformats.org/officeDocument/2006/relationships/slide" Target="/ppt/slides/slide26.xml" Id="R9db9f6e3ddf24225" /><Relationship Type="http://schemas.openxmlformats.org/officeDocument/2006/relationships/slide" Target="/ppt/slides/slide27.xml" Id="Rc0474df3b3154a02" /><Relationship Type="http://schemas.openxmlformats.org/officeDocument/2006/relationships/slide" Target="/ppt/slides/slide28.xml" Id="R7ee856aa3152409f" /><Relationship Type="http://schemas.openxmlformats.org/officeDocument/2006/relationships/slide" Target="/ppt/slides/slide29.xml" Id="R84c9d85854434e78" /><Relationship Type="http://schemas.openxmlformats.org/officeDocument/2006/relationships/slide" Target="/ppt/slides/slide30.xml" Id="R2e2f68cc1d35493b" /><Relationship Type="http://schemas.openxmlformats.org/officeDocument/2006/relationships/slide" Target="/ppt/slides/slide31.xml" Id="Rd29086b680074c57" /><Relationship Type="http://schemas.openxmlformats.org/officeDocument/2006/relationships/slide" Target="/ppt/slides/slide32.xml" Id="R72fc35660c4c41b3" /><Relationship Type="http://schemas.openxmlformats.org/officeDocument/2006/relationships/slide" Target="/ppt/slides/slide33.xml" Id="R8696844d662f4101" /><Relationship Type="http://schemas.openxmlformats.org/officeDocument/2006/relationships/slide" Target="/ppt/slides/slide34.xml" Id="R60f162416f0141b9" /><Relationship Type="http://schemas.openxmlformats.org/officeDocument/2006/relationships/slide" Target="/ppt/slides/slide35.xml" Id="R6ebc6a583f954f05" /><Relationship Type="http://schemas.openxmlformats.org/officeDocument/2006/relationships/slide" Target="/ppt/slides/slide36.xml" Id="R64a4b505c47e4413" /><Relationship Type="http://schemas.openxmlformats.org/officeDocument/2006/relationships/slide" Target="/ppt/slides/slide37.xml" Id="R48f36925b500402f" /><Relationship Type="http://schemas.openxmlformats.org/officeDocument/2006/relationships/slide" Target="/ppt/slides/slide38.xml" Id="R6c0d37603b884ae0" /><Relationship Type="http://schemas.openxmlformats.org/officeDocument/2006/relationships/slide" Target="/ppt/slides/slide39.xml" Id="R2c4defe485a44e64" /><Relationship Type="http://schemas.openxmlformats.org/officeDocument/2006/relationships/slide" Target="/ppt/slides/slide40.xml" Id="R1d87594a02074737" /><Relationship Type="http://schemas.openxmlformats.org/officeDocument/2006/relationships/slide" Target="/ppt/slides/slide41.xml" Id="R80d1cf4c7a804586" /><Relationship Type="http://schemas.openxmlformats.org/officeDocument/2006/relationships/slide" Target="/ppt/slides/slide42.xml" Id="R882bd4d039874f5f" /><Relationship Type="http://schemas.openxmlformats.org/officeDocument/2006/relationships/slide" Target="/ppt/slides/slide43.xml" Id="R4b9c8c9bfd514e47" /><Relationship Type="http://schemas.openxmlformats.org/officeDocument/2006/relationships/slide" Target="/ppt/slides/slide44.xml" Id="R73a590281d6e4224" /><Relationship Type="http://schemas.openxmlformats.org/officeDocument/2006/relationships/slide" Target="/ppt/slides/slide45.xml" Id="R6865d80adb884244" /><Relationship Type="http://schemas.openxmlformats.org/officeDocument/2006/relationships/slide" Target="/ppt/slides/slide46.xml" Id="R17874fd54bbc445e" /><Relationship Type="http://schemas.openxmlformats.org/officeDocument/2006/relationships/slide" Target="/ppt/slides/slide47.xml" Id="Rc074c18c1d0d4b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b42ee71dfd4f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d503d74747411e" /><Relationship Type="http://schemas.openxmlformats.org/officeDocument/2006/relationships/notesMaster" Target="/ppt/notesMasters/notesMaster1.xml" Id="Rdc8fe64b170742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e6415b98384276" /><Relationship Type="http://schemas.openxmlformats.org/officeDocument/2006/relationships/notesMaster" Target="/ppt/notesMasters/notesMaster1.xml" Id="R3b229db7759442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cda262292894c47" /><Relationship Type="http://schemas.openxmlformats.org/officeDocument/2006/relationships/notesMaster" Target="/ppt/notesMasters/notesMaster1.xml" Id="R828b4d766f7841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0a89eb83f74497" /><Relationship Type="http://schemas.openxmlformats.org/officeDocument/2006/relationships/notesMaster" Target="/ppt/notesMasters/notesMaster1.xml" Id="R3a75dc28365a40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a800a2074944e8" /><Relationship Type="http://schemas.openxmlformats.org/officeDocument/2006/relationships/notesMaster" Target="/ppt/notesMasters/notesMaster1.xml" Id="R7a9ff7b10bba40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5c50dc028748b1" /><Relationship Type="http://schemas.openxmlformats.org/officeDocument/2006/relationships/notesMaster" Target="/ppt/notesMasters/notesMaster1.xml" Id="Rc5085749a9614a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f137e448d44377" /><Relationship Type="http://schemas.openxmlformats.org/officeDocument/2006/relationships/notesMaster" Target="/ppt/notesMasters/notesMaster1.xml" Id="R5cb8fc0c02624b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aa701b442d49eb" /><Relationship Type="http://schemas.openxmlformats.org/officeDocument/2006/relationships/notesMaster" Target="/ppt/notesMasters/notesMaster1.xml" Id="R388371121d144b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e5082dad8040e1" /><Relationship Type="http://schemas.openxmlformats.org/officeDocument/2006/relationships/notesMaster" Target="/ppt/notesMasters/notesMaster1.xml" Id="R6fb041a73fbc459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222e41f5a974924" /><Relationship Type="http://schemas.openxmlformats.org/officeDocument/2006/relationships/notesMaster" Target="/ppt/notesMasters/notesMaster1.xml" Id="R4c0e1a2ec78f42d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0ff39f6e5647ac" /><Relationship Type="http://schemas.openxmlformats.org/officeDocument/2006/relationships/notesMaster" Target="/ppt/notesMasters/notesMaster1.xml" Id="Rfa97940d527c40f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fe6bf8df4c404e" /><Relationship Type="http://schemas.openxmlformats.org/officeDocument/2006/relationships/notesMaster" Target="/ppt/notesMasters/notesMaster1.xml" Id="Rfb792dcd50ab4b4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a3c7b73124c49ce" /><Relationship Type="http://schemas.openxmlformats.org/officeDocument/2006/relationships/notesMaster" Target="/ppt/notesMasters/notesMaster1.xml" Id="R53d09d8380e84c6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e1dd3c3024b4b14" /><Relationship Type="http://schemas.openxmlformats.org/officeDocument/2006/relationships/notesMaster" Target="/ppt/notesMasters/notesMaster1.xml" Id="Rde6cbc18fd7e40f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54d89595aec459a" /><Relationship Type="http://schemas.openxmlformats.org/officeDocument/2006/relationships/notesMaster" Target="/ppt/notesMasters/notesMaster1.xml" Id="Rfb2cdd11f8a94df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bc6b97197a444b3" /><Relationship Type="http://schemas.openxmlformats.org/officeDocument/2006/relationships/notesMaster" Target="/ppt/notesMasters/notesMaster1.xml" Id="R4e49e60dbce8432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852331c57c14bc4" /><Relationship Type="http://schemas.openxmlformats.org/officeDocument/2006/relationships/notesMaster" Target="/ppt/notesMasters/notesMaster1.xml" Id="R9750e259f55d46c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48c78da43234cd0" /><Relationship Type="http://schemas.openxmlformats.org/officeDocument/2006/relationships/notesMaster" Target="/ppt/notesMasters/notesMaster1.xml" Id="Rdfe01697070e4d4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deed319a33e4a80" /><Relationship Type="http://schemas.openxmlformats.org/officeDocument/2006/relationships/notesMaster" Target="/ppt/notesMasters/notesMaster1.xml" Id="R3b8cd2661e5d405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31072ac1c2f4aef" /><Relationship Type="http://schemas.openxmlformats.org/officeDocument/2006/relationships/notesMaster" Target="/ppt/notesMasters/notesMaster1.xml" Id="R9cc52396fa8c422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bcd4675f3c74282" /><Relationship Type="http://schemas.openxmlformats.org/officeDocument/2006/relationships/notesMaster" Target="/ppt/notesMasters/notesMaster1.xml" Id="R1a86d66e853645e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189ba6549b84c12" /><Relationship Type="http://schemas.openxmlformats.org/officeDocument/2006/relationships/notesMaster" Target="/ppt/notesMasters/notesMaster1.xml" Id="R7891c71af1a9431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01642bc79734d66" /><Relationship Type="http://schemas.openxmlformats.org/officeDocument/2006/relationships/notesMaster" Target="/ppt/notesMasters/notesMaster1.xml" Id="R2942878e3c374f3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87110f22a6343c2" /><Relationship Type="http://schemas.openxmlformats.org/officeDocument/2006/relationships/notesMaster" Target="/ppt/notesMasters/notesMaster1.xml" Id="R94eca9eef28d445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0fe3fd312064b4b" /><Relationship Type="http://schemas.openxmlformats.org/officeDocument/2006/relationships/notesMaster" Target="/ppt/notesMasters/notesMaster1.xml" Id="R90316ce0d05142c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a3296c5cf554a76" /><Relationship Type="http://schemas.openxmlformats.org/officeDocument/2006/relationships/notesMaster" Target="/ppt/notesMasters/notesMaster1.xml" Id="R91f31f12114b491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03ed1e84e794d3a" /><Relationship Type="http://schemas.openxmlformats.org/officeDocument/2006/relationships/notesMaster" Target="/ppt/notesMasters/notesMaster1.xml" Id="R094817e362514af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158fe5ce8a54c35" /><Relationship Type="http://schemas.openxmlformats.org/officeDocument/2006/relationships/notesMaster" Target="/ppt/notesMasters/notesMaster1.xml" Id="Rcefaf175b3ad47d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ae365f4b0b8499b" /><Relationship Type="http://schemas.openxmlformats.org/officeDocument/2006/relationships/notesMaster" Target="/ppt/notesMasters/notesMaster1.xml" Id="R85a42835136c4d2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3a98d1afc6d426a" /><Relationship Type="http://schemas.openxmlformats.org/officeDocument/2006/relationships/notesMaster" Target="/ppt/notesMasters/notesMaster1.xml" Id="Rda5d17fa461c419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7dcc8246cb24620" /><Relationship Type="http://schemas.openxmlformats.org/officeDocument/2006/relationships/notesMaster" Target="/ppt/notesMasters/notesMaster1.xml" Id="Rbcddb1d941cb465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b25cd2e6ba546ca" /><Relationship Type="http://schemas.openxmlformats.org/officeDocument/2006/relationships/notesMaster" Target="/ppt/notesMasters/notesMaster1.xml" Id="R298ff80b123e4ae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0ea349075ad4478" /><Relationship Type="http://schemas.openxmlformats.org/officeDocument/2006/relationships/notesMaster" Target="/ppt/notesMasters/notesMaster1.xml" Id="Rf29742e7d71c4b3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e2a107e47224738" /><Relationship Type="http://schemas.openxmlformats.org/officeDocument/2006/relationships/notesMaster" Target="/ppt/notesMasters/notesMaster1.xml" Id="R5010896056ff4d6f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292ba48b5604703" /><Relationship Type="http://schemas.openxmlformats.org/officeDocument/2006/relationships/notesMaster" Target="/ppt/notesMasters/notesMaster1.xml" Id="R191722c9000a4d1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899e408aae94f5b" /><Relationship Type="http://schemas.openxmlformats.org/officeDocument/2006/relationships/notesMaster" Target="/ppt/notesMasters/notesMaster1.xml" Id="Ra017283575ed41d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9f99e3bf38a493c" /><Relationship Type="http://schemas.openxmlformats.org/officeDocument/2006/relationships/notesMaster" Target="/ppt/notesMasters/notesMaster1.xml" Id="R3fa6bdef19824f1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62e359a97784d88" /><Relationship Type="http://schemas.openxmlformats.org/officeDocument/2006/relationships/notesMaster" Target="/ppt/notesMasters/notesMaster1.xml" Id="Rcfc384ccbafe48ce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ffadc509be584a21" /><Relationship Type="http://schemas.openxmlformats.org/officeDocument/2006/relationships/notesMaster" Target="/ppt/notesMasters/notesMaster1.xml" Id="Ra1b962fe3c7a4f5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21618bc4f6db4bb7" /><Relationship Type="http://schemas.openxmlformats.org/officeDocument/2006/relationships/notesMaster" Target="/ppt/notesMasters/notesMaster1.xml" Id="R6e5c6a62c5184c8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63005fa864634d95" /><Relationship Type="http://schemas.openxmlformats.org/officeDocument/2006/relationships/notesMaster" Target="/ppt/notesMasters/notesMaster1.xml" Id="R955d6c03168b4b4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e53f8cc432f4fb7" /><Relationship Type="http://schemas.openxmlformats.org/officeDocument/2006/relationships/notesMaster" Target="/ppt/notesMasters/notesMaster1.xml" Id="R1e2af52179f948a6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0b87a21040d7463c" /><Relationship Type="http://schemas.openxmlformats.org/officeDocument/2006/relationships/notesMaster" Target="/ppt/notesMasters/notesMaster1.xml" Id="R9c61df036f76414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da99b83dc3e4c13" /><Relationship Type="http://schemas.openxmlformats.org/officeDocument/2006/relationships/notesMaster" Target="/ppt/notesMasters/notesMaster1.xml" Id="Rb52635670fec42cc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656e0f51bfc8415f" /><Relationship Type="http://schemas.openxmlformats.org/officeDocument/2006/relationships/notesMaster" Target="/ppt/notesMasters/notesMaster1.xml" Id="Ra17d7e30095b43a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d6a302ac85d94837" /><Relationship Type="http://schemas.openxmlformats.org/officeDocument/2006/relationships/notesMaster" Target="/ppt/notesMasters/notesMaster1.xml" Id="R93c68f190a3e4912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400ff225b65e44ea" /><Relationship Type="http://schemas.openxmlformats.org/officeDocument/2006/relationships/notesMaster" Target="/ppt/notesMasters/notesMaster1.xml" Id="R70c3bd12ad794f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this as a running laboratory notebook, not a strategy pitch.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learning objective is bottom-up hypothesis formation. The order is observation, definition, measurement, then falsification.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User-directed research workflow in this task</a:t>
            </a:r>
          </a:p>
          <a:p xmlns:a="http://schemas.openxmlformats.org/drawingml/2006/main">
            <a:r>
              <a:t>- docs/GEN5_1_POC_PROGRESS_LOG.md entries 186-188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definition before showing any statistic. The sample is the exact scatterplot surface from the prior slice.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- runs/research_workbench/operator_hypothesis_lab/tsla_lagged_return_dependence_statistics_20260825/pair_checks.csv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eye sees a dense cloud around zero and observations in all four quadrants. This slide preserves the pre-statistics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runs/research_workbench/operator_hypothesis_lab/tsla_lagged_daily_return_scatter_20260824/visuals/tsla_t_minus_1_vs_t_daily_log_return_scatter.png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ER20 asks whether the trailing path was efficient. It ignores bullish versus bearish direction and does not measure volatility.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runs/research_workbench/operator_hypothesis_lab/tsla_efficiency_ratio_regime_bands_20260824/visuals/tsla_er20_path_regime_bands.png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primary estimand is frozen before reading the result: Pearson correlation, equivalently the OLS slope in r[t] = alpha + beta r[t-1] +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scripts/inspect/run_tsla_lagged_return_dependence_statistics.R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interval includes zero and the fitted line explains roughly four hundredths of one percent of next-day return variation. HAC slope p-value is 0.451.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runs/research_workbench/operator_hypothesis_lab/tsla_lagged_return_dependence_statistics_20260825/visuals/tsla_signed_return_dependence_fitted_scatter.png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binary direction view reaches the same conclusion as the continuous-return view. The conditional probabilities are nearly identical and their difference interval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runs/research_workbench/operator_hypothesis_lab/tsla_lagged_return_dependence_statistics_20260825/direction_transition_probabilities.csv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runs/research_workbench/operator_hypothesis_lab/tsla_lagged_return_dependence_statistics_20260825/direction_transition_difference.csv</a:t>
            </a:r>
          </a:p>
          <a:p xmlns:a="http://schemas.openxmlformats.org/drawingml/2006/main">
            <a:r>
              <a:t>- runs/research_workbench/operator_hypothesis_lab/tsla_lagged_return_dependence_statistics_20260825/visuals/tsla_direction_transition_probabilities.png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Annual point estimates change sign, but none of the annual HAC intervals excludes zero. Rank correlation and the fixed winsor sensitivity are also near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runs/research_workbench/operator_hypothesis_lab/tsla_lagged_return_dependence_statistics_20260825/annual_stability.csv</a:t>
            </a:r>
          </a:p>
          <a:p xmlns:a="http://schemas.openxmlformats.org/drawingml/2006/main">
            <a:r>
              <a:t>- runs/research_workbench/operator_hypothesis_lab/tsla_lagged_return_dependence_statistics_20260825/outlier_sensitivity.csv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Absolute and squared returns show positive linear dependence, but the equal-count deciles are jagged and the absolute-return rank interval includes zero. Treat this as modest magnitude persistence and a separate future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runs/research_workbench/operator_hypothesis_lab/tsla_lagged_return_dependence_statistics_20260825/absolute_return_deciles.csv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what was learned. The signed-return question stops descriptively; ER20 remains a descriptive lens; magnitude persistence is the only new clue and requires its own predeclared test before any strategy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runs/research_workbench/operator_hypothesis_lab/tsla_lagged_return_dependence_statistics_20260825/report.md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sessions reveals signed dependence hidden by the adjacent-session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scripts/inspect/run_tsla_cumulative_return_horizon_grid.R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information boundary first: cumulative prior return ends at the anchor close and cumulative forward return begins from that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- runs/research_workbench/operator_hypothesis_lab/tsla_cumulative_return_horizon_grid_20260825/grid_checks.csv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positive region is coherent rather than a single isolated cell, but its magnitude is small and this nested grid is highly dependent.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runs/research_workbench/operator_hypothesis_lab/tsla_cumulative_return_horizon_grid_20260825/pearson_correlation_matrix.csv</a:t>
            </a:r>
          </a:p>
          <a:p xmlns:a="http://schemas.openxmlformats.org/drawingml/2006/main">
            <a:r>
              <a:t>- runs/research_workbench/operator_hypothesis_lab/tsla_cumulative_return_horizon_grid_20260825/slope_bh_q_value_matrix.csv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strongest point estimate explains less than one percent of forward-return variance, and its overlap-aware interval includes zero. Its BH q-value is 0.660.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runs/research_workbench/operator_hypothesis_lab/tsla_cumulative_return_horizon_grid_20260825/r_squared_percent_matrix.csv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runs/research_workbench/operator_hypothesis_lab/tsla_cumulative_return_horizon_grid_20260825/visuals/tsla_cumulative_return_r_squared_heatmap.png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Several direction differences are positive, but the best raw p-value becomes q=0.554 after the 81-cell scan. None survives BH-FDR or Bonferroni.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runs/research_workbench/operator_hypothesis_lab/tsla_cumulative_return_horizon_grid_20260825/direction_difference_pp_matrix.csv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runs/research_workbench/operator_hypothesis_lab/tsla_cumulative_return_horizon_grid_20260825/visuals/tsla_cumulative_return_direction_difference_heatmap.png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the descriptive pattern from evidence strength. The ridge is worth naming, but this scan does not establish predictive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runs/research_workbench/operator_hypothesis_lab/tsla_cumulative_return_horizon_grid_20260825/report.md</a:t>
            </a:r>
          </a:p>
          <a:p xmlns:a="http://schemas.openxmlformats.org/drawingml/2006/main">
            <a:r>
              <a:t>- runs/research_workbench/operator_hypothesis_lab/tsla_cumulative_return_horizon_grid_20260825/cells_ranked_by_absolute_correlation.csv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red and green path states washes out different prior-versus-forward return relationships.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scripts/inspect/run_tsla_er20_conditioned_return_horizon_grid.R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timing is causal: ER20 at the anchor uses closes through that anchor only. One pre-2018 anchor from the aggregate grid is uncolored and excluded.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runs/research_workbench/operator_hypothesis_lab/tsla_er20_conditioned_return_horizon_grid_20260825/run_spec.csv</a:t>
            </a:r>
          </a:p>
          <a:p xmlns:a="http://schemas.openxmlformats.org/drawingml/2006/main">
            <a:r>
              <a:t>- runs/research_workbench/operator_hypothesis_lab/tsla_er20_conditioned_return_horizon_grid_20260825/grid_checks.csv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 states show a coherent positive island centered around 10 to 15 prior sessions and 3 to 10 forward sessions. The largest cell has an overlap-aware interval that still includes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runs/research_workbench/operator_hypothesis_lab/tsla_er20_conditioned_return_horizon_grid_20260825/red_sideways_pearson_matrix.csv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runs/research_workbench/operator_hypothesis_lab/tsla_er20_conditioned_return_horizon_grid_20260825/visuals/tsla_red_sideways_pearson_heatmap.png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Green states retain small positive short-horizon patches, but the red medium-horizon island is muted or reversed and the long-prior/long-forward corner becomes negative.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runs/research_workbench/operator_hypothesis_lab/tsla_er20_conditioned_return_horizon_grid_20260825/green_trending_pearson_matrix.csv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runs/research_workbench/operator_hypothesis_lab/tsla_er20_conditioned_return_horizon_grid_20260825/visuals/tsla_green_trending_pearson_heatmap.png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raw regime contrast is at 15 prior and 5 forward: red correlation +0.173 versus green -0.058, a -0.231 difference. Its slope interaction has raw HAC p=0.029 but BH q=0.919; no interaction survives the grid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runs/research_workbench/operator_hypothesis_lab/tsla_er20_conditioned_return_horizon_grid_20260825/green_minus_red_pearson_matrix.csv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- runs/research_workbench/operator_hypothesis_lab/tsla_er20_conditioned_return_horizon_grid_20260825/slope_interaction_bh_q_value_matrix.csv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runs/research_workbench/operator_hypothesis_lab/tsla_er20_conditioned_return_horizon_grid_20260825/visuals/tsla_green_minus_red_pearson_heatmap.png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Conditioning changes the descriptive map in a coherent way, but the finding remains exploratory. ER20 is built from the same trailing path as the prior-return variable, so a less mechanically entangled filter would be a useful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runs/research_workbench/operator_hypothesis_lab/tsla_er20_conditioned_return_horizon_grid_20260825/report.md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signed-return dependence changes with movement capacity, using the already accepted ATR-percent classifier rather than designing new bins from this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operator_hypothesis_lab/docs/GEN5_HYP_REG_01_1_ATR_PERCENT_VOLATILITY_RESULTS.md</a:t>
            </a:r>
          </a:p>
          <a:p xmlns:a="http://schemas.openxmlformats.org/drawingml/2006/main">
            <a:r>
              <a:t>- operator_hypothesis_lab/docs/TSLA_ATRP_CONDITIONED_RETURN_HORIZON_GRID_2018_2023.md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state definition is reused exactly: Wilder ATR14 divided by close, current ATR-percent ranked against the prior 252 completed observations, and the accepted 30/40–60/70 hysteresis. State t is known before future returns begin.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runs/research_workbench/operator_hypothesis_lab/tsla_atrp_conditioned_return_horizon_grid_20260825/run_spec.csv</a:t>
            </a:r>
          </a:p>
          <a:p xmlns:a="http://schemas.openxmlformats.org/drawingml/2006/main">
            <a:r>
              <a:t>- runs/research_workbench/operator_hypothesis_lab/tsla_atrp_conditioned_return_horizon_grid_20260825/source_checks.csv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companion view makes the accepted volatility classifier visible in price time. Blue, gold, and red mean LOW, MEDIUM, and HIGH movement capacity; they do not mean bearish, neutral, and bullish. The lower panel shows the causal trailing ATR-percent rank and accepted hysteretic state at each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runs/research_workbench/operator_hypothesis_lab/tsla_atrp_conditioned_return_horizon_grid_20260825/visuals/tsla_atrp_state_price_bands.png</a:t>
            </a:r>
          </a:p>
          <a:p xmlns:a="http://schemas.openxmlformats.org/drawingml/2006/main">
            <a:r>
              <a:t>- runs/research_workbench/operator_hypothesis_lab/tsla_atrp_conditioned_return_horizon_grid_20260825/tsla_atrp_state_chart_ledger.csv</a:t>
            </a:r>
          </a:p>
          <a:p xmlns:a="http://schemas.openxmlformats.org/drawingml/2006/main">
            <a:r>
              <a:t>- runs/research_workbench/operator_hypothesis_lab/tsla_atrp_conditioned_return_horizon_grid_20260825/tsla_atrp_state_spans.csv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LOW ATR-percent anchors produce positive point estimates throughout the grid, but the strongest cell's interval crosses zero and no LOW cell survives the within-state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runs/research_workbench/operator_hypothesis_lab/tsla_atrp_conditioned_return_horizon_grid_20260825/low_pearson_matrix.csv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runs/research_workbench/operator_hypothesis_lab/tsla_atrp_conditioned_return_horizon_grid_20260825/visuals/tsla_atrp_low_pearson_heatmap.png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MEDIUM ATR-percent anchors show the most statistically stable continuation pattern. Under the strict correction across all 486 tests, the 5/3, 10/2, and 10/3 cells remain.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runs/research_workbench/operator_hypothesis_lab/tsla_atrp_conditioned_return_horizon_grid_20260825/medium_pearson_matrix.csv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ATR-percent anchors reverse the sign of the broad surface, especially at longer horizons. The most extreme cell is visually strong but its dependence-robust interval still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correlation contrast is -0.548 at 25 prior and 15 forward; its within-family interaction q is 0.038 but strict omnibus q is 0.081. Three smaller HIGH-minus-MEDIUM interactions survive the omnibus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runs/research_workbench/operator_hypothesis_lab/tsla_atrp_conditioned_return_horizon_grid_20260825/high_minus_medium_pearson_difference_matrix.csv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- runs/research_workbench/operator_hypothesis_lab/tsla_atrp_conditioned_return_horizon_grid_20260825/high_minus_medium_interaction_bh_q_matrix.csv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runs/research_workbench/operator_hypothesis_lab/tsla_atrp_conditioned_return_horizon_grid_20260825/visuals/tsla_atrp_high_minus_medium_pearson_heatmap.png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ATR-percent split is the clearest conditional map in this descriptive lane and is partially multiplicity-robust, but it is still a same-sample replication candidate rather than a trading rule. The ER20 direction split and external-context filter are bookmarked, not opened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runs/research_workbench/operator_hypothesis_lab/tsla_atrp_conditioned_return_horizon_grid_20260825/report.md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changes one authority only. TSLA still supplies every prior and following return. SPY supplies the already accepted causal ATR-percent state at the anchor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runs/research_workbench/operator_hypothesis_lab/tsla_spy_atrp_conditioned_return_horizon_grid_20260825/run_spec.csv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SPY classifier is reused exactly: Wilder ATR14 divided by adjusted close, prior-252 causal percentile, and 30/40 plus 60/70 hysteresis. No state definition or horizon changes after seeing TSLA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runs/research_workbench/operator_hypothesis_lab/tsla_spy_atrp_conditioned_return_horizon_grid_20260825/run_spec.csv</a:t>
            </a:r>
          </a:p>
          <a:p xmlns:a="http://schemas.openxmlformats.org/drawingml/2006/main">
            <a:r>
              <a:t>- runs/research_workbench/operator_hypothesis_lab/tsla_spy_atrp_conditioned_return_horizon_grid_20260825/source_checks.csv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price stays TSLA, while every colored band and the lower-panel percentile come from SPY. This visual checks alignment in time; it does not claim that SPY state causes TSLA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runs/research_workbench/operator_hypothesis_lab/tsla_spy_atrp_conditioned_return_horizon_grid_20260825/visuals/tsla_spy_atrp_state_price_bands.png</a:t>
            </a:r>
          </a:p>
          <a:p xmlns:a="http://schemas.openxmlformats.org/drawingml/2006/main">
            <a:r>
              <a:t>- runs/research_workbench/operator_hypothesis_lab/tsla_spy_atrp_conditioned_return_horizon_grid_20260825/tsla_spy_atrp_state_chart_ledger.csv</a:t>
            </a:r>
          </a:p>
          <a:p xmlns:a="http://schemas.openxmlformats.org/drawingml/2006/main">
            <a:r>
              <a:t>- runs/research_workbench/operator_hypothesis_lab/tsla_spy_atrp_conditioned_return_horizon_grid_20260825/tsla_spy_atrp_state_spans.csv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LOW ATR-percent sessions contain the clearest TSLA continuation geometry. The pattern is broad, but no single within-state cell survives its 81-cell BH-FDR family.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runs/research_workbench/operator_hypothesis_lab/tsla_spy_atrp_conditioned_return_horizon_grid_20260825/visuals/tsla_spy_atrp_low_pearson_heatmap.png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MEDIUM ATR-percent sessions reverse the long-forward portion of the TSLA map. This differs sharply from TSLA's own MEDIUM state, which held the earlier positive continuation island.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runs/research_workbench/operator_hypothesis_lab/tsla_spy_atrp_conditioned_return_horizon_grid_20260825/visuals/tsla_spy_atrp_medium_pearson_heatmap.png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HIGH ATR-percent does not reproduce the broad reversal seen under TSLA's own HIGH ATR-percent state. Most cells are mildly positive, with a small negative corner at the longest prior horizons.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runs/research_workbench/operator_hypothesis_lab/tsla_spy_atrp_conditioned_return_horizon_grid_20260825/visuals/tsla_spy_atrp_high_pearson_heatmap.png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direct contrast is LOW continuation versus MEDIUM reversal at 5 prior and 15 forward sessions. Three neighboring MEDIUM-minus-LOW interactions survive their 81-cell family correction, but no pairwise interaction survives the stricter 486-test omnibus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runs/research_workbench/operator_hypothesis_lab/tsla_spy_atrp_conditioned_return_horizon_grid_20260825/visuals/tsla_spy_atrp_medium_minus_low_pearson_heatmap.png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runs/research_workbench/operator_hypothesis_lab/tsla_spy_atrp_conditioned_return_horizon_grid_20260825/pairwise_state_comparison_statistics.csv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External SPY conditioning is coherent enough to justify more descriptive cross-sectional brainstorming, but it does not confirm an edge. LOW is the most portable geometry; MEDIUM changes almost completely; HIGH keeps a related ordering while most signs shift.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- runs/research_workbench/operator_hypothesis_lab/tsla_spy_atrp_conditioned_return_horizon_grid_20260825/report.md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  <a:p xmlns:a="http://schemas.openxmlformats.org/drawingml/2006/main">
            <a:r>
              <a:t>Internal Gen5 comparison packet: runs/research_workbench/operator_hypothesis_lab/tsla_atrp_conditioned_return_horizon_grid_20260825/</a:t>
            </a:r>
          </a:p>
          <a:p xmlns:a="http://schemas.openxmlformats.org/drawingml/2006/main">
            <a:r>
              <a:t>Internal Gen5 comparison packet: runs/research_workbench/operator_hypothesis_lab/tsla_spy_atrp_conditioned_return_horizon_grid_20260825/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be46146454a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6874b9110341a8" /><Relationship Type="http://schemas.openxmlformats.org/officeDocument/2006/relationships/slideLayout" Target="/ppt/slideLayouts/slideLayout1.xml" Id="Ra112cd23788642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12cd23788642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c83dc6590b4bf1" /><Relationship Type="http://schemas.openxmlformats.org/officeDocument/2006/relationships/notesSlide" Target="/ppt/notesSlides/notesSlide1.xml" Id="Ra55f20d4b51141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8524bc4184c4e" /><Relationship Type="http://schemas.openxmlformats.org/officeDocument/2006/relationships/notesSlide" Target="/ppt/notesSlides/notesSlide2.xml" Id="R6412351535a043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19e7ca42a4c7b" /><Relationship Type="http://schemas.openxmlformats.org/officeDocument/2006/relationships/notesSlide" Target="/ppt/notesSlides/notesSlide3.xml" Id="Rbfbb615b975e48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85134d460467c" /><Relationship Type="http://schemas.openxmlformats.org/officeDocument/2006/relationships/image" Target="/ppt/media/image.png" Id="Rd2e356d696154848" /><Relationship Type="http://schemas.openxmlformats.org/officeDocument/2006/relationships/notesSlide" Target="/ppt/notesSlides/notesSlide4.xml" Id="R46744862afdb41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4cff251e4f4f75" /><Relationship Type="http://schemas.openxmlformats.org/officeDocument/2006/relationships/image" Target="/ppt/media/image2.png" Id="R8c8ff13369c4450d" /><Relationship Type="http://schemas.openxmlformats.org/officeDocument/2006/relationships/notesSlide" Target="/ppt/notesSlides/notesSlide5.xml" Id="R66766d03188f4d5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dd50ddceef4bb9" /><Relationship Type="http://schemas.openxmlformats.org/officeDocument/2006/relationships/notesSlide" Target="/ppt/notesSlides/notesSlide6.xml" Id="R1dcc08a4ced440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10c1e4e5e43e4" /><Relationship Type="http://schemas.openxmlformats.org/officeDocument/2006/relationships/image" Target="/ppt/media/image3.png" Id="R6c170401382e4b68" /><Relationship Type="http://schemas.openxmlformats.org/officeDocument/2006/relationships/notesSlide" Target="/ppt/notesSlides/notesSlide7.xml" Id="R5cb787869a3143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d71f04df7494f" /><Relationship Type="http://schemas.openxmlformats.org/officeDocument/2006/relationships/image" Target="/ppt/media/image4.png" Id="R198f8196e94149a5" /><Relationship Type="http://schemas.openxmlformats.org/officeDocument/2006/relationships/notesSlide" Target="/ppt/notesSlides/notesSlide8.xml" Id="Rd8d9bc60e3284b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b6e77442d848b6" /><Relationship Type="http://schemas.openxmlformats.org/officeDocument/2006/relationships/image" Target="/ppt/media/image5.png" Id="R9f8ac34b6219429b" /><Relationship Type="http://schemas.openxmlformats.org/officeDocument/2006/relationships/notesSlide" Target="/ppt/notesSlides/notesSlide9.xml" Id="Rc9cdc6fedb3f42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de0aaa30448d7" /><Relationship Type="http://schemas.openxmlformats.org/officeDocument/2006/relationships/image" Target="/ppt/media/image6.png" Id="R0c61f548654742b1" /><Relationship Type="http://schemas.openxmlformats.org/officeDocument/2006/relationships/notesSlide" Target="/ppt/notesSlides/notesSlide10.xml" Id="R0d4a8ad4876f46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cf8c5a0b914b41" /><Relationship Type="http://schemas.openxmlformats.org/officeDocument/2006/relationships/notesSlide" Target="/ppt/notesSlides/notesSlide11.xml" Id="Rf3463bbc5b174f2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67821f1cfa40a6" /><Relationship Type="http://schemas.openxmlformats.org/officeDocument/2006/relationships/notesSlide" Target="/ppt/notesSlides/notesSlide12.xml" Id="Rb22c60c8344c4ff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ca1857539545fc" /><Relationship Type="http://schemas.openxmlformats.org/officeDocument/2006/relationships/notesSlide" Target="/ppt/notesSlides/notesSlide13.xml" Id="Rc9f194f5073f4a9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e2e5e58f4e4a55" /><Relationship Type="http://schemas.openxmlformats.org/officeDocument/2006/relationships/image" Target="/ppt/media/image7.png" Id="Rb32b24a26cf44627" /><Relationship Type="http://schemas.openxmlformats.org/officeDocument/2006/relationships/notesSlide" Target="/ppt/notesSlides/notesSlide14.xml" Id="R5f76149d213f4e2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40b06d938b4e76" /><Relationship Type="http://schemas.openxmlformats.org/officeDocument/2006/relationships/image" Target="/ppt/media/image8.png" Id="Rb508f8a0a89949ec" /><Relationship Type="http://schemas.openxmlformats.org/officeDocument/2006/relationships/notesSlide" Target="/ppt/notesSlides/notesSlide15.xml" Id="Rc6597c09fa9d47a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d23c0187c450e" /><Relationship Type="http://schemas.openxmlformats.org/officeDocument/2006/relationships/image" Target="/ppt/media/image9.png" Id="R65ca3541ff8a4144" /><Relationship Type="http://schemas.openxmlformats.org/officeDocument/2006/relationships/notesSlide" Target="/ppt/notesSlides/notesSlide16.xml" Id="R8f0cec3818d74a4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ab84c38fba42e6" /><Relationship Type="http://schemas.openxmlformats.org/officeDocument/2006/relationships/notesSlide" Target="/ppt/notesSlides/notesSlide17.xml" Id="Rea8a8aa4548f47b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b0021ee5f842e4" /><Relationship Type="http://schemas.openxmlformats.org/officeDocument/2006/relationships/notesSlide" Target="/ppt/notesSlides/notesSlide18.xml" Id="R587789953c1b40a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a4c4e8d68a4828" /><Relationship Type="http://schemas.openxmlformats.org/officeDocument/2006/relationships/notesSlide" Target="/ppt/notesSlides/notesSlide19.xml" Id="R7347965a8ccc4a8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001971c714d59" /><Relationship Type="http://schemas.openxmlformats.org/officeDocument/2006/relationships/image" Target="/ppt/media/image10.png" Id="R98a3647ddd0f4572" /><Relationship Type="http://schemas.openxmlformats.org/officeDocument/2006/relationships/notesSlide" Target="/ppt/notesSlides/notesSlide20.xml" Id="R6db517f5c1f1479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4a4a1ba3248d3" /><Relationship Type="http://schemas.openxmlformats.org/officeDocument/2006/relationships/image" Target="/ppt/media/image11.png" Id="Rbc164a49640a404f" /><Relationship Type="http://schemas.openxmlformats.org/officeDocument/2006/relationships/notesSlide" Target="/ppt/notesSlides/notesSlide21.xml" Id="R3f9801c2eca9414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ca14e91264ad1" /><Relationship Type="http://schemas.openxmlformats.org/officeDocument/2006/relationships/image" Target="/ppt/media/image12.png" Id="R21d56559149f45b3" /><Relationship Type="http://schemas.openxmlformats.org/officeDocument/2006/relationships/notesSlide" Target="/ppt/notesSlides/notesSlide22.xml" Id="Rd3a13ce359d04f0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b31b278db94ad8" /><Relationship Type="http://schemas.openxmlformats.org/officeDocument/2006/relationships/notesSlide" Target="/ppt/notesSlides/notesSlide23.xml" Id="R22a3479a85634c2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bddb44d804288" /><Relationship Type="http://schemas.openxmlformats.org/officeDocument/2006/relationships/notesSlide" Target="/ppt/notesSlides/notesSlide24.xml" Id="Rbc913cbafdf94f5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973f776e444a7" /><Relationship Type="http://schemas.openxmlformats.org/officeDocument/2006/relationships/notesSlide" Target="/ppt/notesSlides/notesSlide25.xml" Id="R49553eb48727454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b3763db8994c21" /><Relationship Type="http://schemas.openxmlformats.org/officeDocument/2006/relationships/image" Target="/ppt/media/image13.png" Id="R3caa4fb53afb4eba" /><Relationship Type="http://schemas.openxmlformats.org/officeDocument/2006/relationships/notesSlide" Target="/ppt/notesSlides/notesSlide26.xml" Id="Rf6d779f7cb78403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28ccf8a7a34369" /><Relationship Type="http://schemas.openxmlformats.org/officeDocument/2006/relationships/image" Target="/ppt/media/image14.png" Id="R215cf6c7e6be493d" /><Relationship Type="http://schemas.openxmlformats.org/officeDocument/2006/relationships/notesSlide" Target="/ppt/notesSlides/notesSlide27.xml" Id="R11630a55cb57475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09568143545f3" /><Relationship Type="http://schemas.openxmlformats.org/officeDocument/2006/relationships/image" Target="/ppt/media/image15.png" Id="R51a3221d49424f21" /><Relationship Type="http://schemas.openxmlformats.org/officeDocument/2006/relationships/notesSlide" Target="/ppt/notesSlides/notesSlide28.xml" Id="Rdaf790c0cb1f4a0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a8b115f93e49bb" /><Relationship Type="http://schemas.openxmlformats.org/officeDocument/2006/relationships/image" Target="/ppt/media/image16.png" Id="R30212ee070b34749" /><Relationship Type="http://schemas.openxmlformats.org/officeDocument/2006/relationships/notesSlide" Target="/ppt/notesSlides/notesSlide29.xml" Id="R9e806c959d1045f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935f8c3527441a" /><Relationship Type="http://schemas.openxmlformats.org/officeDocument/2006/relationships/image" Target="/ppt/media/image17.png" Id="R3ea218be5da44f8d" /><Relationship Type="http://schemas.openxmlformats.org/officeDocument/2006/relationships/notesSlide" Target="/ppt/notesSlides/notesSlide30.xml" Id="Raa3fabe3754a430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e40e3d88141a2" /><Relationship Type="http://schemas.openxmlformats.org/officeDocument/2006/relationships/notesSlide" Target="/ppt/notesSlides/notesSlide31.xml" Id="R6586bc7386224b0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ce8ec2aa2403a" /><Relationship Type="http://schemas.openxmlformats.org/officeDocument/2006/relationships/notesSlide" Target="/ppt/notesSlides/notesSlide32.xml" Id="R5ffc6bf98646491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affc4d0fa423f" /><Relationship Type="http://schemas.openxmlformats.org/officeDocument/2006/relationships/notesSlide" Target="/ppt/notesSlides/notesSlide33.xml" Id="R3310233e43c74dd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ea3f7db454c77" /><Relationship Type="http://schemas.openxmlformats.org/officeDocument/2006/relationships/image" Target="/ppt/media/image18.png" Id="Rddb4a04661994f25" /><Relationship Type="http://schemas.openxmlformats.org/officeDocument/2006/relationships/notesSlide" Target="/ppt/notesSlides/notesSlide34.xml" Id="R3e76897758b7411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88802163974b20" /><Relationship Type="http://schemas.openxmlformats.org/officeDocument/2006/relationships/image" Target="/ppt/media/image19.png" Id="R4b9ea7e26e444570" /><Relationship Type="http://schemas.openxmlformats.org/officeDocument/2006/relationships/notesSlide" Target="/ppt/notesSlides/notesSlide35.xml" Id="R19201d8dff6645c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578a1633b44626" /><Relationship Type="http://schemas.openxmlformats.org/officeDocument/2006/relationships/image" Target="/ppt/media/image20.png" Id="R2573bf6f558e42e5" /><Relationship Type="http://schemas.openxmlformats.org/officeDocument/2006/relationships/notesSlide" Target="/ppt/notesSlides/notesSlide36.xml" Id="R663480be2d85473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93c069651a467f" /><Relationship Type="http://schemas.openxmlformats.org/officeDocument/2006/relationships/image" Target="/ppt/media/image21.png" Id="Ra64e0a85fa3f4cc3" /><Relationship Type="http://schemas.openxmlformats.org/officeDocument/2006/relationships/notesSlide" Target="/ppt/notesSlides/notesSlide37.xml" Id="Rfd62dee6d41a48b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f4bee1502f4533" /><Relationship Type="http://schemas.openxmlformats.org/officeDocument/2006/relationships/image" Target="/ppt/media/image22.png" Id="R9bba36a4bfec4c38" /><Relationship Type="http://schemas.openxmlformats.org/officeDocument/2006/relationships/notesSlide" Target="/ppt/notesSlides/notesSlide38.xml" Id="Rbe996c05ca3e4f0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399d76a2e4415" /><Relationship Type="http://schemas.openxmlformats.org/officeDocument/2006/relationships/notesSlide" Target="/ppt/notesSlides/notesSlide39.xml" Id="R4bbe8fac993b427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ecd5a9d774f44" /><Relationship Type="http://schemas.openxmlformats.org/officeDocument/2006/relationships/notesSlide" Target="/ppt/notesSlides/notesSlide40.xml" Id="R8f0b5befb9b24b2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1efac884e455a" /><Relationship Type="http://schemas.openxmlformats.org/officeDocument/2006/relationships/notesSlide" Target="/ppt/notesSlides/notesSlide41.xml" Id="R33619459318e4e2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e8046da3f4c3f" /><Relationship Type="http://schemas.openxmlformats.org/officeDocument/2006/relationships/image" Target="/ppt/media/image18.png" Id="Rcbbf63d5d7c74fda" /><Relationship Type="http://schemas.openxmlformats.org/officeDocument/2006/relationships/notesSlide" Target="/ppt/notesSlides/notesSlide42.xml" Id="R58abc089ceb94d2a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ba320b6d964001" /><Relationship Type="http://schemas.openxmlformats.org/officeDocument/2006/relationships/image" Target="/ppt/media/image19.png" Id="R1e7c5212cbfa4434" /><Relationship Type="http://schemas.openxmlformats.org/officeDocument/2006/relationships/notesSlide" Target="/ppt/notesSlides/notesSlide43.xml" Id="R53a07d284a5542b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1a27a79dd44161" /><Relationship Type="http://schemas.openxmlformats.org/officeDocument/2006/relationships/image" Target="/ppt/media/image20.png" Id="R2c2d3ddfd03a4304" /><Relationship Type="http://schemas.openxmlformats.org/officeDocument/2006/relationships/notesSlide" Target="/ppt/notesSlides/notesSlide44.xml" Id="R54571558a1254d4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e40ea4eb444a78" /><Relationship Type="http://schemas.openxmlformats.org/officeDocument/2006/relationships/image" Target="/ppt/media/image21.png" Id="R99ba1f666db942dd" /><Relationship Type="http://schemas.openxmlformats.org/officeDocument/2006/relationships/notesSlide" Target="/ppt/notesSlides/notesSlide45.xml" Id="Re5000695cc3348ff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23b6ac4f24c94" /><Relationship Type="http://schemas.openxmlformats.org/officeDocument/2006/relationships/image" Target="/ppt/media/image22.png" Id="R2e18e1a825f7426e" /><Relationship Type="http://schemas.openxmlformats.org/officeDocument/2006/relationships/notesSlide" Target="/ppt/notesSlides/notesSlide46.xml" Id="R592452fbd4f54352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8a7e83df5743bf" /><Relationship Type="http://schemas.openxmlformats.org/officeDocument/2006/relationships/notesSlide" Target="/ppt/notesSlides/notesSlide47.xml" Id="Rb0a0f99d41b745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87F2A-19E1-4D71-8665-A325D369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OPERATOR HYPOTHESIS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4752F-5C3B-406E-860B-425737DD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TSLA descriptive</a:t>
            </a:r>
          </a:p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C665E-F0B1-4B7F-B98C-E0352166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123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5C4CF-93D0-4941-8B4C-E3E2BA10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From visual intuition to measured daily-return dependence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AA5C7-3D69-4D62-9FC3-A69A478B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 | Descriptive research only</a:t>
            </a:r>
          </a:p>
        </p:txBody>
      </p:sp>
    </p:spTree>
    <p:extLst>
      <p:ext uri="{BB962C8B-B14F-4D97-AF65-F5344CB8AC3E}">
        <p14:creationId xmlns:p14="http://schemas.microsoft.com/office/powerpoint/2010/main" val="15019786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2">
            <a:extLst xmlns:a="http://schemas.openxmlformats.org/drawingml/2006/main">
              <a:ext uri="{FF2B5EF4-FFF2-40B4-BE49-F238E27FC236}">
                <a16:creationId xmlns:a16="http://schemas.microsoft.com/office/drawing/2014/main" id="{EABBA6E1-F45F-441D-A600-8142D7D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175C8CBF-2952-45DB-A51C-31B8AB27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lane starts with description, not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D8AFB-8939-414E-BF70-4C44373B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2">
            <a:extLst xmlns:a="http://schemas.openxmlformats.org/drawingml/2006/main">
              <a:ext uri="{FF2B5EF4-FFF2-40B4-BE49-F238E27FC236}">
                <a16:creationId xmlns:a16="http://schemas.microsoft.com/office/drawing/2014/main" id="{DAFEC4F1-50D5-4693-B6C1-AC113863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EF6CAA23-BA21-472E-986D-D98B4D1F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F66DD-540D-476F-A7F5-02147E71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4F55B-1446-4F42-BD1E-8FAB2CF5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8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1277C-2532-4E5C-8906-6DB6877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621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Start with raw price and return geometry before deciding what relationship ought to exist.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372FE-75A4-4E6C-8C5E-5569ECB2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14A25A-AA62-4D50-B30F-5346853D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AF01F-0357-4FCE-9139-7DACD43D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Name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3BF40-3714-43F0-ACA7-13D0F829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direction, magnitude, path shape, and volatility so one visual impression does not stand in for all four.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591B6-C755-4D50-BB99-DA5C68C1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0F103-9237-4C60-86EF-786CECE7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839DF-980D-4991-A539-25BA44F4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18768-8500-49CC-AD63-3A41DD66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815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Quantify one frozen relationship at a time; only later ask whether a finding predicts, trades, or transports.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5A8B2-7CB6-4F65-9360-0E168549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483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465094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question, one fixed sample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r[t] = log(C[t] / C[t-1])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Each row pairs yesterday's adjusted close-to-close log return with today's.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1,509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consecutive-session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 sessions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alternate lag or horizon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Trading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policy or performance calculation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post-2023 data read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raw cloud has no clear directional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e356d696154848"/>
          <a:stretch xmlns:a="http://schemas.openxmlformats.org/drawingml/2006/main"/>
        </p:blipFill>
        <p:spPr>
          <a:xfrm xmlns:a="http://schemas.openxmlformats.org/drawingml/2006/main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172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First look: no fitted line, correlation, p-value, binning, or outlier removal.</a:t>
            </a:r>
          </a:p>
        </p:txBody>
      </p:sp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labels path shape—not volatility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ff13369c4450d"/>
          <a:stretch xmlns:a="http://schemas.openxmlformats.org/drawingml/2006/main"/>
        </p:blipFill>
        <p:spPr>
          <a:xfrm xmlns:a="http://schemas.openxmlformats.org/drawingml/2006/main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Absolute 20-session endpoint displacement divided by the total log-price path traveled.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Green recognizes efficient rises and declines. Red marks a locally choppy path. Daily thresholding is visibly flickery near transitions.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MEASUREMENT PASS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visual cloud asks one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precise next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r[t-1] contain measurable information about r[t]?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Primary: signed linear dependence. Diagnostics: rank, sign, outliers, annual stability, and absolute-return persistence.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Signed dependence is effectively 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70401382e4b68"/>
          <a:stretch xmlns:a="http://schemas.openxmlformats.org/drawingml/2006/main"/>
        </p:blipFill>
        <p:spPr>
          <a:xfrm xmlns:a="http://schemas.openxmlformats.org/drawingml/2006/main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-0.021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[-0.073, +0.028]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block-bootstrap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0.044%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R-squared: variance explained</a:t>
            </a:r>
          </a:p>
        </p:txBody>
      </p:sp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Yesterday's sign barely changes tomorrow's odds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8196e94149a5"/>
          <a:stretch xmlns:a="http://schemas.openxmlformats.org/drawingml/2006/main"/>
        </p:blipFill>
        <p:spPr>
          <a:xfrm xmlns:a="http://schemas.openxmlformats.org/drawingml/2006/main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52.9%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down 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52.1%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up day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Difference: -0.7 percentage points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interval: -5.8 to +4.2 pp</a:t>
            </a:r>
          </a:p>
        </p:txBody>
      </p:sp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9">
            <a:extLst xmlns:a="http://schemas.openxmlformats.org/drawingml/2006/main">
              <a:ext uri="{FF2B5EF4-FFF2-40B4-BE49-F238E27FC236}">
                <a16:creationId xmlns:a16="http://schemas.microsoft.com/office/drawing/2014/main" id="{EBA183BA-1F33-43C2-A340-16B1E99A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0663B6F4-658E-4DE8-898E-470A7CF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signed result stays weak under obvious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D2132A-BB30-4209-B894-FCC20F4F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9">
            <a:extLst xmlns:a="http://schemas.openxmlformats.org/drawingml/2006/main">
              <a:ext uri="{FF2B5EF4-FFF2-40B4-BE49-F238E27FC236}">
                <a16:creationId xmlns:a16="http://schemas.microsoft.com/office/drawing/2014/main" id="{5B6CFEAA-57C7-4EA4-BAF7-395EC1B3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9">
            <a:extLst xmlns:a="http://schemas.openxmlformats.org/drawingml/2006/main">
              <a:ext uri="{FF2B5EF4-FFF2-40B4-BE49-F238E27FC236}">
                <a16:creationId xmlns:a16="http://schemas.microsoft.com/office/drawing/2014/main" id="{0A964CCF-1375-4C63-86E0-327EA665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A4194-DA3D-4FE2-8903-084599EE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428750"/>
            <a:ext cx="8096250" cy="481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8ac34b6219429b"/>
          <a:stretch xmlns:a="http://schemas.openxmlformats.org/drawingml/2006/main"/>
        </p:blipFill>
        <p:spPr>
          <a:xfrm xmlns:a="http://schemas.openxmlformats.org/drawingml/2006/main">
            <a:off x="588479" y="1428750"/>
            <a:ext cx="7528891" cy="4810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547BA-6B5C-4F5A-B4E4-FD99AAC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Rank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C0B40-DAFE-4C66-8136-964E51E1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1455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Spearman rho = -0.004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interval: -0.054 to +0.044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A331B-1B89-49FE-BD19-54F1DD62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8135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140A0-2615-4B81-99CA-0D43FAA4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671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Outlier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EB45D-DC9C-458B-93BD-1FA8026B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66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changes from -0.021 to -0.008 after fixed 1%/99% winsorization.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C736D-ABB7-461A-92C1-B5147946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10540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4633C-EE8B-411B-A503-F65ADB1D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391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Every annual HAC interval crosses zero.</a:t>
            </a:r>
          </a:p>
        </p:txBody>
      </p:sp>
    </p:spTree>
    <p:extLst>
      <p:ext uri="{BB962C8B-B14F-4D97-AF65-F5344CB8AC3E}">
        <p14:creationId xmlns:p14="http://schemas.microsoft.com/office/powerpoint/2010/main" val="20162149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10">
            <a:extLst xmlns:a="http://schemas.openxmlformats.org/drawingml/2006/main">
              <a:ext uri="{FF2B5EF4-FFF2-40B4-BE49-F238E27FC236}">
                <a16:creationId xmlns:a16="http://schemas.microsoft.com/office/drawing/2014/main" id="{956D329C-4E71-4503-8472-54BE364C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35EE1E91-CEDB-4B30-9B21-3743CDB4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 persistence is modest—and different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0048C-412A-4DAD-943D-CBFA422C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0">
            <a:extLst xmlns:a="http://schemas.openxmlformats.org/drawingml/2006/main">
              <a:ext uri="{FF2B5EF4-FFF2-40B4-BE49-F238E27FC236}">
                <a16:creationId xmlns:a16="http://schemas.microsoft.com/office/drawing/2014/main" id="{81D14FDE-48EA-4462-90E0-D7741C25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0">
            <a:extLst xmlns:a="http://schemas.openxmlformats.org/drawingml/2006/main">
              <a:ext uri="{FF2B5EF4-FFF2-40B4-BE49-F238E27FC236}">
                <a16:creationId xmlns:a16="http://schemas.microsoft.com/office/drawing/2014/main" id="{CC0DEE07-9BBD-42F7-A366-FBFDE2A0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6EAE5-9A3B-4831-A518-2BC1EB25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47800"/>
            <a:ext cx="8096250" cy="474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61f548654742b1"/>
          <a:stretch xmlns:a="http://schemas.openxmlformats.org/drawingml/2006/main"/>
        </p:blipFill>
        <p:spPr>
          <a:xfrm xmlns:a="http://schemas.openxmlformats.org/drawingml/2006/main">
            <a:off x="342900" y="1458119"/>
            <a:ext cx="8096250" cy="472281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70912-AFA7-4777-B92E-0384D9D3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2762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98846-1713-4B00-B11B-C6CA4C6C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DE226-2BE8-4FE8-ABF8-EF99CFFE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52600"/>
            <a:ext cx="2305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+0.107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CCFCB-521D-4ED8-B91A-B3885201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19350"/>
            <a:ext cx="2305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 of |r[t-1]| and |r[t]|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1EFCBD-B9ED-4C50-8E82-6B73D26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71850"/>
            <a:ext cx="2362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+0.033 to +0.168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3178D-BD60-4112-9050-39949302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2862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399B8-7059-4CEF-8F2B-1A634DBC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EC0EC-804C-451F-B37D-6CBD9395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362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36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decile pattern is not monotonic; rank correlation is only +0.053 and its interval crosses zero. This is a clue about turbulence—not direction.</a:t>
            </a:r>
          </a:p>
        </p:txBody>
      </p:sp>
    </p:spTree>
    <p:extLst>
      <p:ext uri="{BB962C8B-B14F-4D97-AF65-F5344CB8AC3E}">
        <p14:creationId xmlns:p14="http://schemas.microsoft.com/office/powerpoint/2010/main" val="1880066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this first measurement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SIGNED RETURN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7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measurable adjacent-session continuation or reversal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-0.021; direction difference -0.7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PATH SHAPE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usefully describes trend versus chop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Direction-agnostic, lagging, and flickery near transitions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RETURN MAGNITUDE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modest persistence clue remains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Absolute-return Pearson +0.107; non-monotonic diagnostic pattern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yesterday's return magnitude forecast tomorrow's magnitude on a separately frozen surface?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one session is simply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too noisy?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Aggregate the past. Aggregate the future. Keep the boundary clean.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Predeclared prior and forward horizons: 1, 2, 3, 4, 5, 10, 15, 20, and 25 sessions. No cell becomes a strategy.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fixed 9 x 9 surface tests aggregation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R-(p)  versus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prior window ends at the anchor close. The forward window begins after it—no return interval appears on both sides.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predeclared horizon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Bars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Sample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BH-FDR plus Bonferroni across 81 cells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Aggregation reveals a weak 5–10-session 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correlation matrix; no BH-FDR q-value is below 0.05.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2b24a26cf44627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ridge is weak and statistically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+0.092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Pearson: 5 prior / 10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[-0.003, +0.188]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overlap-aware HAC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0.852%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maximum R-squared across 81 cells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08f8a0a89949ec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Direction differences also fail the 81-cell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+8.1 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raw-sign difference with p &lt; 0.05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direction cells with BH-FDR q &lt; 0.05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Best raw direction p = 0.025 at 10 prior / 3 forward.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BH q = 0.554; nested horizons share data.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ca3541ff8a4144"/>
          <a:stretch xmlns:a="http://schemas.openxmlformats.org/drawingml/2006/main"/>
        </p:blipFill>
        <p:spPr>
          <a:xfrm xmlns:a="http://schemas.openxmlformats.org/drawingml/2006/main" flipH="0" flipV="0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the aggregation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GRID PATTERN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coherent positive ridge appears near 5–10 sessions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Pearson +0.092 at 5 prior / 10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6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Every signed-return interval still includes zero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BH-FDR or Bonferroni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4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Probability shifts are larger but not multiplicity-stable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Best raw p=0.025; BH q=0.554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the 5–10-session ridge deserve one frozen replication, or does this descriptive lane stop here?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REGIME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aggregation mixes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incompatible path states?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the ER20 color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 and green inherit the prior POC's fixed 20-session metric and 0.30 cutoff.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ER20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anchor is labeled from closes through t. Prior return ends at t;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fixed path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20-session log-price 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&lt; 0.30 (sideways)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&gt;= 0.30 (trending)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State 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and prior return share trailing price data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ER20 states expose a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Red/sideways matrix; strongest cell +0.173 at 15 prior / 5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a3647ddd0f4572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Green ER20 states suppress the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Green/trending matrix; long/long cells turn negative; strongest absolute cell -0.154.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64a49640a404f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state split is coherent, but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-0.231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15 prior / 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 = 0.029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raw HAC slope-interaction 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interaction cells with BH-FDR q &lt; 0.05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d56559149f45b3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changes the map, but not the evidentiary stop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RED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positive island appears around 10–15 prior / 3–10 forward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+0.173 at 15 prior / 5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GREEN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same island is muted or reversed; long/long turns 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 / 5 = -0.058; 25 / 25 = -0.154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regime-specific or interaction result survives the scan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red; 0/81 green; 0/81 interactions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Freeze 15-prior / 5-forward for separate replication—or first test a regime filter less entangled with prior return?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VOLATILITY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movement capacity separate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continuation from reversal?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43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Reuse the accepted ATR% state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LOW, MEDIUM, and HIGH inherit HYP-REG-01.1's fixed causal classifier.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639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accepted ATR%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ATR% state is assigned at anchor close t. Prior return ends at t; following return begins after t. It measures capacity—not direction.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volatility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shows movement capacity—not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state uses Wilder ATR14 / close, ranked against the prior 252 completed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Blue marks LOW, gold MEDIUM, and red HIGH movement capacity. Price and the causal trailing ATR% rank are shown together.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a4fb53afb4eba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ATR% is broadly positive, but no cell passes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strongest +0.198 at 10 prior / 25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5cf6c7e6be493d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73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MEDIUM ATR% contains the stable continuation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21/81 within-state BH passes; strict survivors cluster at 5–10 prior / 2–3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3221d49424f21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ATR% flips the surface toward reversal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cells negative; strongest -0.301 at 20 prior / 20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12ee070b34749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and MEDIUM contain direct state differences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-0.548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25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0.038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HIGH-minus-MEDIUM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3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218be5da44f8d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3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changes the map—and leaves a replication candidate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All cells are positive, but none survive the within-state scan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+0.198; 0/81 BH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continuation island survives around 5–10 prior / 2–3 forward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21/81 family; 3 strict omnibus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surface broadly reverses, especially at longer horizons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negative; max |r| = 0.301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Bookmarked next questions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Replicate ATR% on a frozen sample. Then split green ER20 into up/down direction and test external market context.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EXTERNAL MARKET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SPY movement capacity organize TSLA returns?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881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SPY's accepted ATR% state at the same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TSLA, sample, return windows, and uncertainty stay fixed.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SPY ATR% before reading TSLA's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SPY state  →  TSLA future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SPY labels anchor close t. TSLA prior return ends at t; TSLA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external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SPY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ATR% supplies context—not TSLA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SPY state uses Wilder ATR14 / close, ranked against the prior 252 completed SPY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Bands are SPY states over TSLA price. Blue LOW and red HIGH describe movement capacity—not bullish or bearish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b4a04661994f25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LOW reveals TSLA continuation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cells positive; strongest +0.228 at 5 prior / 10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9ea7e26e444570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MEDIUM turns long-forward returns negative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67/81 cells negative; strongest -0.191 at 15 prior / 20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73bf6f558e42e5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HIGH leaves a mild TSLA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60/81 cells positive; max |r| = 0.103 at 25 prior / 15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4e0a85fa3f4cc3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LOW versus MEDIUM is the clearest contrast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-0.389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5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0.016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MEDIUM-minus-LOW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ba36a4bfec4c38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07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context changes the map—but confirms no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SPY 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1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Broadly preserves the positive continuation geometry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same sign vs own LOW; mean r +0.091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SPY 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68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Reverses the own-asset MEDIUM interpretation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14/81 same sign; mean r -0.058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SPY 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0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Mild and mixed—not broad TSLA reversal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25/81 same sign; mean r +0.031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External context is a promising descriptive axis. Next: brainstorm cross-sectional cues; keep replication and strategy gates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QUASI-EXTERNAL MARKET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QQQ movement capacity organize TSLA returns?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563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QQQ's accepted ATR% state at the same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TSLA, sample, return windows, and uncertainty stay fixed. QQQ is quasi-external;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QQQ ATR% to read TSLA's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state  →  TSLA future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labels anchor close t. TSLA prior return ends at t; TSLA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external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QQQ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ATR% supplies context—not TSLA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QQQ state uses Wilder ATR14 / close, ranked against the prior 252 completed QQQ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Bands are QQQ states over TSLA price. Blue LOW and red HIGH describe movement capacity—not bullish or bearish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bf63d5d7c74fda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LOW reveals broad TSLA continuation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cells positive; strongest +0.260 at 10 prior / 5 forward; family q = 0.051, so 0/81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c5212cbfa4434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MEDIUM weakens at longer horizons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44/81 cells positive; long/long cells turn negative; strongest -0.224 at 20 prior / 25 forward; 0/81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2d3ddfd03a4304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HIGH leaves a mild negative TSLA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59/81 cells negative; max |r| = 0.112 at 25 prior / 15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a1f666db942dd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LOW versus MEDIUM is the clearest contrast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-0.342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10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0.274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MEDIUM-minus-LOW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18e1a825f7426e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reshapes TSLA returns—but leaves no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QQQ 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8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Preserves the broad continuation geometry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positive; 77/81 same sign vs own; mean r +0.123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QQQ 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Weakens own-asset MEDIUM; long horizons turn 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44/81 positive; 44/81 same sign vs own; mean r -0.010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Mild negative map; closer to TSLA-own HIGH than SPY HIGH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59/81 negative; 63/81 same sign vs own; mean r -0.022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is a coherent quasi-external axis—not independent evidence. Next: frozen QQQ/SPY lead–lag grid; keep strategy gates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theme/theme1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2026-08-26T01:42:21.0050000Z</dcterms:created>
  <dcterms:modified xsi:type="dcterms:W3CDTF">2026-08-26T01:42:21.0050000Z</dcterms:modified>
</coreProperties>
</file>