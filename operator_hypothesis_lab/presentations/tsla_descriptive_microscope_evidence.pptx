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ed0fb6474b4b6d" /><Relationship Type="http://schemas.openxmlformats.org/officeDocument/2006/relationships/extended-properties" Target="/docProps/app.xml" Id="Rc4699f28f5bf4820" /><Relationship Type="http://schemas.openxmlformats.org/officeDocument/2006/relationships/officeDocument" Target="/ppt/presentation.xml" Id="R994f2b6703f14f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843da5173647aa"/>
  </p:sldMasterIdLst>
  <p:notesMasterIdLst>
    <p:notesMasterId xmlns:r="http://schemas.openxmlformats.org/officeDocument/2006/relationships" r:id="Rd8fc8777ce8b4b36"/>
  </p:notesMasterIdLst>
  <p:sldIdLst>
    <p:sldId xmlns:r="http://schemas.openxmlformats.org/officeDocument/2006/relationships" id="256" r:id="R63902cd3df904b09"/>
    <p:sldId xmlns:r="http://schemas.openxmlformats.org/officeDocument/2006/relationships" id="257" r:id="Rc3b1b92a27454849"/>
    <p:sldId xmlns:r="http://schemas.openxmlformats.org/officeDocument/2006/relationships" id="258" r:id="R8215d72e601042f7"/>
    <p:sldId xmlns:r="http://schemas.openxmlformats.org/officeDocument/2006/relationships" id="259" r:id="R6c5a6d101c9a4f28"/>
    <p:sldId xmlns:r="http://schemas.openxmlformats.org/officeDocument/2006/relationships" id="260" r:id="Rc362f307e3924d5a"/>
    <p:sldId xmlns:r="http://schemas.openxmlformats.org/officeDocument/2006/relationships" id="261" r:id="R3c1e37d2ca2c4e82"/>
    <p:sldId xmlns:r="http://schemas.openxmlformats.org/officeDocument/2006/relationships" id="262" r:id="R048a3f4a33b74b91"/>
    <p:sldId xmlns:r="http://schemas.openxmlformats.org/officeDocument/2006/relationships" id="263" r:id="Red344faaa8ba49d8"/>
    <p:sldId xmlns:r="http://schemas.openxmlformats.org/officeDocument/2006/relationships" id="264" r:id="Rd08eefb8905741af"/>
    <p:sldId xmlns:r="http://schemas.openxmlformats.org/officeDocument/2006/relationships" id="265" r:id="R9f7dafc8f9bb431b"/>
    <p:sldId xmlns:r="http://schemas.openxmlformats.org/officeDocument/2006/relationships" id="266" r:id="R81e4ce78c2b64caf"/>
    <p:sldId xmlns:r="http://schemas.openxmlformats.org/officeDocument/2006/relationships" id="267" r:id="Ra53fe406658e42c5"/>
    <p:sldId xmlns:r="http://schemas.openxmlformats.org/officeDocument/2006/relationships" id="268" r:id="Rbe0235201b9f43cc"/>
    <p:sldId xmlns:r="http://schemas.openxmlformats.org/officeDocument/2006/relationships" id="269" r:id="R9d9fe8cecb614130"/>
    <p:sldId xmlns:r="http://schemas.openxmlformats.org/officeDocument/2006/relationships" id="270" r:id="R3755445df2314ad5"/>
    <p:sldId xmlns:r="http://schemas.openxmlformats.org/officeDocument/2006/relationships" id="271" r:id="R376f8aae59e14dfb"/>
    <p:sldId xmlns:r="http://schemas.openxmlformats.org/officeDocument/2006/relationships" id="272" r:id="Rce11102322054118"/>
    <p:sldId xmlns:r="http://schemas.openxmlformats.org/officeDocument/2006/relationships" id="273" r:id="Rdf0b1a57102c496e"/>
    <p:sldId xmlns:r="http://schemas.openxmlformats.org/officeDocument/2006/relationships" id="274" r:id="R5c397b28c5254ce9"/>
    <p:sldId xmlns:r="http://schemas.openxmlformats.org/officeDocument/2006/relationships" id="275" r:id="Rad7276fc2ba14134"/>
    <p:sldId xmlns:r="http://schemas.openxmlformats.org/officeDocument/2006/relationships" id="276" r:id="R17512c94dd114f05"/>
    <p:sldId xmlns:r="http://schemas.openxmlformats.org/officeDocument/2006/relationships" id="277" r:id="Ra712361768c247ac"/>
    <p:sldId xmlns:r="http://schemas.openxmlformats.org/officeDocument/2006/relationships" id="278" r:id="Rf00890273f9342cd"/>
    <p:sldId xmlns:r="http://schemas.openxmlformats.org/officeDocument/2006/relationships" id="279" r:id="R8bafadd3c9c14419"/>
    <p:sldId xmlns:r="http://schemas.openxmlformats.org/officeDocument/2006/relationships" id="280" r:id="Rdffbb9be272f4b7c"/>
    <p:sldId xmlns:r="http://schemas.openxmlformats.org/officeDocument/2006/relationships" id="281" r:id="Ra9cb828de4b643a3"/>
    <p:sldId xmlns:r="http://schemas.openxmlformats.org/officeDocument/2006/relationships" id="282" r:id="Raacf707921284382"/>
    <p:sldId xmlns:r="http://schemas.openxmlformats.org/officeDocument/2006/relationships" id="283" r:id="Recebf945e77f4c21"/>
    <p:sldId xmlns:r="http://schemas.openxmlformats.org/officeDocument/2006/relationships" id="284" r:id="Rc08eb660b1b74482"/>
    <p:sldId xmlns:r="http://schemas.openxmlformats.org/officeDocument/2006/relationships" id="285" r:id="Rf197cce8d657420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eab0efd237453c" /><Relationship Type="http://schemas.openxmlformats.org/officeDocument/2006/relationships/slideMaster" Target="/ppt/slideMasters/slideMaster1.xml" Id="Reb843da5173647aa" /><Relationship Type="http://schemas.openxmlformats.org/officeDocument/2006/relationships/notesMaster" Target="/ppt/notesMasters/notesMaster1.xml" Id="Rd8fc8777ce8b4b36" /><Relationship Type="http://schemas.openxmlformats.org/officeDocument/2006/relationships/presProps" Target="/ppt/presProps.xml" Id="R8c8b812e6c9143a1" /><Relationship Type="http://schemas.openxmlformats.org/officeDocument/2006/relationships/tableStyles" Target="/ppt/tableStyles.xml" Id="R28dd53388b3e4bb8" /><Relationship Type="http://schemas.openxmlformats.org/officeDocument/2006/relationships/slide" Target="/ppt/slides/slide1.xml" Id="R63902cd3df904b09" /><Relationship Type="http://schemas.openxmlformats.org/officeDocument/2006/relationships/slide" Target="/ppt/slides/slide2.xml" Id="Rc3b1b92a27454849" /><Relationship Type="http://schemas.openxmlformats.org/officeDocument/2006/relationships/slide" Target="/ppt/slides/slide3.xml" Id="R8215d72e601042f7" /><Relationship Type="http://schemas.openxmlformats.org/officeDocument/2006/relationships/slide" Target="/ppt/slides/slide4.xml" Id="R6c5a6d101c9a4f28" /><Relationship Type="http://schemas.openxmlformats.org/officeDocument/2006/relationships/slide" Target="/ppt/slides/slide5.xml" Id="Rc362f307e3924d5a" /><Relationship Type="http://schemas.openxmlformats.org/officeDocument/2006/relationships/slide" Target="/ppt/slides/slide6.xml" Id="R3c1e37d2ca2c4e82" /><Relationship Type="http://schemas.openxmlformats.org/officeDocument/2006/relationships/slide" Target="/ppt/slides/slide7.xml" Id="R048a3f4a33b74b91" /><Relationship Type="http://schemas.openxmlformats.org/officeDocument/2006/relationships/slide" Target="/ppt/slides/slide8.xml" Id="Red344faaa8ba49d8" /><Relationship Type="http://schemas.openxmlformats.org/officeDocument/2006/relationships/slide" Target="/ppt/slides/slide9.xml" Id="Rd08eefb8905741af" /><Relationship Type="http://schemas.openxmlformats.org/officeDocument/2006/relationships/slide" Target="/ppt/slides/slide10.xml" Id="R9f7dafc8f9bb431b" /><Relationship Type="http://schemas.openxmlformats.org/officeDocument/2006/relationships/slide" Target="/ppt/slides/slide11.xml" Id="R81e4ce78c2b64caf" /><Relationship Type="http://schemas.openxmlformats.org/officeDocument/2006/relationships/slide" Target="/ppt/slides/slide12.xml" Id="Ra53fe406658e42c5" /><Relationship Type="http://schemas.openxmlformats.org/officeDocument/2006/relationships/slide" Target="/ppt/slides/slide13.xml" Id="Rbe0235201b9f43cc" /><Relationship Type="http://schemas.openxmlformats.org/officeDocument/2006/relationships/slide" Target="/ppt/slides/slide14.xml" Id="R9d9fe8cecb614130" /><Relationship Type="http://schemas.openxmlformats.org/officeDocument/2006/relationships/slide" Target="/ppt/slides/slide15.xml" Id="R3755445df2314ad5" /><Relationship Type="http://schemas.openxmlformats.org/officeDocument/2006/relationships/slide" Target="/ppt/slides/slide16.xml" Id="R376f8aae59e14dfb" /><Relationship Type="http://schemas.openxmlformats.org/officeDocument/2006/relationships/slide" Target="/ppt/slides/slide17.xml" Id="Rce11102322054118" /><Relationship Type="http://schemas.openxmlformats.org/officeDocument/2006/relationships/slide" Target="/ppt/slides/slide18.xml" Id="Rdf0b1a57102c496e" /><Relationship Type="http://schemas.openxmlformats.org/officeDocument/2006/relationships/slide" Target="/ppt/slides/slide19.xml" Id="R5c397b28c5254ce9" /><Relationship Type="http://schemas.openxmlformats.org/officeDocument/2006/relationships/slide" Target="/ppt/slides/slide20.xml" Id="Rad7276fc2ba14134" /><Relationship Type="http://schemas.openxmlformats.org/officeDocument/2006/relationships/slide" Target="/ppt/slides/slide21.xml" Id="R17512c94dd114f05" /><Relationship Type="http://schemas.openxmlformats.org/officeDocument/2006/relationships/slide" Target="/ppt/slides/slide22.xml" Id="Ra712361768c247ac" /><Relationship Type="http://schemas.openxmlformats.org/officeDocument/2006/relationships/slide" Target="/ppt/slides/slide23.xml" Id="Rf00890273f9342cd" /><Relationship Type="http://schemas.openxmlformats.org/officeDocument/2006/relationships/slide" Target="/ppt/slides/slide24.xml" Id="R8bafadd3c9c14419" /><Relationship Type="http://schemas.openxmlformats.org/officeDocument/2006/relationships/slide" Target="/ppt/slides/slide25.xml" Id="Rdffbb9be272f4b7c" /><Relationship Type="http://schemas.openxmlformats.org/officeDocument/2006/relationships/slide" Target="/ppt/slides/slide26.xml" Id="Ra9cb828de4b643a3" /><Relationship Type="http://schemas.openxmlformats.org/officeDocument/2006/relationships/slide" Target="/ppt/slides/slide27.xml" Id="Raacf707921284382" /><Relationship Type="http://schemas.openxmlformats.org/officeDocument/2006/relationships/slide" Target="/ppt/slides/slide28.xml" Id="Recebf945e77f4c21" /><Relationship Type="http://schemas.openxmlformats.org/officeDocument/2006/relationships/slide" Target="/ppt/slides/slide29.xml" Id="Rc08eb660b1b74482" /><Relationship Type="http://schemas.openxmlformats.org/officeDocument/2006/relationships/slide" Target="/ppt/slides/slide30.xml" Id="Rf197cce8d657420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ed95ffcd8c48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f6394589d5249e7" /><Relationship Type="http://schemas.openxmlformats.org/officeDocument/2006/relationships/notesMaster" Target="/ppt/notesMasters/notesMaster1.xml" Id="R2765310dbc3547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4e503017d343d7" /><Relationship Type="http://schemas.openxmlformats.org/officeDocument/2006/relationships/notesMaster" Target="/ppt/notesMasters/notesMaster1.xml" Id="Ra5cda72b1b3d47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89df14457f4644" /><Relationship Type="http://schemas.openxmlformats.org/officeDocument/2006/relationships/notesMaster" Target="/ppt/notesMasters/notesMaster1.xml" Id="R5788105243b149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0ef70cecf949b4" /><Relationship Type="http://schemas.openxmlformats.org/officeDocument/2006/relationships/notesMaster" Target="/ppt/notesMasters/notesMaster1.xml" Id="Rad971cb58a3243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110bc6ad6a478b" /><Relationship Type="http://schemas.openxmlformats.org/officeDocument/2006/relationships/notesMaster" Target="/ppt/notesMasters/notesMaster1.xml" Id="Rdcfcf8549a5f41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2088d2a8c04183" /><Relationship Type="http://schemas.openxmlformats.org/officeDocument/2006/relationships/notesMaster" Target="/ppt/notesMasters/notesMaster1.xml" Id="R235482769ec44b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347d7278d145d2" /><Relationship Type="http://schemas.openxmlformats.org/officeDocument/2006/relationships/notesMaster" Target="/ppt/notesMasters/notesMaster1.xml" Id="R1a132674bdd1485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e76a9f51754248" /><Relationship Type="http://schemas.openxmlformats.org/officeDocument/2006/relationships/notesMaster" Target="/ppt/notesMasters/notesMaster1.xml" Id="R21b4200f55e342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0832bdc2334480" /><Relationship Type="http://schemas.openxmlformats.org/officeDocument/2006/relationships/notesMaster" Target="/ppt/notesMasters/notesMaster1.xml" Id="Ra7438ac4d17b459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886bd978c794942" /><Relationship Type="http://schemas.openxmlformats.org/officeDocument/2006/relationships/notesMaster" Target="/ppt/notesMasters/notesMaster1.xml" Id="Ra0566e593b354e6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711ee3bb07442a" /><Relationship Type="http://schemas.openxmlformats.org/officeDocument/2006/relationships/notesMaster" Target="/ppt/notesMasters/notesMaster1.xml" Id="R6630b4f797b246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bf7f57fa8d8463f" /><Relationship Type="http://schemas.openxmlformats.org/officeDocument/2006/relationships/notesMaster" Target="/ppt/notesMasters/notesMaster1.xml" Id="Rf2a5fcf0f5f5468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228515b00374a78" /><Relationship Type="http://schemas.openxmlformats.org/officeDocument/2006/relationships/notesMaster" Target="/ppt/notesMasters/notesMaster1.xml" Id="R7d0471563ed34dc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3113dede04b42bf" /><Relationship Type="http://schemas.openxmlformats.org/officeDocument/2006/relationships/notesMaster" Target="/ppt/notesMasters/notesMaster1.xml" Id="R8eb141ab2df34f0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6bbbae9ead24684" /><Relationship Type="http://schemas.openxmlformats.org/officeDocument/2006/relationships/notesMaster" Target="/ppt/notesMasters/notesMaster1.xml" Id="R5d54f8af29134cf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9d4dba82d324c21" /><Relationship Type="http://schemas.openxmlformats.org/officeDocument/2006/relationships/notesMaster" Target="/ppt/notesMasters/notesMaster1.xml" Id="R2fbad03688574f1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e65b325c2eb4013" /><Relationship Type="http://schemas.openxmlformats.org/officeDocument/2006/relationships/notesMaster" Target="/ppt/notesMasters/notesMaster1.xml" Id="Rfab6a98c25c44d3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ef0243242d146ce" /><Relationship Type="http://schemas.openxmlformats.org/officeDocument/2006/relationships/notesMaster" Target="/ppt/notesMasters/notesMaster1.xml" Id="R7b4d7f1793574d0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dcd7a29723f42d9" /><Relationship Type="http://schemas.openxmlformats.org/officeDocument/2006/relationships/notesMaster" Target="/ppt/notesMasters/notesMaster1.xml" Id="Re98e60a3d57a4c9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38b6cd189e74167" /><Relationship Type="http://schemas.openxmlformats.org/officeDocument/2006/relationships/notesMaster" Target="/ppt/notesMasters/notesMaster1.xml" Id="Ra3c6c8f59e9a46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d6d47bd801046c7" /><Relationship Type="http://schemas.openxmlformats.org/officeDocument/2006/relationships/notesMaster" Target="/ppt/notesMasters/notesMaster1.xml" Id="R51ae6417a536442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527a387247a4cc5" /><Relationship Type="http://schemas.openxmlformats.org/officeDocument/2006/relationships/notesMaster" Target="/ppt/notesMasters/notesMaster1.xml" Id="R108e11cbef2241b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ef77819c3a54b88" /><Relationship Type="http://schemas.openxmlformats.org/officeDocument/2006/relationships/notesMaster" Target="/ppt/notesMasters/notesMaster1.xml" Id="R2bb59356240345ec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27df943638346b4" /><Relationship Type="http://schemas.openxmlformats.org/officeDocument/2006/relationships/notesMaster" Target="/ppt/notesMasters/notesMaster1.xml" Id="R1304c9567d4341d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a75a6e0e8bf4a06" /><Relationship Type="http://schemas.openxmlformats.org/officeDocument/2006/relationships/notesMaster" Target="/ppt/notesMasters/notesMaster1.xml" Id="R6217fe588e69404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4adf81404524905" /><Relationship Type="http://schemas.openxmlformats.org/officeDocument/2006/relationships/notesMaster" Target="/ppt/notesMasters/notesMaster1.xml" Id="Rfa7e031ef40d4a5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9415dfd3c5643bb" /><Relationship Type="http://schemas.openxmlformats.org/officeDocument/2006/relationships/notesMaster" Target="/ppt/notesMasters/notesMaster1.xml" Id="Ra74aef14d95c491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fcaa089903942a7" /><Relationship Type="http://schemas.openxmlformats.org/officeDocument/2006/relationships/notesMaster" Target="/ppt/notesMasters/notesMaster1.xml" Id="R94e114e78086426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d6eb419fe3f4f2c" /><Relationship Type="http://schemas.openxmlformats.org/officeDocument/2006/relationships/notesMaster" Target="/ppt/notesMasters/notesMaster1.xml" Id="R42a9da60afcb437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d2f84dffa5c4b01" /><Relationship Type="http://schemas.openxmlformats.org/officeDocument/2006/relationships/notesMaster" Target="/ppt/notesMasters/notesMaster1.xml" Id="R887fd47443d84b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this as a running laboratory notebook, not a strategy pitch.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learning objective is bottom-up hypothesis formation. The order is observation, definition, measurement, then falsification.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User-directed research workflow in this task</a:t>
            </a:r>
          </a:p>
          <a:p xmlns:a="http://schemas.openxmlformats.org/drawingml/2006/main">
            <a:r>
              <a:t>- docs/GEN5_1_POC_PROGRESS_LOG.md entries 186-188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definition before showing any statistic. The sample is the exact scatterplot surface from the prior slice.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- runs/research_workbench/operator_hypothesis_lab/tsla_lagged_return_dependence_statistics_20260825/pair_checks.csv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eye sees a dense cloud around zero and observations in all four quadrants. This slide preserves the pre-statistics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runs/research_workbench/operator_hypothesis_lab/tsla_lagged_daily_return_scatter_20260824/visuals/tsla_t_minus_1_vs_t_daily_log_return_scatter.png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ER20 asks whether the trailing path was efficient. It ignores bullish versus bearish direction and does not measure volatility.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runs/research_workbench/operator_hypothesis_lab/tsla_efficiency_ratio_regime_bands_20260824/visuals/tsla_er20_path_regime_bands.png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primary estimand is frozen before reading the result: Pearson correlation, equivalently the OLS slope in r[t] = alpha + beta r[t-1] +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scripts/inspect/run_tsla_lagged_return_dependence_statistics.R</a:t>
            </a:r>
          </a:p>
          <a:p xmlns:a="http://schemas.openxmlformats.org/drawingml/2006/main">
            <a:r>
              <a:t>- runs/research_workbench/operator_hypothesis_lab/tsla_lagged_return_dependence_statistics_20260825/run_spec.csv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interval includes zero and the fitted line explains roughly four hundredths of one percent of next-day return variation. HAC slope p-value is 0.451.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runs/research_workbench/operator_hypothesis_lab/tsla_lagged_return_dependence_statistics_20260825/visuals/tsla_signed_return_dependence_fitted_scatter.png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binary direction view reaches the same conclusion as the continuous-return view. The conditional probabilities are nearly identical and their difference interval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runs/research_workbench/operator_hypothesis_lab/tsla_lagged_return_dependence_statistics_20260825/direction_transition_probabilities.csv</a:t>
            </a:r>
          </a:p>
          <a:p xmlns:a="http://schemas.openxmlformats.org/drawingml/2006/main">
            <a:r>
              <a:t>- runs/research_workbench/operator_hypothesis_lab/tsla_lagged_return_dependence_statistics_20260825/direction_transition_difference.csv</a:t>
            </a:r>
          </a:p>
          <a:p xmlns:a="http://schemas.openxmlformats.org/drawingml/2006/main">
            <a:r>
              <a:t>- runs/research_workbench/operator_hypothesis_lab/tsla_lagged_return_dependence_statistics_20260825/visuals/tsla_direction_transition_probabilities.png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Annual point estimates change sign, but none of the annual HAC intervals excludes zero. Rank correlation and the fixed winsor sensitivity are also near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runs/research_workbench/operator_hypothesis_lab/tsla_lagged_return_dependence_statistics_20260825/annual_stability.csv</a:t>
            </a:r>
          </a:p>
          <a:p xmlns:a="http://schemas.openxmlformats.org/drawingml/2006/main">
            <a:r>
              <a:t>- runs/research_workbench/operator_hypothesis_lab/tsla_lagged_return_dependence_statistics_20260825/outlier_sensitivity.csv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Absolute and squared returns show positive linear dependence, but the equal-count deciles are jagged and the absolute-return rank interval includes zero. Treat this as modest magnitude persistence and a separate future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runs/research_workbench/operator_hypothesis_lab/tsla_lagged_return_dependence_statistics_20260825/primary_statistics.csv</a:t>
            </a:r>
          </a:p>
          <a:p xmlns:a="http://schemas.openxmlformats.org/drawingml/2006/main">
            <a:r>
              <a:t>- runs/research_workbench/operator_hypothesis_lab/tsla_lagged_return_dependence_statistics_20260825/block_bootstrap_intervals.csv</a:t>
            </a:r>
          </a:p>
          <a:p xmlns:a="http://schemas.openxmlformats.org/drawingml/2006/main">
            <a:r>
              <a:t>- runs/research_workbench/operator_hypothesis_lab/tsla_lagged_return_dependence_statistics_20260825/absolute_return_deciles.csv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what was learned. The signed-return question stops descriptively; ER20 remains a descriptive lens; magnitude persistence is the only new clue and requires its own predeclared test before any strategy interpretation.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operator_hypothesis_lab/docs/TSLA_LAGGED_DAILY_RETURN_SCATTER_2018_2023.md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runs/research_workbench/operator_hypothesis_lab/tsla_lagged_return_dependence_statistics_20260825/report.md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sessions reveals signed dependence hidden by the adjacent-session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scripts/inspect/run_tsla_cumulative_return_horizon_grid.R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information boundary first: cumulative prior return ends at the anchor close and cumulative forward return begins from that close.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runs/research_workbench/operator_hypothesis_lab/tsla_cumulative_return_horizon_grid_20260825/run_spec.csv</a:t>
            </a:r>
          </a:p>
          <a:p xmlns:a="http://schemas.openxmlformats.org/drawingml/2006/main">
            <a:r>
              <a:t>- runs/research_workbench/operator_hypothesis_lab/tsla_cumulative_return_horizon_grid_20260825/grid_checks.csv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positive region is coherent rather than a single isolated cell, but its magnitude is small and this nested grid is highly dependent.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runs/research_workbench/operator_hypothesis_lab/tsla_cumulative_return_horizon_grid_20260825/pearson_correlation_matrix.csv</a:t>
            </a:r>
          </a:p>
          <a:p xmlns:a="http://schemas.openxmlformats.org/drawingml/2006/main">
            <a:r>
              <a:t>- runs/research_workbench/operator_hypothesis_lab/tsla_cumulative_return_horizon_grid_20260825/slope_bh_q_value_matrix.csv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strongest point estimate explains less than one percent of forward-return variance, and its overlap-aware interval includes zero. Its BH q-value is 0.660.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runs/research_workbench/operator_hypothesis_lab/tsla_cumulative_return_horizon_grid_20260825/r_squared_percent_matrix.csv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runs/research_workbench/operator_hypothesis_lab/tsla_cumulative_return_horizon_grid_20260825/visuals/tsla_cumulative_return_r_squared_heatmap.png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Several direction differences are positive, but the best raw p-value becomes q=0.554 after the 81-cell scan. None survives BH-FDR or Bonferroni.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runs/research_workbench/operator_hypothesis_lab/tsla_cumulative_return_horizon_grid_20260825/direction_difference_pp_matrix.csv</a:t>
            </a:r>
          </a:p>
          <a:p xmlns:a="http://schemas.openxmlformats.org/drawingml/2006/main">
            <a:r>
              <a:t>- runs/research_workbench/operator_hypothesis_lab/tsla_cumulative_return_horizon_grid_20260825/horizon_grid_statistics.csv</a:t>
            </a:r>
          </a:p>
          <a:p xmlns:a="http://schemas.openxmlformats.org/drawingml/2006/main">
            <a:r>
              <a:t>- runs/research_workbench/operator_hypothesis_lab/tsla_cumulative_return_horizon_grid_20260825/visuals/tsla_cumulative_return_direction_difference_heatmap.png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separating the descriptive pattern from evidence strength. The ridge is worth naming, but this scan does not establish predictive authority.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runs/research_workbench/operator_hypothesis_lab/tsla_cumulative_return_horizon_grid_20260825/report.md</a:t>
            </a:r>
          </a:p>
          <a:p xmlns:a="http://schemas.openxmlformats.org/drawingml/2006/main">
            <a:r>
              <a:t>- runs/research_workbench/operator_hypothesis_lab/tsla_cumulative_return_horizon_grid_20260825/cells_ranked_by_absolute_correlation.csv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aggregating red and green path states washes out different prior-versus-forward return relationships.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- scripts/inspect/run_tsla_er20_conditioned_return_horizon_grid.R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timing is causal: ER20 at the anchor uses closes through that anchor only. One pre-2018 anchor from the aggregate grid is uncolored and excluded.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runs/research_workbench/operator_hypothesis_lab/tsla_er20_conditioned_return_horizon_grid_20260825/run_spec.csv</a:t>
            </a:r>
          </a:p>
          <a:p xmlns:a="http://schemas.openxmlformats.org/drawingml/2006/main">
            <a:r>
              <a:t>- runs/research_workbench/operator_hypothesis_lab/tsla_er20_conditioned_return_horizon_grid_20260825/grid_checks.csv</a:t>
            </a:r>
          </a:p>
          <a:p xmlns:a="http://schemas.openxmlformats.org/drawingml/2006/main">
            <a:r>
              <a:t>- operator_hypothesis_lab/docs/TSLA_ER20_PATH_REGIME_BANDS_2018_2023.md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 states show a coherent positive island centered around 10 to 15 prior sessions and 3 to 10 forward sessions. The largest cell has an overlap-aware interval that still includes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runs/research_workbench/operator_hypothesis_lab/tsla_er20_conditioned_return_horizon_grid_20260825/red_sideways_pearson_matrix.csv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runs/research_workbench/operator_hypothesis_lab/tsla_er20_conditioned_return_horizon_grid_20260825/visuals/tsla_red_sideways_pearson_heatmap.png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 states retain small positive short-horizon patches, but the red medium-horizon island is muted or reversed and the long-prior/long-forward corner becomes negative.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runs/research_workbench/operator_hypothesis_lab/tsla_er20_conditioned_return_horizon_grid_20260825/green_trending_pearson_matrix.csv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runs/research_workbench/operator_hypothesis_lab/tsla_er20_conditioned_return_horizon_grid_20260825/visuals/tsla_green_trending_pearson_heatmap.png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raw regime contrast is at 15 prior and 5 forward: red correlation +0.173 versus green -0.058, a -0.231 difference. Its slope interaction has raw HAC p=0.029 but BH q=0.919; no interaction survives the grid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runs/research_workbench/operator_hypothesis_lab/tsla_er20_conditioned_return_horizon_grid_20260825/green_minus_red_pearson_matrix.csv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- runs/research_workbench/operator_hypothesis_lab/tsla_er20_conditioned_return_horizon_grid_20260825/slope_interaction_bh_q_value_matrix.csv</a:t>
            </a:r>
          </a:p>
          <a:p xmlns:a="http://schemas.openxmlformats.org/drawingml/2006/main">
            <a:r>
              <a:t>- runs/research_workbench/operator_hypothesis_lab/tsla_er20_conditioned_return_horizon_grid_20260825/visuals/tsla_green_minus_red_pearson_heatmap.png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Conditioning changes the descriptive map in a coherent way, but the finding remains exploratory. ER20 is built from the same trailing path as the prior-return variable, so a less mechanically entangled filter would be a useful comparison.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runs/research_workbench/operator_hypothesis_lab/tsla_er20_conditioned_return_horizon_grid_20260825/report.md</a:t>
            </a:r>
          </a:p>
          <a:p xmlns:a="http://schemas.openxmlformats.org/drawingml/2006/main">
            <a:r>
              <a:t>- runs/research_workbench/operator_hypothesis_lab/tsla_er20_conditioned_return_horizon_grid_20260825/conditioned_horizon_grid_statistics.csv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runs/research_workbench/operator_hypothesis_lab/tsla_er20_conditioned_return_horizon_grid_20260825/regime_comparison_statistics.csv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section asks whether signed-return dependence changes with movement capacity, using the already accepted ATR-percent classifier rather than designing new bins from this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operator_hypothesis_lab/docs/GEN5_HYP_REG_01_1_ATR_PERCENT_VOLATILITY_RESULTS.md</a:t>
            </a:r>
          </a:p>
          <a:p xmlns:a="http://schemas.openxmlformats.org/drawingml/2006/main">
            <a:r>
              <a:t>- operator_hypothesis_lab/docs/TSLA_ATRP_CONDITIONED_RETURN_HORIZON_GRID_2018_2023.md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state definition is reused exactly: Wilder ATR14 divided by close, current ATR-percent ranked against the prior 252 completed observations, and the accepted 30/40–60/70 hysteresis. State t is known before future returns begin.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runs/research_workbench/operator_hypothesis_lab/tsla_atrp_conditioned_return_horizon_grid_20260825/run_spec.csv</a:t>
            </a:r>
          </a:p>
          <a:p xmlns:a="http://schemas.openxmlformats.org/drawingml/2006/main">
            <a:r>
              <a:t>- runs/research_workbench/operator_hypothesis_lab/tsla_atrp_conditioned_return_horizon_grid_20260825/source_checks.csv</a:t>
            </a:r>
          </a:p>
          <a:p xmlns:a="http://schemas.openxmlformats.org/drawingml/2006/main">
            <a:r>
              <a:t>- runs/research_workbench/operator_hypothesis_lab/hyp_reg_01_1_atr_percent_20260814/hyp_reg_01_1_daily_state_ledger.csv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LOW ATR-percent anchors produce positive point estimates throughout the grid, but the strongest cell's interval crosses zero and no LOW cell survives the within-state scan.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runs/research_workbench/operator_hypothesis_lab/tsla_atrp_conditioned_return_horizon_grid_20260825/low_pearson_matrix.csv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runs/research_workbench/operator_hypothesis_lab/tsla_atrp_conditioned_return_horizon_grid_20260825/visuals/tsla_atrp_low_pearson_heatmap.png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MEDIUM ATR-percent anchors show the most statistically stable continuation pattern. Under the strict correction across all 486 tests, the 5/3, 10/2, and 10/3 cells remain.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runs/research_workbench/operator_hypothesis_lab/tsla_atrp_conditioned_return_horizon_grid_20260825/medium_pearson_matrix.csv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ATR-percent anchors reverse the sign of the broad surface, especially at longer horizons. The most extreme cell is visually strong but its dependence-robust interval still crosses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runs/research_workbench/operator_hypothesis_lab/tsla_atrp_conditioned_return_horizon_grid_20260825/high_pearson_matrix.csv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largest correlation contrast is -0.548 at 25 prior and 15 forward; its within-family interaction q is 0.038 but strict omnibus q is 0.081. Three smaller HIGH-minus-MEDIUM interactions survive the omnibus correction.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runs/research_workbench/operator_hypothesis_lab/tsla_atrp_conditioned_return_horizon_grid_20260825/high_minus_medium_pearson_difference_matrix.csv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- runs/research_workbench/operator_hypothesis_lab/tsla_atrp_conditioned_return_horizon_grid_20260825/high_minus_medium_interaction_bh_q_matrix.csv</a:t>
            </a:r>
          </a:p>
          <a:p xmlns:a="http://schemas.openxmlformats.org/drawingml/2006/main">
            <a:r>
              <a:t>- runs/research_workbench/operator_hypothesis_lab/tsla_atrp_conditioned_return_horizon_grid_20260825/visuals/tsla_atrp_high_minus_medium_pearson_heatmap.png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ATR-percent split is the clearest conditional map in this descriptive lane and is partially multiplicity-robust, but it is still a same-sample replication candidate rather than a trading rule. The ER20 direction split and external-context filter are bookmarked, not opened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runs/research_workbench/operator_hypothesis_lab/tsla_atrp_conditioned_return_horizon_grid_20260825/report.md</a:t>
            </a:r>
          </a:p>
          <a:p xmlns:a="http://schemas.openxmlformats.org/drawingml/2006/main">
            <a:r>
              <a:t>- runs/research_workbench/operator_hypothesis_lab/tsla_atrp_conditioned_return_horizon_grid_20260825/conditioned_horizon_grid_statistics.csv</a:t>
            </a:r>
          </a:p>
          <a:p xmlns:a="http://schemas.openxmlformats.org/drawingml/2006/main">
            <a:r>
              <a:t>- runs/research_workbench/operator_hypothesis_lab/tsla_atrp_conditioned_return_horizon_grid_20260825/pairwise_state_comparison_statistics.csv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c58069c0e47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7e945c49784186" /><Relationship Type="http://schemas.openxmlformats.org/officeDocument/2006/relationships/slideLayout" Target="/ppt/slideLayouts/slideLayout1.xml" Id="R292de2d1721946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2de2d1721946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fcf0eb20e41ff" /><Relationship Type="http://schemas.openxmlformats.org/officeDocument/2006/relationships/notesSlide" Target="/ppt/notesSlides/notesSlide1.xml" Id="R153ca7adffa54b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21471789b47aa" /><Relationship Type="http://schemas.openxmlformats.org/officeDocument/2006/relationships/notesSlide" Target="/ppt/notesSlides/notesSlide2.xml" Id="Rf3e438a8d3c04f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d2349199a542df" /><Relationship Type="http://schemas.openxmlformats.org/officeDocument/2006/relationships/notesSlide" Target="/ppt/notesSlides/notesSlide3.xml" Id="Rff406c8c5db44a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98dfc54bbc42a5" /><Relationship Type="http://schemas.openxmlformats.org/officeDocument/2006/relationships/image" Target="/ppt/media/image.png" Id="Rc2c7f769338e45a4" /><Relationship Type="http://schemas.openxmlformats.org/officeDocument/2006/relationships/notesSlide" Target="/ppt/notesSlides/notesSlide4.xml" Id="R6d717d41b92c46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bc683173847a9" /><Relationship Type="http://schemas.openxmlformats.org/officeDocument/2006/relationships/image" Target="/ppt/media/image2.png" Id="R321943bf56324648" /><Relationship Type="http://schemas.openxmlformats.org/officeDocument/2006/relationships/notesSlide" Target="/ppt/notesSlides/notesSlide5.xml" Id="Ra2bb6a99147f44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21b4c854ec48d8" /><Relationship Type="http://schemas.openxmlformats.org/officeDocument/2006/relationships/notesSlide" Target="/ppt/notesSlides/notesSlide6.xml" Id="R7c218d48d46346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d6dec483e04ecb" /><Relationship Type="http://schemas.openxmlformats.org/officeDocument/2006/relationships/image" Target="/ppt/media/image3.png" Id="Rb459fa0b30344a67" /><Relationship Type="http://schemas.openxmlformats.org/officeDocument/2006/relationships/notesSlide" Target="/ppt/notesSlides/notesSlide7.xml" Id="R0c33be3b19ee4a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2a79f721446cc" /><Relationship Type="http://schemas.openxmlformats.org/officeDocument/2006/relationships/image" Target="/ppt/media/image4.png" Id="R472b74b356914a8a" /><Relationship Type="http://schemas.openxmlformats.org/officeDocument/2006/relationships/notesSlide" Target="/ppt/notesSlides/notesSlide8.xml" Id="R60d4a7698d1844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36aa129a114b27" /><Relationship Type="http://schemas.openxmlformats.org/officeDocument/2006/relationships/image" Target="/ppt/media/image5.png" Id="Rcc88488bccb44203" /><Relationship Type="http://schemas.openxmlformats.org/officeDocument/2006/relationships/notesSlide" Target="/ppt/notesSlides/notesSlide9.xml" Id="R5aeb552630b942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22b6f88a404fd7" /><Relationship Type="http://schemas.openxmlformats.org/officeDocument/2006/relationships/image" Target="/ppt/media/image6.png" Id="R56bc2161bcbf44d9" /><Relationship Type="http://schemas.openxmlformats.org/officeDocument/2006/relationships/notesSlide" Target="/ppt/notesSlides/notesSlide10.xml" Id="Rbf1ca99ddd204c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4af3ef2054f3c" /><Relationship Type="http://schemas.openxmlformats.org/officeDocument/2006/relationships/notesSlide" Target="/ppt/notesSlides/notesSlide11.xml" Id="Ra1bbc5e89fc5494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cbe8be4e24715" /><Relationship Type="http://schemas.openxmlformats.org/officeDocument/2006/relationships/notesSlide" Target="/ppt/notesSlides/notesSlide12.xml" Id="R853e5467e01d436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75ee9758b4cba" /><Relationship Type="http://schemas.openxmlformats.org/officeDocument/2006/relationships/notesSlide" Target="/ppt/notesSlides/notesSlide13.xml" Id="R0b304f886a594e0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d6fc264a346d5" /><Relationship Type="http://schemas.openxmlformats.org/officeDocument/2006/relationships/image" Target="/ppt/media/image7.png" Id="R5ce294c17730419d" /><Relationship Type="http://schemas.openxmlformats.org/officeDocument/2006/relationships/notesSlide" Target="/ppt/notesSlides/notesSlide14.xml" Id="R7a243e11592b43f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d8b23ab73487a" /><Relationship Type="http://schemas.openxmlformats.org/officeDocument/2006/relationships/image" Target="/ppt/media/image8.png" Id="R289a279bf7814f58" /><Relationship Type="http://schemas.openxmlformats.org/officeDocument/2006/relationships/notesSlide" Target="/ppt/notesSlides/notesSlide15.xml" Id="R2f37a1775188416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1fcb4d8514628" /><Relationship Type="http://schemas.openxmlformats.org/officeDocument/2006/relationships/image" Target="/ppt/media/image9.png" Id="Rac4bc51d55e94bb3" /><Relationship Type="http://schemas.openxmlformats.org/officeDocument/2006/relationships/notesSlide" Target="/ppt/notesSlides/notesSlide16.xml" Id="Rcee3a8066d0841b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a5e09f6ead4273" /><Relationship Type="http://schemas.openxmlformats.org/officeDocument/2006/relationships/notesSlide" Target="/ppt/notesSlides/notesSlide17.xml" Id="R1123d4ad4ba044c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0300957c894f57" /><Relationship Type="http://schemas.openxmlformats.org/officeDocument/2006/relationships/notesSlide" Target="/ppt/notesSlides/notesSlide18.xml" Id="Re914772f2da24b7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27f8e11fd420d" /><Relationship Type="http://schemas.openxmlformats.org/officeDocument/2006/relationships/notesSlide" Target="/ppt/notesSlides/notesSlide19.xml" Id="R26356ee1d442432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0b701bfdd4aa7" /><Relationship Type="http://schemas.openxmlformats.org/officeDocument/2006/relationships/image" Target="/ppt/media/image10.png" Id="Rea91341bf18248b7" /><Relationship Type="http://schemas.openxmlformats.org/officeDocument/2006/relationships/notesSlide" Target="/ppt/notesSlides/notesSlide20.xml" Id="R9c2847b111394c8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430c2453c147d8" /><Relationship Type="http://schemas.openxmlformats.org/officeDocument/2006/relationships/image" Target="/ppt/media/image11.png" Id="Rf1cee17a749742af" /><Relationship Type="http://schemas.openxmlformats.org/officeDocument/2006/relationships/notesSlide" Target="/ppt/notesSlides/notesSlide21.xml" Id="R463c0a5ddf58483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224c0bf6a4ea4" /><Relationship Type="http://schemas.openxmlformats.org/officeDocument/2006/relationships/image" Target="/ppt/media/image12.png" Id="R1cdc019cc28c4648" /><Relationship Type="http://schemas.openxmlformats.org/officeDocument/2006/relationships/notesSlide" Target="/ppt/notesSlides/notesSlide22.xml" Id="R725bd09044b1400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62b02b1b04a85" /><Relationship Type="http://schemas.openxmlformats.org/officeDocument/2006/relationships/notesSlide" Target="/ppt/notesSlides/notesSlide23.xml" Id="Rcc24ef4b99e24ce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fdf6de08a4c05" /><Relationship Type="http://schemas.openxmlformats.org/officeDocument/2006/relationships/notesSlide" Target="/ppt/notesSlides/notesSlide24.xml" Id="R8b42b12cd3d94c0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03e6e60bd4ee9" /><Relationship Type="http://schemas.openxmlformats.org/officeDocument/2006/relationships/notesSlide" Target="/ppt/notesSlides/notesSlide25.xml" Id="R51eee34569ce45b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f24d76c8f649ea" /><Relationship Type="http://schemas.openxmlformats.org/officeDocument/2006/relationships/image" Target="/ppt/media/image13.png" Id="R0ae3be0cccb447e3" /><Relationship Type="http://schemas.openxmlformats.org/officeDocument/2006/relationships/notesSlide" Target="/ppt/notesSlides/notesSlide26.xml" Id="Rd197d65fc3b142a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fa9747c394c0a" /><Relationship Type="http://schemas.openxmlformats.org/officeDocument/2006/relationships/image" Target="/ppt/media/image14.png" Id="R0dfa96f2513646e1" /><Relationship Type="http://schemas.openxmlformats.org/officeDocument/2006/relationships/notesSlide" Target="/ppt/notesSlides/notesSlide27.xml" Id="Re461ef535c974b0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e93a98eadf47f3" /><Relationship Type="http://schemas.openxmlformats.org/officeDocument/2006/relationships/image" Target="/ppt/media/image15.png" Id="R73bedb1da1d04027" /><Relationship Type="http://schemas.openxmlformats.org/officeDocument/2006/relationships/notesSlide" Target="/ppt/notesSlides/notesSlide28.xml" Id="R8fcbc413e046454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78905f98914864" /><Relationship Type="http://schemas.openxmlformats.org/officeDocument/2006/relationships/image" Target="/ppt/media/image16.png" Id="Rc767c798367e4772" /><Relationship Type="http://schemas.openxmlformats.org/officeDocument/2006/relationships/notesSlide" Target="/ppt/notesSlides/notesSlide29.xml" Id="R329306dde62a43a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d2165c9064bbd" /><Relationship Type="http://schemas.openxmlformats.org/officeDocument/2006/relationships/notesSlide" Target="/ppt/notesSlides/notesSlide30.xml" Id="R07802e7c17d14a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87F2A-19E1-4D71-8665-A325D369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OPERATOR HYPOTHESIS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4752F-5C3B-406E-860B-425737DD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10001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TSLA descriptive</a:t>
            </a:r>
          </a:p>
          <a:p xmlns:a="http://schemas.openxmlformats.org/drawingml/2006/main">
            <a:pPr algn="l">
              <a:buNone/>
              <a:defRPr sz="60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microscope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C665E-F0B1-4B7F-B98C-E0352166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0"/>
            <a:ext cx="1238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A5C4CF-93D0-4941-8B4C-E3E2BA10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29150"/>
            <a:ext cx="8286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From visual intuition to measured daily-return dependence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A5C7-3D69-4D62-9FC3-A69A478B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 | Descriptive research only</a:t>
            </a:r>
          </a:p>
        </p:txBody>
      </p:sp>
    </p:spTree>
    <p:extLst>
      <p:ext uri="{BB962C8B-B14F-4D97-AF65-F5344CB8AC3E}">
        <p14:creationId xmlns:p14="http://schemas.microsoft.com/office/powerpoint/2010/main" val="15019786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2">
            <a:extLst xmlns:a="http://schemas.openxmlformats.org/drawingml/2006/main">
              <a:ext uri="{FF2B5EF4-FFF2-40B4-BE49-F238E27FC236}">
                <a16:creationId xmlns:a16="http://schemas.microsoft.com/office/drawing/2014/main" id="{EABBA6E1-F45F-441D-A600-8142D7D3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175C8CBF-2952-45DB-A51C-31B8AB27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lane starts with description, not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D8AFB-8939-414E-BF70-4C44373B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2">
            <a:extLst xmlns:a="http://schemas.openxmlformats.org/drawingml/2006/main">
              <a:ext uri="{FF2B5EF4-FFF2-40B4-BE49-F238E27FC236}">
                <a16:creationId xmlns:a16="http://schemas.microsoft.com/office/drawing/2014/main" id="{DAFEC4F1-50D5-4693-B6C1-AC113863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2">
            <a:extLst xmlns:a="http://schemas.openxmlformats.org/drawingml/2006/main">
              <a:ext uri="{FF2B5EF4-FFF2-40B4-BE49-F238E27FC236}">
                <a16:creationId xmlns:a16="http://schemas.microsoft.com/office/drawing/2014/main" id="{EF6CAA23-BA21-472E-986D-D98B4D1F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F66DD-540D-476F-A7F5-02147E71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192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74F55B-1446-4F42-BD1E-8FAB2CF5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8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See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1277C-2532-4E5C-8906-6DB6877B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621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Start with raw price and return geometry before deciding what relationship ought to exist.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372FE-75A4-4E6C-8C5E-5569ECB2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289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14A25A-AA62-4D50-B30F-5346853D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289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9AF01F-0357-4FCE-9139-7DACD43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Name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3BF40-3714-43F0-ACA7-13D0F829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718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Separate direction, magnitude, path shape, and volatility so one visual impression does not stand in for all four.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591B6-C755-4D50-BB99-DA5C68C1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386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B0F103-9237-4C60-86EF-786CECE7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839DF-980D-4991-A539-25BA44F4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005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Measure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A18768-8500-49CC-AD63-3A41DD66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81500"/>
            <a:ext cx="6667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Quantify one frozen relationship at a time; only later ask whether a finding predicts, trades, or transports.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35A8B2-7CB6-4F65-9360-0E168549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4830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465094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question, one fixed sample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r[t] = log(C[t] / C[t-1])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Each row pairs yesterday's adjusted close-to-close log return with today's.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1,509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consecutive-session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Price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Target sessions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Search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alternate lag or horizon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Trading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8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policy or performance calculation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No post-2023 data read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raw cloud has no clear directional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7f769338e45a4"/>
          <a:stretch xmlns:a="http://schemas.openxmlformats.org/drawingml/2006/main"/>
        </p:blipFill>
        <p:spPr>
          <a:xfrm xmlns:a="http://schemas.openxmlformats.org/drawingml/2006/main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172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First look: no fitted line, correlation, p-value, binning, or outlier removal.</a:t>
            </a:r>
          </a:p>
        </p:txBody>
      </p:sp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ection-5">
            <a:extLst xmlns:a="http://schemas.openxmlformats.org/drawingml/2006/main">
              <a:ext uri="{FF2B5EF4-FFF2-40B4-BE49-F238E27FC236}">
                <a16:creationId xmlns:a16="http://schemas.microsoft.com/office/drawing/2014/main" id="{7D217279-BBB9-4442-BD43-E35AFD380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CF70291-6FC2-4F25-8EF7-C5343297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labels path shape—not volatility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8E3755-2109-4A95-AAD7-09D4B54C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5">
            <a:extLst xmlns:a="http://schemas.openxmlformats.org/drawingml/2006/main">
              <a:ext uri="{FF2B5EF4-FFF2-40B4-BE49-F238E27FC236}">
                <a16:creationId xmlns:a16="http://schemas.microsoft.com/office/drawing/2014/main" id="{3D616FCB-FD1B-4926-8056-5988E7D3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5">
            <a:extLst xmlns:a="http://schemas.openxmlformats.org/drawingml/2006/main">
              <a:ext uri="{FF2B5EF4-FFF2-40B4-BE49-F238E27FC236}">
                <a16:creationId xmlns:a16="http://schemas.microsoft.com/office/drawing/2014/main" id="{7E3BECCF-F54F-4D27-BB58-7ED6274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6C60D3-C5F7-4C39-991D-FB86EB75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81125"/>
            <a:ext cx="8572500" cy="481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1943bf56324648"/>
          <a:stretch xmlns:a="http://schemas.openxmlformats.org/drawingml/2006/main"/>
        </p:blipFill>
        <p:spPr>
          <a:xfrm xmlns:a="http://schemas.openxmlformats.org/drawingml/2006/main">
            <a:off x="325967" y="1381125"/>
            <a:ext cx="8568267" cy="48196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B493DE-9AA4-4FF1-8BE2-28F352E8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811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B1C17-35A6-411A-A67C-A4A72F63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38350"/>
            <a:ext cx="24003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Absolute 20-session endpoint displacement divided by the total log-price path traveled.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6C96CB-CC04-417E-9ADF-6D8B711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2CCFF6-12C5-4DA0-960D-99266D20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67150"/>
            <a:ext cx="24003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Green recognizes efficient rises and declines. Red marks a locally choppy path. Daily thresholding is visibly flickery near transitions.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076C-14CF-4CC6-9A1F-9DE2F654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715000"/>
            <a:ext cx="2400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B62FEB-4FFC-484D-8635-E7157EEB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2400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Descriptive state—not a future-return claim</a:t>
            </a:r>
          </a:p>
        </p:txBody>
      </p:sp>
    </p:spTree>
    <p:extLst>
      <p:ext uri="{BB962C8B-B14F-4D97-AF65-F5344CB8AC3E}">
        <p14:creationId xmlns:p14="http://schemas.microsoft.com/office/powerpoint/2010/main" val="3171913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MEASUREMENT PASS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visual cloud asks one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precise next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r[t-1] contain measurable information about r[t]?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Primary: signed linear dependence. Diagnostics: rank, sign, outliers, annual stability, and absolute-return persistence.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Signed dependence is effectively zero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59fa0b30344a67"/>
          <a:stretch xmlns:a="http://schemas.openxmlformats.org/drawingml/2006/main"/>
        </p:blipFill>
        <p:spPr>
          <a:xfrm xmlns:a="http://schemas.openxmlformats.org/drawingml/2006/main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-0.021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[-0.073, +0.028]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block-bootstrap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0.044%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R-squared: variance explained</a:t>
            </a:r>
          </a:p>
        </p:txBody>
      </p:sp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Yesterday's sign barely changes tomorrow's odds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b74b356914a8a"/>
          <a:stretch xmlns:a="http://schemas.openxmlformats.org/drawingml/2006/main"/>
        </p:blipFill>
        <p:spPr>
          <a:xfrm xmlns:a="http://schemas.openxmlformats.org/drawingml/2006/main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52.9%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down day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52.1%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up after a prior up day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Difference: -0.7 percentage points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interval: -5.8 to +4.2 pp</a:t>
            </a:r>
          </a:p>
        </p:txBody>
      </p:sp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ection-9">
            <a:extLst xmlns:a="http://schemas.openxmlformats.org/drawingml/2006/main">
              <a:ext uri="{FF2B5EF4-FFF2-40B4-BE49-F238E27FC236}">
                <a16:creationId xmlns:a16="http://schemas.microsoft.com/office/drawing/2014/main" id="{EBA183BA-1F33-43C2-A340-16B1E99A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0663B6F4-658E-4DE8-898E-470A7CF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signed result stays weak under obvious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D2132A-BB30-4209-B894-FCC20F4F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9">
            <a:extLst xmlns:a="http://schemas.openxmlformats.org/drawingml/2006/main">
              <a:ext uri="{FF2B5EF4-FFF2-40B4-BE49-F238E27FC236}">
                <a16:creationId xmlns:a16="http://schemas.microsoft.com/office/drawing/2014/main" id="{5B6CFEAA-57C7-4EA4-BAF7-395EC1B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9">
            <a:extLst xmlns:a="http://schemas.openxmlformats.org/drawingml/2006/main">
              <a:ext uri="{FF2B5EF4-FFF2-40B4-BE49-F238E27FC236}">
                <a16:creationId xmlns:a16="http://schemas.microsoft.com/office/drawing/2014/main" id="{0A964CCF-1375-4C63-86E0-327EA665B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3A4194-DA3D-4FE2-8903-084599EE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428750"/>
            <a:ext cx="8096250" cy="481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88488bccb44203"/>
          <a:stretch xmlns:a="http://schemas.openxmlformats.org/drawingml/2006/main"/>
        </p:blipFill>
        <p:spPr>
          <a:xfrm xmlns:a="http://schemas.openxmlformats.org/drawingml/2006/main">
            <a:off x="588479" y="1428750"/>
            <a:ext cx="7528891" cy="4810125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E547BA-6B5C-4F5A-B4E4-FD99AACD6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6573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Rank check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2C0B40-DAFE-4C66-8136-964E51E1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1455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Spearman rho = -0.004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interval: -0.054 to +0.044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A331B-1B89-49FE-BD19-54F1DD62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8135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140A0-2615-4B81-99CA-0D43FAA4B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671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Outlier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7EB45D-DC9C-458B-93BD-1FA8026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66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changes from -0.021 to -0.008 after fixed 1%/99% winsorization.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C736D-ABB7-461A-92C1-B5147946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05400"/>
            <a:ext cx="266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4633C-EE8B-411B-A503-F65ADB1D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3911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Every annual HAC interval crosses zero.</a:t>
            </a:r>
          </a:p>
        </p:txBody>
      </p:sp>
    </p:spTree>
    <p:extLst>
      <p:ext uri="{BB962C8B-B14F-4D97-AF65-F5344CB8AC3E}">
        <p14:creationId xmlns:p14="http://schemas.microsoft.com/office/powerpoint/2010/main" val="201621491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ection-10">
            <a:extLst xmlns:a="http://schemas.openxmlformats.org/drawingml/2006/main">
              <a:ext uri="{FF2B5EF4-FFF2-40B4-BE49-F238E27FC236}">
                <a16:creationId xmlns:a16="http://schemas.microsoft.com/office/drawing/2014/main" id="{956D329C-4E71-4503-8472-54BE364C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35EE1E91-CEDB-4B30-9B21-3743CDB4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 persistence is modest—and different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60048C-412A-4DAD-943D-CBFA422C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0">
            <a:extLst xmlns:a="http://schemas.openxmlformats.org/drawingml/2006/main">
              <a:ext uri="{FF2B5EF4-FFF2-40B4-BE49-F238E27FC236}">
                <a16:creationId xmlns:a16="http://schemas.microsoft.com/office/drawing/2014/main" id="{81D14FDE-48EA-4462-90E0-D7741C25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0">
            <a:extLst xmlns:a="http://schemas.openxmlformats.org/drawingml/2006/main">
              <a:ext uri="{FF2B5EF4-FFF2-40B4-BE49-F238E27FC236}">
                <a16:creationId xmlns:a16="http://schemas.microsoft.com/office/drawing/2014/main" id="{CC0DEE07-9BBD-42F7-A366-FBFDE2A0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B6EAE5-9A3B-4831-A518-2BC1EB25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47800"/>
            <a:ext cx="8096250" cy="474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bc2161bcbf44d9"/>
          <a:stretch xmlns:a="http://schemas.openxmlformats.org/drawingml/2006/main"/>
        </p:blipFill>
        <p:spPr>
          <a:xfrm xmlns:a="http://schemas.openxmlformats.org/drawingml/2006/main">
            <a:off x="342900" y="1458119"/>
            <a:ext cx="8096250" cy="4722813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70912-AFA7-4777-B92E-0384D9D3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2762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98846-1713-4B00-B11B-C6CA4C6C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76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6DE226-2BE8-4FE8-ABF8-EF99CFFE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752600"/>
            <a:ext cx="2305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+0.107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CCFCB-521D-4ED8-B91A-B3885201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419350"/>
            <a:ext cx="2305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Pearson correlation of |r[t-1]| and |r[t]|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1EFCBD-B9ED-4C50-8E82-6B73D26F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71850"/>
            <a:ext cx="2362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block interval</a:t>
            </a:r>
          </a:p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+0.033 to +0.168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F3178D-BD60-4112-9050-39949302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862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399B8-7059-4CEF-8F2B-1A634DB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5339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0EC0EC-804C-451F-B37D-6CBD9395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3622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36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decile pattern is not monotonic; rank correlation is only +0.053 and its interval crosses zero. This is a clue about turbulence—not direction.</a:t>
            </a:r>
          </a:p>
        </p:txBody>
      </p:sp>
    </p:spTree>
    <p:extLst>
      <p:ext uri="{BB962C8B-B14F-4D97-AF65-F5344CB8AC3E}">
        <p14:creationId xmlns:p14="http://schemas.microsoft.com/office/powerpoint/2010/main" val="18800665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this first measurement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SIGNED RETURN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79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measurable adjacent-session continuation or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-0.021; direction difference -0.7 pp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PATH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usefully describes trend versus chop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Direction-agnostic, lagging, and flickery near transitions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RETURN MAGNITUDE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modest persistence clue remains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Absolute-return Pearson +0.107; non-monotonic diagnostic pattern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yesterday's return magnitude forecast tomorrow's magnitude on a separately frozen surface?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one session is simply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too noisy?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Aggregate the past. Aggregate the future. Keep the boundary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Predeclared prior and forward horizons: 1, 2, 3, 4, 5, 10, 15, 20, and 25 sessions. No cell becomes a strategy.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fixed 9 x 9 surface tests aggregation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R-(p)  versus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prior window ends at the anchor close. The forward window begins after it—no return interval appears on both sides.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predeclared horizon pairs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boundaries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Bars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Alpaca SIP adjusted daily close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Horizons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1, 2, 3, 4, 5, 10, 15, 20, 25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Sample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2018-01-02 through 2023-12-29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Overlap-aware Newey-West / HAC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Multiplicity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BH-FDR plus Bonferroni across 81 cells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Aggregation reveals a weak 5–10-session 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Pearson correlation matrix; no BH-FDR q-value is below 0.05.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294c17730419d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ridge is weak and statistically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+0.092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Pearson: 5 prior / 10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38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[-0.003, +0.188]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95% overlap-aware HAC interval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0.852%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maximum R-squared across 81 cells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a279bf7814f58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ection-8">
            <a:extLst xmlns:a="http://schemas.openxmlformats.org/drawingml/2006/main">
              <a:ext uri="{FF2B5EF4-FFF2-40B4-BE49-F238E27FC236}">
                <a16:creationId xmlns:a16="http://schemas.microsoft.com/office/drawing/2014/main" id="{FC99BA28-64AB-43E8-BE2C-0E05781D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56141AD-6D41-4B04-9458-2EFEFD0C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Direction differences also fail the 81-cell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9B866E-F8EC-4822-8F75-8738AE57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8">
            <a:extLst xmlns:a="http://schemas.openxmlformats.org/drawingml/2006/main">
              <a:ext uri="{FF2B5EF4-FFF2-40B4-BE49-F238E27FC236}">
                <a16:creationId xmlns:a16="http://schemas.microsoft.com/office/drawing/2014/main" id="{60B7304E-4F61-40B8-9568-3A46AA06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8">
            <a:extLst xmlns:a="http://schemas.openxmlformats.org/drawingml/2006/main">
              <a:ext uri="{FF2B5EF4-FFF2-40B4-BE49-F238E27FC236}">
                <a16:creationId xmlns:a16="http://schemas.microsoft.com/office/drawing/2014/main" id="{A2FDA8B5-1121-4016-B34F-180F19066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9974A-1518-4857-8A86-2EF378C5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66850"/>
            <a:ext cx="790575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8CD61-4D23-41B7-A67E-B50BFA3C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C5ED96-F82C-4CF6-8B54-F372EF0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954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B25F14-87B4-4B00-A519-E1B45B89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8669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+8.1 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C7F50-11E4-4D99-A2B2-ED17DA9ED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336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raw-sign difference with p &lt; 0.05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03A160-F567-45AF-99BA-FC078BEA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2857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71FC31-69FB-4152-99F6-85AD4E4D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3718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9501F-EB23-41C7-BC9F-0DCAF5ED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2400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5E9C93-AD93-49F0-B4EC-ABFC15BE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100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direction cells with BH-FDR q &lt; 0.05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17DD6F-8CEE-4A90-8BD6-690A4FB4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219700"/>
            <a:ext cx="2667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Best raw direction p = 0.025 at 10 prior / 3 forward.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BH q = 0.554; nested horizons share data.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4bc51d55e94bb3"/>
          <a:stretch xmlns:a="http://schemas.openxmlformats.org/drawingml/2006/main"/>
        </p:blipFill>
        <p:spPr>
          <a:xfrm xmlns:a="http://schemas.openxmlformats.org/drawingml/2006/main" flipH="0" flipV="0">
            <a:off x="381000" y="1494631"/>
            <a:ext cx="7905750" cy="46116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4363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survives the aggregation 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GRID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03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coherent positive ridge appears near 5–10 sessions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Pearson +0.092 at 5 prior / 10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621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Every signed-return interval still includes zero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BH-FDR or Bonferroni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DIRECTION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49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Probability shifts are larger but not multiplicity-stable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Best raw p=0.025; BH q=0.554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Does the 5–10-session ridge deserve one frozen replication, or does this descriptive lane stop here?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REGIME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if aggregation mixes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incompatible path states?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Use the ER20 color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 and green inherit the prior POC's fixed 20-session metric and 0.30 cutoff.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ER20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anchor is labeled from closes through t. Prior return ends at t; following return begins after 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fixed path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20-session log-price 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&lt; 0.30 (sideways)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&gt;= 0.30 (trending)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State known at anchor close 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Caution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ER20 and prior return share trailing price data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ER20 states expose a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Red/sideways matrix; strongest cell +0.173 at 15 prior / 5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1341bf18248b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Green ER20 states suppress the positive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Green/trending matrix; long/long cells turn negative; strongest absolute cell -0.154.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cee17a749742af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state split is coherent, but unresolved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-0.231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15 prior / 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 = 0.029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raw HAC slope-interaction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0 / 81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interaction cells with BH-FDR q &lt; 0.05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c019cc28c4648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ER20 changes the map, but not the evidentiary stop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RED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positive island appears around 10–15 prior / 3–10 forward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+0.173 at 15 prior / 5 forward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GREEN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same island is muted or reversed; long/long turns negative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15 / 5 = -0.058; 25 / 25 = -0.154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UNCERTAINTY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No regime-specific or interaction result survives the scan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0/81 red; 0/81 green; 0/81 interactions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Next narrow question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Freeze 15-prior / 5-forward for separate replication—or first test a regime filter less entangled with prior return?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BC51E6-6E84-4C1E-8D3E-0D1B2AD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VOLATILITY CONDITIONING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BD659-315B-4902-8A62-88F3460E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movement capacity separate</a:t>
            </a:r>
          </a:p>
          <a:p xmlns:a="http://schemas.openxmlformats.org/drawingml/2006/main">
            <a:pPr algn="l">
              <a:buNone/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continuation from reversal?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8F8D12-F796-4339-A513-DF003E6E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5830B-E6EE-4175-94D1-A484215C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923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643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Reuse the accepted ATR% state already known at the anchor close.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B3AAD9-855C-47E7-9BA0-F94B71F3F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19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LOW, MEDIUM, and HIGH inherit HYP-REG-01.1's fixed causal classifier. No threshold search.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2559-6393-4E7F-A448-E057839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024806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3">
            <a:extLst xmlns:a="http://schemas.openxmlformats.org/drawingml/2006/main">
              <a:ext uri="{FF2B5EF4-FFF2-40B4-BE49-F238E27FC236}">
                <a16:creationId xmlns:a16="http://schemas.microsoft.com/office/drawing/2014/main" id="{D21E8F50-BA1C-4536-B715-AAD5A74E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622D00AB-54E7-40F8-BC73-9A3D2344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639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Condition on accepted ATR% before reading the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77435-894D-461F-A4F7-CD91DF8A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3">
            <a:extLst xmlns:a="http://schemas.openxmlformats.org/drawingml/2006/main">
              <a:ext uri="{FF2B5EF4-FFF2-40B4-BE49-F238E27FC236}">
                <a16:creationId xmlns:a16="http://schemas.microsoft.com/office/drawing/2014/main" id="{FC53CCFE-82C8-49A0-BC48-206B3BC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3">
            <a:extLst xmlns:a="http://schemas.openxmlformats.org/drawingml/2006/main">
              <a:ext uri="{FF2B5EF4-FFF2-40B4-BE49-F238E27FC236}">
                <a16:creationId xmlns:a16="http://schemas.microsoft.com/office/drawing/2014/main" id="{B9F045FD-2505-4635-89F0-EDCD31EF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133C9-969B-4370-A80C-D9B73CA5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5429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State[t]  then  R+(f)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8EB97-B391-424E-82EB-0DEEC881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24150"/>
            <a:ext cx="5048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ATR% state is assigned at anchor close t. Prior return ends at t; following return begins after t. It measures capacity—not direction.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10794-EB76-4BB0-B74E-31375B6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49530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34C39-6D46-429B-A2ED-F97A068A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3D83BD-5D8C-4BCB-B02F-81EB7416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449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8569D-B256-4A8E-9334-C068F398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4495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accepted volatility states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9CAED-155E-4498-A477-F11A6F4A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conditioning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8E2E5-6744-4962-977E-E85B4891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D2958-8D30-49E2-9398-075A839B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860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Wilder ATR14 / close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F0B4C3-3792-489F-A37E-FD53597F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432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68646-6439-4EB2-88F0-0C08EDC1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76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87A9A-C6B3-4232-84C2-9C442CAD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765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Prior 252 completed sessions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822C36-1982-4EF0-A9F3-89DAA8EA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337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A764C4-9BB1-4E82-A1F0-6E930868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States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A04E11-771F-482D-97D0-41D18323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671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LOW / MEDIUM / 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EA1D46-2EB0-459D-9313-BA82DEAD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0A15B-41F8-429C-8446-F9003B5B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57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Hysteresis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3F5128-0043-4265-B48A-E7E4E9B6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30/40 and 60/70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63F79-B572-4EF7-8C82-E4140C6E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1485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8FD0A4-5938-4ECC-AC99-49139123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482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Timing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292260-C22B-4C56-9ED9-C8744785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Known at anchor close 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617A11-8542-47F5-AD42-16C68CB8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05400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58514-91F0-4BFE-BE7D-A95A1C82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387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3C58E3-8C22-4D23-8076-93E17357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38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Same 81 horizon pairs</a:t>
            </a:r>
          </a:p>
        </p:txBody>
      </p:sp>
    </p:spTree>
    <p:extLst>
      <p:ext uri="{BB962C8B-B14F-4D97-AF65-F5344CB8AC3E}">
        <p14:creationId xmlns:p14="http://schemas.microsoft.com/office/powerpoint/2010/main" val="139728336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LOW ATR% is broadly positive, but no cell passes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strongest +0.198 at 10 prior / 25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e3be0cccb447e3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73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MEDIUM ATR% contains the stable continuation island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All 81 cells positive; 21/81 within-state BH passes; strict survivors cluster at 5–10 prior / 2–3 forward.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fa96f2513646e1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ection-4">
            <a:extLst xmlns:a="http://schemas.openxmlformats.org/drawingml/2006/main">
              <a:ext uri="{FF2B5EF4-FFF2-40B4-BE49-F238E27FC236}">
                <a16:creationId xmlns:a16="http://schemas.microsoft.com/office/drawing/2014/main" id="{8AE0A271-669A-49F0-A82E-C4438BEE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50C6F92F-721A-4252-9CF8-B5C9B01C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ATR% flips the surface toward reversal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399F2-4D0A-4337-B17E-DB3599DC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4">
            <a:extLst xmlns:a="http://schemas.openxmlformats.org/drawingml/2006/main">
              <a:ext uri="{FF2B5EF4-FFF2-40B4-BE49-F238E27FC236}">
                <a16:creationId xmlns:a16="http://schemas.microsoft.com/office/drawing/2014/main" id="{BF8B82CA-1E48-4669-BAD8-1FF8C09F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4">
            <a:extLst xmlns:a="http://schemas.openxmlformats.org/drawingml/2006/main">
              <a:ext uri="{FF2B5EF4-FFF2-40B4-BE49-F238E27FC236}">
                <a16:creationId xmlns:a16="http://schemas.microsoft.com/office/drawing/2014/main" id="{05959AEC-B0A5-45F0-A65B-C94C3E5A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8DEA29-E57D-4C8D-8538-2028FF89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52550"/>
            <a:ext cx="10191750" cy="490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6A5F2-8CC4-4151-9BDB-346D47A3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cells negative; strongest -0.301 at 20 prior / 20 forward; 0/81 within-state BH passes.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bedb1da1d04027"/>
          <a:stretch xmlns:a="http://schemas.openxmlformats.org/drawingml/2006/main"/>
        </p:blipFill>
        <p:spPr>
          <a:xfrm xmlns:a="http://schemas.openxmlformats.org/drawingml/2006/main" flipH="0" flipV="0">
            <a:off x="2942545" y="1352550"/>
            <a:ext cx="6306911" cy="4905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7238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7">
            <a:extLst xmlns:a="http://schemas.openxmlformats.org/drawingml/2006/main">
              <a:ext uri="{FF2B5EF4-FFF2-40B4-BE49-F238E27FC236}">
                <a16:creationId xmlns:a16="http://schemas.microsoft.com/office/drawing/2014/main" id="{BAC8373F-594E-467B-A8F8-56439CEB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7592E6E5-EA60-427F-BAB4-42C154D8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and MEDIUM contain direct state differences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52E1AC-5CE8-4847-87B1-81C28A4E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7">
            <a:extLst xmlns:a="http://schemas.openxmlformats.org/drawingml/2006/main">
              <a:ext uri="{FF2B5EF4-FFF2-40B4-BE49-F238E27FC236}">
                <a16:creationId xmlns:a16="http://schemas.microsoft.com/office/drawing/2014/main" id="{4896B590-20BC-4B46-9282-D9F5A22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7">
            <a:extLst xmlns:a="http://schemas.openxmlformats.org/drawingml/2006/main">
              <a:ext uri="{FF2B5EF4-FFF2-40B4-BE49-F238E27FC236}">
                <a16:creationId xmlns:a16="http://schemas.microsoft.com/office/drawing/2014/main" id="{1503EFAF-F487-4981-AFDC-23F1B41A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A770DD-55E6-42DB-942A-6938E642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428750"/>
            <a:ext cx="767715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5D1653-1738-47C8-BFA1-9C939028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11094-04B5-4E98-9749-4F832E6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5049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9A327-4374-4B4E-A3BA-F8E01649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-0.548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341AE3-547D-4111-ADFF-14E5545F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431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largest correlation change: 25 prior / 15 forward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7B1C2D-BD18-4B6C-8DC8-10694F2F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050CC-5568-4F8A-B026-EC7B8AB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432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FF9D4-D051-476B-B68A-15DCA6B4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3147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q = 0.038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DFBB46-08D6-4497-AA7C-C2049757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814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within HIGH-minus-MEDIUM family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D61CC-6E5E-49EC-A5F6-E861E856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3143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solidFill>
              <a:srgbClr val="EDED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35608E-4DDE-41BA-8DF2-831CF41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76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548"/>
          </a:solidFill>
          <a:ln xmlns:a="http://schemas.openxmlformats.org/drawingml/2006/main" w="0">
            <a:solidFill>
              <a:srgbClr val="27354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A976D-39D1-4C6C-803F-0D3F8BAE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53000"/>
            <a:ext cx="2686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3 / 243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1E116E-13CC-4735-B31A-B5C1846B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19750"/>
            <a:ext cx="2686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548"/>
                </a:solidFill>
                <a:latin typeface="Arial"/>
                <a:ea typeface="Arial"/>
                <a:cs typeface="Arial"/>
              </a:rPr>
              <a:t>pairwise cells surviving strict omnibus BH</a:t>
            </a:r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7c798367e4772"/>
          <a:stretch xmlns:a="http://schemas.openxmlformats.org/drawingml/2006/main"/>
        </p:blipFill>
        <p:spPr>
          <a:xfrm xmlns:a="http://schemas.openxmlformats.org/drawingml/2006/main" flipH="0" flipV="0">
            <a:off x="609600" y="1428750"/>
            <a:ext cx="714375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17070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ection-11">
            <a:extLst xmlns:a="http://schemas.openxmlformats.org/drawingml/2006/main">
              <a:ext uri="{FF2B5EF4-FFF2-40B4-BE49-F238E27FC236}">
                <a16:creationId xmlns:a16="http://schemas.microsoft.com/office/drawing/2014/main" id="{272ED433-B59C-436C-9DFB-4D317B90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67384"/>
                </a:solidFill>
                <a:latin typeface="Arial"/>
                <a:ea typeface="Arial"/>
                <a:cs typeface="Arial"/>
              </a:rPr>
              <a:t>TSLA DESCRIPTIVE MICROSCOPE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EC40708-7E00-432C-8ECE-907FA570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"/>
            <a:ext cx="11277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324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ATR% changes the map—and leaves a replication candidate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A0FCE-75E8-41EF-A76A-23E9E212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footer-left-11">
            <a:extLst xmlns:a="http://schemas.openxmlformats.org/drawingml/2006/main">
              <a:ext uri="{FF2B5EF4-FFF2-40B4-BE49-F238E27FC236}">
                <a16:creationId xmlns:a16="http://schemas.microsoft.com/office/drawing/2014/main" id="{700DA765-80E0-4197-8700-00D867B8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151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Adjusted daily TSLA | 2018-2023</a:t>
            </a:r>
          </a:p>
        </p:txBody>
      </p:sp>
      <p:sp>
        <p:nvSpPr>
          <p:cNvPr id="5" name="footer-number-11">
            <a:extLst xmlns:a="http://schemas.openxmlformats.org/drawingml/2006/main">
              <a:ext uri="{FF2B5EF4-FFF2-40B4-BE49-F238E27FC236}">
                <a16:creationId xmlns:a16="http://schemas.microsoft.com/office/drawing/2014/main" id="{83896276-4112-4532-AF7C-776C67C5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9605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F4BA85-46C5-47BD-BA74-EC806E6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002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5756"/>
          </a:solidFill>
          <a:ln xmlns:a="http://schemas.openxmlformats.org/drawingml/2006/main" w="0">
            <a:solidFill>
              <a:srgbClr val="E4575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5B945-9D04-48FA-BA66-96DE813A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45756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45756"/>
                </a:solidFill>
                <a:latin typeface="Arial"/>
                <a:ea typeface="Arial"/>
                <a:cs typeface="Arial"/>
              </a:rPr>
              <a:t>LOW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CF75D-5F23-4C7F-BE9C-764036D0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5621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All cells are positive, but none survive the within-state scan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B76F2-4514-4DD8-934B-ABE42A34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811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Max +0.198; 0/81 BH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4777C3-6D2F-4277-840E-7E984FB4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94CF3F-AD63-423C-8F01-64C50789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0035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F"/>
          </a:solidFill>
          <a:ln xmlns:a="http://schemas.openxmlformats.org/drawingml/2006/main" w="0">
            <a:solidFill>
              <a:srgbClr val="2A9D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53D03-6A7A-4FEE-B242-02BF0319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A9D6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A9D6F"/>
                </a:solidFill>
                <a:latin typeface="Arial"/>
                <a:ea typeface="Arial"/>
                <a:cs typeface="Arial"/>
              </a:rPr>
              <a:t>MEDIUM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1DBE8-EAF6-4492-89E7-5C97A3A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762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A continuation island survives around 5–10 prior / 2–3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F0156-C9E6-4210-8A8A-BFEDD044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21/81 family; 3 strict omnibus passes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6165D-5B65-44DB-99BD-15ED33F9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9095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C0911F-9587-4B19-84C6-11974DB2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952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B53991-F50C-4B95-9F23-DAE86BCE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814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HIGH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ACF3B-08BC-4148-A40A-2004DFB8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624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05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The surface broadly reverses, especially at longer horizons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07D23B-44A2-43C4-9658-4C6E38430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67384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67384"/>
                </a:solidFill>
                <a:latin typeface="Arial"/>
                <a:ea typeface="Arial"/>
                <a:cs typeface="Arial"/>
              </a:rPr>
              <a:t>77/81 negative; max |r| = 0.301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42DFC4-7E22-47E6-8C53-1E63A841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91100"/>
            <a:ext cx="10553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066D54-676B-4D0F-93B6-2152B57E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53050"/>
            <a:ext cx="10877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solidFill>
              <a:srgbClr val="EAF5F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C79AE-EB98-4B5B-B3D3-11ED0D4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Bookmarked next questions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0D60E-6067-4236-80ED-A898A863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864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7354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73548"/>
                </a:solidFill>
                <a:latin typeface="Arial"/>
                <a:ea typeface="Arial"/>
                <a:cs typeface="Arial"/>
              </a:rPr>
              <a:t>Replicate ATR% on a frozen sample. Then split green ER20 into up/down direction and test external market context.</a:t>
            </a:r>
          </a:p>
        </p:txBody>
      </p:sp>
    </p:spTree>
    <p:extLst>
      <p:ext uri="{BB962C8B-B14F-4D97-AF65-F5344CB8AC3E}">
        <p14:creationId xmlns:p14="http://schemas.microsoft.com/office/powerpoint/2010/main" val="666536286"/>
      </p:ext>
    </p:extLst>
  </p:cSld>
</p:sld>
</file>

<file path=ppt/theme/theme1.xml><?xml version="1.0" encoding="utf-8"?>
<a:theme xmlns:a="http://schemas.openxmlformats.org/drawingml/2006/main" name="ChatGPT">
  <a:themeElements>
    <a:clrScheme name="TSLA Descriptive Microscope">
      <a:dk1>
        <a:srgbClr val="000000"/>
      </a:dk1>
      <a:lt1>
        <a:srgbClr val="FFFFFF"/>
      </a:lt1>
      <a:dk2>
        <a:srgbClr val="273548"/>
      </a:dk2>
      <a:lt2>
        <a:srgbClr val="EDEDED"/>
      </a:lt2>
      <a:accent1>
        <a:srgbClr val="3D8DFF"/>
      </a:accent1>
      <a:accent2>
        <a:srgbClr val="2A9D6F"/>
      </a:accent2>
      <a:accent3>
        <a:srgbClr val="E45756"/>
      </a:accent3>
      <a:accent4>
        <a:srgbClr val="6DCBF4"/>
      </a:accent4>
      <a:accent5>
        <a:srgbClr val="7C3AED"/>
      </a:accent5>
      <a:accent6>
        <a:srgbClr val="F59E0B"/>
      </a:accent6>
      <a:hlink>
        <a:srgbClr val="3D8DFF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TSLA Descriptive Microscop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2026-08-25T21:27:56.7490000Z</dcterms:created>
  <dcterms:modified xsi:type="dcterms:W3CDTF">2026-08-25T21:27:56.7500000Z</dcterms:modified>
</coreProperties>
</file>