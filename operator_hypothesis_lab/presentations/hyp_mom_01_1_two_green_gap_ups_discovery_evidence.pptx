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088791c11194492" /><Relationship Type="http://schemas.openxmlformats.org/officeDocument/2006/relationships/extended-properties" Target="/docProps/app.xml" Id="Rd97f82cca26e48e2" /><Relationship Type="http://schemas.openxmlformats.org/officeDocument/2006/relationships/officeDocument" Target="/ppt/presentation.xml" Id="R570862a6561942c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bf17a5071fb4762"/>
  </p:sldMasterIdLst>
  <p:notesMasterIdLst>
    <p:notesMasterId xmlns:r="http://schemas.openxmlformats.org/officeDocument/2006/relationships" r:id="Rb4635d49cec94784"/>
  </p:notesMasterIdLst>
  <p:sldIdLst>
    <p:sldId xmlns:r="http://schemas.openxmlformats.org/officeDocument/2006/relationships" id="256" r:id="Rc16281803a914047"/>
    <p:sldId xmlns:r="http://schemas.openxmlformats.org/officeDocument/2006/relationships" id="257" r:id="Re432056c5b4d4d1d"/>
    <p:sldId xmlns:r="http://schemas.openxmlformats.org/officeDocument/2006/relationships" id="258" r:id="R8ca53657ca81463d"/>
    <p:sldId xmlns:r="http://schemas.openxmlformats.org/officeDocument/2006/relationships" id="259" r:id="R51cfdf127e2c4eca"/>
    <p:sldId xmlns:r="http://schemas.openxmlformats.org/officeDocument/2006/relationships" id="260" r:id="R4c6d34d4fbe34330"/>
    <p:sldId xmlns:r="http://schemas.openxmlformats.org/officeDocument/2006/relationships" id="261" r:id="Rc82956744cf7489c"/>
    <p:sldId xmlns:r="http://schemas.openxmlformats.org/officeDocument/2006/relationships" id="262" r:id="Rafd9f44b7e244f98"/>
    <p:sldId xmlns:r="http://schemas.openxmlformats.org/officeDocument/2006/relationships" id="263" r:id="R623f6b23b8dd4601"/>
    <p:sldId xmlns:r="http://schemas.openxmlformats.org/officeDocument/2006/relationships" id="264" r:id="R7e44340b6db04ca8"/>
    <p:sldId xmlns:r="http://schemas.openxmlformats.org/officeDocument/2006/relationships" id="265" r:id="R52e9a17448fe4cdf"/>
    <p:sldId xmlns:r="http://schemas.openxmlformats.org/officeDocument/2006/relationships" id="266" r:id="R551de9e5af7643a6"/>
    <p:sldId xmlns:r="http://schemas.openxmlformats.org/officeDocument/2006/relationships" id="267" r:id="R1d562175a3f64e12"/>
    <p:sldId xmlns:r="http://schemas.openxmlformats.org/officeDocument/2006/relationships" id="268" r:id="Rb38e8da0264847f3"/>
    <p:sldId xmlns:r="http://schemas.openxmlformats.org/officeDocument/2006/relationships" id="269" r:id="Rd1e87ab3930f4111"/>
    <p:sldId xmlns:r="http://schemas.openxmlformats.org/officeDocument/2006/relationships" id="270" r:id="R0f0022370d91496f"/>
    <p:sldId xmlns:r="http://schemas.openxmlformats.org/officeDocument/2006/relationships" id="271" r:id="R7520eefff38240b1"/>
    <p:sldId xmlns:r="http://schemas.openxmlformats.org/officeDocument/2006/relationships" id="272" r:id="R8438571b86e4424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99bbe1bb96d4d71" /><Relationship Type="http://schemas.openxmlformats.org/officeDocument/2006/relationships/slideMaster" Target="/ppt/slideMasters/slideMaster1.xml" Id="R4bf17a5071fb4762" /><Relationship Type="http://schemas.openxmlformats.org/officeDocument/2006/relationships/notesMaster" Target="/ppt/notesMasters/notesMaster1.xml" Id="Rb4635d49cec94784" /><Relationship Type="http://schemas.openxmlformats.org/officeDocument/2006/relationships/presProps" Target="/ppt/presProps.xml" Id="R42573eb1207d4e41" /><Relationship Type="http://schemas.openxmlformats.org/officeDocument/2006/relationships/tableStyles" Target="/ppt/tableStyles.xml" Id="Ra2057f302098436e" /><Relationship Type="http://schemas.openxmlformats.org/officeDocument/2006/relationships/slide" Target="/ppt/slides/slide1.xml" Id="Rc16281803a914047" /><Relationship Type="http://schemas.openxmlformats.org/officeDocument/2006/relationships/slide" Target="/ppt/slides/slide2.xml" Id="Re432056c5b4d4d1d" /><Relationship Type="http://schemas.openxmlformats.org/officeDocument/2006/relationships/slide" Target="/ppt/slides/slide3.xml" Id="R8ca53657ca81463d" /><Relationship Type="http://schemas.openxmlformats.org/officeDocument/2006/relationships/slide" Target="/ppt/slides/slide4.xml" Id="R51cfdf127e2c4eca" /><Relationship Type="http://schemas.openxmlformats.org/officeDocument/2006/relationships/slide" Target="/ppt/slides/slide5.xml" Id="R4c6d34d4fbe34330" /><Relationship Type="http://schemas.openxmlformats.org/officeDocument/2006/relationships/slide" Target="/ppt/slides/slide6.xml" Id="Rc82956744cf7489c" /><Relationship Type="http://schemas.openxmlformats.org/officeDocument/2006/relationships/slide" Target="/ppt/slides/slide7.xml" Id="Rafd9f44b7e244f98" /><Relationship Type="http://schemas.openxmlformats.org/officeDocument/2006/relationships/slide" Target="/ppt/slides/slide8.xml" Id="R623f6b23b8dd4601" /><Relationship Type="http://schemas.openxmlformats.org/officeDocument/2006/relationships/slide" Target="/ppt/slides/slide9.xml" Id="R7e44340b6db04ca8" /><Relationship Type="http://schemas.openxmlformats.org/officeDocument/2006/relationships/slide" Target="/ppt/slides/slide10.xml" Id="R52e9a17448fe4cdf" /><Relationship Type="http://schemas.openxmlformats.org/officeDocument/2006/relationships/slide" Target="/ppt/slides/slide11.xml" Id="R551de9e5af7643a6" /><Relationship Type="http://schemas.openxmlformats.org/officeDocument/2006/relationships/slide" Target="/ppt/slides/slide12.xml" Id="R1d562175a3f64e12" /><Relationship Type="http://schemas.openxmlformats.org/officeDocument/2006/relationships/slide" Target="/ppt/slides/slide13.xml" Id="Rb38e8da0264847f3" /><Relationship Type="http://schemas.openxmlformats.org/officeDocument/2006/relationships/slide" Target="/ppt/slides/slide14.xml" Id="Rd1e87ab3930f4111" /><Relationship Type="http://schemas.openxmlformats.org/officeDocument/2006/relationships/slide" Target="/ppt/slides/slide15.xml" Id="R0f0022370d91496f" /><Relationship Type="http://schemas.openxmlformats.org/officeDocument/2006/relationships/slide" Target="/ppt/slides/slide16.xml" Id="R7520eefff38240b1" /><Relationship Type="http://schemas.openxmlformats.org/officeDocument/2006/relationships/slide" Target="/ppt/slides/slide17.xml" Id="R8438571b86e4424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afc08d537d841c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2aa1e5bbd62429c" /><Relationship Type="http://schemas.openxmlformats.org/officeDocument/2006/relationships/notesMaster" Target="/ppt/notesMasters/notesMaster1.xml" Id="R5905c6ae330b443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f9ad67a299a4bdc" /><Relationship Type="http://schemas.openxmlformats.org/officeDocument/2006/relationships/notesMaster" Target="/ppt/notesMasters/notesMaster1.xml" Id="R9d8951b7364048d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d045f0f8cd049af" /><Relationship Type="http://schemas.openxmlformats.org/officeDocument/2006/relationships/notesMaster" Target="/ppt/notesMasters/notesMaster1.xml" Id="R062b8a330c914e1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9c341ef029e4f6f" /><Relationship Type="http://schemas.openxmlformats.org/officeDocument/2006/relationships/notesMaster" Target="/ppt/notesMasters/notesMaster1.xml" Id="R65baefe2d70e4fc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ed22ef777564750" /><Relationship Type="http://schemas.openxmlformats.org/officeDocument/2006/relationships/notesMaster" Target="/ppt/notesMasters/notesMaster1.xml" Id="R9eece98bd8f4465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2dd02feb1d540ab" /><Relationship Type="http://schemas.openxmlformats.org/officeDocument/2006/relationships/notesMaster" Target="/ppt/notesMasters/notesMaster1.xml" Id="R235bc5f6f3ae4a2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e93982e6b0542ba" /><Relationship Type="http://schemas.openxmlformats.org/officeDocument/2006/relationships/notesMaster" Target="/ppt/notesMasters/notesMaster1.xml" Id="Rf4379be6a1c840f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9716595a24349a0" /><Relationship Type="http://schemas.openxmlformats.org/officeDocument/2006/relationships/notesMaster" Target="/ppt/notesMasters/notesMaster1.xml" Id="R9efbbd560eeb4f6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a4a176f8eb846bf" /><Relationship Type="http://schemas.openxmlformats.org/officeDocument/2006/relationships/notesMaster" Target="/ppt/notesMasters/notesMaster1.xml" Id="R39795418e14c423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7a7295ba0cd4a15" /><Relationship Type="http://schemas.openxmlformats.org/officeDocument/2006/relationships/notesMaster" Target="/ppt/notesMasters/notesMaster1.xml" Id="Rfcbd0fc65f8b451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5a26035eed0424b" /><Relationship Type="http://schemas.openxmlformats.org/officeDocument/2006/relationships/notesMaster" Target="/ppt/notesMasters/notesMaster1.xml" Id="R1625be1c873143a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dc640113dda4584" /><Relationship Type="http://schemas.openxmlformats.org/officeDocument/2006/relationships/notesMaster" Target="/ppt/notesMasters/notesMaster1.xml" Id="R43b284ac268b42f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3ab7027f479466d" /><Relationship Type="http://schemas.openxmlformats.org/officeDocument/2006/relationships/notesMaster" Target="/ppt/notesMasters/notesMaster1.xml" Id="Rd7bfc4162267439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1785b55ddb94d21" /><Relationship Type="http://schemas.openxmlformats.org/officeDocument/2006/relationships/notesMaster" Target="/ppt/notesMasters/notesMaster1.xml" Id="Rd1fc95b46997411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892712e788a4390" /><Relationship Type="http://schemas.openxmlformats.org/officeDocument/2006/relationships/notesMaster" Target="/ppt/notesMasters/notesMaster1.xml" Id="R060942f71cf545f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eeb12d6e5684dc3" /><Relationship Type="http://schemas.openxmlformats.org/officeDocument/2006/relationships/notesMaster" Target="/ppt/notesMasters/notesMaster1.xml" Id="Rb6a82fccb9a548c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beb3cc577bf48e7" /><Relationship Type="http://schemas.openxmlformats.org/officeDocument/2006/relationships/notesMaster" Target="/ppt/notesMasters/notesMaster1.xml" Id="Rdd7028f24191461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opens the Operator Hypothesis Lab with one minimal operator-origin proposition. The deck teaches the exact timing, shows the reused-window evidence, and closes with disciplined questions rather than a promoted rule.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C:\Users\Franc\OneDrive\Documents\Francis\Peltata Project\Time-Series-Modeling-Gen5\operator_hypothesis_lab\docs\HYP_MOM_01_1_TWO_GREEN_GAP_UPS_DISCOVERY_CONTRACT.md</a:t>
            </a:r>
          </a:p>
          <a:p xmlns:a="http://schemas.openxmlformats.org/drawingml/2006/main">
            <a:r>
              <a:t>- C:\Users\Franc\OneDrive\Documents\Francis\Peltata Project\Time-Series-Modeling-Gen5\runs\research_workbench\operator_hypothesis_lab\hyp_mom_01_1_two_green_gap_ups_discovery_20260803\hyp_mom_01_1_report.md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second candle's color is not known until its close, so a next-open entry is the clean causal translation. Entering earlier would use unfinished information. Five holding intervals means entry at t+1 open and exit at t+6 open.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C:\Users\Franc\OneDrive\Documents\Francis\Peltata Project\Time-Series-Modeling-Gen5\operator_hypothesis_lab\docs\HYP_MOM_01_1_TWO_GREEN_GAP_UPS_DISCOVERY_CONTRACT.md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deck is Discovery only. The familiar 2021–2023 window lets us move quickly and inspect behavior, but the rule cannot become validated by repeatedly reusing it. A later replication must freeze the follow-up before querying distinct data.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C:\Users\Franc\OneDrive\Documents\Francis\Peltata Project\Time-Series-Modeling-Gen5\operator_hypothesis_lab\docs\HYP_MOM_01_1_TWO_GREEN_GAP_UPS_DISCOVERY_CONTRACT.md</a:t>
            </a:r>
          </a:p>
          <a:p xmlns:a="http://schemas.openxmlformats.org/drawingml/2006/main">
            <a:r>
              <a:t>- C:\Users\Franc\OneDrive\Documents\Francis\Peltata Project\Time-Series-Modeling-Gen5\operator_hypothesis_lab\README.md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pooled mean primary-cost trade return is −0.0178%, essentially flat but slightly negative, while the median trade is +0.1566% and 52.6% of trades win. The mismatch is distributional: a small number of larger losses offset the more frequent modest winners. Only NEE beat buy-and-hold.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C:\Users\Franc\OneDrive\Documents\Francis\Peltata Project\Time-Series-Modeling-Gen5\runs\research_workbench\operator_hypothesis_lab\hyp_mom_01_1_two_green_gap_ups_discovery_20260803\hyp_mom_01_1_pooled_summary.csv</a:t>
            </a:r>
          </a:p>
          <a:p xmlns:a="http://schemas.openxmlformats.org/drawingml/2006/main">
            <a:r>
              <a:t>- C:\Users\Franc\OneDrive\Documents\Francis\Peltata Project\Time-Series-Modeling-Gen5\runs\research_workbench\operator_hypothesis_lab\hyp_mom_01_1_two_green_gap_ups_discovery_20260803\hyp_mom_01_1_asset_summary.csv</a:t>
            </a:r>
          </a:p>
          <a:p xmlns:a="http://schemas.openxmlformats.org/drawingml/2006/main">
            <a:r>
              <a:t>- C:\Users\Franc\OneDrive\Documents\Francis\Peltata Project\Time-Series-Modeling-Gen5\runs\research_workbench\operator_hypothesis_lab\hyp_mom_01_1_two_green_gap_ups_discovery_20260803\hyp_mom_01_1_executed_trades.csv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Eleven of twenty-two asset paths were positive, but only NEE exceeded buy-and-hold. Four assets reached at least the 80th matched-random percentile; the cross-sectional median was 34.25%. This is broad evidence against a generic timing advantage in the inspected window.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C:\Users\Franc\OneDrive\Documents\Francis\Peltata Project\Time-Series-Modeling-Gen5\runs\research_workbench\operator_hypothesis_lab\hyp_mom_01_1_two_green_gap_ups_discovery_20260803\hyp_mom_01_1_pooled_summary.csv</a:t>
            </a:r>
          </a:p>
          <a:p xmlns:a="http://schemas.openxmlformats.org/drawingml/2006/main">
            <a:r>
              <a:t>- C:\Users\Franc\OneDrive\Documents\Francis\Peltata Project\Time-Series-Modeling-Gen5\runs\research_workbench\operator_hypothesis_lab\hyp_mom_01_1_two_green_gap_ups_discovery_20260803\hyp_mom_01_1_asset_summary.csv</a:t>
            </a:r>
          </a:p>
          <a:p xmlns:a="http://schemas.openxmlformats.org/drawingml/2006/main">
            <a:r>
              <a:t>- C:\Users\Franc\OneDrive\Documents\Francis\Peltata Project\Time-Series-Modeling-Gen5\runs\research_workbench\operator_hypothesis_lab\hyp_mom_01_1_two_green_gap_ups_discovery_20260803\visuals\asset_return_and_random_control.png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return distribution is centered close to zero with outcomes spanning roughly −15.5% to +12.2%. The exploratory regression line relating the sum of the two gaps to subsequent return is shallow and descriptive. It is not authority to install a minimum gap filter.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C:\Users\Franc\OneDrive\Documents\Francis\Peltata Project\Time-Series-Modeling-Gen5\runs\research_workbench\operator_hypothesis_lab\hyp_mom_01_1_two_green_gap_ups_discovery_20260803\hyp_mom_01_1_executed_trades.csv</a:t>
            </a:r>
          </a:p>
          <a:p xmlns:a="http://schemas.openxmlformats.org/drawingml/2006/main">
            <a:r>
              <a:t>- C:\Users\Franc\OneDrive\Documents\Francis\Peltata Project\Time-Series-Modeling-Gen5\runs\research_workbench\operator_hypothesis_lab\hyp_mom_01_1_two_green_gap_ups_discovery_20260803\visuals\trade_distribution_and_gap_relationship.png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All 22 assets contributed trades in each year. The rule was positive in 2021, negative in 2022, and mildly positive in 2023. This motivates a future question about environment dependence, but choosing a regime filter on these same years would be post-hoc.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C:\Users\Franc\OneDrive\Documents\Francis\Peltata Project\Time-Series-Modeling-Gen5\runs\research_workbench\operator_hypothesis_lab\hyp_mom_01_1_two_green_gap_ups_discovery_20260803\hyp_mom_01_1_calendar_years.csv</a:t>
            </a:r>
          </a:p>
          <a:p xmlns:a="http://schemas.openxmlformats.org/drawingml/2006/main">
            <a:r>
              <a:t>- C:\Users\Franc\OneDrive\Documents\Francis\Peltata Project\Time-Series-Modeling-Gen5\runs\research_workbench\operator_hypothesis_lab\hyp_mom_01_1_two_green_gap_ups_discovery_20260803\visuals\calendar_year_trade_behavior.png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following examples were selected by a frozen, outcome-aware manifest before individual paths were inspected: cross-sectional medoid, highest return, lowest return, highest random percentile, and highest trade count. They are descriptive examples, not frequency estimates or nominees.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C:\Users\Franc\OneDrive\Documents\Francis\Peltata Project\Time-Series-Modeling-Gen5\operator_hypothesis_lab\docs\HYP_MOM_01_1_TWO_GREEN_GAP_UPS_DISCOVERY_CONTRACT.md</a:t>
            </a:r>
          </a:p>
          <a:p xmlns:a="http://schemas.openxmlformats.org/drawingml/2006/main">
            <a:r>
              <a:t>- C:\Users\Franc\OneDrive\Documents\Francis\Peltata Project\Time-Series-Modeling-Gen5\runs\research_workbench\operator_hypothesis_lab\hyp_mom_01_1_two_green_gap_ups_discovery_20260803\hyp_mom_01_1_asset_tape_manifest.csv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SHW is the robust multivariate medoid. Its strategy path lost 6.8% while buy-and-hold gained 31.1%, and it sat at the 30th matched-random percentile. The path repeatedly captured small gains but suffered larger clustered losses.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C:\Users\Franc\OneDrive\Documents\Francis\Peltata Project\Time-Series-Modeling-Gen5\runs\research_workbench\operator_hypothesis_lab\hyp_mom_01_1_two_green_gap_ups_discovery_20260803\hyp_mom_01_1_asset_tape_manifest.csv</a:t>
            </a:r>
          </a:p>
          <a:p xmlns:a="http://schemas.openxmlformats.org/drawingml/2006/main">
            <a:r>
              <a:t>- C:\Users\Franc\OneDrive\Documents\Francis\Peltata Project\Time-Series-Modeling-Gen5\runs\research_workbench\operator_hypothesis_lab\hyp_mom_01_1_two_green_gap_ups_discovery_20260803\hyp_mom_01_1_asset_summary.csv</a:t>
            </a:r>
          </a:p>
          <a:p xmlns:a="http://schemas.openxmlformats.org/drawingml/2006/main">
            <a:r>
              <a:t>- C:\Users\Franc\OneDrive\Documents\Francis\Peltata Project\Time-Series-Modeling-Gen5\runs\research_workbench\operator_hypothesis_lab\hyp_mom_01_1_two_green_gap_ups_discovery_20260803\visuals\asset_tape_01_cross_sectional_medoid_shw.png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MCD was the highest primary-return asset at +30.3% with a 95th random percentile and shallow −6.8% drawdown. Buy-and-hold still earned +47.4%. This is an interesting survivor, not incremental ownership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C:\Users\Franc\OneDrive\Documents\Francis\Peltata Project\Time-Series-Modeling-Gen5\runs\research_workbench\operator_hypothesis_lab\hyp_mom_01_1_two_green_gap_ups_discovery_20260803\hyp_mom_01_1_asset_tape_manifest.csv</a:t>
            </a:r>
          </a:p>
          <a:p xmlns:a="http://schemas.openxmlformats.org/drawingml/2006/main">
            <a:r>
              <a:t>- C:\Users\Franc\OneDrive\Documents\Francis\Peltata Project\Time-Series-Modeling-Gen5\runs\research_workbench\operator_hypothesis_lab\hyp_mom_01_1_two_green_gap_ups_discovery_20260803\hyp_mom_01_1_asset_summary.csv</a:t>
            </a:r>
          </a:p>
          <a:p xmlns:a="http://schemas.openxmlformats.org/drawingml/2006/main">
            <a:r>
              <a:t>- C:\Users\Franc\OneDrive\Documents\Francis\Peltata Project\Time-Series-Modeling-Gen5\runs\research_workbench\operator_hypothesis_lab\hyp_mom_01_1_two_green_gap_ups_discovery_20260803\visuals\asset_tape_02_highest_primary_return_mcd.png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GOOGL was the lowest strategy path: −31.9% versus +58.5% buy-and-hold, 2nd random percentile, and −39.0% drawdown. Its losses clustered around the 2022 decline while the rule largely failed to capture the later recovery.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C:\Users\Franc\OneDrive\Documents\Francis\Peltata Project\Time-Series-Modeling-Gen5\runs\research_workbench\operator_hypothesis_lab\hyp_mom_01_1_two_green_gap_ups_discovery_20260803\hyp_mom_01_1_asset_tape_manifest.csv</a:t>
            </a:r>
          </a:p>
          <a:p xmlns:a="http://schemas.openxmlformats.org/drawingml/2006/main">
            <a:r>
              <a:t>- C:\Users\Franc\OneDrive\Documents\Francis\Peltata Project\Time-Series-Modeling-Gen5\runs\research_workbench\operator_hypothesis_lab\hyp_mom_01_1_two_green_gap_ups_discovery_20260803\hyp_mom_01_1_asset_summary.csv</a:t>
            </a:r>
          </a:p>
          <a:p xmlns:a="http://schemas.openxmlformats.org/drawingml/2006/main">
            <a:r>
              <a:t>- C:\Users\Franc\OneDrive\Documents\Francis\Peltata Project\Time-Series-Modeling-Gen5\runs\research_workbench\operator_hypothesis_lab\hyp_mom_01_1_two_green_gap_ups_discovery_20260803\visuals\asset_tape_03_lowest_primary_return_googl.png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NEE returned +14.5% while buy-and-hold lost 16.0% and reached the 86th random percentile. It was the only asset to beat ownership. Because it was found inside inspected Discovery data, it cannot be nominated; it motivates a question about defensive or loss-avoidance behavior.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C:\Users\Franc\OneDrive\Documents\Francis\Peltata Project\Time-Series-Modeling-Gen5\runs\research_workbench\operator_hypothesis_lab\hyp_mom_01_1_two_green_gap_ups_discovery_20260803\hyp_mom_01_1_asset_tape_manifest.csv</a:t>
            </a:r>
          </a:p>
          <a:p xmlns:a="http://schemas.openxmlformats.org/drawingml/2006/main">
            <a:r>
              <a:t>- C:\Users\Franc\OneDrive\Documents\Francis\Peltata Project\Time-Series-Modeling-Gen5\runs\research_workbench\operator_hypothesis_lab\hyp_mom_01_1_two_green_gap_ups_discovery_20260803\hyp_mom_01_1_asset_summary.csv</a:t>
            </a:r>
          </a:p>
          <a:p xmlns:a="http://schemas.openxmlformats.org/drawingml/2006/main">
            <a:r>
              <a:t>- C:\Users\Franc\OneDrive\Documents\Francis\Peltata Project\Time-Series-Modeling-Gen5\runs\research_workbench\operator_hypothesis_lab\hyp_mom_01_1_two_green_gap_ups_discovery_20260803\visuals\asset_tape_04_highest_random_percentile_nee.png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CAT had the most executed trades at 44. The strategy lost 14.3% while buy-and-hold gained 72.8%, and its timing was at the 14th random percentile. Signal abundance is not evidence quality.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C:\Users\Franc\OneDrive\Documents\Francis\Peltata Project\Time-Series-Modeling-Gen5\runs\research_workbench\operator_hypothesis_lab\hyp_mom_01_1_two_green_gap_ups_discovery_20260803\hyp_mom_01_1_asset_tape_manifest.csv</a:t>
            </a:r>
          </a:p>
          <a:p xmlns:a="http://schemas.openxmlformats.org/drawingml/2006/main">
            <a:r>
              <a:t>- C:\Users\Franc\OneDrive\Documents\Francis\Peltata Project\Time-Series-Modeling-Gen5\runs\research_workbench\operator_hypothesis_lab\hyp_mom_01_1_two_green_gap_ups_discovery_20260803\hyp_mom_01_1_asset_summary.csv</a:t>
            </a:r>
          </a:p>
          <a:p xmlns:a="http://schemas.openxmlformats.org/drawingml/2006/main">
            <a:r>
              <a:t>- C:\Users\Franc\OneDrive\Documents\Francis\Peltata Project\Time-Series-Modeling-Gen5\runs\research_workbench\operator_hypothesis_lab\hyp_mom_01_1_two_green_gap_ups_discovery_20260803\visuals\asset_tape_05_highest_trade_count_cat.png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trade examples are frozen as best, worst, median, largest peak-to-exit giveback, and largest trough-to-exit recovery. The next two slides emphasize the best, worst, and median cases.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C:\Users\Franc\OneDrive\Documents\Francis\Peltata Project\Time-Series-Modeling-Gen5\operator_hypothesis_lab\docs\HYP_MOM_01_1_TWO_GREEN_GAP_UPS_DISCOVERY_CONTRACT.md</a:t>
            </a:r>
          </a:p>
          <a:p xmlns:a="http://schemas.openxmlformats.org/drawingml/2006/main">
            <a:r>
              <a:t>- C:\Users\Franc\OneDrive\Documents\Francis\Peltata Project\Time-Series-Modeling-Gen5\runs\research_workbench\operator_hypothesis_lab\hyp_mom_01_1_two_green_gap_ups_discovery_20260803\hyp_mom_01_1_trade_tape_manifest.csv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AXP's January 2023 example continued almost immediately and finished +12.2%. PLD's April 2022 example fell 5.9% on the first session, never traded above entry during the hold, and exited −15.5%. This is the tail asymmetry hidden by the overall hit rate.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C:\Users\Franc\OneDrive\Documents\Francis\Peltata Project\Time-Series-Modeling-Gen5\runs\research_workbench\operator_hypothesis_lab\hyp_mom_01_1_two_green_gap_ups_discovery_20260803\hyp_mom_01_1_trade_tape_manifest.csv</a:t>
            </a:r>
          </a:p>
          <a:p xmlns:a="http://schemas.openxmlformats.org/drawingml/2006/main">
            <a:r>
              <a:t>- C:\Users\Franc\OneDrive\Documents\Francis\Peltata Project\Time-Series-Modeling-Gen5\runs\research_workbench\operator_hypothesis_lab\hyp_mom_01_1_two_green_gap_ups_discovery_20260803\hyp_mom_01_1_executed_trades.csv</a:t>
            </a:r>
          </a:p>
          <a:p xmlns:a="http://schemas.openxmlformats.org/drawingml/2006/main">
            <a:r>
              <a:t>- C:\Users\Franc\OneDrive\Documents\Francis\Peltata Project\Time-Series-Modeling-Gen5\runs\research_workbench\operator_hypothesis_lab\hyp_mom_01_1_two_green_gap_ups_discovery_20260803\visuals\trade_tape_01_best_primary_trade_axp.png</a:t>
            </a:r>
          </a:p>
          <a:p xmlns:a="http://schemas.openxmlformats.org/drawingml/2006/main">
            <a:r>
              <a:t>- C:\Users\Franc\OneDrive\Documents\Francis\Peltata Project\Time-Series-Modeling-Gen5\runs\research_workbench\operator_hypothesis_lab\hyp_mom_01_1_two_green_gap_ups_discovery_20260803\visuals\trade_tape_02_worst_primary_trade_pld.png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pooled median primary return is +0.1566%. This XOM example fell sharply after entry, recovered, and exited nearly flat. Discovery may compare path behavior and formulate an exit question, but it may not install a stop after viewing these same outcomes.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C:\Users\Franc\OneDrive\Documents\Francis\Peltata Project\Time-Series-Modeling-Gen5\runs\research_workbench\operator_hypothesis_lab\hyp_mom_01_1_two_green_gap_ups_discovery_20260803\hyp_mom_01_1_trade_tape_manifest.csv</a:t>
            </a:r>
          </a:p>
          <a:p xmlns:a="http://schemas.openxmlformats.org/drawingml/2006/main">
            <a:r>
              <a:t>- C:\Users\Franc\OneDrive\Documents\Francis\Peltata Project\Time-Series-Modeling-Gen5\runs\research_workbench\operator_hypothesis_lab\hyp_mom_01_1_two_green_gap_ups_discovery_20260803\hyp_mom_01_1_executed_trades.csv</a:t>
            </a:r>
          </a:p>
          <a:p xmlns:a="http://schemas.openxmlformats.org/drawingml/2006/main">
            <a:r>
              <a:t>- C:\Users\Franc\OneDrive\Documents\Francis\Peltata Project\Time-Series-Modeling-Gen5\runs\research_workbench\operator_hypothesis_lab\hyp_mom_01_1_two_green_gap_ups_discovery_20260803\visuals\trade_tape_03_pooled_median_trade_xom.png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rule is not promising as a generic five-session entry policy in the inspected discovery window. The productive outcome is narrower: we now know the failure is driven by tail asymmetry, year dependence, and large cross-asset heterogeneity. The operator should choose one theoretical question before any additional testing.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C:\Users\Franc\OneDrive\Documents\Francis\Peltata Project\Time-Series-Modeling-Gen5\runs\research_workbench\operator_hypothesis_lab\hyp_mom_01_1_two_green_gap_ups_discovery_20260803\hyp_mom_01_1_report.md</a:t>
            </a:r>
          </a:p>
          <a:p xmlns:a="http://schemas.openxmlformats.org/drawingml/2006/main">
            <a:r>
              <a:t>- C:\Users\Franc\OneDrive\Documents\Francis\Peltata Project\Time-Series-Modeling-Gen5\runs\research_workbench\operator_hypothesis_lab\hyp_mom_01_1_two_green_gap_ups_discovery_20260803\hyp_mom_01_1_pooled_summary.csv</a:t>
            </a:r>
          </a:p>
          <a:p xmlns:a="http://schemas.openxmlformats.org/drawingml/2006/main">
            <a:r>
              <a:t>- C:\Users\Franc\OneDrive\Documents\Francis\Peltata Project\Time-Series-Modeling-Gen5\runs\research_workbench\operator_hypothesis_lab\hyp_mom_01_1_two_green_gap_ups_discovery_20260803\hyp_mom_01_1_asset_summary.csv</a:t>
            </a:r>
          </a:p>
          <a:p xmlns:a="http://schemas.openxmlformats.org/drawingml/2006/main">
            <a:r>
              <a:t>- C:\Users\Franc\OneDrive\Documents\Francis\Peltata Project\Time-Series-Modeling-Gen5\operator_hypothesis_lab\docs\HYP_MOM_01_1_TWO_GREEN_GAP_UPS_DISCOVERY_CONTRACT.md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7b1ff018fd4d0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24f27d19e89430a" /><Relationship Type="http://schemas.openxmlformats.org/officeDocument/2006/relationships/slideLayout" Target="/ppt/slideLayouts/slideLayout1.xml" Id="R68d701baf45a437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8d701baf45a437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84d356a10a4300" /><Relationship Type="http://schemas.openxmlformats.org/officeDocument/2006/relationships/notesSlide" Target="/ppt/notesSlides/notesSlide1.xml" Id="Ref4c5f38bfc341b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63b12ee0c04bc0" /><Relationship Type="http://schemas.openxmlformats.org/officeDocument/2006/relationships/notesSlide" Target="/ppt/notesSlides/notesSlide2.xml" Id="Rd0f9fa385abb407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ad3ff84f154e01" /><Relationship Type="http://schemas.openxmlformats.org/officeDocument/2006/relationships/notesSlide" Target="/ppt/notesSlides/notesSlide3.xml" Id="R5495163da005422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bc79ed4afc4c81" /><Relationship Type="http://schemas.openxmlformats.org/officeDocument/2006/relationships/notesSlide" Target="/ppt/notesSlides/notesSlide4.xml" Id="R4ca26a66c85943b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ae83d2121b414c" /><Relationship Type="http://schemas.openxmlformats.org/officeDocument/2006/relationships/image" Target="/ppt/media/image.png" Id="R5ed76f72e4914d51" /><Relationship Type="http://schemas.openxmlformats.org/officeDocument/2006/relationships/notesSlide" Target="/ppt/notesSlides/notesSlide5.xml" Id="R7a19790445be4a4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845e6a312142be" /><Relationship Type="http://schemas.openxmlformats.org/officeDocument/2006/relationships/image" Target="/ppt/media/image2.png" Id="Rd7e3ed12ea3548dc" /><Relationship Type="http://schemas.openxmlformats.org/officeDocument/2006/relationships/notesSlide" Target="/ppt/notesSlides/notesSlide6.xml" Id="Re42666ce6eb84e6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7958ad67b44ab1" /><Relationship Type="http://schemas.openxmlformats.org/officeDocument/2006/relationships/image" Target="/ppt/media/image3.png" Id="Rb3a1ee2b86924b3d" /><Relationship Type="http://schemas.openxmlformats.org/officeDocument/2006/relationships/notesSlide" Target="/ppt/notesSlides/notesSlide7.xml" Id="Rc16f94a817954bb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b2def9094f4732" /><Relationship Type="http://schemas.openxmlformats.org/officeDocument/2006/relationships/notesSlide" Target="/ppt/notesSlides/notesSlide8.xml" Id="Rd0b4dd2060874e2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5e7bb199694690" /><Relationship Type="http://schemas.openxmlformats.org/officeDocument/2006/relationships/image" Target="/ppt/media/image4.png" Id="Re87b20583ba54554" /><Relationship Type="http://schemas.openxmlformats.org/officeDocument/2006/relationships/notesSlide" Target="/ppt/notesSlides/notesSlide9.xml" Id="R6e44ff7ce633442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f96852fc0c4caf" /><Relationship Type="http://schemas.openxmlformats.org/officeDocument/2006/relationships/image" Target="/ppt/media/image5.png" Id="Rcedd05e674104845" /><Relationship Type="http://schemas.openxmlformats.org/officeDocument/2006/relationships/notesSlide" Target="/ppt/notesSlides/notesSlide10.xml" Id="R784466be546442f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ddf344ef324e97" /><Relationship Type="http://schemas.openxmlformats.org/officeDocument/2006/relationships/image" Target="/ppt/media/image6.png" Id="R0e4634ce86a941c3" /><Relationship Type="http://schemas.openxmlformats.org/officeDocument/2006/relationships/notesSlide" Target="/ppt/notesSlides/notesSlide11.xml" Id="R84b13a5bc256463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b2ac35217c47a3" /><Relationship Type="http://schemas.openxmlformats.org/officeDocument/2006/relationships/image" Target="/ppt/media/image7.png" Id="Ra0310d1fb2db4598" /><Relationship Type="http://schemas.openxmlformats.org/officeDocument/2006/relationships/notesSlide" Target="/ppt/notesSlides/notesSlide12.xml" Id="R0fea2934ece04a3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8daa660dfd42e8" /><Relationship Type="http://schemas.openxmlformats.org/officeDocument/2006/relationships/image" Target="/ppt/media/image8.png" Id="Ra573a5344c34496c" /><Relationship Type="http://schemas.openxmlformats.org/officeDocument/2006/relationships/notesSlide" Target="/ppt/notesSlides/notesSlide13.xml" Id="R27313d8dca99405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d46c7347f14976" /><Relationship Type="http://schemas.openxmlformats.org/officeDocument/2006/relationships/notesSlide" Target="/ppt/notesSlides/notesSlide14.xml" Id="Rd5eaf0e4157f4a7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d3139ff7084185" /><Relationship Type="http://schemas.openxmlformats.org/officeDocument/2006/relationships/image" Target="/ppt/media/image9.png" Id="R11fee768ac6b4b33" /><Relationship Type="http://schemas.openxmlformats.org/officeDocument/2006/relationships/image" Target="/ppt/media/image10.png" Id="Rd6fd3917a2954399" /><Relationship Type="http://schemas.openxmlformats.org/officeDocument/2006/relationships/notesSlide" Target="/ppt/notesSlides/notesSlide15.xml" Id="R55ab764036b5403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92c94b42f142e6" /><Relationship Type="http://schemas.openxmlformats.org/officeDocument/2006/relationships/image" Target="/ppt/media/image11.png" Id="R48992ee9da6c4f00" /><Relationship Type="http://schemas.openxmlformats.org/officeDocument/2006/relationships/notesSlide" Target="/ppt/notesSlides/notesSlide16.xml" Id="R3e0ec2566249400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8ec809246643be" /><Relationship Type="http://schemas.openxmlformats.org/officeDocument/2006/relationships/notesSlide" Target="/ppt/notesSlides/notesSlide17.xml" Id="R9fcb3b21cf334af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B17165D0-00E5-4EC3-B099-57AB58E4A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685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OPERATOR HYPOTHESIS LAB | DISCOVERY 01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EC24656C-86A3-416C-8872-5803C222A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695450"/>
            <a:ext cx="100965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6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6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Two consecutive</a:t>
            </a:r>
          </a:p>
          <a:p xmlns:a="http://schemas.openxmlformats.org/drawingml/2006/main">
            <a:pPr algn="l">
              <a:defRPr sz="6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6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green gap-ups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0DDDCE3C-8A18-4733-82C8-1ED72BCC8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857750"/>
            <a:ext cx="742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HYP-MOM-01.1 | causal five-session discovery POC</a:t>
            </a:r>
          </a:p>
        </p:txBody>
      </p:sp>
    </p:spTree>
    <p:extLst>
      <p:ext uri="{BB962C8B-B14F-4D97-AF65-F5344CB8AC3E}">
        <p14:creationId xmlns:p14="http://schemas.microsoft.com/office/powerpoint/2010/main" val="6535670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69094C4-BCAA-4C3E-A675-DBFA1483D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rule waits for two completed candles, then enters next open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64F72A2-0AE6-456B-AB7A-0D80EF57F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9BA2C445-343E-4931-A006-08B2F31A0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143000"/>
            <a:ext cx="11410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Both pattern sessions must satisfy Gap up: Open[i] &gt; Close[i−1] and Green: Close[i] &gt; Open[i].</a:t>
            </a:r>
          </a:p>
        </p:txBody>
      </p:sp>
      <p:sp>
        <p:nvSpPr>
          <p:cNvPr id="4" name="timeline-rule">
            <a:extLst xmlns:a="http://schemas.openxmlformats.org/drawingml/2006/main">
              <a:ext uri="{FF2B5EF4-FFF2-40B4-BE49-F238E27FC236}">
                <a16:creationId xmlns:a16="http://schemas.microsoft.com/office/drawing/2014/main" id="{44ADE335-B9D7-4682-8A52-B1A90EA71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81375"/>
            <a:ext cx="10287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5" name="node-t−1">
            <a:extLst xmlns:a="http://schemas.openxmlformats.org/drawingml/2006/main">
              <a:ext uri="{FF2B5EF4-FFF2-40B4-BE49-F238E27FC236}">
                <a16:creationId xmlns:a16="http://schemas.microsoft.com/office/drawing/2014/main" id="{B88F8627-34EE-4201-8DCE-0FDFF5583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28950"/>
            <a:ext cx="6858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E2EAAD85-9E43-4FD6-BD70-EBA454454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05250"/>
            <a:ext cx="1066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t−1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5B7D4161-B1C2-4378-BB82-A12E840C1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62450"/>
            <a:ext cx="1485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First green</a:t>
            </a:r>
          </a:p>
          <a:p xmlns:a="http://schemas.openxmlformats.org/drawingml/2006/main">
            <a:pPr algn="ctr"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gap-up closes</a:t>
            </a:r>
          </a:p>
        </p:txBody>
      </p:sp>
      <p:sp>
        <p:nvSpPr>
          <p:cNvPr id="8" name="node-t">
            <a:extLst xmlns:a="http://schemas.openxmlformats.org/drawingml/2006/main">
              <a:ext uri="{FF2B5EF4-FFF2-40B4-BE49-F238E27FC236}">
                <a16:creationId xmlns:a16="http://schemas.microsoft.com/office/drawing/2014/main" id="{C7A275C3-038B-480D-A025-A75A11599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28950"/>
            <a:ext cx="6858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E525B827-D54F-47E3-A6A6-0ECC3A8D8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905250"/>
            <a:ext cx="1066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25F8852B-1158-41D2-95D1-AE60D56AB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362450"/>
            <a:ext cx="1485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Second green</a:t>
            </a:r>
          </a:p>
          <a:p xmlns:a="http://schemas.openxmlformats.org/drawingml/2006/main">
            <a:pPr algn="ctr"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gap-up closes</a:t>
            </a:r>
          </a:p>
        </p:txBody>
      </p:sp>
      <p:sp>
        <p:nvSpPr>
          <p:cNvPr id="11" name="node-After close">
            <a:extLst xmlns:a="http://schemas.openxmlformats.org/drawingml/2006/main">
              <a:ext uri="{FF2B5EF4-FFF2-40B4-BE49-F238E27FC236}">
                <a16:creationId xmlns:a16="http://schemas.microsoft.com/office/drawing/2014/main" id="{38ACD2C2-A52C-42A0-98A2-7E8DEE036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028950"/>
            <a:ext cx="6858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391B440E-AB4E-43A2-B96A-1A05AACB4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905250"/>
            <a:ext cx="1066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After close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FF7AB014-7238-470F-BF22-A86ABDCCB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362450"/>
            <a:ext cx="1485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Signal becomes</a:t>
            </a:r>
          </a:p>
          <a:p xmlns:a="http://schemas.openxmlformats.org/drawingml/2006/main">
            <a:pPr algn="ctr"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observable</a:t>
            </a:r>
          </a:p>
        </p:txBody>
      </p:sp>
      <p:sp>
        <p:nvSpPr>
          <p:cNvPr id="14" name="node-t+1 open">
            <a:extLst xmlns:a="http://schemas.openxmlformats.org/drawingml/2006/main">
              <a:ext uri="{FF2B5EF4-FFF2-40B4-BE49-F238E27FC236}">
                <a16:creationId xmlns:a16="http://schemas.microsoft.com/office/drawing/2014/main" id="{49691AFF-3921-41F7-831D-53F4244FF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028950"/>
            <a:ext cx="6858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6DCB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8642F646-E693-4716-AA55-FD330536F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905250"/>
            <a:ext cx="1066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t+1 open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AAB9C57F-44DE-4A2F-807B-94B488C43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362450"/>
            <a:ext cx="1485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Enter long</a:t>
            </a:r>
          </a:p>
          <a:p xmlns:a="http://schemas.openxmlformats.org/drawingml/2006/main">
            <a:pPr algn="ctr"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with full capital</a:t>
            </a:r>
          </a:p>
        </p:txBody>
      </p:sp>
      <p:sp>
        <p:nvSpPr>
          <p:cNvPr id="17" name="node-t+6 open">
            <a:extLst xmlns:a="http://schemas.openxmlformats.org/drawingml/2006/main">
              <a:ext uri="{FF2B5EF4-FFF2-40B4-BE49-F238E27FC236}">
                <a16:creationId xmlns:a16="http://schemas.microsoft.com/office/drawing/2014/main" id="{2E6F6BE7-560C-4D75-94AD-72027EC11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028950"/>
            <a:ext cx="6858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F13E6396-0EA8-4E67-9A5E-FD9711336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905250"/>
            <a:ext cx="1066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t+6 open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4D1A00BA-29EF-4743-9268-86B89741C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362450"/>
            <a:ext cx="1485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Exit after five</a:t>
            </a:r>
          </a:p>
          <a:p xmlns:a="http://schemas.openxmlformats.org/drawingml/2006/main">
            <a:pPr algn="ctr"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open-to-open intervals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4C5DC0FC-7C49-40BC-86BF-45A9D5063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715000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No minimum gap, body, volume, trend, sector, or market filter</a:t>
            </a:r>
          </a:p>
        </p:txBody>
      </p:sp>
    </p:spTree>
    <p:extLst>
      <p:ext uri="{BB962C8B-B14F-4D97-AF65-F5344CB8AC3E}">
        <p14:creationId xmlns:p14="http://schemas.microsoft.com/office/powerpoint/2010/main" val="169223481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AACFA59-E5FB-4CA1-906D-D392B72F2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Discovery permits reuse; validation does not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D4F9952-4ED1-483A-AA63-BEECB4101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7B38DB55-A092-4C32-9BA2-58B94105C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143000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The evidence label determines what we are allowed to learn and claim.</a:t>
            </a:r>
          </a:p>
        </p:txBody>
      </p:sp>
      <p:sp>
        <p:nvSpPr>
          <p:cNvPr id="4" name="stage-DISCOVERY">
            <a:extLst xmlns:a="http://schemas.openxmlformats.org/drawingml/2006/main">
              <a:ext uri="{FF2B5EF4-FFF2-40B4-BE49-F238E27FC236}">
                <a16:creationId xmlns:a16="http://schemas.microsoft.com/office/drawing/2014/main" id="{6041E256-72F7-4CE8-BCB3-966AA562E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190750"/>
            <a:ext cx="3571875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57DFA97C-B2B0-46AB-92CA-4B069C717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47650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DISCOVERY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5822EFDF-DAF0-46F0-841E-E2E2106F6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048000"/>
            <a:ext cx="304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REUSED WINDOW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9A30C4F3-C1D4-48A3-9DD4-B0247B5D8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857625"/>
            <a:ext cx="304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2021–2023</a:t>
            </a:r>
          </a:p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22 frozen stocks</a:t>
            </a:r>
          </a:p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Learn mechanics and tails</a:t>
            </a:r>
          </a:p>
        </p:txBody>
      </p:sp>
      <p:sp>
        <p:nvSpPr>
          <p:cNvPr id="8" name="stage-REPLICATION">
            <a:extLst xmlns:a="http://schemas.openxmlformats.org/drawingml/2006/main">
              <a:ext uri="{FF2B5EF4-FFF2-40B4-BE49-F238E27FC236}">
                <a16:creationId xmlns:a16="http://schemas.microsoft.com/office/drawing/2014/main" id="{AE5B2E64-EC59-4736-8B81-580341ACB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190750"/>
            <a:ext cx="3571875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B2557066-75C1-4431-8923-CC90A5358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47650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REPLICATION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1B3DD3A4-2A58-4F30-B913-27D4C4AD9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048000"/>
            <a:ext cx="304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FROZEN NEXT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06495913-D4D4-4599-8922-5364DCC84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857625"/>
            <a:ext cx="304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Distinct data</a:t>
            </a:r>
          </a:p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Predeclared rule</a:t>
            </a:r>
          </a:p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 winner rescue</a:t>
            </a:r>
          </a:p>
        </p:txBody>
      </p:sp>
      <p:sp>
        <p:nvSpPr>
          <p:cNvPr id="12" name="stage-VALIDATION">
            <a:extLst xmlns:a="http://schemas.openxmlformats.org/drawingml/2006/main">
              <a:ext uri="{FF2B5EF4-FFF2-40B4-BE49-F238E27FC236}">
                <a16:creationId xmlns:a16="http://schemas.microsoft.com/office/drawing/2014/main" id="{6FC37D0F-34A3-45A3-9D54-6CCE57649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190750"/>
            <a:ext cx="3571875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6423B6B8-8CBE-4DF9-8844-988B64357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47650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VALIDATION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11FACB0F-89BA-40C5-95AD-CF3393720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48000"/>
            <a:ext cx="304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UNTOUCHED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CEFD8C39-0C01-4311-ABBE-53A7A9DD3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857625"/>
            <a:ext cx="304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Few survivors</a:t>
            </a:r>
          </a:p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Fresh assets or time</a:t>
            </a:r>
          </a:p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Stronger claims begin</a:t>
            </a:r>
          </a:p>
        </p:txBody>
      </p:sp>
    </p:spTree>
    <p:extLst>
      <p:ext uri="{BB962C8B-B14F-4D97-AF65-F5344CB8AC3E}">
        <p14:creationId xmlns:p14="http://schemas.microsoft.com/office/powerpoint/2010/main" val="27119511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4D0979B-8224-45F9-A204-5EFAFCE64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 majority of winning trades did not create positive expectancy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D4E97BF-04B8-4548-B962-35546F7BC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A34140C7-7298-4A14-8916-854310801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143000"/>
            <a:ext cx="114014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The rule fired often enough to study, yet ordinary controls were unfavorable.</a:t>
            </a:r>
          </a:p>
        </p:txBody>
      </p:sp>
      <p:sp>
        <p:nvSpPr>
          <p:cNvPr id="4" name="stat-executed trades">
            <a:extLst xmlns:a="http://schemas.openxmlformats.org/drawingml/2006/main">
              <a:ext uri="{FF2B5EF4-FFF2-40B4-BE49-F238E27FC236}">
                <a16:creationId xmlns:a16="http://schemas.microsoft.com/office/drawing/2014/main" id="{8EA36FD4-5BED-4286-A15C-6C3C52538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67000"/>
            <a:ext cx="2581275" cy="2762250"/>
          </a:xfrm>
          <a:prstGeom xmlns:a="http://schemas.openxmlformats.org/drawingml/2006/main" prst="roundRect">
            <a:avLst>
              <a:gd name="adj" fmla="val 4428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711985E9-099C-4A1D-8B27-2C9D862AA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95625"/>
            <a:ext cx="2095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821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2482E800-92DA-47C5-8050-35BB91EC4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43375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executed trades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D796EC97-18CB-4367-8DF7-034793FE7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86300"/>
            <a:ext cx="209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1,163 signals; 342 ignored while invested</a:t>
            </a:r>
          </a:p>
        </p:txBody>
      </p:sp>
      <p:sp>
        <p:nvSpPr>
          <p:cNvPr id="8" name="stat-primary hit rate">
            <a:extLst xmlns:a="http://schemas.openxmlformats.org/drawingml/2006/main">
              <a:ext uri="{FF2B5EF4-FFF2-40B4-BE49-F238E27FC236}">
                <a16:creationId xmlns:a16="http://schemas.microsoft.com/office/drawing/2014/main" id="{4284B3AB-47FA-42AB-B204-3C45D9720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667000"/>
            <a:ext cx="2581275" cy="2762250"/>
          </a:xfrm>
          <a:prstGeom xmlns:a="http://schemas.openxmlformats.org/drawingml/2006/main" prst="roundRect">
            <a:avLst>
              <a:gd name="adj" fmla="val 4428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ABF257C5-15DE-48BB-9F1A-6CB6EA5AF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095625"/>
            <a:ext cx="2095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52.6%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D037771E-AAFD-4E5F-9B3D-5CB1F74B7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4143375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primary hit rate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532103AD-B1CA-4DF5-8447-470FDC6D4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4686300"/>
            <a:ext cx="209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Median trade +0.16%; modest wins were common</a:t>
            </a:r>
          </a:p>
        </p:txBody>
      </p:sp>
      <p:sp>
        <p:nvSpPr>
          <p:cNvPr id="12" name="stat-mean trade return">
            <a:extLst xmlns:a="http://schemas.openxmlformats.org/drawingml/2006/main">
              <a:ext uri="{FF2B5EF4-FFF2-40B4-BE49-F238E27FC236}">
                <a16:creationId xmlns:a16="http://schemas.microsoft.com/office/drawing/2014/main" id="{923608BA-7673-46DC-AF5D-B567007F2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667000"/>
            <a:ext cx="2581275" cy="2762250"/>
          </a:xfrm>
          <a:prstGeom xmlns:a="http://schemas.openxmlformats.org/drawingml/2006/main" prst="roundRect">
            <a:avLst>
              <a:gd name="adj" fmla="val 4428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3C6B6287-865A-446A-B696-2D3713B75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095625"/>
            <a:ext cx="2095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−0.018%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25D5DC29-DCE0-403F-9D1E-A469BE1E1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143375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mean trade return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BAE1BFE0-BFFE-4FCD-B6B0-8743990E9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686300"/>
            <a:ext cx="209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The losing tail outweighed the win majority</a:t>
            </a:r>
          </a:p>
        </p:txBody>
      </p:sp>
      <p:sp>
        <p:nvSpPr>
          <p:cNvPr id="16" name="stat-beat buy-and-hold">
            <a:extLst xmlns:a="http://schemas.openxmlformats.org/drawingml/2006/main">
              <a:ext uri="{FF2B5EF4-FFF2-40B4-BE49-F238E27FC236}">
                <a16:creationId xmlns:a16="http://schemas.microsoft.com/office/drawing/2014/main" id="{5961519F-BF02-409E-B843-621EB7716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667000"/>
            <a:ext cx="2581275" cy="2762250"/>
          </a:xfrm>
          <a:prstGeom xmlns:a="http://schemas.openxmlformats.org/drawingml/2006/main" prst="roundRect">
            <a:avLst>
              <a:gd name="adj" fmla="val 4428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0DA0422B-C3B2-4B40-959E-3CEAF5BD2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3095625"/>
            <a:ext cx="2095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 / 22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D4D533F3-E981-4829-9774-D97ADB176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4143375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beat buy-and-hold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2B5EFF87-9994-4D91-A0FB-4474F152B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4686300"/>
            <a:ext cx="209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Median random percentile was only 34%</a:t>
            </a:r>
          </a:p>
        </p:txBody>
      </p:sp>
    </p:spTree>
    <p:extLst>
      <p:ext uri="{BB962C8B-B14F-4D97-AF65-F5344CB8AC3E}">
        <p14:creationId xmlns:p14="http://schemas.microsoft.com/office/powerpoint/2010/main" val="164427294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E2CD0C3-B0CA-4855-89CB-A567C2C40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Across assets, the signal calendar usually lagged ownership and randomness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31DF979-0078-4855-B727-9B5FFC6DA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d76f72e4914d51"/>
          <a:stretch xmlns:a="http://schemas.openxmlformats.org/drawingml/2006/main"/>
        </p:blipFill>
        <p:spPr>
          <a:xfrm xmlns:a="http://schemas.openxmlformats.org/drawingml/2006/main">
            <a:off x="2166938" y="990600"/>
            <a:ext cx="7858125" cy="5238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202361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CFF05BB-2F08-4E47-978B-931CDEAEC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loss tail mattered more than the slight winner majority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92A0746-30E3-4FFF-88CE-0EFEC1AAD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e3ed12ea3548dc"/>
          <a:stretch xmlns:a="http://schemas.openxmlformats.org/drawingml/2006/main"/>
        </p:blipFill>
        <p:spPr>
          <a:xfrm xmlns:a="http://schemas.openxmlformats.org/drawingml/2006/main">
            <a:off x="2166938" y="990600"/>
            <a:ext cx="7858125" cy="5238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691990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0B8B592-8D23-41C9-AB08-107F03A28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same pattern behaved differently in 2021, 2022, and 2023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B20179E-DB6C-45F3-960D-681ABAA47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B43ED0D8-CB1A-43ED-9140-B486DDD9B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809750"/>
            <a:ext cx="342900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2021</a:t>
            </a:r>
          </a:p>
          <a:p xmlns:a="http://schemas.openxmlformats.org/drawingml/2006/main">
            <a:pPr algn="l">
              <a:defRPr sz="20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+0.40% mean trade</a:t>
            </a:r>
          </a:p>
          <a:p xmlns:a="http://schemas.openxmlformats.org/drawingml/2006/main">
            <a:pPr algn="l">
              <a:defRPr sz="20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58.6% hit rate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2022</a:t>
            </a:r>
          </a:p>
          <a:p xmlns:a="http://schemas.openxmlformats.org/drawingml/2006/main">
            <a:pPr algn="l">
              <a:defRPr sz="20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−0.65% mean trade</a:t>
            </a:r>
          </a:p>
          <a:p xmlns:a="http://schemas.openxmlformats.org/drawingml/2006/main">
            <a:pPr algn="l">
              <a:defRPr sz="20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45.6% hit rate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2023</a:t>
            </a:r>
          </a:p>
          <a:p xmlns:a="http://schemas.openxmlformats.org/drawingml/2006/main">
            <a:pPr algn="l">
              <a:defRPr sz="20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+0.15% mean trade</a:t>
            </a:r>
          </a:p>
          <a:p xmlns:a="http://schemas.openxmlformats.org/drawingml/2006/main">
            <a:pPr algn="l">
              <a:defRPr sz="20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52.7% hit rate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C68257A1-47B1-45DF-BAE2-571546736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619750"/>
            <a:ext cx="447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This looks regime-sensitive, but the inspected years cannot be mined into a filter.</a:t>
            </a:r>
          </a:p>
        </p:txBody>
      </p:sp>
      <p:sp>
        <p:nvSpPr>
          <p:cNvPr id="5" name="year-image-backing">
            <a:extLst xmlns:a="http://schemas.openxmlformats.org/drawingml/2006/main">
              <a:ext uri="{FF2B5EF4-FFF2-40B4-BE49-F238E27FC236}">
                <a16:creationId xmlns:a16="http://schemas.microsoft.com/office/drawing/2014/main" id="{CAD6E1C9-777F-49AB-83DA-8754B1B73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285875"/>
            <a:ext cx="7038975" cy="4762500"/>
          </a:xfrm>
          <a:prstGeom xmlns:a="http://schemas.openxmlformats.org/drawingml/2006/main" prst="roundRect">
            <a:avLst>
              <a:gd name="adj" fmla="val 2400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a1ee2b86924b3d"/>
          <a:stretch xmlns:a="http://schemas.openxmlformats.org/drawingml/2006/main"/>
        </p:blipFill>
        <p:spPr>
          <a:xfrm xmlns:a="http://schemas.openxmlformats.org/drawingml/2006/main">
            <a:off x="4905375" y="1451223"/>
            <a:ext cx="6753225" cy="443180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027881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BCBFB38A-6AE2-41FA-962E-4A637191A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"/>
            <a:ext cx="3810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PATH AUDIT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CD19250D-F1FD-4EE8-BAAB-84FD2D245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666875"/>
            <a:ext cx="9715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5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Five assets reveal five</a:t>
            </a:r>
          </a:p>
          <a:p xmlns:a="http://schemas.openxmlformats.org/drawingml/2006/main">
            <a:pPr algn="l">
              <a:defRPr sz="5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different failure and</a:t>
            </a:r>
          </a:p>
          <a:p xmlns:a="http://schemas.openxmlformats.org/drawingml/2006/main">
            <a:pPr algn="l">
              <a:defRPr sz="5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survivor stories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82FB7BD1-9C6A-46B0-B292-F4097FF9D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095875"/>
            <a:ext cx="8763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Read the blue strategy path against gray ownership; shaded blocks are executed trades.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E291F76A-B02F-4A0C-9323-AC98EC8C5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05273907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6D51331-3CC2-40A2-8B47-7A5EA7F6B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typical path lost money while the underlying stock recovered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DE27E09-6E4C-4B66-8ED9-C3DEA78A1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7b20583ba54554"/>
          <a:stretch xmlns:a="http://schemas.openxmlformats.org/drawingml/2006/main"/>
        </p:blipFill>
        <p:spPr>
          <a:xfrm xmlns:a="http://schemas.openxmlformats.org/drawingml/2006/main">
            <a:off x="1381125" y="990600"/>
            <a:ext cx="9429750" cy="5238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738705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FF07AB2-89CA-4CCB-828C-4BED8E5A1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strongest endpoint still trailed simply owning MCD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3AEF2ED-7B3A-4174-B82F-268825815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dd05e674104845"/>
          <a:stretch xmlns:a="http://schemas.openxmlformats.org/drawingml/2006/main"/>
        </p:blipFill>
        <p:spPr>
          <a:xfrm xmlns:a="http://schemas.openxmlformats.org/drawingml/2006/main">
            <a:off x="1381125" y="990600"/>
            <a:ext cx="9429750" cy="5238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68241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F666C52-AA30-44C7-859D-88CA37F4A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GOOGL turned a strong ownership period into a large strategy loss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3070537-2CD8-49F9-9F36-24F149762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4634ce86a941c3"/>
          <a:stretch xmlns:a="http://schemas.openxmlformats.org/drawingml/2006/main"/>
        </p:blipFill>
        <p:spPr>
          <a:xfrm xmlns:a="http://schemas.openxmlformats.org/drawingml/2006/main">
            <a:off x="1381125" y="990600"/>
            <a:ext cx="9429750" cy="5238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6932611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B6F1C32-C9A8-4A4A-A262-0E78BB8E0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NEE is the lone buy-and-hold exception—and therefore only a question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E6D47D3-849E-4A51-9A6A-8BE9C072E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310d1fb2db4598"/>
          <a:stretch xmlns:a="http://schemas.openxmlformats.org/drawingml/2006/main"/>
        </p:blipFill>
        <p:spPr>
          <a:xfrm xmlns:a="http://schemas.openxmlformats.org/drawingml/2006/main">
            <a:off x="1381125" y="990600"/>
            <a:ext cx="9429750" cy="5238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3458119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A80957E-E956-4489-9E6A-45416AEEB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More signals did not help CAT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3F07D38-99CC-48B9-B0AA-A4D7F5880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73a5344c34496c"/>
          <a:stretch xmlns:a="http://schemas.openxmlformats.org/drawingml/2006/main"/>
        </p:blipFill>
        <p:spPr>
          <a:xfrm xmlns:a="http://schemas.openxmlformats.org/drawingml/2006/main">
            <a:off x="1381125" y="990600"/>
            <a:ext cx="9429750" cy="5238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6690488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29856A57-0805-4FCE-A5A1-A9D08418D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INDIVIDUAL TRADES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B71627A4-2434-48B8-9F1D-404D4302E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666875"/>
            <a:ext cx="10287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5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 completed bullish pattern</a:t>
            </a:r>
          </a:p>
          <a:p xmlns:a="http://schemas.openxmlformats.org/drawingml/2006/main">
            <a:pPr algn="l">
              <a:defRPr sz="5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did not guarantee immediate</a:t>
            </a:r>
          </a:p>
          <a:p xmlns:a="http://schemas.openxmlformats.org/drawingml/2006/main">
            <a:pPr algn="l">
              <a:defRPr sz="5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follow-through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735A4C94-6D8D-47C2-867E-9FB0A73AC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095875"/>
            <a:ext cx="838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entry is always the triangle after the two blue pattern sessions.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2E44FE70-779A-40B3-BA11-330A7F8B6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615863479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F57EE19-00E4-4143-89BB-F043B6422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same setup preceded both a +12.2% jump and a −15.5% collapse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B609A07-BFFF-4E7D-9E98-0FA462571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fee768ac6b4b33"/>
          <a:stretch xmlns:a="http://schemas.openxmlformats.org/drawingml/2006/main"/>
        </p:blipFill>
        <p:spPr>
          <a:xfrm xmlns:a="http://schemas.openxmlformats.org/drawingml/2006/main">
            <a:off x="390525" y="2143125"/>
            <a:ext cx="5524500" cy="2762250"/>
          </a:xfrm>
          <a:prstGeom xmlns:a="http://schemas.openxmlformats.org/drawingml/2006/main" prst="rect">
            <a:avLst/>
          </a:prstGeom>
        </p:spPr>
      </p:pic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fd3917a2954399"/>
          <a:stretch xmlns:a="http://schemas.openxmlformats.org/drawingml/2006/main"/>
        </p:blipFill>
        <p:spPr>
          <a:xfrm xmlns:a="http://schemas.openxmlformats.org/drawingml/2006/main">
            <a:off x="6267450" y="2143125"/>
            <a:ext cx="5524500" cy="2762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2432371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2AE458F-81D4-4C03-958C-07A3C89C1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median trade recovered from early weakness to finish nearly flat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447C133-8936-4F83-AA87-F3D041529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95FF0490-2FEB-42B9-87C8-125F4CBB4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809750"/>
            <a:ext cx="438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XOM median example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DE16B04B-BCC9-499A-87D2-6229C395C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428875"/>
            <a:ext cx="4762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First session: −2.1%</a:t>
            </a:r>
          </a:p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Maximum adverse excursion: −6.8%</a:t>
            </a:r>
          </a:p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Exit return after costs: +0.2%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 fixed five-session exit tolerated substantial interim pain for almost no endpoint gain.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9A1F26C6-FA00-41CE-89D1-87E92A8BF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572125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This motivates exit-path questions; it does not choose a stop.</a:t>
            </a:r>
          </a:p>
        </p:txBody>
      </p:sp>
      <p:sp>
        <p:nvSpPr>
          <p:cNvPr id="6" name="median-image-backing">
            <a:extLst xmlns:a="http://schemas.openxmlformats.org/drawingml/2006/main">
              <a:ext uri="{FF2B5EF4-FFF2-40B4-BE49-F238E27FC236}">
                <a16:creationId xmlns:a16="http://schemas.microsoft.com/office/drawing/2014/main" id="{A7C3B8D6-EE8E-4329-8D0B-70FC1AAD9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381125"/>
            <a:ext cx="6181725" cy="4667250"/>
          </a:xfrm>
          <a:prstGeom xmlns:a="http://schemas.openxmlformats.org/drawingml/2006/main" prst="roundRect">
            <a:avLst>
              <a:gd name="adj" fmla="val 2449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992ee9da6c4f00"/>
          <a:stretch xmlns:a="http://schemas.openxmlformats.org/drawingml/2006/main"/>
        </p:blipFill>
        <p:spPr>
          <a:xfrm xmlns:a="http://schemas.openxmlformats.org/drawingml/2006/main">
            <a:off x="5762625" y="2240756"/>
            <a:ext cx="5895975" cy="294798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2846415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F0FA025-E591-4501-BE3E-7BFEC8ECA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raw rule is weak, but it taught us exactly what to ask next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AA3097B-FAF1-48D3-B9D1-0B7B5A42A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17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9EEADE0A-3FDC-474B-BB38-ADB84B6D8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7F684A09-8A59-4FA2-B6E9-74C43EDFD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952625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Exit-path hypothesis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0041B32B-A949-4CD0-9C2D-980D1F5B1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47650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Does early failure or giveback contain information before day five?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4021B5EE-92EE-4FB1-8EA4-FF1803F84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76625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0D68AF49-A1A7-439B-85D4-4274A9A53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476625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Environment hypothesis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2DA99135-742A-4F82-9153-FF239087B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00050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Why did 2022 and most high-beta paths fail while NEE avoided losses?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28DA6EB5-3360-40F5-ACB5-710105789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3B6DB29D-C5AC-44D0-B5C9-83D2B51D8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1952625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Pattern-strength hypothesis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1333C9AD-F668-4691-9D82-214072EED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47650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Do gap and candle structure matter after multiplicity is controlled?</a:t>
            </a:r>
          </a:p>
        </p:txBody>
      </p:sp>
      <p:sp>
        <p:nvSpPr>
          <p:cNvPr id="12" name="boundary-panel">
            <a:extLst xmlns:a="http://schemas.openxmlformats.org/drawingml/2006/main">
              <a:ext uri="{FF2B5EF4-FFF2-40B4-BE49-F238E27FC236}">
                <a16:creationId xmlns:a16="http://schemas.microsoft.com/office/drawing/2014/main" id="{7D048964-66FE-4E81-8E1F-E555819F6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76625"/>
            <a:ext cx="49530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2C612881-72A7-4247-8B82-A41D29148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762375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Current decision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C455E0E5-68E1-43FD-94EB-9EB77544C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333875"/>
            <a:ext cx="428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DISCOVERY COMPLETE</a:t>
            </a:r>
          </a:p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 PROMOTION AUTHORITY</a:t>
            </a:r>
          </a:p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2024+ remains sealed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5F43C081-05B4-448A-AE4F-7BB318F6A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Discuss one question before freezing any 01.2 variant or replication.</a:t>
            </a:r>
          </a:p>
        </p:txBody>
      </p:sp>
    </p:spTree>
    <p:extLst>
      <p:ext uri="{BB962C8B-B14F-4D97-AF65-F5344CB8AC3E}">
        <p14:creationId xmlns:p14="http://schemas.microsoft.com/office/powerpoint/2010/main" val="161879908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2026-08-03T05:35:13.8000000Z</dcterms:created>
  <dcterms:modified xsi:type="dcterms:W3CDTF">2026-08-03T05:35:13.8000000Z</dcterms:modified>
</coreProperties>
</file>