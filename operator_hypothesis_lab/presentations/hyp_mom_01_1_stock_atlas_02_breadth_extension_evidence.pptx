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0ca90b3afdc46d3" /><Relationship Type="http://schemas.openxmlformats.org/officeDocument/2006/relationships/extended-properties" Target="/docProps/app.xml" Id="R1c6fe4cd73024f33" /><Relationship Type="http://schemas.openxmlformats.org/officeDocument/2006/relationships/officeDocument" Target="/ppt/presentation.xml" Id="Rdfac8cc4898f4979" /></Relationships>
</file>

<file path=ppt/presentation.xml><?xml version="1.0" encoding="utf-8"?>
<p:presentation xmlns:p="http://schemas.openxmlformats.org/presentationml/2006/main">
  <p:sldMasterIdLst>
    <p:sldMasterId xmlns:r="http://schemas.openxmlformats.org/officeDocument/2006/relationships" id="2147483648" r:id="R89f45f9ba15c46b2"/>
  </p:sldMasterIdLst>
  <p:notesMasterIdLst>
    <p:notesMasterId xmlns:r="http://schemas.openxmlformats.org/officeDocument/2006/relationships" r:id="R3e4184fc69774658"/>
  </p:notesMasterIdLst>
  <p:sldIdLst>
    <p:sldId xmlns:r="http://schemas.openxmlformats.org/officeDocument/2006/relationships" id="256" r:id="Ra27adf78afa7401d"/>
    <p:sldId xmlns:r="http://schemas.openxmlformats.org/officeDocument/2006/relationships" id="257" r:id="Rac1e5998d0da48ca"/>
    <p:sldId xmlns:r="http://schemas.openxmlformats.org/officeDocument/2006/relationships" id="258" r:id="R6eafb798b67d4d27"/>
    <p:sldId xmlns:r="http://schemas.openxmlformats.org/officeDocument/2006/relationships" id="259" r:id="Rcd12cf9fb55f4e14"/>
    <p:sldId xmlns:r="http://schemas.openxmlformats.org/officeDocument/2006/relationships" id="260" r:id="R7befc1332d1b4e3b"/>
    <p:sldId xmlns:r="http://schemas.openxmlformats.org/officeDocument/2006/relationships" id="261" r:id="R9ae880f059bf41e2"/>
    <p:sldId xmlns:r="http://schemas.openxmlformats.org/officeDocument/2006/relationships" id="262" r:id="Ree8ff0d8a4a54828"/>
    <p:sldId xmlns:r="http://schemas.openxmlformats.org/officeDocument/2006/relationships" id="263" r:id="R36f10ddc4c884ae2"/>
    <p:sldId xmlns:r="http://schemas.openxmlformats.org/officeDocument/2006/relationships" id="264" r:id="Rb97b62b1a305459d"/>
    <p:sldId xmlns:r="http://schemas.openxmlformats.org/officeDocument/2006/relationships" id="265" r:id="R56df3c76104f445e"/>
    <p:sldId xmlns:r="http://schemas.openxmlformats.org/officeDocument/2006/relationships" id="266" r:id="Ra10e48393b044a34"/>
    <p:sldId xmlns:r="http://schemas.openxmlformats.org/officeDocument/2006/relationships" id="267" r:id="R5377d6f4d20c4bbb"/>
    <p:sldId xmlns:r="http://schemas.openxmlformats.org/officeDocument/2006/relationships" id="268" r:id="R313d0cdd3bbd4c90"/>
    <p:sldId xmlns:r="http://schemas.openxmlformats.org/officeDocument/2006/relationships" id="269" r:id="R85df56da22c8452a"/>
    <p:sldId xmlns:r="http://schemas.openxmlformats.org/officeDocument/2006/relationships" id="270" r:id="Rc6564e617802402c"/>
    <p:sldId xmlns:r="http://schemas.openxmlformats.org/officeDocument/2006/relationships" id="271" r:id="R119fc83daa774eca"/>
    <p:sldId xmlns:r="http://schemas.openxmlformats.org/officeDocument/2006/relationships" id="272" r:id="R2bba0690c5834000"/>
    <p:sldId xmlns:r="http://schemas.openxmlformats.org/officeDocument/2006/relationships" id="273" r:id="Rf35aaf60d61649b8"/>
    <p:sldId xmlns:r="http://schemas.openxmlformats.org/officeDocument/2006/relationships" id="274" r:id="Ra13bd01596e044e6"/>
    <p:sldId xmlns:r="http://schemas.openxmlformats.org/officeDocument/2006/relationships" id="275" r:id="R22e9e2f957814ffa"/>
    <p:sldId xmlns:r="http://schemas.openxmlformats.org/officeDocument/2006/relationships" id="276" r:id="R5561b183f7dd4b8b"/>
    <p:sldId xmlns:r="http://schemas.openxmlformats.org/officeDocument/2006/relationships" id="277" r:id="Ra988a4277fa7491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039f7c3d23e4bc1" /><Relationship Type="http://schemas.openxmlformats.org/officeDocument/2006/relationships/slideMaster" Target="/ppt/slideMasters/slideMaster1.xml" Id="R89f45f9ba15c46b2" /><Relationship Type="http://schemas.openxmlformats.org/officeDocument/2006/relationships/notesMaster" Target="/ppt/notesMasters/notesMaster1.xml" Id="R3e4184fc69774658" /><Relationship Type="http://schemas.openxmlformats.org/officeDocument/2006/relationships/presProps" Target="/ppt/presProps.xml" Id="R0608dc79a3e04c0a" /><Relationship Type="http://schemas.openxmlformats.org/officeDocument/2006/relationships/tableStyles" Target="/ppt/tableStyles.xml" Id="R776fd36db03248f5" /><Relationship Type="http://schemas.openxmlformats.org/officeDocument/2006/relationships/slide" Target="/ppt/slides/slide1.xml" Id="Ra27adf78afa7401d" /><Relationship Type="http://schemas.openxmlformats.org/officeDocument/2006/relationships/slide" Target="/ppt/slides/slide2.xml" Id="Rac1e5998d0da48ca" /><Relationship Type="http://schemas.openxmlformats.org/officeDocument/2006/relationships/slide" Target="/ppt/slides/slide3.xml" Id="R6eafb798b67d4d27" /><Relationship Type="http://schemas.openxmlformats.org/officeDocument/2006/relationships/slide" Target="/ppt/slides/slide4.xml" Id="Rcd12cf9fb55f4e14" /><Relationship Type="http://schemas.openxmlformats.org/officeDocument/2006/relationships/slide" Target="/ppt/slides/slide5.xml" Id="R7befc1332d1b4e3b" /><Relationship Type="http://schemas.openxmlformats.org/officeDocument/2006/relationships/slide" Target="/ppt/slides/slide6.xml" Id="R9ae880f059bf41e2" /><Relationship Type="http://schemas.openxmlformats.org/officeDocument/2006/relationships/slide" Target="/ppt/slides/slide7.xml" Id="Ree8ff0d8a4a54828" /><Relationship Type="http://schemas.openxmlformats.org/officeDocument/2006/relationships/slide" Target="/ppt/slides/slide8.xml" Id="R36f10ddc4c884ae2" /><Relationship Type="http://schemas.openxmlformats.org/officeDocument/2006/relationships/slide" Target="/ppt/slides/slide9.xml" Id="Rb97b62b1a305459d" /><Relationship Type="http://schemas.openxmlformats.org/officeDocument/2006/relationships/slide" Target="/ppt/slides/slide10.xml" Id="R56df3c76104f445e" /><Relationship Type="http://schemas.openxmlformats.org/officeDocument/2006/relationships/slide" Target="/ppt/slides/slide11.xml" Id="Ra10e48393b044a34" /><Relationship Type="http://schemas.openxmlformats.org/officeDocument/2006/relationships/slide" Target="/ppt/slides/slide12.xml" Id="R5377d6f4d20c4bbb" /><Relationship Type="http://schemas.openxmlformats.org/officeDocument/2006/relationships/slide" Target="/ppt/slides/slide13.xml" Id="R313d0cdd3bbd4c90" /><Relationship Type="http://schemas.openxmlformats.org/officeDocument/2006/relationships/slide" Target="/ppt/slides/slide14.xml" Id="R85df56da22c8452a" /><Relationship Type="http://schemas.openxmlformats.org/officeDocument/2006/relationships/slide" Target="/ppt/slides/slide15.xml" Id="Rc6564e617802402c" /><Relationship Type="http://schemas.openxmlformats.org/officeDocument/2006/relationships/slide" Target="/ppt/slides/slide16.xml" Id="R119fc83daa774eca" /><Relationship Type="http://schemas.openxmlformats.org/officeDocument/2006/relationships/slide" Target="/ppt/slides/slide17.xml" Id="R2bba0690c5834000" /><Relationship Type="http://schemas.openxmlformats.org/officeDocument/2006/relationships/slide" Target="/ppt/slides/slide18.xml" Id="Rf35aaf60d61649b8" /><Relationship Type="http://schemas.openxmlformats.org/officeDocument/2006/relationships/slide" Target="/ppt/slides/slide19.xml" Id="Ra13bd01596e044e6" /><Relationship Type="http://schemas.openxmlformats.org/officeDocument/2006/relationships/slide" Target="/ppt/slides/slide20.xml" Id="R22e9e2f957814ffa" /><Relationship Type="http://schemas.openxmlformats.org/officeDocument/2006/relationships/slide" Target="/ppt/slides/slide21.xml" Id="R5561b183f7dd4b8b" /><Relationship Type="http://schemas.openxmlformats.org/officeDocument/2006/relationships/slide" Target="/ppt/slides/slide22.xml" Id="Ra988a4277fa749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8ca4b28fff45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f7b97f1feab4cca" /><Relationship Type="http://schemas.openxmlformats.org/officeDocument/2006/relationships/notesMaster" Target="/ppt/notesMasters/notesMaster1.xml" Id="R84db52997ac54c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07c8ee191744fa" /><Relationship Type="http://schemas.openxmlformats.org/officeDocument/2006/relationships/notesMaster" Target="/ppt/notesMasters/notesMaster1.xml" Id="R97c63add182c43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b16ea12c2b41f3" /><Relationship Type="http://schemas.openxmlformats.org/officeDocument/2006/relationships/notesMaster" Target="/ppt/notesMasters/notesMaster1.xml" Id="R1ba4a074885f40f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cee6be257304926" /><Relationship Type="http://schemas.openxmlformats.org/officeDocument/2006/relationships/notesMaster" Target="/ppt/notesMasters/notesMaster1.xml" Id="Rf80ebd3411954e4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f2bcc6d36c04d69" /><Relationship Type="http://schemas.openxmlformats.org/officeDocument/2006/relationships/notesMaster" Target="/ppt/notesMasters/notesMaster1.xml" Id="R6ea167e1a43d477a" /></Relationships>
</file>

<file path=ppt/notesSlides/_rels/notesSlide6.xml.rels>&#65279;<?xml version="1.0" encoding="utf-8"?><Relationships xmlns="http://schemas.openxmlformats.org/package/2006/relationships"><Relationship Type="http://schemas.openxmlformats.org/officeDocument/2006/relationships/slide" Target="/ppt/slides/slide6.xml" Id="Raeab2eae326f4b56" /><Relationship Type="http://schemas.openxmlformats.org/officeDocument/2006/relationships/notesMaster" Target="/ppt/notesMasters/notesMaster1.xml" Id="Rf37fcd6ba37046a5"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201cabb60f4b09" /><Relationship Type="http://schemas.openxmlformats.org/officeDocument/2006/relationships/notesMaster" Target="/ppt/notesMasters/notesMaster1.xml" Id="R42ccb4e3c4394b00" /></Relationships>
</file>

<file path=ppt/notesSlides/_rels/notesSlide8.xml.rels>&#65279;<?xml version="1.0" encoding="utf-8"?><Relationships xmlns="http://schemas.openxmlformats.org/package/2006/relationships"><Relationship Type="http://schemas.openxmlformats.org/officeDocument/2006/relationships/slide" Target="/ppt/slides/slide8.xml" Id="R4bb441f3207e4a55" /><Relationship Type="http://schemas.openxmlformats.org/officeDocument/2006/relationships/notesMaster" Target="/ppt/notesMasters/notesMaster1.xml" Id="R1f820c5ea12a486b" /></Relationships>
</file>

<file path=ppt/notesSlides/_rels/notesSlide9.xml.rels>&#65279;<?xml version="1.0" encoding="utf-8"?><Relationships xmlns="http://schemas.openxmlformats.org/package/2006/relationships"><Relationship Type="http://schemas.openxmlformats.org/officeDocument/2006/relationships/slide" Target="/ppt/slides/slide9.xml" Id="Rf1f50a541d954b00" /><Relationship Type="http://schemas.openxmlformats.org/officeDocument/2006/relationships/notesMaster" Target="/ppt/notesMasters/notesMaster1.xml" Id="R379605caafaa44b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401aa5934304725" /><Relationship Type="http://schemas.openxmlformats.org/officeDocument/2006/relationships/notesMaster" Target="/ppt/notesMasters/notesMaster1.xml" Id="R241c6926929d40c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717628c624e43f8" /><Relationship Type="http://schemas.openxmlformats.org/officeDocument/2006/relationships/notesMaster" Target="/ppt/notesMasters/notesMaster1.xml" Id="R4bc9b221fbe6402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2b7456683ee421e" /><Relationship Type="http://schemas.openxmlformats.org/officeDocument/2006/relationships/notesMaster" Target="/ppt/notesMasters/notesMaster1.xml" Id="Rd3ce64d699fd484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9da312fe5354cfa" /><Relationship Type="http://schemas.openxmlformats.org/officeDocument/2006/relationships/notesMaster" Target="/ppt/notesMasters/notesMaster1.xml" Id="R3f3f5380395c403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ff6fe26910a4f4b" /><Relationship Type="http://schemas.openxmlformats.org/officeDocument/2006/relationships/notesMaster" Target="/ppt/notesMasters/notesMaster1.xml" Id="R4e1cd526d35547f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c6238f555b746f5" /><Relationship Type="http://schemas.openxmlformats.org/officeDocument/2006/relationships/notesMaster" Target="/ppt/notesMasters/notesMaster1.xml" Id="R27d863444f5643d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c43450542e24d03" /><Relationship Type="http://schemas.openxmlformats.org/officeDocument/2006/relationships/notesMaster" Target="/ppt/notesMasters/notesMaster1.xml" Id="R550864be875f479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86a3f7ac7794272" /><Relationship Type="http://schemas.openxmlformats.org/officeDocument/2006/relationships/notesMaster" Target="/ppt/notesMasters/notesMaster1.xml" Id="Rbb1b60e6f350476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9d6390b47b7473c" /><Relationship Type="http://schemas.openxmlformats.org/officeDocument/2006/relationships/notesMaster" Target="/ppt/notesMasters/notesMaster1.xml" Id="Rb19864e1439f4fd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3a90151cdd843a0" /><Relationship Type="http://schemas.openxmlformats.org/officeDocument/2006/relationships/notesMaster" Target="/ppt/notesMasters/notesMaster1.xml" Id="R89f5959a600142f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a03d4da64c14b15" /><Relationship Type="http://schemas.openxmlformats.org/officeDocument/2006/relationships/notesMaster" Target="/ppt/notesMasters/notesMaster1.xml" Id="R58c41191d7c1421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e8b0d9aabba4e14" /><Relationship Type="http://schemas.openxmlformats.org/officeDocument/2006/relationships/notesMaster" Target="/ppt/notesMasters/notesMaster1.xml" Id="R66567c36e8c447c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379358a325d484d" /><Relationship Type="http://schemas.openxmlformats.org/officeDocument/2006/relationships/notesMaster" Target="/ppt/notesMasters/notesMaster1.xml" Id="R020c7a2fdb2946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22-asset diagnostic atlas produced several intriguing descriptive hints. This frozen breadth extension asks whether they survive a much wider stock panel. The answer is consequential: the basic loss-tail problem persists, while the strongest original diagnostic candidates shrink materially.</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Project\Time-Series-Modeling-Gen5\operator_hypothesis_lab\docs\HYP_MOM_01_1_STOCK_ATLAS_02_BREADTH_EXTENSION_CONTRACT.md</a:t>
            </a:r>
          </a:p>
          <a:p xmlns:a="http://schemas.openxmlformats.org/drawingml/2006/main">
            <a:r>
              <a:t>- C:\Users\Franc\OneDrive\Documents\Francis\Peltata Project\Time-Series-Modeling-Gen5\operator_hypothesis_lab\docs\HYP_MOM_01_1_STOCK_ATLAS_02_BREADTH_EXTENSION_RESULTS.md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only intended change is the asset registry. Trade mechanics, costs, diagnostic definitions, matching logic, and the already inspected 2021-2023 window are unchanged. This preserves comparability but means the merged analysis remains discovery evidence.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Project\Time-Series-Modeling-Gen5\operator_hypothesis_lab\docs\HYP_MOM_01_1_STOCK_ATLAS_02_BREADTH_EXTENSION_CONTRACT.md</a:t>
            </a:r>
          </a:p>
          <a:p xmlns:a="http://schemas.openxmlformats.org/drawingml/2006/main">
            <a:r>
              <a:t>- C:\Users\Franc\OneDrive\Documents\Francis\Peltata Project\Time-Series-Modeling-Gen5\literature_studies\registries\gen5_lit_mom_01_2_stock_atlas_02_2020_breadth_attention_registry.csv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reused registry contributed 74 of 75 diversified-core names and 20 of 25 retail-attention names. DOW, NIO, and ADT failed valid adjusted OHLCV; APHA and SNE lacked the required discovery history; LI lacked the frozen 220-session prehistory. No failures were replaced. Provider warnings remain visible, but all 94 analyzed additions pass the exact requested window and prehistory gates.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Project\Time-Series-Modeling-Gen5\literature_studies\registries\gen5_lit_mom_01_2_stock_atlas_02_2020_breadth_attention_registry.csv</a:t>
            </a:r>
          </a:p>
          <a:p xmlns:a="http://schemas.openxmlformats.org/drawingml/2006/main">
            <a:r>
              <a:t>- C:\Users\Franc\OneDrive\Documents\Francis\Peltata Project\Time-Series-Modeling-Gen5\runs\research_workbench\operator_hypothesis_lab\hyp_mom_01_1_stock_atlas_02_breadth_extension_20260804\hyp_mom_01_1_breadth_coverage.csv</a:t>
            </a:r>
          </a:p>
          <a:p xmlns:a="http://schemas.openxmlformats.org/drawingml/2006/main">
            <a:r>
              <a:t>- C:\Users\Franc\OneDrive\Documents\Francis\Peltata Project\Time-Series-Modeling-Gen5\runs\research_workbench\operator_hypothesis_lab\hyp_mom_01_1_stock_atlas_02_breadth_extension_20260804\hyp_mom_01_1_breadth_query_health.csv</a:t>
            </a:r>
          </a:p>
          <a:p xmlns:a="http://schemas.openxmlformats.org/drawingml/2006/main">
            <a:r>
              <a:t>- C:\Users\Franc\OneDrive\Documents\Francis\Peltata Project\Time-Series-Modeling-Gen5\runs\research_workbench\operator_hypothesis_lab\hyp_mom_01_1_stock_atlas_02_breadth_extension_20260804\visuals\breadth_coverage_and_composition.png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Breadth confirms a distribution-shape problem rather than a simple hit-rate problem. The signal wins slightly more than half the time, but the average loss is larger than the average gain and the downside tail is heavier. Primary costs are five basis points per side.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Project\Time-Series-Modeling-Gen5\runs\research_workbench\operator_hypothesis_lab\hyp_mom_01_1_stock_atlas_02_breadth_extension_20260804\hyp_mom_01_1_breadth_panel_summary.csv</a:t>
            </a:r>
          </a:p>
          <a:p xmlns:a="http://schemas.openxmlformats.org/drawingml/2006/main">
            <a:r>
              <a:t>- C:\Users\Franc\OneDrive\Documents\Francis\Peltata Project\Time-Series-Modeling-Gen5\operator_hypothesis_lab\docs\HYP_MOM_01_1_STOCK_ATLAS_02_BREADTH_EXTENSION_RESULTS.md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and new panels have nearly identical hit rates and positive medians, but both have negative mean trade returns after primary costs. The median new-panel asset was nearly flat rather than convincingly positive. This is useful replication of the failure shape, not evidence of a deployable edge.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Project\Time-Series-Modeling-Gen5\runs\research_workbench\operator_hypothesis_lab\hyp_mom_01_1_stock_atlas_02_breadth_extension_20260804\hyp_mom_01_1_breadth_panel_summary.csv</a:t>
            </a:r>
          </a:p>
          <a:p xmlns:a="http://schemas.openxmlformats.org/drawingml/2006/main">
            <a:r>
              <a:t>- C:\Users\Franc\OneDrive\Documents\Francis\Peltata Project\Time-Series-Modeling-Gen5\runs\research_workbench\operator_hypothesis_lab\hyp_mom_01_1_stock_atlas_02_breadth_extension_20260804\visuals\panel_strategy_comparison.png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Only 34 of 116 assets beat their own buy-and-hold return over the discovery window. The median asset ranked at the 43.05th percentile of matched random-entry controls; only 20 assets exceeded the 80th percentile. The rule therefore lacks a broad generic timing advantage.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Project\Time-Series-Modeling-Gen5\runs\research_workbench\operator_hypothesis_lab\hyp_mom_01_1_stock_atlas_02_breadth_extension_20260804\hyp_mom_01_1_breadth_asset_summary.csv</a:t>
            </a:r>
          </a:p>
          <a:p xmlns:a="http://schemas.openxmlformats.org/drawingml/2006/main">
            <a:r>
              <a:t>- C:\Users\Franc\OneDrive\Documents\Francis\Peltata Project\Time-Series-Modeling-Gen5\runs\research_workbench\operator_hypothesis_lab\hyp_mom_01_1_stock_atlas_02_breadth_extension_20260804\hyp_mom_01_1_breadth_random_controls.csv</a:t>
            </a:r>
          </a:p>
          <a:p xmlns:a="http://schemas.openxmlformats.org/drawingml/2006/main">
            <a:r>
              <a:t>- C:\Users\Franc\OneDrive\Documents\Francis\Peltata Project\Time-Series-Modeling-Gen5\runs\research_workbench\operator_hypothesis_lab\hyp_mom_01_1_stock_atlas_02_breadth_extension_20260804\visuals\wide_asset_ownership_and_random_controls.png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22-asset atlas left normalized gap size and SPY above SMA200 as the most interesting descriptive candidates. The next section compares those exact estimands with the new 94-asset panel and the merged 116-asset pool.</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Project\Time-Series-Modeling-Gen5\operator_hypothesis_lab\docs\HYP_MOM_01_1_DIAGNOSTIC_ATLAS_01_RESULTS.md</a:t>
            </a:r>
          </a:p>
          <a:p xmlns:a="http://schemas.openxmlformats.org/drawingml/2006/main">
            <a:r>
              <a:t>- C:\Users\Franc\OneDrive\Documents\Francis\Peltata Project\Time-Series-Modeling-Gen5\operator_hypothesis_lab\docs\HYP_MOM_01_1_STOCK_ATLAS_02_BREADTH_EXTENSION_RESULTS.md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contrasts first estimate each condition difference within each asset and then give every asset one vote. All combined 95% asset-bootstrap intervals cross zero and sign breadth stays close to half. No condition clears a generalization standard.</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Project\Time-Series-Modeling-Gen5\runs\research_workbench\operator_hypothesis_lab\hyp_mom_01_1_stock_atlas_02_breadth_extension_20260804\hyp_mom_01_1_breadth_diagnostic_contrasts.csv</a:t>
            </a:r>
          </a:p>
          <a:p xmlns:a="http://schemas.openxmlformats.org/drawingml/2006/main">
            <a:r>
              <a:t>- C:\Users\Franc\OneDrive\Documents\Francis\Peltata Project\Time-Series-Modeling-Gen5\runs\research_workbench\operator_hypothesis_lab\hyp_mom_01_1_stock_atlas_02_breadth_extension_20260804\visuals\diagnostic_contrast_panel_comparison.png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nine combined cells do not increase steadily with gap or body strength. High-gap/high-body averaged only about +0.21%, while low-body/middle-gap averaged about +0.34%; the middle-body/middle-gap cell was negative. Selecting a cell after seeing this surface would be post-hoc threshold mining.</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Project\Time-Series-Modeling-Gen5\runs\research_workbench\operator_hypothesis_lab\hyp_mom_01_1_stock_atlas_02_breadth_extension_20260804\hyp_mom_01_1_breadth_conditional_summary.csv</a:t>
            </a:r>
          </a:p>
          <a:p xmlns:a="http://schemas.openxmlformats.org/drawingml/2006/main">
            <a:r>
              <a:t>- C:\Users\Franc\OneDrive\Documents\Francis\Peltata Project\Time-Series-Modeling-Gen5\runs\research_workbench\operator_hypothesis_lab\hyp_mom_01_1_stock_atlas_02_breadth_extension_20260804\visuals\combined_gap_body_heatmap.png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SPY above versus below SMA200 was +0.571 percentage points in the original panel but only +0.061 in the 94-asset extension. The combined estimate is +0.158 with a 95% interval from -0.147 to +0.459 and 56% positive asset contrasts. This no longer justifies opening a replication lane from this evidence alone.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Project\Time-Series-Modeling-Gen5\runs\research_workbench\operator_hypothesis_lab\hyp_mom_01_1_stock_atlas_02_breadth_extension_20260804\hyp_mom_01_1_breadth_diagnostic_contrasts.csv</a:t>
            </a:r>
          </a:p>
          <a:p xmlns:a="http://schemas.openxmlformats.org/drawingml/2006/main">
            <a:r>
              <a:t>- C:\Users\Franc\OneDrive\Documents\Francis\Peltata Project\Time-Series-Modeling-Gen5\operator_hypothesis_lab\docs\HYP_MOM_01_1_DIAGNOSTIC_ATLAS_01_RESULTS.md</a:t>
            </a:r>
          </a:p>
          <a:p xmlns:a="http://schemas.openxmlformats.org/drawingml/2006/main">
            <a:r>
              <a:t>- C:\Users\Franc\OneDrive\Documents\Francis\Peltata Project\Time-Series-Modeling-Gen5\runs\research_workbench\operator_hypothesis_lab\hyp_mom_01_1_stock_atlas_02_breadth_extension_20260804\visuals\spy_sma200_persistence.png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Pooling trades weights assets by their signal counts. Equal-asset contrasts calculate the condition effect inside each asset and then average those asset effects. Because the question is whether a condition generalizes across assets, equal-asset is primary. The sign reversal around the asset SMA200 shows why this distinction matters.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Project\Time-Series-Modeling-Gen5\runs\research_workbench\operator_hypothesis_lab\hyp_mom_01_1_stock_atlas_02_breadth_extension_20260804\hyp_mom_01_1_breadth_diagnostic_contrasts.csv</a:t>
            </a:r>
          </a:p>
          <a:p xmlns:a="http://schemas.openxmlformats.org/drawingml/2006/main">
            <a:r>
              <a:t>- C:\Users\Franc\OneDrive\Documents\Francis\Peltata Project\Time-Series-Modeling-Gen5\operator_hypothesis_lab\docs\HYP_MOM_01_1_STOCK_ATLAS_02_BREADTH_EXTENSION_RESULTS.md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20-session asset momentum point estimate is small and only slightly more than half the assets agree. SPY 60-session momentum has a larger point estimate but fewer than half of asset contrasts are positive, indicating minority large effects. Continuous within-asset correlations are close to zero, so no monotonic filter appears.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Project\Time-Series-Modeling-Gen5\runs\research_workbench\operator_hypothesis_lab\hyp_mom_01_1_stock_atlas_02_breadth_extension_20260804\hyp_mom_01_1_breadth_diagnostic_contrasts.csv</a:t>
            </a:r>
          </a:p>
          <a:p xmlns:a="http://schemas.openxmlformats.org/drawingml/2006/main">
            <a:r>
              <a:t>- C:\Users\Franc\OneDrive\Documents\Francis\Peltata Project\Time-Series-Modeling-Gen5\runs\research_workbench\operator_hypothesis_lab\hyp_mom_01_1_stock_atlas_02_breadth_extension_20260804\hyp_mom_01_1_breadth_correlation_summary.csv</a:t>
            </a:r>
          </a:p>
          <a:p xmlns:a="http://schemas.openxmlformats.org/drawingml/2006/main">
            <a:r>
              <a:t>- C:\Users\Franc\OneDrive\Documents\Francis\Peltata Project\Time-Series-Modeling-Gen5\operator_hypothesis_lab\docs\HYP_MOM_01_1_STOCK_ATLAS_02_BREADTH_EXTENSION_RESULTS.md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Trades already positive by each checkpoint naturally finish better on average, but the relevant exit question is the return still remaining after that checkpoint. Equal-asset remaining-return contrasts are small, unstable, and change sign. Day three is a near miss in reused data, not authority for a stop, add, or continuation rule.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Project\Time-Series-Modeling-Gen5\runs\research_workbench\operator_hypothesis_lab\hyp_mom_01_1_stock_atlas_02_breadth_extension_20260804\hyp_mom_01_1_breadth_checkpoint_contrasts.csv</a:t>
            </a:r>
          </a:p>
          <a:p xmlns:a="http://schemas.openxmlformats.org/drawingml/2006/main">
            <a:r>
              <a:t>- C:\Users\Franc\OneDrive\Documents\Francis\Peltata Project\Time-Series-Modeling-Gen5\runs\research_workbench\operator_hypothesis_lab\hyp_mom_01_1_stock_atlas_02_breadth_extension_20260804\visuals\checkpoint_persistence.png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diversified-core additions averaged +0.159% per trade, while the frozen 2020 retail-attention cohort averaged -0.826% and had a median asset return of -24.64%. The cohorts differ in volatility, sector, listing history, and construction purpose, so this is descriptive heterogeneity rather than validated selection authority. Sector ordering must not be mined.</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Project\Time-Series-Modeling-Gen5\runs\research_workbench\operator_hypothesis_lab\hyp_mom_01_1_stock_atlas_02_breadth_extension_20260804\hyp_mom_01_1_breadth_cohort_summary.csv</a:t>
            </a:r>
          </a:p>
          <a:p xmlns:a="http://schemas.openxmlformats.org/drawingml/2006/main">
            <a:r>
              <a:t>- C:\Users\Franc\OneDrive\Documents\Francis\Peltata Project\Time-Series-Modeling-Gen5\runs\research_workbench\operator_hypothesis_lab\hyp_mom_01_1_stock_atlas_02_breadth_extension_20260804\hyp_mom_01_1_breadth_sector_summary.csv</a:t>
            </a:r>
          </a:p>
          <a:p xmlns:a="http://schemas.openxmlformats.org/drawingml/2006/main">
            <a:r>
              <a:t>- C:\Users\Franc\OneDrive\Documents\Francis\Peltata Project\Time-Series-Modeling-Gen5\runs\research_workbench\operator_hypothesis_lab\hyp_mom_01_1_stock_atlas_02_breadth_extension_20260804\visuals\cohort_and_sector_outcomes.png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representative tapes were selected mechanically before individual inspection: pooled median, best, worst, SPY-above median, SPY-below median, and high-gap/high-body median. They illustrate the aggregate result without replacing it.</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Project\Time-Series-Modeling-Gen5\runs\research_workbench\operator_hypothesis_lab\hyp_mom_01_1_stock_atlas_02_breadth_extension_20260804\hyp_mom_01_1_breadth_tape_manifest.csv</a:t>
            </a:r>
          </a:p>
          <a:p xmlns:a="http://schemas.openxmlformats.org/drawingml/2006/main">
            <a:r>
              <a:t>- C:\Users\Franc\OneDrive\Documents\Francis\Peltata Project\Time-Series-Modeling-Gen5\operator_hypothesis_lab\docs\HYP_MOM_01_1_STOCK_ATLAS_02_BREADTH_EXTENSION_CONTRACT.md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CGC gained 63.35% after a violent rebound from a long decline. SPY was above SMA200, but the asset itself was far below its falling SMA200. The extreme winner shows why a positive hit rate can coexist with heterogeneous mechanisms inside the same formula.</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Project\Time-Series-Modeling-Gen5\runs\research_workbench\operator_hypothesis_lab\hyp_mom_01_1_stock_atlas_02_breadth_extension_20260804\hyp_mom_01_1_breadth_tape_manifest.csv</a:t>
            </a:r>
          </a:p>
          <a:p xmlns:a="http://schemas.openxmlformats.org/drawingml/2006/main">
            <a:r>
              <a:t>- C:\Users\Franc\OneDrive\Documents\Francis\Peltata Project\Time-Series-Modeling-Gen5\runs\research_workbench\operator_hypothesis_lab\hyp_mom_01_1_stock_atlas_02_breadth_extension_20260804\visuals\breadth_tape_02_highest_primary_return_cgc.png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PLUG lost 50.05% as an apparently strong two-gap pattern failed into a collapse. SPY was above SMA200 here too. Market permission did not remove idiosyncratic tail risk.</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Project\Time-Series-Modeling-Gen5\runs\research_workbench\operator_hypothesis_lab\hyp_mom_01_1_stock_atlas_02_breadth_extension_20260804\hyp_mom_01_1_breadth_tape_manifest.csv</a:t>
            </a:r>
          </a:p>
          <a:p xmlns:a="http://schemas.openxmlformats.org/drawingml/2006/main">
            <a:r>
              <a:t>- C:\Users\Franc\OneDrive\Documents\Francis\Peltata Project\Time-Series-Modeling-Gen5\runs\research_workbench\operator_hypothesis_lab\hyp_mom_01_1_stock_atlas_02_breadth_extension_20260804\visuals\breadth_tape_03_lowest_primary_return_plug.png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PSA is the frozen medoid-return trade among signals generated while SPY was above SMA200. The result is modest rather than transformative, matching the weak new-panel equal-asset contrast.</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Project\Time-Series-Modeling-Gen5\runs\research_workbench\operator_hypothesis_lab\hyp_mom_01_1_stock_atlas_02_breadth_extension_20260804\hyp_mom_01_1_breadth_tape_manifest.csv</a:t>
            </a:r>
          </a:p>
          <a:p xmlns:a="http://schemas.openxmlformats.org/drawingml/2006/main">
            <a:r>
              <a:t>- C:\Users\Franc\OneDrive\Documents\Francis\Peltata Project\Time-Series-Modeling-Gen5\runs\research_workbench\operator_hypothesis_lab\hyp_mom_01_1_stock_atlas_02_breadth_extension_20260804\visuals\breadth_tape_04_spy_above_medoid_return_psa.png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ABBV is the frozen medoid-return trade while SPY was below SMA200. Comparing it with PSA makes the widened quantitative result tangible: the median examples are nearly indistinguishable even though the pooled state means differ.</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Project\Time-Series-Modeling-Gen5\runs\research_workbench\operator_hypothesis_lab\hyp_mom_01_1_stock_atlas_02_breadth_extension_20260804\hyp_mom_01_1_breadth_tape_manifest.csv</a:t>
            </a:r>
          </a:p>
          <a:p xmlns:a="http://schemas.openxmlformats.org/drawingml/2006/main">
            <a:r>
              <a:t>- C:\Users\Franc\OneDrive\Documents\Francis\Peltata Project\Time-Series-Modeling-Gen5\runs\research_workbench\operator_hypothesis_lab\hyp_mom_01_1_stock_atlas_02_breadth_extension_20260804\visuals\breadth_tape_05_spy_below_medoid_return_abbv.png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 is the combined pooled medoid-return trade at +0.19%. The normalized body was large, but the five-session outcome was ordinary.</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Project\Time-Series-Modeling-Gen5\runs\research_workbench\operator_hypothesis_lab\hyp_mom_01_1_stock_atlas_02_breadth_extension_20260804\hyp_mom_01_1_breadth_tape_manifest.csv</a:t>
            </a:r>
          </a:p>
          <a:p xmlns:a="http://schemas.openxmlformats.org/drawingml/2006/main">
            <a:r>
              <a:t>- C:\Users\Franc\OneDrive\Documents\Francis\Peltata Project\Time-Series-Modeling-Gen5\runs\research_workbench\operator_hypothesis_lab\hyp_mom_01_1_stock_atlas_02_breadth_extension_20260804\visuals\breadth_tape_01_pooled_medoid_return_c.png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NUE is the frozen medoid inside the high-gap/high-body cell. Its nearly flat outcome reinforces the nonmonotonic heatmap: visual pattern intensity does not reliably separate stronger five-session outcomes.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Project\Time-Series-Modeling-Gen5\runs\research_workbench\operator_hypothesis_lab\hyp_mom_01_1_stock_atlas_02_breadth_extension_20260804\hyp_mom_01_1_breadth_tape_manifest.csv</a:t>
            </a:r>
          </a:p>
          <a:p xmlns:a="http://schemas.openxmlformats.org/drawingml/2006/main">
            <a:r>
              <a:t>- C:\Users\Franc\OneDrive\Documents\Francis\Peltata Project\Time-Series-Modeling-Gen5\runs\research_workbench\operator_hypothesis_lab\hyp_mom_01_1_stock_atlas_02_breadth_extension_20260804\visuals\breadth_tape_06_high_gap_high_body_medoid_nue.png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wider atlas did exactly what it should: it converted intriguing small-panel hints into a more reliable null. This does not make the investigation unproductive. It clarifies that future progress should start from a new mechanism or a distinct predeclared question rather than tuning thresholds inside the same 116 assets and 2021-2023 window.</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Project\Time-Series-Modeling-Gen5\operator_hypothesis_lab\docs\HYP_MOM_01_1_STOCK_ATLAS_02_BREADTH_EXTENSION_RESULTS.md</a:t>
            </a:r>
          </a:p>
          <a:p xmlns:a="http://schemas.openxmlformats.org/drawingml/2006/main">
            <a:r>
              <a:t>- C:\Users\Franc\OneDrive\Documents\Francis\Peltata Project\Time-Series-Modeling-Gen5\operator_hypothesis_lab\docs\HYP_MOM_01_1_STOCK_ATLAS_02_BREADTH_EXTENSION_CONTRACT.md</a:t>
            </a:r>
          </a:p>
          <a:p xmlns:a="http://schemas.openxmlformats.org/drawingml/2006/main">
            <a:r>
              <a:t>- C:\Users\Franc\OneDrive\Documents\Francis\Peltata Project\Time-Series-Modeling-Gen5\runs\research_workbench\operator_hypothesis_lab\hyp_mom_01_1_stock_atlas_02_breadth_extension_20260804\hyp_mom_01_1_breadth_panel_summary.csv</a:t>
            </a:r>
          </a:p>
          <a:p xmlns:a="http://schemas.openxmlformats.org/drawingml/2006/main">
            <a:r>
              <a:t>- C:\Users\Franc\OneDrive\Documents\Francis\Peltata Project\Time-Series-Modeling-Gen5\runs\research_workbench\operator_hypothesis_lab\hyp_mom_01_1_stock_atlas_02_breadth_extension_20260804\hyp_mom_01_1_breadth_diagnostic_contrasts.csv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b24b5febf94c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dd3280588294d2b" /><Relationship Type="http://schemas.openxmlformats.org/officeDocument/2006/relationships/slideLayout" Target="/ppt/slideLayouts/slideLayout1.xml" Id="R3d3c4d69e08446a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3c4d69e08446a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05ade2d59a949e5" /><Relationship Type="http://schemas.openxmlformats.org/officeDocument/2006/relationships/notesSlide" Target="/ppt/notesSlides/notesSlide1.xml" Id="R851b94eef4c545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6a0dcf61f204633" /><Relationship Type="http://schemas.openxmlformats.org/officeDocument/2006/relationships/notesSlide" Target="/ppt/notesSlides/notesSlide2.xml" Id="R28460b51a1b14a1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5bf85770ec645d4" /><Relationship Type="http://schemas.openxmlformats.org/officeDocument/2006/relationships/image" Target="/ppt/media/image.png" Id="R996817ce30e946b2" /><Relationship Type="http://schemas.openxmlformats.org/officeDocument/2006/relationships/notesSlide" Target="/ppt/notesSlides/notesSlide3.xml" Id="R9d9cc8805b534a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a4cdc38f050450f" /><Relationship Type="http://schemas.openxmlformats.org/officeDocument/2006/relationships/notesSlide" Target="/ppt/notesSlides/notesSlide4.xml" Id="Re5f621f99289412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29e6ad732c348c7" /><Relationship Type="http://schemas.openxmlformats.org/officeDocument/2006/relationships/image" Target="/ppt/media/image2.png" Id="Rfc77d92679904a5c" /><Relationship Type="http://schemas.openxmlformats.org/officeDocument/2006/relationships/notesSlide" Target="/ppt/notesSlides/notesSlide5.xml" Id="R85778963aea6439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ba0202f8ff64d24" /><Relationship Type="http://schemas.openxmlformats.org/officeDocument/2006/relationships/image" Target="/ppt/media/image3.png" Id="R19a9098c99ef49a2" /><Relationship Type="http://schemas.openxmlformats.org/officeDocument/2006/relationships/notesSlide" Target="/ppt/notesSlides/notesSlide6.xml" Id="Rbba420369075490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0b6a528ec3a40e3" /><Relationship Type="http://schemas.openxmlformats.org/officeDocument/2006/relationships/notesSlide" Target="/ppt/notesSlides/notesSlide7.xml" Id="R9b8d002666d442f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f5c171dacaa4f21" /><Relationship Type="http://schemas.openxmlformats.org/officeDocument/2006/relationships/image" Target="/ppt/media/image4.png" Id="Rd146d0bb837146f8" /><Relationship Type="http://schemas.openxmlformats.org/officeDocument/2006/relationships/notesSlide" Target="/ppt/notesSlides/notesSlide8.xml" Id="Ra55fe695fb8a426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1475df0b0c04ba5" /><Relationship Type="http://schemas.openxmlformats.org/officeDocument/2006/relationships/image" Target="/ppt/media/image5.png" Id="R4f49bfdeff874c07" /><Relationship Type="http://schemas.openxmlformats.org/officeDocument/2006/relationships/notesSlide" Target="/ppt/notesSlides/notesSlide9.xml" Id="R58e39c18e0654fe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ac947a3222f42b0" /><Relationship Type="http://schemas.openxmlformats.org/officeDocument/2006/relationships/image" Target="/ppt/media/image6.png" Id="Re04184e02fe0495a" /><Relationship Type="http://schemas.openxmlformats.org/officeDocument/2006/relationships/notesSlide" Target="/ppt/notesSlides/notesSlide10.xml" Id="R9decd02662064c6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303bbb65bbb4f84" /><Relationship Type="http://schemas.openxmlformats.org/officeDocument/2006/relationships/notesSlide" Target="/ppt/notesSlides/notesSlide11.xml" Id="Reedeac311fbc4ad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797cd5b0a304351" /><Relationship Type="http://schemas.openxmlformats.org/officeDocument/2006/relationships/notesSlide" Target="/ppt/notesSlides/notesSlide12.xml" Id="R418790367a38413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3d1f8b5221b4ed2" /><Relationship Type="http://schemas.openxmlformats.org/officeDocument/2006/relationships/image" Target="/ppt/media/image7.png" Id="Raf902395924c47c6" /><Relationship Type="http://schemas.openxmlformats.org/officeDocument/2006/relationships/notesSlide" Target="/ppt/notesSlides/notesSlide13.xml" Id="R875fbda681594d3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25c0aa484b44fb3" /><Relationship Type="http://schemas.openxmlformats.org/officeDocument/2006/relationships/image" Target="/ppt/media/image8.png" Id="Rcf3a275efa174ac2" /><Relationship Type="http://schemas.openxmlformats.org/officeDocument/2006/relationships/notesSlide" Target="/ppt/notesSlides/notesSlide14.xml" Id="Rcbd9129ad25c424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18d9ce22a9b45f3" /><Relationship Type="http://schemas.openxmlformats.org/officeDocument/2006/relationships/notesSlide" Target="/ppt/notesSlides/notesSlide15.xml" Id="Rf760080ddd69486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3e25291909f4c24" /><Relationship Type="http://schemas.openxmlformats.org/officeDocument/2006/relationships/image" Target="/ppt/media/image9.png" Id="Rbaedde87d27a439f" /><Relationship Type="http://schemas.openxmlformats.org/officeDocument/2006/relationships/notesSlide" Target="/ppt/notesSlides/notesSlide16.xml" Id="R199d4c76c052449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770172c3b7e4e1c" /><Relationship Type="http://schemas.openxmlformats.org/officeDocument/2006/relationships/image" Target="/ppt/media/image10.png" Id="R5c6ff58e8fba43f7" /><Relationship Type="http://schemas.openxmlformats.org/officeDocument/2006/relationships/notesSlide" Target="/ppt/notesSlides/notesSlide17.xml" Id="R7ff390ffec8f432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b3b700910634c5f" /><Relationship Type="http://schemas.openxmlformats.org/officeDocument/2006/relationships/image" Target="/ppt/media/image11.png" Id="R4215a46b33aa49f8" /><Relationship Type="http://schemas.openxmlformats.org/officeDocument/2006/relationships/notesSlide" Target="/ppt/notesSlides/notesSlide18.xml" Id="R693995ef13464ff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172b460f3d549b4" /><Relationship Type="http://schemas.openxmlformats.org/officeDocument/2006/relationships/image" Target="/ppt/media/image12.png" Id="Rd10a5b8d71b24e58" /><Relationship Type="http://schemas.openxmlformats.org/officeDocument/2006/relationships/notesSlide" Target="/ppt/notesSlides/notesSlide19.xml" Id="Rbd0832bb264048c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c490b4f84f845c9" /><Relationship Type="http://schemas.openxmlformats.org/officeDocument/2006/relationships/image" Target="/ppt/media/image13.png" Id="Ra9d2eb16d2714b27" /><Relationship Type="http://schemas.openxmlformats.org/officeDocument/2006/relationships/notesSlide" Target="/ppt/notesSlides/notesSlide20.xml" Id="Rbc57d89e78bf405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e2abbaceeaa4a4e" /><Relationship Type="http://schemas.openxmlformats.org/officeDocument/2006/relationships/image" Target="/ppt/media/image14.png" Id="R0985406f78374193" /><Relationship Type="http://schemas.openxmlformats.org/officeDocument/2006/relationships/notesSlide" Target="/ppt/notesSlides/notesSlide21.xml" Id="R6883b895c95a4e2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c00e5e822a142a1" /><Relationship Type="http://schemas.openxmlformats.org/officeDocument/2006/relationships/notesSlide" Target="/ppt/notesSlides/notesSlide22.xml" Id="R2f9f6ce87be34ef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a:extLst xmlns:a="http://schemas.openxmlformats.org/drawingml/2006/main">
              <a:ext uri="{FF2B5EF4-FFF2-40B4-BE49-F238E27FC236}">
                <a16:creationId xmlns:a16="http://schemas.microsoft.com/office/drawing/2014/main" id="{55EA832C-2DAA-46E8-9864-A9B00E1BD161}"/>
              </a:ext>
            </a:extLst>
          </p:cNvPr>
          <p:cNvSpPr>
            <a:spLocks xmlns:a="http://schemas.openxmlformats.org/drawingml/2006/main" noGrp="1"/>
          </p:cNvSpPr>
          <p:nvPr/>
        </p:nvSpPr>
        <p:spPr>
          <a:xfrm xmlns:a="http://schemas.openxmlformats.org/drawingml/2006/main">
            <a:off x="390525" y="390525"/>
            <a:ext cx="857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667085"/>
                </a:solidFill>
                <a:latin typeface="Helvetica Neue"/>
                <a:ea typeface="Helvetica Neue"/>
                <a:cs typeface="Helvetica Neue"/>
              </a:defRPr>
            </a:pPr>
            <a:r>
              <a:rPr sz="2100" b="0">
                <a:solidFill>
                  <a:srgbClr val="667085"/>
                </a:solidFill>
                <a:latin typeface="Helvetica Neue"/>
                <a:ea typeface="Helvetica Neue"/>
                <a:cs typeface="Helvetica Neue"/>
              </a:rPr>
              <a:t>OPERATOR HYPOTHESIS LAB | STOCK ATLAS 02</a:t>
            </a:r>
          </a:p>
        </p:txBody>
      </p:sp>
      <p:sp>
        <p:nvSpPr>
          <p:cNvPr id="2" name="text">
            <a:extLst xmlns:a="http://schemas.openxmlformats.org/drawingml/2006/main">
              <a:ext uri="{FF2B5EF4-FFF2-40B4-BE49-F238E27FC236}">
                <a16:creationId xmlns:a16="http://schemas.microsoft.com/office/drawing/2014/main" id="{B22F82A4-A3C6-4B94-AF28-CEBDD7500C14}"/>
              </a:ext>
            </a:extLst>
          </p:cNvPr>
          <p:cNvSpPr>
            <a:spLocks xmlns:a="http://schemas.openxmlformats.org/drawingml/2006/main" noGrp="1"/>
          </p:cNvSpPr>
          <p:nvPr/>
        </p:nvSpPr>
        <p:spPr>
          <a:xfrm xmlns:a="http://schemas.openxmlformats.org/drawingml/2006/main">
            <a:off x="390525" y="1571625"/>
            <a:ext cx="1076325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5850" b="0">
                <a:solidFill>
                  <a:srgbClr val="000000"/>
                </a:solidFill>
                <a:latin typeface="Helvetica Neue"/>
                <a:ea typeface="Helvetica Neue"/>
                <a:cs typeface="Helvetica Neue"/>
              </a:defRPr>
            </a:pPr>
            <a:r>
              <a:rPr sz="5850" b="0">
                <a:solidFill>
                  <a:srgbClr val="000000"/>
                </a:solidFill>
                <a:latin typeface="Helvetica Neue"/>
                <a:ea typeface="Helvetica Neue"/>
                <a:cs typeface="Helvetica Neue"/>
              </a:rPr>
              <a:t>Breadth changed</a:t>
            </a:r>
          </a:p>
          <a:p xmlns:a="http://schemas.openxmlformats.org/drawingml/2006/main">
            <a:pPr algn="l">
              <a:defRPr sz="5850" b="0">
                <a:solidFill>
                  <a:srgbClr val="000000"/>
                </a:solidFill>
                <a:latin typeface="Helvetica Neue"/>
                <a:ea typeface="Helvetica Neue"/>
                <a:cs typeface="Helvetica Neue"/>
              </a:defRPr>
            </a:pPr>
            <a:r>
              <a:rPr sz="5850" b="0">
                <a:solidFill>
                  <a:srgbClr val="000000"/>
                </a:solidFill>
                <a:latin typeface="Helvetica Neue"/>
                <a:ea typeface="Helvetica Neue"/>
                <a:cs typeface="Helvetica Neue"/>
              </a:rPr>
              <a:t>the conclusion</a:t>
            </a:r>
          </a:p>
        </p:txBody>
      </p:sp>
      <p:sp>
        <p:nvSpPr>
          <p:cNvPr id="3" name="text">
            <a:extLst xmlns:a="http://schemas.openxmlformats.org/drawingml/2006/main">
              <a:ext uri="{FF2B5EF4-FFF2-40B4-BE49-F238E27FC236}">
                <a16:creationId xmlns:a16="http://schemas.microsoft.com/office/drawing/2014/main" id="{1DF4A865-F2B7-4F8B-92AD-60219A91E55D}"/>
              </a:ext>
            </a:extLst>
          </p:cNvPr>
          <p:cNvSpPr>
            <a:spLocks xmlns:a="http://schemas.openxmlformats.org/drawingml/2006/main" noGrp="1"/>
          </p:cNvSpPr>
          <p:nvPr/>
        </p:nvSpPr>
        <p:spPr>
          <a:xfrm xmlns:a="http://schemas.openxmlformats.org/drawingml/2006/main">
            <a:off x="390525" y="49530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000000"/>
                </a:solidFill>
                <a:latin typeface="Helvetica Neue"/>
                <a:ea typeface="Helvetica Neue"/>
                <a:cs typeface="Helvetica Neue"/>
              </a:defRPr>
            </a:pPr>
            <a:r>
              <a:rPr sz="2100" b="0">
                <a:solidFill>
                  <a:srgbClr val="000000"/>
                </a:solidFill>
                <a:latin typeface="Helvetica Neue"/>
                <a:ea typeface="Helvetica Neue"/>
                <a:cs typeface="Helvetica Neue"/>
              </a:rPr>
              <a:t>HYP-MOM-01.1 | 116 assets | 4,015 trades | discovery evidence only</a:t>
            </a:r>
          </a:p>
        </p:txBody>
      </p:sp>
    </p:spTree>
    <p:extLst>
      <p:ext uri="{BB962C8B-B14F-4D97-AF65-F5344CB8AC3E}">
        <p14:creationId xmlns:p14="http://schemas.microsoft.com/office/powerpoint/2010/main" val="124618781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19C5D588-D610-45CB-8D22-297A57EB4603}"/>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The strategy and audit were held fixed while only the asset breadth changed</a:t>
            </a:r>
          </a:p>
        </p:txBody>
      </p:sp>
      <p:sp>
        <p:nvSpPr>
          <p:cNvPr id="2" name="page-number">
            <a:extLst xmlns:a="http://schemas.openxmlformats.org/drawingml/2006/main">
              <a:ext uri="{FF2B5EF4-FFF2-40B4-BE49-F238E27FC236}">
                <a16:creationId xmlns:a16="http://schemas.microsoft.com/office/drawing/2014/main" id="{3EBDE5E7-A026-4283-A820-581B3711F272}"/>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2</a:t>
            </a:r>
          </a:p>
        </p:txBody>
      </p:sp>
      <p:sp>
        <p:nvSpPr>
          <p:cNvPr id="3" name="design-0">
            <a:extLst xmlns:a="http://schemas.openxmlformats.org/drawingml/2006/main">
              <a:ext uri="{FF2B5EF4-FFF2-40B4-BE49-F238E27FC236}">
                <a16:creationId xmlns:a16="http://schemas.microsoft.com/office/drawing/2014/main" id="{0651BA4F-BEB0-4A64-B117-FEFB516ADC4F}"/>
              </a:ext>
            </a:extLst>
          </p:cNvPr>
          <p:cNvSpPr>
            <a:spLocks xmlns:a="http://schemas.openxmlformats.org/drawingml/2006/main" noGrp="1"/>
          </p:cNvSpPr>
          <p:nvPr/>
        </p:nvSpPr>
        <p:spPr>
          <a:xfrm xmlns:a="http://schemas.openxmlformats.org/drawingml/2006/main">
            <a:off x="390525" y="1666875"/>
            <a:ext cx="3524250" cy="3524250"/>
          </a:xfrm>
          <a:prstGeom xmlns:a="http://schemas.openxmlformats.org/drawingml/2006/main" prst="roundRect">
            <a:avLst>
              <a:gd name="adj" fmla="val 3243"/>
            </a:avLst>
          </a:prstGeom>
          <a:solidFill xmlns:a="http://schemas.openxmlformats.org/drawingml/2006/main">
            <a:srgbClr val="EDEDED"/>
          </a:solidFill>
          <a:ln xmlns:a="http://schemas.openxmlformats.org/drawingml/2006/main" w="0">
            <a:solidFill>
              <a:srgbClr val="EDEDED"/>
            </a:solidFill>
            <a:prstDash val="solid"/>
          </a:ln>
        </p:spPr>
      </p:sp>
      <p:sp>
        <p:nvSpPr>
          <p:cNvPr id="4" name="text">
            <a:extLst xmlns:a="http://schemas.openxmlformats.org/drawingml/2006/main">
              <a:ext uri="{FF2B5EF4-FFF2-40B4-BE49-F238E27FC236}">
                <a16:creationId xmlns:a16="http://schemas.microsoft.com/office/drawing/2014/main" id="{7C8B96F4-C222-47CC-A34A-BDB68EF83059}"/>
              </a:ext>
            </a:extLst>
          </p:cNvPr>
          <p:cNvSpPr>
            <a:spLocks xmlns:a="http://schemas.openxmlformats.org/drawingml/2006/main" noGrp="1"/>
          </p:cNvSpPr>
          <p:nvPr/>
        </p:nvSpPr>
        <p:spPr>
          <a:xfrm xmlns:a="http://schemas.openxmlformats.org/drawingml/2006/main">
            <a:off x="628650" y="1952625"/>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000000"/>
                </a:solidFill>
                <a:latin typeface="Helvetica Neue"/>
                <a:ea typeface="Helvetica Neue"/>
                <a:cs typeface="Helvetica Neue"/>
              </a:defRPr>
            </a:pPr>
            <a:r>
              <a:rPr sz="1575" b="1">
                <a:solidFill>
                  <a:srgbClr val="000000"/>
                </a:solidFill>
                <a:latin typeface="Helvetica Neue"/>
                <a:ea typeface="Helvetica Neue"/>
                <a:cs typeface="Helvetica Neue"/>
              </a:rPr>
              <a:t>UNCHANGED RULE</a:t>
            </a:r>
          </a:p>
        </p:txBody>
      </p:sp>
      <p:sp>
        <p:nvSpPr>
          <p:cNvPr id="5" name="text">
            <a:extLst xmlns:a="http://schemas.openxmlformats.org/drawingml/2006/main">
              <a:ext uri="{FF2B5EF4-FFF2-40B4-BE49-F238E27FC236}">
                <a16:creationId xmlns:a16="http://schemas.microsoft.com/office/drawing/2014/main" id="{33C5A839-E4E1-4016-B0AD-A1953E7B0822}"/>
              </a:ext>
            </a:extLst>
          </p:cNvPr>
          <p:cNvSpPr>
            <a:spLocks xmlns:a="http://schemas.openxmlformats.org/drawingml/2006/main" noGrp="1"/>
          </p:cNvSpPr>
          <p:nvPr/>
        </p:nvSpPr>
        <p:spPr>
          <a:xfrm xmlns:a="http://schemas.openxmlformats.org/drawingml/2006/main">
            <a:off x="628650" y="2714625"/>
            <a:ext cx="3048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Two completed green gap-ups</a:t>
            </a:r>
          </a:p>
          <a:p xmlns:a="http://schemas.openxmlformats.org/drawingml/2006/main">
            <a:pPr algn="l">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Next-open entry</a:t>
            </a:r>
          </a:p>
          <a:p xmlns:a="http://schemas.openxmlformats.org/drawingml/2006/main">
            <a:pPr algn="l">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Five open-to-open sessions</a:t>
            </a:r>
          </a:p>
          <a:p xmlns:a="http://schemas.openxmlformats.org/drawingml/2006/main">
            <a:pPr algn="l">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Long-only; one asset at a time</a:t>
            </a:r>
          </a:p>
        </p:txBody>
      </p:sp>
      <p:sp>
        <p:nvSpPr>
          <p:cNvPr id="6" name="design-1">
            <a:extLst xmlns:a="http://schemas.openxmlformats.org/drawingml/2006/main">
              <a:ext uri="{FF2B5EF4-FFF2-40B4-BE49-F238E27FC236}">
                <a16:creationId xmlns:a16="http://schemas.microsoft.com/office/drawing/2014/main" id="{B797B736-09E8-4ECA-ACBC-5695F158BBA6}"/>
              </a:ext>
            </a:extLst>
          </p:cNvPr>
          <p:cNvSpPr>
            <a:spLocks xmlns:a="http://schemas.openxmlformats.org/drawingml/2006/main" noGrp="1"/>
          </p:cNvSpPr>
          <p:nvPr/>
        </p:nvSpPr>
        <p:spPr>
          <a:xfrm xmlns:a="http://schemas.openxmlformats.org/drawingml/2006/main">
            <a:off x="4295775" y="1666875"/>
            <a:ext cx="3524250" cy="3524250"/>
          </a:xfrm>
          <a:prstGeom xmlns:a="http://schemas.openxmlformats.org/drawingml/2006/main" prst="roundRect">
            <a:avLst>
              <a:gd name="adj" fmla="val 3243"/>
            </a:avLst>
          </a:prstGeom>
          <a:solidFill xmlns:a="http://schemas.openxmlformats.org/drawingml/2006/main">
            <a:srgbClr val="EAF5FB"/>
          </a:solidFill>
          <a:ln xmlns:a="http://schemas.openxmlformats.org/drawingml/2006/main" w="9525">
            <a:solidFill>
              <a:srgbClr val="3D8DFF"/>
            </a:solidFill>
            <a:prstDash val="solid"/>
          </a:ln>
        </p:spPr>
      </p:sp>
      <p:sp>
        <p:nvSpPr>
          <p:cNvPr id="7" name="text">
            <a:extLst xmlns:a="http://schemas.openxmlformats.org/drawingml/2006/main">
              <a:ext uri="{FF2B5EF4-FFF2-40B4-BE49-F238E27FC236}">
                <a16:creationId xmlns:a16="http://schemas.microsoft.com/office/drawing/2014/main" id="{EE26BFDB-415E-4F19-B729-5F2588E246E6}"/>
              </a:ext>
            </a:extLst>
          </p:cNvPr>
          <p:cNvSpPr>
            <a:spLocks xmlns:a="http://schemas.openxmlformats.org/drawingml/2006/main" noGrp="1"/>
          </p:cNvSpPr>
          <p:nvPr/>
        </p:nvSpPr>
        <p:spPr>
          <a:xfrm xmlns:a="http://schemas.openxmlformats.org/drawingml/2006/main">
            <a:off x="4533900" y="1952625"/>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3D8DFF"/>
                </a:solidFill>
                <a:latin typeface="Helvetica Neue"/>
                <a:ea typeface="Helvetica Neue"/>
                <a:cs typeface="Helvetica Neue"/>
              </a:defRPr>
            </a:pPr>
            <a:r>
              <a:rPr sz="1575" b="1">
                <a:solidFill>
                  <a:srgbClr val="3D8DFF"/>
                </a:solidFill>
                <a:latin typeface="Helvetica Neue"/>
                <a:ea typeface="Helvetica Neue"/>
                <a:cs typeface="Helvetica Neue"/>
              </a:rPr>
              <a:t>FROZEN DATA</a:t>
            </a:r>
          </a:p>
        </p:txBody>
      </p:sp>
      <p:sp>
        <p:nvSpPr>
          <p:cNvPr id="8" name="text">
            <a:extLst xmlns:a="http://schemas.openxmlformats.org/drawingml/2006/main">
              <a:ext uri="{FF2B5EF4-FFF2-40B4-BE49-F238E27FC236}">
                <a16:creationId xmlns:a16="http://schemas.microsoft.com/office/drawing/2014/main" id="{844B3CC9-3BCF-4400-A251-43D11D68194C}"/>
              </a:ext>
            </a:extLst>
          </p:cNvPr>
          <p:cNvSpPr>
            <a:spLocks xmlns:a="http://schemas.openxmlformats.org/drawingml/2006/main" noGrp="1"/>
          </p:cNvSpPr>
          <p:nvPr/>
        </p:nvSpPr>
        <p:spPr>
          <a:xfrm xmlns:a="http://schemas.openxmlformats.org/drawingml/2006/main">
            <a:off x="4533900" y="2714625"/>
            <a:ext cx="3048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2021-2023 discovery</a:t>
            </a:r>
          </a:p>
          <a:p xmlns:a="http://schemas.openxmlformats.org/drawingml/2006/main">
            <a:pPr algn="l">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1,000 matched sessions</a:t>
            </a:r>
          </a:p>
          <a:p xmlns:a="http://schemas.openxmlformats.org/drawingml/2006/main">
            <a:pPr algn="l">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Adjusted daily OHLCV</a:t>
            </a:r>
          </a:p>
          <a:p xmlns:a="http://schemas.openxmlformats.org/drawingml/2006/main">
            <a:pPr algn="l">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2024+ excluded</a:t>
            </a:r>
          </a:p>
        </p:txBody>
      </p:sp>
      <p:sp>
        <p:nvSpPr>
          <p:cNvPr id="9" name="design-2">
            <a:extLst xmlns:a="http://schemas.openxmlformats.org/drawingml/2006/main">
              <a:ext uri="{FF2B5EF4-FFF2-40B4-BE49-F238E27FC236}">
                <a16:creationId xmlns:a16="http://schemas.microsoft.com/office/drawing/2014/main" id="{DCB5FB21-D077-4346-8393-63C8E936E334}"/>
              </a:ext>
            </a:extLst>
          </p:cNvPr>
          <p:cNvSpPr>
            <a:spLocks xmlns:a="http://schemas.openxmlformats.org/drawingml/2006/main" noGrp="1"/>
          </p:cNvSpPr>
          <p:nvPr/>
        </p:nvSpPr>
        <p:spPr>
          <a:xfrm xmlns:a="http://schemas.openxmlformats.org/drawingml/2006/main">
            <a:off x="8201025" y="1666875"/>
            <a:ext cx="3524250" cy="3524250"/>
          </a:xfrm>
          <a:prstGeom xmlns:a="http://schemas.openxmlformats.org/drawingml/2006/main" prst="roundRect">
            <a:avLst>
              <a:gd name="adj" fmla="val 3243"/>
            </a:avLst>
          </a:prstGeom>
          <a:solidFill xmlns:a="http://schemas.openxmlformats.org/drawingml/2006/main">
            <a:srgbClr val="EDEDED"/>
          </a:solidFill>
          <a:ln xmlns:a="http://schemas.openxmlformats.org/drawingml/2006/main" w="0">
            <a:solidFill>
              <a:srgbClr val="EDEDED"/>
            </a:solidFill>
            <a:prstDash val="solid"/>
          </a:ln>
        </p:spPr>
      </p:sp>
      <p:sp>
        <p:nvSpPr>
          <p:cNvPr id="10" name="text">
            <a:extLst xmlns:a="http://schemas.openxmlformats.org/drawingml/2006/main">
              <a:ext uri="{FF2B5EF4-FFF2-40B4-BE49-F238E27FC236}">
                <a16:creationId xmlns:a16="http://schemas.microsoft.com/office/drawing/2014/main" id="{C3EB803F-919F-424E-A68B-2311DEF99FD0}"/>
              </a:ext>
            </a:extLst>
          </p:cNvPr>
          <p:cNvSpPr>
            <a:spLocks xmlns:a="http://schemas.openxmlformats.org/drawingml/2006/main" noGrp="1"/>
          </p:cNvSpPr>
          <p:nvPr/>
        </p:nvSpPr>
        <p:spPr>
          <a:xfrm xmlns:a="http://schemas.openxmlformats.org/drawingml/2006/main">
            <a:off x="8439150" y="1952625"/>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000000"/>
                </a:solidFill>
                <a:latin typeface="Helvetica Neue"/>
                <a:ea typeface="Helvetica Neue"/>
                <a:cs typeface="Helvetica Neue"/>
              </a:defRPr>
            </a:pPr>
            <a:r>
              <a:rPr sz="1575" b="1">
                <a:solidFill>
                  <a:srgbClr val="000000"/>
                </a:solidFill>
                <a:latin typeface="Helvetica Neue"/>
                <a:ea typeface="Helvetica Neue"/>
                <a:cs typeface="Helvetica Neue"/>
              </a:rPr>
              <a:t>SAME AUDIT</a:t>
            </a:r>
          </a:p>
        </p:txBody>
      </p:sp>
      <p:sp>
        <p:nvSpPr>
          <p:cNvPr id="11" name="text">
            <a:extLst xmlns:a="http://schemas.openxmlformats.org/drawingml/2006/main">
              <a:ext uri="{FF2B5EF4-FFF2-40B4-BE49-F238E27FC236}">
                <a16:creationId xmlns:a16="http://schemas.microsoft.com/office/drawing/2014/main" id="{5E10AADE-5036-4AFD-99A3-9382DC20EFB6}"/>
              </a:ext>
            </a:extLst>
          </p:cNvPr>
          <p:cNvSpPr>
            <a:spLocks xmlns:a="http://schemas.openxmlformats.org/drawingml/2006/main" noGrp="1"/>
          </p:cNvSpPr>
          <p:nvPr/>
        </p:nvSpPr>
        <p:spPr>
          <a:xfrm xmlns:a="http://schemas.openxmlformats.org/drawingml/2006/main">
            <a:off x="8439150" y="2714625"/>
            <a:ext cx="3048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Ownership + random timing</a:t>
            </a:r>
          </a:p>
          <a:p xmlns:a="http://schemas.openxmlformats.org/drawingml/2006/main">
            <a:pPr algn="l">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Gap/body + trend states</a:t>
            </a:r>
          </a:p>
          <a:p xmlns:a="http://schemas.openxmlformats.org/drawingml/2006/main">
            <a:pPr algn="l">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Momentum + market context</a:t>
            </a:r>
          </a:p>
          <a:p xmlns:a="http://schemas.openxmlformats.org/drawingml/2006/main">
            <a:pPr algn="l">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Day 1-4 path checkpoints</a:t>
            </a:r>
          </a:p>
        </p:txBody>
      </p:sp>
      <p:sp>
        <p:nvSpPr>
          <p:cNvPr id="12" name="text">
            <a:extLst xmlns:a="http://schemas.openxmlformats.org/drawingml/2006/main">
              <a:ext uri="{FF2B5EF4-FFF2-40B4-BE49-F238E27FC236}">
                <a16:creationId xmlns:a16="http://schemas.microsoft.com/office/drawing/2014/main" id="{FEE8190F-4014-465D-B5D1-2A894C11DA6F}"/>
              </a:ext>
            </a:extLst>
          </p:cNvPr>
          <p:cNvSpPr>
            <a:spLocks xmlns:a="http://schemas.openxmlformats.org/drawingml/2006/main" noGrp="1"/>
          </p:cNvSpPr>
          <p:nvPr/>
        </p:nvSpPr>
        <p:spPr>
          <a:xfrm xmlns:a="http://schemas.openxmlformats.org/drawingml/2006/main">
            <a:off x="390525" y="581025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667085"/>
                </a:solidFill>
                <a:latin typeface="Helvetica Neue"/>
                <a:ea typeface="Helvetica Neue"/>
                <a:cs typeface="Helvetica Neue"/>
              </a:defRPr>
            </a:pPr>
            <a:r>
              <a:rPr sz="1650" b="0">
                <a:solidFill>
                  <a:srgbClr val="667085"/>
                </a:solidFill>
                <a:latin typeface="Helvetica Neue"/>
                <a:ea typeface="Helvetica Neue"/>
                <a:cs typeface="Helvetica Neue"/>
              </a:rPr>
              <a:t>Evidence stage: DISCOVERY_REUSED_WINDOW - breadth improves diagnosis, not validation authority.</a:t>
            </a:r>
          </a:p>
        </p:txBody>
      </p:sp>
    </p:spTree>
    <p:extLst>
      <p:ext uri="{BB962C8B-B14F-4D97-AF65-F5344CB8AC3E}">
        <p14:creationId xmlns:p14="http://schemas.microsoft.com/office/powerpoint/2010/main" val="141751033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9C20F1FA-0E9F-4C5F-A6B3-080AC0F1B653}"/>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953"/>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A frozen 100-name registry yielded 94 eligible additions and 116 assets combined</a:t>
            </a:r>
          </a:p>
        </p:txBody>
      </p:sp>
      <p:sp>
        <p:nvSpPr>
          <p:cNvPr id="2" name="page-number">
            <a:extLst xmlns:a="http://schemas.openxmlformats.org/drawingml/2006/main">
              <a:ext uri="{FF2B5EF4-FFF2-40B4-BE49-F238E27FC236}">
                <a16:creationId xmlns:a16="http://schemas.microsoft.com/office/drawing/2014/main" id="{4D3A6387-A4D2-4A1C-AFE5-147A35E605EC}"/>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3</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96817ce30e946b2"/>
          <a:stretch xmlns:a="http://schemas.openxmlformats.org/drawingml/2006/main"/>
        </p:blipFill>
        <p:spPr>
          <a:xfrm xmlns:a="http://schemas.openxmlformats.org/drawingml/2006/main">
            <a:off x="1926648" y="1028700"/>
            <a:ext cx="8338705" cy="5095875"/>
          </a:xfrm>
          <a:prstGeom xmlns:a="http://schemas.openxmlformats.org/drawingml/2006/main" prst="rect">
            <a:avLst/>
          </a:prstGeom>
        </p:spPr>
      </p:pic>
    </p:spTree>
    <p:extLst>
      <p:ext uri="{BB962C8B-B14F-4D97-AF65-F5344CB8AC3E}">
        <p14:creationId xmlns:p14="http://schemas.microsoft.com/office/powerpoint/2010/main" val="187154301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0" name="slide-title">
            <a:extLst xmlns:a="http://schemas.openxmlformats.org/drawingml/2006/main">
              <a:ext uri="{FF2B5EF4-FFF2-40B4-BE49-F238E27FC236}">
                <a16:creationId xmlns:a16="http://schemas.microsoft.com/office/drawing/2014/main" id="{4F355E3A-3E8D-4E02-8393-DC893ABE3AF6}"/>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The wider pool kept the positive median - and the negative mean</a:t>
            </a:r>
          </a:p>
        </p:txBody>
      </p:sp>
      <p:sp>
        <p:nvSpPr>
          <p:cNvPr id="2" name="page-number">
            <a:extLst xmlns:a="http://schemas.openxmlformats.org/drawingml/2006/main">
              <a:ext uri="{FF2B5EF4-FFF2-40B4-BE49-F238E27FC236}">
                <a16:creationId xmlns:a16="http://schemas.microsoft.com/office/drawing/2014/main" id="{BE4DFA63-038E-48A2-BE6B-5E122AB8E852}"/>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4</a:t>
            </a:r>
          </a:p>
        </p:txBody>
      </p:sp>
      <p:sp>
        <p:nvSpPr>
          <p:cNvPr id="3" name="stat-combined trades">
            <a:extLst xmlns:a="http://schemas.openxmlformats.org/drawingml/2006/main">
              <a:ext uri="{FF2B5EF4-FFF2-40B4-BE49-F238E27FC236}">
                <a16:creationId xmlns:a16="http://schemas.microsoft.com/office/drawing/2014/main" id="{7F4C9324-C4C4-4E33-8EBA-477B257C41B0}"/>
              </a:ext>
            </a:extLst>
          </p:cNvPr>
          <p:cNvSpPr>
            <a:spLocks xmlns:a="http://schemas.openxmlformats.org/drawingml/2006/main" noGrp="1"/>
          </p:cNvSpPr>
          <p:nvPr/>
        </p:nvSpPr>
        <p:spPr>
          <a:xfrm xmlns:a="http://schemas.openxmlformats.org/drawingml/2006/main">
            <a:off x="390525" y="2476500"/>
            <a:ext cx="2581275" cy="2809875"/>
          </a:xfrm>
          <a:prstGeom xmlns:a="http://schemas.openxmlformats.org/drawingml/2006/main" prst="roundRect">
            <a:avLst>
              <a:gd name="adj" fmla="val 4428"/>
            </a:avLst>
          </a:prstGeom>
          <a:solidFill xmlns:a="http://schemas.openxmlformats.org/drawingml/2006/main">
            <a:srgbClr val="EAF5FB"/>
          </a:solidFill>
          <a:ln xmlns:a="http://schemas.openxmlformats.org/drawingml/2006/main" w="0">
            <a:solidFill>
              <a:srgbClr val="EAF5FB"/>
            </a:solidFill>
            <a:prstDash val="solid"/>
          </a:ln>
        </p:spPr>
      </p:sp>
      <p:sp>
        <p:nvSpPr>
          <p:cNvPr id="4" name="text">
            <a:extLst xmlns:a="http://schemas.openxmlformats.org/drawingml/2006/main">
              <a:ext uri="{FF2B5EF4-FFF2-40B4-BE49-F238E27FC236}">
                <a16:creationId xmlns:a16="http://schemas.microsoft.com/office/drawing/2014/main" id="{791FAD9C-B7B5-4B3E-907C-FD544574F8B5}"/>
              </a:ext>
            </a:extLst>
          </p:cNvPr>
          <p:cNvSpPr>
            <a:spLocks xmlns:a="http://schemas.openxmlformats.org/drawingml/2006/main" noGrp="1"/>
          </p:cNvSpPr>
          <p:nvPr/>
        </p:nvSpPr>
        <p:spPr>
          <a:xfrm xmlns:a="http://schemas.openxmlformats.org/drawingml/2006/main">
            <a:off x="619125" y="2857500"/>
            <a:ext cx="21145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3300" b="1">
                <a:solidFill>
                  <a:srgbClr val="000000"/>
                </a:solidFill>
                <a:latin typeface="Helvetica Neue"/>
                <a:ea typeface="Helvetica Neue"/>
                <a:cs typeface="Helvetica Neue"/>
              </a:defRPr>
            </a:pPr>
            <a:r>
              <a:rPr sz="3300" b="1">
                <a:solidFill>
                  <a:srgbClr val="000000"/>
                </a:solidFill>
                <a:latin typeface="Helvetica Neue"/>
                <a:ea typeface="Helvetica Neue"/>
                <a:cs typeface="Helvetica Neue"/>
              </a:rPr>
              <a:t>4,015</a:t>
            </a:r>
          </a:p>
        </p:txBody>
      </p:sp>
      <p:sp>
        <p:nvSpPr>
          <p:cNvPr id="5" name="text">
            <a:extLst xmlns:a="http://schemas.openxmlformats.org/drawingml/2006/main">
              <a:ext uri="{FF2B5EF4-FFF2-40B4-BE49-F238E27FC236}">
                <a16:creationId xmlns:a16="http://schemas.microsoft.com/office/drawing/2014/main" id="{8B6C3027-2907-4D91-9685-CB13243542A1}"/>
              </a:ext>
            </a:extLst>
          </p:cNvPr>
          <p:cNvSpPr>
            <a:spLocks xmlns:a="http://schemas.openxmlformats.org/drawingml/2006/main" noGrp="1"/>
          </p:cNvSpPr>
          <p:nvPr/>
        </p:nvSpPr>
        <p:spPr>
          <a:xfrm xmlns:a="http://schemas.openxmlformats.org/drawingml/2006/main">
            <a:off x="619125" y="3905250"/>
            <a:ext cx="2114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combined trades</a:t>
            </a:r>
          </a:p>
        </p:txBody>
      </p:sp>
      <p:sp>
        <p:nvSpPr>
          <p:cNvPr id="6" name="text">
            <a:extLst xmlns:a="http://schemas.openxmlformats.org/drawingml/2006/main">
              <a:ext uri="{FF2B5EF4-FFF2-40B4-BE49-F238E27FC236}">
                <a16:creationId xmlns:a16="http://schemas.microsoft.com/office/drawing/2014/main" id="{1A817276-1600-4AA2-955B-7EDB4DDB9E2D}"/>
              </a:ext>
            </a:extLst>
          </p:cNvPr>
          <p:cNvSpPr>
            <a:spLocks xmlns:a="http://schemas.openxmlformats.org/drawingml/2006/main" noGrp="1"/>
          </p:cNvSpPr>
          <p:nvPr/>
        </p:nvSpPr>
        <p:spPr>
          <a:xfrm xmlns:a="http://schemas.openxmlformats.org/drawingml/2006/main">
            <a:off x="619125" y="4572000"/>
            <a:ext cx="2114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67085"/>
                </a:solidFill>
                <a:latin typeface="Helvetica Neue"/>
                <a:ea typeface="Helvetica Neue"/>
                <a:cs typeface="Helvetica Neue"/>
              </a:defRPr>
            </a:pPr>
            <a:r>
              <a:rPr sz="1275" b="0">
                <a:solidFill>
                  <a:srgbClr val="667085"/>
                </a:solidFill>
                <a:latin typeface="Helvetica Neue"/>
                <a:ea typeface="Helvetica Neue"/>
                <a:cs typeface="Helvetica Neue"/>
              </a:rPr>
              <a:t>821 original plus 3,194 eligible Atlas 02 trades</a:t>
            </a:r>
          </a:p>
        </p:txBody>
      </p:sp>
      <p:sp>
        <p:nvSpPr>
          <p:cNvPr id="7" name="stat-hit rate">
            <a:extLst xmlns:a="http://schemas.openxmlformats.org/drawingml/2006/main">
              <a:ext uri="{FF2B5EF4-FFF2-40B4-BE49-F238E27FC236}">
                <a16:creationId xmlns:a16="http://schemas.microsoft.com/office/drawing/2014/main" id="{342BDFD2-3E13-40B7-9173-BAC200BDD8A2}"/>
              </a:ext>
            </a:extLst>
          </p:cNvPr>
          <p:cNvSpPr>
            <a:spLocks xmlns:a="http://schemas.openxmlformats.org/drawingml/2006/main" noGrp="1"/>
          </p:cNvSpPr>
          <p:nvPr/>
        </p:nvSpPr>
        <p:spPr>
          <a:xfrm xmlns:a="http://schemas.openxmlformats.org/drawingml/2006/main">
            <a:off x="3333750" y="2476500"/>
            <a:ext cx="2581275" cy="2809875"/>
          </a:xfrm>
          <a:prstGeom xmlns:a="http://schemas.openxmlformats.org/drawingml/2006/main" prst="roundRect">
            <a:avLst>
              <a:gd name="adj" fmla="val 4428"/>
            </a:avLst>
          </a:prstGeom>
          <a:solidFill xmlns:a="http://schemas.openxmlformats.org/drawingml/2006/main">
            <a:srgbClr val="EDEDED"/>
          </a:solidFill>
          <a:ln xmlns:a="http://schemas.openxmlformats.org/drawingml/2006/main" w="0">
            <a:solidFill>
              <a:srgbClr val="EDEDED"/>
            </a:solidFill>
            <a:prstDash val="solid"/>
          </a:ln>
        </p:spPr>
      </p:sp>
      <p:sp>
        <p:nvSpPr>
          <p:cNvPr id="8" name="text">
            <a:extLst xmlns:a="http://schemas.openxmlformats.org/drawingml/2006/main">
              <a:ext uri="{FF2B5EF4-FFF2-40B4-BE49-F238E27FC236}">
                <a16:creationId xmlns:a16="http://schemas.microsoft.com/office/drawing/2014/main" id="{49160CE7-D614-4D65-B428-F985A16D1118}"/>
              </a:ext>
            </a:extLst>
          </p:cNvPr>
          <p:cNvSpPr>
            <a:spLocks xmlns:a="http://schemas.openxmlformats.org/drawingml/2006/main" noGrp="1"/>
          </p:cNvSpPr>
          <p:nvPr/>
        </p:nvSpPr>
        <p:spPr>
          <a:xfrm xmlns:a="http://schemas.openxmlformats.org/drawingml/2006/main">
            <a:off x="3562350" y="2857500"/>
            <a:ext cx="21145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3300" b="1">
                <a:solidFill>
                  <a:srgbClr val="000000"/>
                </a:solidFill>
                <a:latin typeface="Helvetica Neue"/>
                <a:ea typeface="Helvetica Neue"/>
                <a:cs typeface="Helvetica Neue"/>
              </a:defRPr>
            </a:pPr>
            <a:r>
              <a:rPr sz="3300" b="1">
                <a:solidFill>
                  <a:srgbClr val="000000"/>
                </a:solidFill>
                <a:latin typeface="Helvetica Neue"/>
                <a:ea typeface="Helvetica Neue"/>
                <a:cs typeface="Helvetica Neue"/>
              </a:rPr>
              <a:t>52.40%</a:t>
            </a:r>
          </a:p>
        </p:txBody>
      </p:sp>
      <p:sp>
        <p:nvSpPr>
          <p:cNvPr id="9" name="text">
            <a:extLst xmlns:a="http://schemas.openxmlformats.org/drawingml/2006/main">
              <a:ext uri="{FF2B5EF4-FFF2-40B4-BE49-F238E27FC236}">
                <a16:creationId xmlns:a16="http://schemas.microsoft.com/office/drawing/2014/main" id="{AF64A985-B4C5-4C59-8A3C-4283B1E7A95C}"/>
              </a:ext>
            </a:extLst>
          </p:cNvPr>
          <p:cNvSpPr>
            <a:spLocks xmlns:a="http://schemas.openxmlformats.org/drawingml/2006/main" noGrp="1"/>
          </p:cNvSpPr>
          <p:nvPr/>
        </p:nvSpPr>
        <p:spPr>
          <a:xfrm xmlns:a="http://schemas.openxmlformats.org/drawingml/2006/main">
            <a:off x="3562350" y="3905250"/>
            <a:ext cx="2114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hit rate</a:t>
            </a:r>
          </a:p>
        </p:txBody>
      </p:sp>
      <p:sp>
        <p:nvSpPr>
          <p:cNvPr id="10" name="text">
            <a:extLst xmlns:a="http://schemas.openxmlformats.org/drawingml/2006/main">
              <a:ext uri="{FF2B5EF4-FFF2-40B4-BE49-F238E27FC236}">
                <a16:creationId xmlns:a16="http://schemas.microsoft.com/office/drawing/2014/main" id="{DDBACECE-6E2E-42EC-9143-FD2B582BE6D5}"/>
              </a:ext>
            </a:extLst>
          </p:cNvPr>
          <p:cNvSpPr>
            <a:spLocks xmlns:a="http://schemas.openxmlformats.org/drawingml/2006/main" noGrp="1"/>
          </p:cNvSpPr>
          <p:nvPr/>
        </p:nvSpPr>
        <p:spPr>
          <a:xfrm xmlns:a="http://schemas.openxmlformats.org/drawingml/2006/main">
            <a:off x="3562350" y="4572000"/>
            <a:ext cx="2114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67085"/>
                </a:solidFill>
                <a:latin typeface="Helvetica Neue"/>
                <a:ea typeface="Helvetica Neue"/>
                <a:cs typeface="Helvetica Neue"/>
              </a:defRPr>
            </a:pPr>
            <a:r>
              <a:rPr sz="1275" b="0">
                <a:solidFill>
                  <a:srgbClr val="667085"/>
                </a:solidFill>
                <a:latin typeface="Helvetica Neue"/>
                <a:ea typeface="Helvetica Neue"/>
                <a:cs typeface="Helvetica Neue"/>
              </a:rPr>
              <a:t>A slight majority of trades finished positive</a:t>
            </a:r>
          </a:p>
        </p:txBody>
      </p:sp>
      <p:sp>
        <p:nvSpPr>
          <p:cNvPr id="11" name="stat-median trade">
            <a:extLst xmlns:a="http://schemas.openxmlformats.org/drawingml/2006/main">
              <a:ext uri="{FF2B5EF4-FFF2-40B4-BE49-F238E27FC236}">
                <a16:creationId xmlns:a16="http://schemas.microsoft.com/office/drawing/2014/main" id="{C8CC49B8-CA9B-4C01-95E3-F2CF8D152A87}"/>
              </a:ext>
            </a:extLst>
          </p:cNvPr>
          <p:cNvSpPr>
            <a:spLocks xmlns:a="http://schemas.openxmlformats.org/drawingml/2006/main" noGrp="1"/>
          </p:cNvSpPr>
          <p:nvPr/>
        </p:nvSpPr>
        <p:spPr>
          <a:xfrm xmlns:a="http://schemas.openxmlformats.org/drawingml/2006/main">
            <a:off x="6276975" y="2476500"/>
            <a:ext cx="2581275" cy="2809875"/>
          </a:xfrm>
          <a:prstGeom xmlns:a="http://schemas.openxmlformats.org/drawingml/2006/main" prst="roundRect">
            <a:avLst>
              <a:gd name="adj" fmla="val 4428"/>
            </a:avLst>
          </a:prstGeom>
          <a:solidFill xmlns:a="http://schemas.openxmlformats.org/drawingml/2006/main">
            <a:srgbClr val="EDEDED"/>
          </a:solidFill>
          <a:ln xmlns:a="http://schemas.openxmlformats.org/drawingml/2006/main" w="0">
            <a:solidFill>
              <a:srgbClr val="EDEDED"/>
            </a:solidFill>
            <a:prstDash val="solid"/>
          </a:ln>
        </p:spPr>
      </p:sp>
      <p:sp>
        <p:nvSpPr>
          <p:cNvPr id="12" name="text">
            <a:extLst xmlns:a="http://schemas.openxmlformats.org/drawingml/2006/main">
              <a:ext uri="{FF2B5EF4-FFF2-40B4-BE49-F238E27FC236}">
                <a16:creationId xmlns:a16="http://schemas.microsoft.com/office/drawing/2014/main" id="{50B51DFE-4A29-4439-958F-316915753947}"/>
              </a:ext>
            </a:extLst>
          </p:cNvPr>
          <p:cNvSpPr>
            <a:spLocks xmlns:a="http://schemas.openxmlformats.org/drawingml/2006/main" noGrp="1"/>
          </p:cNvSpPr>
          <p:nvPr/>
        </p:nvSpPr>
        <p:spPr>
          <a:xfrm xmlns:a="http://schemas.openxmlformats.org/drawingml/2006/main">
            <a:off x="6505575" y="2857500"/>
            <a:ext cx="21145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3300" b="1">
                <a:solidFill>
                  <a:srgbClr val="000000"/>
                </a:solidFill>
                <a:latin typeface="Helvetica Neue"/>
                <a:ea typeface="Helvetica Neue"/>
                <a:cs typeface="Helvetica Neue"/>
              </a:defRPr>
            </a:pPr>
            <a:r>
              <a:rPr sz="3300" b="1">
                <a:solidFill>
                  <a:srgbClr val="000000"/>
                </a:solidFill>
                <a:latin typeface="Helvetica Neue"/>
                <a:ea typeface="Helvetica Neue"/>
                <a:cs typeface="Helvetica Neue"/>
              </a:rPr>
              <a:t>+0.181%</a:t>
            </a:r>
          </a:p>
        </p:txBody>
      </p:sp>
      <p:sp>
        <p:nvSpPr>
          <p:cNvPr id="13" name="text">
            <a:extLst xmlns:a="http://schemas.openxmlformats.org/drawingml/2006/main">
              <a:ext uri="{FF2B5EF4-FFF2-40B4-BE49-F238E27FC236}">
                <a16:creationId xmlns:a16="http://schemas.microsoft.com/office/drawing/2014/main" id="{1DF6960C-608D-49B1-9709-AF0A9AE4746D}"/>
              </a:ext>
            </a:extLst>
          </p:cNvPr>
          <p:cNvSpPr>
            <a:spLocks xmlns:a="http://schemas.openxmlformats.org/drawingml/2006/main" noGrp="1"/>
          </p:cNvSpPr>
          <p:nvPr/>
        </p:nvSpPr>
        <p:spPr>
          <a:xfrm xmlns:a="http://schemas.openxmlformats.org/drawingml/2006/main">
            <a:off x="6505575" y="3905250"/>
            <a:ext cx="2114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median trade</a:t>
            </a:r>
          </a:p>
        </p:txBody>
      </p:sp>
      <p:sp>
        <p:nvSpPr>
          <p:cNvPr id="14" name="text">
            <a:extLst xmlns:a="http://schemas.openxmlformats.org/drawingml/2006/main">
              <a:ext uri="{FF2B5EF4-FFF2-40B4-BE49-F238E27FC236}">
                <a16:creationId xmlns:a16="http://schemas.microsoft.com/office/drawing/2014/main" id="{B903C419-9330-4C3E-A84F-29DEB9F783A0}"/>
              </a:ext>
            </a:extLst>
          </p:cNvPr>
          <p:cNvSpPr>
            <a:spLocks xmlns:a="http://schemas.openxmlformats.org/drawingml/2006/main" noGrp="1"/>
          </p:cNvSpPr>
          <p:nvPr/>
        </p:nvSpPr>
        <p:spPr>
          <a:xfrm xmlns:a="http://schemas.openxmlformats.org/drawingml/2006/main">
            <a:off x="6505575" y="4572000"/>
            <a:ext cx="2114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67085"/>
                </a:solidFill>
                <a:latin typeface="Helvetica Neue"/>
                <a:ea typeface="Helvetica Neue"/>
                <a:cs typeface="Helvetica Neue"/>
              </a:defRPr>
            </a:pPr>
            <a:r>
              <a:rPr sz="1275" b="0">
                <a:solidFill>
                  <a:srgbClr val="667085"/>
                </a:solidFill>
                <a:latin typeface="Helvetica Neue"/>
                <a:ea typeface="Helvetica Neue"/>
                <a:cs typeface="Helvetica Neue"/>
              </a:rPr>
              <a:t>The typical trade remained modestly positive</a:t>
            </a:r>
          </a:p>
        </p:txBody>
      </p:sp>
      <p:sp>
        <p:nvSpPr>
          <p:cNvPr id="15" name="stat-mean trade">
            <a:extLst xmlns:a="http://schemas.openxmlformats.org/drawingml/2006/main">
              <a:ext uri="{FF2B5EF4-FFF2-40B4-BE49-F238E27FC236}">
                <a16:creationId xmlns:a16="http://schemas.microsoft.com/office/drawing/2014/main" id="{DE8124C4-4DB1-4B74-84C7-9FD2D51D0EAF}"/>
              </a:ext>
            </a:extLst>
          </p:cNvPr>
          <p:cNvSpPr>
            <a:spLocks xmlns:a="http://schemas.openxmlformats.org/drawingml/2006/main" noGrp="1"/>
          </p:cNvSpPr>
          <p:nvPr/>
        </p:nvSpPr>
        <p:spPr>
          <a:xfrm xmlns:a="http://schemas.openxmlformats.org/drawingml/2006/main">
            <a:off x="9220200" y="2476500"/>
            <a:ext cx="2581275" cy="2809875"/>
          </a:xfrm>
          <a:prstGeom xmlns:a="http://schemas.openxmlformats.org/drawingml/2006/main" prst="roundRect">
            <a:avLst>
              <a:gd name="adj" fmla="val 4428"/>
            </a:avLst>
          </a:prstGeom>
          <a:solidFill xmlns:a="http://schemas.openxmlformats.org/drawingml/2006/main">
            <a:srgbClr val="FCEEEE"/>
          </a:solidFill>
          <a:ln xmlns:a="http://schemas.openxmlformats.org/drawingml/2006/main" w="0">
            <a:solidFill>
              <a:srgbClr val="FCEEEE"/>
            </a:solidFill>
            <a:prstDash val="solid"/>
          </a:ln>
        </p:spPr>
      </p:sp>
      <p:sp>
        <p:nvSpPr>
          <p:cNvPr id="16" name="text">
            <a:extLst xmlns:a="http://schemas.openxmlformats.org/drawingml/2006/main">
              <a:ext uri="{FF2B5EF4-FFF2-40B4-BE49-F238E27FC236}">
                <a16:creationId xmlns:a16="http://schemas.microsoft.com/office/drawing/2014/main" id="{2053BFBE-8F6B-4D1D-A832-9E6C3128D837}"/>
              </a:ext>
            </a:extLst>
          </p:cNvPr>
          <p:cNvSpPr>
            <a:spLocks xmlns:a="http://schemas.openxmlformats.org/drawingml/2006/main" noGrp="1"/>
          </p:cNvSpPr>
          <p:nvPr/>
        </p:nvSpPr>
        <p:spPr>
          <a:xfrm xmlns:a="http://schemas.openxmlformats.org/drawingml/2006/main">
            <a:off x="9448800" y="2857500"/>
            <a:ext cx="21145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3300" b="1">
                <a:solidFill>
                  <a:srgbClr val="000000"/>
                </a:solidFill>
                <a:latin typeface="Helvetica Neue"/>
                <a:ea typeface="Helvetica Neue"/>
                <a:cs typeface="Helvetica Neue"/>
              </a:defRPr>
            </a:pPr>
            <a:r>
              <a:rPr sz="3300" b="1">
                <a:solidFill>
                  <a:srgbClr val="000000"/>
                </a:solidFill>
                <a:latin typeface="Helvetica Neue"/>
                <a:ea typeface="Helvetica Neue"/>
                <a:cs typeface="Helvetica Neue"/>
              </a:rPr>
              <a:t>-0.030%</a:t>
            </a:r>
          </a:p>
        </p:txBody>
      </p:sp>
      <p:sp>
        <p:nvSpPr>
          <p:cNvPr id="17" name="text">
            <a:extLst xmlns:a="http://schemas.openxmlformats.org/drawingml/2006/main">
              <a:ext uri="{FF2B5EF4-FFF2-40B4-BE49-F238E27FC236}">
                <a16:creationId xmlns:a16="http://schemas.microsoft.com/office/drawing/2014/main" id="{ABEC3A9E-06FC-4713-A949-04D13ECDD658}"/>
              </a:ext>
            </a:extLst>
          </p:cNvPr>
          <p:cNvSpPr>
            <a:spLocks xmlns:a="http://schemas.openxmlformats.org/drawingml/2006/main" noGrp="1"/>
          </p:cNvSpPr>
          <p:nvPr/>
        </p:nvSpPr>
        <p:spPr>
          <a:xfrm xmlns:a="http://schemas.openxmlformats.org/drawingml/2006/main">
            <a:off x="9448800" y="3905250"/>
            <a:ext cx="2114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mean trade</a:t>
            </a:r>
          </a:p>
        </p:txBody>
      </p:sp>
      <p:sp>
        <p:nvSpPr>
          <p:cNvPr id="18" name="text">
            <a:extLst xmlns:a="http://schemas.openxmlformats.org/drawingml/2006/main">
              <a:ext uri="{FF2B5EF4-FFF2-40B4-BE49-F238E27FC236}">
                <a16:creationId xmlns:a16="http://schemas.microsoft.com/office/drawing/2014/main" id="{B58D82B8-26C2-4CD8-8D7C-997418C54CB8}"/>
              </a:ext>
            </a:extLst>
          </p:cNvPr>
          <p:cNvSpPr>
            <a:spLocks xmlns:a="http://schemas.openxmlformats.org/drawingml/2006/main" noGrp="1"/>
          </p:cNvSpPr>
          <p:nvPr/>
        </p:nvSpPr>
        <p:spPr>
          <a:xfrm xmlns:a="http://schemas.openxmlformats.org/drawingml/2006/main">
            <a:off x="9448800" y="4572000"/>
            <a:ext cx="2114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67085"/>
                </a:solidFill>
                <a:latin typeface="Helvetica Neue"/>
                <a:ea typeface="Helvetica Neue"/>
                <a:cs typeface="Helvetica Neue"/>
              </a:defRPr>
            </a:pPr>
            <a:r>
              <a:rPr sz="1275" b="0">
                <a:solidFill>
                  <a:srgbClr val="667085"/>
                </a:solidFill>
                <a:latin typeface="Helvetica Neue"/>
                <a:ea typeface="Helvetica Neue"/>
                <a:cs typeface="Helvetica Neue"/>
              </a:rPr>
              <a:t>Larger losses outweighed the slight win majority</a:t>
            </a:r>
          </a:p>
        </p:txBody>
      </p:sp>
      <p:sp>
        <p:nvSpPr>
          <p:cNvPr id="19" name="text">
            <a:extLst xmlns:a="http://schemas.openxmlformats.org/drawingml/2006/main">
              <a:ext uri="{FF2B5EF4-FFF2-40B4-BE49-F238E27FC236}">
                <a16:creationId xmlns:a16="http://schemas.microsoft.com/office/drawing/2014/main" id="{70059EB6-E59B-40D3-8BD9-BE6A42AACAB4}"/>
              </a:ext>
            </a:extLst>
          </p:cNvPr>
          <p:cNvSpPr>
            <a:spLocks xmlns:a="http://schemas.openxmlformats.org/drawingml/2006/main" noGrp="1"/>
          </p:cNvSpPr>
          <p:nvPr/>
        </p:nvSpPr>
        <p:spPr>
          <a:xfrm xmlns:a="http://schemas.openxmlformats.org/drawingml/2006/main">
            <a:off x="666750" y="5810250"/>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667085"/>
                </a:solidFill>
                <a:latin typeface="Helvetica Neue"/>
                <a:ea typeface="Helvetica Neue"/>
                <a:cs typeface="Helvetica Neue"/>
              </a:defRPr>
            </a:pPr>
            <a:r>
              <a:rPr sz="1725" b="0">
                <a:solidFill>
                  <a:srgbClr val="667085"/>
                </a:solidFill>
                <a:latin typeface="Helvetica Neue"/>
                <a:ea typeface="Helvetica Neue"/>
                <a:cs typeface="Helvetica Neue"/>
              </a:rPr>
              <a:t>Mean winner +3.09% | mean nonpositive trade -3.47% | 5th percentile -7.37%</a:t>
            </a:r>
          </a:p>
        </p:txBody>
      </p:sp>
    </p:spTree>
    <p:extLst>
      <p:ext uri="{BB962C8B-B14F-4D97-AF65-F5344CB8AC3E}">
        <p14:creationId xmlns:p14="http://schemas.microsoft.com/office/powerpoint/2010/main" val="121115773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D8474B69-4C57-4CD2-A8D3-30BBC3C432FC}"/>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Atlas 02 did not rescue the rule; it reproduced its core tension</a:t>
            </a:r>
          </a:p>
        </p:txBody>
      </p:sp>
      <p:sp>
        <p:nvSpPr>
          <p:cNvPr id="2" name="page-number">
            <a:extLst xmlns:a="http://schemas.openxmlformats.org/drawingml/2006/main">
              <a:ext uri="{FF2B5EF4-FFF2-40B4-BE49-F238E27FC236}">
                <a16:creationId xmlns:a16="http://schemas.microsoft.com/office/drawing/2014/main" id="{5E2E9335-8EF5-4B03-87F8-D2723E42235B}"/>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5</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c77d92679904a5c"/>
          <a:stretch xmlns:a="http://schemas.openxmlformats.org/drawingml/2006/main"/>
        </p:blipFill>
        <p:spPr>
          <a:xfrm xmlns:a="http://schemas.openxmlformats.org/drawingml/2006/main">
            <a:off x="1926648" y="1047750"/>
            <a:ext cx="8338705" cy="5095875"/>
          </a:xfrm>
          <a:prstGeom xmlns:a="http://schemas.openxmlformats.org/drawingml/2006/main" prst="rect">
            <a:avLst/>
          </a:prstGeom>
        </p:spPr>
      </p:pic>
    </p:spTree>
    <p:extLst>
      <p:ext uri="{BB962C8B-B14F-4D97-AF65-F5344CB8AC3E}">
        <p14:creationId xmlns:p14="http://schemas.microsoft.com/office/powerpoint/2010/main" val="41525286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9ECFE9AA-2C3F-4E34-B12B-44A8E7B7A7EC}"/>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Ordinary ownership and matched random timing remain difficult controls</a:t>
            </a:r>
          </a:p>
        </p:txBody>
      </p:sp>
      <p:sp>
        <p:nvSpPr>
          <p:cNvPr id="2" name="page-number">
            <a:extLst xmlns:a="http://schemas.openxmlformats.org/drawingml/2006/main">
              <a:ext uri="{FF2B5EF4-FFF2-40B4-BE49-F238E27FC236}">
                <a16:creationId xmlns:a16="http://schemas.microsoft.com/office/drawing/2014/main" id="{5C81BEA8-B720-4B37-BCB5-7424D632BE6F}"/>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6</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9a9098c99ef49a2"/>
          <a:stretch xmlns:a="http://schemas.openxmlformats.org/drawingml/2006/main"/>
        </p:blipFill>
        <p:spPr>
          <a:xfrm xmlns:a="http://schemas.openxmlformats.org/drawingml/2006/main">
            <a:off x="1926648" y="1047750"/>
            <a:ext cx="8338705" cy="5095875"/>
          </a:xfrm>
          <a:prstGeom xmlns:a="http://schemas.openxmlformats.org/drawingml/2006/main" prst="rect">
            <a:avLst/>
          </a:prstGeom>
        </p:spPr>
      </p:pic>
    </p:spTree>
    <p:extLst>
      <p:ext uri="{BB962C8B-B14F-4D97-AF65-F5344CB8AC3E}">
        <p14:creationId xmlns:p14="http://schemas.microsoft.com/office/powerpoint/2010/main" val="55339593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 name="text">
            <a:extLst xmlns:a="http://schemas.openxmlformats.org/drawingml/2006/main">
              <a:ext uri="{FF2B5EF4-FFF2-40B4-BE49-F238E27FC236}">
                <a16:creationId xmlns:a16="http://schemas.microsoft.com/office/drawing/2014/main" id="{1CB3476F-A6D3-4E19-9327-0FBD3BD62520}"/>
              </a:ext>
            </a:extLst>
          </p:cNvPr>
          <p:cNvSpPr>
            <a:spLocks xmlns:a="http://schemas.openxmlformats.org/drawingml/2006/main" noGrp="1"/>
          </p:cNvSpPr>
          <p:nvPr/>
        </p:nvSpPr>
        <p:spPr>
          <a:xfrm xmlns:a="http://schemas.openxmlformats.org/drawingml/2006/main">
            <a:off x="390525" y="390525"/>
            <a:ext cx="666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667085"/>
                </a:solidFill>
                <a:latin typeface="Helvetica Neue"/>
                <a:ea typeface="Helvetica Neue"/>
                <a:cs typeface="Helvetica Neue"/>
              </a:defRPr>
            </a:pPr>
            <a:r>
              <a:rPr sz="2100" b="0">
                <a:solidFill>
                  <a:srgbClr val="667085"/>
                </a:solidFill>
                <a:latin typeface="Helvetica Neue"/>
                <a:ea typeface="Helvetica Neue"/>
                <a:cs typeface="Helvetica Neue"/>
              </a:rPr>
              <a:t>THE PERSISTENCE TEST</a:t>
            </a:r>
          </a:p>
        </p:txBody>
      </p:sp>
      <p:sp>
        <p:nvSpPr>
          <p:cNvPr id="2" name="text">
            <a:extLst xmlns:a="http://schemas.openxmlformats.org/drawingml/2006/main">
              <a:ext uri="{FF2B5EF4-FFF2-40B4-BE49-F238E27FC236}">
                <a16:creationId xmlns:a16="http://schemas.microsoft.com/office/drawing/2014/main" id="{446A8674-35E4-466B-8CF3-95633A17B38F}"/>
              </a:ext>
            </a:extLst>
          </p:cNvPr>
          <p:cNvSpPr>
            <a:spLocks xmlns:a="http://schemas.openxmlformats.org/drawingml/2006/main" noGrp="1"/>
          </p:cNvSpPr>
          <p:nvPr/>
        </p:nvSpPr>
        <p:spPr>
          <a:xfrm xmlns:a="http://schemas.openxmlformats.org/drawingml/2006/main">
            <a:off x="390525" y="1428750"/>
            <a:ext cx="1028700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5250" b="0">
                <a:solidFill>
                  <a:srgbClr val="000000"/>
                </a:solidFill>
                <a:latin typeface="Helvetica Neue"/>
                <a:ea typeface="Helvetica Neue"/>
                <a:cs typeface="Helvetica Neue"/>
              </a:defRPr>
            </a:pPr>
            <a:r>
              <a:rPr sz="5250" b="0">
                <a:solidFill>
                  <a:srgbClr val="000000"/>
                </a:solidFill>
                <a:latin typeface="Helvetica Neue"/>
                <a:ea typeface="Helvetica Neue"/>
                <a:cs typeface="Helvetica Neue"/>
              </a:rPr>
              <a:t>Do the original</a:t>
            </a:r>
          </a:p>
          <a:p xmlns:a="http://schemas.openxmlformats.org/drawingml/2006/main">
            <a:pPr algn="l">
              <a:defRPr sz="5250" b="0">
                <a:solidFill>
                  <a:srgbClr val="000000"/>
                </a:solidFill>
                <a:latin typeface="Helvetica Neue"/>
                <a:ea typeface="Helvetica Neue"/>
                <a:cs typeface="Helvetica Neue"/>
              </a:defRPr>
            </a:pPr>
            <a:r>
              <a:rPr sz="5250" b="0">
                <a:solidFill>
                  <a:srgbClr val="000000"/>
                </a:solidFill>
                <a:latin typeface="Helvetica Neue"/>
                <a:ea typeface="Helvetica Neue"/>
                <a:cs typeface="Helvetica Neue"/>
              </a:rPr>
              <a:t>diagnostic hints survive</a:t>
            </a:r>
          </a:p>
          <a:p xmlns:a="http://schemas.openxmlformats.org/drawingml/2006/main">
            <a:pPr algn="l">
              <a:defRPr sz="5250" b="0">
                <a:solidFill>
                  <a:srgbClr val="000000"/>
                </a:solidFill>
                <a:latin typeface="Helvetica Neue"/>
                <a:ea typeface="Helvetica Neue"/>
                <a:cs typeface="Helvetica Neue"/>
              </a:defRPr>
            </a:pPr>
            <a:r>
              <a:rPr sz="5250" b="0">
                <a:solidFill>
                  <a:srgbClr val="000000"/>
                </a:solidFill>
                <a:latin typeface="Helvetica Neue"/>
                <a:ea typeface="Helvetica Neue"/>
                <a:cs typeface="Helvetica Neue"/>
              </a:rPr>
              <a:t>94 new assets?</a:t>
            </a:r>
          </a:p>
        </p:txBody>
      </p:sp>
      <p:sp>
        <p:nvSpPr>
          <p:cNvPr id="3" name="text">
            <a:extLst xmlns:a="http://schemas.openxmlformats.org/drawingml/2006/main">
              <a:ext uri="{FF2B5EF4-FFF2-40B4-BE49-F238E27FC236}">
                <a16:creationId xmlns:a16="http://schemas.microsoft.com/office/drawing/2014/main" id="{2C416383-8097-4F46-ADB8-22F19D705EA3}"/>
              </a:ext>
            </a:extLst>
          </p:cNvPr>
          <p:cNvSpPr>
            <a:spLocks xmlns:a="http://schemas.openxmlformats.org/drawingml/2006/main" noGrp="1"/>
          </p:cNvSpPr>
          <p:nvPr/>
        </p:nvSpPr>
        <p:spPr>
          <a:xfrm xmlns:a="http://schemas.openxmlformats.org/drawingml/2006/main">
            <a:off x="390525" y="5286375"/>
            <a:ext cx="9525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This is where breadth changes the answer.</a:t>
            </a:r>
          </a:p>
        </p:txBody>
      </p:sp>
      <p:sp>
        <p:nvSpPr>
          <p:cNvPr id="4" name="text">
            <a:extLst xmlns:a="http://schemas.openxmlformats.org/drawingml/2006/main">
              <a:ext uri="{FF2B5EF4-FFF2-40B4-BE49-F238E27FC236}">
                <a16:creationId xmlns:a16="http://schemas.microsoft.com/office/drawing/2014/main" id="{B05F47C7-E388-40CB-8B58-4FA8EEB4CDC1}"/>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7</a:t>
            </a:r>
          </a:p>
        </p:txBody>
      </p:sp>
    </p:spTree>
    <p:extLst>
      <p:ext uri="{BB962C8B-B14F-4D97-AF65-F5344CB8AC3E}">
        <p14:creationId xmlns:p14="http://schemas.microsoft.com/office/powerpoint/2010/main" val="145388207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8CCFA1F4-3BF0-4697-BBE5-B29C9CBDC242}"/>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Every diagnostic effect is unstable, narrow, or both</a:t>
            </a:r>
          </a:p>
        </p:txBody>
      </p:sp>
      <p:sp>
        <p:nvSpPr>
          <p:cNvPr id="2" name="page-number">
            <a:extLst xmlns:a="http://schemas.openxmlformats.org/drawingml/2006/main">
              <a:ext uri="{FF2B5EF4-FFF2-40B4-BE49-F238E27FC236}">
                <a16:creationId xmlns:a16="http://schemas.microsoft.com/office/drawing/2014/main" id="{06EE0CA3-C3F5-4EAE-B658-4C5DEC26E64E}"/>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8</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146d0bb837146f8"/>
          <a:stretch xmlns:a="http://schemas.openxmlformats.org/drawingml/2006/main"/>
        </p:blipFill>
        <p:spPr>
          <a:xfrm xmlns:a="http://schemas.openxmlformats.org/drawingml/2006/main">
            <a:off x="2302486" y="1000125"/>
            <a:ext cx="7587029" cy="5191125"/>
          </a:xfrm>
          <a:prstGeom xmlns:a="http://schemas.openxmlformats.org/drawingml/2006/main" prst="rect">
            <a:avLst/>
          </a:prstGeom>
        </p:spPr>
      </p:pic>
    </p:spTree>
    <p:extLst>
      <p:ext uri="{BB962C8B-B14F-4D97-AF65-F5344CB8AC3E}">
        <p14:creationId xmlns:p14="http://schemas.microsoft.com/office/powerpoint/2010/main" val="64835036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92C6B452-BE06-4676-BCCA-BC4E51DC005B}"/>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Stronger-looking candles still do not produce a monotonic outcome surface</a:t>
            </a:r>
          </a:p>
        </p:txBody>
      </p:sp>
      <p:sp>
        <p:nvSpPr>
          <p:cNvPr id="2" name="page-number">
            <a:extLst xmlns:a="http://schemas.openxmlformats.org/drawingml/2006/main">
              <a:ext uri="{FF2B5EF4-FFF2-40B4-BE49-F238E27FC236}">
                <a16:creationId xmlns:a16="http://schemas.microsoft.com/office/drawing/2014/main" id="{916605DC-87B1-484A-98E5-470B3A56D5A1}"/>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9</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f49bfdeff874c07"/>
          <a:stretch xmlns:a="http://schemas.openxmlformats.org/drawingml/2006/main"/>
        </p:blipFill>
        <p:spPr>
          <a:xfrm xmlns:a="http://schemas.openxmlformats.org/drawingml/2006/main">
            <a:off x="2621540" y="1047750"/>
            <a:ext cx="6948920" cy="5095875"/>
          </a:xfrm>
          <a:prstGeom xmlns:a="http://schemas.openxmlformats.org/drawingml/2006/main" prst="rect">
            <a:avLst/>
          </a:prstGeom>
        </p:spPr>
      </p:pic>
    </p:spTree>
    <p:extLst>
      <p:ext uri="{BB962C8B-B14F-4D97-AF65-F5344CB8AC3E}">
        <p14:creationId xmlns:p14="http://schemas.microsoft.com/office/powerpoint/2010/main" val="161519030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ECD1D65C-233E-4AD3-8D93-C2025D0353B9}"/>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The strongest original candidate shrank from +0.57 pp to +0.06 pp</a:t>
            </a:r>
          </a:p>
        </p:txBody>
      </p:sp>
      <p:sp>
        <p:nvSpPr>
          <p:cNvPr id="2" name="page-number">
            <a:extLst xmlns:a="http://schemas.openxmlformats.org/drawingml/2006/main">
              <a:ext uri="{FF2B5EF4-FFF2-40B4-BE49-F238E27FC236}">
                <a16:creationId xmlns:a16="http://schemas.microsoft.com/office/drawing/2014/main" id="{A274D0BF-FE75-4172-8C89-FCEB71E3F557}"/>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10</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04184e02fe0495a"/>
          <a:stretch xmlns:a="http://schemas.openxmlformats.org/drawingml/2006/main"/>
        </p:blipFill>
        <p:spPr>
          <a:xfrm xmlns:a="http://schemas.openxmlformats.org/drawingml/2006/main">
            <a:off x="1926648" y="1047750"/>
            <a:ext cx="8338705" cy="5095875"/>
          </a:xfrm>
          <a:prstGeom xmlns:a="http://schemas.openxmlformats.org/drawingml/2006/main" prst="rect">
            <a:avLst/>
          </a:prstGeom>
        </p:spPr>
      </p:pic>
    </p:spTree>
    <p:extLst>
      <p:ext uri="{BB962C8B-B14F-4D97-AF65-F5344CB8AC3E}">
        <p14:creationId xmlns:p14="http://schemas.microsoft.com/office/powerpoint/2010/main" val="206710719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ED257D7B-5838-41CD-993B-D343FFFD7155}"/>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Pooled trades and equal-asset evidence answer different questions</a:t>
            </a:r>
          </a:p>
        </p:txBody>
      </p:sp>
      <p:sp>
        <p:nvSpPr>
          <p:cNvPr id="2" name="page-number">
            <a:extLst xmlns:a="http://schemas.openxmlformats.org/drawingml/2006/main">
              <a:ext uri="{FF2B5EF4-FFF2-40B4-BE49-F238E27FC236}">
                <a16:creationId xmlns:a16="http://schemas.microsoft.com/office/drawing/2014/main" id="{F7E75E26-CB5B-40E9-9164-FF42463A3A89}"/>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11</a:t>
            </a:r>
          </a:p>
        </p:txBody>
      </p:sp>
      <p:sp>
        <p:nvSpPr>
          <p:cNvPr id="3" name="pooled">
            <a:extLst xmlns:a="http://schemas.openxmlformats.org/drawingml/2006/main">
              <a:ext uri="{FF2B5EF4-FFF2-40B4-BE49-F238E27FC236}">
                <a16:creationId xmlns:a16="http://schemas.microsoft.com/office/drawing/2014/main" id="{82E898F0-941A-4775-93E0-812AA81B398A}"/>
              </a:ext>
            </a:extLst>
          </p:cNvPr>
          <p:cNvSpPr>
            <a:spLocks xmlns:a="http://schemas.openxmlformats.org/drawingml/2006/main" noGrp="1"/>
          </p:cNvSpPr>
          <p:nvPr/>
        </p:nvSpPr>
        <p:spPr>
          <a:xfrm xmlns:a="http://schemas.openxmlformats.org/drawingml/2006/main">
            <a:off x="390525" y="1428750"/>
            <a:ext cx="5334000" cy="3619500"/>
          </a:xfrm>
          <a:prstGeom xmlns:a="http://schemas.openxmlformats.org/drawingml/2006/main" prst="roundRect">
            <a:avLst>
              <a:gd name="adj" fmla="val 3158"/>
            </a:avLst>
          </a:prstGeom>
          <a:solidFill xmlns:a="http://schemas.openxmlformats.org/drawingml/2006/main">
            <a:srgbClr val="EAF5FB"/>
          </a:solidFill>
          <a:ln xmlns:a="http://schemas.openxmlformats.org/drawingml/2006/main" w="9525">
            <a:solidFill>
              <a:srgbClr val="3D8DFF"/>
            </a:solidFill>
            <a:prstDash val="solid"/>
          </a:ln>
        </p:spPr>
      </p:sp>
      <p:sp>
        <p:nvSpPr>
          <p:cNvPr id="4" name="text">
            <a:extLst xmlns:a="http://schemas.openxmlformats.org/drawingml/2006/main">
              <a:ext uri="{FF2B5EF4-FFF2-40B4-BE49-F238E27FC236}">
                <a16:creationId xmlns:a16="http://schemas.microsoft.com/office/drawing/2014/main" id="{D49BA1EF-AE6C-4B1E-A174-1419755CAC5C}"/>
              </a:ext>
            </a:extLst>
          </p:cNvPr>
          <p:cNvSpPr>
            <a:spLocks xmlns:a="http://schemas.openxmlformats.org/drawingml/2006/main" noGrp="1"/>
          </p:cNvSpPr>
          <p:nvPr/>
        </p:nvSpPr>
        <p:spPr>
          <a:xfrm xmlns:a="http://schemas.openxmlformats.org/drawingml/2006/main">
            <a:off x="714375" y="17621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POOLED TRADE VIEW</a:t>
            </a:r>
          </a:p>
        </p:txBody>
      </p:sp>
      <p:sp>
        <p:nvSpPr>
          <p:cNvPr id="5" name="text">
            <a:extLst xmlns:a="http://schemas.openxmlformats.org/drawingml/2006/main">
              <a:ext uri="{FF2B5EF4-FFF2-40B4-BE49-F238E27FC236}">
                <a16:creationId xmlns:a16="http://schemas.microsoft.com/office/drawing/2014/main" id="{D990BFE4-378D-4C72-82B3-FC8D59EF7824}"/>
              </a:ext>
            </a:extLst>
          </p:cNvPr>
          <p:cNvSpPr>
            <a:spLocks xmlns:a="http://schemas.openxmlformats.org/drawingml/2006/main" noGrp="1"/>
          </p:cNvSpPr>
          <p:nvPr/>
        </p:nvSpPr>
        <p:spPr>
          <a:xfrm xmlns:a="http://schemas.openxmlformats.org/drawingml/2006/main">
            <a:off x="714375" y="2381250"/>
            <a:ext cx="4476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Above asset SMA200</a:t>
            </a:r>
          </a:p>
          <a:p xmlns:a="http://schemas.openxmlformats.org/drawingml/2006/main">
            <a:pPr algn="l">
              <a:defRPr sz="2250" b="1">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+0.064% mean trade</a:t>
            </a:r>
          </a:p>
          <a:p xmlns:a="http://schemas.openxmlformats.org/drawingml/2006/main">
            <a:r>
              <a:t/>
            </a:r>
          </a:p>
          <a:p xmlns:a="http://schemas.openxmlformats.org/drawingml/2006/main">
            <a:pPr algn="l">
              <a:defRPr sz="2250" b="1">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Below asset SMA200</a:t>
            </a:r>
          </a:p>
          <a:p xmlns:a="http://schemas.openxmlformats.org/drawingml/2006/main">
            <a:pPr algn="l">
              <a:defRPr sz="2250" b="1">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-0.181% mean trade</a:t>
            </a:r>
          </a:p>
        </p:txBody>
      </p:sp>
      <p:sp>
        <p:nvSpPr>
          <p:cNvPr id="6" name="text">
            <a:extLst xmlns:a="http://schemas.openxmlformats.org/drawingml/2006/main">
              <a:ext uri="{FF2B5EF4-FFF2-40B4-BE49-F238E27FC236}">
                <a16:creationId xmlns:a16="http://schemas.microsoft.com/office/drawing/2014/main" id="{EFA91099-3F4A-4657-937C-88ECDE07B15C}"/>
              </a:ext>
            </a:extLst>
          </p:cNvPr>
          <p:cNvSpPr>
            <a:spLocks xmlns:a="http://schemas.openxmlformats.org/drawingml/2006/main" noGrp="1"/>
          </p:cNvSpPr>
          <p:nvPr/>
        </p:nvSpPr>
        <p:spPr>
          <a:xfrm xmlns:a="http://schemas.openxmlformats.org/drawingml/2006/main">
            <a:off x="714375" y="4476750"/>
            <a:ext cx="447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085"/>
                </a:solidFill>
                <a:latin typeface="Helvetica Neue"/>
                <a:ea typeface="Helvetica Neue"/>
                <a:cs typeface="Helvetica Neue"/>
              </a:defRPr>
            </a:pPr>
            <a:r>
              <a:rPr sz="1350" b="0">
                <a:solidFill>
                  <a:srgbClr val="667085"/>
                </a:solidFill>
                <a:latin typeface="Helvetica Neue"/>
                <a:ea typeface="Helvetica Neue"/>
                <a:cs typeface="Helvetica Neue"/>
              </a:rPr>
              <a:t>Assets with more signals receive more weight.</a:t>
            </a:r>
          </a:p>
        </p:txBody>
      </p:sp>
      <p:sp>
        <p:nvSpPr>
          <p:cNvPr id="7" name="equal-asset">
            <a:extLst xmlns:a="http://schemas.openxmlformats.org/drawingml/2006/main">
              <a:ext uri="{FF2B5EF4-FFF2-40B4-BE49-F238E27FC236}">
                <a16:creationId xmlns:a16="http://schemas.microsoft.com/office/drawing/2014/main" id="{7ADEBACE-2094-476A-8476-5D9E3BEC5F81}"/>
              </a:ext>
            </a:extLst>
          </p:cNvPr>
          <p:cNvSpPr>
            <a:spLocks xmlns:a="http://schemas.openxmlformats.org/drawingml/2006/main" noGrp="1"/>
          </p:cNvSpPr>
          <p:nvPr/>
        </p:nvSpPr>
        <p:spPr>
          <a:xfrm xmlns:a="http://schemas.openxmlformats.org/drawingml/2006/main">
            <a:off x="6096000" y="1428750"/>
            <a:ext cx="5705475" cy="3619500"/>
          </a:xfrm>
          <a:prstGeom xmlns:a="http://schemas.openxmlformats.org/drawingml/2006/main" prst="roundRect">
            <a:avLst>
              <a:gd name="adj" fmla="val 3158"/>
            </a:avLst>
          </a:prstGeom>
          <a:solidFill xmlns:a="http://schemas.openxmlformats.org/drawingml/2006/main">
            <a:srgbClr val="EDEDED"/>
          </a:solidFill>
          <a:ln xmlns:a="http://schemas.openxmlformats.org/drawingml/2006/main" w="0">
            <a:solidFill>
              <a:srgbClr val="EDEDED"/>
            </a:solidFill>
            <a:prstDash val="solid"/>
          </a:ln>
        </p:spPr>
      </p:sp>
      <p:sp>
        <p:nvSpPr>
          <p:cNvPr id="8" name="text">
            <a:extLst xmlns:a="http://schemas.openxmlformats.org/drawingml/2006/main">
              <a:ext uri="{FF2B5EF4-FFF2-40B4-BE49-F238E27FC236}">
                <a16:creationId xmlns:a16="http://schemas.microsoft.com/office/drawing/2014/main" id="{ADE89C82-8065-4923-830D-71DC5C2CF2BC}"/>
              </a:ext>
            </a:extLst>
          </p:cNvPr>
          <p:cNvSpPr>
            <a:spLocks xmlns:a="http://schemas.openxmlformats.org/drawingml/2006/main" noGrp="1"/>
          </p:cNvSpPr>
          <p:nvPr/>
        </p:nvSpPr>
        <p:spPr>
          <a:xfrm xmlns:a="http://schemas.openxmlformats.org/drawingml/2006/main">
            <a:off x="6429375" y="1762125"/>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EQUAL-ASSET VIEW</a:t>
            </a:r>
          </a:p>
        </p:txBody>
      </p:sp>
      <p:sp>
        <p:nvSpPr>
          <p:cNvPr id="9" name="text">
            <a:extLst xmlns:a="http://schemas.openxmlformats.org/drawingml/2006/main">
              <a:ext uri="{FF2B5EF4-FFF2-40B4-BE49-F238E27FC236}">
                <a16:creationId xmlns:a16="http://schemas.microsoft.com/office/drawing/2014/main" id="{F8B52665-C6E0-49A0-AB6E-746BE238181A}"/>
              </a:ext>
            </a:extLst>
          </p:cNvPr>
          <p:cNvSpPr>
            <a:spLocks xmlns:a="http://schemas.openxmlformats.org/drawingml/2006/main" noGrp="1"/>
          </p:cNvSpPr>
          <p:nvPr/>
        </p:nvSpPr>
        <p:spPr>
          <a:xfrm xmlns:a="http://schemas.openxmlformats.org/drawingml/2006/main">
            <a:off x="6429375" y="2381250"/>
            <a:ext cx="4762500" cy="1857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delta_j = mean(A,j) - mean(B,j)</a:t>
            </a:r>
          </a:p>
          <a:p xmlns:a="http://schemas.openxmlformats.org/drawingml/2006/main">
            <a:r>
              <a:t/>
            </a:r>
          </a:p>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equal delta = average(delta_j)</a:t>
            </a:r>
          </a:p>
          <a:p xmlns:a="http://schemas.openxmlformats.org/drawingml/2006/main">
            <a:r>
              <a:t/>
            </a:r>
          </a:p>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Result: -0.151 pp</a:t>
            </a:r>
          </a:p>
        </p:txBody>
      </p:sp>
      <p:sp>
        <p:nvSpPr>
          <p:cNvPr id="10" name="text">
            <a:extLst xmlns:a="http://schemas.openxmlformats.org/drawingml/2006/main">
              <a:ext uri="{FF2B5EF4-FFF2-40B4-BE49-F238E27FC236}">
                <a16:creationId xmlns:a16="http://schemas.microsoft.com/office/drawing/2014/main" id="{4AFC044B-D6AE-4A56-88D5-73011C9772D4}"/>
              </a:ext>
            </a:extLst>
          </p:cNvPr>
          <p:cNvSpPr>
            <a:spLocks xmlns:a="http://schemas.openxmlformats.org/drawingml/2006/main" noGrp="1"/>
          </p:cNvSpPr>
          <p:nvPr/>
        </p:nvSpPr>
        <p:spPr>
          <a:xfrm xmlns:a="http://schemas.openxmlformats.org/drawingml/2006/main">
            <a:off x="6429375" y="4476750"/>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085"/>
                </a:solidFill>
                <a:latin typeface="Helvetica Neue"/>
                <a:ea typeface="Helvetica Neue"/>
                <a:cs typeface="Helvetica Neue"/>
              </a:defRPr>
            </a:pPr>
            <a:r>
              <a:rPr sz="1350" b="0">
                <a:solidFill>
                  <a:srgbClr val="667085"/>
                </a:solidFill>
                <a:latin typeface="Helvetica Neue"/>
                <a:ea typeface="Helvetica Neue"/>
                <a:cs typeface="Helvetica Neue"/>
              </a:rPr>
              <a:t>Every asset receives one vote; this is primary.</a:t>
            </a:r>
          </a:p>
        </p:txBody>
      </p:sp>
      <p:sp>
        <p:nvSpPr>
          <p:cNvPr id="11" name="text">
            <a:extLst xmlns:a="http://schemas.openxmlformats.org/drawingml/2006/main">
              <a:ext uri="{FF2B5EF4-FFF2-40B4-BE49-F238E27FC236}">
                <a16:creationId xmlns:a16="http://schemas.microsoft.com/office/drawing/2014/main" id="{328FF33D-02F8-49F2-986D-4B759FFAB491}"/>
              </a:ext>
            </a:extLst>
          </p:cNvPr>
          <p:cNvSpPr>
            <a:spLocks xmlns:a="http://schemas.openxmlformats.org/drawingml/2006/main" noGrp="1"/>
          </p:cNvSpPr>
          <p:nvPr/>
        </p:nvSpPr>
        <p:spPr>
          <a:xfrm xmlns:a="http://schemas.openxmlformats.org/drawingml/2006/main">
            <a:off x="666750" y="5715000"/>
            <a:ext cx="1085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667085"/>
                </a:solidFill>
                <a:latin typeface="Helvetica Neue"/>
                <a:ea typeface="Helvetica Neue"/>
                <a:cs typeface="Helvetica Neue"/>
              </a:defRPr>
            </a:pPr>
            <a:r>
              <a:rPr sz="1800" b="0">
                <a:solidFill>
                  <a:srgbClr val="667085"/>
                </a:solidFill>
                <a:latin typeface="Helvetica Neue"/>
                <a:ea typeface="Helvetica Neue"/>
                <a:cs typeface="Helvetica Neue"/>
              </a:rPr>
              <a:t>The sign reversal is a composition warning, not a contradiction.</a:t>
            </a:r>
          </a:p>
        </p:txBody>
      </p:sp>
    </p:spTree>
    <p:extLst>
      <p:ext uri="{BB962C8B-B14F-4D97-AF65-F5344CB8AC3E}">
        <p14:creationId xmlns:p14="http://schemas.microsoft.com/office/powerpoint/2010/main" val="177183843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F54F151A-BF27-40B5-B6D1-F45774E94903}"/>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No secondary feature supplied a robust substitute</a:t>
            </a:r>
          </a:p>
        </p:txBody>
      </p:sp>
      <p:sp>
        <p:nvSpPr>
          <p:cNvPr id="2" name="page-number">
            <a:extLst xmlns:a="http://schemas.openxmlformats.org/drawingml/2006/main">
              <a:ext uri="{FF2B5EF4-FFF2-40B4-BE49-F238E27FC236}">
                <a16:creationId xmlns:a16="http://schemas.microsoft.com/office/drawing/2014/main" id="{A3C9DFF2-8833-4B04-874F-F6F1165CBEEB}"/>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12</a:t>
            </a:r>
          </a:p>
        </p:txBody>
      </p:sp>
      <p:sp>
        <p:nvSpPr>
          <p:cNvPr id="3" name="text">
            <a:extLst xmlns:a="http://schemas.openxmlformats.org/drawingml/2006/main">
              <a:ext uri="{FF2B5EF4-FFF2-40B4-BE49-F238E27FC236}">
                <a16:creationId xmlns:a16="http://schemas.microsoft.com/office/drawing/2014/main" id="{F135AB12-495B-4780-BEEA-134D196C36BB}"/>
              </a:ext>
            </a:extLst>
          </p:cNvPr>
          <p:cNvSpPr>
            <a:spLocks xmlns:a="http://schemas.openxmlformats.org/drawingml/2006/main" noGrp="1"/>
          </p:cNvSpPr>
          <p:nvPr/>
        </p:nvSpPr>
        <p:spPr>
          <a:xfrm xmlns:a="http://schemas.openxmlformats.org/drawingml/2006/main">
            <a:off x="571500" y="15716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20-day momentum</a:t>
            </a:r>
          </a:p>
        </p:txBody>
      </p:sp>
      <p:sp>
        <p:nvSpPr>
          <p:cNvPr id="4" name="text">
            <a:extLst xmlns:a="http://schemas.openxmlformats.org/drawingml/2006/main">
              <a:ext uri="{FF2B5EF4-FFF2-40B4-BE49-F238E27FC236}">
                <a16:creationId xmlns:a16="http://schemas.microsoft.com/office/drawing/2014/main" id="{2762C8B4-BD49-47C6-8FA8-F669BF04F861}"/>
              </a:ext>
            </a:extLst>
          </p:cNvPr>
          <p:cNvSpPr>
            <a:spLocks xmlns:a="http://schemas.openxmlformats.org/drawingml/2006/main" noGrp="1"/>
          </p:cNvSpPr>
          <p:nvPr/>
        </p:nvSpPr>
        <p:spPr>
          <a:xfrm xmlns:a="http://schemas.openxmlformats.org/drawingml/2006/main">
            <a:off x="3524250" y="1543050"/>
            <a:ext cx="2047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3D8DFF"/>
                </a:solidFill>
                <a:latin typeface="Helvetica Neue"/>
                <a:ea typeface="Helvetica Neue"/>
                <a:cs typeface="Helvetica Neue"/>
              </a:defRPr>
            </a:pPr>
            <a:r>
              <a:rPr sz="2700" b="1">
                <a:solidFill>
                  <a:srgbClr val="3D8DFF"/>
                </a:solidFill>
                <a:latin typeface="Helvetica Neue"/>
                <a:ea typeface="Helvetica Neue"/>
                <a:cs typeface="Helvetica Neue"/>
              </a:rPr>
              <a:t>+0.133 pp</a:t>
            </a:r>
          </a:p>
        </p:txBody>
      </p:sp>
      <p:sp>
        <p:nvSpPr>
          <p:cNvPr id="5" name="text">
            <a:extLst xmlns:a="http://schemas.openxmlformats.org/drawingml/2006/main">
              <a:ext uri="{FF2B5EF4-FFF2-40B4-BE49-F238E27FC236}">
                <a16:creationId xmlns:a16="http://schemas.microsoft.com/office/drawing/2014/main" id="{95280614-89E7-48D9-B8D2-83B09A0D5288}"/>
              </a:ext>
            </a:extLst>
          </p:cNvPr>
          <p:cNvSpPr>
            <a:spLocks xmlns:a="http://schemas.openxmlformats.org/drawingml/2006/main" noGrp="1"/>
          </p:cNvSpPr>
          <p:nvPr/>
        </p:nvSpPr>
        <p:spPr>
          <a:xfrm xmlns:a="http://schemas.openxmlformats.org/drawingml/2006/main">
            <a:off x="5905500" y="157162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52.6% assets positive</a:t>
            </a:r>
          </a:p>
        </p:txBody>
      </p:sp>
      <p:sp>
        <p:nvSpPr>
          <p:cNvPr id="6" name="text">
            <a:extLst xmlns:a="http://schemas.openxmlformats.org/drawingml/2006/main">
              <a:ext uri="{FF2B5EF4-FFF2-40B4-BE49-F238E27FC236}">
                <a16:creationId xmlns:a16="http://schemas.microsoft.com/office/drawing/2014/main" id="{6BEB692F-AE31-414B-B55D-664526989CC9}"/>
              </a:ext>
            </a:extLst>
          </p:cNvPr>
          <p:cNvSpPr>
            <a:spLocks xmlns:a="http://schemas.openxmlformats.org/drawingml/2006/main" noGrp="1"/>
          </p:cNvSpPr>
          <p:nvPr/>
        </p:nvSpPr>
        <p:spPr>
          <a:xfrm xmlns:a="http://schemas.openxmlformats.org/drawingml/2006/main">
            <a:off x="8667750" y="1571625"/>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67085"/>
                </a:solidFill>
                <a:latin typeface="Helvetica Neue"/>
                <a:ea typeface="Helvetica Neue"/>
                <a:cs typeface="Helvetica Neue"/>
              </a:defRPr>
            </a:pPr>
            <a:r>
              <a:rPr sz="1425" b="0">
                <a:solidFill>
                  <a:srgbClr val="667085"/>
                </a:solidFill>
                <a:latin typeface="Helvetica Neue"/>
                <a:ea typeface="Helvetica Neue"/>
                <a:cs typeface="Helvetica Neue"/>
              </a:rPr>
              <a:t>95% interval -0.239 to +0.497 pp</a:t>
            </a:r>
          </a:p>
        </p:txBody>
      </p:sp>
      <p:sp>
        <p:nvSpPr>
          <p:cNvPr id="7" name="rule-0">
            <a:extLst xmlns:a="http://schemas.openxmlformats.org/drawingml/2006/main">
              <a:ext uri="{FF2B5EF4-FFF2-40B4-BE49-F238E27FC236}">
                <a16:creationId xmlns:a16="http://schemas.microsoft.com/office/drawing/2014/main" id="{393C3A46-1B56-49C9-B44E-EEFF561DCD56}"/>
              </a:ext>
            </a:extLst>
          </p:cNvPr>
          <p:cNvSpPr>
            <a:spLocks xmlns:a="http://schemas.openxmlformats.org/drawingml/2006/main" noGrp="1"/>
          </p:cNvSpPr>
          <p:nvPr/>
        </p:nvSpPr>
        <p:spPr>
          <a:xfrm xmlns:a="http://schemas.openxmlformats.org/drawingml/2006/main">
            <a:off x="571500" y="2219325"/>
            <a:ext cx="1095375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8" name="text">
            <a:extLst xmlns:a="http://schemas.openxmlformats.org/drawingml/2006/main">
              <a:ext uri="{FF2B5EF4-FFF2-40B4-BE49-F238E27FC236}">
                <a16:creationId xmlns:a16="http://schemas.microsoft.com/office/drawing/2014/main" id="{C12B2E5F-4EAE-461B-8E33-BE23C5310C18}"/>
              </a:ext>
            </a:extLst>
          </p:cNvPr>
          <p:cNvSpPr>
            <a:spLocks xmlns:a="http://schemas.openxmlformats.org/drawingml/2006/main" noGrp="1"/>
          </p:cNvSpPr>
          <p:nvPr/>
        </p:nvSpPr>
        <p:spPr>
          <a:xfrm xmlns:a="http://schemas.openxmlformats.org/drawingml/2006/main">
            <a:off x="571500" y="29527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SPY 60-day momentum</a:t>
            </a:r>
          </a:p>
        </p:txBody>
      </p:sp>
      <p:sp>
        <p:nvSpPr>
          <p:cNvPr id="9" name="text">
            <a:extLst xmlns:a="http://schemas.openxmlformats.org/drawingml/2006/main">
              <a:ext uri="{FF2B5EF4-FFF2-40B4-BE49-F238E27FC236}">
                <a16:creationId xmlns:a16="http://schemas.microsoft.com/office/drawing/2014/main" id="{F1847AC1-6C83-470A-A0EC-45DAF335CD62}"/>
              </a:ext>
            </a:extLst>
          </p:cNvPr>
          <p:cNvSpPr>
            <a:spLocks xmlns:a="http://schemas.openxmlformats.org/drawingml/2006/main" noGrp="1"/>
          </p:cNvSpPr>
          <p:nvPr/>
        </p:nvSpPr>
        <p:spPr>
          <a:xfrm xmlns:a="http://schemas.openxmlformats.org/drawingml/2006/main">
            <a:off x="3524250" y="2924175"/>
            <a:ext cx="2047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000000"/>
                </a:solidFill>
                <a:latin typeface="Helvetica Neue"/>
                <a:ea typeface="Helvetica Neue"/>
                <a:cs typeface="Helvetica Neue"/>
              </a:defRPr>
            </a:pPr>
            <a:r>
              <a:rPr sz="2700" b="1">
                <a:solidFill>
                  <a:srgbClr val="000000"/>
                </a:solidFill>
                <a:latin typeface="Helvetica Neue"/>
                <a:ea typeface="Helvetica Neue"/>
                <a:cs typeface="Helvetica Neue"/>
              </a:rPr>
              <a:t>+0.313 pp</a:t>
            </a:r>
          </a:p>
        </p:txBody>
      </p:sp>
      <p:sp>
        <p:nvSpPr>
          <p:cNvPr id="10" name="text">
            <a:extLst xmlns:a="http://schemas.openxmlformats.org/drawingml/2006/main">
              <a:ext uri="{FF2B5EF4-FFF2-40B4-BE49-F238E27FC236}">
                <a16:creationId xmlns:a16="http://schemas.microsoft.com/office/drawing/2014/main" id="{48AAFD5E-4F5B-4749-8FDA-9565E50D7C2A}"/>
              </a:ext>
            </a:extLst>
          </p:cNvPr>
          <p:cNvSpPr>
            <a:spLocks xmlns:a="http://schemas.openxmlformats.org/drawingml/2006/main" noGrp="1"/>
          </p:cNvSpPr>
          <p:nvPr/>
        </p:nvSpPr>
        <p:spPr>
          <a:xfrm xmlns:a="http://schemas.openxmlformats.org/drawingml/2006/main">
            <a:off x="5905500" y="295275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45.7% assets positive</a:t>
            </a:r>
          </a:p>
        </p:txBody>
      </p:sp>
      <p:sp>
        <p:nvSpPr>
          <p:cNvPr id="11" name="text">
            <a:extLst xmlns:a="http://schemas.openxmlformats.org/drawingml/2006/main">
              <a:ext uri="{FF2B5EF4-FFF2-40B4-BE49-F238E27FC236}">
                <a16:creationId xmlns:a16="http://schemas.microsoft.com/office/drawing/2014/main" id="{00DFFB26-3E02-40C1-8E70-D81F7C2EACE5}"/>
              </a:ext>
            </a:extLst>
          </p:cNvPr>
          <p:cNvSpPr>
            <a:spLocks xmlns:a="http://schemas.openxmlformats.org/drawingml/2006/main" noGrp="1"/>
          </p:cNvSpPr>
          <p:nvPr/>
        </p:nvSpPr>
        <p:spPr>
          <a:xfrm xmlns:a="http://schemas.openxmlformats.org/drawingml/2006/main">
            <a:off x="8667750" y="2952750"/>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67085"/>
                </a:solidFill>
                <a:latin typeface="Helvetica Neue"/>
                <a:ea typeface="Helvetica Neue"/>
                <a:cs typeface="Helvetica Neue"/>
              </a:defRPr>
            </a:pPr>
            <a:r>
              <a:rPr sz="1425" b="0">
                <a:solidFill>
                  <a:srgbClr val="667085"/>
                </a:solidFill>
                <a:latin typeface="Helvetica Neue"/>
                <a:ea typeface="Helvetica Neue"/>
                <a:cs typeface="Helvetica Neue"/>
              </a:rPr>
              <a:t>95% interval -0.029 to +0.710 pp</a:t>
            </a:r>
          </a:p>
        </p:txBody>
      </p:sp>
      <p:sp>
        <p:nvSpPr>
          <p:cNvPr id="12" name="rule-1">
            <a:extLst xmlns:a="http://schemas.openxmlformats.org/drawingml/2006/main">
              <a:ext uri="{FF2B5EF4-FFF2-40B4-BE49-F238E27FC236}">
                <a16:creationId xmlns:a16="http://schemas.microsoft.com/office/drawing/2014/main" id="{E6C75D3D-BA5C-4D19-9C69-84043B6F3D28}"/>
              </a:ext>
            </a:extLst>
          </p:cNvPr>
          <p:cNvSpPr>
            <a:spLocks xmlns:a="http://schemas.openxmlformats.org/drawingml/2006/main" noGrp="1"/>
          </p:cNvSpPr>
          <p:nvPr/>
        </p:nvSpPr>
        <p:spPr>
          <a:xfrm xmlns:a="http://schemas.openxmlformats.org/drawingml/2006/main">
            <a:off x="571500" y="3600450"/>
            <a:ext cx="1095375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3" name="text">
            <a:extLst xmlns:a="http://schemas.openxmlformats.org/drawingml/2006/main">
              <a:ext uri="{FF2B5EF4-FFF2-40B4-BE49-F238E27FC236}">
                <a16:creationId xmlns:a16="http://schemas.microsoft.com/office/drawing/2014/main" id="{AA9760B9-E3CF-417A-A536-4CA7B5C6AF3E}"/>
              </a:ext>
            </a:extLst>
          </p:cNvPr>
          <p:cNvSpPr>
            <a:spLocks xmlns:a="http://schemas.openxmlformats.org/drawingml/2006/main" noGrp="1"/>
          </p:cNvSpPr>
          <p:nvPr/>
        </p:nvSpPr>
        <p:spPr>
          <a:xfrm xmlns:a="http://schemas.openxmlformats.org/drawingml/2006/main">
            <a:off x="571500" y="43338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Largest median rank rho</a:t>
            </a:r>
          </a:p>
        </p:txBody>
      </p:sp>
      <p:sp>
        <p:nvSpPr>
          <p:cNvPr id="14" name="text">
            <a:extLst xmlns:a="http://schemas.openxmlformats.org/drawingml/2006/main">
              <a:ext uri="{FF2B5EF4-FFF2-40B4-BE49-F238E27FC236}">
                <a16:creationId xmlns:a16="http://schemas.microsoft.com/office/drawing/2014/main" id="{98CC77AE-F2D1-4B41-8A0F-FF3CEF9CBB9F}"/>
              </a:ext>
            </a:extLst>
          </p:cNvPr>
          <p:cNvSpPr>
            <a:spLocks xmlns:a="http://schemas.openxmlformats.org/drawingml/2006/main" noGrp="1"/>
          </p:cNvSpPr>
          <p:nvPr/>
        </p:nvSpPr>
        <p:spPr>
          <a:xfrm xmlns:a="http://schemas.openxmlformats.org/drawingml/2006/main">
            <a:off x="3524250" y="4305300"/>
            <a:ext cx="2047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000000"/>
                </a:solidFill>
                <a:latin typeface="Helvetica Neue"/>
                <a:ea typeface="Helvetica Neue"/>
                <a:cs typeface="Helvetica Neue"/>
              </a:defRPr>
            </a:pPr>
            <a:r>
              <a:rPr sz="2700" b="1">
                <a:solidFill>
                  <a:srgbClr val="000000"/>
                </a:solidFill>
                <a:latin typeface="Helvetica Neue"/>
                <a:ea typeface="Helvetica Neue"/>
                <a:cs typeface="Helvetica Neue"/>
              </a:rPr>
              <a:t>+0.026</a:t>
            </a:r>
          </a:p>
        </p:txBody>
      </p:sp>
      <p:sp>
        <p:nvSpPr>
          <p:cNvPr id="15" name="text">
            <a:extLst xmlns:a="http://schemas.openxmlformats.org/drawingml/2006/main">
              <a:ext uri="{FF2B5EF4-FFF2-40B4-BE49-F238E27FC236}">
                <a16:creationId xmlns:a16="http://schemas.microsoft.com/office/drawing/2014/main" id="{933B490D-4F00-4854-954C-C1E21EC30879}"/>
              </a:ext>
            </a:extLst>
          </p:cNvPr>
          <p:cNvSpPr>
            <a:spLocks xmlns:a="http://schemas.openxmlformats.org/drawingml/2006/main" noGrp="1"/>
          </p:cNvSpPr>
          <p:nvPr/>
        </p:nvSpPr>
        <p:spPr>
          <a:xfrm xmlns:a="http://schemas.openxmlformats.org/drawingml/2006/main">
            <a:off x="5905500" y="433387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20-day momentum</a:t>
            </a:r>
          </a:p>
        </p:txBody>
      </p:sp>
      <p:sp>
        <p:nvSpPr>
          <p:cNvPr id="16" name="text">
            <a:extLst xmlns:a="http://schemas.openxmlformats.org/drawingml/2006/main">
              <a:ext uri="{FF2B5EF4-FFF2-40B4-BE49-F238E27FC236}">
                <a16:creationId xmlns:a16="http://schemas.microsoft.com/office/drawing/2014/main" id="{BB1FC96C-2F8E-42E4-B2F0-16AFF6FAAA81}"/>
              </a:ext>
            </a:extLst>
          </p:cNvPr>
          <p:cNvSpPr>
            <a:spLocks xmlns:a="http://schemas.openxmlformats.org/drawingml/2006/main" noGrp="1"/>
          </p:cNvSpPr>
          <p:nvPr/>
        </p:nvSpPr>
        <p:spPr>
          <a:xfrm xmlns:a="http://schemas.openxmlformats.org/drawingml/2006/main">
            <a:off x="8667750" y="4333875"/>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67085"/>
                </a:solidFill>
                <a:latin typeface="Helvetica Neue"/>
                <a:ea typeface="Helvetica Neue"/>
                <a:cs typeface="Helvetica Neue"/>
              </a:defRPr>
            </a:pPr>
            <a:r>
              <a:rPr sz="1425" b="0">
                <a:solidFill>
                  <a:srgbClr val="667085"/>
                </a:solidFill>
                <a:latin typeface="Helvetica Neue"/>
                <a:ea typeface="Helvetica Neue"/>
                <a:cs typeface="Helvetica Neue"/>
              </a:rPr>
              <a:t>All continuous gradients near zero</a:t>
            </a:r>
          </a:p>
        </p:txBody>
      </p:sp>
      <p:sp>
        <p:nvSpPr>
          <p:cNvPr id="17" name="rule-2">
            <a:extLst xmlns:a="http://schemas.openxmlformats.org/drawingml/2006/main">
              <a:ext uri="{FF2B5EF4-FFF2-40B4-BE49-F238E27FC236}">
                <a16:creationId xmlns:a16="http://schemas.microsoft.com/office/drawing/2014/main" id="{55C1A7AA-2CE8-407C-8E52-100D6EF02404}"/>
              </a:ext>
            </a:extLst>
          </p:cNvPr>
          <p:cNvSpPr>
            <a:spLocks xmlns:a="http://schemas.openxmlformats.org/drawingml/2006/main" noGrp="1"/>
          </p:cNvSpPr>
          <p:nvPr/>
        </p:nvSpPr>
        <p:spPr>
          <a:xfrm xmlns:a="http://schemas.openxmlformats.org/drawingml/2006/main">
            <a:off x="571500" y="4981575"/>
            <a:ext cx="1095375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8" name="text">
            <a:extLst xmlns:a="http://schemas.openxmlformats.org/drawingml/2006/main">
              <a:ext uri="{FF2B5EF4-FFF2-40B4-BE49-F238E27FC236}">
                <a16:creationId xmlns:a16="http://schemas.microsoft.com/office/drawing/2014/main" id="{BECFE99C-C0CB-4A4E-A681-1811B0DA67AB}"/>
              </a:ext>
            </a:extLst>
          </p:cNvPr>
          <p:cNvSpPr>
            <a:spLocks xmlns:a="http://schemas.openxmlformats.org/drawingml/2006/main" noGrp="1"/>
          </p:cNvSpPr>
          <p:nvPr/>
        </p:nvSpPr>
        <p:spPr>
          <a:xfrm xmlns:a="http://schemas.openxmlformats.org/drawingml/2006/main">
            <a:off x="762000" y="581025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667085"/>
                </a:solidFill>
                <a:latin typeface="Helvetica Neue"/>
                <a:ea typeface="Helvetica Neue"/>
                <a:cs typeface="Helvetica Neue"/>
              </a:defRPr>
            </a:pPr>
            <a:r>
              <a:rPr sz="1725" b="0">
                <a:solidFill>
                  <a:srgbClr val="667085"/>
                </a:solidFill>
                <a:latin typeface="Helvetica Neue"/>
                <a:ea typeface="Helvetica Neue"/>
                <a:cs typeface="Helvetica Neue"/>
              </a:rPr>
              <a:t>Point estimates are hypotheses; cross-asset breadth and intervals decide whether they deserve another lane.</a:t>
            </a:r>
          </a:p>
        </p:txBody>
      </p:sp>
    </p:spTree>
    <p:extLst>
      <p:ext uri="{BB962C8B-B14F-4D97-AF65-F5344CB8AC3E}">
        <p14:creationId xmlns:p14="http://schemas.microsoft.com/office/powerpoint/2010/main" val="44578177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7F891BE6-E00A-4019-A44C-577ED5809B93}"/>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Early trade state describes sunk P&amp;L better than it predicts what remains</a:t>
            </a:r>
          </a:p>
        </p:txBody>
      </p:sp>
      <p:sp>
        <p:nvSpPr>
          <p:cNvPr id="2" name="page-number">
            <a:extLst xmlns:a="http://schemas.openxmlformats.org/drawingml/2006/main">
              <a:ext uri="{FF2B5EF4-FFF2-40B4-BE49-F238E27FC236}">
                <a16:creationId xmlns:a16="http://schemas.microsoft.com/office/drawing/2014/main" id="{D5217D7F-192B-42ED-AE1E-EC8DBE830D78}"/>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13</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f902395924c47c6"/>
          <a:stretch xmlns:a="http://schemas.openxmlformats.org/drawingml/2006/main"/>
        </p:blipFill>
        <p:spPr>
          <a:xfrm xmlns:a="http://schemas.openxmlformats.org/drawingml/2006/main">
            <a:off x="1926648" y="1047750"/>
            <a:ext cx="8338705" cy="5095875"/>
          </a:xfrm>
          <a:prstGeom xmlns:a="http://schemas.openxmlformats.org/drawingml/2006/main" prst="rect">
            <a:avLst/>
          </a:prstGeom>
        </p:spPr>
      </p:pic>
    </p:spTree>
    <p:extLst>
      <p:ext uri="{BB962C8B-B14F-4D97-AF65-F5344CB8AC3E}">
        <p14:creationId xmlns:p14="http://schemas.microsoft.com/office/powerpoint/2010/main" val="144935329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D7597BAD-6663-4087-A82B-34B9C54EF86D}"/>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The loss tail concentrates in the attention cohort - a clue, not a filter</a:t>
            </a:r>
          </a:p>
        </p:txBody>
      </p:sp>
      <p:sp>
        <p:nvSpPr>
          <p:cNvPr id="2" name="page-number">
            <a:extLst xmlns:a="http://schemas.openxmlformats.org/drawingml/2006/main">
              <a:ext uri="{FF2B5EF4-FFF2-40B4-BE49-F238E27FC236}">
                <a16:creationId xmlns:a16="http://schemas.microsoft.com/office/drawing/2014/main" id="{EEF68AF2-E003-4A39-B2FC-365B45845336}"/>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14</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f3a275efa174ac2"/>
          <a:stretch xmlns:a="http://schemas.openxmlformats.org/drawingml/2006/main"/>
        </p:blipFill>
        <p:spPr>
          <a:xfrm xmlns:a="http://schemas.openxmlformats.org/drawingml/2006/main">
            <a:off x="2046684" y="1028700"/>
            <a:ext cx="8098631" cy="5114925"/>
          </a:xfrm>
          <a:prstGeom xmlns:a="http://schemas.openxmlformats.org/drawingml/2006/main" prst="rect">
            <a:avLst/>
          </a:prstGeom>
        </p:spPr>
      </p:pic>
    </p:spTree>
    <p:extLst>
      <p:ext uri="{BB962C8B-B14F-4D97-AF65-F5344CB8AC3E}">
        <p14:creationId xmlns:p14="http://schemas.microsoft.com/office/powerpoint/2010/main" val="159582135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5" name="text">
            <a:extLst xmlns:a="http://schemas.openxmlformats.org/drawingml/2006/main">
              <a:ext uri="{FF2B5EF4-FFF2-40B4-BE49-F238E27FC236}">
                <a16:creationId xmlns:a16="http://schemas.microsoft.com/office/drawing/2014/main" id="{B4EEA7B8-6A42-48FF-BC09-72C15ECE869F}"/>
              </a:ext>
            </a:extLst>
          </p:cNvPr>
          <p:cNvSpPr>
            <a:spLocks xmlns:a="http://schemas.openxmlformats.org/drawingml/2006/main" noGrp="1"/>
          </p:cNvSpPr>
          <p:nvPr/>
        </p:nvSpPr>
        <p:spPr>
          <a:xfrm xmlns:a="http://schemas.openxmlformats.org/drawingml/2006/main">
            <a:off x="390525" y="390525"/>
            <a:ext cx="666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667085"/>
                </a:solidFill>
                <a:latin typeface="Helvetica Neue"/>
                <a:ea typeface="Helvetica Neue"/>
                <a:cs typeface="Helvetica Neue"/>
              </a:defRPr>
            </a:pPr>
            <a:r>
              <a:rPr sz="2100" b="0">
                <a:solidFill>
                  <a:srgbClr val="667085"/>
                </a:solidFill>
                <a:latin typeface="Helvetica Neue"/>
                <a:ea typeface="Helvetica Neue"/>
                <a:cs typeface="Helvetica Neue"/>
              </a:rPr>
              <a:t>TRADE-TAPE AUDIT</a:t>
            </a:r>
          </a:p>
        </p:txBody>
      </p:sp>
      <p:sp>
        <p:nvSpPr>
          <p:cNvPr id="2" name="text">
            <a:extLst xmlns:a="http://schemas.openxmlformats.org/drawingml/2006/main">
              <a:ext uri="{FF2B5EF4-FFF2-40B4-BE49-F238E27FC236}">
                <a16:creationId xmlns:a16="http://schemas.microsoft.com/office/drawing/2014/main" id="{5ED1EF46-1DEF-470A-B9F7-8029790F413D}"/>
              </a:ext>
            </a:extLst>
          </p:cNvPr>
          <p:cNvSpPr>
            <a:spLocks xmlns:a="http://schemas.openxmlformats.org/drawingml/2006/main" noGrp="1"/>
          </p:cNvSpPr>
          <p:nvPr/>
        </p:nvSpPr>
        <p:spPr>
          <a:xfrm xmlns:a="http://schemas.openxmlformats.org/drawingml/2006/main">
            <a:off x="390525" y="1428750"/>
            <a:ext cx="1066800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4950" b="0">
                <a:solidFill>
                  <a:srgbClr val="000000"/>
                </a:solidFill>
                <a:latin typeface="Helvetica Neue"/>
                <a:ea typeface="Helvetica Neue"/>
                <a:cs typeface="Helvetica Neue"/>
              </a:defRPr>
            </a:pPr>
            <a:r>
              <a:rPr sz="4950" b="0">
                <a:solidFill>
                  <a:srgbClr val="000000"/>
                </a:solidFill>
                <a:latin typeface="Helvetica Neue"/>
                <a:ea typeface="Helvetica Neue"/>
                <a:cs typeface="Helvetica Neue"/>
              </a:rPr>
              <a:t>The same formula can look</a:t>
            </a:r>
          </a:p>
          <a:p xmlns:a="http://schemas.openxmlformats.org/drawingml/2006/main">
            <a:pPr algn="l">
              <a:defRPr sz="4950" b="0">
                <a:solidFill>
                  <a:srgbClr val="000000"/>
                </a:solidFill>
                <a:latin typeface="Helvetica Neue"/>
                <a:ea typeface="Helvetica Neue"/>
                <a:cs typeface="Helvetica Neue"/>
              </a:defRPr>
            </a:pPr>
            <a:r>
              <a:rPr sz="4950" b="0">
                <a:solidFill>
                  <a:srgbClr val="000000"/>
                </a:solidFill>
                <a:latin typeface="Helvetica Neue"/>
                <a:ea typeface="Helvetica Neue"/>
                <a:cs typeface="Helvetica Neue"/>
              </a:rPr>
              <a:t>convincing, ordinary, or</a:t>
            </a:r>
          </a:p>
          <a:p xmlns:a="http://schemas.openxmlformats.org/drawingml/2006/main">
            <a:pPr algn="l">
              <a:defRPr sz="4950" b="0">
                <a:solidFill>
                  <a:srgbClr val="000000"/>
                </a:solidFill>
                <a:latin typeface="Helvetica Neue"/>
                <a:ea typeface="Helvetica Neue"/>
                <a:cs typeface="Helvetica Neue"/>
              </a:defRPr>
            </a:pPr>
            <a:r>
              <a:rPr sz="4950" b="0">
                <a:solidFill>
                  <a:srgbClr val="000000"/>
                </a:solidFill>
                <a:latin typeface="Helvetica Neue"/>
                <a:ea typeface="Helvetica Neue"/>
                <a:cs typeface="Helvetica Neue"/>
              </a:rPr>
              <a:t>disastrous</a:t>
            </a:r>
          </a:p>
        </p:txBody>
      </p:sp>
      <p:sp>
        <p:nvSpPr>
          <p:cNvPr id="3" name="text">
            <a:extLst xmlns:a="http://schemas.openxmlformats.org/drawingml/2006/main">
              <a:ext uri="{FF2B5EF4-FFF2-40B4-BE49-F238E27FC236}">
                <a16:creationId xmlns:a16="http://schemas.microsoft.com/office/drawing/2014/main" id="{3E07AA14-2930-4343-B1A1-D32C517C2A21}"/>
              </a:ext>
            </a:extLst>
          </p:cNvPr>
          <p:cNvSpPr>
            <a:spLocks xmlns:a="http://schemas.openxmlformats.org/drawingml/2006/main" noGrp="1"/>
          </p:cNvSpPr>
          <p:nvPr/>
        </p:nvSpPr>
        <p:spPr>
          <a:xfrm xmlns:a="http://schemas.openxmlformats.org/drawingml/2006/main">
            <a:off x="390525" y="5238750"/>
            <a:ext cx="1047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Six frozen archetypes connect the distribution to actual price paths.</a:t>
            </a:r>
          </a:p>
        </p:txBody>
      </p:sp>
      <p:sp>
        <p:nvSpPr>
          <p:cNvPr id="4" name="text">
            <a:extLst xmlns:a="http://schemas.openxmlformats.org/drawingml/2006/main">
              <a:ext uri="{FF2B5EF4-FFF2-40B4-BE49-F238E27FC236}">
                <a16:creationId xmlns:a16="http://schemas.microsoft.com/office/drawing/2014/main" id="{2E9A8BDB-679F-41CB-85F7-45B3001A69A1}"/>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15</a:t>
            </a:r>
          </a:p>
        </p:txBody>
      </p:sp>
    </p:spTree>
    <p:extLst>
      <p:ext uri="{BB962C8B-B14F-4D97-AF65-F5344CB8AC3E}">
        <p14:creationId xmlns:p14="http://schemas.microsoft.com/office/powerpoint/2010/main" val="61362799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AF307B15-EFFB-4F4F-AAC1-632616A7A344}"/>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The best trade was a violent rebound, not a clean trend continuation</a:t>
            </a:r>
          </a:p>
        </p:txBody>
      </p:sp>
      <p:sp>
        <p:nvSpPr>
          <p:cNvPr id="2" name="page-number">
            <a:extLst xmlns:a="http://schemas.openxmlformats.org/drawingml/2006/main">
              <a:ext uri="{FF2B5EF4-FFF2-40B4-BE49-F238E27FC236}">
                <a16:creationId xmlns:a16="http://schemas.microsoft.com/office/drawing/2014/main" id="{DF534B87-4082-4F8A-9F45-D644D99C91AB}"/>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16</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aedde87d27a439f"/>
          <a:stretch xmlns:a="http://schemas.openxmlformats.org/drawingml/2006/main"/>
        </p:blipFill>
        <p:spPr>
          <a:xfrm xmlns:a="http://schemas.openxmlformats.org/drawingml/2006/main">
            <a:off x="1848716" y="1000125"/>
            <a:ext cx="8494568" cy="5191125"/>
          </a:xfrm>
          <a:prstGeom xmlns:a="http://schemas.openxmlformats.org/drawingml/2006/main" prst="rect">
            <a:avLst/>
          </a:prstGeom>
        </p:spPr>
      </p:pic>
    </p:spTree>
    <p:extLst>
      <p:ext uri="{BB962C8B-B14F-4D97-AF65-F5344CB8AC3E}">
        <p14:creationId xmlns:p14="http://schemas.microsoft.com/office/powerpoint/2010/main" val="46183526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955F7EC7-B262-4F0A-B30A-DA6B88E63BFF}"/>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The worst trade shows the downside tail the hit rate conceals</a:t>
            </a:r>
          </a:p>
        </p:txBody>
      </p:sp>
      <p:sp>
        <p:nvSpPr>
          <p:cNvPr id="2" name="page-number">
            <a:extLst xmlns:a="http://schemas.openxmlformats.org/drawingml/2006/main">
              <a:ext uri="{FF2B5EF4-FFF2-40B4-BE49-F238E27FC236}">
                <a16:creationId xmlns:a16="http://schemas.microsoft.com/office/drawing/2014/main" id="{A79633AF-3721-4630-A968-305DAB231A81}"/>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17</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c6ff58e8fba43f7"/>
          <a:stretch xmlns:a="http://schemas.openxmlformats.org/drawingml/2006/main"/>
        </p:blipFill>
        <p:spPr>
          <a:xfrm xmlns:a="http://schemas.openxmlformats.org/drawingml/2006/main">
            <a:off x="1848716" y="1000125"/>
            <a:ext cx="8494568" cy="5191125"/>
          </a:xfrm>
          <a:prstGeom xmlns:a="http://schemas.openxmlformats.org/drawingml/2006/main" prst="rect">
            <a:avLst/>
          </a:prstGeom>
        </p:spPr>
      </p:pic>
    </p:spTree>
    <p:extLst>
      <p:ext uri="{BB962C8B-B14F-4D97-AF65-F5344CB8AC3E}">
        <p14:creationId xmlns:p14="http://schemas.microsoft.com/office/powerpoint/2010/main" val="100399424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58728488-AFDC-46E4-97FC-1D5A8B32553F}"/>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The SPY-above medoid is an ordinary +0.22% trade</a:t>
            </a:r>
          </a:p>
        </p:txBody>
      </p:sp>
      <p:sp>
        <p:nvSpPr>
          <p:cNvPr id="2" name="page-number">
            <a:extLst xmlns:a="http://schemas.openxmlformats.org/drawingml/2006/main">
              <a:ext uri="{FF2B5EF4-FFF2-40B4-BE49-F238E27FC236}">
                <a16:creationId xmlns:a16="http://schemas.microsoft.com/office/drawing/2014/main" id="{7E716272-DE16-4315-861B-ACF1C3DAB79B}"/>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18</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215a46b33aa49f8"/>
          <a:stretch xmlns:a="http://schemas.openxmlformats.org/drawingml/2006/main"/>
        </p:blipFill>
        <p:spPr>
          <a:xfrm xmlns:a="http://schemas.openxmlformats.org/drawingml/2006/main">
            <a:off x="1848716" y="1000125"/>
            <a:ext cx="8494568" cy="5191125"/>
          </a:xfrm>
          <a:prstGeom xmlns:a="http://schemas.openxmlformats.org/drawingml/2006/main" prst="rect">
            <a:avLst/>
          </a:prstGeom>
        </p:spPr>
      </p:pic>
    </p:spTree>
    <p:extLst>
      <p:ext uri="{BB962C8B-B14F-4D97-AF65-F5344CB8AC3E}">
        <p14:creationId xmlns:p14="http://schemas.microsoft.com/office/powerpoint/2010/main" val="1176323788"/>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7606C1DA-4CDD-484D-9F5C-D73BF96AFA42}"/>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The SPY-below medoid is also ordinary at +0.02%</a:t>
            </a:r>
          </a:p>
        </p:txBody>
      </p:sp>
      <p:sp>
        <p:nvSpPr>
          <p:cNvPr id="2" name="page-number">
            <a:extLst xmlns:a="http://schemas.openxmlformats.org/drawingml/2006/main">
              <a:ext uri="{FF2B5EF4-FFF2-40B4-BE49-F238E27FC236}">
                <a16:creationId xmlns:a16="http://schemas.microsoft.com/office/drawing/2014/main" id="{101D4024-FBC8-48C4-B43D-8C3DD3F4BA73}"/>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19</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10a5b8d71b24e58"/>
          <a:stretch xmlns:a="http://schemas.openxmlformats.org/drawingml/2006/main"/>
        </p:blipFill>
        <p:spPr>
          <a:xfrm xmlns:a="http://schemas.openxmlformats.org/drawingml/2006/main">
            <a:off x="1848716" y="1000125"/>
            <a:ext cx="8494568" cy="5191125"/>
          </a:xfrm>
          <a:prstGeom xmlns:a="http://schemas.openxmlformats.org/drawingml/2006/main" prst="rect">
            <a:avLst/>
          </a:prstGeom>
        </p:spPr>
      </p:pic>
    </p:spTree>
    <p:extLst>
      <p:ext uri="{BB962C8B-B14F-4D97-AF65-F5344CB8AC3E}">
        <p14:creationId xmlns:p14="http://schemas.microsoft.com/office/powerpoint/2010/main" val="1110832511"/>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61F0319D-84ED-46DD-9981-0A985A01806D}"/>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The pooled medoid remained nearly flat despite a large candle body</a:t>
            </a:r>
          </a:p>
        </p:txBody>
      </p:sp>
      <p:sp>
        <p:nvSpPr>
          <p:cNvPr id="2" name="page-number">
            <a:extLst xmlns:a="http://schemas.openxmlformats.org/drawingml/2006/main">
              <a:ext uri="{FF2B5EF4-FFF2-40B4-BE49-F238E27FC236}">
                <a16:creationId xmlns:a16="http://schemas.microsoft.com/office/drawing/2014/main" id="{49C7779E-3543-44C5-B203-A2CD1EFB4F89}"/>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20</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9d2eb16d2714b27"/>
          <a:stretch xmlns:a="http://schemas.openxmlformats.org/drawingml/2006/main"/>
        </p:blipFill>
        <p:spPr>
          <a:xfrm xmlns:a="http://schemas.openxmlformats.org/drawingml/2006/main">
            <a:off x="1848716" y="1000125"/>
            <a:ext cx="8494568" cy="5191125"/>
          </a:xfrm>
          <a:prstGeom xmlns:a="http://schemas.openxmlformats.org/drawingml/2006/main" prst="rect">
            <a:avLst/>
          </a:prstGeom>
        </p:spPr>
      </p:pic>
    </p:spTree>
    <p:extLst>
      <p:ext uri="{BB962C8B-B14F-4D97-AF65-F5344CB8AC3E}">
        <p14:creationId xmlns:p14="http://schemas.microsoft.com/office/powerpoint/2010/main" val="1443467939"/>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5F1302AE-2088-4FD8-B40D-A644152E1B03}"/>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High gap plus high body still produced an ordinary +0.10% trade</a:t>
            </a:r>
          </a:p>
        </p:txBody>
      </p:sp>
      <p:sp>
        <p:nvSpPr>
          <p:cNvPr id="2" name="page-number">
            <a:extLst xmlns:a="http://schemas.openxmlformats.org/drawingml/2006/main">
              <a:ext uri="{FF2B5EF4-FFF2-40B4-BE49-F238E27FC236}">
                <a16:creationId xmlns:a16="http://schemas.microsoft.com/office/drawing/2014/main" id="{E7AC206D-81AD-4A75-A6E2-98910A3194B6}"/>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21</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985406f78374193"/>
          <a:stretch xmlns:a="http://schemas.openxmlformats.org/drawingml/2006/main"/>
        </p:blipFill>
        <p:spPr>
          <a:xfrm xmlns:a="http://schemas.openxmlformats.org/drawingml/2006/main">
            <a:off x="1848716" y="1000125"/>
            <a:ext cx="8494568" cy="5191125"/>
          </a:xfrm>
          <a:prstGeom xmlns:a="http://schemas.openxmlformats.org/drawingml/2006/main" prst="rect">
            <a:avLst/>
          </a:prstGeom>
        </p:spPr>
      </p:pic>
    </p:spTree>
    <p:extLst>
      <p:ext uri="{BB962C8B-B14F-4D97-AF65-F5344CB8AC3E}">
        <p14:creationId xmlns:p14="http://schemas.microsoft.com/office/powerpoint/2010/main" val="1034197330"/>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BAA470FF-7AA4-42E7-9421-2FD70296A1EE}"/>
              </a:ext>
            </a:extLst>
          </p:cNvPr>
          <p:cNvSpPr>
            <a:spLocks xmlns:a="http://schemas.openxmlformats.org/drawingml/2006/main" noGrp="1"/>
          </p:cNvSpPr>
          <p:nvPr/>
        </p:nvSpPr>
        <p:spPr>
          <a:xfrm xmlns:a="http://schemas.openxmlformats.org/drawingml/2006/main">
            <a:off x="393668" y="344043"/>
            <a:ext cx="11404568"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The thoughtful next move is to preserve the result - not rescue the rule</a:t>
            </a:r>
          </a:p>
        </p:txBody>
      </p:sp>
      <p:sp>
        <p:nvSpPr>
          <p:cNvPr id="2" name="page-number">
            <a:extLst xmlns:a="http://schemas.openxmlformats.org/drawingml/2006/main">
              <a:ext uri="{FF2B5EF4-FFF2-40B4-BE49-F238E27FC236}">
                <a16:creationId xmlns:a16="http://schemas.microsoft.com/office/drawing/2014/main" id="{99335827-DFD3-4849-B44E-1F244F10A629}"/>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b="0">
                <a:solidFill>
                  <a:srgbClr val="000000"/>
                </a:solidFill>
                <a:latin typeface="Helvetica Neue"/>
                <a:ea typeface="Helvetica Neue"/>
                <a:cs typeface="Helvetica Neue"/>
              </a:defRPr>
            </a:pPr>
            <a:r>
              <a:rPr sz="1000" b="0">
                <a:solidFill>
                  <a:srgbClr val="000000"/>
                </a:solidFill>
                <a:latin typeface="Helvetica Neue"/>
                <a:ea typeface="Helvetica Neue"/>
                <a:cs typeface="Helvetica Neue"/>
              </a:rPr>
              <a:t>22</a:t>
            </a:r>
          </a:p>
        </p:txBody>
      </p:sp>
      <p:sp>
        <p:nvSpPr>
          <p:cNvPr id="3" name="learned">
            <a:extLst xmlns:a="http://schemas.openxmlformats.org/drawingml/2006/main">
              <a:ext uri="{FF2B5EF4-FFF2-40B4-BE49-F238E27FC236}">
                <a16:creationId xmlns:a16="http://schemas.microsoft.com/office/drawing/2014/main" id="{B5B35C60-1156-426A-94F8-B8DB297B291B}"/>
              </a:ext>
            </a:extLst>
          </p:cNvPr>
          <p:cNvSpPr>
            <a:spLocks xmlns:a="http://schemas.openxmlformats.org/drawingml/2006/main" noGrp="1"/>
          </p:cNvSpPr>
          <p:nvPr/>
        </p:nvSpPr>
        <p:spPr>
          <a:xfrm xmlns:a="http://schemas.openxmlformats.org/drawingml/2006/main">
            <a:off x="390525" y="1476375"/>
            <a:ext cx="5381625" cy="3667125"/>
          </a:xfrm>
          <a:prstGeom xmlns:a="http://schemas.openxmlformats.org/drawingml/2006/main" prst="roundRect">
            <a:avLst>
              <a:gd name="adj" fmla="val 3117"/>
            </a:avLst>
          </a:prstGeom>
          <a:solidFill xmlns:a="http://schemas.openxmlformats.org/drawingml/2006/main">
            <a:srgbClr val="EAF5EF"/>
          </a:solidFill>
          <a:ln xmlns:a="http://schemas.openxmlformats.org/drawingml/2006/main" w="9525">
            <a:solidFill>
              <a:srgbClr val="2F855A"/>
            </a:solidFill>
            <a:prstDash val="solid"/>
          </a:ln>
        </p:spPr>
      </p:sp>
      <p:sp>
        <p:nvSpPr>
          <p:cNvPr id="4" name="text">
            <a:extLst xmlns:a="http://schemas.openxmlformats.org/drawingml/2006/main">
              <a:ext uri="{FF2B5EF4-FFF2-40B4-BE49-F238E27FC236}">
                <a16:creationId xmlns:a16="http://schemas.microsoft.com/office/drawing/2014/main" id="{9EFB5FAF-059B-40B8-9998-14328C2CEFC5}"/>
              </a:ext>
            </a:extLst>
          </p:cNvPr>
          <p:cNvSpPr>
            <a:spLocks xmlns:a="http://schemas.openxmlformats.org/drawingml/2006/main" noGrp="1"/>
          </p:cNvSpPr>
          <p:nvPr/>
        </p:nvSpPr>
        <p:spPr>
          <a:xfrm xmlns:a="http://schemas.openxmlformats.org/drawingml/2006/main">
            <a:off x="714375" y="1809750"/>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F855A"/>
                </a:solidFill>
                <a:latin typeface="Helvetica Neue"/>
                <a:ea typeface="Helvetica Neue"/>
                <a:cs typeface="Helvetica Neue"/>
              </a:defRPr>
            </a:pPr>
            <a:r>
              <a:rPr sz="1500" b="1">
                <a:solidFill>
                  <a:srgbClr val="2F855A"/>
                </a:solidFill>
                <a:latin typeface="Helvetica Neue"/>
                <a:ea typeface="Helvetica Neue"/>
                <a:cs typeface="Helvetica Neue"/>
              </a:rPr>
              <a:t>WHAT BREADTH ESTABLISHED</a:t>
            </a:r>
          </a:p>
        </p:txBody>
      </p:sp>
      <p:sp>
        <p:nvSpPr>
          <p:cNvPr id="5" name="text">
            <a:extLst xmlns:a="http://schemas.openxmlformats.org/drawingml/2006/main">
              <a:ext uri="{FF2B5EF4-FFF2-40B4-BE49-F238E27FC236}">
                <a16:creationId xmlns:a16="http://schemas.microsoft.com/office/drawing/2014/main" id="{13BFA010-28EB-4306-8D30-11E6C0811D40}"/>
              </a:ext>
            </a:extLst>
          </p:cNvPr>
          <p:cNvSpPr>
            <a:spLocks xmlns:a="http://schemas.openxmlformats.org/drawingml/2006/main" noGrp="1"/>
          </p:cNvSpPr>
          <p:nvPr/>
        </p:nvSpPr>
        <p:spPr>
          <a:xfrm xmlns:a="http://schemas.openxmlformats.org/drawingml/2006/main">
            <a:off x="714375" y="2428875"/>
            <a:ext cx="466725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 Slight-majority hit rate is real</a:t>
            </a:r>
          </a:p>
          <a:p xmlns:a="http://schemas.openxmlformats.org/drawingml/2006/main">
            <a:pPr algn="l">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 Positive median is real</a:t>
            </a:r>
          </a:p>
          <a:p xmlns:a="http://schemas.openxmlformats.org/drawingml/2006/main">
            <a:pPr algn="l">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 Loss tail dominates the mean</a:t>
            </a:r>
          </a:p>
          <a:p xmlns:a="http://schemas.openxmlformats.org/drawingml/2006/main">
            <a:pPr algn="l">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 Original filter hints do not generalize</a:t>
            </a:r>
          </a:p>
        </p:txBody>
      </p:sp>
      <p:sp>
        <p:nvSpPr>
          <p:cNvPr id="6" name="text">
            <a:extLst xmlns:a="http://schemas.openxmlformats.org/drawingml/2006/main">
              <a:ext uri="{FF2B5EF4-FFF2-40B4-BE49-F238E27FC236}">
                <a16:creationId xmlns:a16="http://schemas.microsoft.com/office/drawing/2014/main" id="{3FD26231-834E-4170-988A-92F60AF31240}"/>
              </a:ext>
            </a:extLst>
          </p:cNvPr>
          <p:cNvSpPr>
            <a:spLocks xmlns:a="http://schemas.openxmlformats.org/drawingml/2006/main" noGrp="1"/>
          </p:cNvSpPr>
          <p:nvPr/>
        </p:nvSpPr>
        <p:spPr>
          <a:xfrm xmlns:a="http://schemas.openxmlformats.org/drawingml/2006/main">
            <a:off x="714375" y="4619625"/>
            <a:ext cx="466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667085"/>
                </a:solidFill>
                <a:latin typeface="Helvetica Neue"/>
                <a:ea typeface="Helvetica Neue"/>
                <a:cs typeface="Helvetica Neue"/>
              </a:defRPr>
            </a:pPr>
            <a:r>
              <a:rPr sz="1425" b="0">
                <a:solidFill>
                  <a:srgbClr val="667085"/>
                </a:solidFill>
                <a:latin typeface="Helvetica Neue"/>
                <a:ea typeface="Helvetica Neue"/>
                <a:cs typeface="Helvetica Neue"/>
              </a:rPr>
              <a:t>A useful diagnostic conclusion.</a:t>
            </a:r>
          </a:p>
        </p:txBody>
      </p:sp>
      <p:sp>
        <p:nvSpPr>
          <p:cNvPr id="7" name="stop">
            <a:extLst xmlns:a="http://schemas.openxmlformats.org/drawingml/2006/main">
              <a:ext uri="{FF2B5EF4-FFF2-40B4-BE49-F238E27FC236}">
                <a16:creationId xmlns:a16="http://schemas.microsoft.com/office/drawing/2014/main" id="{FF3B516A-7452-4A4E-B94B-247B40B61CB2}"/>
              </a:ext>
            </a:extLst>
          </p:cNvPr>
          <p:cNvSpPr>
            <a:spLocks xmlns:a="http://schemas.openxmlformats.org/drawingml/2006/main" noGrp="1"/>
          </p:cNvSpPr>
          <p:nvPr/>
        </p:nvSpPr>
        <p:spPr>
          <a:xfrm xmlns:a="http://schemas.openxmlformats.org/drawingml/2006/main">
            <a:off x="6143625" y="1476375"/>
            <a:ext cx="5657850" cy="3667125"/>
          </a:xfrm>
          <a:prstGeom xmlns:a="http://schemas.openxmlformats.org/drawingml/2006/main" prst="roundRect">
            <a:avLst>
              <a:gd name="adj" fmla="val 3117"/>
            </a:avLst>
          </a:prstGeom>
          <a:solidFill xmlns:a="http://schemas.openxmlformats.org/drawingml/2006/main">
            <a:srgbClr val="FCEEEE"/>
          </a:solidFill>
          <a:ln xmlns:a="http://schemas.openxmlformats.org/drawingml/2006/main" w="9525">
            <a:solidFill>
              <a:srgbClr val="C53030"/>
            </a:solidFill>
            <a:prstDash val="solid"/>
          </a:ln>
        </p:spPr>
      </p:sp>
      <p:sp>
        <p:nvSpPr>
          <p:cNvPr id="8" name="text">
            <a:extLst xmlns:a="http://schemas.openxmlformats.org/drawingml/2006/main">
              <a:ext uri="{FF2B5EF4-FFF2-40B4-BE49-F238E27FC236}">
                <a16:creationId xmlns:a16="http://schemas.microsoft.com/office/drawing/2014/main" id="{2F4D6DFA-9AC5-4441-B46A-7DF1EBE20F89}"/>
              </a:ext>
            </a:extLst>
          </p:cNvPr>
          <p:cNvSpPr>
            <a:spLocks xmlns:a="http://schemas.openxmlformats.org/drawingml/2006/main" noGrp="1"/>
          </p:cNvSpPr>
          <p:nvPr/>
        </p:nvSpPr>
        <p:spPr>
          <a:xfrm xmlns:a="http://schemas.openxmlformats.org/drawingml/2006/main">
            <a:off x="6477000" y="18097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C53030"/>
                </a:solidFill>
                <a:latin typeface="Helvetica Neue"/>
                <a:ea typeface="Helvetica Neue"/>
                <a:cs typeface="Helvetica Neue"/>
              </a:defRPr>
            </a:pPr>
            <a:r>
              <a:rPr sz="1500" b="1">
                <a:solidFill>
                  <a:srgbClr val="C53030"/>
                </a:solidFill>
                <a:latin typeface="Helvetica Neue"/>
                <a:ea typeface="Helvetica Neue"/>
                <a:cs typeface="Helvetica Neue"/>
              </a:rPr>
              <a:t>DO NOT PROMOTE</a:t>
            </a:r>
          </a:p>
        </p:txBody>
      </p:sp>
      <p:sp>
        <p:nvSpPr>
          <p:cNvPr id="9" name="text">
            <a:extLst xmlns:a="http://schemas.openxmlformats.org/drawingml/2006/main">
              <a:ext uri="{FF2B5EF4-FFF2-40B4-BE49-F238E27FC236}">
                <a16:creationId xmlns:a16="http://schemas.microsoft.com/office/drawing/2014/main" id="{B559EF2A-81E4-44D8-AE85-88288D96E795}"/>
              </a:ext>
            </a:extLst>
          </p:cNvPr>
          <p:cNvSpPr>
            <a:spLocks xmlns:a="http://schemas.openxmlformats.org/drawingml/2006/main" noGrp="1"/>
          </p:cNvSpPr>
          <p:nvPr/>
        </p:nvSpPr>
        <p:spPr>
          <a:xfrm xmlns:a="http://schemas.openxmlformats.org/drawingml/2006/main">
            <a:off x="6477000" y="2428875"/>
            <a:ext cx="47625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 No SPY-SMA200 01.2 from this result</a:t>
            </a:r>
          </a:p>
          <a:p xmlns:a="http://schemas.openxmlformats.org/drawingml/2006/main">
            <a:pPr algn="l">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 No best heatmap cell</a:t>
            </a:r>
          </a:p>
          <a:p xmlns:a="http://schemas.openxmlformats.org/drawingml/2006/main">
            <a:pPr algn="l">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 No cohort or sector filter</a:t>
            </a:r>
          </a:p>
          <a:p xmlns:a="http://schemas.openxmlformats.org/drawingml/2006/main">
            <a:pPr algn="l">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 No reactive stop or averaging rule</a:t>
            </a:r>
          </a:p>
        </p:txBody>
      </p:sp>
      <p:sp>
        <p:nvSpPr>
          <p:cNvPr id="10" name="text">
            <a:extLst xmlns:a="http://schemas.openxmlformats.org/drawingml/2006/main">
              <a:ext uri="{FF2B5EF4-FFF2-40B4-BE49-F238E27FC236}">
                <a16:creationId xmlns:a16="http://schemas.microsoft.com/office/drawing/2014/main" id="{5C178BA8-01F4-4E7E-9F72-F9C9FA70E462}"/>
              </a:ext>
            </a:extLst>
          </p:cNvPr>
          <p:cNvSpPr>
            <a:spLocks xmlns:a="http://schemas.openxmlformats.org/drawingml/2006/main" noGrp="1"/>
          </p:cNvSpPr>
          <p:nvPr/>
        </p:nvSpPr>
        <p:spPr>
          <a:xfrm xmlns:a="http://schemas.openxmlformats.org/drawingml/2006/main">
            <a:off x="6477000" y="4524375"/>
            <a:ext cx="476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667085"/>
                </a:solidFill>
                <a:latin typeface="Helvetica Neue"/>
                <a:ea typeface="Helvetica Neue"/>
                <a:cs typeface="Helvetica Neue"/>
              </a:defRPr>
            </a:pPr>
            <a:r>
              <a:rPr sz="1425" b="0">
                <a:solidFill>
                  <a:srgbClr val="667085"/>
                </a:solidFill>
                <a:latin typeface="Helvetica Neue"/>
                <a:ea typeface="Helvetica Neue"/>
                <a:cs typeface="Helvetica Neue"/>
              </a:rPr>
              <a:t>Future work needs a new economic question and distinct evidence.</a:t>
            </a:r>
          </a:p>
        </p:txBody>
      </p:sp>
      <p:sp>
        <p:nvSpPr>
          <p:cNvPr id="11" name="text">
            <a:extLst xmlns:a="http://schemas.openxmlformats.org/drawingml/2006/main">
              <a:ext uri="{FF2B5EF4-FFF2-40B4-BE49-F238E27FC236}">
                <a16:creationId xmlns:a16="http://schemas.microsoft.com/office/drawing/2014/main" id="{85776493-9702-4292-8AF3-C34EF2429222}"/>
              </a:ext>
            </a:extLst>
          </p:cNvPr>
          <p:cNvSpPr>
            <a:spLocks xmlns:a="http://schemas.openxmlformats.org/drawingml/2006/main" noGrp="1"/>
          </p:cNvSpPr>
          <p:nvPr/>
        </p:nvSpPr>
        <p:spPr>
          <a:xfrm xmlns:a="http://schemas.openxmlformats.org/drawingml/2006/main">
            <a:off x="523875" y="5715000"/>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667085"/>
                </a:solidFill>
                <a:latin typeface="Helvetica Neue"/>
                <a:ea typeface="Helvetica Neue"/>
                <a:cs typeface="Helvetica Neue"/>
              </a:defRPr>
            </a:pPr>
            <a:r>
              <a:rPr sz="1650" b="0">
                <a:solidFill>
                  <a:srgbClr val="667085"/>
                </a:solidFill>
                <a:latin typeface="Helvetica Neue"/>
                <a:ea typeface="Helvetica Neue"/>
                <a:cs typeface="Helvetica Neue"/>
              </a:rPr>
              <a:t>DISCOVERY_BREADTH_EXTENSION_COMPLETE_NO_STRATEGY_AUTHORITY | 2024+ SEALED</a:t>
            </a:r>
          </a:p>
        </p:txBody>
      </p:sp>
    </p:spTree>
    <p:extLst>
      <p:ext uri="{BB962C8B-B14F-4D97-AF65-F5344CB8AC3E}">
        <p14:creationId xmlns:p14="http://schemas.microsoft.com/office/powerpoint/2010/main" val="18965261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2026-08-03T18:46:07.3170000Z</dcterms:created>
  <dcterms:modified xsi:type="dcterms:W3CDTF">2026-08-03T18:46:07.3180000Z</dcterms:modified>
</coreProperties>
</file>