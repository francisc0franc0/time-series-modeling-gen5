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6982a0e2654b6a" /><Relationship Type="http://schemas.openxmlformats.org/officeDocument/2006/relationships/extended-properties" Target="/docProps/app.xml" Id="Rcef3a41e3c654e39" /><Relationship Type="http://schemas.openxmlformats.org/officeDocument/2006/relationships/officeDocument" Target="/ppt/presentation.xml" Id="Rd0c36184d8374f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ecc9327b364377"/>
  </p:sldMasterIdLst>
  <p:notesMasterIdLst>
    <p:notesMasterId xmlns:r="http://schemas.openxmlformats.org/officeDocument/2006/relationships" r:id="R92823c423a214866"/>
  </p:notesMasterIdLst>
  <p:sldIdLst>
    <p:sldId xmlns:r="http://schemas.openxmlformats.org/officeDocument/2006/relationships" id="256" r:id="Rda19e2933cab452f"/>
    <p:sldId xmlns:r="http://schemas.openxmlformats.org/officeDocument/2006/relationships" id="257" r:id="R868c627e68234b0e"/>
    <p:sldId xmlns:r="http://schemas.openxmlformats.org/officeDocument/2006/relationships" id="258" r:id="Rd94e5516c0834563"/>
    <p:sldId xmlns:r="http://schemas.openxmlformats.org/officeDocument/2006/relationships" id="259" r:id="Rd80e7c10d5304be6"/>
    <p:sldId xmlns:r="http://schemas.openxmlformats.org/officeDocument/2006/relationships" id="260" r:id="Rcf09062f180e40be"/>
    <p:sldId xmlns:r="http://schemas.openxmlformats.org/officeDocument/2006/relationships" id="261" r:id="Rf83b7ff7f282432a"/>
    <p:sldId xmlns:r="http://schemas.openxmlformats.org/officeDocument/2006/relationships" id="262" r:id="Rf85c3c8aff934e72"/>
    <p:sldId xmlns:r="http://schemas.openxmlformats.org/officeDocument/2006/relationships" id="263" r:id="R6fce8a73f97c4797"/>
    <p:sldId xmlns:r="http://schemas.openxmlformats.org/officeDocument/2006/relationships" id="264" r:id="R4329f4bcb8564069"/>
    <p:sldId xmlns:r="http://schemas.openxmlformats.org/officeDocument/2006/relationships" id="265" r:id="R3e32e40a961e41f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74cbdfe00074ccf" /><Relationship Type="http://schemas.openxmlformats.org/officeDocument/2006/relationships/slideMaster" Target="/ppt/slideMasters/slideMaster1.xml" Id="R26ecc9327b364377" /><Relationship Type="http://schemas.openxmlformats.org/officeDocument/2006/relationships/notesMaster" Target="/ppt/notesMasters/notesMaster1.xml" Id="R92823c423a214866" /><Relationship Type="http://schemas.openxmlformats.org/officeDocument/2006/relationships/presProps" Target="/ppt/presProps.xml" Id="R34328a46f5ee44ff" /><Relationship Type="http://schemas.openxmlformats.org/officeDocument/2006/relationships/tableStyles" Target="/ppt/tableStyles.xml" Id="R2f86f6830ab04d2a" /><Relationship Type="http://schemas.openxmlformats.org/officeDocument/2006/relationships/slide" Target="/ppt/slides/slide1.xml" Id="Rda19e2933cab452f" /><Relationship Type="http://schemas.openxmlformats.org/officeDocument/2006/relationships/slide" Target="/ppt/slides/slide2.xml" Id="R868c627e68234b0e" /><Relationship Type="http://schemas.openxmlformats.org/officeDocument/2006/relationships/slide" Target="/ppt/slides/slide3.xml" Id="Rd94e5516c0834563" /><Relationship Type="http://schemas.openxmlformats.org/officeDocument/2006/relationships/slide" Target="/ppt/slides/slide4.xml" Id="Rd80e7c10d5304be6" /><Relationship Type="http://schemas.openxmlformats.org/officeDocument/2006/relationships/slide" Target="/ppt/slides/slide5.xml" Id="Rcf09062f180e40be" /><Relationship Type="http://schemas.openxmlformats.org/officeDocument/2006/relationships/slide" Target="/ppt/slides/slide6.xml" Id="Rf83b7ff7f282432a" /><Relationship Type="http://schemas.openxmlformats.org/officeDocument/2006/relationships/slide" Target="/ppt/slides/slide7.xml" Id="Rf85c3c8aff934e72" /><Relationship Type="http://schemas.openxmlformats.org/officeDocument/2006/relationships/slide" Target="/ppt/slides/slide8.xml" Id="R6fce8a73f97c4797" /><Relationship Type="http://schemas.openxmlformats.org/officeDocument/2006/relationships/slide" Target="/ppt/slides/slide9.xml" Id="R4329f4bcb8564069" /><Relationship Type="http://schemas.openxmlformats.org/officeDocument/2006/relationships/slide" Target="/ppt/slides/slide10.xml" Id="R3e32e40a961e41f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e30b663e7a4b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0f86c7a0e54f20" /><Relationship Type="http://schemas.openxmlformats.org/officeDocument/2006/relationships/notesMaster" Target="/ppt/notesMasters/notesMaster1.xml" Id="Rd3c3ddf366ff4d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51ecd26779437d" /><Relationship Type="http://schemas.openxmlformats.org/officeDocument/2006/relationships/notesMaster" Target="/ppt/notesMasters/notesMaster1.xml" Id="R7eff943c10d94ef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8143eb891964a70" /><Relationship Type="http://schemas.openxmlformats.org/officeDocument/2006/relationships/notesMaster" Target="/ppt/notesMasters/notesMaster1.xml" Id="R8e48af0eaa1f43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1f5d94d7e940b0" /><Relationship Type="http://schemas.openxmlformats.org/officeDocument/2006/relationships/notesMaster" Target="/ppt/notesMasters/notesMaster1.xml" Id="Rc578c9fb025147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214db6fb704a01" /><Relationship Type="http://schemas.openxmlformats.org/officeDocument/2006/relationships/notesMaster" Target="/ppt/notesMasters/notesMaster1.xml" Id="R99918f492cd549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0ac574c73d4e95" /><Relationship Type="http://schemas.openxmlformats.org/officeDocument/2006/relationships/notesMaster" Target="/ppt/notesMasters/notesMaster1.xml" Id="Rbf1689cf357446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206353098b4ae4" /><Relationship Type="http://schemas.openxmlformats.org/officeDocument/2006/relationships/notesMaster" Target="/ppt/notesMasters/notesMaster1.xml" Id="Rc1f591e13572414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39bab665d4479e" /><Relationship Type="http://schemas.openxmlformats.org/officeDocument/2006/relationships/notesMaster" Target="/ppt/notesMasters/notesMaster1.xml" Id="R97f3e8c5c8be44f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73d2fb4bb034e30" /><Relationship Type="http://schemas.openxmlformats.org/officeDocument/2006/relationships/notesMaster" Target="/ppt/notesMasters/notesMaster1.xml" Id="R88655c0d739b4bf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5454d232224abd" /><Relationship Type="http://schemas.openxmlformats.org/officeDocument/2006/relationships/notesMaster" Target="/ppt/notesMasters/notesMaster1.xml" Id="R1349b7c32d9141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literature_studies/docs/GEN5_LITERATURE_SOURCE_LEDGER.md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runs/research_workbench/operator_hypothesis_lab/intraday_momentum_poc_series_20260813/visuals/chan_trade_tapes.png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literature_studies/docs/GEN5_LITERATURE_SOURCE_LEDGER.md</a:t>
            </a:r>
          </a:p>
          <a:p xmlns:a="http://schemas.openxmlformats.org/drawingml/2006/main">
            <a:r>
              <a:t>- Ernest P. Chan, Algorithmic Trading, Chapter 6, PDF pp. 133-145 / printed pp. 151-163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literature_studies/docs/GEN5_LITERATURE_SOURCE_LEDGER.md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- operator_hypothesis_lab/R/hyp_intraday_momentum_engine.R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- operator_hypothesis_lab/R/hyp_intraday_momentum_engine.R</a:t>
            </a:r>
          </a:p>
          <a:p xmlns:a="http://schemas.openxmlformats.org/drawingml/2006/main">
            <a:r>
              <a:t>- literature_studies/docs/GEN5_LITERATURE_SOURCE_LEDGER.md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- operator_hypothesis_lab/R/hyp_intraday_momentum_engine.R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runs/research_workbench/operator_hypothesis_lab/intraday_momentum_poc_series_20260813/chan_admission_by_fold.csv</a:t>
            </a:r>
          </a:p>
          <a:p xmlns:a="http://schemas.openxmlformats.org/drawingml/2006/main">
            <a:r>
              <a:t>- runs/research_workbench/operator_hypothesis_lab/intraday_momentum_poc_series_20260813/chan_oos_summaries.csv</a:t>
            </a:r>
          </a:p>
          <a:p xmlns:a="http://schemas.openxmlformats.org/drawingml/2006/main">
            <a:r>
              <a:t>- runs/research_workbench/operator_hypothesis_lab/intraday_momentum_poc_series_20260813/visuals/chan_admission_oos.png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runs/research_workbench/operator_hypothesis_lab/intraday_momentum_poc_series_20260813/chan_active_topline.csv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runs/research_workbench/operator_hypothesis_lab/intraday_momentum_poc_series_20260813/timing_control_comparison.csv</a:t>
            </a:r>
          </a:p>
          <a:p xmlns:a="http://schemas.openxmlformats.org/drawingml/2006/main">
            <a:r>
              <a:t>- runs/research_workbench/operator_hypothesis_lab/intraday_momentum_poc_series_20260813/visuals/timing_nulls.png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runs/research_workbench/operator_hypothesis_lab/intraday_momentum_poc_series_20260813/chan_representative_trade_tapes.csv</a:t>
            </a:r>
          </a:p>
          <a:p xmlns:a="http://schemas.openxmlformats.org/drawingml/2006/main">
            <a:r>
              <a:t>- runs/research_workbench/operator_hypothesis_lab/intraday_momentum_poc_series_20260813/visuals/chan_trade_tapes.png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operator_hypothesis_lab/docs/GEN5_INTRADAY_MOMENTUM_POC_SERIES_RESULTS.md</a:t>
            </a:r>
          </a:p>
          <a:p xmlns:a="http://schemas.openxmlformats.org/drawingml/2006/main">
            <a:r>
              <a:t>- docs/GEN5_INTRADAY_MOMENTUM_POC_SERIES_CONTRACT.md</a:t>
            </a:r>
          </a:p>
          <a:p xmlns:a="http://schemas.openxmlformats.org/drawingml/2006/main">
            <a:r>
              <a:t>- literature_studies/docs/GEN5_LITERATURE_SOURCE_LEDGER.md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ec175437748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cd436bddf994f8a" /><Relationship Type="http://schemas.openxmlformats.org/officeDocument/2006/relationships/slideLayout" Target="/ppt/slideLayouts/slideLayout1.xml" Id="Rcd5868b5b1d841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d5868b5b1d841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4d1cc375f048f5" /><Relationship Type="http://schemas.openxmlformats.org/officeDocument/2006/relationships/image" Target="/ppt/media/image.png" Id="Ra6c06ef7d1134561" /><Relationship Type="http://schemas.openxmlformats.org/officeDocument/2006/relationships/notesSlide" Target="/ppt/notesSlides/notesSlide1.xml" Id="R750a97ebddea4c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8f2a58a1e4fa3" /><Relationship Type="http://schemas.openxmlformats.org/officeDocument/2006/relationships/notesSlide" Target="/ppt/notesSlides/notesSlide2.xml" Id="R2db1d8b6744149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64a9fd3304b73" /><Relationship Type="http://schemas.openxmlformats.org/officeDocument/2006/relationships/notesSlide" Target="/ppt/notesSlides/notesSlide3.xml" Id="R52a0acf1bb3b47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e98c026a642b0" /><Relationship Type="http://schemas.openxmlformats.org/officeDocument/2006/relationships/notesSlide" Target="/ppt/notesSlides/notesSlide4.xml" Id="R05e15cd76e4a4d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670761ad84473" /><Relationship Type="http://schemas.openxmlformats.org/officeDocument/2006/relationships/notesSlide" Target="/ppt/notesSlides/notesSlide5.xml" Id="Rc272a947758243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75286f07284e85" /><Relationship Type="http://schemas.openxmlformats.org/officeDocument/2006/relationships/image" Target="/ppt/media/image2.png" Id="Ra5506977224a45d7" /><Relationship Type="http://schemas.openxmlformats.org/officeDocument/2006/relationships/notesSlide" Target="/ppt/notesSlides/notesSlide6.xml" Id="R8cb7022245f4447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baea6e8224d7d" /><Relationship Type="http://schemas.openxmlformats.org/officeDocument/2006/relationships/notesSlide" Target="/ppt/notesSlides/notesSlide7.xml" Id="R357bd121431a432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e68e1e5f04b73" /><Relationship Type="http://schemas.openxmlformats.org/officeDocument/2006/relationships/image" Target="/ppt/media/image3.png" Id="Re78e2e74ad3c4d04" /><Relationship Type="http://schemas.openxmlformats.org/officeDocument/2006/relationships/notesSlide" Target="/ppt/notesSlides/notesSlide8.xml" Id="R75a27c5f37064f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9b89cde6f54f4f" /><Relationship Type="http://schemas.openxmlformats.org/officeDocument/2006/relationships/image" Target="/ppt/media/image4.png" Id="R131ab7f4b6ab45c5" /><Relationship Type="http://schemas.openxmlformats.org/officeDocument/2006/relationships/notesSlide" Target="/ppt/notesSlides/notesSlide9.xml" Id="Ref02b1d77fb245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6e57ebab0449a5" /><Relationship Type="http://schemas.openxmlformats.org/officeDocument/2006/relationships/notesSlide" Target="/ppt/notesSlides/notesSlide10.xml" Id="R03ee71bcefe047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hero-backing">
            <a:extLst xmlns:a="http://schemas.openxmlformats.org/drawingml/2006/main">
              <a:ext uri="{FF2B5EF4-FFF2-40B4-BE49-F238E27FC236}">
                <a16:creationId xmlns:a16="http://schemas.microsoft.com/office/drawing/2014/main" id="{DBF2003E-F000-4B81-8BC8-7F1E69E9F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4355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06ef7d1134561"/>
          <a:stretch xmlns:a="http://schemas.openxmlformats.org/drawingml/2006/main"/>
        </p:blipFill>
        <p:spPr>
          <a:xfrm xmlns:a="http://schemas.openxmlformats.org/drawingml/2006/main">
            <a:off x="6267450" y="1660525"/>
            <a:ext cx="5543550" cy="3079750"/>
          </a:xfrm>
          <a:prstGeom xmlns:a="http://schemas.openxmlformats.org/drawingml/2006/main" prst="rect">
            <a:avLst/>
          </a:prstGeom>
        </p:spPr>
      </p:pic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5255774B-7429-47C5-A3C4-7E685BB3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528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LIT-IMOM-01.1 • CHAN CHAPTER 6 DERIVATIVE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14653E3E-0AC9-494A-98EA-9ACACAA94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9650"/>
            <a:ext cx="52863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Momentum inference becomes overlapping sleeve execution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6BE5B062-40D5-406B-8B38-6A85DE05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28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0"/>
                </a:solidFill>
              </a:defRPr>
            </a:pPr>
            <a:r>
              <a:rPr sz="1800" b="0">
                <a:solidFill>
                  <a:srgbClr val="5A6470"/>
                </a:solidFill>
              </a:rPr>
              <a:t>A session-scaled 30-minute textbook transport</a:t>
            </a:r>
          </a:p>
        </p:txBody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1D8FB125-2A7F-4508-B65E-85B47214E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5286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46A47"/>
                </a:solidFill>
              </a:defRPr>
            </a:pPr>
            <a:r>
              <a:rPr sz="1350" b="1">
                <a:solidFill>
                  <a:srgbClr val="E46A47"/>
                </a:solidFill>
              </a:rPr>
              <a:t>DEVELOPMENT COMPLETE • STOP</a:t>
            </a:r>
          </a:p>
        </p:txBody>
      </p:sp>
    </p:spTree>
    <p:extLst>
      <p:ext uri="{BB962C8B-B14F-4D97-AF65-F5344CB8AC3E}">
        <p14:creationId xmlns:p14="http://schemas.microsoft.com/office/powerpoint/2010/main" val="1082798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2">
            <a:extLst xmlns:a="http://schemas.openxmlformats.org/drawingml/2006/main">
              <a:ext uri="{FF2B5EF4-FFF2-40B4-BE49-F238E27FC236}">
                <a16:creationId xmlns:a16="http://schemas.microsoft.com/office/drawing/2014/main" id="{CC57C1DA-22D2-4393-A478-876E6061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Chan screens the horizon before trading it</a:t>
            </a:r>
          </a:p>
        </p:txBody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B10797AA-5F17-46BF-A209-C0012CAA4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SOURCE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027AA98B-7DC4-44D5-91EF-0CBB3B00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2</a:t>
            </a:r>
          </a:p>
        </p:txBody>
      </p:sp>
      <p:sp>
        <p:nvSpPr>
          <p:cNvPr id="4" name="lead-2">
            <a:extLst xmlns:a="http://schemas.openxmlformats.org/drawingml/2006/main">
              <a:ext uri="{FF2B5EF4-FFF2-40B4-BE49-F238E27FC236}">
                <a16:creationId xmlns:a16="http://schemas.microsoft.com/office/drawing/2014/main" id="{8AEB2C29-A634-46E4-A808-F88FB54BA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0"/>
                </a:solidFill>
              </a:defRPr>
            </a:pPr>
            <a:r>
              <a:rPr sz="1800" b="0">
                <a:solidFill>
                  <a:srgbClr val="5A6470"/>
                </a:solidFill>
              </a:rPr>
              <a:t>For each L/H pair, the book relates an asset’s own past return to its subsequent return. The familiar 250/25 example follows this table; it is not chosen from nowhere.</a:t>
            </a:r>
          </a:p>
        </p:txBody>
      </p:sp>
      <p:sp>
        <p:nvSpPr>
          <p:cNvPr id="5" name="formula-panel-2">
            <a:extLst xmlns:a="http://schemas.openxmlformats.org/drawingml/2006/main">
              <a:ext uri="{FF2B5EF4-FFF2-40B4-BE49-F238E27FC236}">
                <a16:creationId xmlns:a16="http://schemas.microsoft.com/office/drawing/2014/main" id="{DFB5541A-647E-4DE5-9984-503C77AD8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381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formula-2-0">
            <a:extLst xmlns:a="http://schemas.openxmlformats.org/drawingml/2006/main">
              <a:ext uri="{FF2B5EF4-FFF2-40B4-BE49-F238E27FC236}">
                <a16:creationId xmlns:a16="http://schemas.microsoft.com/office/drawing/2014/main" id="{63BF4897-DE0F-49BB-B76D-202A2819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8D"/>
                </a:solidFill>
              </a:defRPr>
            </a:pPr>
            <a:r>
              <a:rPr sz="1950" b="1">
                <a:solidFill>
                  <a:srgbClr val="167D8D"/>
                </a:solidFill>
              </a:rPr>
              <a:t>Rᵖᵃˢᵗₜ(L) = Cₜ / Cₜ₋ᴸ − 1</a:t>
            </a:r>
          </a:p>
        </p:txBody>
      </p:sp>
      <p:sp>
        <p:nvSpPr>
          <p:cNvPr id="7" name="formula-2-1">
            <a:extLst xmlns:a="http://schemas.openxmlformats.org/drawingml/2006/main">
              <a:ext uri="{FF2B5EF4-FFF2-40B4-BE49-F238E27FC236}">
                <a16:creationId xmlns:a16="http://schemas.microsoft.com/office/drawing/2014/main" id="{C4E3869B-07C3-4612-873A-41545367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Rᶠᵘᵗᵘʳᵉₜ(H) = Cₜ₊ᴴ / Cₜ − 1</a:t>
            </a:r>
          </a:p>
        </p:txBody>
      </p:sp>
      <p:sp>
        <p:nvSpPr>
          <p:cNvPr id="8" name="formula-2-2">
            <a:extLst xmlns:a="http://schemas.openxmlformats.org/drawingml/2006/main">
              <a:ext uri="{FF2B5EF4-FFF2-40B4-BE49-F238E27FC236}">
                <a16:creationId xmlns:a16="http://schemas.microsoft.com/office/drawing/2014/main" id="{C85D3FBA-447E-47ED-A5DC-0D60E81D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screen: corr(Rᵖᵃˢᵗ, Rᶠᵘᵗᵘʳᵉ) and nominal p</a:t>
            </a:r>
          </a:p>
        </p:txBody>
      </p:sp>
      <p:sp>
        <p:nvSpPr>
          <p:cNvPr id="9" name="interpret-2">
            <a:extLst xmlns:a="http://schemas.openxmlformats.org/drawingml/2006/main">
              <a:ext uri="{FF2B5EF4-FFF2-40B4-BE49-F238E27FC236}">
                <a16:creationId xmlns:a16="http://schemas.microsoft.com/office/drawing/2014/main" id="{E546D95B-DAC4-429E-A8CB-A7454C1A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19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Source grounding: Algorithmic Trading, Chapter 6; non-overlap discussion at PDF pages 135–136 / printed 153–154; Example 6.1 at PDF 138–139 / printed 156–157.</a:t>
            </a:r>
          </a:p>
        </p:txBody>
      </p:sp>
    </p:spTree>
    <p:extLst>
      <p:ext uri="{BB962C8B-B14F-4D97-AF65-F5344CB8AC3E}">
        <p14:creationId xmlns:p14="http://schemas.microsoft.com/office/powerpoint/2010/main" val="3982597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DAF7FC1D-6923-49F7-880C-A82F7ABD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Non-overlap protects the correlation sample—not the execution tape</a:t>
            </a:r>
          </a:p>
        </p:txBody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F1EE7D76-B919-4C41-9837-F149D9B50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INFERENCE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BB32F1E1-C474-422B-931D-F414D715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3</a:t>
            </a:r>
          </a:p>
        </p:txBody>
      </p:sp>
      <p:sp>
        <p:nvSpPr>
          <p:cNvPr id="4" name="lead-3">
            <a:extLst xmlns:a="http://schemas.openxmlformats.org/drawingml/2006/main">
              <a:ext uri="{FF2B5EF4-FFF2-40B4-BE49-F238E27FC236}">
                <a16:creationId xmlns:a16="http://schemas.microsoft.com/office/drawing/2014/main" id="{54C7FECA-2E2D-479A-86CE-DBD5814A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0"/>
                </a:solidFill>
              </a:defRPr>
            </a:pPr>
            <a:r>
              <a:rPr sz="1800" b="0">
                <a:solidFill>
                  <a:srgbClr val="5A6470"/>
                </a:solidFill>
              </a:rPr>
              <a:t>Adjacent daily observations would reuse most future-return bars. The primary screen advances the anchor by the shorter interval, preserving more observations while preventing future windows from overlapping.</a:t>
            </a:r>
          </a:p>
        </p:txBody>
      </p:sp>
      <p:sp>
        <p:nvSpPr>
          <p:cNvPr id="5" name="formula-panel-3">
            <a:extLst xmlns:a="http://schemas.openxmlformats.org/drawingml/2006/main">
              <a:ext uri="{FF2B5EF4-FFF2-40B4-BE49-F238E27FC236}">
                <a16:creationId xmlns:a16="http://schemas.microsoft.com/office/drawing/2014/main" id="{B418F4DA-676E-4451-88B0-167BC07C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381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formula-3-0">
            <a:extLst xmlns:a="http://schemas.openxmlformats.org/drawingml/2006/main">
              <a:ext uri="{FF2B5EF4-FFF2-40B4-BE49-F238E27FC236}">
                <a16:creationId xmlns:a16="http://schemas.microsoft.com/office/drawing/2014/main" id="{17AD5105-97C7-4CDE-9A03-343F8F50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8D"/>
                </a:solidFill>
              </a:defRPr>
            </a:pPr>
            <a:r>
              <a:rPr sz="1950" b="1">
                <a:solidFill>
                  <a:srgbClr val="167D8D"/>
                </a:solidFill>
              </a:rPr>
              <a:t>step = min(L, H)</a:t>
            </a:r>
          </a:p>
        </p:txBody>
      </p:sp>
      <p:sp>
        <p:nvSpPr>
          <p:cNvPr id="7" name="formula-3-1">
            <a:extLst xmlns:a="http://schemas.openxmlformats.org/drawingml/2006/main">
              <a:ext uri="{FF2B5EF4-FFF2-40B4-BE49-F238E27FC236}">
                <a16:creationId xmlns:a16="http://schemas.microsoft.com/office/drawing/2014/main" id="{7CB4DACD-B495-40F2-9BB5-1015B863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L ∈ {13, 26, 65, 130, 260}</a:t>
            </a:r>
          </a:p>
        </p:txBody>
      </p:sp>
      <p:sp>
        <p:nvSpPr>
          <p:cNvPr id="8" name="formula-3-2">
            <a:extLst xmlns:a="http://schemas.openxmlformats.org/drawingml/2006/main">
              <a:ext uri="{FF2B5EF4-FFF2-40B4-BE49-F238E27FC236}">
                <a16:creationId xmlns:a16="http://schemas.microsoft.com/office/drawing/2014/main" id="{03217E39-99D3-462B-B83C-D5D07CC1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H ∈ {13, 26, 65}</a:t>
            </a:r>
          </a:p>
        </p:txBody>
      </p:sp>
      <p:sp>
        <p:nvSpPr>
          <p:cNvPr id="9" name="interpret-3">
            <a:extLst xmlns:a="http://schemas.openxmlformats.org/drawingml/2006/main">
              <a:ext uri="{FF2B5EF4-FFF2-40B4-BE49-F238E27FC236}">
                <a16:creationId xmlns:a16="http://schemas.microsoft.com/office/drawing/2014/main" id="{1BEBDF18-151A-4CA2-B048-344EE58F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19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Predictor windows may still overlap, so the Pearson p-value remains a naive book-style screen. The strategy-level null shifts complete daily timing patterns by whole sessions.</a:t>
            </a:r>
          </a:p>
        </p:txBody>
      </p:sp>
    </p:spTree>
    <p:extLst>
      <p:ext uri="{BB962C8B-B14F-4D97-AF65-F5344CB8AC3E}">
        <p14:creationId xmlns:p14="http://schemas.microsoft.com/office/powerpoint/2010/main" val="16799346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4">
            <a:extLst xmlns:a="http://schemas.openxmlformats.org/drawingml/2006/main">
              <a:ext uri="{FF2B5EF4-FFF2-40B4-BE49-F238E27FC236}">
                <a16:creationId xmlns:a16="http://schemas.microsoft.com/office/drawing/2014/main" id="{6C6F8009-F197-4161-A749-595C2445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Each new positive signal risks only one H-th of capital</a:t>
            </a:r>
          </a:p>
        </p:txBody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FDEA7FD5-3166-4799-9307-C9129023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EXECUTION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57F851DE-23DD-4B2A-B4EF-F1471CC5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4</a:t>
            </a:r>
          </a:p>
        </p:txBody>
      </p:sp>
      <p:sp>
        <p:nvSpPr>
          <p:cNvPr id="4" name="lead-4">
            <a:extLst xmlns:a="http://schemas.openxmlformats.org/drawingml/2006/main">
              <a:ext uri="{FF2B5EF4-FFF2-40B4-BE49-F238E27FC236}">
                <a16:creationId xmlns:a16="http://schemas.microsoft.com/office/drawing/2014/main" id="{D8A6D29B-55DB-4081-93A8-125534DCF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71625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0"/>
                </a:solidFill>
              </a:defRPr>
            </a:pPr>
            <a:r>
              <a:rPr sz="1800" b="0">
                <a:solidFill>
                  <a:srgbClr val="5A6470"/>
                </a:solidFill>
              </a:rPr>
              <a:t>Execution intentionally permits overlapping evidence. Every completed bar recomputes the L-bar return. A positive signal launches one available sleeve at the next open; that sleeve exits after exactly H bars.</a:t>
            </a:r>
          </a:p>
        </p:txBody>
      </p:sp>
      <p:sp>
        <p:nvSpPr>
          <p:cNvPr id="5" name="formula-panel-4">
            <a:extLst xmlns:a="http://schemas.openxmlformats.org/drawingml/2006/main">
              <a:ext uri="{FF2B5EF4-FFF2-40B4-BE49-F238E27FC236}">
                <a16:creationId xmlns:a16="http://schemas.microsoft.com/office/drawing/2014/main" id="{449FF1CB-3CF9-48E8-AD7F-C5982FDA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381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formula-4-0">
            <a:extLst xmlns:a="http://schemas.openxmlformats.org/drawingml/2006/main">
              <a:ext uri="{FF2B5EF4-FFF2-40B4-BE49-F238E27FC236}">
                <a16:creationId xmlns:a16="http://schemas.microsoft.com/office/drawing/2014/main" id="{E5E7945D-39A9-41E5-99C0-276291CA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288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7D8D"/>
                </a:solidFill>
              </a:defRPr>
            </a:pPr>
            <a:r>
              <a:rPr sz="1950" b="1">
                <a:solidFill>
                  <a:srgbClr val="167D8D"/>
                </a:solidFill>
              </a:rPr>
              <a:t>signalₜ = 1[Rᵖᵃˢᵗₜ(L) &gt; 0]</a:t>
            </a:r>
          </a:p>
        </p:txBody>
      </p:sp>
      <p:sp>
        <p:nvSpPr>
          <p:cNvPr id="7" name="formula-4-1">
            <a:extLst xmlns:a="http://schemas.openxmlformats.org/drawingml/2006/main">
              <a:ext uri="{FF2B5EF4-FFF2-40B4-BE49-F238E27FC236}">
                <a16:creationId xmlns:a16="http://schemas.microsoft.com/office/drawing/2014/main" id="{F98B5FBD-DBCD-4BF4-94BA-6028D5B4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targetₜ = (1/H) · Σ active positive sleeves</a:t>
            </a:r>
          </a:p>
        </p:txBody>
      </p:sp>
      <p:sp>
        <p:nvSpPr>
          <p:cNvPr id="8" name="formula-4-2">
            <a:extLst xmlns:a="http://schemas.openxmlformats.org/drawingml/2006/main">
              <a:ext uri="{FF2B5EF4-FFF2-40B4-BE49-F238E27FC236}">
                <a16:creationId xmlns:a16="http://schemas.microsoft.com/office/drawing/2014/main" id="{F7952852-6B85-4A0B-B533-1EE59D451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90900"/>
            <a:ext cx="4619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827"/>
                </a:solidFill>
              </a:defRPr>
            </a:pPr>
            <a:r>
              <a:rPr sz="1950" b="0">
                <a:solidFill>
                  <a:srgbClr val="111827"/>
                </a:solidFill>
              </a:rPr>
              <a:t>0 ≤ targetₜ ≤ 1  •  negative signal = no new long sleeve</a:t>
            </a:r>
          </a:p>
        </p:txBody>
      </p:sp>
      <p:sp>
        <p:nvSpPr>
          <p:cNvPr id="9" name="interpret-4">
            <a:extLst xmlns:a="http://schemas.openxmlformats.org/drawingml/2006/main">
              <a:ext uri="{FF2B5EF4-FFF2-40B4-BE49-F238E27FC236}">
                <a16:creationId xmlns:a16="http://schemas.microsoft.com/office/drawing/2014/main" id="{E538D028-4763-40C6-AC44-B8787F6E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119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If only one signal appears, only 1/H of capital is committed. Persistent signals gradually build exposure; they are not treated as independent statistical discoveries.</a:t>
            </a:r>
          </a:p>
        </p:txBody>
      </p:sp>
    </p:spTree>
    <p:extLst>
      <p:ext uri="{BB962C8B-B14F-4D97-AF65-F5344CB8AC3E}">
        <p14:creationId xmlns:p14="http://schemas.microsoft.com/office/powerpoint/2010/main" val="8251738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5">
            <a:extLst xmlns:a="http://schemas.openxmlformats.org/drawingml/2006/main">
              <a:ext uri="{FF2B5EF4-FFF2-40B4-BE49-F238E27FC236}">
                <a16:creationId xmlns:a16="http://schemas.microsoft.com/office/drawing/2014/main" id="{FE5C6AA5-A332-48B8-8B13-FED934A68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TRAIN gates decide whether an asset is allowed to trade</a:t>
            </a:r>
          </a:p>
        </p:txBody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7FD00113-27FC-4972-9844-E741117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SELECTION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D6B86FFB-6852-4634-9E3C-7F3F1426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5</a:t>
            </a:r>
          </a:p>
        </p:txBody>
      </p:sp>
      <p:sp>
        <p:nvSpPr>
          <p:cNvPr id="4" name="gate-lead">
            <a:extLst xmlns:a="http://schemas.openxmlformats.org/drawingml/2006/main">
              <a:ext uri="{FF2B5EF4-FFF2-40B4-BE49-F238E27FC236}">
                <a16:creationId xmlns:a16="http://schemas.microsoft.com/office/drawing/2014/main" id="{6E131196-0832-46F0-BA7B-3B712B4A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A6470"/>
                </a:solidFill>
              </a:defRPr>
            </a:pPr>
            <a:r>
              <a:rPr sz="1800" b="0">
                <a:solidFill>
                  <a:srgbClr val="5A6470"/>
                </a:solidFill>
              </a:rPr>
              <a:t>The gate is intentionally simple and source-adjacent; the outer quarter is the real falsification surface.</a:t>
            </a:r>
          </a:p>
        </p:txBody>
      </p:sp>
      <p:sp>
        <p:nvSpPr>
          <p:cNvPr id="5" name="gmark-0">
            <a:extLst xmlns:a="http://schemas.openxmlformats.org/drawingml/2006/main">
              <a:ext uri="{FF2B5EF4-FFF2-40B4-BE49-F238E27FC236}">
                <a16:creationId xmlns:a16="http://schemas.microsoft.com/office/drawing/2014/main" id="{FD6D821B-36EC-48EB-8BB4-FA6F1C3B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431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9525">
            <a:solidFill>
              <a:srgbClr val="167D8D"/>
            </a:solidFill>
            <a:prstDash val="solid"/>
          </a:ln>
        </p:spPr>
      </p:sp>
      <p:sp>
        <p:nvSpPr>
          <p:cNvPr id="6" name="gate-0">
            <a:extLst xmlns:a="http://schemas.openxmlformats.org/drawingml/2006/main">
              <a:ext uri="{FF2B5EF4-FFF2-40B4-BE49-F238E27FC236}">
                <a16:creationId xmlns:a16="http://schemas.microsoft.com/office/drawing/2014/main" id="{60B1149B-F06F-48E7-B200-A79D428C6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At least 40 non-overlapping return pairs</a:t>
            </a:r>
          </a:p>
        </p:txBody>
      </p:sp>
      <p:sp>
        <p:nvSpPr>
          <p:cNvPr id="7" name="gmark-1">
            <a:extLst xmlns:a="http://schemas.openxmlformats.org/drawingml/2006/main">
              <a:ext uri="{FF2B5EF4-FFF2-40B4-BE49-F238E27FC236}">
                <a16:creationId xmlns:a16="http://schemas.microsoft.com/office/drawing/2014/main" id="{AD59BB0C-6B50-4E8A-9E2C-3FF9C622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9525">
            <a:solidFill>
              <a:srgbClr val="167D8D"/>
            </a:solidFill>
            <a:prstDash val="solid"/>
          </a:ln>
        </p:spPr>
      </p:sp>
      <p:sp>
        <p:nvSpPr>
          <p:cNvPr id="8" name="gate-1">
            <a:extLst xmlns:a="http://schemas.openxmlformats.org/drawingml/2006/main">
              <a:ext uri="{FF2B5EF4-FFF2-40B4-BE49-F238E27FC236}">
                <a16:creationId xmlns:a16="http://schemas.microsoft.com/office/drawing/2014/main" id="{AF6DB276-A095-47D5-A8EA-306196F5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Positive Pearson correlation</a:t>
            </a:r>
          </a:p>
        </p:txBody>
      </p:sp>
      <p:sp>
        <p:nvSpPr>
          <p:cNvPr id="9" name="gmark-2">
            <a:extLst xmlns:a="http://schemas.openxmlformats.org/drawingml/2006/main">
              <a:ext uri="{FF2B5EF4-FFF2-40B4-BE49-F238E27FC236}">
                <a16:creationId xmlns:a16="http://schemas.microsoft.com/office/drawing/2014/main" id="{ED202B14-EC23-4C32-88C3-B432C7E6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57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9525">
            <a:solidFill>
              <a:srgbClr val="167D8D"/>
            </a:solidFill>
            <a:prstDash val="solid"/>
          </a:ln>
        </p:spPr>
      </p:sp>
      <p:sp>
        <p:nvSpPr>
          <p:cNvPr id="10" name="gate-2">
            <a:extLst xmlns:a="http://schemas.openxmlformats.org/drawingml/2006/main">
              <a:ext uri="{FF2B5EF4-FFF2-40B4-BE49-F238E27FC236}">
                <a16:creationId xmlns:a16="http://schemas.microsoft.com/office/drawing/2014/main" id="{0CCA4E25-C0DD-4AFA-98AD-1B9DDDC2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910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Nominal p ≤ 0.10</a:t>
            </a:r>
          </a:p>
        </p:txBody>
      </p:sp>
      <p:sp>
        <p:nvSpPr>
          <p:cNvPr id="11" name="gmark-3">
            <a:extLst xmlns:a="http://schemas.openxmlformats.org/drawingml/2006/main">
              <a:ext uri="{FF2B5EF4-FFF2-40B4-BE49-F238E27FC236}">
                <a16:creationId xmlns:a16="http://schemas.microsoft.com/office/drawing/2014/main" id="{74668BA7-D973-493C-955B-25BB0410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431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73A"/>
          </a:solidFill>
          <a:ln xmlns:a="http://schemas.openxmlformats.org/drawingml/2006/main" w="9525">
            <a:solidFill>
              <a:srgbClr val="D3A73A"/>
            </a:solidFill>
            <a:prstDash val="solid"/>
          </a:ln>
        </p:spPr>
      </p:sp>
      <p:sp>
        <p:nvSpPr>
          <p:cNvPr id="12" name="gate-3">
            <a:extLst xmlns:a="http://schemas.openxmlformats.org/drawingml/2006/main">
              <a:ext uri="{FF2B5EF4-FFF2-40B4-BE49-F238E27FC236}">
                <a16:creationId xmlns:a16="http://schemas.microsoft.com/office/drawing/2014/main" id="{FDAADC50-1106-49C2-8E84-C4708E8B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4765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Select largest correlation t-statistic</a:t>
            </a:r>
          </a:p>
        </p:txBody>
      </p:sp>
      <p:sp>
        <p:nvSpPr>
          <p:cNvPr id="13" name="gmark-4">
            <a:extLst xmlns:a="http://schemas.openxmlformats.org/drawingml/2006/main">
              <a:ext uri="{FF2B5EF4-FFF2-40B4-BE49-F238E27FC236}">
                <a16:creationId xmlns:a16="http://schemas.microsoft.com/office/drawing/2014/main" id="{44E2DCDC-C427-4B36-BB2B-E12CDE278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0042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73A"/>
          </a:solidFill>
          <a:ln xmlns:a="http://schemas.openxmlformats.org/drawingml/2006/main" w="9525">
            <a:solidFill>
              <a:srgbClr val="D3A73A"/>
            </a:solidFill>
            <a:prstDash val="solid"/>
          </a:ln>
        </p:spPr>
      </p:sp>
      <p:sp>
        <p:nvSpPr>
          <p:cNvPr id="14" name="gate-4">
            <a:extLst xmlns:a="http://schemas.openxmlformats.org/drawingml/2006/main">
              <a:ext uri="{FF2B5EF4-FFF2-40B4-BE49-F238E27FC236}">
                <a16:creationId xmlns:a16="http://schemas.microsoft.com/office/drawing/2014/main" id="{384B3A1A-8F7A-4FE9-931F-C314AF347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Tie: shorter H, then shorter L</a:t>
            </a:r>
          </a:p>
        </p:txBody>
      </p:sp>
      <p:sp>
        <p:nvSpPr>
          <p:cNvPr id="15" name="gmark-5">
            <a:extLst xmlns:a="http://schemas.openxmlformats.org/drawingml/2006/main">
              <a:ext uri="{FF2B5EF4-FFF2-40B4-BE49-F238E27FC236}">
                <a16:creationId xmlns:a16="http://schemas.microsoft.com/office/drawing/2014/main" id="{98618CDA-898C-47CB-8351-6029438D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57675"/>
            <a:ext cx="142875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73A"/>
          </a:solidFill>
          <a:ln xmlns:a="http://schemas.openxmlformats.org/drawingml/2006/main" w="9525">
            <a:solidFill>
              <a:srgbClr val="D3A73A"/>
            </a:solidFill>
            <a:prstDash val="solid"/>
          </a:ln>
        </p:spPr>
      </p:sp>
      <p:sp>
        <p:nvSpPr>
          <p:cNvPr id="16" name="gate-5">
            <a:extLst xmlns:a="http://schemas.openxmlformats.org/drawingml/2006/main">
              <a:ext uri="{FF2B5EF4-FFF2-40B4-BE49-F238E27FC236}">
                <a16:creationId xmlns:a16="http://schemas.microsoft.com/office/drawing/2014/main" id="{5255271D-D86A-4A1D-9B71-1D057F58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191000"/>
            <a:ext cx="504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No admissible candidate → cash next quarter</a:t>
            </a:r>
          </a:p>
        </p:txBody>
      </p:sp>
    </p:spTree>
    <p:extLst>
      <p:ext uri="{BB962C8B-B14F-4D97-AF65-F5344CB8AC3E}">
        <p14:creationId xmlns:p14="http://schemas.microsoft.com/office/powerpoint/2010/main" val="995424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6">
            <a:extLst xmlns:a="http://schemas.openxmlformats.org/drawingml/2006/main">
              <a:ext uri="{FF2B5EF4-FFF2-40B4-BE49-F238E27FC236}">
                <a16:creationId xmlns:a16="http://schemas.microsoft.com/office/drawing/2014/main" id="{2D20EA2F-B831-4C95-80A2-D804E295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Admission moved between 9 and 12 of 26 assets each quarter</a:t>
            </a:r>
          </a:p>
        </p:txBody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B608694E-A84D-4B34-A7ED-535FAA3D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OOS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416BB4A2-0EF7-49FA-B524-967F1C22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6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06977224a45d7"/>
          <a:stretch xmlns:a="http://schemas.openxmlformats.org/drawingml/2006/main"/>
        </p:blipFill>
        <p:spPr>
          <a:xfrm xmlns:a="http://schemas.openxmlformats.org/drawingml/2006/main">
            <a:off x="2131695" y="1409700"/>
            <a:ext cx="7852410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caption-6">
            <a:extLst xmlns:a="http://schemas.openxmlformats.org/drawingml/2006/main">
              <a:ext uri="{FF2B5EF4-FFF2-40B4-BE49-F238E27FC236}">
                <a16:creationId xmlns:a16="http://schemas.microsoft.com/office/drawing/2014/main" id="{64B5140C-FDDD-4B5C-815E-87C7DCAB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0"/>
                </a:solidFill>
              </a:defRPr>
            </a:pPr>
            <a:r>
              <a:rPr sz="1350" b="0">
                <a:solidFill>
                  <a:srgbClr val="5A6470"/>
                </a:solidFill>
              </a:rPr>
              <a:t>Cash dominates the all-panel median; the active-only result must be inspected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3420411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7">
            <a:extLst xmlns:a="http://schemas.openxmlformats.org/drawingml/2006/main">
              <a:ext uri="{FF2B5EF4-FFF2-40B4-BE49-F238E27FC236}">
                <a16:creationId xmlns:a16="http://schemas.microsoft.com/office/drawing/2014/main" id="{79736A09-8FB8-43B5-9859-E7E46DE1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Trading blocks lost even after cash assignments are removed</a:t>
            </a:r>
          </a:p>
        </p:txBody>
      </p:sp>
      <p:sp>
        <p:nvSpPr>
          <p:cNvPr id="2" name="section-7">
            <a:extLst xmlns:a="http://schemas.openxmlformats.org/drawingml/2006/main">
              <a:ext uri="{FF2B5EF4-FFF2-40B4-BE49-F238E27FC236}">
                <a16:creationId xmlns:a16="http://schemas.microsoft.com/office/drawing/2014/main" id="{F65099B0-C032-4F85-9E5C-B3006527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ACTIVE BLOCKS</a:t>
            </a:r>
          </a:p>
        </p:txBody>
      </p:sp>
      <p:sp>
        <p:nvSpPr>
          <p:cNvPr id="3" name="page-7">
            <a:extLst xmlns:a="http://schemas.openxmlformats.org/drawingml/2006/main">
              <a:ext uri="{FF2B5EF4-FFF2-40B4-BE49-F238E27FC236}">
                <a16:creationId xmlns:a16="http://schemas.microsoft.com/office/drawing/2014/main" id="{9AE20E1E-A26C-4F08-841B-CD12DBAF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7</a:t>
            </a:r>
          </a:p>
        </p:txBody>
      </p:sp>
      <p:sp>
        <p:nvSpPr>
          <p:cNvPr id="4" name="lead-7">
            <a:extLst xmlns:a="http://schemas.openxmlformats.org/drawingml/2006/main">
              <a:ext uri="{FF2B5EF4-FFF2-40B4-BE49-F238E27FC236}">
                <a16:creationId xmlns:a16="http://schemas.microsoft.com/office/drawing/2014/main" id="{E388CD19-4068-4DEE-85D1-67F71A8C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81125"/>
            <a:ext cx="11191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A6470"/>
                </a:solidFill>
              </a:defRPr>
            </a:pPr>
            <a:r>
              <a:rPr sz="1725" b="0">
                <a:solidFill>
                  <a:srgbClr val="5A6470"/>
                </a:solidFill>
              </a:rPr>
              <a:t>Only 115 of 288 stock-quarters traded at 1x. The zero all-panel median is therefore not neutral evidence; it is a consequence of the admission rule.</a:t>
            </a:r>
          </a:p>
        </p:txBody>
      </p:sp>
      <p:sp>
        <p:nvSpPr>
          <p:cNvPr id="5" name="metric-panel-7-0">
            <a:extLst xmlns:a="http://schemas.openxmlformats.org/drawingml/2006/main">
              <a:ext uri="{FF2B5EF4-FFF2-40B4-BE49-F238E27FC236}">
                <a16:creationId xmlns:a16="http://schemas.microsoft.com/office/drawing/2014/main" id="{B052A439-268D-40A4-A123-929B0AF1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metric-value-7-0">
            <a:extLst xmlns:a="http://schemas.openxmlformats.org/drawingml/2006/main">
              <a:ext uri="{FF2B5EF4-FFF2-40B4-BE49-F238E27FC236}">
                <a16:creationId xmlns:a16="http://schemas.microsoft.com/office/drawing/2014/main" id="{85679F7C-2982-400D-80EE-EBBAEE515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46A47"/>
                </a:solidFill>
              </a:defRPr>
            </a:pPr>
            <a:r>
              <a:rPr sz="3600" b="1">
                <a:solidFill>
                  <a:srgbClr val="E46A47"/>
                </a:solidFill>
              </a:rPr>
              <a:t>−2.79%</a:t>
            </a:r>
          </a:p>
        </p:txBody>
      </p:sp>
      <p:sp>
        <p:nvSpPr>
          <p:cNvPr id="7" name="metric-label-7-0">
            <a:extLst xmlns:a="http://schemas.openxmlformats.org/drawingml/2006/main">
              <a:ext uri="{FF2B5EF4-FFF2-40B4-BE49-F238E27FC236}">
                <a16:creationId xmlns:a16="http://schemas.microsoft.com/office/drawing/2014/main" id="{6DC0FADC-E3ED-4B2A-ABD7-98E5EF0B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active-block median return</a:t>
            </a:r>
          </a:p>
        </p:txBody>
      </p:sp>
      <p:sp>
        <p:nvSpPr>
          <p:cNvPr id="8" name="metric-panel-7-1">
            <a:extLst xmlns:a="http://schemas.openxmlformats.org/drawingml/2006/main">
              <a:ext uri="{FF2B5EF4-FFF2-40B4-BE49-F238E27FC236}">
                <a16:creationId xmlns:a16="http://schemas.microsoft.com/office/drawing/2014/main" id="{6120DBD1-E311-4F2C-9C5D-5E95C038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metric-value-7-1">
            <a:extLst xmlns:a="http://schemas.openxmlformats.org/drawingml/2006/main">
              <a:ext uri="{FF2B5EF4-FFF2-40B4-BE49-F238E27FC236}">
                <a16:creationId xmlns:a16="http://schemas.microsoft.com/office/drawing/2014/main" id="{E0AABC75-A15F-45E6-99EF-B94BFF43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35.7%</a:t>
            </a:r>
          </a:p>
        </p:txBody>
      </p:sp>
      <p:sp>
        <p:nvSpPr>
          <p:cNvPr id="10" name="metric-label-7-1">
            <a:extLst xmlns:a="http://schemas.openxmlformats.org/drawingml/2006/main">
              <a:ext uri="{FF2B5EF4-FFF2-40B4-BE49-F238E27FC236}">
                <a16:creationId xmlns:a16="http://schemas.microsoft.com/office/drawing/2014/main" id="{67F25602-19E2-4BA3-BBDF-F8C493F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positive active blocks</a:t>
            </a:r>
          </a:p>
        </p:txBody>
      </p:sp>
      <p:sp>
        <p:nvSpPr>
          <p:cNvPr id="11" name="metric-panel-7-2">
            <a:extLst xmlns:a="http://schemas.openxmlformats.org/drawingml/2006/main">
              <a:ext uri="{FF2B5EF4-FFF2-40B4-BE49-F238E27FC236}">
                <a16:creationId xmlns:a16="http://schemas.microsoft.com/office/drawing/2014/main" id="{B8072383-44EA-4218-B11A-7D651B25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24150"/>
            <a:ext cx="3476625" cy="2895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metric-value-7-2">
            <a:extLst xmlns:a="http://schemas.openxmlformats.org/drawingml/2006/main">
              <a:ext uri="{FF2B5EF4-FFF2-40B4-BE49-F238E27FC236}">
                <a16:creationId xmlns:a16="http://schemas.microsoft.com/office/drawing/2014/main" id="{D11E2CA4-F979-4FA0-8E20-421615B3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62300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E46A47"/>
                </a:solidFill>
              </a:defRPr>
            </a:pPr>
            <a:r>
              <a:rPr sz="3600" b="1">
                <a:solidFill>
                  <a:srgbClr val="E46A47"/>
                </a:solidFill>
              </a:rPr>
              <a:t>−6.92 pp</a:t>
            </a:r>
          </a:p>
        </p:txBody>
      </p:sp>
      <p:sp>
        <p:nvSpPr>
          <p:cNvPr id="13" name="metric-label-7-2">
            <a:extLst xmlns:a="http://schemas.openxmlformats.org/drawingml/2006/main">
              <a:ext uri="{FF2B5EF4-FFF2-40B4-BE49-F238E27FC236}">
                <a16:creationId xmlns:a16="http://schemas.microsoft.com/office/drawing/2014/main" id="{5DC1FCF1-50EA-4D33-8163-7D8EEDEC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295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470"/>
                </a:solidFill>
              </a:defRPr>
            </a:pPr>
            <a:r>
              <a:rPr sz="1500" b="0">
                <a:solidFill>
                  <a:srgbClr val="5A6470"/>
                </a:solidFill>
              </a:rPr>
              <a:t>active median excess vs buy-and-hold</a:t>
            </a:r>
          </a:p>
        </p:txBody>
      </p:sp>
    </p:spTree>
    <p:extLst>
      <p:ext uri="{BB962C8B-B14F-4D97-AF65-F5344CB8AC3E}">
        <p14:creationId xmlns:p14="http://schemas.microsoft.com/office/powerpoint/2010/main" val="12656306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8">
            <a:extLst xmlns:a="http://schemas.openxmlformats.org/drawingml/2006/main">
              <a:ext uri="{FF2B5EF4-FFF2-40B4-BE49-F238E27FC236}">
                <a16:creationId xmlns:a16="http://schemas.microsoft.com/office/drawing/2014/main" id="{8F1B6544-8D33-40A8-8072-E4FBE5775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median timing null is degenerate at cash</a:t>
            </a:r>
          </a:p>
        </p:txBody>
      </p:sp>
      <p:sp>
        <p:nvSpPr>
          <p:cNvPr id="2" name="section-8">
            <a:extLst xmlns:a="http://schemas.openxmlformats.org/drawingml/2006/main">
              <a:ext uri="{FF2B5EF4-FFF2-40B4-BE49-F238E27FC236}">
                <a16:creationId xmlns:a16="http://schemas.microsoft.com/office/drawing/2014/main" id="{7D915323-D163-40AB-9FDA-1FA06C14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FALSIFICATION</a:t>
            </a:r>
          </a:p>
        </p:txBody>
      </p:sp>
      <p:sp>
        <p:nvSpPr>
          <p:cNvPr id="3" name="page-8">
            <a:extLst xmlns:a="http://schemas.openxmlformats.org/drawingml/2006/main">
              <a:ext uri="{FF2B5EF4-FFF2-40B4-BE49-F238E27FC236}">
                <a16:creationId xmlns:a16="http://schemas.microsoft.com/office/drawing/2014/main" id="{17E98BAC-379D-44D4-97D2-AFEDAD3D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8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8e2e74ad3c4d04"/>
          <a:stretch xmlns:a="http://schemas.openxmlformats.org/drawingml/2006/main"/>
        </p:blipFill>
        <p:spPr>
          <a:xfrm xmlns:a="http://schemas.openxmlformats.org/drawingml/2006/main">
            <a:off x="2131695" y="1409700"/>
            <a:ext cx="7852410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caption-8">
            <a:extLst xmlns:a="http://schemas.openxmlformats.org/drawingml/2006/main">
              <a:ext uri="{FF2B5EF4-FFF2-40B4-BE49-F238E27FC236}">
                <a16:creationId xmlns:a16="http://schemas.microsoft.com/office/drawing/2014/main" id="{F1028001-5D4B-415E-AE70-5D1CADFD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0"/>
                </a:solidFill>
              </a:defRPr>
            </a:pPr>
            <a:r>
              <a:rPr sz="1350" b="0">
                <a:solidFill>
                  <a:srgbClr val="5A6470"/>
                </a:solidFill>
              </a:rPr>
              <a:t>Actual and shifted panel medians are both zero; direct excess places the actual policy near the bottom of the shifted controls.</a:t>
            </a:r>
          </a:p>
        </p:txBody>
      </p:sp>
    </p:spTree>
    <p:extLst>
      <p:ext uri="{BB962C8B-B14F-4D97-AF65-F5344CB8AC3E}">
        <p14:creationId xmlns:p14="http://schemas.microsoft.com/office/powerpoint/2010/main" val="12050921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-9">
            <a:extLst xmlns:a="http://schemas.openxmlformats.org/drawingml/2006/main">
              <a:ext uri="{FF2B5EF4-FFF2-40B4-BE49-F238E27FC236}">
                <a16:creationId xmlns:a16="http://schemas.microsoft.com/office/drawing/2014/main" id="{ECB2BB2C-202B-476B-8047-E5C1F6AE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Overlapping sleeves create a rapidly changing exposure path</a:t>
            </a:r>
          </a:p>
        </p:txBody>
      </p:sp>
      <p:sp>
        <p:nvSpPr>
          <p:cNvPr id="2" name="section-9">
            <a:extLst xmlns:a="http://schemas.openxmlformats.org/drawingml/2006/main">
              <a:ext uri="{FF2B5EF4-FFF2-40B4-BE49-F238E27FC236}">
                <a16:creationId xmlns:a16="http://schemas.microsoft.com/office/drawing/2014/main" id="{522E5640-BD04-4541-AB0D-A16EE9A26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AUDIT</a:t>
            </a:r>
          </a:p>
        </p:txBody>
      </p:sp>
      <p:sp>
        <p:nvSpPr>
          <p:cNvPr id="3" name="page-9">
            <a:extLst xmlns:a="http://schemas.openxmlformats.org/drawingml/2006/main">
              <a:ext uri="{FF2B5EF4-FFF2-40B4-BE49-F238E27FC236}">
                <a16:creationId xmlns:a16="http://schemas.microsoft.com/office/drawing/2014/main" id="{EAA02331-3A40-462D-B078-9957D759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1ab7f4b6ab45c5"/>
          <a:stretch xmlns:a="http://schemas.openxmlformats.org/drawingml/2006/main"/>
        </p:blipFill>
        <p:spPr>
          <a:xfrm xmlns:a="http://schemas.openxmlformats.org/drawingml/2006/main">
            <a:off x="2131695" y="1409700"/>
            <a:ext cx="7852410" cy="4362450"/>
          </a:xfrm>
          <a:prstGeom xmlns:a="http://schemas.openxmlformats.org/drawingml/2006/main" prst="rect">
            <a:avLst/>
          </a:prstGeom>
        </p:spPr>
      </p:pic>
      <p:sp>
        <p:nvSpPr>
          <p:cNvPr id="5" name="caption-9">
            <a:extLst xmlns:a="http://schemas.openxmlformats.org/drawingml/2006/main">
              <a:ext uri="{FF2B5EF4-FFF2-40B4-BE49-F238E27FC236}">
                <a16:creationId xmlns:a16="http://schemas.microsoft.com/office/drawing/2014/main" id="{AF928485-80EB-4920-A176-FF3EDE41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67400"/>
            <a:ext cx="11201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A6470"/>
                </a:solidFill>
              </a:defRPr>
            </a:pPr>
            <a:r>
              <a:rPr sz="1350" b="0">
                <a:solidFill>
                  <a:srgbClr val="5A6470"/>
                </a:solidFill>
              </a:rPr>
              <a:t>Orange is aggregate sleeve exposure scaled into the price range; it is not a second price series.</a:t>
            </a:r>
          </a:p>
        </p:txBody>
      </p:sp>
    </p:spTree>
    <p:extLst>
      <p:ext uri="{BB962C8B-B14F-4D97-AF65-F5344CB8AC3E}">
        <p14:creationId xmlns:p14="http://schemas.microsoft.com/office/powerpoint/2010/main" val="1951593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-10">
            <a:extLst xmlns:a="http://schemas.openxmlformats.org/drawingml/2006/main">
              <a:ext uri="{FF2B5EF4-FFF2-40B4-BE49-F238E27FC236}">
                <a16:creationId xmlns:a16="http://schemas.microsoft.com/office/drawing/2014/main" id="{328B673C-2321-490C-8E31-7D95273C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3850"/>
            <a:ext cx="1104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11827"/>
                </a:solidFill>
              </a:defRPr>
            </a:pPr>
            <a:r>
              <a:rPr sz="2775" b="1">
                <a:solidFill>
                  <a:srgbClr val="111827"/>
                </a:solidFill>
              </a:rPr>
              <a:t>The textbook transport was clean—and economically unsuccessful</a:t>
            </a:r>
          </a:p>
        </p:txBody>
      </p:sp>
      <p:sp>
        <p:nvSpPr>
          <p:cNvPr id="2" name="section-10">
            <a:extLst xmlns:a="http://schemas.openxmlformats.org/drawingml/2006/main">
              <a:ext uri="{FF2B5EF4-FFF2-40B4-BE49-F238E27FC236}">
                <a16:creationId xmlns:a16="http://schemas.microsoft.com/office/drawing/2014/main" id="{03C0456A-3709-406E-8FF6-EA187948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72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67D8D"/>
                </a:solidFill>
              </a:defRPr>
            </a:pPr>
            <a:r>
              <a:rPr sz="1200" b="1">
                <a:solidFill>
                  <a:srgbClr val="167D8D"/>
                </a:solidFill>
              </a:rPr>
              <a:t>DECISION</a:t>
            </a:r>
          </a:p>
        </p:txBody>
      </p:sp>
      <p:sp>
        <p:nvSpPr>
          <p:cNvPr id="3" name="page-10">
            <a:extLst xmlns:a="http://schemas.openxmlformats.org/drawingml/2006/main">
              <a:ext uri="{FF2B5EF4-FFF2-40B4-BE49-F238E27FC236}">
                <a16:creationId xmlns:a16="http://schemas.microsoft.com/office/drawing/2014/main" id="{E4ABC01A-A7D2-42AF-9EAA-2B202CE6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470"/>
                </a:solidFill>
              </a:defRPr>
            </a:pPr>
            <a:r>
              <a:rPr sz="975" b="0">
                <a:solidFill>
                  <a:srgbClr val="5A6470"/>
                </a:solidFill>
              </a:rPr>
              <a:t>10</a:t>
            </a:r>
          </a:p>
        </p:txBody>
      </p:sp>
      <p:sp>
        <p:nvSpPr>
          <p:cNvPr id="4" name="thesis-10">
            <a:extLst xmlns:a="http://schemas.openxmlformats.org/drawingml/2006/main">
              <a:ext uri="{FF2B5EF4-FFF2-40B4-BE49-F238E27FC236}">
                <a16:creationId xmlns:a16="http://schemas.microsoft.com/office/drawing/2014/main" id="{C1CD9618-B6B8-4D0A-AD5F-E334D12C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11191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</a:defRPr>
            </a:pPr>
            <a:r>
              <a:rPr sz="2175" b="1">
                <a:solidFill>
                  <a:srgbClr val="111827"/>
                </a:solidFill>
              </a:rPr>
              <a:t>This is a successful learning exercise and a failed unfiltered strategy POC.</a:t>
            </a:r>
          </a:p>
        </p:txBody>
      </p:sp>
      <p:sp>
        <p:nvSpPr>
          <p:cNvPr id="5" name="bullet-mark-10-0">
            <a:extLst xmlns:a="http://schemas.openxmlformats.org/drawingml/2006/main">
              <a:ext uri="{FF2B5EF4-FFF2-40B4-BE49-F238E27FC236}">
                <a16:creationId xmlns:a16="http://schemas.microsoft.com/office/drawing/2014/main" id="{D6A9FE8D-75B2-416A-ADB7-1A96C567A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90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D8D"/>
          </a:solidFill>
          <a:ln xmlns:a="http://schemas.openxmlformats.org/drawingml/2006/main" w="9525">
            <a:solidFill>
              <a:srgbClr val="167D8D"/>
            </a:solidFill>
            <a:prstDash val="solid"/>
          </a:ln>
        </p:spPr>
      </p:sp>
      <p:sp>
        <p:nvSpPr>
          <p:cNvPr id="6" name="bullet-10-0">
            <a:extLst xmlns:a="http://schemas.openxmlformats.org/drawingml/2006/main">
              <a:ext uri="{FF2B5EF4-FFF2-40B4-BE49-F238E27FC236}">
                <a16:creationId xmlns:a16="http://schemas.microsoft.com/office/drawing/2014/main" id="{E4A179DE-2CB6-4686-B532-3B56AFA1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14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The screen preserved Chan’s L/H logic and non-overlapping future-return inference.</a:t>
            </a:r>
          </a:p>
        </p:txBody>
      </p:sp>
      <p:sp>
        <p:nvSpPr>
          <p:cNvPr id="7" name="bullet-mark-10-1">
            <a:extLst xmlns:a="http://schemas.openxmlformats.org/drawingml/2006/main">
              <a:ext uri="{FF2B5EF4-FFF2-40B4-BE49-F238E27FC236}">
                <a16:creationId xmlns:a16="http://schemas.microsoft.com/office/drawing/2014/main" id="{4E2CA250-A245-43AA-BCF2-1D4F2485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52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6A47"/>
          </a:solidFill>
          <a:ln xmlns:a="http://schemas.openxmlformats.org/drawingml/2006/main" w="9525">
            <a:solidFill>
              <a:srgbClr val="E46A47"/>
            </a:solidFill>
            <a:prstDash val="solid"/>
          </a:ln>
        </p:spPr>
      </p:sp>
      <p:sp>
        <p:nvSpPr>
          <p:cNvPr id="8" name="bullet-10-1">
            <a:extLst xmlns:a="http://schemas.openxmlformats.org/drawingml/2006/main">
              <a:ext uri="{FF2B5EF4-FFF2-40B4-BE49-F238E27FC236}">
                <a16:creationId xmlns:a16="http://schemas.microsoft.com/office/drawing/2014/main" id="{03DE52E0-B7C7-4ECA-8DC5-AF61B9F58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Quarterly admission was unstable, and active blocks lost at the median.</a:t>
            </a:r>
          </a:p>
        </p:txBody>
      </p:sp>
      <p:sp>
        <p:nvSpPr>
          <p:cNvPr id="9" name="bullet-mark-10-2">
            <a:extLst xmlns:a="http://schemas.openxmlformats.org/drawingml/2006/main">
              <a:ext uri="{FF2B5EF4-FFF2-40B4-BE49-F238E27FC236}">
                <a16:creationId xmlns:a16="http://schemas.microsoft.com/office/drawing/2014/main" id="{7037D4C5-A588-4871-AED3-4D739A7E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148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A73A"/>
          </a:solidFill>
          <a:ln xmlns:a="http://schemas.openxmlformats.org/drawingml/2006/main" w="9525">
            <a:solidFill>
              <a:srgbClr val="D3A73A"/>
            </a:solidFill>
            <a:prstDash val="solid"/>
          </a:ln>
        </p:spPr>
      </p:sp>
      <p:sp>
        <p:nvSpPr>
          <p:cNvPr id="10" name="bullet-10-2">
            <a:extLst xmlns:a="http://schemas.openxmlformats.org/drawingml/2006/main">
              <a:ext uri="{FF2B5EF4-FFF2-40B4-BE49-F238E27FC236}">
                <a16:creationId xmlns:a16="http://schemas.microsoft.com/office/drawing/2014/main" id="{55809576-D5E7-42E1-9311-CBA19224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3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The p-value is a screening statistic; outer OOS performance remains the authority.</a:t>
            </a:r>
          </a:p>
        </p:txBody>
      </p:sp>
      <p:sp>
        <p:nvSpPr>
          <p:cNvPr id="11" name="stop-10">
            <a:extLst xmlns:a="http://schemas.openxmlformats.org/drawingml/2006/main">
              <a:ext uri="{FF2B5EF4-FFF2-40B4-BE49-F238E27FC236}">
                <a16:creationId xmlns:a16="http://schemas.microsoft.com/office/drawing/2014/main" id="{653A3B9E-8A5D-416C-B2EA-41EB99E6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57850"/>
            <a:ext cx="11191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46A47"/>
                </a:solidFill>
              </a:defRPr>
            </a:pPr>
            <a:r>
              <a:rPr sz="1500" b="1">
                <a:solidFill>
                  <a:srgbClr val="E46A47"/>
                </a:solidFill>
              </a:rPr>
              <a:t>STOP: keep 2024+ sealed and do not relax p/support gates, mine horizons, or build a regime filter under LIT-IMOM-01.1.</a:t>
            </a:r>
          </a:p>
        </p:txBody>
      </p:sp>
    </p:spTree>
    <p:extLst>
      <p:ext uri="{BB962C8B-B14F-4D97-AF65-F5344CB8AC3E}">
        <p14:creationId xmlns:p14="http://schemas.microsoft.com/office/powerpoint/2010/main" val="12503585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2026-08-14T14:07:47.7360000Z</dcterms:created>
  <dcterms:modified xsi:type="dcterms:W3CDTF">2026-08-14T14:07:47.7360000Z</dcterms:modified>
</coreProperties>
</file>