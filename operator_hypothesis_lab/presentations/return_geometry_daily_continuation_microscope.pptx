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342cb2f6d294342" /><Relationship Type="http://schemas.openxmlformats.org/officeDocument/2006/relationships/extended-properties" Target="/docProps/app.xml" Id="Rd338ff280af6454a" /><Relationship Type="http://schemas.openxmlformats.org/officeDocument/2006/relationships/officeDocument" Target="/ppt/presentation.xml" Id="R3a1c93abf1504b45" /></Relationships>
</file>

<file path=ppt/presentation.xml><?xml version="1.0" encoding="utf-8"?>
<p:presentation xmlns:p="http://schemas.openxmlformats.org/presentationml/2006/main">
  <p:sldMasterIdLst>
    <p:sldMasterId xmlns:r="http://schemas.openxmlformats.org/officeDocument/2006/relationships" id="2147483648" r:id="R0097c60ca9884520"/>
  </p:sldMasterIdLst>
  <p:notesMasterIdLst>
    <p:notesMasterId xmlns:r="http://schemas.openxmlformats.org/officeDocument/2006/relationships" r:id="Ra6cfa17bd13c477a"/>
  </p:notesMasterIdLst>
  <p:sldIdLst>
    <p:sldId xmlns:r="http://schemas.openxmlformats.org/officeDocument/2006/relationships" id="256" r:id="R7f6041ace4974ec6"/>
    <p:sldId xmlns:r="http://schemas.openxmlformats.org/officeDocument/2006/relationships" id="257" r:id="R5798945275e045d6"/>
    <p:sldId xmlns:r="http://schemas.openxmlformats.org/officeDocument/2006/relationships" id="258" r:id="R151aed5e11834ded"/>
    <p:sldId xmlns:r="http://schemas.openxmlformats.org/officeDocument/2006/relationships" id="259" r:id="R50e2dc2b82804a5c"/>
    <p:sldId xmlns:r="http://schemas.openxmlformats.org/officeDocument/2006/relationships" id="260" r:id="Rad401365f5744ae2"/>
    <p:sldId xmlns:r="http://schemas.openxmlformats.org/officeDocument/2006/relationships" id="261" r:id="R01f9002166344e69"/>
    <p:sldId xmlns:r="http://schemas.openxmlformats.org/officeDocument/2006/relationships" id="262" r:id="Ra602d09fccf54ae7"/>
    <p:sldId xmlns:r="http://schemas.openxmlformats.org/officeDocument/2006/relationships" id="263" r:id="Rd0a0f623f2f04281"/>
    <p:sldId xmlns:r="http://schemas.openxmlformats.org/officeDocument/2006/relationships" id="264" r:id="Rbd935ccf41584057"/>
    <p:sldId xmlns:r="http://schemas.openxmlformats.org/officeDocument/2006/relationships" id="265" r:id="R113353cfa457459d"/>
    <p:sldId xmlns:r="http://schemas.openxmlformats.org/officeDocument/2006/relationships" id="266" r:id="R779b236355fc47da"/>
    <p:sldId xmlns:r="http://schemas.openxmlformats.org/officeDocument/2006/relationships" id="267" r:id="Rc12dc436bc114d3b"/>
    <p:sldId xmlns:r="http://schemas.openxmlformats.org/officeDocument/2006/relationships" id="268" r:id="R142e6b1e53074be2"/>
    <p:sldId xmlns:r="http://schemas.openxmlformats.org/officeDocument/2006/relationships" id="269" r:id="R7a062c592c6a4048"/>
    <p:sldId xmlns:r="http://schemas.openxmlformats.org/officeDocument/2006/relationships" id="270" r:id="Rf172dc5ea2114b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99b8c56353d4867" /><Relationship Type="http://schemas.openxmlformats.org/officeDocument/2006/relationships/slideMaster" Target="/ppt/slideMasters/slideMaster1.xml" Id="R0097c60ca9884520" /><Relationship Type="http://schemas.openxmlformats.org/officeDocument/2006/relationships/notesMaster" Target="/ppt/notesMasters/notesMaster1.xml" Id="Ra6cfa17bd13c477a" /><Relationship Type="http://schemas.openxmlformats.org/officeDocument/2006/relationships/presProps" Target="/ppt/presProps.xml" Id="Ra3fdfccf976240e2" /><Relationship Type="http://schemas.openxmlformats.org/officeDocument/2006/relationships/tableStyles" Target="/ppt/tableStyles.xml" Id="R7006b3a34fe345ac" /><Relationship Type="http://schemas.openxmlformats.org/officeDocument/2006/relationships/slide" Target="/ppt/slides/slide1.xml" Id="R7f6041ace4974ec6" /><Relationship Type="http://schemas.openxmlformats.org/officeDocument/2006/relationships/slide" Target="/ppt/slides/slide2.xml" Id="R5798945275e045d6" /><Relationship Type="http://schemas.openxmlformats.org/officeDocument/2006/relationships/slide" Target="/ppt/slides/slide3.xml" Id="R151aed5e11834ded" /><Relationship Type="http://schemas.openxmlformats.org/officeDocument/2006/relationships/slide" Target="/ppt/slides/slide4.xml" Id="R50e2dc2b82804a5c" /><Relationship Type="http://schemas.openxmlformats.org/officeDocument/2006/relationships/slide" Target="/ppt/slides/slide5.xml" Id="Rad401365f5744ae2" /><Relationship Type="http://schemas.openxmlformats.org/officeDocument/2006/relationships/slide" Target="/ppt/slides/slide6.xml" Id="R01f9002166344e69" /><Relationship Type="http://schemas.openxmlformats.org/officeDocument/2006/relationships/slide" Target="/ppt/slides/slide7.xml" Id="Ra602d09fccf54ae7" /><Relationship Type="http://schemas.openxmlformats.org/officeDocument/2006/relationships/slide" Target="/ppt/slides/slide8.xml" Id="Rd0a0f623f2f04281" /><Relationship Type="http://schemas.openxmlformats.org/officeDocument/2006/relationships/slide" Target="/ppt/slides/slide9.xml" Id="Rbd935ccf41584057" /><Relationship Type="http://schemas.openxmlformats.org/officeDocument/2006/relationships/slide" Target="/ppt/slides/slide10.xml" Id="R113353cfa457459d" /><Relationship Type="http://schemas.openxmlformats.org/officeDocument/2006/relationships/slide" Target="/ppt/slides/slide11.xml" Id="R779b236355fc47da" /><Relationship Type="http://schemas.openxmlformats.org/officeDocument/2006/relationships/slide" Target="/ppt/slides/slide12.xml" Id="Rc12dc436bc114d3b" /><Relationship Type="http://schemas.openxmlformats.org/officeDocument/2006/relationships/slide" Target="/ppt/slides/slide13.xml" Id="R142e6b1e53074be2" /><Relationship Type="http://schemas.openxmlformats.org/officeDocument/2006/relationships/slide" Target="/ppt/slides/slide14.xml" Id="R7a062c592c6a4048" /><Relationship Type="http://schemas.openxmlformats.org/officeDocument/2006/relationships/slide" Target="/ppt/slides/slide15.xml" Id="Rf172dc5ea2114b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a8d96925ee7441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dfbc138c6df4901" /><Relationship Type="http://schemas.openxmlformats.org/officeDocument/2006/relationships/notesMaster" Target="/ppt/notesMasters/notesMaster1.xml" Id="R29aacbd3bc58481c" /></Relationships>
</file>

<file path=ppt/notesSlides/_rels/notesSlide2.xml.rels>&#65279;<?xml version="1.0" encoding="utf-8"?><Relationships xmlns="http://schemas.openxmlformats.org/package/2006/relationships"><Relationship Type="http://schemas.openxmlformats.org/officeDocument/2006/relationships/slide" Target="/ppt/slides/slide2.xml" Id="Re7339199228f4685" /><Relationship Type="http://schemas.openxmlformats.org/officeDocument/2006/relationships/notesMaster" Target="/ppt/notesMasters/notesMaster1.xml" Id="Rd748581e789e4c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094696b6426049be" /><Relationship Type="http://schemas.openxmlformats.org/officeDocument/2006/relationships/notesMaster" Target="/ppt/notesMasters/notesMaster1.xml" Id="Ra925be2ffe6943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764d8eddd2ab4608" /><Relationship Type="http://schemas.openxmlformats.org/officeDocument/2006/relationships/notesMaster" Target="/ppt/notesMasters/notesMaster1.xml" Id="R011bbedfb1b44b5b" /></Relationships>
</file>

<file path=ppt/notesSlides/_rels/notesSlide5.xml.rels>&#65279;<?xml version="1.0" encoding="utf-8"?><Relationships xmlns="http://schemas.openxmlformats.org/package/2006/relationships"><Relationship Type="http://schemas.openxmlformats.org/officeDocument/2006/relationships/slide" Target="/ppt/slides/slide5.xml" Id="Red3b9e9a145e41f0" /><Relationship Type="http://schemas.openxmlformats.org/officeDocument/2006/relationships/notesMaster" Target="/ppt/notesMasters/notesMaster1.xml" Id="Rb67b935e8f2c469e" /></Relationships>
</file>

<file path=ppt/notesSlides/_rels/notesSlide6.xml.rels>&#65279;<?xml version="1.0" encoding="utf-8"?><Relationships xmlns="http://schemas.openxmlformats.org/package/2006/relationships"><Relationship Type="http://schemas.openxmlformats.org/officeDocument/2006/relationships/slide" Target="/ppt/slides/slide6.xml" Id="Rc4feaa2e002d45e3" /><Relationship Type="http://schemas.openxmlformats.org/officeDocument/2006/relationships/notesMaster" Target="/ppt/notesMasters/notesMaster1.xml" Id="R73089d040088412b" /></Relationships>
</file>

<file path=ppt/notesSlides/_rels/notesSlide7.xml.rels>&#65279;<?xml version="1.0" encoding="utf-8"?><Relationships xmlns="http://schemas.openxmlformats.org/package/2006/relationships"><Relationship Type="http://schemas.openxmlformats.org/officeDocument/2006/relationships/slide" Target="/ppt/slides/slide7.xml" Id="R7472f6b18a3845d4" /><Relationship Type="http://schemas.openxmlformats.org/officeDocument/2006/relationships/notesMaster" Target="/ppt/notesMasters/notesMaster1.xml" Id="Rf0d3e8fc7e8d474a" /></Relationships>
</file>

<file path=ppt/notesSlides/_rels/notesSlide8.xml.rels>&#65279;<?xml version="1.0" encoding="utf-8"?><Relationships xmlns="http://schemas.openxmlformats.org/package/2006/relationships"><Relationship Type="http://schemas.openxmlformats.org/officeDocument/2006/relationships/slide" Target="/ppt/slides/slide8.xml" Id="R2ff575343d2d4d27" /><Relationship Type="http://schemas.openxmlformats.org/officeDocument/2006/relationships/notesMaster" Target="/ppt/notesMasters/notesMaster1.xml" Id="Rab213294baf4436a" /></Relationships>
</file>

<file path=ppt/notesSlides/_rels/notesSlide9.xml.rels>&#65279;<?xml version="1.0" encoding="utf-8"?><Relationships xmlns="http://schemas.openxmlformats.org/package/2006/relationships"><Relationship Type="http://schemas.openxmlformats.org/officeDocument/2006/relationships/slide" Target="/ppt/slides/slide9.xml" Id="Rc5ac3ca37cf6425a" /><Relationship Type="http://schemas.openxmlformats.org/officeDocument/2006/relationships/notesMaster" Target="/ppt/notesMasters/notesMaster1.xml" Id="Rb03e2c6a9d9e448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45271b5981042b9" /><Relationship Type="http://schemas.openxmlformats.org/officeDocument/2006/relationships/notesMaster" Target="/ppt/notesMasters/notesMaster1.xml" Id="Ra8be427b7d4d4e9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9b05ab30e694e15" /><Relationship Type="http://schemas.openxmlformats.org/officeDocument/2006/relationships/notesMaster" Target="/ppt/notesMasters/notesMaster1.xml" Id="Rad3d5f5520b34f6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10246062f184587" /><Relationship Type="http://schemas.openxmlformats.org/officeDocument/2006/relationships/notesMaster" Target="/ppt/notesMasters/notesMaster1.xml" Id="R93cdfbbec500482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559e4b3cec54444" /><Relationship Type="http://schemas.openxmlformats.org/officeDocument/2006/relationships/notesMaster" Target="/ppt/notesMasters/notesMaster1.xml" Id="Rcaae9176c3a740b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6bdca48ed2b46e6" /><Relationship Type="http://schemas.openxmlformats.org/officeDocument/2006/relationships/notesMaster" Target="/ppt/notesMasters/notesMaster1.xml" Id="Rd67941dafb544df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42e53f2dbae4ab3" /><Relationship Type="http://schemas.openxmlformats.org/officeDocument/2006/relationships/notesMaster" Target="/ppt/notesMasters/notesMaster1.xml" Id="R012dc701af124a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new research volume preserves the weaker but coherent momentum/continuation line separately from the rebound proto-strategy. It summarizes only already-computed 2018-2023 evidence.</a:t>
            </a:r>
          </a:p>
          <a:p xmlns:a="http://schemas.openxmlformats.org/drawingml/2006/main">
            <a:r>
              <a:t/>
            </a:r>
          </a:p>
          <a:p xmlns:a="http://schemas.openxmlformats.org/drawingml/2006/main">
            <a:r>
              <a:t>[Sources]</a:t>
            </a:r>
          </a:p>
          <a:p xmlns:a="http://schemas.openxmlformats.org/drawingml/2006/main">
            <a:r>
              <a:t>- operator_hypothesis_lab/docs/TSLA_CUMULATIVE_RETURN_HORIZON_GRID_2018_2023.md</a:t>
            </a:r>
          </a:p>
          <a:p xmlns:a="http://schemas.openxmlformats.org/drawingml/2006/main">
            <a:r>
              <a:t>- operator_hypothesis_lab/docs/OWN_ASSET_RETURN_GEOMETRY_ATLAS_2018_2023.md</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line has enough structure to deserve a name and a separate research volume. It has not earned expectancy, a representative cell, a next-open rule, or an OOS query.</a:t>
            </a:r>
          </a:p>
          <a:p xmlns:a="http://schemas.openxmlformats.org/drawingml/2006/main">
            <a:r>
              <a:t/>
            </a:r>
          </a:p>
          <a:p xmlns:a="http://schemas.openxmlformats.org/drawingml/2006/main">
            <a:r>
              <a:t>[Sources]</a:t>
            </a:r>
          </a:p>
          <a:p xmlns:a="http://schemas.openxmlformats.org/drawingml/2006/main">
            <a:r>
              <a:t>- operator_hypothesis_lab/registries/proto_strategy_ledger.xlsx</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TSLA cell is about +0.092 near the 5-to-10-session ridge, but the maximum explains less than one percent of variance and no signed-return or direction cell survives the complete 81-cell scan.</a:t>
            </a:r>
          </a:p>
          <a:p xmlns:a="http://schemas.openxmlformats.org/drawingml/2006/main">
            <a:r>
              <a:t/>
            </a:r>
          </a:p>
          <a:p xmlns:a="http://schemas.openxmlformats.org/drawingml/2006/main">
            <a:r>
              <a:t>[Sources]</a:t>
            </a:r>
          </a:p>
          <a:p xmlns:a="http://schemas.openxmlformats.org/drawingml/2006/main">
            <a:r>
              <a:t>- operator_hypothesis_lab/docs/TSLA_CUMULATIVE_RETURN_HORIZON_GRID_2018_2023.md</a:t>
            </a:r>
          </a:p>
          <a:p xmlns:a="http://schemas.openxmlformats.org/drawingml/2006/main">
            <a:r>
              <a:t>- runs/research_workbench/operator_hypothesis_lab/tsla_cumulative_return_horizon_grid_20260825/visuals/tsla_cumulative_return_pearson_heatmap.png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81 medium-ATR cells are positive. Three medium-state cells survive the stricter 486-test BH family, while the high-ATR surface is predominantly negative. This is a state discriminator, not a trading permission rule.</a:t>
            </a:r>
          </a:p>
          <a:p xmlns:a="http://schemas.openxmlformats.org/drawingml/2006/main">
            <a:r>
              <a:t/>
            </a:r>
          </a:p>
          <a:p xmlns:a="http://schemas.openxmlformats.org/drawingml/2006/main">
            <a:r>
              <a:t>[Sources]</a:t>
            </a:r>
          </a:p>
          <a:p xmlns:a="http://schemas.openxmlformats.org/drawingml/2006/main">
            <a:r>
              <a:t>- operator_hypothesis_lab/docs/TSLA_ATRP_CONDITIONED_RETURN_HORIZON_GRID_2018_2023.md</a:t>
            </a:r>
          </a:p>
          <a:p xmlns:a="http://schemas.openxmlformats.org/drawingml/2006/main">
            <a:r>
              <a:t>- runs/research_workbench/operator_hypothesis_lab/tsla_atrp_conditioned_return_horizon_grid_20260825/visuals/tsla_atrp_medium_pearson_heatmap.png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Prior-return sign and within-branch slope define the behavior. This prevents us from treating every interesting state as a new strategy: continuation and exhaustion are opposite shapes within the same positive-prior branch.</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runs/research_workbench/operator_hypothesis_lab/return_geometry_behavior_catalog_20260826/visuals/behavior_archetype_grammar.png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the post-hoc display vocabulary, gain continuation appears in 39 of 81 path-sideways cells and 17 of 81 low-ATR cells, but in zero of 81 path-trending cells. Trending and signed-up states instead favor gain exhaustion.</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runs/research_workbench/operator_hypothesis_lab/return_geometry_behavior_catalog_20260826/visuals/behavior_state_catalog.png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Across the full 15-by-15 atlas, ER20-sideways gain cells have median correlation +0.027 and positive sign in 81.8 percent of cells. ER20-trending cells have median -0.028 and positive sign in only 27.6 percent. The separation is broad but small.</a:t>
            </a:r>
          </a:p>
          <a:p xmlns:a="http://schemas.openxmlformats.org/drawingml/2006/main">
            <a:r>
              <a:t/>
            </a:r>
          </a:p>
          <a:p xmlns:a="http://schemas.openxmlformats.org/drawingml/2006/main">
            <a:r>
              <a:t>[Sources]</a:t>
            </a:r>
          </a:p>
          <a:p xmlns:a="http://schemas.openxmlformats.org/drawingml/2006/main">
            <a:r>
              <a:t>- operator_hypothesis_lab/docs/RETURN_GEOMETRY_WIDE_ATLAS_2018_2023.md</a:t>
            </a:r>
          </a:p>
          <a:p xmlns:a="http://schemas.openxmlformats.org/drawingml/2006/main">
            <a:r>
              <a:t>- runs/research_workbench/operator_hypothesis_lab/return_geometry_wide_atlas_full_vocabulary_20260827/visuals/all_states_equal_sector_gain_diagonal.png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real research milestone: the continuation line is no longer a vague intuition. It is a broad but small conditional shape. The evidence boundary remains important because the same research history discovered and summarized it.</a:t>
            </a:r>
          </a:p>
          <a:p xmlns:a="http://schemas.openxmlformats.org/drawingml/2006/main">
            <a:r>
              <a:t/>
            </a:r>
          </a:p>
          <a:p xmlns:a="http://schemas.openxmlformats.org/drawingml/2006/main">
            <a:r>
              <a:t>[Sources]</a:t>
            </a:r>
          </a:p>
          <a:p xmlns:a="http://schemas.openxmlformats.org/drawingml/2006/main">
            <a:r>
              <a:t>- operator_hypothesis_lab/docs/TSLA_CUMULATIVE_RETURN_HORIZON_GRID_2018_2023.md</a:t>
            </a:r>
          </a:p>
          <a:p xmlns:a="http://schemas.openxmlformats.org/drawingml/2006/main">
            <a:r>
              <a:t>- operator_hypothesis_lab/docs/OWN_ASSET_RETURN_GEOMETRY_ATLAS_2018_2023.md</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discussion should select the economic claim before its test. A reasonable default is the direct contrast: after a positive prior return, continuation should be stronger in ER20-sideways than ER20-trending. The horizon and failure rule must then be frozen without scanning the inspected grid again. The planned 30-minute lane remains unopened until sessions, overnight returns, and daily-filter timing are specified.</a:t>
            </a:r>
          </a:p>
          <a:p xmlns:a="http://schemas.openxmlformats.org/drawingml/2006/main">
            <a:r>
              <a:t/>
            </a:r>
          </a:p>
          <a:p xmlns:a="http://schemas.openxmlformats.org/drawingml/2006/main">
            <a:r>
              <a:t>[Sources]</a:t>
            </a:r>
          </a:p>
          <a:p xmlns:a="http://schemas.openxmlformats.org/drawingml/2006/main">
            <a:r>
              <a:t>- operator_hypothesis_lab/docs/RETURN_GEOMETRY_DAILY_CONTINUATION_MICROSCOPE_2018_2023.md</a:t>
            </a:r>
          </a:p>
          <a:p xmlns:a="http://schemas.openxmlformats.org/drawingml/2006/main">
            <a:r>
              <a:t>- operator_hypothesis_lab/registries/proto_strategy_ledger.xlsx</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operator selected the direct ER20-sideways versus ER20-trending comparison for fuller context. This section re-expresses the already-computed 2018-2023 atlas; it does not recompute returns, select a horizon, or test a trading rule.</a:t>
            </a:r>
          </a:p>
          <a:p xmlns:a="http://schemas.openxmlformats.org/drawingml/2006/main">
            <a:r>
              <a:t/>
            </a:r>
          </a:p>
          <a:p xmlns:a="http://schemas.openxmlformats.org/drawingml/2006/main">
            <a:r>
              <a:t>[Sources]</a:t>
            </a:r>
          </a:p>
          <a:p xmlns:a="http://schemas.openxmlformats.org/drawingml/2006/main">
            <a:r>
              <a:t>- operator_hypothesis_lab/docs/RETURN_GEOMETRY_DAILY_CONTINUATION_MICROSCOPE_2018_2023.md</a:t>
            </a:r>
          </a:p>
          <a:p xmlns:a="http://schemas.openxmlformats.org/drawingml/2006/main">
            <a:r>
              <a:t>- runs/research_workbench/operator_hypothesis_lab/return_geometry_continuation_state_contrast_20260828/run_spec.csv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Across all 225 cells, the median equal-sector positive-prior correlation is +0.027 in ER20-sideways and -0.028 in ER20-trending. Both use the identical asset core, horizon vocabulary, and causal state timing.</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runs/research_workbench/operator_hypothesis_lab/return_geometry_continuation_state_contrast_20260828/contrast_summary.csv</a:t>
            </a:r>
          </a:p>
          <a:p xmlns:a="http://schemas.openxmlformats.org/drawingml/2006/main">
            <a:r>
              <a:t>- runs/research_workbench/operator_hypothesis_lab/return_geometry_continuation_state_contrast_20260828/visuals/sideways_vs_trending_positive_branch_heatmaps.png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asset is paired inside the same prior/following horizon cell before sector aggregation. The all-surface median paired contrast is +0.048, and 209 of 225 cells are positive. The contrast is a difference in correlations, not a return or spread trade.</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runs/research_workbench/operator_hypothesis_lab/return_geometry_continuation_state_contrast_20260828/equal_sector_paired_cell_summary.csv</a:t>
            </a:r>
          </a:p>
          <a:p xmlns:a="http://schemas.openxmlformats.org/drawingml/2006/main">
            <a:r>
              <a:t>- runs/research_workbench/operator_hypothesis_lab/return_geometry_continuation_state_contrast_20260828/visuals/sideways_minus_trending_paired_heatmap.png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core sector has a positive median paired contrast across its 225-cell surface. The median contrast ranges from about +0.020 in Utilities to +0.077 in Health Care. Positive-cell breadth ranges from 62.2 to 85.8 percent, so the shape is broad but not uniform.</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runs/research_workbench/operator_hypothesis_lab/return_geometry_continuation_state_contrast_20260828/sector_surface_summary.csv</a:t>
            </a:r>
          </a:p>
          <a:p xmlns:a="http://schemas.openxmlformats.org/drawingml/2006/main">
            <a:r>
              <a:t>- runs/research_workbench/operator_hypothesis_lab/return_geometry_continuation_state_contrast_20260828/visuals/sideways_advantage_by_sector.png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diagonal is mostly positive but not monotone. The paired contrast is negative at 1-to-1 and 100-to-100, while its largest equal-horizon value occurs at 10-to-10. Across the full grid, 16 cells do not favor sideways; exceptions cluster at micro horizons and several 20-prior / long-forward combinations. These are context, not permission to choose 10-to-10.</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runs/research_workbench/operator_hypothesis_lab/return_geometry_continuation_state_contrast_20260828/equal_sector_paired_diagonal.csv</a:t>
            </a:r>
          </a:p>
          <a:p xmlns:a="http://schemas.openxmlformats.org/drawingml/2006/main">
            <a:r>
              <a:t>- runs/research_workbench/operator_hypothesis_lab/return_geometry_continuation_state_contrast_20260828/visuals/sideways_vs_trending_diagonal.png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approved comparison strengthened the behavioral description: sideways and trending are not merely different-looking heatmaps; their paired difference is positive across most cells and every sector's median surface. The magnitude remains small and the same research history discovered the contrast, so the lane stops before horizon choice or trading translation.</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runs/research_workbench/operator_hypothesis_lab/return_geometry_continuation_state_contrast_20260828/report.md</a:t>
            </a:r>
          </a:p>
          <a:p xmlns:a="http://schemas.openxmlformats.org/drawingml/2006/main">
            <a:r>
              <a:t>- runs/research_workbench/operator_hypothesis_lab/return_geometry_continuation_state_contrast_20260828/contrast_summary.csv</a:t>
            </a:r>
          </a:p>
          <a:p xmlns:a="http://schemas.openxmlformats.org/drawingml/2006/main">
            <a:r>
              <a:t>- operator_hypothesis_lab/docs/RETURN_GEOMETRY_DAILY_CONTINUATION_MICROSCOPE_2018_2023.md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2f30d4924d461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2690d238b244b7e" /><Relationship Type="http://schemas.openxmlformats.org/officeDocument/2006/relationships/slideLayout" Target="/ppt/slideLayouts/slideLayout1.xml" Id="R646df8c041414f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46df8c041414f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61f9c9ed6244739" /><Relationship Type="http://schemas.openxmlformats.org/officeDocument/2006/relationships/notesSlide" Target="/ppt/notesSlides/notesSlide1.xml" Id="Rc4c67c29deae4f2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386bec05c7a4fe9" /><Relationship Type="http://schemas.openxmlformats.org/officeDocument/2006/relationships/notesSlide" Target="/ppt/notesSlides/notesSlide2.xml" Id="R6b424e22ccb543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d5970707c5046e1" /><Relationship Type="http://schemas.openxmlformats.org/officeDocument/2006/relationships/image" Target="/ppt/media/image.png" Id="R59d79921c91f4537" /><Relationship Type="http://schemas.openxmlformats.org/officeDocument/2006/relationships/notesSlide" Target="/ppt/notesSlides/notesSlide3.xml" Id="Raf426ed4f09f411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e4c3f610d94411a" /><Relationship Type="http://schemas.openxmlformats.org/officeDocument/2006/relationships/image" Target="/ppt/media/image2.png" Id="R662083d1f331452a" /><Relationship Type="http://schemas.openxmlformats.org/officeDocument/2006/relationships/notesSlide" Target="/ppt/notesSlides/notesSlide4.xml" Id="R7144f00a3f48456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4b8819ecb934341" /><Relationship Type="http://schemas.openxmlformats.org/officeDocument/2006/relationships/image" Target="/ppt/media/image3.png" Id="R34f12cb8d38c4bb2" /><Relationship Type="http://schemas.openxmlformats.org/officeDocument/2006/relationships/notesSlide" Target="/ppt/notesSlides/notesSlide5.xml" Id="R2c146e06ecd642b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56cc8324d9e442c" /><Relationship Type="http://schemas.openxmlformats.org/officeDocument/2006/relationships/image" Target="/ppt/media/image4.png" Id="R3bfd2aef541446b8" /><Relationship Type="http://schemas.openxmlformats.org/officeDocument/2006/relationships/notesSlide" Target="/ppt/notesSlides/notesSlide6.xml" Id="R2f9461869e50427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f071cb26b824e83" /><Relationship Type="http://schemas.openxmlformats.org/officeDocument/2006/relationships/image" Target="/ppt/media/image5.png" Id="Rdf95817faae04f76" /><Relationship Type="http://schemas.openxmlformats.org/officeDocument/2006/relationships/notesSlide" Target="/ppt/notesSlides/notesSlide7.xml" Id="R43a515abeb664a3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4d3e02535434577" /><Relationship Type="http://schemas.openxmlformats.org/officeDocument/2006/relationships/notesSlide" Target="/ppt/notesSlides/notesSlide8.xml" Id="R7c4fcff53aba4ee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fcfa296a29b40dd" /><Relationship Type="http://schemas.openxmlformats.org/officeDocument/2006/relationships/notesSlide" Target="/ppt/notesSlides/notesSlide9.xml" Id="Rd4adbcc7355f40b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9f9b9bd5b194097" /><Relationship Type="http://schemas.openxmlformats.org/officeDocument/2006/relationships/notesSlide" Target="/ppt/notesSlides/notesSlide10.xml" Id="Rcc49bdf756af432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6e90eda41454b26" /><Relationship Type="http://schemas.openxmlformats.org/officeDocument/2006/relationships/image" Target="/ppt/media/image6.png" Id="R00d18af808c14119" /><Relationship Type="http://schemas.openxmlformats.org/officeDocument/2006/relationships/notesSlide" Target="/ppt/notesSlides/notesSlide11.xml" Id="Raad29cbe35a0486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abbff467a7c4fba" /><Relationship Type="http://schemas.openxmlformats.org/officeDocument/2006/relationships/image" Target="/ppt/media/image7.png" Id="R5b993ed231214726" /><Relationship Type="http://schemas.openxmlformats.org/officeDocument/2006/relationships/notesSlide" Target="/ppt/notesSlides/notesSlide12.xml" Id="R4f61d1a3f8a7412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84ca428b46b415e" /><Relationship Type="http://schemas.openxmlformats.org/officeDocument/2006/relationships/image" Target="/ppt/media/image8.png" Id="R49713716ac59446d" /><Relationship Type="http://schemas.openxmlformats.org/officeDocument/2006/relationships/notesSlide" Target="/ppt/notesSlides/notesSlide13.xml" Id="Ra45b6427284e4f0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d1f6cffba3c41ff" /><Relationship Type="http://schemas.openxmlformats.org/officeDocument/2006/relationships/image" Target="/ppt/media/image9.png" Id="Rcbdfc70cd8724c43" /><Relationship Type="http://schemas.openxmlformats.org/officeDocument/2006/relationships/notesSlide" Target="/ppt/notesSlides/notesSlide14.xml" Id="R77f0a42372534e1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b355237d93e4134" /><Relationship Type="http://schemas.openxmlformats.org/officeDocument/2006/relationships/notesSlide" Target="/ppt/notesSlides/notesSlide15.xml" Id="Rfe45a7aa828d41a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12B881-2D87-4470-A9E2-CA40D710634E}"/>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DAILY CONTINUATION</a:t>
            </a:r>
          </a:p>
        </p:txBody>
      </p:sp>
      <p:sp>
        <p:nvSpPr>
          <p:cNvPr id="2" name="">
            <a:extLst xmlns:a="http://schemas.openxmlformats.org/drawingml/2006/main">
              <a:ext uri="{FF2B5EF4-FFF2-40B4-BE49-F238E27FC236}">
                <a16:creationId xmlns:a16="http://schemas.microsoft.com/office/drawing/2014/main" id="{0BB2094F-C042-49AB-BE8C-0ECFD22457DD}"/>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350" b="1">
                <a:solidFill>
                  <a:srgbClr val="111827"/>
                </a:solidFill>
              </a:defRPr>
            </a:pPr>
            <a:r>
              <a:rPr sz="4350" b="1">
                <a:solidFill>
                  <a:srgbClr val="111827"/>
                </a:solidFill>
              </a:rPr>
              <a:t>From return geometry to a continuation hypothesis</a:t>
            </a:r>
          </a:p>
        </p:txBody>
      </p:sp>
      <p:sp>
        <p:nvSpPr>
          <p:cNvPr id="3" name="">
            <a:extLst xmlns:a="http://schemas.openxmlformats.org/drawingml/2006/main">
              <a:ext uri="{FF2B5EF4-FFF2-40B4-BE49-F238E27FC236}">
                <a16:creationId xmlns:a16="http://schemas.microsoft.com/office/drawing/2014/main" id="{D8394FB8-5765-4318-8A56-6DACECFE912E}"/>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4" name="">
            <a:extLst xmlns:a="http://schemas.openxmlformats.org/drawingml/2006/main">
              <a:ext uri="{FF2B5EF4-FFF2-40B4-BE49-F238E27FC236}">
                <a16:creationId xmlns:a16="http://schemas.microsoft.com/office/drawing/2014/main" id="{67E3D676-3E4E-40CF-9FFA-FDD3E7F4C6B2}"/>
              </a:ext>
            </a:extLst>
          </p:cNvPr>
          <p:cNvSpPr>
            <a:spLocks xmlns:a="http://schemas.openxmlformats.org/drawingml/2006/main" noGrp="1"/>
          </p:cNvSpPr>
          <p:nvPr/>
        </p:nvSpPr>
        <p:spPr>
          <a:xfrm xmlns:a="http://schemas.openxmlformats.org/drawingml/2006/main">
            <a:off x="457200" y="41719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0">
                <a:solidFill>
                  <a:srgbClr val="667384"/>
                </a:solidFill>
              </a:defRPr>
            </a:pPr>
            <a:r>
              <a:rPr sz="2025" b="0">
                <a:solidFill>
                  <a:srgbClr val="667384"/>
                </a:solidFill>
              </a:rPr>
              <a:t>A descriptive microscope before a trading rule</a:t>
            </a:r>
          </a:p>
        </p:txBody>
      </p:sp>
      <p:sp>
        <p:nvSpPr>
          <p:cNvPr id="5" name="">
            <a:extLst xmlns:a="http://schemas.openxmlformats.org/drawingml/2006/main">
              <a:ext uri="{FF2B5EF4-FFF2-40B4-BE49-F238E27FC236}">
                <a16:creationId xmlns:a16="http://schemas.microsoft.com/office/drawing/2014/main" id="{AF79BB13-9AEC-4C77-9A8C-3203F83002E1}"/>
              </a:ext>
            </a:extLst>
          </p:cNvPr>
          <p:cNvSpPr>
            <a:spLocks xmlns:a="http://schemas.openxmlformats.org/drawingml/2006/main" noGrp="1"/>
          </p:cNvSpPr>
          <p:nvPr/>
        </p:nvSpPr>
        <p:spPr>
          <a:xfrm xmlns:a="http://schemas.openxmlformats.org/drawingml/2006/main">
            <a:off x="457200" y="54292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TSLA origin • 30-asset catalog • 129-instrument transport • post-2023 sealed</a:t>
            </a:r>
          </a:p>
        </p:txBody>
      </p:sp>
      <p:sp>
        <p:nvSpPr>
          <p:cNvPr id="6" name="">
            <a:extLst xmlns:a="http://schemas.openxmlformats.org/drawingml/2006/main">
              <a:ext uri="{FF2B5EF4-FFF2-40B4-BE49-F238E27FC236}">
                <a16:creationId xmlns:a16="http://schemas.microsoft.com/office/drawing/2014/main" id="{AD589277-BA8D-465E-8FE0-58FC0F7326BE}"/>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a:t>
            </a:r>
          </a:p>
        </p:txBody>
      </p:sp>
    </p:spTree>
    <p:extLst>
      <p:ext uri="{BB962C8B-B14F-4D97-AF65-F5344CB8AC3E}">
        <p14:creationId xmlns:p14="http://schemas.microsoft.com/office/powerpoint/2010/main" val="169716707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EVIDENCE BOUNDARY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Continuation is a behavioral lead—not a strategy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daily continuation microscope | 2026-08-28</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OBSERVED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144"/>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Positive-prior dependence changes with state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sideways / low-vol differ from trending</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CONTRAST</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521"/>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Efficient trending paths lean toward exhaustion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method, opposite slope sign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chosen horizon or executable rule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next-open, baseline, and fresh data unresolved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Registry status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BEHAV-MOM-01 is worth preserving and discussing. Its current status is DESCRIPTIVE_BEHAVIORAL_LEAD.</a:t>
            </a:r>
          </a:p>
        </p:txBody>
      </p:sp>
    </p:spTree>
    <p:extLst>
      <p:ext uri="{BB962C8B-B14F-4D97-AF65-F5344CB8AC3E}">
        <p14:creationId xmlns:p14="http://schemas.microsoft.com/office/powerpoint/2010/main" val="66653628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ORIGIN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weak 5–10-session continuation ridge appears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TSLA | cumulative close-to-close log returns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59d79921c91f4537"/>
          <a:stretch xmlns:a="http://schemas.openxmlformats.org/drawingml/2006/main"/>
        </p:blipFill>
        <p:spPr>
          <a:xfrm xmlns:a="http://schemas.openxmlformats.org/drawingml/2006/main">
            <a:off x="2885498" y="1335087"/>
            <a:ext cx="6421005"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VOLATILITY STATE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Medium ATR sharpens TSLA's continuation surface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TSLA | accepted causal ATR% state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662083d1f331452a"/>
          <a:stretch xmlns:a="http://schemas.openxmlformats.org/drawingml/2006/main"/>
        </p:blipFill>
        <p:spPr>
          <a:xfrm xmlns:a="http://schemas.openxmlformats.org/drawingml/2006/main">
            <a:off x="2463546" y="1335087"/>
            <a:ext cx="7264908"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METHOD GRAMMAR</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Continuation sits inside a four-behavior grammar</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positive and negative prior branches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34f12cb8d38c4bb2"/>
          <a:stretch xmlns:a="http://schemas.openxmlformats.org/drawingml/2006/main"/>
        </p:blipFill>
        <p:spPr>
          <a:xfrm xmlns:a="http://schemas.openxmlformats.org/drawingml/2006/main">
            <a:off x="1771650" y="1425178"/>
            <a:ext cx="8648700" cy="4864894"/>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30-ASSET CATALOG</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13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Sideways paths carry the largest continuation cluster</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fixed 9 x 9 microscope | equal-asset support</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3bfd2aef541446b8"/>
          <a:stretch xmlns:a="http://schemas.openxmlformats.org/drawingml/2006/main"/>
        </p:blipFill>
        <p:spPr>
          <a:xfrm xmlns:a="http://schemas.openxmlformats.org/drawingml/2006/main">
            <a:off x="1771650" y="1425178"/>
            <a:ext cx="8648700" cy="4864894"/>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129-INSTRUMENT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Breadth preserves a small state contrast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129 instruments | equal-sector gain branch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df95817faae04f76"/>
          <a:stretch xmlns:a="http://schemas.openxmlformats.org/drawingml/2006/main"/>
        </p:blipFill>
        <p:spPr>
          <a:xfrm xmlns:a="http://schemas.openxmlformats.org/drawingml/2006/main">
            <a:off x="2082872" y="1335087"/>
            <a:ext cx="8026256"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EVIDENCE SYNTHESIS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coherent discriminator is still not a trading rule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continuation evidence status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TSLA</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Weak 5–10-session ridge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 81 aggregate cells survive BH</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30 ASSETS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Sideways continuation cluster</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39 / 81 versus 0 / 81 trending</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129 INSTRUMENTS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 state-sign contrast</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+0.027 sideways vs −0.028 trending median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STATUS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Preserve BEHAV-MOM-01 as a behavioral lead. Do not select a cell or open post-2023 data before a narrative-first rule is frozen.</a:t>
            </a:r>
          </a:p>
        </p:txBody>
      </p:sp>
    </p:spTree>
    <p:extLst>
      <p:ext uri="{BB962C8B-B14F-4D97-AF65-F5344CB8AC3E}">
        <p14:creationId xmlns:p14="http://schemas.microsoft.com/office/powerpoint/2010/main" val="66653628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NEXT FROZEN GATE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752"/>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next move is a narrative choice—not more feature mining</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continuation research roadmap</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BEHAVIOR</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17"/>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Name the state-dependent continuation lead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complete for 2018–2023</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CANDIDATE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42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Choose one representative contrast before calculating</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one state, one horizon, one baseline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EDGE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Require next-open value on fresh data</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later—not yet earned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Recommended huddle</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Decide whether to freeze sideways continuation alone or the direct sideways-versus-trending contrast. Keep the 30-minute lane design-only until its clock contract is explicit.</a:t>
            </a:r>
          </a:p>
        </p:txBody>
      </p:sp>
    </p:spTree>
    <p:extLst>
      <p:ext uri="{BB962C8B-B14F-4D97-AF65-F5344CB8AC3E}">
        <p14:creationId xmlns:p14="http://schemas.microsoft.com/office/powerpoint/2010/main" val="6665362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12B881-2D87-4470-A9E2-CA40D710634E}"/>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STATE CONTRAST</a:t>
            </a:r>
          </a:p>
        </p:txBody>
      </p:sp>
      <p:sp>
        <p:nvSpPr>
          <p:cNvPr id="2" name="">
            <a:extLst xmlns:a="http://schemas.openxmlformats.org/drawingml/2006/main">
              <a:ext uri="{FF2B5EF4-FFF2-40B4-BE49-F238E27FC236}">
                <a16:creationId xmlns:a16="http://schemas.microsoft.com/office/drawing/2014/main" id="{0BB2094F-C042-49AB-BE8C-0ECFD22457DD}"/>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350" b="1">
                <a:solidFill>
                  <a:srgbClr val="111827"/>
                </a:solidFill>
              </a:defRPr>
            </a:pPr>
            <a:r>
              <a:rPr sz="4350" b="1">
                <a:solidFill>
                  <a:srgbClr val="111827"/>
                </a:solidFill>
              </a:rPr>
              <a:t>Sideways versus trending: the approved comparison</a:t>
            </a:r>
          </a:p>
        </p:txBody>
      </p:sp>
      <p:sp>
        <p:nvSpPr>
          <p:cNvPr id="3" name="">
            <a:extLst xmlns:a="http://schemas.openxmlformats.org/drawingml/2006/main">
              <a:ext uri="{FF2B5EF4-FFF2-40B4-BE49-F238E27FC236}">
                <a16:creationId xmlns:a16="http://schemas.microsoft.com/office/drawing/2014/main" id="{D8394FB8-5765-4318-8A56-6DACECFE912E}"/>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4" name="">
            <a:extLst xmlns:a="http://schemas.openxmlformats.org/drawingml/2006/main">
              <a:ext uri="{FF2B5EF4-FFF2-40B4-BE49-F238E27FC236}">
                <a16:creationId xmlns:a16="http://schemas.microsoft.com/office/drawing/2014/main" id="{67E3D676-3E4E-40CF-9FFA-FDD3E7F4C6B2}"/>
              </a:ext>
            </a:extLst>
          </p:cNvPr>
          <p:cNvSpPr>
            <a:spLocks xmlns:a="http://schemas.openxmlformats.org/drawingml/2006/main" noGrp="1"/>
          </p:cNvSpPr>
          <p:nvPr/>
        </p:nvSpPr>
        <p:spPr>
          <a:xfrm xmlns:a="http://schemas.openxmlformats.org/drawingml/2006/main">
            <a:off x="457200" y="41719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0">
                <a:solidFill>
                  <a:srgbClr val="667384"/>
                </a:solidFill>
              </a:defRPr>
            </a:pPr>
            <a:r>
              <a:rPr sz="2025" b="0">
                <a:solidFill>
                  <a:srgbClr val="667384"/>
                </a:solidFill>
              </a:rPr>
              <a:t>A paired descriptive contrast—not a strategy test</a:t>
            </a:r>
          </a:p>
        </p:txBody>
      </p:sp>
      <p:sp>
        <p:nvSpPr>
          <p:cNvPr id="5" name="">
            <a:extLst xmlns:a="http://schemas.openxmlformats.org/drawingml/2006/main">
              <a:ext uri="{FF2B5EF4-FFF2-40B4-BE49-F238E27FC236}">
                <a16:creationId xmlns:a16="http://schemas.microsoft.com/office/drawing/2014/main" id="{AF79BB13-9AEC-4C77-9A8C-3203F83002E1}"/>
              </a:ext>
            </a:extLst>
          </p:cNvPr>
          <p:cNvSpPr>
            <a:spLocks xmlns:a="http://schemas.openxmlformats.org/drawingml/2006/main" noGrp="1"/>
          </p:cNvSpPr>
          <p:nvPr/>
        </p:nvSpPr>
        <p:spPr>
          <a:xfrm xmlns:a="http://schemas.openxmlformats.org/drawingml/2006/main">
            <a:off x="457200" y="54292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Positive-prior branch • 15 × 15 horizons • 88-stock equal-sector core • post-2023 sealed</a:t>
            </a:r>
          </a:p>
        </p:txBody>
      </p:sp>
      <p:sp>
        <p:nvSpPr>
          <p:cNvPr id="6" name="">
            <a:extLst xmlns:a="http://schemas.openxmlformats.org/drawingml/2006/main">
              <a:ext uri="{FF2B5EF4-FFF2-40B4-BE49-F238E27FC236}">
                <a16:creationId xmlns:a16="http://schemas.microsoft.com/office/drawing/2014/main" id="{AD589277-BA8D-465E-8FE0-58FC0F7326BE}"/>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10</a:t>
            </a:r>
          </a:p>
        </p:txBody>
      </p:sp>
    </p:spTree>
    <p:extLst>
      <p:ext uri="{BB962C8B-B14F-4D97-AF65-F5344CB8AC3E}">
        <p14:creationId xmlns:p14="http://schemas.microsoft.com/office/powerpoint/2010/main" val="16971670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STATE SURFACES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75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Sideways looks continuation-shaped; trending often does not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88-stock core | paired positive-prior branch | equal-sector medians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00d18af808c14119"/>
          <a:stretch xmlns:a="http://schemas.openxmlformats.org/drawingml/2006/main"/>
        </p:blipFill>
        <p:spPr>
          <a:xfrm xmlns:a="http://schemas.openxmlformats.org/drawingml/2006/main">
            <a:off x="2885498" y="2240483"/>
            <a:ext cx="6421005" cy="3234284"/>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PAIRED CONTRAST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Sideways wins 92.9% of paired horizon cells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Sideways r minus trending r | paired within asset and horizon cell</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5b993ed231214726"/>
          <a:stretch xmlns:a="http://schemas.openxmlformats.org/drawingml/2006/main"/>
        </p:blipFill>
        <p:spPr>
          <a:xfrm xmlns:a="http://schemas.openxmlformats.org/drawingml/2006/main">
            <a:off x="2885498" y="1421672"/>
            <a:ext cx="6421005" cy="487190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SECTOR CONTEXT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All 11 sectors favor sideways on their median cell</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Frozen current GICS labels | eight stocks per sector | 225 cells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49713716ac59446d"/>
          <a:stretch xmlns:a="http://schemas.openxmlformats.org/drawingml/2006/main"/>
        </p:blipFill>
        <p:spPr>
          <a:xfrm xmlns:a="http://schemas.openxmlformats.org/drawingml/2006/main">
            <a:off x="2885498" y="1847571"/>
            <a:ext cx="6421005" cy="4020107"/>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EXCEPTIONS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contrast has clear exceptions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Equal-horizon diagonal | context for non-uniformity | no cell selection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bdfc70cd8724c43"/>
          <a:stretch xmlns:a="http://schemas.openxmlformats.org/drawingml/2006/main"/>
        </p:blipFill>
        <p:spPr>
          <a:xfrm xmlns:a="http://schemas.openxmlformats.org/drawingml/2006/main">
            <a:off x="2885498" y="2042993"/>
            <a:ext cx="6421005" cy="3629264"/>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CONTRAST READOUT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discriminator is broad but still descriptive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ER20 state contrast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SURFACE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Paired median contrast</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+0.048; 92.9% of cells positive</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BREADTH</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sector medians favor sideways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62.2%–85.8% positive-cell breadth</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LIMITS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Sixteen cells break the pattern</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Micro, prior-20/long-forward, 100→100</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STATUS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BEHAV-MOM-01 remains a behavioral lead. Do not select a horizon or open a next-open rule, baseline, or post-2023 confirmation yet.</a:t>
            </a:r>
          </a:p>
        </p:txBody>
      </p:sp>
    </p:spTree>
    <p:extLst>
      <p:ext uri="{BB962C8B-B14F-4D97-AF65-F5344CB8AC3E}">
        <p14:creationId xmlns:p14="http://schemas.microsoft.com/office/powerpoint/2010/main" val="66653628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2026-08-29T05:43:53.6330000Z</dcterms:created>
  <dcterms:modified xsi:type="dcterms:W3CDTF">2026-08-29T05:43:53.6330000Z</dcterms:modified>
</coreProperties>
</file>