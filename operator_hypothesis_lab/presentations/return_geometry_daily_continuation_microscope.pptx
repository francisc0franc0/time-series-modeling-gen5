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e24be9ed444af5" /><Relationship Type="http://schemas.openxmlformats.org/officeDocument/2006/relationships/extended-properties" Target="/docProps/app.xml" Id="Re4153277dee1483a" /><Relationship Type="http://schemas.openxmlformats.org/officeDocument/2006/relationships/officeDocument" Target="/ppt/presentation.xml" Id="R47bb514c37b348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ba2aee34114d29"/>
  </p:sldMasterIdLst>
  <p:notesMasterIdLst>
    <p:notesMasterId xmlns:r="http://schemas.openxmlformats.org/officeDocument/2006/relationships" r:id="R35f75271a3e64ee4"/>
  </p:notesMasterIdLst>
  <p:sldIdLst>
    <p:sldId xmlns:r="http://schemas.openxmlformats.org/officeDocument/2006/relationships" id="256" r:id="Raca35ff9f72d4275"/>
    <p:sldId xmlns:r="http://schemas.openxmlformats.org/officeDocument/2006/relationships" id="257" r:id="R926c09c35045415e"/>
    <p:sldId xmlns:r="http://schemas.openxmlformats.org/officeDocument/2006/relationships" id="258" r:id="R7d4f5ce121bf41f1"/>
    <p:sldId xmlns:r="http://schemas.openxmlformats.org/officeDocument/2006/relationships" id="259" r:id="R3c625c8a9a44408f"/>
    <p:sldId xmlns:r="http://schemas.openxmlformats.org/officeDocument/2006/relationships" id="260" r:id="R5c25987723914910"/>
    <p:sldId xmlns:r="http://schemas.openxmlformats.org/officeDocument/2006/relationships" id="261" r:id="R942749c4226e471d"/>
    <p:sldId xmlns:r="http://schemas.openxmlformats.org/officeDocument/2006/relationships" id="262" r:id="Rbbbd283063e846b5"/>
    <p:sldId xmlns:r="http://schemas.openxmlformats.org/officeDocument/2006/relationships" id="263" r:id="Rc870a23bc6844430"/>
    <p:sldId xmlns:r="http://schemas.openxmlformats.org/officeDocument/2006/relationships" id="264" r:id="R0b59ef5af3a646f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cf200e29a09486b" /><Relationship Type="http://schemas.openxmlformats.org/officeDocument/2006/relationships/slideMaster" Target="/ppt/slideMasters/slideMaster1.xml" Id="Rcbba2aee34114d29" /><Relationship Type="http://schemas.openxmlformats.org/officeDocument/2006/relationships/notesMaster" Target="/ppt/notesMasters/notesMaster1.xml" Id="R35f75271a3e64ee4" /><Relationship Type="http://schemas.openxmlformats.org/officeDocument/2006/relationships/presProps" Target="/ppt/presProps.xml" Id="R7831a9736ad241da" /><Relationship Type="http://schemas.openxmlformats.org/officeDocument/2006/relationships/tableStyles" Target="/ppt/tableStyles.xml" Id="Rfbd486dbae674895" /><Relationship Type="http://schemas.openxmlformats.org/officeDocument/2006/relationships/slide" Target="/ppt/slides/slide1.xml" Id="Raca35ff9f72d4275" /><Relationship Type="http://schemas.openxmlformats.org/officeDocument/2006/relationships/slide" Target="/ppt/slides/slide2.xml" Id="R926c09c35045415e" /><Relationship Type="http://schemas.openxmlformats.org/officeDocument/2006/relationships/slide" Target="/ppt/slides/slide3.xml" Id="R7d4f5ce121bf41f1" /><Relationship Type="http://schemas.openxmlformats.org/officeDocument/2006/relationships/slide" Target="/ppt/slides/slide4.xml" Id="R3c625c8a9a44408f" /><Relationship Type="http://schemas.openxmlformats.org/officeDocument/2006/relationships/slide" Target="/ppt/slides/slide5.xml" Id="R5c25987723914910" /><Relationship Type="http://schemas.openxmlformats.org/officeDocument/2006/relationships/slide" Target="/ppt/slides/slide6.xml" Id="R942749c4226e471d" /><Relationship Type="http://schemas.openxmlformats.org/officeDocument/2006/relationships/slide" Target="/ppt/slides/slide7.xml" Id="Rbbbd283063e846b5" /><Relationship Type="http://schemas.openxmlformats.org/officeDocument/2006/relationships/slide" Target="/ppt/slides/slide8.xml" Id="Rc870a23bc6844430" /><Relationship Type="http://schemas.openxmlformats.org/officeDocument/2006/relationships/slide" Target="/ppt/slides/slide9.xml" Id="R0b59ef5af3a646f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6fa389f7ef7467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164f4e59d44e52" /><Relationship Type="http://schemas.openxmlformats.org/officeDocument/2006/relationships/notesMaster" Target="/ppt/notesMasters/notesMaster1.xml" Id="R5100271923944cd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dbff19793ab44fc" /><Relationship Type="http://schemas.openxmlformats.org/officeDocument/2006/relationships/notesMaster" Target="/ppt/notesMasters/notesMaster1.xml" Id="R35adbe88398c496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9a5a6f341a14f5a" /><Relationship Type="http://schemas.openxmlformats.org/officeDocument/2006/relationships/notesMaster" Target="/ppt/notesMasters/notesMaster1.xml" Id="Rdd596c8d6a70420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026496df17e441c" /><Relationship Type="http://schemas.openxmlformats.org/officeDocument/2006/relationships/notesMaster" Target="/ppt/notesMasters/notesMaster1.xml" Id="Re5270b8395fb4bf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f4c7ca79414490d" /><Relationship Type="http://schemas.openxmlformats.org/officeDocument/2006/relationships/notesMaster" Target="/ppt/notesMasters/notesMaster1.xml" Id="R6a2a4860d7e242d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9788cf8685841db" /><Relationship Type="http://schemas.openxmlformats.org/officeDocument/2006/relationships/notesMaster" Target="/ppt/notesMasters/notesMaster1.xml" Id="R87c70b680a37432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b9c31e98fa44928" /><Relationship Type="http://schemas.openxmlformats.org/officeDocument/2006/relationships/notesMaster" Target="/ppt/notesMasters/notesMaster1.xml" Id="R22208f717b16444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8c08567d3f04498" /><Relationship Type="http://schemas.openxmlformats.org/officeDocument/2006/relationships/notesMaster" Target="/ppt/notesMasters/notesMaster1.xml" Id="R936b5cebe53d452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3e63caa20a24e55" /><Relationship Type="http://schemas.openxmlformats.org/officeDocument/2006/relationships/notesMaster" Target="/ppt/notesMasters/notesMaster1.xml" Id="R8d217fa8c86d4ea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new research volume preserves the weaker but coherent momentum/continuation line separately from the rebound proto-strategy. It summarizes only already-computed 2018-2023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operator_hypothesis_lab/docs/TSLA_CUMULATIVE_RETURN_HORIZON_GRID_2018_2023.md</a:t>
            </a:r>
          </a:p>
          <a:p xmlns:a="http://schemas.openxmlformats.org/drawingml/2006/main">
            <a:r>
              <a:t>- operator_hypothesis_lab/docs/OWN_ASSET_RETURN_GEOMETRY_ATLAS_2018_2023.md</a:t>
            </a:r>
          </a:p>
          <a:p xmlns:a="http://schemas.openxmlformats.org/drawingml/2006/main">
            <a:r>
              <a:t>- operator_hypothesis_lab/docs/RETURN_GEOMETRY_WIDE_ATLAS_2018_2023.md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line has enough structure to deserve a name and a separate research volume. It has not earned expectancy, a representative cell, a next-open rule, or an OOS query.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operator_hypothesis_lab/registries/proto_strategy_ledger.xlsx</a:t>
            </a:r>
          </a:p>
          <a:p xmlns:a="http://schemas.openxmlformats.org/drawingml/2006/main">
            <a:r>
              <a:t>- operator_hypothesis_lab/docs/RETURN_GEOMETRY_WIDE_ATLAS_2018_2023.md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strongest TSLA cell is about +0.092 near the 5-to-10-session ridge, but the maximum explains less than one percent of variance and no signed-return or direction cell survives the complete 81-cell scan.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operator_hypothesis_lab/docs/TSLA_CUMULATIVE_RETURN_HORIZON_GRID_2018_2023.md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 81 medium-ATR cells are positive. Three medium-state cells survive the stricter 486-test BH family, while the high-ATR surface is predominantly negative. This is a state discriminator, not a trading permission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operator_hypothesis_lab/docs/TSLA_ATRP_CONDITIONED_RETURN_HORIZON_GRID_2018_2023.md</a:t>
            </a:r>
          </a:p>
          <a:p xmlns:a="http://schemas.openxmlformats.org/drawingml/2006/main">
            <a:r>
              <a:t>- runs/research_workbench/operator_hypothesis_lab/tsla_atrp_conditioned_return_horizon_grid_20260825/visuals/tsla_atrp_medium_pearson_heatmap.png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Prior-return sign and within-branch slope define the behavior. This prevents us from treating every interesting state as a new strategy: continuation and exhaustion are opposite shapes within the same positive-prior branch.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operator_hypothesis_lab/docs/OWN_ASSET_RETURN_GEOMETRY_ATLAS_2018_2023.md</a:t>
            </a:r>
          </a:p>
          <a:p xmlns:a="http://schemas.openxmlformats.org/drawingml/2006/main">
            <a:r>
              <a:t>- runs/research_workbench/operator_hypothesis_lab/return_geometry_behavior_catalog_20260826/visuals/behavior_archetype_grammar.png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Under the post-hoc display vocabulary, gain continuation appears in 39 of 81 path-sideways cells and 17 of 81 low-ATR cells, but in zero of 81 path-trending cells. Trending and signed-up states instead favor gain exhaustion.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operator_hypothesis_lab/docs/OWN_ASSET_RETURN_GEOMETRY_ATLAS_2018_2023.md</a:t>
            </a:r>
          </a:p>
          <a:p xmlns:a="http://schemas.openxmlformats.org/drawingml/2006/main">
            <a:r>
              <a:t>- runs/research_workbench/operator_hypothesis_lab/return_geometry_behavior_catalog_20260826/visuals/behavior_state_catalog.png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Across the full 15-by-15 atlas, ER20-sideways gain cells have median correlation +0.027 and positive sign in 81.8 percent of cells. ER20-trending cells have median -0.028 and positive sign in only 27.6 percent. The separation is broad but small.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operator_hypothesis_lab/docs/RETURN_GEOMETRY_WIDE_ATLAS_2018_2023.md</a:t>
            </a:r>
          </a:p>
          <a:p xmlns:a="http://schemas.openxmlformats.org/drawingml/2006/main">
            <a:r>
              <a:t>- runs/research_workbench/operator_hypothesis_lab/return_geometry_wide_atlas_full_vocabulary_20260827/visuals/all_states_equal_sector_gain_diagonal.png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real research milestone: the continuation line is no longer a vague intuition. It is a broad but small conditional shape. The evidence boundary remains important because the same research history discovered and summarized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operator_hypothesis_lab/docs/TSLA_CUMULATIVE_RETURN_HORIZON_GRID_2018_2023.md</a:t>
            </a:r>
          </a:p>
          <a:p xmlns:a="http://schemas.openxmlformats.org/drawingml/2006/main">
            <a:r>
              <a:t>- operator_hypothesis_lab/docs/OWN_ASSET_RETURN_GEOMETRY_ATLAS_2018_2023.md</a:t>
            </a:r>
          </a:p>
          <a:p xmlns:a="http://schemas.openxmlformats.org/drawingml/2006/main">
            <a:r>
              <a:t>- operator_hypothesis_lab/docs/RETURN_GEOMETRY_WIDE_ATLAS_2018_2023.md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next discussion should select the economic claim before its test. A reasonable default is the direct contrast: after a positive prior return, continuation should be stronger in ER20-sideways than ER20-trending. The horizon and failure rule must then be frozen without scanning the inspected grid again. The planned 30-minute lane remains unopened until sessions, overnight returns, and daily-filter timing are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operator_hypothesis_lab/docs/RETURN_GEOMETRY_DAILY_CONTINUATION_MICROSCOPE_2018_2023.md</a:t>
            </a:r>
          </a:p>
          <a:p xmlns:a="http://schemas.openxmlformats.org/drawingml/2006/main">
            <a:r>
              <a:t>- operator_hypothesis_lab/registries/proto_strategy_ledger.xlsx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0bccbd5fe74c8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4810b1150504b62" /><Relationship Type="http://schemas.openxmlformats.org/officeDocument/2006/relationships/slideLayout" Target="/ppt/slideLayouts/slideLayout1.xml" Id="R6df414efe88c48e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df414efe88c48e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9a8eba07f44e89" /><Relationship Type="http://schemas.openxmlformats.org/officeDocument/2006/relationships/notesSlide" Target="/ppt/notesSlides/notesSlide1.xml" Id="R264c7e0e632e430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6e4100bbd94fe1" /><Relationship Type="http://schemas.openxmlformats.org/officeDocument/2006/relationships/notesSlide" Target="/ppt/notesSlides/notesSlide2.xml" Id="Re26bd563adea447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0af6e9c41841aa" /><Relationship Type="http://schemas.openxmlformats.org/officeDocument/2006/relationships/image" Target="/ppt/media/image.png" Id="R38e442798bd64490" /><Relationship Type="http://schemas.openxmlformats.org/officeDocument/2006/relationships/notesSlide" Target="/ppt/notesSlides/notesSlide3.xml" Id="R20055f82a145462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e71430ff964b24" /><Relationship Type="http://schemas.openxmlformats.org/officeDocument/2006/relationships/image" Target="/ppt/media/image2.png" Id="Rc2a9f2b61768460a" /><Relationship Type="http://schemas.openxmlformats.org/officeDocument/2006/relationships/notesSlide" Target="/ppt/notesSlides/notesSlide4.xml" Id="R01d2a13e6def453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3fc09c324240f3" /><Relationship Type="http://schemas.openxmlformats.org/officeDocument/2006/relationships/image" Target="/ppt/media/image3.png" Id="Rf909af196ba2469d" /><Relationship Type="http://schemas.openxmlformats.org/officeDocument/2006/relationships/notesSlide" Target="/ppt/notesSlides/notesSlide5.xml" Id="R7b068a4d44b148f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ca348ac8514ac7" /><Relationship Type="http://schemas.openxmlformats.org/officeDocument/2006/relationships/image" Target="/ppt/media/image4.png" Id="Rc41909ef7da04c63" /><Relationship Type="http://schemas.openxmlformats.org/officeDocument/2006/relationships/notesSlide" Target="/ppt/notesSlides/notesSlide6.xml" Id="Rf2891720721745c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2a12a17cac475a" /><Relationship Type="http://schemas.openxmlformats.org/officeDocument/2006/relationships/image" Target="/ppt/media/image5.png" Id="R62bcabc3f2b040eb" /><Relationship Type="http://schemas.openxmlformats.org/officeDocument/2006/relationships/notesSlide" Target="/ppt/notesSlides/notesSlide7.xml" Id="Rc535fa19da174b9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05c23c3de94e01" /><Relationship Type="http://schemas.openxmlformats.org/officeDocument/2006/relationships/notesSlide" Target="/ppt/notesSlides/notesSlide8.xml" Id="R65c88003b3e949e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84f84f14454072" /><Relationship Type="http://schemas.openxmlformats.org/officeDocument/2006/relationships/notesSlide" Target="/ppt/notesSlides/notesSlide9.xml" Id="R2e0edb1c0dce48b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12B881-2D87-4470-A9E2-CA40D7106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45756"/>
                </a:solidFill>
              </a:defRPr>
            </a:pPr>
            <a:r>
              <a:rPr sz="1350" b="1">
                <a:solidFill>
                  <a:srgbClr val="E45756"/>
                </a:solidFill>
              </a:rPr>
              <a:t>DAILY CONTINUATION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B2094F-C042-49AB-BE8C-0ECFD2245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111827"/>
                </a:solidFill>
              </a:defRPr>
            </a:pPr>
            <a:r>
              <a:rPr sz="4350" b="1">
                <a:solidFill>
                  <a:srgbClr val="111827"/>
                </a:solidFill>
              </a:rPr>
              <a:t>From return geometry to a continuation hypothesis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394FB8-5765-4318-8A56-6DACECFE9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9525">
            <a:solidFill>
              <a:srgbClr val="E4575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E3D676-3E4E-40CF-9FFA-FDD3E7F4C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90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667384"/>
                </a:solidFill>
              </a:defRPr>
            </a:pPr>
            <a:r>
              <a:rPr sz="2025" b="0">
                <a:solidFill>
                  <a:srgbClr val="667384"/>
                </a:solidFill>
              </a:rPr>
              <a:t>A descriptive microscope before a trading rule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79BB13-9AEC-4C77-9A8C-3203F8300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667384"/>
                </a:solidFill>
              </a:defRPr>
            </a:pPr>
            <a:r>
              <a:rPr sz="1575" b="0">
                <a:solidFill>
                  <a:srgbClr val="667384"/>
                </a:solidFill>
              </a:rPr>
              <a:t>TSLA origin • 30-asset catalog • 129-instrument transport • post-2023 sealed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589277-BA8D-465E-8FE0-58FC0F732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384"/>
                </a:solidFill>
              </a:defRPr>
            </a:pPr>
            <a:r>
              <a:rPr sz="900" b="0">
                <a:solidFill>
                  <a:srgbClr val="667384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6971670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EVIDENCE BOUNDARY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Continuation is a behavioral lead—not a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Return geometry | daily continuation microscope | 2026-08-28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1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Positive-prior dependence changes with state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sideways / low-vol differ from trending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CONTRAST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5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Efficient trending paths lean toward exhaustion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same method, opposite slope sign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DOES NOT EARN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chosen horizon or executable rule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next-open, baseline, and fresh data unresolved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Registry status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BEHAV-MOM-01 is worth preserving and discussing. Its current status is DESCRIPTIVE_BEHAVIORAL_LEAD.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ORIGIN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656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Aggregation reveals a weak 5–10-session continuation ridge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TSLA | cumulative close-to-close log returns | 2018–2023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e442798bd64490"/>
          <a:stretch xmlns:a="http://schemas.openxmlformats.org/drawingml/2006/main"/>
        </p:blipFill>
        <p:spPr>
          <a:xfrm xmlns:a="http://schemas.openxmlformats.org/drawingml/2006/main">
            <a:off x="2885498" y="1335087"/>
            <a:ext cx="6421005" cy="50450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VOLATILITY STATE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Medium ATR sharpens TSLA's continuation surface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TSLA | accepted causal ATR% state | 2018–2023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a9f2b61768460a"/>
          <a:stretch xmlns:a="http://schemas.openxmlformats.org/drawingml/2006/main"/>
        </p:blipFill>
        <p:spPr>
          <a:xfrm xmlns:a="http://schemas.openxmlformats.org/drawingml/2006/main">
            <a:off x="2463546" y="1335087"/>
            <a:ext cx="7264908" cy="50450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METHOD GRAMMAR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Continuation sits inside a four-behavior grammar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Return geometry | positive and negative prior branches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09af196ba2469d"/>
          <a:stretch xmlns:a="http://schemas.openxmlformats.org/drawingml/2006/main"/>
        </p:blipFill>
        <p:spPr>
          <a:xfrm xmlns:a="http://schemas.openxmlformats.org/drawingml/2006/main">
            <a:off x="1771650" y="1425178"/>
            <a:ext cx="8648700" cy="486489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30-ASSET CATALOG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656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Sideways paths carry the atlas's largest continuation cluster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30 assets | fixed 9 x 9 microscope | equal-asset support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1909ef7da04c63"/>
          <a:stretch xmlns:a="http://schemas.openxmlformats.org/drawingml/2006/main"/>
        </p:blipFill>
        <p:spPr>
          <a:xfrm xmlns:a="http://schemas.openxmlformats.org/drawingml/2006/main">
            <a:off x="1771650" y="1425178"/>
            <a:ext cx="8648700" cy="486489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129-INSTRUMENT ATLAS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Breadth preserves a small state contrast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129 instruments | equal-sector gain branch | 2018–2023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bcabc3f2b040eb"/>
          <a:stretch xmlns:a="http://schemas.openxmlformats.org/drawingml/2006/main"/>
        </p:blipFill>
        <p:spPr>
          <a:xfrm xmlns:a="http://schemas.openxmlformats.org/drawingml/2006/main">
            <a:off x="2082872" y="1335087"/>
            <a:ext cx="8026256" cy="50450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EVIDENCE SYNTHESIS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coherent discriminator is still not a trading rule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Return geometry | continuation evidence status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TSLA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Weak 5–10-session ridge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0 / 81 aggregate cells survive BH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30 ASSETS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Sideways continuation cluster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39 / 81 versus 0 / 81 trending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129 INSTRUMENTS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Broad state-sign contrast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+0.027 sideways vs −0.028 trending median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Preserve BEHAV-MOM-01 as a behavioral lead. Do not select a cell or open post-2023 data before a narrative-first rule is frozen.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NEXT FROZEN GATE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752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next move is a narrative choice—not more feature mining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Return geometry | continuation research roadmap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BEHAVIOR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417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Name the state-dependent continuation lead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complete for 2018–2023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CANDIDATE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429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Choose one representative contrast before calculating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one state, one horizon, one baseline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EDGE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Require next-open value on fresh data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later—not yet earned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Recommended huddle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Decide whether to freeze sideways continuation alone or the direct sideways-versus-trending contrast. Keep the 30-minute lane design-only until its clock contract is explicit.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theme/theme1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2026-08-29T04:04:24.2020000Z</dcterms:created>
  <dcterms:modified xsi:type="dcterms:W3CDTF">2026-08-29T04:04:24.2020000Z</dcterms:modified>
</coreProperties>
</file>