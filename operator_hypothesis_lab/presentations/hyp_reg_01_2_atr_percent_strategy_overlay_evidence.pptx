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1f15b9ebd54465" /><Relationship Type="http://schemas.openxmlformats.org/officeDocument/2006/relationships/extended-properties" Target="/docProps/app.xml" Id="R92666c60288f4685" /><Relationship Type="http://schemas.openxmlformats.org/officeDocument/2006/relationships/officeDocument" Target="/ppt/presentation.xml" Id="R05cee732eb0243e7" /></Relationships>
</file>

<file path=ppt/presentation.xml><?xml version="1.0" encoding="utf-8"?>
<p:presentation xmlns:p="http://schemas.openxmlformats.org/presentationml/2006/main">
  <p:sldMasterIdLst>
    <p:sldMasterId xmlns:r="http://schemas.openxmlformats.org/officeDocument/2006/relationships" id="2147483648" r:id="Rea2aa3e7822f43d0"/>
  </p:sldMasterIdLst>
  <p:notesMasterIdLst>
    <p:notesMasterId xmlns:r="http://schemas.openxmlformats.org/officeDocument/2006/relationships" r:id="R84e9bac35f844470"/>
  </p:notesMasterIdLst>
  <p:sldIdLst>
    <p:sldId xmlns:r="http://schemas.openxmlformats.org/officeDocument/2006/relationships" id="256" r:id="R57ab52292237458a"/>
    <p:sldId xmlns:r="http://schemas.openxmlformats.org/officeDocument/2006/relationships" id="257" r:id="R49cfb99bdfd94f41"/>
    <p:sldId xmlns:r="http://schemas.openxmlformats.org/officeDocument/2006/relationships" id="258" r:id="Ra5aadadbf4c8499e"/>
    <p:sldId xmlns:r="http://schemas.openxmlformats.org/officeDocument/2006/relationships" id="259" r:id="R97218e8c46584d2c"/>
    <p:sldId xmlns:r="http://schemas.openxmlformats.org/officeDocument/2006/relationships" id="260" r:id="R721b3890094c49a8"/>
    <p:sldId xmlns:r="http://schemas.openxmlformats.org/officeDocument/2006/relationships" id="261" r:id="R43b38a6e7d1144ff"/>
    <p:sldId xmlns:r="http://schemas.openxmlformats.org/officeDocument/2006/relationships" id="262" r:id="Rcd3af8c20e0d4b70"/>
    <p:sldId xmlns:r="http://schemas.openxmlformats.org/officeDocument/2006/relationships" id="263" r:id="Rdf92cc4459f3482b"/>
    <p:sldId xmlns:r="http://schemas.openxmlformats.org/officeDocument/2006/relationships" id="264" r:id="R0318a025588d49dc"/>
    <p:sldId xmlns:r="http://schemas.openxmlformats.org/officeDocument/2006/relationships" id="265" r:id="R2a8a0c18af924154"/>
    <p:sldId xmlns:r="http://schemas.openxmlformats.org/officeDocument/2006/relationships" id="266" r:id="R18ed9cc8e29e4633"/>
    <p:sldId xmlns:r="http://schemas.openxmlformats.org/officeDocument/2006/relationships" id="267" r:id="Ra63215729f3048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08a0fb38d84421" /><Relationship Type="http://schemas.openxmlformats.org/officeDocument/2006/relationships/slideMaster" Target="/ppt/slideMasters/slideMaster1.xml" Id="Rea2aa3e7822f43d0" /><Relationship Type="http://schemas.openxmlformats.org/officeDocument/2006/relationships/notesMaster" Target="/ppt/notesMasters/notesMaster1.xml" Id="R84e9bac35f844470" /><Relationship Type="http://schemas.openxmlformats.org/officeDocument/2006/relationships/presProps" Target="/ppt/presProps.xml" Id="R525e0f627f044874" /><Relationship Type="http://schemas.openxmlformats.org/officeDocument/2006/relationships/tableStyles" Target="/ppt/tableStyles.xml" Id="R1ff2028ef6784da7" /><Relationship Type="http://schemas.openxmlformats.org/officeDocument/2006/relationships/slide" Target="/ppt/slides/slide1.xml" Id="R57ab52292237458a" /><Relationship Type="http://schemas.openxmlformats.org/officeDocument/2006/relationships/slide" Target="/ppt/slides/slide2.xml" Id="R49cfb99bdfd94f41" /><Relationship Type="http://schemas.openxmlformats.org/officeDocument/2006/relationships/slide" Target="/ppt/slides/slide3.xml" Id="Ra5aadadbf4c8499e" /><Relationship Type="http://schemas.openxmlformats.org/officeDocument/2006/relationships/slide" Target="/ppt/slides/slide4.xml" Id="R97218e8c46584d2c" /><Relationship Type="http://schemas.openxmlformats.org/officeDocument/2006/relationships/slide" Target="/ppt/slides/slide5.xml" Id="R721b3890094c49a8" /><Relationship Type="http://schemas.openxmlformats.org/officeDocument/2006/relationships/slide" Target="/ppt/slides/slide6.xml" Id="R43b38a6e7d1144ff" /><Relationship Type="http://schemas.openxmlformats.org/officeDocument/2006/relationships/slide" Target="/ppt/slides/slide7.xml" Id="Rcd3af8c20e0d4b70" /><Relationship Type="http://schemas.openxmlformats.org/officeDocument/2006/relationships/slide" Target="/ppt/slides/slide8.xml" Id="Rdf92cc4459f3482b" /><Relationship Type="http://schemas.openxmlformats.org/officeDocument/2006/relationships/slide" Target="/ppt/slides/slide9.xml" Id="R0318a025588d49dc" /><Relationship Type="http://schemas.openxmlformats.org/officeDocument/2006/relationships/slide" Target="/ppt/slides/slide10.xml" Id="R2a8a0c18af924154" /><Relationship Type="http://schemas.openxmlformats.org/officeDocument/2006/relationships/slide" Target="/ppt/slides/slide11.xml" Id="R18ed9cc8e29e4633" /><Relationship Type="http://schemas.openxmlformats.org/officeDocument/2006/relationships/slide" Target="/ppt/slides/slide12.xml" Id="Ra63215729f3048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113a08adba46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f5c60e13a74036" /><Relationship Type="http://schemas.openxmlformats.org/officeDocument/2006/relationships/notesMaster" Target="/ppt/notesMasters/notesMaster1.xml" Id="R57452edf3f8b46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b238fcf9454087" /><Relationship Type="http://schemas.openxmlformats.org/officeDocument/2006/relationships/notesMaster" Target="/ppt/notesMasters/notesMaster1.xml" Id="R0783141a8fac42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b488ddb53d4da7" /><Relationship Type="http://schemas.openxmlformats.org/officeDocument/2006/relationships/notesMaster" Target="/ppt/notesMasters/notesMaster1.xml" Id="R5effee37165940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3f18560b984f60" /><Relationship Type="http://schemas.openxmlformats.org/officeDocument/2006/relationships/notesMaster" Target="/ppt/notesMasters/notesMaster1.xml" Id="R025571ac0b1b46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659c6065174593" /><Relationship Type="http://schemas.openxmlformats.org/officeDocument/2006/relationships/notesMaster" Target="/ppt/notesMasters/notesMaster1.xml" Id="Reda7d793f65848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0694147ebc461a" /><Relationship Type="http://schemas.openxmlformats.org/officeDocument/2006/relationships/notesMaster" Target="/ppt/notesMasters/notesMaster1.xml" Id="Rfe2e3a7544fa4a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e39ecbf1f54075" /><Relationship Type="http://schemas.openxmlformats.org/officeDocument/2006/relationships/notesMaster" Target="/ppt/notesMasters/notesMaster1.xml" Id="Rd3c0c8f515c941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e2f15401cc45d6" /><Relationship Type="http://schemas.openxmlformats.org/officeDocument/2006/relationships/notesMaster" Target="/ppt/notesMasters/notesMaster1.xml" Id="R1f110cf3072e43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06d876c7794b79" /><Relationship Type="http://schemas.openxmlformats.org/officeDocument/2006/relationships/notesMaster" Target="/ppt/notesMasters/notesMaster1.xml" Id="Rd5845c1da2e84f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de83f6925e494b" /><Relationship Type="http://schemas.openxmlformats.org/officeDocument/2006/relationships/notesMaster" Target="/ppt/notesMasters/notesMaster1.xml" Id="Re4b4f126eb604c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eb804c3f804dba" /><Relationship Type="http://schemas.openxmlformats.org/officeDocument/2006/relationships/notesMaster" Target="/ppt/notesMasters/notesMaster1.xml" Id="Rbb5abee7b73047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e541d0c50441c2" /><Relationship Type="http://schemas.openxmlformats.org/officeDocument/2006/relationships/notesMaster" Target="/ppt/notesMasters/notesMaster1.xml" Id="R3e3dc2af367446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teaching point: HYP-REG-01.1 validated a directionless volatility classifier. HYP-REG-01.2 asks the stronger question of whether LOW should veto entries for one specific strategy.</a:t>
            </a:r>
          </a:p>
          <a:p xmlns:a="http://schemas.openxmlformats.org/drawingml/2006/main">
            <a:r>
              <a:t/>
            </a:r>
          </a:p>
          <a:p xmlns:a="http://schemas.openxmlformats.org/drawingml/2006/main">
            <a:r>
              <a:t>[Sources]</a:t>
            </a:r>
          </a:p>
          <a:p xmlns:a="http://schemas.openxmlformats.org/drawingml/2006/main">
            <a:r>
              <a:t>- docs/GEN5_HYP_REG_01_2_ATR_PERCENT_STRATEGY_OVERLAY_CONTRACT.md</a:t>
            </a:r>
          </a:p>
          <a:p xmlns:a="http://schemas.openxmlformats.org/drawingml/2006/main">
            <a:r>
              <a:t>- operator_hypothesis_lab/docs/HYP_REG_01_2_ATR_PERCENT_STRATEGY_OVERLAY_RESULTS.md</a:t>
            </a:r>
          </a:p>
          <a:p xmlns:a="http://schemas.openxmlformats.org/drawingml/2006/main">
            <a:r>
              <a:t>- Chat D128: Agreed. Minimal first, with a well characterized strategy that intuitively overlaps with what the volatility filter is characterizing. Proceed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prevents a common misunderstanding: the regime label is not a position-sizing signal and does not manage an open trade. It only grants or denies a fresh entry at the signal close.</a:t>
            </a:r>
          </a:p>
          <a:p xmlns:a="http://schemas.openxmlformats.org/drawingml/2006/main">
            <a:r>
              <a:t/>
            </a:r>
          </a:p>
          <a:p xmlns:a="http://schemas.openxmlformats.org/drawingml/2006/main">
            <a:r>
              <a:t>[Sources]</a:t>
            </a:r>
          </a:p>
          <a:p xmlns:a="http://schemas.openxmlformats.org/drawingml/2006/main">
            <a:r>
              <a:t>- docs/GEN5_HYP_REG_01_2_ATR_PERCENT_STRATEGY_OVERLAY_CONTRACT.md</a:t>
            </a:r>
          </a:p>
          <a:p xmlns:a="http://schemas.openxmlformats.org/drawingml/2006/main">
            <a:r>
              <a:t>- operator_hypothesis_lab/R/hyp_reg_01_2_strategy_overlay.R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sequence is real and causal; circular shifts preserve its occupancy and run structure while breaking the calendar alignment. Exposure-nearest shifts ask whether the actual LOW dates matter beyond simply trading less.</a:t>
            </a:r>
          </a:p>
          <a:p xmlns:a="http://schemas.openxmlformats.org/drawingml/2006/main">
            <a:r>
              <a:t/>
            </a:r>
          </a:p>
          <a:p xmlns:a="http://schemas.openxmlformats.org/drawingml/2006/main">
            <a:r>
              <a:t>[Sources]</a:t>
            </a:r>
          </a:p>
          <a:p xmlns:a="http://schemas.openxmlformats.org/drawingml/2006/main">
            <a:r>
              <a:t>- docs/GEN5_HYP_REG_01_2_ATR_PERCENT_STRATEGY_OVERLAY_CONTRACT.md</a:t>
            </a:r>
          </a:p>
          <a:p xmlns:a="http://schemas.openxmlformats.org/drawingml/2006/main">
            <a:r>
              <a:t>- C:/Users/Franc/OneDrive/Documents/Francis/Peltata Project/Time-Series-Modeling-Gen5/runs/research_workbench/operator_hypothesis_lab/hyp_reg_01_2_strategy_overlay_20260814/hyp_reg_01_2_parent_reproduction.csv</a:t>
            </a:r>
          </a:p>
          <a:p xmlns:a="http://schemas.openxmlformats.org/drawingml/2006/main">
            <a:r>
              <a:t>- C:/Users/Franc/OneDrive/Documents/Francis/Peltata Project/Time-Series-Modeling-Gen5/runs/research_workbench/operator_hypothesis_lab/hyp_reg_01_2_strategy_overlay_20260814/hyp_reg_01_2_placebo_panel.csv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reproduction gate is essential because the overlay joins an adjusted-daily state ledger to a daily strategy reconstructed from the accepted 30-minute archive. The result is not caused by an accidental rewrite of the parent.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Project/Time-Series-Modeling-Gen5/runs/research_workbench/operator_hypothesis_lab/hyp_reg_01_2_strategy_overlay_20260814/hyp_reg_01_2_parent_reproduction.csv</a:t>
            </a:r>
          </a:p>
          <a:p xmlns:a="http://schemas.openxmlformats.org/drawingml/2006/main">
            <a:r>
              <a:t>- C:/Users/Franc/OneDrive/Documents/Francis/Peltata Project/Time-Series-Modeling-Gen5/runs/research_workbench/operator_hypothesis_lab/hyp_reg_01_2_strategy_overlay_20260814/hyp_reg_01_2_gates.csv</a:t>
            </a:r>
          </a:p>
          <a:p xmlns:a="http://schemas.openxmlformats.org/drawingml/2006/main">
            <a:r>
              <a:t>- docs/GEN5_HYP_REG_01_2_ATR_PERCENT_STRATEGY_OVERLAY_CONTRACT.md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overlay remains positive in absolute median return, but that is not the promotion question. It must improve the unchanged strategy's return/protection bargain, and it does not.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Project/Time-Series-Modeling-Gen5/runs/research_workbench/operator_hypothesis_lab/hyp_reg_01_2_strategy_overlay_20260814/hyp_reg_01_2_policy_panel.csv</a:t>
            </a:r>
          </a:p>
          <a:p xmlns:a="http://schemas.openxmlformats.org/drawingml/2006/main">
            <a:r>
              <a:t>- C:/Users/Franc/OneDrive/Documents/Francis/Peltata Project/Time-Series-Modeling-Gen5/runs/research_workbench/operator_hypothesis_lab/hyp_reg_01_2_strategy_overlay_20260814/visuals/policy_return_drawdown.png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TSLA and AMD dominate the negative tail because skipping early quiet-state entries can miss later trend expansions. The gate also fails broadly, so this is not just a two-name anomaly.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Project/Time-Series-Modeling-Gen5/runs/research_workbench/operator_hypothesis_lab/hyp_reg_01_2_strategy_overlay_20260814/hyp_reg_01_2_asset_compound.csv</a:t>
            </a:r>
          </a:p>
          <a:p xmlns:a="http://schemas.openxmlformats.org/drawingml/2006/main">
            <a:r>
              <a:t>- C:/Users/Franc/OneDrive/Documents/Francis/Peltata Project/Time-Series-Modeling-Gen5/runs/research_workbench/operator_hypothesis_lab/hyp_reg_01_2_strategy_overlay_20260814/visuals/asset_compounded_excess.png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Near-zero years are still not wins under the frozen gate. The calendar test asks whether the overlay improvement repeats, not whether one favorable period can be found.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Project/Time-Series-Modeling-Gen5/runs/research_workbench/operator_hypothesis_lab/hyp_reg_01_2_strategy_overlay_20260814/hyp_reg_01_2_year_summary.csv</a:t>
            </a:r>
          </a:p>
          <a:p xmlns:a="http://schemas.openxmlformats.org/drawingml/2006/main">
            <a:r>
              <a:t>- C:/Users/Franc/OneDrive/Documents/Francis/Peltata Project/Time-Series-Modeling-Gen5/runs/research_workbench/operator_hypothesis_lab/hyp_reg_01_2_strategy_overlay_20260814/visuals/calendar_breadth.png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strongest falsification result. The ATR gate's drawdown benefit is explainable by lower exposure. Its actual calendar alignment does not add value beyond exposure-near shifted masks.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Project/Time-Series-Modeling-Gen5/runs/research_workbench/operator_hypothesis_lab/hyp_reg_01_2_strategy_overlay_20260814/hyp_reg_01_2_placebo_panel.csv</a:t>
            </a:r>
          </a:p>
          <a:p xmlns:a="http://schemas.openxmlformats.org/drawingml/2006/main">
            <a:r>
              <a:t>- C:/Users/Franc/OneDrive/Documents/Francis/Peltata Project/Time-Series-Modeling-Gen5/runs/research_workbench/operator_hypothesis_lab/hyp_reg_01_2_strategy_overlay_20260814/visuals/regime_alignment_placebo.png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trades are slightly negative in every state, as expected for a trend system with occasional large winners. The LOW veto removed a meaningful right tail; hit rate alone would miss that.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Project/Time-Series-Modeling-Gen5/runs/research_workbench/operator_hypothesis_lab/hyp_reg_01_2_strategy_overlay_20260814/hyp_reg_01_2_trade_audit.csv</a:t>
            </a:r>
          </a:p>
          <a:p xmlns:a="http://schemas.openxmlformats.org/drawingml/2006/main">
            <a:r>
              <a:t>- C:/Users/Franc/OneDrive/Documents/Francis/Peltata Project/Time-Series-Modeling-Gen5/runs/research_workbench/operator_hypothesis_lab/hyp_reg_01_2_strategy_overlay_20260814/visuals/removed_retained_trade_audit.png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side as the asset and state history and the right side as the strategy consequence. AMD 2021 and TSLA 2019 show large trends that the LOW veto failed to enter; NEE 2023 shows the kind of protection the veto can provide. The mechanism is mixed, not uniformly helpful.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Project/Time-Series-Modeling-Gen5/runs/research_workbench/operator_hypothesis_lab/hyp_reg_01_2_strategy_overlay_20260814/hyp_reg_01_2_representative_selection.csv</a:t>
            </a:r>
          </a:p>
          <a:p xmlns:a="http://schemas.openxmlformats.org/drawingml/2006/main">
            <a:r>
              <a:t>- C:/Users/Franc/OneDrive/Documents/Francis/Peltata Project/Time-Series-Modeling-Gen5/runs/research_workbench/operator_hypothesis_lab/hyp_reg_01_2_strategy_overlay_20260814/visuals/representative_overlay_tapes.png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1.8x result is deliberately secondary and cannot select the policy. Financing and maintenance-risk accounting are retained from the parent series. The overlay remains weaker after leverage.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Project/Time-Series-Modeling-Gen5/runs/research_workbench/operator_hypothesis_lab/hyp_reg_01_2_strategy_overlay_20260814/hyp_reg_01_2_secondary_summary.csv</a:t>
            </a:r>
          </a:p>
          <a:p xmlns:a="http://schemas.openxmlformats.org/drawingml/2006/main">
            <a:r>
              <a:t>- C:/Users/Franc/OneDrive/Documents/Francis/Peltata Project/Time-Series-Modeling-Gen5/runs/research_workbench/operator_hypothesis_lab/hyp_reg_01_2_strategy_overlay_20260814/visuals/leverage_secondary_view.png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without weakening either finding. The classifier is a clean positive diagnostic. The overlay is a clean negative strategy result. Do not try HIGH-only, alternate thresholds, or favorable assets on the same evidence, and do not access 2024+ confirmation.</a:t>
            </a:r>
          </a:p>
          <a:p xmlns:a="http://schemas.openxmlformats.org/drawingml/2006/main">
            <a:r>
              <a:t/>
            </a:r>
          </a:p>
          <a:p xmlns:a="http://schemas.openxmlformats.org/drawingml/2006/main">
            <a:r>
              <a:t>[Sources]</a:t>
            </a:r>
          </a:p>
          <a:p xmlns:a="http://schemas.openxmlformats.org/drawingml/2006/main">
            <a:r>
              <a:t>- operator_hypothesis_lab/docs/HYP_REG_01_2_ATR_PERCENT_STRATEGY_OVERLAY_RESULTS.md</a:t>
            </a:r>
          </a:p>
          <a:p xmlns:a="http://schemas.openxmlformats.org/drawingml/2006/main">
            <a:r>
              <a:t>- C:/Users/Franc/OneDrive/Documents/Francis/Peltata Project/Time-Series-Modeling-Gen5/runs/research_workbench/operator_hypothesis_lab/hyp_reg_01_2_strategy_overlay_20260814/hyp_reg_01_2_gates.csv</a:t>
            </a:r>
          </a:p>
          <a:p xmlns:a="http://schemas.openxmlformats.org/drawingml/2006/main">
            <a:r>
              <a:t>- docs/GEN5_HYP_REG_01_2_ATR_PERCENT_STRATEGY_OVERLAY_CONTRACT.md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5d01f628c948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cd5f6c8cbb4693" /><Relationship Type="http://schemas.openxmlformats.org/officeDocument/2006/relationships/slideLayout" Target="/ppt/slideLayouts/slideLayout1.xml" Id="R17aa1492f96242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aa1492f96242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57db57fd4546a4" /><Relationship Type="http://schemas.openxmlformats.org/officeDocument/2006/relationships/notesSlide" Target="/ppt/notesSlides/notesSlide1.xml" Id="R991a251656534c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0034dcf5f8450d" /><Relationship Type="http://schemas.openxmlformats.org/officeDocument/2006/relationships/notesSlide" Target="/ppt/notesSlides/notesSlide2.xml" Id="R18427df1631f41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e56d9fd3f2433c" /><Relationship Type="http://schemas.openxmlformats.org/officeDocument/2006/relationships/notesSlide" Target="/ppt/notesSlides/notesSlide3.xml" Id="Rb8760276b2444a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5599f249ee45e0" /><Relationship Type="http://schemas.openxmlformats.org/officeDocument/2006/relationships/notesSlide" Target="/ppt/notesSlides/notesSlide4.xml" Id="R65fbd17aa4e846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a2ee7436504d9c" /><Relationship Type="http://schemas.openxmlformats.org/officeDocument/2006/relationships/image" Target="/ppt/media/image.png" Id="Rad208075e81243bb" /><Relationship Type="http://schemas.openxmlformats.org/officeDocument/2006/relationships/notesSlide" Target="/ppt/notesSlides/notesSlide5.xml" Id="Rd36bbaae3efa40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13f233b6784252" /><Relationship Type="http://schemas.openxmlformats.org/officeDocument/2006/relationships/image" Target="/ppt/media/image2.png" Id="R5b8395a4a1174e63" /><Relationship Type="http://schemas.openxmlformats.org/officeDocument/2006/relationships/notesSlide" Target="/ppt/notesSlides/notesSlide6.xml" Id="Ra0fa35d73c8c49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a40d727d94435e" /><Relationship Type="http://schemas.openxmlformats.org/officeDocument/2006/relationships/image" Target="/ppt/media/image3.png" Id="Rc1cd68a2cf6a4a3a" /><Relationship Type="http://schemas.openxmlformats.org/officeDocument/2006/relationships/notesSlide" Target="/ppt/notesSlides/notesSlide7.xml" Id="R2b02d0bf7d964f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c58f9a64974774" /><Relationship Type="http://schemas.openxmlformats.org/officeDocument/2006/relationships/image" Target="/ppt/media/image4.png" Id="Rec5e28b5903841ea" /><Relationship Type="http://schemas.openxmlformats.org/officeDocument/2006/relationships/notesSlide" Target="/ppt/notesSlides/notesSlide8.xml" Id="R6aae100007fd4d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038538579f44a2" /><Relationship Type="http://schemas.openxmlformats.org/officeDocument/2006/relationships/image" Target="/ppt/media/image5.png" Id="R5f49da93946043df" /><Relationship Type="http://schemas.openxmlformats.org/officeDocument/2006/relationships/notesSlide" Target="/ppt/notesSlides/notesSlide9.xml" Id="R3b68726e286449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9feb8cd5524f2e" /><Relationship Type="http://schemas.openxmlformats.org/officeDocument/2006/relationships/image" Target="/ppt/media/image6.png" Id="R3aca739cf0bd4ee9" /><Relationship Type="http://schemas.openxmlformats.org/officeDocument/2006/relationships/notesSlide" Target="/ppt/notesSlides/notesSlide10.xml" Id="R21f3c6a9206e40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ad5d1a4eea4a7d" /><Relationship Type="http://schemas.openxmlformats.org/officeDocument/2006/relationships/image" Target="/ppt/media/image7.png" Id="Re202629976c341f2" /><Relationship Type="http://schemas.openxmlformats.org/officeDocument/2006/relationships/notesSlide" Target="/ppt/notesSlides/notesSlide11.xml" Id="R560d92d1a16349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cf56ffd4f24f24" /><Relationship Type="http://schemas.openxmlformats.org/officeDocument/2006/relationships/notesSlide" Target="/ppt/notesSlides/notesSlide12.xml" Id="Rfc9ba93eca594b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63B969-863E-4DCA-AA39-72E9B815656F}"/>
              </a:ext>
            </a:extLst>
          </p:cNvPr>
          <p:cNvSpPr>
            <a:spLocks xmlns:a="http://schemas.openxmlformats.org/drawingml/2006/main" noGrp="1"/>
          </p:cNvSpPr>
          <p:nvPr/>
        </p:nvSpPr>
        <p:spPr>
          <a:xfrm xmlns:a="http://schemas.openxmlformats.org/drawingml/2006/main">
            <a:off x="495300" y="4572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HYP-REG-01.2</a:t>
            </a:r>
          </a:p>
        </p:txBody>
      </p:sp>
      <p:sp>
        <p:nvSpPr>
          <p:cNvPr id="2" name="">
            <a:extLst xmlns:a="http://schemas.openxmlformats.org/drawingml/2006/main">
              <a:ext uri="{FF2B5EF4-FFF2-40B4-BE49-F238E27FC236}">
                <a16:creationId xmlns:a16="http://schemas.microsoft.com/office/drawing/2014/main" id="{ECFEB186-42FA-453D-9E47-F0E21EAB5B4D}"/>
              </a:ext>
            </a:extLst>
          </p:cNvPr>
          <p:cNvSpPr>
            <a:spLocks xmlns:a="http://schemas.openxmlformats.org/drawingml/2006/main" noGrp="1"/>
          </p:cNvSpPr>
          <p:nvPr/>
        </p:nvSpPr>
        <p:spPr>
          <a:xfrm xmlns:a="http://schemas.openxmlformats.org/drawingml/2006/main">
            <a:off x="495300" y="1476375"/>
            <a:ext cx="10668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125" b="1">
                <a:solidFill>
                  <a:srgbClr val="000000"/>
                </a:solidFill>
              </a:defRPr>
            </a:pPr>
            <a:r>
              <a:rPr sz="4125" b="1">
                <a:solidFill>
                  <a:srgbClr val="000000"/>
                </a:solidFill>
              </a:rPr>
              <a:t>A valid volatility sensor can still be a bad entry gate</a:t>
            </a:r>
          </a:p>
        </p:txBody>
      </p:sp>
      <p:sp>
        <p:nvSpPr>
          <p:cNvPr id="3" name="">
            <a:extLst xmlns:a="http://schemas.openxmlformats.org/drawingml/2006/main">
              <a:ext uri="{FF2B5EF4-FFF2-40B4-BE49-F238E27FC236}">
                <a16:creationId xmlns:a16="http://schemas.microsoft.com/office/drawing/2014/main" id="{0A07335D-3AF4-46E5-97E0-90228F60763A}"/>
              </a:ext>
            </a:extLst>
          </p:cNvPr>
          <p:cNvSpPr>
            <a:spLocks xmlns:a="http://schemas.openxmlformats.org/drawingml/2006/main" noGrp="1"/>
          </p:cNvSpPr>
          <p:nvPr/>
        </p:nvSpPr>
        <p:spPr>
          <a:xfrm xmlns:a="http://schemas.openxmlformats.org/drawingml/2006/main">
            <a:off x="523875" y="3571875"/>
            <a:ext cx="962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202630"/>
                </a:solidFill>
              </a:defRPr>
            </a:pPr>
            <a:r>
              <a:rPr sz="1875" b="0">
                <a:solidFill>
                  <a:srgbClr val="202630"/>
                </a:solidFill>
              </a:rPr>
              <a:t>ATR LOW off × daily SMA8/SMA14 · 24 stocks · 2018–2023 DEVELOPMENT</a:t>
            </a:r>
          </a:p>
        </p:txBody>
      </p:sp>
      <p:sp>
        <p:nvSpPr>
          <p:cNvPr id="4" name="">
            <a:extLst xmlns:a="http://schemas.openxmlformats.org/drawingml/2006/main">
              <a:ext uri="{FF2B5EF4-FFF2-40B4-BE49-F238E27FC236}">
                <a16:creationId xmlns:a16="http://schemas.microsoft.com/office/drawing/2014/main" id="{55B3949F-C842-43AC-8BFE-82F478028DAB}"/>
              </a:ext>
            </a:extLst>
          </p:cNvPr>
          <p:cNvSpPr>
            <a:spLocks xmlns:a="http://schemas.openxmlformats.org/drawingml/2006/main" noGrp="1"/>
          </p:cNvSpPr>
          <p:nvPr/>
        </p:nvSpPr>
        <p:spPr>
          <a:xfrm xmlns:a="http://schemas.openxmlformats.org/drawingml/2006/main">
            <a:off x="523875" y="4810125"/>
            <a:ext cx="105727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B5A1B1-B639-4999-920F-172386162CD2}"/>
              </a:ext>
            </a:extLst>
          </p:cNvPr>
          <p:cNvSpPr>
            <a:spLocks xmlns:a="http://schemas.openxmlformats.org/drawingml/2006/main" noGrp="1"/>
          </p:cNvSpPr>
          <p:nvPr/>
        </p:nvSpPr>
        <p:spPr>
          <a:xfrm xmlns:a="http://schemas.openxmlformats.org/drawingml/2006/main">
            <a:off x="523875" y="51911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C83E3A"/>
                </a:solidFill>
              </a:defRPr>
            </a:pPr>
            <a:r>
              <a:rPr sz="2325" b="1">
                <a:solidFill>
                  <a:srgbClr val="C83E3A"/>
                </a:solidFill>
              </a:rPr>
              <a:t>Drawdown improved. Return, Sharpe, breadth, and regime specificity did not.</a:t>
            </a:r>
          </a:p>
        </p:txBody>
      </p:sp>
      <p:sp>
        <p:nvSpPr>
          <p:cNvPr id="6" name="">
            <a:extLst xmlns:a="http://schemas.openxmlformats.org/drawingml/2006/main">
              <a:ext uri="{FF2B5EF4-FFF2-40B4-BE49-F238E27FC236}">
                <a16:creationId xmlns:a16="http://schemas.microsoft.com/office/drawing/2014/main" id="{A8E440A7-B47C-4E81-98D5-066D81EB9383}"/>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000000"/>
                </a:solidFill>
              </a:defRPr>
            </a:pPr>
            <a:r>
              <a:rPr sz="900" b="0">
                <a:solidFill>
                  <a:srgbClr val="000000"/>
                </a:solidFill>
              </a:rPr>
              <a:t>1</a:t>
            </a:r>
          </a:p>
        </p:txBody>
      </p:sp>
    </p:spTree>
    <p:extLst>
      <p:ext uri="{BB962C8B-B14F-4D97-AF65-F5344CB8AC3E}">
        <p14:creationId xmlns:p14="http://schemas.microsoft.com/office/powerpoint/2010/main" val="7965456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ACB1982-7DD9-4263-92EE-870E9577A2AE}"/>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experiment changed one thing—and only one thing</a:t>
            </a:r>
          </a:p>
        </p:txBody>
      </p:sp>
      <p:sp>
        <p:nvSpPr>
          <p:cNvPr id="2" name="">
            <a:extLst xmlns:a="http://schemas.openxmlformats.org/drawingml/2006/main">
              <a:ext uri="{FF2B5EF4-FFF2-40B4-BE49-F238E27FC236}">
                <a16:creationId xmlns:a16="http://schemas.microsoft.com/office/drawing/2014/main" id="{633A403A-AD50-4DCD-8120-F6C8079F08B6}"/>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2</a:t>
            </a:r>
          </a:p>
        </p:txBody>
      </p:sp>
      <p:sp>
        <p:nvSpPr>
          <p:cNvPr id="3" name="">
            <a:extLst xmlns:a="http://schemas.openxmlformats.org/drawingml/2006/main">
              <a:ext uri="{FF2B5EF4-FFF2-40B4-BE49-F238E27FC236}">
                <a16:creationId xmlns:a16="http://schemas.microsoft.com/office/drawing/2014/main" id="{6863B3BE-AD24-407D-A7FD-B97A77F1009C}"/>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AUTHORITY BOUNDARY</a:t>
            </a:r>
          </a:p>
        </p:txBody>
      </p:sp>
      <p:sp>
        <p:nvSpPr>
          <p:cNvPr id="4" name="">
            <a:extLst xmlns:a="http://schemas.openxmlformats.org/drawingml/2006/main">
              <a:ext uri="{FF2B5EF4-FFF2-40B4-BE49-F238E27FC236}">
                <a16:creationId xmlns:a16="http://schemas.microsoft.com/office/drawing/2014/main" id="{866C0FB6-1D08-4CBA-A480-0C0E962709B6}"/>
              </a:ext>
            </a:extLst>
          </p:cNvPr>
          <p:cNvSpPr>
            <a:spLocks xmlns:a="http://schemas.openxmlformats.org/drawingml/2006/main" noGrp="1"/>
          </p:cNvSpPr>
          <p:nvPr/>
        </p:nvSpPr>
        <p:spPr>
          <a:xfrm xmlns:a="http://schemas.openxmlformats.org/drawingml/2006/main">
            <a:off x="457200" y="1571625"/>
            <a:ext cx="5286375" cy="4333875"/>
          </a:xfrm>
          <a:prstGeom xmlns:a="http://schemas.openxmlformats.org/drawingml/2006/main" prst="roundRect">
            <a:avLst>
              <a:gd name="adj" fmla="val 1758"/>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F562DB-73AF-44B8-BBA4-82040782E399}"/>
              </a:ext>
            </a:extLst>
          </p:cNvPr>
          <p:cNvSpPr>
            <a:spLocks xmlns:a="http://schemas.openxmlformats.org/drawingml/2006/main" noGrp="1"/>
          </p:cNvSpPr>
          <p:nvPr/>
        </p:nvSpPr>
        <p:spPr>
          <a:xfrm xmlns:a="http://schemas.openxmlformats.org/drawingml/2006/main">
            <a:off x="742950" y="18859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Parent authorities</a:t>
            </a:r>
          </a:p>
        </p:txBody>
      </p:sp>
      <p:sp>
        <p:nvSpPr>
          <p:cNvPr id="6" name="">
            <a:extLst xmlns:a="http://schemas.openxmlformats.org/drawingml/2006/main">
              <a:ext uri="{FF2B5EF4-FFF2-40B4-BE49-F238E27FC236}">
                <a16:creationId xmlns:a16="http://schemas.microsoft.com/office/drawing/2014/main" id="{BC136023-9262-4555-A012-5B1EC23C7960}"/>
              </a:ext>
            </a:extLst>
          </p:cNvPr>
          <p:cNvSpPr>
            <a:spLocks xmlns:a="http://schemas.openxmlformats.org/drawingml/2006/main" noGrp="1"/>
          </p:cNvSpPr>
          <p:nvPr/>
        </p:nvSpPr>
        <p:spPr>
          <a:xfrm xmlns:a="http://schemas.openxmlformats.org/drawingml/2006/main">
            <a:off x="762000" y="263842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69279C-7921-4E71-A06C-07CBC0072971}"/>
              </a:ext>
            </a:extLst>
          </p:cNvPr>
          <p:cNvSpPr>
            <a:spLocks xmlns:a="http://schemas.openxmlformats.org/drawingml/2006/main" noGrp="1"/>
          </p:cNvSpPr>
          <p:nvPr/>
        </p:nvSpPr>
        <p:spPr>
          <a:xfrm xmlns:a="http://schemas.openxmlformats.org/drawingml/2006/main">
            <a:off x="1000125" y="2571750"/>
            <a:ext cx="4238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ATR14 / close; prior-252 percentile; 30/40 and 60/70 hysteresis</a:t>
            </a:r>
          </a:p>
        </p:txBody>
      </p:sp>
      <p:sp>
        <p:nvSpPr>
          <p:cNvPr id="8" name="">
            <a:extLst xmlns:a="http://schemas.openxmlformats.org/drawingml/2006/main">
              <a:ext uri="{FF2B5EF4-FFF2-40B4-BE49-F238E27FC236}">
                <a16:creationId xmlns:a16="http://schemas.microsoft.com/office/drawing/2014/main" id="{56BDA5F5-DBD9-4A9D-8EAA-82116F77C5EB}"/>
              </a:ext>
            </a:extLst>
          </p:cNvPr>
          <p:cNvSpPr>
            <a:spLocks xmlns:a="http://schemas.openxmlformats.org/drawingml/2006/main" noGrp="1"/>
          </p:cNvSpPr>
          <p:nvPr/>
        </p:nvSpPr>
        <p:spPr>
          <a:xfrm xmlns:a="http://schemas.openxmlformats.org/drawingml/2006/main">
            <a:off x="762000" y="332422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D9FBBC-2B07-4958-98DA-7A2D9C904CD6}"/>
              </a:ext>
            </a:extLst>
          </p:cNvPr>
          <p:cNvSpPr>
            <a:spLocks xmlns:a="http://schemas.openxmlformats.org/drawingml/2006/main" noGrp="1"/>
          </p:cNvSpPr>
          <p:nvPr/>
        </p:nvSpPr>
        <p:spPr>
          <a:xfrm xmlns:a="http://schemas.openxmlformats.org/drawingml/2006/main">
            <a:off x="1000125" y="3257550"/>
            <a:ext cx="4238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Daily SMA8/SMA14 fresh cross; next-open entry; cross-down exit</a:t>
            </a:r>
          </a:p>
        </p:txBody>
      </p:sp>
      <p:sp>
        <p:nvSpPr>
          <p:cNvPr id="10" name="">
            <a:extLst xmlns:a="http://schemas.openxmlformats.org/drawingml/2006/main">
              <a:ext uri="{FF2B5EF4-FFF2-40B4-BE49-F238E27FC236}">
                <a16:creationId xmlns:a16="http://schemas.microsoft.com/office/drawing/2014/main" id="{5622C664-8F83-4FE5-8E6F-11E01548B56B}"/>
              </a:ext>
            </a:extLst>
          </p:cNvPr>
          <p:cNvSpPr>
            <a:spLocks xmlns:a="http://schemas.openxmlformats.org/drawingml/2006/main" noGrp="1"/>
          </p:cNvSpPr>
          <p:nvPr/>
        </p:nvSpPr>
        <p:spPr>
          <a:xfrm xmlns:a="http://schemas.openxmlformats.org/drawingml/2006/main">
            <a:off x="762000" y="401002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7EC650-882D-4F95-9A4D-DE9A62CC386A}"/>
              </a:ext>
            </a:extLst>
          </p:cNvPr>
          <p:cNvSpPr>
            <a:spLocks xmlns:a="http://schemas.openxmlformats.org/drawingml/2006/main" noGrp="1"/>
          </p:cNvSpPr>
          <p:nvPr/>
        </p:nvSpPr>
        <p:spPr>
          <a:xfrm xmlns:a="http://schemas.openxmlformats.org/drawingml/2006/main">
            <a:off x="1000125" y="3943350"/>
            <a:ext cx="4238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Long or cash; 5 bp per side; 1x primary</a:t>
            </a:r>
          </a:p>
        </p:txBody>
      </p:sp>
      <p:sp>
        <p:nvSpPr>
          <p:cNvPr id="12" name="">
            <a:extLst xmlns:a="http://schemas.openxmlformats.org/drawingml/2006/main">
              <a:ext uri="{FF2B5EF4-FFF2-40B4-BE49-F238E27FC236}">
                <a16:creationId xmlns:a16="http://schemas.microsoft.com/office/drawing/2014/main" id="{910A8189-CEB5-4B62-B312-4C530AA4C412}"/>
              </a:ext>
            </a:extLst>
          </p:cNvPr>
          <p:cNvSpPr>
            <a:spLocks xmlns:a="http://schemas.openxmlformats.org/drawingml/2006/main" noGrp="1"/>
          </p:cNvSpPr>
          <p:nvPr/>
        </p:nvSpPr>
        <p:spPr>
          <a:xfrm xmlns:a="http://schemas.openxmlformats.org/drawingml/2006/main">
            <a:off x="762000" y="4695825"/>
            <a:ext cx="104775" cy="104775"/>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8DA96C-CED3-4476-B463-D225377CDFB2}"/>
              </a:ext>
            </a:extLst>
          </p:cNvPr>
          <p:cNvSpPr>
            <a:spLocks xmlns:a="http://schemas.openxmlformats.org/drawingml/2006/main" noGrp="1"/>
          </p:cNvSpPr>
          <p:nvPr/>
        </p:nvSpPr>
        <p:spPr>
          <a:xfrm xmlns:a="http://schemas.openxmlformats.org/drawingml/2006/main">
            <a:off x="1000125" y="4629150"/>
            <a:ext cx="4238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24 stocks × six annual cells = 144 primary observations</a:t>
            </a:r>
          </a:p>
        </p:txBody>
      </p:sp>
      <p:sp>
        <p:nvSpPr>
          <p:cNvPr id="14" name="">
            <a:extLst xmlns:a="http://schemas.openxmlformats.org/drawingml/2006/main">
              <a:ext uri="{FF2B5EF4-FFF2-40B4-BE49-F238E27FC236}">
                <a16:creationId xmlns:a16="http://schemas.microsoft.com/office/drawing/2014/main" id="{AB000077-991D-459C-9A97-0BFD253C92F7}"/>
              </a:ext>
            </a:extLst>
          </p:cNvPr>
          <p:cNvSpPr>
            <a:spLocks xmlns:a="http://schemas.openxmlformats.org/drawingml/2006/main" noGrp="1"/>
          </p:cNvSpPr>
          <p:nvPr/>
        </p:nvSpPr>
        <p:spPr>
          <a:xfrm xmlns:a="http://schemas.openxmlformats.org/drawingml/2006/main">
            <a:off x="6286500" y="1571625"/>
            <a:ext cx="5334000" cy="4333875"/>
          </a:xfrm>
          <a:prstGeom xmlns:a="http://schemas.openxmlformats.org/drawingml/2006/main" prst="roundRect">
            <a:avLst>
              <a:gd name="adj" fmla="val 1758"/>
            </a:avLst>
          </a:prstGeom>
          <a:solidFill xmlns:a="http://schemas.openxmlformats.org/drawingml/2006/main">
            <a:srgbClr val="F5F5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CF1472B-3BA2-46D2-9C24-DF3317CFED5E}"/>
              </a:ext>
            </a:extLst>
          </p:cNvPr>
          <p:cNvSpPr>
            <a:spLocks xmlns:a="http://schemas.openxmlformats.org/drawingml/2006/main" noGrp="1"/>
          </p:cNvSpPr>
          <p:nvPr/>
        </p:nvSpPr>
        <p:spPr>
          <a:xfrm xmlns:a="http://schemas.openxmlformats.org/drawingml/2006/main">
            <a:off x="6667500" y="18859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defRPr>
            </a:pPr>
            <a:r>
              <a:rPr sz="2100" b="1">
                <a:solidFill>
                  <a:srgbClr val="000000"/>
                </a:solidFill>
              </a:rPr>
              <a:t>New permission rule</a:t>
            </a:r>
          </a:p>
        </p:txBody>
      </p:sp>
      <p:sp>
        <p:nvSpPr>
          <p:cNvPr id="16" name="">
            <a:extLst xmlns:a="http://schemas.openxmlformats.org/drawingml/2006/main">
              <a:ext uri="{FF2B5EF4-FFF2-40B4-BE49-F238E27FC236}">
                <a16:creationId xmlns:a16="http://schemas.microsoft.com/office/drawing/2014/main" id="{90CF325B-1E60-401D-9C53-118839AC6BF8}"/>
              </a:ext>
            </a:extLst>
          </p:cNvPr>
          <p:cNvSpPr>
            <a:spLocks xmlns:a="http://schemas.openxmlformats.org/drawingml/2006/main" noGrp="1"/>
          </p:cNvSpPr>
          <p:nvPr/>
        </p:nvSpPr>
        <p:spPr>
          <a:xfrm xmlns:a="http://schemas.openxmlformats.org/drawingml/2006/main">
            <a:off x="6667500" y="2714625"/>
            <a:ext cx="1476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2A65A"/>
                </a:solidFill>
              </a:defRPr>
            </a:pPr>
            <a:r>
              <a:rPr sz="3600" b="1">
                <a:solidFill>
                  <a:srgbClr val="F2A65A"/>
                </a:solidFill>
              </a:rPr>
              <a:t>LOW</a:t>
            </a:r>
          </a:p>
        </p:txBody>
      </p:sp>
      <p:sp>
        <p:nvSpPr>
          <p:cNvPr id="17" name="">
            <a:extLst xmlns:a="http://schemas.openxmlformats.org/drawingml/2006/main">
              <a:ext uri="{FF2B5EF4-FFF2-40B4-BE49-F238E27FC236}">
                <a16:creationId xmlns:a16="http://schemas.microsoft.com/office/drawing/2014/main" id="{B1C81F1D-DA14-46F8-AE7B-2399D08B70BC}"/>
              </a:ext>
            </a:extLst>
          </p:cNvPr>
          <p:cNvSpPr>
            <a:spLocks xmlns:a="http://schemas.openxmlformats.org/drawingml/2006/main" noGrp="1"/>
          </p:cNvSpPr>
          <p:nvPr/>
        </p:nvSpPr>
        <p:spPr>
          <a:xfrm xmlns:a="http://schemas.openxmlformats.org/drawingml/2006/main">
            <a:off x="8334375" y="27622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Skip that fresh entry permanently</a:t>
            </a:r>
          </a:p>
        </p:txBody>
      </p:sp>
      <p:sp>
        <p:nvSpPr>
          <p:cNvPr id="18" name="">
            <a:extLst xmlns:a="http://schemas.openxmlformats.org/drawingml/2006/main">
              <a:ext uri="{FF2B5EF4-FFF2-40B4-BE49-F238E27FC236}">
                <a16:creationId xmlns:a16="http://schemas.microsoft.com/office/drawing/2014/main" id="{52CB7C09-1555-41EA-996C-9AD0046CE458}"/>
              </a:ext>
            </a:extLst>
          </p:cNvPr>
          <p:cNvSpPr>
            <a:spLocks xmlns:a="http://schemas.openxmlformats.org/drawingml/2006/main" noGrp="1"/>
          </p:cNvSpPr>
          <p:nvPr/>
        </p:nvSpPr>
        <p:spPr>
          <a:xfrm xmlns:a="http://schemas.openxmlformats.org/drawingml/2006/main">
            <a:off x="6667500" y="36671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MEDIUM / HIGH</a:t>
            </a:r>
          </a:p>
        </p:txBody>
      </p:sp>
      <p:sp>
        <p:nvSpPr>
          <p:cNvPr id="19" name="">
            <a:extLst xmlns:a="http://schemas.openxmlformats.org/drawingml/2006/main">
              <a:ext uri="{FF2B5EF4-FFF2-40B4-BE49-F238E27FC236}">
                <a16:creationId xmlns:a16="http://schemas.microsoft.com/office/drawing/2014/main" id="{C0009CCB-7686-4B42-8CE1-EAA1623AD3CC}"/>
              </a:ext>
            </a:extLst>
          </p:cNvPr>
          <p:cNvSpPr>
            <a:spLocks xmlns:a="http://schemas.openxmlformats.org/drawingml/2006/main" noGrp="1"/>
          </p:cNvSpPr>
          <p:nvPr/>
        </p:nvSpPr>
        <p:spPr>
          <a:xfrm xmlns:a="http://schemas.openxmlformats.org/drawingml/2006/main">
            <a:off x="9382125" y="3714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defRPr>
            </a:pPr>
            <a:r>
              <a:rPr sz="1575" b="1">
                <a:solidFill>
                  <a:srgbClr val="000000"/>
                </a:solidFill>
              </a:rPr>
              <a:t>Allow the unchanged entry</a:t>
            </a:r>
          </a:p>
        </p:txBody>
      </p:sp>
      <p:sp>
        <p:nvSpPr>
          <p:cNvPr id="20" name="">
            <a:extLst xmlns:a="http://schemas.openxmlformats.org/drawingml/2006/main">
              <a:ext uri="{FF2B5EF4-FFF2-40B4-BE49-F238E27FC236}">
                <a16:creationId xmlns:a16="http://schemas.microsoft.com/office/drawing/2014/main" id="{B32AEF22-EAA8-453D-903C-BE3A89DECF39}"/>
              </a:ext>
            </a:extLst>
          </p:cNvPr>
          <p:cNvSpPr>
            <a:spLocks xmlns:a="http://schemas.openxmlformats.org/drawingml/2006/main" noGrp="1"/>
          </p:cNvSpPr>
          <p:nvPr/>
        </p:nvSpPr>
        <p:spPr>
          <a:xfrm xmlns:a="http://schemas.openxmlformats.org/drawingml/2006/main">
            <a:off x="6667500" y="4762500"/>
            <a:ext cx="4476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02630"/>
                </a:solidFill>
              </a:defRPr>
            </a:pPr>
            <a:r>
              <a:rPr sz="1575" b="0">
                <a:solidFill>
                  <a:srgbClr val="202630"/>
                </a:solidFill>
              </a:rPr>
              <a:t>Open trades ignore later state changes. Exits are never modified. No deferred entry.</a:t>
            </a:r>
          </a:p>
        </p:txBody>
      </p:sp>
    </p:spTree>
    <p:extLst>
      <p:ext uri="{BB962C8B-B14F-4D97-AF65-F5344CB8AC3E}">
        <p14:creationId xmlns:p14="http://schemas.microsoft.com/office/powerpoint/2010/main" val="9227998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2E57143-7230-4316-9414-34D7F4F4C24A}"/>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Two accepted data surfaces meet at the signal close</a:t>
            </a:r>
          </a:p>
        </p:txBody>
      </p:sp>
      <p:sp>
        <p:nvSpPr>
          <p:cNvPr id="2" name="">
            <a:extLst xmlns:a="http://schemas.openxmlformats.org/drawingml/2006/main">
              <a:ext uri="{FF2B5EF4-FFF2-40B4-BE49-F238E27FC236}">
                <a16:creationId xmlns:a16="http://schemas.microsoft.com/office/drawing/2014/main" id="{3A38DB92-AA73-4F78-A699-76C2ED15F93B}"/>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3</a:t>
            </a:r>
          </a:p>
        </p:txBody>
      </p:sp>
      <p:sp>
        <p:nvSpPr>
          <p:cNvPr id="3" name="">
            <a:extLst xmlns:a="http://schemas.openxmlformats.org/drawingml/2006/main">
              <a:ext uri="{FF2B5EF4-FFF2-40B4-BE49-F238E27FC236}">
                <a16:creationId xmlns:a16="http://schemas.microsoft.com/office/drawing/2014/main" id="{D8C48953-91FC-4123-9A37-41AF189B7342}"/>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CAUSAL JOIN AND FALSIFICATION</a:t>
            </a:r>
          </a:p>
        </p:txBody>
      </p:sp>
      <p:sp>
        <p:nvSpPr>
          <p:cNvPr id="4" name="">
            <a:extLst xmlns:a="http://schemas.openxmlformats.org/drawingml/2006/main">
              <a:ext uri="{FF2B5EF4-FFF2-40B4-BE49-F238E27FC236}">
                <a16:creationId xmlns:a16="http://schemas.microsoft.com/office/drawing/2014/main" id="{B812C542-E1E7-479A-90B5-27E82C91A4EC}"/>
              </a:ext>
            </a:extLst>
          </p:cNvPr>
          <p:cNvSpPr>
            <a:spLocks xmlns:a="http://schemas.openxmlformats.org/drawingml/2006/main" noGrp="1"/>
          </p:cNvSpPr>
          <p:nvPr/>
        </p:nvSpPr>
        <p:spPr>
          <a:xfrm xmlns:a="http://schemas.openxmlformats.org/drawingml/2006/main">
            <a:off x="523875" y="1809750"/>
            <a:ext cx="3286125" cy="2762250"/>
          </a:xfrm>
          <a:prstGeom xmlns:a="http://schemas.openxmlformats.org/drawingml/2006/main" prst="roundRect">
            <a:avLst>
              <a:gd name="adj" fmla="val 2759"/>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562057-89C8-44CE-A4EB-B677B7FFE443}"/>
              </a:ext>
            </a:extLst>
          </p:cNvPr>
          <p:cNvSpPr>
            <a:spLocks xmlns:a="http://schemas.openxmlformats.org/drawingml/2006/main" noGrp="1"/>
          </p:cNvSpPr>
          <p:nvPr/>
        </p:nvSpPr>
        <p:spPr>
          <a:xfrm xmlns:a="http://schemas.openxmlformats.org/drawingml/2006/main">
            <a:off x="762000" y="209550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Strategy surface</a:t>
            </a:r>
          </a:p>
        </p:txBody>
      </p:sp>
      <p:sp>
        <p:nvSpPr>
          <p:cNvPr id="6" name="">
            <a:extLst xmlns:a="http://schemas.openxmlformats.org/drawingml/2006/main">
              <a:ext uri="{FF2B5EF4-FFF2-40B4-BE49-F238E27FC236}">
                <a16:creationId xmlns:a16="http://schemas.microsoft.com/office/drawing/2014/main" id="{BAEA31BC-7461-4919-84D7-21BE9FCA7AC5}"/>
              </a:ext>
            </a:extLst>
          </p:cNvPr>
          <p:cNvSpPr>
            <a:spLocks xmlns:a="http://schemas.openxmlformats.org/drawingml/2006/main" noGrp="1"/>
          </p:cNvSpPr>
          <p:nvPr/>
        </p:nvSpPr>
        <p:spPr>
          <a:xfrm xmlns:a="http://schemas.openxmlformats.org/drawingml/2006/main">
            <a:off x="790575" y="2809875"/>
            <a:ext cx="27527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202630"/>
                </a:solidFill>
              </a:defRPr>
            </a:pPr>
            <a:r>
              <a:rPr sz="1575" b="0">
                <a:solidFill>
                  <a:srgbClr val="202630"/>
                </a:solidFill>
              </a:rPr>
              <a:t>Accepted 30-minute SIP archive</a:t>
            </a:r>
          </a:p>
          <a:p xmlns:a="http://schemas.openxmlformats.org/drawingml/2006/main">
            <a:pPr algn="ctr">
              <a:defRPr sz="1575" b="0">
                <a:solidFill>
                  <a:srgbClr val="202630"/>
                </a:solidFill>
              </a:defRPr>
            </a:pPr>
            <a:r>
              <a:rPr sz="1575" b="0">
                <a:solidFill>
                  <a:srgbClr val="202630"/>
                </a:solidFill>
              </a:rPr>
              <a:t>↓</a:t>
            </a:r>
          </a:p>
          <a:p xmlns:a="http://schemas.openxmlformats.org/drawingml/2006/main">
            <a:pPr algn="ctr">
              <a:defRPr sz="1575" b="0">
                <a:solidFill>
                  <a:srgbClr val="202630"/>
                </a:solidFill>
              </a:defRPr>
            </a:pPr>
            <a:r>
              <a:rPr sz="1575" b="0">
                <a:solidFill>
                  <a:srgbClr val="202630"/>
                </a:solidFill>
              </a:rPr>
              <a:t>reconstructed daily opens/closes</a:t>
            </a:r>
          </a:p>
          <a:p xmlns:a="http://schemas.openxmlformats.org/drawingml/2006/main">
            <a:pPr algn="ctr">
              <a:defRPr sz="1575" b="0">
                <a:solidFill>
                  <a:srgbClr val="202630"/>
                </a:solidFill>
              </a:defRPr>
            </a:pPr>
            <a:r>
              <a:rPr sz="1575" b="0">
                <a:solidFill>
                  <a:srgbClr val="202630"/>
                </a:solidFill>
              </a:rPr>
              <a:t>↓</a:t>
            </a:r>
          </a:p>
          <a:p xmlns:a="http://schemas.openxmlformats.org/drawingml/2006/main">
            <a:pPr algn="ctr">
              <a:defRPr sz="1575" b="0">
                <a:solidFill>
                  <a:srgbClr val="202630"/>
                </a:solidFill>
              </a:defRPr>
            </a:pPr>
            <a:r>
              <a:rPr sz="1575" b="0">
                <a:solidFill>
                  <a:srgbClr val="202630"/>
                </a:solidFill>
              </a:rPr>
              <a:t>SMA8/SMA14 signals</a:t>
            </a:r>
          </a:p>
        </p:txBody>
      </p:sp>
      <p:sp>
        <p:nvSpPr>
          <p:cNvPr id="7" name="">
            <a:extLst xmlns:a="http://schemas.openxmlformats.org/drawingml/2006/main">
              <a:ext uri="{FF2B5EF4-FFF2-40B4-BE49-F238E27FC236}">
                <a16:creationId xmlns:a16="http://schemas.microsoft.com/office/drawing/2014/main" id="{34758807-4498-4EAB-9C03-7F2305C2B59B}"/>
              </a:ext>
            </a:extLst>
          </p:cNvPr>
          <p:cNvSpPr>
            <a:spLocks xmlns:a="http://schemas.openxmlformats.org/drawingml/2006/main" noGrp="1"/>
          </p:cNvSpPr>
          <p:nvPr/>
        </p:nvSpPr>
        <p:spPr>
          <a:xfrm xmlns:a="http://schemas.openxmlformats.org/drawingml/2006/main">
            <a:off x="4333875" y="1809750"/>
            <a:ext cx="3286125" cy="2762250"/>
          </a:xfrm>
          <a:prstGeom xmlns:a="http://schemas.openxmlformats.org/drawingml/2006/main" prst="roundRect">
            <a:avLst>
              <a:gd name="adj" fmla="val 2759"/>
            </a:avLst>
          </a:prstGeom>
          <a:solidFill xmlns:a="http://schemas.openxmlformats.org/drawingml/2006/main">
            <a:srgbClr val="EAF5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8CBD0C-9BE7-4310-8834-4594C73FE45A}"/>
              </a:ext>
            </a:extLst>
          </p:cNvPr>
          <p:cNvSpPr>
            <a:spLocks xmlns:a="http://schemas.openxmlformats.org/drawingml/2006/main" noGrp="1"/>
          </p:cNvSpPr>
          <p:nvPr/>
        </p:nvSpPr>
        <p:spPr>
          <a:xfrm xmlns:a="http://schemas.openxmlformats.org/drawingml/2006/main">
            <a:off x="4572000" y="209550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3D8DFF"/>
                </a:solidFill>
              </a:defRPr>
            </a:pPr>
            <a:r>
              <a:rPr sz="1800" b="1">
                <a:solidFill>
                  <a:srgbClr val="3D8DFF"/>
                </a:solidFill>
              </a:rPr>
              <a:t>Signal-close join</a:t>
            </a:r>
          </a:p>
        </p:txBody>
      </p:sp>
      <p:sp>
        <p:nvSpPr>
          <p:cNvPr id="9" name="">
            <a:extLst xmlns:a="http://schemas.openxmlformats.org/drawingml/2006/main">
              <a:ext uri="{FF2B5EF4-FFF2-40B4-BE49-F238E27FC236}">
                <a16:creationId xmlns:a16="http://schemas.microsoft.com/office/drawing/2014/main" id="{C41C7B9C-348D-4D43-9357-F47368BFA55F}"/>
              </a:ext>
            </a:extLst>
          </p:cNvPr>
          <p:cNvSpPr>
            <a:spLocks xmlns:a="http://schemas.openxmlformats.org/drawingml/2006/main" noGrp="1"/>
          </p:cNvSpPr>
          <p:nvPr/>
        </p:nvSpPr>
        <p:spPr>
          <a:xfrm xmlns:a="http://schemas.openxmlformats.org/drawingml/2006/main">
            <a:off x="4600575" y="2809875"/>
            <a:ext cx="27527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202630"/>
                </a:solidFill>
              </a:defRPr>
            </a:pPr>
            <a:r>
              <a:rPr sz="1575" b="0">
                <a:solidFill>
                  <a:srgbClr val="202630"/>
                </a:solidFill>
              </a:rPr>
              <a:t>signal at close t</a:t>
            </a:r>
          </a:p>
          <a:p xmlns:a="http://schemas.openxmlformats.org/drawingml/2006/main">
            <a:pPr algn="ctr">
              <a:defRPr sz="1575" b="0">
                <a:solidFill>
                  <a:srgbClr val="202630"/>
                </a:solidFill>
              </a:defRPr>
            </a:pPr>
            <a:r>
              <a:rPr sz="1575" b="0">
                <a:solidFill>
                  <a:srgbClr val="202630"/>
                </a:solidFill>
              </a:rPr>
              <a:t>+ state dated t</a:t>
            </a:r>
          </a:p>
          <a:p xmlns:a="http://schemas.openxmlformats.org/drawingml/2006/main">
            <a:pPr algn="ctr">
              <a:defRPr sz="1575" b="0">
                <a:solidFill>
                  <a:srgbClr val="202630"/>
                </a:solidFill>
              </a:defRPr>
            </a:pPr>
            <a:r>
              <a:rPr sz="1575" b="0">
                <a:solidFill>
                  <a:srgbClr val="202630"/>
                </a:solidFill>
              </a:rPr>
              <a:t>↓</a:t>
            </a:r>
          </a:p>
          <a:p xmlns:a="http://schemas.openxmlformats.org/drawingml/2006/main">
            <a:pPr algn="ctr">
              <a:defRPr sz="1575" b="0">
                <a:solidFill>
                  <a:srgbClr val="202630"/>
                </a:solidFill>
              </a:defRPr>
            </a:pPr>
            <a:r>
              <a:rPr sz="1575" b="0">
                <a:solidFill>
                  <a:srgbClr val="202630"/>
                </a:solidFill>
              </a:rPr>
              <a:t>entry, if allowed, at open t+1</a:t>
            </a:r>
          </a:p>
        </p:txBody>
      </p:sp>
      <p:sp>
        <p:nvSpPr>
          <p:cNvPr id="10" name="">
            <a:extLst xmlns:a="http://schemas.openxmlformats.org/drawingml/2006/main">
              <a:ext uri="{FF2B5EF4-FFF2-40B4-BE49-F238E27FC236}">
                <a16:creationId xmlns:a16="http://schemas.microsoft.com/office/drawing/2014/main" id="{610B5A35-4267-4933-9048-AE334A05ACBE}"/>
              </a:ext>
            </a:extLst>
          </p:cNvPr>
          <p:cNvSpPr>
            <a:spLocks xmlns:a="http://schemas.openxmlformats.org/drawingml/2006/main" noGrp="1"/>
          </p:cNvSpPr>
          <p:nvPr/>
        </p:nvSpPr>
        <p:spPr>
          <a:xfrm xmlns:a="http://schemas.openxmlformats.org/drawingml/2006/main">
            <a:off x="8143875" y="1809750"/>
            <a:ext cx="3286125" cy="2762250"/>
          </a:xfrm>
          <a:prstGeom xmlns:a="http://schemas.openxmlformats.org/drawingml/2006/main" prst="roundRect">
            <a:avLst>
              <a:gd name="adj" fmla="val 2759"/>
            </a:avLst>
          </a:prstGeom>
          <a:solidFill xmlns:a="http://schemas.openxmlformats.org/drawingml/2006/main">
            <a:srgbClr val="F2F2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21AE6B-795B-4445-8D14-E733308B6FFB}"/>
              </a:ext>
            </a:extLst>
          </p:cNvPr>
          <p:cNvSpPr>
            <a:spLocks xmlns:a="http://schemas.openxmlformats.org/drawingml/2006/main" noGrp="1"/>
          </p:cNvSpPr>
          <p:nvPr/>
        </p:nvSpPr>
        <p:spPr>
          <a:xfrm xmlns:a="http://schemas.openxmlformats.org/drawingml/2006/main">
            <a:off x="8382000" y="2095500"/>
            <a:ext cx="2809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State surface</a:t>
            </a:r>
          </a:p>
        </p:txBody>
      </p:sp>
      <p:sp>
        <p:nvSpPr>
          <p:cNvPr id="12" name="">
            <a:extLst xmlns:a="http://schemas.openxmlformats.org/drawingml/2006/main">
              <a:ext uri="{FF2B5EF4-FFF2-40B4-BE49-F238E27FC236}">
                <a16:creationId xmlns:a16="http://schemas.microsoft.com/office/drawing/2014/main" id="{4F52F0A2-3401-4C0E-A0A3-43C1139B8227}"/>
              </a:ext>
            </a:extLst>
          </p:cNvPr>
          <p:cNvSpPr>
            <a:spLocks xmlns:a="http://schemas.openxmlformats.org/drawingml/2006/main" noGrp="1"/>
          </p:cNvSpPr>
          <p:nvPr/>
        </p:nvSpPr>
        <p:spPr>
          <a:xfrm xmlns:a="http://schemas.openxmlformats.org/drawingml/2006/main">
            <a:off x="8410575" y="2809875"/>
            <a:ext cx="27527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202630"/>
                </a:solidFill>
              </a:defRPr>
            </a:pPr>
            <a:r>
              <a:rPr sz="1575" b="0">
                <a:solidFill>
                  <a:srgbClr val="202630"/>
                </a:solidFill>
              </a:rPr>
              <a:t>Accepted adjusted-daily ledger</a:t>
            </a:r>
          </a:p>
          <a:p xmlns:a="http://schemas.openxmlformats.org/drawingml/2006/main">
            <a:pPr algn="ctr">
              <a:defRPr sz="1575" b="0">
                <a:solidFill>
                  <a:srgbClr val="202630"/>
                </a:solidFill>
              </a:defRPr>
            </a:pPr>
            <a:r>
              <a:rPr sz="1575" b="0">
                <a:solidFill>
                  <a:srgbClr val="202630"/>
                </a:solidFill>
              </a:rPr>
              <a:t>↓</a:t>
            </a:r>
          </a:p>
          <a:p xmlns:a="http://schemas.openxmlformats.org/drawingml/2006/main">
            <a:pPr algn="ctr">
              <a:defRPr sz="1575" b="0">
                <a:solidFill>
                  <a:srgbClr val="202630"/>
                </a:solidFill>
              </a:defRPr>
            </a:pPr>
            <a:r>
              <a:rPr sz="1575" b="0">
                <a:solidFill>
                  <a:srgbClr val="202630"/>
                </a:solidFill>
              </a:rPr>
              <a:t>ATR14% percentile</a:t>
            </a:r>
          </a:p>
          <a:p xmlns:a="http://schemas.openxmlformats.org/drawingml/2006/main">
            <a:pPr algn="ctr">
              <a:defRPr sz="1575" b="0">
                <a:solidFill>
                  <a:srgbClr val="202630"/>
                </a:solidFill>
              </a:defRPr>
            </a:pPr>
            <a:r>
              <a:rPr sz="1575" b="0">
                <a:solidFill>
                  <a:srgbClr val="202630"/>
                </a:solidFill>
              </a:rPr>
              <a:t>↓</a:t>
            </a:r>
          </a:p>
          <a:p xmlns:a="http://schemas.openxmlformats.org/drawingml/2006/main">
            <a:pPr algn="ctr">
              <a:defRPr sz="1575" b="0">
                <a:solidFill>
                  <a:srgbClr val="202630"/>
                </a:solidFill>
              </a:defRPr>
            </a:pPr>
            <a:r>
              <a:rPr sz="1575" b="0">
                <a:solidFill>
                  <a:srgbClr val="202630"/>
                </a:solidFill>
              </a:rPr>
              <a:t>LOW / MEDIUM / HIGH</a:t>
            </a:r>
          </a:p>
        </p:txBody>
      </p:sp>
      <p:sp>
        <p:nvSpPr>
          <p:cNvPr id="13" name="">
            <a:extLst xmlns:a="http://schemas.openxmlformats.org/drawingml/2006/main">
              <a:ext uri="{FF2B5EF4-FFF2-40B4-BE49-F238E27FC236}">
                <a16:creationId xmlns:a16="http://schemas.microsoft.com/office/drawing/2014/main" id="{D4FF27DA-4F37-431E-AD88-A2EB0E539C6A}"/>
              </a:ext>
            </a:extLst>
          </p:cNvPr>
          <p:cNvSpPr>
            <a:spLocks xmlns:a="http://schemas.openxmlformats.org/drawingml/2006/main" noGrp="1"/>
          </p:cNvSpPr>
          <p:nvPr/>
        </p:nvSpPr>
        <p:spPr>
          <a:xfrm xmlns:a="http://schemas.openxmlformats.org/drawingml/2006/main">
            <a:off x="714375"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Primary counterfactual</a:t>
            </a:r>
          </a:p>
        </p:txBody>
      </p:sp>
      <p:sp>
        <p:nvSpPr>
          <p:cNvPr id="14" name="">
            <a:extLst xmlns:a="http://schemas.openxmlformats.org/drawingml/2006/main">
              <a:ext uri="{FF2B5EF4-FFF2-40B4-BE49-F238E27FC236}">
                <a16:creationId xmlns:a16="http://schemas.microsoft.com/office/drawing/2014/main" id="{645C5130-B14D-42D3-9F35-CFB80AB6926F}"/>
              </a:ext>
            </a:extLst>
          </p:cNvPr>
          <p:cNvSpPr>
            <a:spLocks xmlns:a="http://schemas.openxmlformats.org/drawingml/2006/main" noGrp="1"/>
          </p:cNvSpPr>
          <p:nvPr/>
        </p:nvSpPr>
        <p:spPr>
          <a:xfrm xmlns:a="http://schemas.openxmlformats.org/drawingml/2006/main">
            <a:off x="714375" y="5505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defRPr>
            </a:pPr>
            <a:r>
              <a:rPr sz="1575" b="1">
                <a:solidFill>
                  <a:srgbClr val="000000"/>
                </a:solidFill>
              </a:rPr>
              <a:t>same strategy, no state veto</a:t>
            </a:r>
          </a:p>
        </p:txBody>
      </p:sp>
      <p:sp>
        <p:nvSpPr>
          <p:cNvPr id="15" name="">
            <a:extLst xmlns:a="http://schemas.openxmlformats.org/drawingml/2006/main">
              <a:ext uri="{FF2B5EF4-FFF2-40B4-BE49-F238E27FC236}">
                <a16:creationId xmlns:a16="http://schemas.microsoft.com/office/drawing/2014/main" id="{AA3CB590-FC33-4FC6-B218-10773CF64823}"/>
              </a:ext>
            </a:extLst>
          </p:cNvPr>
          <p:cNvSpPr>
            <a:spLocks xmlns:a="http://schemas.openxmlformats.org/drawingml/2006/main" noGrp="1"/>
          </p:cNvSpPr>
          <p:nvPr/>
        </p:nvSpPr>
        <p:spPr>
          <a:xfrm xmlns:a="http://schemas.openxmlformats.org/drawingml/2006/main">
            <a:off x="4524375" y="51435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Regime-specificity counterfactual</a:t>
            </a:r>
          </a:p>
        </p:txBody>
      </p:sp>
      <p:sp>
        <p:nvSpPr>
          <p:cNvPr id="16" name="">
            <a:extLst xmlns:a="http://schemas.openxmlformats.org/drawingml/2006/main">
              <a:ext uri="{FF2B5EF4-FFF2-40B4-BE49-F238E27FC236}">
                <a16:creationId xmlns:a16="http://schemas.microsoft.com/office/drawing/2014/main" id="{4813469C-699D-4109-8635-B616F877CB2C}"/>
              </a:ext>
            </a:extLst>
          </p:cNvPr>
          <p:cNvSpPr>
            <a:spLocks xmlns:a="http://schemas.openxmlformats.org/drawingml/2006/main" noGrp="1"/>
          </p:cNvSpPr>
          <p:nvPr/>
        </p:nvSpPr>
        <p:spPr>
          <a:xfrm xmlns:a="http://schemas.openxmlformats.org/drawingml/2006/main">
            <a:off x="4524375" y="55054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defRPr>
            </a:pPr>
            <a:r>
              <a:rPr sz="1500" b="1">
                <a:solidFill>
                  <a:srgbClr val="000000"/>
                </a:solidFill>
              </a:rPr>
              <a:t>200 circular state shifts; evaluate 40 nearest exposure</a:t>
            </a:r>
          </a:p>
        </p:txBody>
      </p:sp>
      <p:sp>
        <p:nvSpPr>
          <p:cNvPr id="17" name="">
            <a:extLst xmlns:a="http://schemas.openxmlformats.org/drawingml/2006/main">
              <a:ext uri="{FF2B5EF4-FFF2-40B4-BE49-F238E27FC236}">
                <a16:creationId xmlns:a16="http://schemas.microsoft.com/office/drawing/2014/main" id="{FF7A8641-041E-473B-9A6D-61C8C926936C}"/>
              </a:ext>
            </a:extLst>
          </p:cNvPr>
          <p:cNvSpPr>
            <a:spLocks xmlns:a="http://schemas.openxmlformats.org/drawingml/2006/main" noGrp="1"/>
          </p:cNvSpPr>
          <p:nvPr/>
        </p:nvSpPr>
        <p:spPr>
          <a:xfrm xmlns:a="http://schemas.openxmlformats.org/drawingml/2006/main">
            <a:off x="8429625" y="5143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C83E3A"/>
                </a:solidFill>
              </a:defRPr>
            </a:pPr>
            <a:r>
              <a:rPr sz="1275" b="1">
                <a:solidFill>
                  <a:srgbClr val="C83E3A"/>
                </a:solidFill>
              </a:rPr>
              <a:t>Sealed boundary</a:t>
            </a:r>
          </a:p>
        </p:txBody>
      </p:sp>
      <p:sp>
        <p:nvSpPr>
          <p:cNvPr id="18" name="">
            <a:extLst xmlns:a="http://schemas.openxmlformats.org/drawingml/2006/main">
              <a:ext uri="{FF2B5EF4-FFF2-40B4-BE49-F238E27FC236}">
                <a16:creationId xmlns:a16="http://schemas.microsoft.com/office/drawing/2014/main" id="{F894F7A2-2EAD-4F83-9528-302C081C583A}"/>
              </a:ext>
            </a:extLst>
          </p:cNvPr>
          <p:cNvSpPr>
            <a:spLocks xmlns:a="http://schemas.openxmlformats.org/drawingml/2006/main" noGrp="1"/>
          </p:cNvSpPr>
          <p:nvPr/>
        </p:nvSpPr>
        <p:spPr>
          <a:xfrm xmlns:a="http://schemas.openxmlformats.org/drawingml/2006/main">
            <a:off x="8429625" y="5505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defRPr>
            </a:pPr>
            <a:r>
              <a:rPr sz="1575" b="1">
                <a:solidFill>
                  <a:srgbClr val="000000"/>
                </a:solidFill>
              </a:rPr>
              <a:t>No 2024+ outcome accessed</a:t>
            </a:r>
          </a:p>
        </p:txBody>
      </p:sp>
    </p:spTree>
    <p:extLst>
      <p:ext uri="{BB962C8B-B14F-4D97-AF65-F5344CB8AC3E}">
        <p14:creationId xmlns:p14="http://schemas.microsoft.com/office/powerpoint/2010/main" val="1307848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EE0043-CE25-4ADC-AE5D-D8501717B381}"/>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parent replay is exact</a:t>
            </a:r>
          </a:p>
        </p:txBody>
      </p:sp>
      <p:sp>
        <p:nvSpPr>
          <p:cNvPr id="2" name="">
            <a:extLst xmlns:a="http://schemas.openxmlformats.org/drawingml/2006/main">
              <a:ext uri="{FF2B5EF4-FFF2-40B4-BE49-F238E27FC236}">
                <a16:creationId xmlns:a16="http://schemas.microsoft.com/office/drawing/2014/main" id="{41A07B49-9062-438B-9278-60FC808EECFD}"/>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4</a:t>
            </a:r>
          </a:p>
        </p:txBody>
      </p:sp>
      <p:sp>
        <p:nvSpPr>
          <p:cNvPr id="3" name="">
            <a:extLst xmlns:a="http://schemas.openxmlformats.org/drawingml/2006/main">
              <a:ext uri="{FF2B5EF4-FFF2-40B4-BE49-F238E27FC236}">
                <a16:creationId xmlns:a16="http://schemas.microsoft.com/office/drawing/2014/main" id="{781BA7FD-79ED-4D86-AAB0-A16A065409B1}"/>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INTEGRITY BEFORE PERFORMANCE</a:t>
            </a:r>
          </a:p>
        </p:txBody>
      </p:sp>
      <p:sp>
        <p:nvSpPr>
          <p:cNvPr id="4" name="">
            <a:extLst xmlns:a="http://schemas.openxmlformats.org/drawingml/2006/main">
              <a:ext uri="{FF2B5EF4-FFF2-40B4-BE49-F238E27FC236}">
                <a16:creationId xmlns:a16="http://schemas.microsoft.com/office/drawing/2014/main" id="{879906F6-1561-49C8-918C-96AA7FDAEC05}"/>
              </a:ext>
            </a:extLst>
          </p:cNvPr>
          <p:cNvSpPr>
            <a:spLocks xmlns:a="http://schemas.openxmlformats.org/drawingml/2006/main" noGrp="1"/>
          </p:cNvSpPr>
          <p:nvPr/>
        </p:nvSpPr>
        <p:spPr>
          <a:xfrm xmlns:a="http://schemas.openxmlformats.org/drawingml/2006/main">
            <a:off x="457200" y="14763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02630"/>
                </a:solidFill>
              </a:defRPr>
            </a:pPr>
            <a:r>
              <a:rPr sz="1650" b="0">
                <a:solidFill>
                  <a:srgbClr val="202630"/>
                </a:solidFill>
              </a:rPr>
              <a:t>The overlay result is not an implementation artifact. All strategy rows map to one causal state; ten extra state-ledger sessions are the predeclared SIP archive-gap dates excluded from execution.</a:t>
            </a:r>
          </a:p>
        </p:txBody>
      </p:sp>
      <p:sp>
        <p:nvSpPr>
          <p:cNvPr id="5" name="">
            <a:extLst xmlns:a="http://schemas.openxmlformats.org/drawingml/2006/main">
              <a:ext uri="{FF2B5EF4-FFF2-40B4-BE49-F238E27FC236}">
                <a16:creationId xmlns:a16="http://schemas.microsoft.com/office/drawing/2014/main" id="{C8BBDAF6-FA79-4ABD-A0CB-8081B029AFB7}"/>
              </a:ext>
            </a:extLst>
          </p:cNvPr>
          <p:cNvSpPr>
            <a:spLocks xmlns:a="http://schemas.openxmlformats.org/drawingml/2006/main" noGrp="1"/>
          </p:cNvSpPr>
          <p:nvPr/>
        </p:nvSpPr>
        <p:spPr>
          <a:xfrm xmlns:a="http://schemas.openxmlformats.org/drawingml/2006/main">
            <a:off x="457200" y="3286125"/>
            <a:ext cx="3333750" cy="2333625"/>
          </a:xfrm>
          <a:prstGeom xmlns:a="http://schemas.openxmlformats.org/drawingml/2006/main" prst="roundRect">
            <a:avLst>
              <a:gd name="adj" fmla="val 3265"/>
            </a:avLst>
          </a:prstGeom>
          <a:solidFill xmlns:a="http://schemas.openxmlformats.org/drawingml/2006/main">
            <a:srgbClr val="F2F2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F30F69-8606-4CEA-A543-F647107A982C}"/>
              </a:ext>
            </a:extLst>
          </p:cNvPr>
          <p:cNvSpPr>
            <a:spLocks xmlns:a="http://schemas.openxmlformats.org/drawingml/2006/main" noGrp="1"/>
          </p:cNvSpPr>
          <p:nvPr/>
        </p:nvSpPr>
        <p:spPr>
          <a:xfrm xmlns:a="http://schemas.openxmlformats.org/drawingml/2006/main">
            <a:off x="723900" y="3667125"/>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2E8B57"/>
                </a:solidFill>
              </a:defRPr>
            </a:pPr>
            <a:r>
              <a:rPr sz="3525" b="1">
                <a:solidFill>
                  <a:srgbClr val="2E8B57"/>
                </a:solidFill>
              </a:rPr>
              <a:t>156 / 156</a:t>
            </a:r>
          </a:p>
        </p:txBody>
      </p:sp>
      <p:sp>
        <p:nvSpPr>
          <p:cNvPr id="7" name="">
            <a:extLst xmlns:a="http://schemas.openxmlformats.org/drawingml/2006/main">
              <a:ext uri="{FF2B5EF4-FFF2-40B4-BE49-F238E27FC236}">
                <a16:creationId xmlns:a16="http://schemas.microsoft.com/office/drawing/2014/main" id="{BE63EE89-87FF-4606-A90C-7E9B6DBDC628}"/>
              </a:ext>
            </a:extLst>
          </p:cNvPr>
          <p:cNvSpPr>
            <a:spLocks xmlns:a="http://schemas.openxmlformats.org/drawingml/2006/main" noGrp="1"/>
          </p:cNvSpPr>
          <p:nvPr/>
        </p:nvSpPr>
        <p:spPr>
          <a:xfrm xmlns:a="http://schemas.openxmlformats.org/drawingml/2006/main">
            <a:off x="723900" y="4572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parent summary rows reproduced</a:t>
            </a:r>
          </a:p>
        </p:txBody>
      </p:sp>
      <p:sp>
        <p:nvSpPr>
          <p:cNvPr id="8" name="">
            <a:extLst xmlns:a="http://schemas.openxmlformats.org/drawingml/2006/main">
              <a:ext uri="{FF2B5EF4-FFF2-40B4-BE49-F238E27FC236}">
                <a16:creationId xmlns:a16="http://schemas.microsoft.com/office/drawing/2014/main" id="{762A2592-4A45-4BEB-89AE-425B5EDA6898}"/>
              </a:ext>
            </a:extLst>
          </p:cNvPr>
          <p:cNvSpPr>
            <a:spLocks xmlns:a="http://schemas.openxmlformats.org/drawingml/2006/main" noGrp="1"/>
          </p:cNvSpPr>
          <p:nvPr/>
        </p:nvSpPr>
        <p:spPr>
          <a:xfrm xmlns:a="http://schemas.openxmlformats.org/drawingml/2006/main">
            <a:off x="4429125" y="3286125"/>
            <a:ext cx="3333750" cy="2333625"/>
          </a:xfrm>
          <a:prstGeom xmlns:a="http://schemas.openxmlformats.org/drawingml/2006/main" prst="roundRect">
            <a:avLst>
              <a:gd name="adj" fmla="val 3265"/>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21390B-56BC-4F5C-A699-BF60F77BD057}"/>
              </a:ext>
            </a:extLst>
          </p:cNvPr>
          <p:cNvSpPr>
            <a:spLocks xmlns:a="http://schemas.openxmlformats.org/drawingml/2006/main" noGrp="1"/>
          </p:cNvSpPr>
          <p:nvPr/>
        </p:nvSpPr>
        <p:spPr>
          <a:xfrm xmlns:a="http://schemas.openxmlformats.org/drawingml/2006/main">
            <a:off x="4695825" y="3667125"/>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2E8B57"/>
                </a:solidFill>
              </a:defRPr>
            </a:pPr>
            <a:r>
              <a:rPr sz="3525" b="1">
                <a:solidFill>
                  <a:srgbClr val="2E8B57"/>
                </a:solidFill>
              </a:rPr>
              <a:t>4.44e−15</a:t>
            </a:r>
          </a:p>
        </p:txBody>
      </p:sp>
      <p:sp>
        <p:nvSpPr>
          <p:cNvPr id="10" name="">
            <a:extLst xmlns:a="http://schemas.openxmlformats.org/drawingml/2006/main">
              <a:ext uri="{FF2B5EF4-FFF2-40B4-BE49-F238E27FC236}">
                <a16:creationId xmlns:a16="http://schemas.microsoft.com/office/drawing/2014/main" id="{C05F91DE-BF95-47A7-8C88-5D4C30EC00D0}"/>
              </a:ext>
            </a:extLst>
          </p:cNvPr>
          <p:cNvSpPr>
            <a:spLocks xmlns:a="http://schemas.openxmlformats.org/drawingml/2006/main" noGrp="1"/>
          </p:cNvSpPr>
          <p:nvPr/>
        </p:nvSpPr>
        <p:spPr>
          <a:xfrm xmlns:a="http://schemas.openxmlformats.org/drawingml/2006/main">
            <a:off x="4695825" y="4572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maximum absolute return difference</a:t>
            </a:r>
          </a:p>
        </p:txBody>
      </p:sp>
      <p:sp>
        <p:nvSpPr>
          <p:cNvPr id="11" name="">
            <a:extLst xmlns:a="http://schemas.openxmlformats.org/drawingml/2006/main">
              <a:ext uri="{FF2B5EF4-FFF2-40B4-BE49-F238E27FC236}">
                <a16:creationId xmlns:a16="http://schemas.microsoft.com/office/drawing/2014/main" id="{BDF3F771-95E1-467F-A568-BE59433A7F30}"/>
              </a:ext>
            </a:extLst>
          </p:cNvPr>
          <p:cNvSpPr>
            <a:spLocks xmlns:a="http://schemas.openxmlformats.org/drawingml/2006/main" noGrp="1"/>
          </p:cNvSpPr>
          <p:nvPr/>
        </p:nvSpPr>
        <p:spPr>
          <a:xfrm xmlns:a="http://schemas.openxmlformats.org/drawingml/2006/main">
            <a:off x="8401050" y="3286125"/>
            <a:ext cx="3333750" cy="2333625"/>
          </a:xfrm>
          <a:prstGeom xmlns:a="http://schemas.openxmlformats.org/drawingml/2006/main" prst="roundRect">
            <a:avLst>
              <a:gd name="adj" fmla="val 3265"/>
            </a:avLst>
          </a:prstGeom>
          <a:solidFill xmlns:a="http://schemas.openxmlformats.org/drawingml/2006/main">
            <a:srgbClr val="F2F2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93F5DF-CC58-43C9-AA24-F1825912BA73}"/>
              </a:ext>
            </a:extLst>
          </p:cNvPr>
          <p:cNvSpPr>
            <a:spLocks xmlns:a="http://schemas.openxmlformats.org/drawingml/2006/main" noGrp="1"/>
          </p:cNvSpPr>
          <p:nvPr/>
        </p:nvSpPr>
        <p:spPr>
          <a:xfrm xmlns:a="http://schemas.openxmlformats.org/drawingml/2006/main">
            <a:off x="8667750" y="3667125"/>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2E8B57"/>
                </a:solidFill>
              </a:defRPr>
            </a:pPr>
            <a:r>
              <a:rPr sz="3525" b="1">
                <a:solidFill>
                  <a:srgbClr val="2E8B57"/>
                </a:solidFill>
              </a:rPr>
              <a:t>144 / 144</a:t>
            </a:r>
          </a:p>
        </p:txBody>
      </p:sp>
      <p:sp>
        <p:nvSpPr>
          <p:cNvPr id="13" name="">
            <a:extLst xmlns:a="http://schemas.openxmlformats.org/drawingml/2006/main">
              <a:ext uri="{FF2B5EF4-FFF2-40B4-BE49-F238E27FC236}">
                <a16:creationId xmlns:a16="http://schemas.microsoft.com/office/drawing/2014/main" id="{78993F9D-B527-4616-AF25-470D7003A8AD}"/>
              </a:ext>
            </a:extLst>
          </p:cNvPr>
          <p:cNvSpPr>
            <a:spLocks xmlns:a="http://schemas.openxmlformats.org/drawingml/2006/main" noGrp="1"/>
          </p:cNvSpPr>
          <p:nvPr/>
        </p:nvSpPr>
        <p:spPr>
          <a:xfrm xmlns:a="http://schemas.openxmlformats.org/drawingml/2006/main">
            <a:off x="8667750" y="4572000"/>
            <a:ext cx="2800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primary stock asset-year cells</a:t>
            </a:r>
          </a:p>
        </p:txBody>
      </p:sp>
    </p:spTree>
    <p:extLst>
      <p:ext uri="{BB962C8B-B14F-4D97-AF65-F5344CB8AC3E}">
        <p14:creationId xmlns:p14="http://schemas.microsoft.com/office/powerpoint/2010/main" val="16924753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806D53-5FCB-453F-9149-58DE1C732431}"/>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Protection improved, but the return bargain deteriorated</a:t>
            </a:r>
          </a:p>
        </p:txBody>
      </p:sp>
      <p:sp>
        <p:nvSpPr>
          <p:cNvPr id="2" name="">
            <a:extLst xmlns:a="http://schemas.openxmlformats.org/drawingml/2006/main">
              <a:ext uri="{FF2B5EF4-FFF2-40B4-BE49-F238E27FC236}">
                <a16:creationId xmlns:a16="http://schemas.microsoft.com/office/drawing/2014/main" id="{A94CA1E1-06D7-4E3F-B52D-83B70FB5687D}"/>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5</a:t>
            </a:r>
          </a:p>
        </p:txBody>
      </p:sp>
      <p:sp>
        <p:nvSpPr>
          <p:cNvPr id="3" name="">
            <a:extLst xmlns:a="http://schemas.openxmlformats.org/drawingml/2006/main">
              <a:ext uri="{FF2B5EF4-FFF2-40B4-BE49-F238E27FC236}">
                <a16:creationId xmlns:a16="http://schemas.microsoft.com/office/drawing/2014/main" id="{C654E10F-8CE1-4289-A259-65D483F9B248}"/>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PRIMARY 1X DEVELOPMENT READOUT</a:t>
            </a:r>
          </a:p>
        </p:txBody>
      </p:sp>
      <p:sp>
        <p:nvSpPr>
          <p:cNvPr id="4" name="">
            <a:extLst xmlns:a="http://schemas.openxmlformats.org/drawingml/2006/main">
              <a:ext uri="{FF2B5EF4-FFF2-40B4-BE49-F238E27FC236}">
                <a16:creationId xmlns:a16="http://schemas.microsoft.com/office/drawing/2014/main" id="{34111F8A-C0CD-4154-9CE2-5C55E0255F32}"/>
              </a:ext>
            </a:extLst>
          </p:cNvPr>
          <p:cNvSpPr>
            <a:spLocks xmlns:a="http://schemas.openxmlformats.org/drawingml/2006/main" noGrp="1"/>
          </p:cNvSpPr>
          <p:nvPr/>
        </p:nvSpPr>
        <p:spPr>
          <a:xfrm xmlns:a="http://schemas.openxmlformats.org/drawingml/2006/main">
            <a:off x="457200" y="1428750"/>
            <a:ext cx="7858125" cy="4572000"/>
          </a:xfrm>
          <a:prstGeom xmlns:a="http://schemas.openxmlformats.org/drawingml/2006/main" prst="roundRect">
            <a:avLst>
              <a:gd name="adj" fmla="val 1667"/>
            </a:avLst>
          </a:prstGeom>
          <a:solidFill xmlns:a="http://schemas.openxmlformats.org/drawingml/2006/main">
            <a:srgbClr val="FAFAFA"/>
          </a:solidFill>
          <a:ln xmlns:a="http://schemas.openxmlformats.org/drawingml/2006/main" w="9525">
            <a:solidFill>
              <a:srgbClr val="B8BCC4"/>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d208075e81243bb"/>
          <a:stretch xmlns:a="http://schemas.openxmlformats.org/drawingml/2006/main"/>
        </p:blipFill>
        <p:spPr>
          <a:xfrm xmlns:a="http://schemas.openxmlformats.org/drawingml/2006/main">
            <a:off x="645535" y="1428750"/>
            <a:ext cx="7481455"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151935-52A2-4721-9815-67A05974758C}"/>
              </a:ext>
            </a:extLst>
          </p:cNvPr>
          <p:cNvSpPr>
            <a:spLocks xmlns:a="http://schemas.openxmlformats.org/drawingml/2006/main" noGrp="1"/>
          </p:cNvSpPr>
          <p:nvPr/>
        </p:nvSpPr>
        <p:spPr>
          <a:xfrm xmlns:a="http://schemas.openxmlformats.org/drawingml/2006/main">
            <a:off x="8715375" y="166687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C83E3A"/>
                </a:solidFill>
              </a:defRPr>
            </a:pPr>
            <a:r>
              <a:rPr sz="2550" b="1">
                <a:solidFill>
                  <a:srgbClr val="C83E3A"/>
                </a:solidFill>
              </a:rPr>
              <a:t>8.95% → 4.44%</a:t>
            </a:r>
          </a:p>
        </p:txBody>
      </p:sp>
      <p:sp>
        <p:nvSpPr>
          <p:cNvPr id="7" name="">
            <a:extLst xmlns:a="http://schemas.openxmlformats.org/drawingml/2006/main">
              <a:ext uri="{FF2B5EF4-FFF2-40B4-BE49-F238E27FC236}">
                <a16:creationId xmlns:a16="http://schemas.microsoft.com/office/drawing/2014/main" id="{61272D54-E39B-4CF1-9DAC-8EB1551D9CF9}"/>
              </a:ext>
            </a:extLst>
          </p:cNvPr>
          <p:cNvSpPr>
            <a:spLocks xmlns:a="http://schemas.openxmlformats.org/drawingml/2006/main" noGrp="1"/>
          </p:cNvSpPr>
          <p:nvPr/>
        </p:nvSpPr>
        <p:spPr>
          <a:xfrm xmlns:a="http://schemas.openxmlformats.org/drawingml/2006/main">
            <a:off x="8715375" y="2190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median annual return</a:t>
            </a:r>
          </a:p>
        </p:txBody>
      </p:sp>
      <p:sp>
        <p:nvSpPr>
          <p:cNvPr id="8" name="">
            <a:extLst xmlns:a="http://schemas.openxmlformats.org/drawingml/2006/main">
              <a:ext uri="{FF2B5EF4-FFF2-40B4-BE49-F238E27FC236}">
                <a16:creationId xmlns:a16="http://schemas.microsoft.com/office/drawing/2014/main" id="{D254818D-D904-425D-BF83-DC3C77290714}"/>
              </a:ext>
            </a:extLst>
          </p:cNvPr>
          <p:cNvSpPr>
            <a:spLocks xmlns:a="http://schemas.openxmlformats.org/drawingml/2006/main" noGrp="1"/>
          </p:cNvSpPr>
          <p:nvPr/>
        </p:nvSpPr>
        <p:spPr>
          <a:xfrm xmlns:a="http://schemas.openxmlformats.org/drawingml/2006/main">
            <a:off x="8715375" y="3000375"/>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−14.59% → −11.85%</a:t>
            </a:r>
          </a:p>
        </p:txBody>
      </p:sp>
      <p:sp>
        <p:nvSpPr>
          <p:cNvPr id="9" name="">
            <a:extLst xmlns:a="http://schemas.openxmlformats.org/drawingml/2006/main">
              <a:ext uri="{FF2B5EF4-FFF2-40B4-BE49-F238E27FC236}">
                <a16:creationId xmlns:a16="http://schemas.microsoft.com/office/drawing/2014/main" id="{03D6BE55-51BD-4973-B2B8-2B1C656FAB43}"/>
              </a:ext>
            </a:extLst>
          </p:cNvPr>
          <p:cNvSpPr>
            <a:spLocks xmlns:a="http://schemas.openxmlformats.org/drawingml/2006/main" noGrp="1"/>
          </p:cNvSpPr>
          <p:nvPr/>
        </p:nvSpPr>
        <p:spPr>
          <a:xfrm xmlns:a="http://schemas.openxmlformats.org/drawingml/2006/main">
            <a:off x="8715375" y="35242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median maximum drawdown</a:t>
            </a:r>
          </a:p>
        </p:txBody>
      </p:sp>
      <p:sp>
        <p:nvSpPr>
          <p:cNvPr id="10" name="">
            <a:extLst xmlns:a="http://schemas.openxmlformats.org/drawingml/2006/main">
              <a:ext uri="{FF2B5EF4-FFF2-40B4-BE49-F238E27FC236}">
                <a16:creationId xmlns:a16="http://schemas.microsoft.com/office/drawing/2014/main" id="{2A5E0963-EB5F-447F-901E-959076AEE291}"/>
              </a:ext>
            </a:extLst>
          </p:cNvPr>
          <p:cNvSpPr>
            <a:spLocks xmlns:a="http://schemas.openxmlformats.org/drawingml/2006/main" noGrp="1"/>
          </p:cNvSpPr>
          <p:nvPr/>
        </p:nvSpPr>
        <p:spPr>
          <a:xfrm xmlns:a="http://schemas.openxmlformats.org/drawingml/2006/main">
            <a:off x="8715375" y="433387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75" b="1">
                <a:solidFill>
                  <a:srgbClr val="C83E3A"/>
                </a:solidFill>
              </a:defRPr>
            </a:pPr>
            <a:r>
              <a:rPr sz="2475" b="1">
                <a:solidFill>
                  <a:srgbClr val="C83E3A"/>
                </a:solidFill>
              </a:rPr>
              <a:t>0.642 → 0.485</a:t>
            </a:r>
          </a:p>
        </p:txBody>
      </p:sp>
      <p:sp>
        <p:nvSpPr>
          <p:cNvPr id="11" name="">
            <a:extLst xmlns:a="http://schemas.openxmlformats.org/drawingml/2006/main">
              <a:ext uri="{FF2B5EF4-FFF2-40B4-BE49-F238E27FC236}">
                <a16:creationId xmlns:a16="http://schemas.microsoft.com/office/drawing/2014/main" id="{AEC2D115-1B25-4875-88FB-3804504E8EE2}"/>
              </a:ext>
            </a:extLst>
          </p:cNvPr>
          <p:cNvSpPr>
            <a:spLocks xmlns:a="http://schemas.openxmlformats.org/drawingml/2006/main" noGrp="1"/>
          </p:cNvSpPr>
          <p:nvPr/>
        </p:nvSpPr>
        <p:spPr>
          <a:xfrm xmlns:a="http://schemas.openxmlformats.org/drawingml/2006/main">
            <a:off x="8715375" y="4857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median Sharpe</a:t>
            </a:r>
          </a:p>
        </p:txBody>
      </p:sp>
      <p:sp>
        <p:nvSpPr>
          <p:cNvPr id="12" name="">
            <a:extLst xmlns:a="http://schemas.openxmlformats.org/drawingml/2006/main">
              <a:ext uri="{FF2B5EF4-FFF2-40B4-BE49-F238E27FC236}">
                <a16:creationId xmlns:a16="http://schemas.microsoft.com/office/drawing/2014/main" id="{BE113F70-5240-4E97-A1E0-B91524996AED}"/>
              </a:ext>
            </a:extLst>
          </p:cNvPr>
          <p:cNvSpPr>
            <a:spLocks xmlns:a="http://schemas.openxmlformats.org/drawingml/2006/main" noGrp="1"/>
          </p:cNvSpPr>
          <p:nvPr/>
        </p:nvSpPr>
        <p:spPr>
          <a:xfrm xmlns:a="http://schemas.openxmlformats.org/drawingml/2006/main">
            <a:off x="8715375" y="5381625"/>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0000"/>
                </a:solidFill>
              </a:defRPr>
            </a:pPr>
            <a:r>
              <a:rPr sz="1500" b="1">
                <a:solidFill>
                  <a:srgbClr val="000000"/>
                </a:solidFill>
              </a:rPr>
              <a:t>Fewer trades reduced risk—but surrendered too much upside.</a:t>
            </a:r>
          </a:p>
        </p:txBody>
      </p:sp>
    </p:spTree>
    <p:extLst>
      <p:ext uri="{BB962C8B-B14F-4D97-AF65-F5344CB8AC3E}">
        <p14:creationId xmlns:p14="http://schemas.microsoft.com/office/powerpoint/2010/main" val="9122971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D9034C-9483-4D1C-9A34-D17BD1769C8B}"/>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Only 9 of 24 stocks improved over the full six-year window</a:t>
            </a:r>
          </a:p>
        </p:txBody>
      </p:sp>
      <p:sp>
        <p:nvSpPr>
          <p:cNvPr id="2" name="">
            <a:extLst xmlns:a="http://schemas.openxmlformats.org/drawingml/2006/main">
              <a:ext uri="{FF2B5EF4-FFF2-40B4-BE49-F238E27FC236}">
                <a16:creationId xmlns:a16="http://schemas.microsoft.com/office/drawing/2014/main" id="{FC191AD1-5FE2-4BFE-9969-0B2FD31B5BA6}"/>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6</a:t>
            </a:r>
          </a:p>
        </p:txBody>
      </p:sp>
      <p:sp>
        <p:nvSpPr>
          <p:cNvPr id="3" name="">
            <a:extLst xmlns:a="http://schemas.openxmlformats.org/drawingml/2006/main">
              <a:ext uri="{FF2B5EF4-FFF2-40B4-BE49-F238E27FC236}">
                <a16:creationId xmlns:a16="http://schemas.microsoft.com/office/drawing/2014/main" id="{749C6ADA-B0FD-4F2B-8D1F-E4678C7BEABD}"/>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CROSS-ASSET BREADTH</a:t>
            </a:r>
          </a:p>
        </p:txBody>
      </p:sp>
      <p:sp>
        <p:nvSpPr>
          <p:cNvPr id="4" name="">
            <a:extLst xmlns:a="http://schemas.openxmlformats.org/drawingml/2006/main">
              <a:ext uri="{FF2B5EF4-FFF2-40B4-BE49-F238E27FC236}">
                <a16:creationId xmlns:a16="http://schemas.microsoft.com/office/drawing/2014/main" id="{4C739115-6CCB-43AA-80F9-4B18B7144567}"/>
              </a:ext>
            </a:extLst>
          </p:cNvPr>
          <p:cNvSpPr>
            <a:spLocks xmlns:a="http://schemas.openxmlformats.org/drawingml/2006/main" noGrp="1"/>
          </p:cNvSpPr>
          <p:nvPr/>
        </p:nvSpPr>
        <p:spPr>
          <a:xfrm xmlns:a="http://schemas.openxmlformats.org/drawingml/2006/main">
            <a:off x="457200" y="1381125"/>
            <a:ext cx="8334375" cy="4810125"/>
          </a:xfrm>
          <a:prstGeom xmlns:a="http://schemas.openxmlformats.org/drawingml/2006/main" prst="roundRect">
            <a:avLst>
              <a:gd name="adj" fmla="val 1584"/>
            </a:avLst>
          </a:prstGeom>
          <a:solidFill xmlns:a="http://schemas.openxmlformats.org/drawingml/2006/main">
            <a:srgbClr val="FAFAFA"/>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8395a4a1174e63"/>
          <a:stretch xmlns:a="http://schemas.openxmlformats.org/drawingml/2006/main"/>
        </p:blipFill>
        <p:spPr>
          <a:xfrm xmlns:a="http://schemas.openxmlformats.org/drawingml/2006/main">
            <a:off x="1294301" y="1381125"/>
            <a:ext cx="6660173" cy="4810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823E08-5EC2-4E95-BC38-D756FA1F0E59}"/>
              </a:ext>
            </a:extLst>
          </p:cNvPr>
          <p:cNvSpPr>
            <a:spLocks xmlns:a="http://schemas.openxmlformats.org/drawingml/2006/main" noGrp="1"/>
          </p:cNvSpPr>
          <p:nvPr/>
        </p:nvSpPr>
        <p:spPr>
          <a:xfrm xmlns:a="http://schemas.openxmlformats.org/drawingml/2006/main">
            <a:off x="9239250" y="1857375"/>
            <a:ext cx="2047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C83E3A"/>
                </a:solidFill>
              </a:defRPr>
            </a:pPr>
            <a:r>
              <a:rPr sz="3525" b="1">
                <a:solidFill>
                  <a:srgbClr val="C83E3A"/>
                </a:solidFill>
              </a:rPr>
              <a:t>9 / 24</a:t>
            </a:r>
          </a:p>
        </p:txBody>
      </p:sp>
      <p:sp>
        <p:nvSpPr>
          <p:cNvPr id="7" name="">
            <a:extLst xmlns:a="http://schemas.openxmlformats.org/drawingml/2006/main">
              <a:ext uri="{FF2B5EF4-FFF2-40B4-BE49-F238E27FC236}">
                <a16:creationId xmlns:a16="http://schemas.microsoft.com/office/drawing/2014/main" id="{2AAD799C-F448-453D-9BF0-0E40FBEA4E8D}"/>
              </a:ext>
            </a:extLst>
          </p:cNvPr>
          <p:cNvSpPr>
            <a:spLocks xmlns:a="http://schemas.openxmlformats.org/drawingml/2006/main" noGrp="1"/>
          </p:cNvSpPr>
          <p:nvPr/>
        </p:nvSpPr>
        <p:spPr>
          <a:xfrm xmlns:a="http://schemas.openxmlformats.org/drawingml/2006/main">
            <a:off x="9239250" y="25241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stocks improved</a:t>
            </a:r>
          </a:p>
        </p:txBody>
      </p:sp>
      <p:sp>
        <p:nvSpPr>
          <p:cNvPr id="8" name="">
            <a:extLst xmlns:a="http://schemas.openxmlformats.org/drawingml/2006/main">
              <a:ext uri="{FF2B5EF4-FFF2-40B4-BE49-F238E27FC236}">
                <a16:creationId xmlns:a16="http://schemas.microsoft.com/office/drawing/2014/main" id="{737EDD00-5D52-4478-B8E6-329520AC4BEE}"/>
              </a:ext>
            </a:extLst>
          </p:cNvPr>
          <p:cNvSpPr>
            <a:spLocks xmlns:a="http://schemas.openxmlformats.org/drawingml/2006/main" noGrp="1"/>
          </p:cNvSpPr>
          <p:nvPr/>
        </p:nvSpPr>
        <p:spPr>
          <a:xfrm xmlns:a="http://schemas.openxmlformats.org/drawingml/2006/main">
            <a:off x="9096375" y="3381375"/>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The largest lost opportunities occurred in the same volatile momentum names that made the parent rule economically interesting.</a:t>
            </a:r>
          </a:p>
        </p:txBody>
      </p:sp>
      <p:sp>
        <p:nvSpPr>
          <p:cNvPr id="9" name="">
            <a:extLst xmlns:a="http://schemas.openxmlformats.org/drawingml/2006/main">
              <a:ext uri="{FF2B5EF4-FFF2-40B4-BE49-F238E27FC236}">
                <a16:creationId xmlns:a16="http://schemas.microsoft.com/office/drawing/2014/main" id="{B8AC5F45-9894-4C40-B33C-464A16954678}"/>
              </a:ext>
            </a:extLst>
          </p:cNvPr>
          <p:cNvSpPr>
            <a:spLocks xmlns:a="http://schemas.openxmlformats.org/drawingml/2006/main" noGrp="1"/>
          </p:cNvSpPr>
          <p:nvPr/>
        </p:nvSpPr>
        <p:spPr>
          <a:xfrm xmlns:a="http://schemas.openxmlformats.org/drawingml/2006/main">
            <a:off x="9096375" y="528637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C83E3A"/>
                </a:solidFill>
              </a:defRPr>
            </a:pPr>
            <a:r>
              <a:rPr sz="1350" b="0">
                <a:solidFill>
                  <a:srgbClr val="C83E3A"/>
                </a:solidFill>
              </a:rPr>
              <a:t>Breadth gate required ≥15 / 24</a:t>
            </a:r>
          </a:p>
        </p:txBody>
      </p:sp>
    </p:spTree>
    <p:extLst>
      <p:ext uri="{BB962C8B-B14F-4D97-AF65-F5344CB8AC3E}">
        <p14:creationId xmlns:p14="http://schemas.microsoft.com/office/powerpoint/2010/main" val="16131405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B01BED-5DDA-429D-B6AB-72C7DBC0451F}"/>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overlay never produced positive panel-median excess in a year</a:t>
            </a:r>
          </a:p>
        </p:txBody>
      </p:sp>
      <p:sp>
        <p:nvSpPr>
          <p:cNvPr id="2" name="">
            <a:extLst xmlns:a="http://schemas.openxmlformats.org/drawingml/2006/main">
              <a:ext uri="{FF2B5EF4-FFF2-40B4-BE49-F238E27FC236}">
                <a16:creationId xmlns:a16="http://schemas.microsoft.com/office/drawing/2014/main" id="{952BAAAC-CE54-43D8-9F3A-6F36673743AD}"/>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7</a:t>
            </a:r>
          </a:p>
        </p:txBody>
      </p:sp>
      <p:sp>
        <p:nvSpPr>
          <p:cNvPr id="3" name="">
            <a:extLst xmlns:a="http://schemas.openxmlformats.org/drawingml/2006/main">
              <a:ext uri="{FF2B5EF4-FFF2-40B4-BE49-F238E27FC236}">
                <a16:creationId xmlns:a16="http://schemas.microsoft.com/office/drawing/2014/main" id="{2591FD35-A5DE-4EBF-855B-40DAC4D5CCF3}"/>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CALENDAR BREADTH</a:t>
            </a:r>
          </a:p>
        </p:txBody>
      </p:sp>
      <p:sp>
        <p:nvSpPr>
          <p:cNvPr id="4" name="">
            <a:extLst xmlns:a="http://schemas.openxmlformats.org/drawingml/2006/main">
              <a:ext uri="{FF2B5EF4-FFF2-40B4-BE49-F238E27FC236}">
                <a16:creationId xmlns:a16="http://schemas.microsoft.com/office/drawing/2014/main" id="{02B38401-CFE7-4335-8BEF-17D602731D87}"/>
              </a:ext>
            </a:extLst>
          </p:cNvPr>
          <p:cNvSpPr>
            <a:spLocks xmlns:a="http://schemas.openxmlformats.org/drawingml/2006/main" noGrp="1"/>
          </p:cNvSpPr>
          <p:nvPr/>
        </p:nvSpPr>
        <p:spPr>
          <a:xfrm xmlns:a="http://schemas.openxmlformats.org/drawingml/2006/main">
            <a:off x="457200" y="1476375"/>
            <a:ext cx="8286750" cy="4476750"/>
          </a:xfrm>
          <a:prstGeom xmlns:a="http://schemas.openxmlformats.org/drawingml/2006/main" prst="roundRect">
            <a:avLst>
              <a:gd name="adj" fmla="val 1702"/>
            </a:avLst>
          </a:prstGeom>
          <a:solidFill xmlns:a="http://schemas.openxmlformats.org/drawingml/2006/main">
            <a:srgbClr val="FAFA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1cd68a2cf6a4a3a"/>
          <a:stretch xmlns:a="http://schemas.openxmlformats.org/drawingml/2006/main"/>
        </p:blipFill>
        <p:spPr>
          <a:xfrm xmlns:a="http://schemas.openxmlformats.org/drawingml/2006/main">
            <a:off x="937780" y="1476375"/>
            <a:ext cx="7325591"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A5B0ED7-3709-4933-81ED-C22432E69890}"/>
              </a:ext>
            </a:extLst>
          </p:cNvPr>
          <p:cNvSpPr>
            <a:spLocks xmlns:a="http://schemas.openxmlformats.org/drawingml/2006/main" noGrp="1"/>
          </p:cNvSpPr>
          <p:nvPr/>
        </p:nvSpPr>
        <p:spPr>
          <a:xfrm xmlns:a="http://schemas.openxmlformats.org/drawingml/2006/main">
            <a:off x="9239250" y="195262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C83E3A"/>
                </a:solidFill>
              </a:defRPr>
            </a:pPr>
            <a:r>
              <a:rPr sz="3600" b="1">
                <a:solidFill>
                  <a:srgbClr val="C83E3A"/>
                </a:solidFill>
              </a:rPr>
              <a:t>0 / 6</a:t>
            </a:r>
          </a:p>
        </p:txBody>
      </p:sp>
      <p:sp>
        <p:nvSpPr>
          <p:cNvPr id="7" name="">
            <a:extLst xmlns:a="http://schemas.openxmlformats.org/drawingml/2006/main">
              <a:ext uri="{FF2B5EF4-FFF2-40B4-BE49-F238E27FC236}">
                <a16:creationId xmlns:a16="http://schemas.microsoft.com/office/drawing/2014/main" id="{5F342376-B2E0-4DB6-AB6B-38AF65D9CC45}"/>
              </a:ext>
            </a:extLst>
          </p:cNvPr>
          <p:cNvSpPr>
            <a:spLocks xmlns:a="http://schemas.openxmlformats.org/drawingml/2006/main" noGrp="1"/>
          </p:cNvSpPr>
          <p:nvPr/>
        </p:nvSpPr>
        <p:spPr>
          <a:xfrm xmlns:a="http://schemas.openxmlformats.org/drawingml/2006/main">
            <a:off x="9239250" y="2619375"/>
            <a:ext cx="2143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positive median-excess years</a:t>
            </a:r>
          </a:p>
        </p:txBody>
      </p:sp>
      <p:sp>
        <p:nvSpPr>
          <p:cNvPr id="8" name="">
            <a:extLst xmlns:a="http://schemas.openxmlformats.org/drawingml/2006/main">
              <a:ext uri="{FF2B5EF4-FFF2-40B4-BE49-F238E27FC236}">
                <a16:creationId xmlns:a16="http://schemas.microsoft.com/office/drawing/2014/main" id="{859B65C2-3BFA-4D5F-B824-1748A4E123AC}"/>
              </a:ext>
            </a:extLst>
          </p:cNvPr>
          <p:cNvSpPr>
            <a:spLocks xmlns:a="http://schemas.openxmlformats.org/drawingml/2006/main" noGrp="1"/>
          </p:cNvSpPr>
          <p:nvPr/>
        </p:nvSpPr>
        <p:spPr>
          <a:xfrm xmlns:a="http://schemas.openxmlformats.org/drawingml/2006/main">
            <a:off x="9239250" y="371475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2A65A"/>
                </a:solidFill>
              </a:defRPr>
            </a:pPr>
            <a:r>
              <a:rPr sz="3000" b="1">
                <a:solidFill>
                  <a:srgbClr val="F2A65A"/>
                </a:solidFill>
              </a:rPr>
              <a:t>21%–46%</a:t>
            </a:r>
          </a:p>
        </p:txBody>
      </p:sp>
      <p:sp>
        <p:nvSpPr>
          <p:cNvPr id="9" name="">
            <a:extLst xmlns:a="http://schemas.openxmlformats.org/drawingml/2006/main">
              <a:ext uri="{FF2B5EF4-FFF2-40B4-BE49-F238E27FC236}">
                <a16:creationId xmlns:a16="http://schemas.microsoft.com/office/drawing/2014/main" id="{78DE7673-511C-4AB7-9F85-244A7F45321B}"/>
              </a:ext>
            </a:extLst>
          </p:cNvPr>
          <p:cNvSpPr>
            <a:spLocks xmlns:a="http://schemas.openxmlformats.org/drawingml/2006/main" noGrp="1"/>
          </p:cNvSpPr>
          <p:nvPr/>
        </p:nvSpPr>
        <p:spPr>
          <a:xfrm xmlns:a="http://schemas.openxmlformats.org/drawingml/2006/main">
            <a:off x="9239250" y="428625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stock improvement share by year</a:t>
            </a:r>
          </a:p>
        </p:txBody>
      </p:sp>
      <p:sp>
        <p:nvSpPr>
          <p:cNvPr id="10" name="">
            <a:extLst xmlns:a="http://schemas.openxmlformats.org/drawingml/2006/main">
              <a:ext uri="{FF2B5EF4-FFF2-40B4-BE49-F238E27FC236}">
                <a16:creationId xmlns:a16="http://schemas.microsoft.com/office/drawing/2014/main" id="{72260122-8B44-43E4-AE58-318473A56766}"/>
              </a:ext>
            </a:extLst>
          </p:cNvPr>
          <p:cNvSpPr>
            <a:spLocks xmlns:a="http://schemas.openxmlformats.org/drawingml/2006/main" noGrp="1"/>
          </p:cNvSpPr>
          <p:nvPr/>
        </p:nvSpPr>
        <p:spPr>
          <a:xfrm xmlns:a="http://schemas.openxmlformats.org/drawingml/2006/main">
            <a:off x="9048750" y="53816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83E3A"/>
                </a:solidFill>
              </a:defRPr>
            </a:pPr>
            <a:r>
              <a:rPr sz="1350" b="1">
                <a:solidFill>
                  <a:srgbClr val="C83E3A"/>
                </a:solidFill>
              </a:rPr>
              <a:t>Required: positive in ≥4 of 6 years</a:t>
            </a:r>
          </a:p>
        </p:txBody>
      </p:sp>
    </p:spTree>
    <p:extLst>
      <p:ext uri="{BB962C8B-B14F-4D97-AF65-F5344CB8AC3E}">
        <p14:creationId xmlns:p14="http://schemas.microsoft.com/office/powerpoint/2010/main" val="15914798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A21658-A632-4430-AAA9-3A52A0ACCBA5}"/>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Actual LOW dates do not beat exposure-matched shifts</a:t>
            </a:r>
          </a:p>
        </p:txBody>
      </p:sp>
      <p:sp>
        <p:nvSpPr>
          <p:cNvPr id="2" name="">
            <a:extLst xmlns:a="http://schemas.openxmlformats.org/drawingml/2006/main">
              <a:ext uri="{FF2B5EF4-FFF2-40B4-BE49-F238E27FC236}">
                <a16:creationId xmlns:a16="http://schemas.microsoft.com/office/drawing/2014/main" id="{AF6FC089-36EA-4E5D-BCF5-43D70BFA918D}"/>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8</a:t>
            </a:r>
          </a:p>
        </p:txBody>
      </p:sp>
      <p:sp>
        <p:nvSpPr>
          <p:cNvPr id="3" name="">
            <a:extLst xmlns:a="http://schemas.openxmlformats.org/drawingml/2006/main">
              <a:ext uri="{FF2B5EF4-FFF2-40B4-BE49-F238E27FC236}">
                <a16:creationId xmlns:a16="http://schemas.microsoft.com/office/drawing/2014/main" id="{1DEFC5BF-8975-452A-BEDB-34AD31EEB32A}"/>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REGIME SPECIFICITY</a:t>
            </a:r>
          </a:p>
        </p:txBody>
      </p:sp>
      <p:sp>
        <p:nvSpPr>
          <p:cNvPr id="4" name="">
            <a:extLst xmlns:a="http://schemas.openxmlformats.org/drawingml/2006/main">
              <a:ext uri="{FF2B5EF4-FFF2-40B4-BE49-F238E27FC236}">
                <a16:creationId xmlns:a16="http://schemas.microsoft.com/office/drawing/2014/main" id="{015E605A-B44D-4D25-8839-E4DC4E769880}"/>
              </a:ext>
            </a:extLst>
          </p:cNvPr>
          <p:cNvSpPr>
            <a:spLocks xmlns:a="http://schemas.openxmlformats.org/drawingml/2006/main" noGrp="1"/>
          </p:cNvSpPr>
          <p:nvPr/>
        </p:nvSpPr>
        <p:spPr>
          <a:xfrm xmlns:a="http://schemas.openxmlformats.org/drawingml/2006/main">
            <a:off x="457200" y="1381125"/>
            <a:ext cx="8763000" cy="4810125"/>
          </a:xfrm>
          <a:prstGeom xmlns:a="http://schemas.openxmlformats.org/drawingml/2006/main" prst="roundRect">
            <a:avLst>
              <a:gd name="adj" fmla="val 1584"/>
            </a:avLst>
          </a:prstGeom>
          <a:solidFill xmlns:a="http://schemas.openxmlformats.org/drawingml/2006/main">
            <a:srgbClr val="FAFA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5e28b5903841ea"/>
          <a:stretch xmlns:a="http://schemas.openxmlformats.org/drawingml/2006/main"/>
        </p:blipFill>
        <p:spPr>
          <a:xfrm xmlns:a="http://schemas.openxmlformats.org/drawingml/2006/main">
            <a:off x="903143" y="1381125"/>
            <a:ext cx="7871114" cy="4810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0C7277-E84E-4FD0-8744-301B83E66326}"/>
              </a:ext>
            </a:extLst>
          </p:cNvPr>
          <p:cNvSpPr>
            <a:spLocks xmlns:a="http://schemas.openxmlformats.org/drawingml/2006/main" noGrp="1"/>
          </p:cNvSpPr>
          <p:nvPr/>
        </p:nvSpPr>
        <p:spPr>
          <a:xfrm xmlns:a="http://schemas.openxmlformats.org/drawingml/2006/main">
            <a:off x="9525000" y="18097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C83E3A"/>
                </a:solidFill>
              </a:defRPr>
            </a:pPr>
            <a:r>
              <a:rPr sz="3525" b="1">
                <a:solidFill>
                  <a:srgbClr val="C83E3A"/>
                </a:solidFill>
              </a:rPr>
              <a:t>37.5th</a:t>
            </a:r>
          </a:p>
        </p:txBody>
      </p:sp>
      <p:sp>
        <p:nvSpPr>
          <p:cNvPr id="7" name="">
            <a:extLst xmlns:a="http://schemas.openxmlformats.org/drawingml/2006/main">
              <a:ext uri="{FF2B5EF4-FFF2-40B4-BE49-F238E27FC236}">
                <a16:creationId xmlns:a16="http://schemas.microsoft.com/office/drawing/2014/main" id="{8417A9AB-09DF-44BD-AF5F-D91ACA67756A}"/>
              </a:ext>
            </a:extLst>
          </p:cNvPr>
          <p:cNvSpPr>
            <a:spLocks xmlns:a="http://schemas.openxmlformats.org/drawingml/2006/main" noGrp="1"/>
          </p:cNvSpPr>
          <p:nvPr/>
        </p:nvSpPr>
        <p:spPr>
          <a:xfrm xmlns:a="http://schemas.openxmlformats.org/drawingml/2006/main">
            <a:off x="9525000" y="2476500"/>
            <a:ext cx="1952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percentile among 40 exposure-nearest controls</a:t>
            </a:r>
          </a:p>
        </p:txBody>
      </p:sp>
      <p:sp>
        <p:nvSpPr>
          <p:cNvPr id="8" name="">
            <a:extLst xmlns:a="http://schemas.openxmlformats.org/drawingml/2006/main">
              <a:ext uri="{FF2B5EF4-FFF2-40B4-BE49-F238E27FC236}">
                <a16:creationId xmlns:a16="http://schemas.microsoft.com/office/drawing/2014/main" id="{FCD25774-99EF-4DA6-B377-9BAF80E3398C}"/>
              </a:ext>
            </a:extLst>
          </p:cNvPr>
          <p:cNvSpPr>
            <a:spLocks xmlns:a="http://schemas.openxmlformats.org/drawingml/2006/main" noGrp="1"/>
          </p:cNvSpPr>
          <p:nvPr/>
        </p:nvSpPr>
        <p:spPr>
          <a:xfrm xmlns:a="http://schemas.openxmlformats.org/drawingml/2006/main">
            <a:off x="9525000" y="3905250"/>
            <a:ext cx="1952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C83E3A"/>
                </a:solidFill>
              </a:defRPr>
            </a:pPr>
            <a:r>
              <a:rPr sz="2850" b="1">
                <a:solidFill>
                  <a:srgbClr val="C83E3A"/>
                </a:solidFill>
              </a:rPr>
              <a:t>−0.15 pp</a:t>
            </a:r>
          </a:p>
        </p:txBody>
      </p:sp>
      <p:sp>
        <p:nvSpPr>
          <p:cNvPr id="9" name="">
            <a:extLst xmlns:a="http://schemas.openxmlformats.org/drawingml/2006/main">
              <a:ext uri="{FF2B5EF4-FFF2-40B4-BE49-F238E27FC236}">
                <a16:creationId xmlns:a16="http://schemas.microsoft.com/office/drawing/2014/main" id="{A989532D-8926-40F5-99EE-FF8A9A886BAF}"/>
              </a:ext>
            </a:extLst>
          </p:cNvPr>
          <p:cNvSpPr>
            <a:spLocks xmlns:a="http://schemas.openxmlformats.org/drawingml/2006/main" noGrp="1"/>
          </p:cNvSpPr>
          <p:nvPr/>
        </p:nvSpPr>
        <p:spPr>
          <a:xfrm xmlns:a="http://schemas.openxmlformats.org/drawingml/2006/main">
            <a:off x="9525000" y="4476750"/>
            <a:ext cx="1952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versus their median return</a:t>
            </a:r>
          </a:p>
        </p:txBody>
      </p:sp>
      <p:sp>
        <p:nvSpPr>
          <p:cNvPr id="10" name="">
            <a:extLst xmlns:a="http://schemas.openxmlformats.org/drawingml/2006/main">
              <a:ext uri="{FF2B5EF4-FFF2-40B4-BE49-F238E27FC236}">
                <a16:creationId xmlns:a16="http://schemas.microsoft.com/office/drawing/2014/main" id="{72C4BD4E-CE68-4051-B10D-64E09B2DB7E5}"/>
              </a:ext>
            </a:extLst>
          </p:cNvPr>
          <p:cNvSpPr>
            <a:spLocks xmlns:a="http://schemas.openxmlformats.org/drawingml/2006/main" noGrp="1"/>
          </p:cNvSpPr>
          <p:nvPr/>
        </p:nvSpPr>
        <p:spPr>
          <a:xfrm xmlns:a="http://schemas.openxmlformats.org/drawingml/2006/main">
            <a:off x="9477375" y="542925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000000"/>
                </a:solidFill>
              </a:defRPr>
            </a:pPr>
            <a:r>
              <a:rPr sz="1275" b="1">
                <a:solidFill>
                  <a:srgbClr val="000000"/>
                </a:solidFill>
              </a:rPr>
              <a:t>Gate required ≥80th percentile</a:t>
            </a:r>
          </a:p>
        </p:txBody>
      </p:sp>
    </p:spTree>
    <p:extLst>
      <p:ext uri="{BB962C8B-B14F-4D97-AF65-F5344CB8AC3E}">
        <p14:creationId xmlns:p14="http://schemas.microsoft.com/office/powerpoint/2010/main" val="17218740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D04EEE-ED3C-46C5-9D23-D563B57B4E43}"/>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LOW-state trades were not the clearly inferior population</a:t>
            </a:r>
          </a:p>
        </p:txBody>
      </p:sp>
      <p:sp>
        <p:nvSpPr>
          <p:cNvPr id="2" name="">
            <a:extLst xmlns:a="http://schemas.openxmlformats.org/drawingml/2006/main">
              <a:ext uri="{FF2B5EF4-FFF2-40B4-BE49-F238E27FC236}">
                <a16:creationId xmlns:a16="http://schemas.microsoft.com/office/drawing/2014/main" id="{5ADF07EA-C8FC-45D5-9335-C753F39F8FD7}"/>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9</a:t>
            </a:r>
          </a:p>
        </p:txBody>
      </p:sp>
      <p:sp>
        <p:nvSpPr>
          <p:cNvPr id="3" name="">
            <a:extLst xmlns:a="http://schemas.openxmlformats.org/drawingml/2006/main">
              <a:ext uri="{FF2B5EF4-FFF2-40B4-BE49-F238E27FC236}">
                <a16:creationId xmlns:a16="http://schemas.microsoft.com/office/drawing/2014/main" id="{289714B0-626F-4FCC-9D48-84D45E581DCB}"/>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TRADE-LEVEL AUDIT</a:t>
            </a:r>
          </a:p>
        </p:txBody>
      </p:sp>
      <p:sp>
        <p:nvSpPr>
          <p:cNvPr id="4" name="">
            <a:extLst xmlns:a="http://schemas.openxmlformats.org/drawingml/2006/main">
              <a:ext uri="{FF2B5EF4-FFF2-40B4-BE49-F238E27FC236}">
                <a16:creationId xmlns:a16="http://schemas.microsoft.com/office/drawing/2014/main" id="{ADD6FFE5-73FD-4759-B530-B623E1BB63C4}"/>
              </a:ext>
            </a:extLst>
          </p:cNvPr>
          <p:cNvSpPr>
            <a:spLocks xmlns:a="http://schemas.openxmlformats.org/drawingml/2006/main" noGrp="1"/>
          </p:cNvSpPr>
          <p:nvPr/>
        </p:nvSpPr>
        <p:spPr>
          <a:xfrm xmlns:a="http://schemas.openxmlformats.org/drawingml/2006/main">
            <a:off x="457200" y="1428750"/>
            <a:ext cx="8096250" cy="4524375"/>
          </a:xfrm>
          <a:prstGeom xmlns:a="http://schemas.openxmlformats.org/drawingml/2006/main" prst="roundRect">
            <a:avLst>
              <a:gd name="adj" fmla="val 1684"/>
            </a:avLst>
          </a:prstGeom>
          <a:solidFill xmlns:a="http://schemas.openxmlformats.org/drawingml/2006/main">
            <a:srgbClr val="FAFAFA"/>
          </a:solidFill>
          <a:ln xmlns:a="http://schemas.openxmlformats.org/drawingml/2006/main" w="9525">
            <a:solidFill>
              <a:srgbClr val="B8BCC4"/>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f49da93946043df"/>
          <a:stretch xmlns:a="http://schemas.openxmlformats.org/drawingml/2006/main"/>
        </p:blipFill>
        <p:spPr>
          <a:xfrm xmlns:a="http://schemas.openxmlformats.org/drawingml/2006/main">
            <a:off x="803564" y="1428750"/>
            <a:ext cx="7403523" cy="4524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277B0C-218B-4398-9D64-BEBE2807B4BE}"/>
              </a:ext>
            </a:extLst>
          </p:cNvPr>
          <p:cNvSpPr>
            <a:spLocks xmlns:a="http://schemas.openxmlformats.org/drawingml/2006/main" noGrp="1"/>
          </p:cNvSpPr>
          <p:nvPr/>
        </p:nvSpPr>
        <p:spPr>
          <a:xfrm xmlns:a="http://schemas.openxmlformats.org/drawingml/2006/main">
            <a:off x="9048750" y="166687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F2A65A"/>
                </a:solidFill>
              </a:defRPr>
            </a:pPr>
            <a:r>
              <a:rPr sz="3225" b="1">
                <a:solidFill>
                  <a:srgbClr val="F2A65A"/>
                </a:solidFill>
              </a:rPr>
              <a:t>491</a:t>
            </a:r>
          </a:p>
        </p:txBody>
      </p:sp>
      <p:sp>
        <p:nvSpPr>
          <p:cNvPr id="7" name="">
            <a:extLst xmlns:a="http://schemas.openxmlformats.org/drawingml/2006/main">
              <a:ext uri="{FF2B5EF4-FFF2-40B4-BE49-F238E27FC236}">
                <a16:creationId xmlns:a16="http://schemas.microsoft.com/office/drawing/2014/main" id="{D64E0D1A-587B-4727-92E0-8AFF0CEF7923}"/>
              </a:ext>
            </a:extLst>
          </p:cNvPr>
          <p:cNvSpPr>
            <a:spLocks xmlns:a="http://schemas.openxmlformats.org/drawingml/2006/main" noGrp="1"/>
          </p:cNvSpPr>
          <p:nvPr/>
        </p:nvSpPr>
        <p:spPr>
          <a:xfrm xmlns:a="http://schemas.openxmlformats.org/drawingml/2006/main">
            <a:off x="9048750" y="2238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LOW trades removed</a:t>
            </a:r>
          </a:p>
        </p:txBody>
      </p:sp>
      <p:sp>
        <p:nvSpPr>
          <p:cNvPr id="8" name="">
            <a:extLst xmlns:a="http://schemas.openxmlformats.org/drawingml/2006/main">
              <a:ext uri="{FF2B5EF4-FFF2-40B4-BE49-F238E27FC236}">
                <a16:creationId xmlns:a16="http://schemas.microsoft.com/office/drawing/2014/main" id="{3D117D45-5DD0-431E-A4F1-3C5A192F4CC4}"/>
              </a:ext>
            </a:extLst>
          </p:cNvPr>
          <p:cNvSpPr>
            <a:spLocks xmlns:a="http://schemas.openxmlformats.org/drawingml/2006/main" noGrp="1"/>
          </p:cNvSpPr>
          <p:nvPr/>
        </p:nvSpPr>
        <p:spPr>
          <a:xfrm xmlns:a="http://schemas.openxmlformats.org/drawingml/2006/main">
            <a:off x="9048750" y="309562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3D8DFF"/>
                </a:solidFill>
              </a:defRPr>
            </a:pPr>
            <a:r>
              <a:rPr sz="3075" b="1">
                <a:solidFill>
                  <a:srgbClr val="3D8DFF"/>
                </a:solidFill>
              </a:rPr>
              <a:t>48.1%</a:t>
            </a:r>
          </a:p>
        </p:txBody>
      </p:sp>
      <p:sp>
        <p:nvSpPr>
          <p:cNvPr id="9" name="">
            <a:extLst xmlns:a="http://schemas.openxmlformats.org/drawingml/2006/main">
              <a:ext uri="{FF2B5EF4-FFF2-40B4-BE49-F238E27FC236}">
                <a16:creationId xmlns:a16="http://schemas.microsoft.com/office/drawing/2014/main" id="{3B1C1F97-7CB2-4BA1-8BC8-EEBE27EBD307}"/>
              </a:ext>
            </a:extLst>
          </p:cNvPr>
          <p:cNvSpPr>
            <a:spLocks xmlns:a="http://schemas.openxmlformats.org/drawingml/2006/main" noGrp="1"/>
          </p:cNvSpPr>
          <p:nvPr/>
        </p:nvSpPr>
        <p:spPr>
          <a:xfrm xmlns:a="http://schemas.openxmlformats.org/drawingml/2006/main">
            <a:off x="9048750" y="366712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removed-trade hit rate</a:t>
            </a:r>
          </a:p>
        </p:txBody>
      </p:sp>
      <p:sp>
        <p:nvSpPr>
          <p:cNvPr id="10" name="">
            <a:extLst xmlns:a="http://schemas.openxmlformats.org/drawingml/2006/main">
              <a:ext uri="{FF2B5EF4-FFF2-40B4-BE49-F238E27FC236}">
                <a16:creationId xmlns:a16="http://schemas.microsoft.com/office/drawing/2014/main" id="{C2C13737-DF2D-4B1C-9DFE-9BBF1C6495EA}"/>
              </a:ext>
            </a:extLst>
          </p:cNvPr>
          <p:cNvSpPr>
            <a:spLocks xmlns:a="http://schemas.openxmlformats.org/drawingml/2006/main" noGrp="1"/>
          </p:cNvSpPr>
          <p:nvPr/>
        </p:nvSpPr>
        <p:spPr>
          <a:xfrm xmlns:a="http://schemas.openxmlformats.org/drawingml/2006/main">
            <a:off x="9048750" y="4524375"/>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2E8B57"/>
                </a:solidFill>
              </a:defRPr>
            </a:pPr>
            <a:r>
              <a:rPr sz="3075" b="1">
                <a:solidFill>
                  <a:srgbClr val="2E8B57"/>
                </a:solidFill>
              </a:rPr>
              <a:t>+1.08%</a:t>
            </a:r>
          </a:p>
        </p:txBody>
      </p:sp>
      <p:sp>
        <p:nvSpPr>
          <p:cNvPr id="11" name="">
            <a:extLst xmlns:a="http://schemas.openxmlformats.org/drawingml/2006/main">
              <a:ext uri="{FF2B5EF4-FFF2-40B4-BE49-F238E27FC236}">
                <a16:creationId xmlns:a16="http://schemas.microsoft.com/office/drawing/2014/main" id="{7F058E66-0E79-4BC8-8D5D-C88458979D13}"/>
              </a:ext>
            </a:extLst>
          </p:cNvPr>
          <p:cNvSpPr>
            <a:spLocks xmlns:a="http://schemas.openxmlformats.org/drawingml/2006/main" noGrp="1"/>
          </p:cNvSpPr>
          <p:nvPr/>
        </p:nvSpPr>
        <p:spPr>
          <a:xfrm xmlns:a="http://schemas.openxmlformats.org/drawingml/2006/main">
            <a:off x="9048750" y="509587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removed-trade mean return</a:t>
            </a:r>
          </a:p>
        </p:txBody>
      </p:sp>
      <p:sp>
        <p:nvSpPr>
          <p:cNvPr id="12" name="">
            <a:extLst xmlns:a="http://schemas.openxmlformats.org/drawingml/2006/main">
              <a:ext uri="{FF2B5EF4-FFF2-40B4-BE49-F238E27FC236}">
                <a16:creationId xmlns:a16="http://schemas.microsoft.com/office/drawing/2014/main" id="{1F7BC405-808B-49EA-8351-096AB448BCA1}"/>
              </a:ext>
            </a:extLst>
          </p:cNvPr>
          <p:cNvSpPr>
            <a:spLocks xmlns:a="http://schemas.openxmlformats.org/drawingml/2006/main" noGrp="1"/>
          </p:cNvSpPr>
          <p:nvPr/>
        </p:nvSpPr>
        <p:spPr>
          <a:xfrm xmlns:a="http://schemas.openxmlformats.org/drawingml/2006/main">
            <a:off x="8858250" y="5619750"/>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Quiet entries sometimes became large right-tail trends.</a:t>
            </a:r>
          </a:p>
        </p:txBody>
      </p:sp>
    </p:spTree>
    <p:extLst>
      <p:ext uri="{BB962C8B-B14F-4D97-AF65-F5344CB8AC3E}">
        <p14:creationId xmlns:p14="http://schemas.microsoft.com/office/powerpoint/2010/main" val="1794080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E9580E-26C5-46C8-9ADA-641BB422529D}"/>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The tapes reveal the missed-expansion mechanism</a:t>
            </a:r>
          </a:p>
        </p:txBody>
      </p:sp>
      <p:sp>
        <p:nvSpPr>
          <p:cNvPr id="2" name="">
            <a:extLst xmlns:a="http://schemas.openxmlformats.org/drawingml/2006/main">
              <a:ext uri="{FF2B5EF4-FFF2-40B4-BE49-F238E27FC236}">
                <a16:creationId xmlns:a16="http://schemas.microsoft.com/office/drawing/2014/main" id="{ED328912-FEF5-49A1-BB66-D12F49F3961A}"/>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10</a:t>
            </a:r>
          </a:p>
        </p:txBody>
      </p:sp>
      <p:sp>
        <p:nvSpPr>
          <p:cNvPr id="3" name="">
            <a:extLst xmlns:a="http://schemas.openxmlformats.org/drawingml/2006/main">
              <a:ext uri="{FF2B5EF4-FFF2-40B4-BE49-F238E27FC236}">
                <a16:creationId xmlns:a16="http://schemas.microsoft.com/office/drawing/2014/main" id="{3FD9C798-67BC-4A04-BA06-EA6C5BD3A6AD}"/>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REPRESENTATIVE BEHAVIOR</a:t>
            </a:r>
          </a:p>
        </p:txBody>
      </p:sp>
      <p:sp>
        <p:nvSpPr>
          <p:cNvPr id="4" name="">
            <a:extLst xmlns:a="http://schemas.openxmlformats.org/drawingml/2006/main">
              <a:ext uri="{FF2B5EF4-FFF2-40B4-BE49-F238E27FC236}">
                <a16:creationId xmlns:a16="http://schemas.microsoft.com/office/drawing/2014/main" id="{E7E6238C-2518-40C7-9879-4B82538E6B40}"/>
              </a:ext>
            </a:extLst>
          </p:cNvPr>
          <p:cNvSpPr>
            <a:spLocks xmlns:a="http://schemas.openxmlformats.org/drawingml/2006/main" noGrp="1"/>
          </p:cNvSpPr>
          <p:nvPr/>
        </p:nvSpPr>
        <p:spPr>
          <a:xfrm xmlns:a="http://schemas.openxmlformats.org/drawingml/2006/main">
            <a:off x="457200" y="1333500"/>
            <a:ext cx="6429375" cy="4857750"/>
          </a:xfrm>
          <a:prstGeom xmlns:a="http://schemas.openxmlformats.org/drawingml/2006/main" prst="roundRect">
            <a:avLst>
              <a:gd name="adj" fmla="val 1569"/>
            </a:avLst>
          </a:prstGeom>
          <a:solidFill xmlns:a="http://schemas.openxmlformats.org/drawingml/2006/main">
            <a:srgbClr val="FAFA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aca739cf0bd4ee9"/>
          <a:stretch xmlns:a="http://schemas.openxmlformats.org/drawingml/2006/main"/>
        </p:blipFill>
        <p:spPr>
          <a:xfrm xmlns:a="http://schemas.openxmlformats.org/drawingml/2006/main">
            <a:off x="1353416" y="1333500"/>
            <a:ext cx="4636943"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AF6494-FCBF-4E6E-8083-26CA982F8E47}"/>
              </a:ext>
            </a:extLst>
          </p:cNvPr>
          <p:cNvSpPr>
            <a:spLocks xmlns:a="http://schemas.openxmlformats.org/drawingml/2006/main" noGrp="1"/>
          </p:cNvSpPr>
          <p:nvPr/>
        </p:nvSpPr>
        <p:spPr>
          <a:xfrm xmlns:a="http://schemas.openxmlformats.org/drawingml/2006/main">
            <a:off x="7429500" y="16668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C83E3A"/>
                </a:solidFill>
              </a:defRPr>
            </a:pPr>
            <a:r>
              <a:rPr sz="2025" b="1">
                <a:solidFill>
                  <a:srgbClr val="C83E3A"/>
                </a:solidFill>
              </a:rPr>
              <a:t>Missed expansions</a:t>
            </a:r>
          </a:p>
        </p:txBody>
      </p:sp>
      <p:sp>
        <p:nvSpPr>
          <p:cNvPr id="7" name="">
            <a:extLst xmlns:a="http://schemas.openxmlformats.org/drawingml/2006/main">
              <a:ext uri="{FF2B5EF4-FFF2-40B4-BE49-F238E27FC236}">
                <a16:creationId xmlns:a16="http://schemas.microsoft.com/office/drawing/2014/main" id="{FDDFFA89-093D-4592-9AF8-18A1AC36B183}"/>
              </a:ext>
            </a:extLst>
          </p:cNvPr>
          <p:cNvSpPr>
            <a:spLocks xmlns:a="http://schemas.openxmlformats.org/drawingml/2006/main" noGrp="1"/>
          </p:cNvSpPr>
          <p:nvPr/>
        </p:nvSpPr>
        <p:spPr>
          <a:xfrm xmlns:a="http://schemas.openxmlformats.org/drawingml/2006/main">
            <a:off x="7429500" y="2238375"/>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AMD 2021 and TSLA 2019 began important trends from entries the LOW veto suppressed.</a:t>
            </a:r>
          </a:p>
        </p:txBody>
      </p:sp>
      <p:sp>
        <p:nvSpPr>
          <p:cNvPr id="8" name="">
            <a:extLst xmlns:a="http://schemas.openxmlformats.org/drawingml/2006/main">
              <a:ext uri="{FF2B5EF4-FFF2-40B4-BE49-F238E27FC236}">
                <a16:creationId xmlns:a16="http://schemas.microsoft.com/office/drawing/2014/main" id="{241A2343-C97D-42DA-844E-CE4D293D52C3}"/>
              </a:ext>
            </a:extLst>
          </p:cNvPr>
          <p:cNvSpPr>
            <a:spLocks xmlns:a="http://schemas.openxmlformats.org/drawingml/2006/main" noGrp="1"/>
          </p:cNvSpPr>
          <p:nvPr/>
        </p:nvSpPr>
        <p:spPr>
          <a:xfrm xmlns:a="http://schemas.openxmlformats.org/drawingml/2006/main">
            <a:off x="7429500" y="36195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E8B57"/>
                </a:solidFill>
              </a:defRPr>
            </a:pPr>
            <a:r>
              <a:rPr sz="2025" b="1">
                <a:solidFill>
                  <a:srgbClr val="2E8B57"/>
                </a:solidFill>
              </a:rPr>
              <a:t>Useful protection</a:t>
            </a:r>
          </a:p>
        </p:txBody>
      </p:sp>
      <p:sp>
        <p:nvSpPr>
          <p:cNvPr id="9" name="">
            <a:extLst xmlns:a="http://schemas.openxmlformats.org/drawingml/2006/main">
              <a:ext uri="{FF2B5EF4-FFF2-40B4-BE49-F238E27FC236}">
                <a16:creationId xmlns:a16="http://schemas.microsoft.com/office/drawing/2014/main" id="{F700B3A7-0C6D-4172-A013-BE1838782F65}"/>
              </a:ext>
            </a:extLst>
          </p:cNvPr>
          <p:cNvSpPr>
            <a:spLocks xmlns:a="http://schemas.openxmlformats.org/drawingml/2006/main" noGrp="1"/>
          </p:cNvSpPr>
          <p:nvPr/>
        </p:nvSpPr>
        <p:spPr>
          <a:xfrm xmlns:a="http://schemas.openxmlformats.org/drawingml/2006/main">
            <a:off x="7429500" y="4191000"/>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NEE 2023 shows the other side: sometimes the veto successfully avoided a losing sequence.</a:t>
            </a:r>
          </a:p>
        </p:txBody>
      </p:sp>
      <p:sp>
        <p:nvSpPr>
          <p:cNvPr id="10" name="">
            <a:extLst xmlns:a="http://schemas.openxmlformats.org/drawingml/2006/main">
              <a:ext uri="{FF2B5EF4-FFF2-40B4-BE49-F238E27FC236}">
                <a16:creationId xmlns:a16="http://schemas.microsoft.com/office/drawing/2014/main" id="{7E4F60F0-4096-4AB1-BEBA-F2F6CF06E894}"/>
              </a:ext>
            </a:extLst>
          </p:cNvPr>
          <p:cNvSpPr>
            <a:spLocks xmlns:a="http://schemas.openxmlformats.org/drawingml/2006/main" noGrp="1"/>
          </p:cNvSpPr>
          <p:nvPr/>
        </p:nvSpPr>
        <p:spPr>
          <a:xfrm xmlns:a="http://schemas.openxmlformats.org/drawingml/2006/main">
            <a:off x="7429500" y="5572125"/>
            <a:ext cx="381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02630"/>
                </a:solidFill>
              </a:defRPr>
            </a:pPr>
            <a:r>
              <a:rPr sz="1425" b="0">
                <a:solidFill>
                  <a:srgbClr val="202630"/>
                </a:solidFill>
              </a:rPr>
              <a:t>Mixed behavior is exactly why breadth and placebo gates matter.</a:t>
            </a:r>
          </a:p>
        </p:txBody>
      </p:sp>
    </p:spTree>
    <p:extLst>
      <p:ext uri="{BB962C8B-B14F-4D97-AF65-F5344CB8AC3E}">
        <p14:creationId xmlns:p14="http://schemas.microsoft.com/office/powerpoint/2010/main" val="2198169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66F290-70B1-4F21-BD31-510326044E29}"/>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Leverage amplifies the same selection problem</a:t>
            </a:r>
          </a:p>
        </p:txBody>
      </p:sp>
      <p:sp>
        <p:nvSpPr>
          <p:cNvPr id="2" name="">
            <a:extLst xmlns:a="http://schemas.openxmlformats.org/drawingml/2006/main">
              <a:ext uri="{FF2B5EF4-FFF2-40B4-BE49-F238E27FC236}">
                <a16:creationId xmlns:a16="http://schemas.microsoft.com/office/drawing/2014/main" id="{5A01D6A9-9570-45E3-898C-1EAE5A98976A}"/>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11</a:t>
            </a:r>
          </a:p>
        </p:txBody>
      </p:sp>
      <p:sp>
        <p:nvSpPr>
          <p:cNvPr id="3" name="">
            <a:extLst xmlns:a="http://schemas.openxmlformats.org/drawingml/2006/main">
              <a:ext uri="{FF2B5EF4-FFF2-40B4-BE49-F238E27FC236}">
                <a16:creationId xmlns:a16="http://schemas.microsoft.com/office/drawing/2014/main" id="{1D7F8DB3-6F93-47D0-97C6-5ED1CFFE7F36}"/>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SECONDARY 1.8X VIEW</a:t>
            </a:r>
          </a:p>
        </p:txBody>
      </p:sp>
      <p:sp>
        <p:nvSpPr>
          <p:cNvPr id="4" name="">
            <a:extLst xmlns:a="http://schemas.openxmlformats.org/drawingml/2006/main">
              <a:ext uri="{FF2B5EF4-FFF2-40B4-BE49-F238E27FC236}">
                <a16:creationId xmlns:a16="http://schemas.microsoft.com/office/drawing/2014/main" id="{58C32AEF-8D60-4358-AD03-3CF47DE9F74A}"/>
              </a:ext>
            </a:extLst>
          </p:cNvPr>
          <p:cNvSpPr>
            <a:spLocks xmlns:a="http://schemas.openxmlformats.org/drawingml/2006/main" noGrp="1"/>
          </p:cNvSpPr>
          <p:nvPr/>
        </p:nvSpPr>
        <p:spPr>
          <a:xfrm xmlns:a="http://schemas.openxmlformats.org/drawingml/2006/main">
            <a:off x="457200" y="1428750"/>
            <a:ext cx="8334375" cy="4524375"/>
          </a:xfrm>
          <a:prstGeom xmlns:a="http://schemas.openxmlformats.org/drawingml/2006/main" prst="roundRect">
            <a:avLst>
              <a:gd name="adj" fmla="val 1684"/>
            </a:avLst>
          </a:prstGeom>
          <a:solidFill xmlns:a="http://schemas.openxmlformats.org/drawingml/2006/main">
            <a:srgbClr val="FAFAFA"/>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202629976c341f2"/>
          <a:stretch xmlns:a="http://schemas.openxmlformats.org/drawingml/2006/main"/>
        </p:blipFill>
        <p:spPr>
          <a:xfrm xmlns:a="http://schemas.openxmlformats.org/drawingml/2006/main">
            <a:off x="922626" y="1428750"/>
            <a:ext cx="7403523" cy="4524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77E5F7F-6964-4C8E-890A-E0DCCE2A79AE}"/>
              </a:ext>
            </a:extLst>
          </p:cNvPr>
          <p:cNvSpPr>
            <a:spLocks xmlns:a="http://schemas.openxmlformats.org/drawingml/2006/main" noGrp="1"/>
          </p:cNvSpPr>
          <p:nvPr/>
        </p:nvSpPr>
        <p:spPr>
          <a:xfrm xmlns:a="http://schemas.openxmlformats.org/drawingml/2006/main">
            <a:off x="9239250" y="1762125"/>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AEB4BE"/>
                </a:solidFill>
              </a:defRPr>
            </a:pPr>
            <a:r>
              <a:rPr sz="3000" b="1">
                <a:solidFill>
                  <a:srgbClr val="AEB4BE"/>
                </a:solidFill>
              </a:rPr>
              <a:t>11.94%</a:t>
            </a:r>
          </a:p>
        </p:txBody>
      </p:sp>
      <p:sp>
        <p:nvSpPr>
          <p:cNvPr id="7" name="">
            <a:extLst xmlns:a="http://schemas.openxmlformats.org/drawingml/2006/main">
              <a:ext uri="{FF2B5EF4-FFF2-40B4-BE49-F238E27FC236}">
                <a16:creationId xmlns:a16="http://schemas.microsoft.com/office/drawing/2014/main" id="{F760038E-AD7E-4E4E-A1DD-9E1C28C08507}"/>
              </a:ext>
            </a:extLst>
          </p:cNvPr>
          <p:cNvSpPr>
            <a:spLocks xmlns:a="http://schemas.openxmlformats.org/drawingml/2006/main" noGrp="1"/>
          </p:cNvSpPr>
          <p:nvPr/>
        </p:nvSpPr>
        <p:spPr>
          <a:xfrm xmlns:a="http://schemas.openxmlformats.org/drawingml/2006/main">
            <a:off x="9239250" y="22860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unfiltered 1.8x return</a:t>
            </a:r>
          </a:p>
        </p:txBody>
      </p:sp>
      <p:sp>
        <p:nvSpPr>
          <p:cNvPr id="8" name="">
            <a:extLst xmlns:a="http://schemas.openxmlformats.org/drawingml/2006/main">
              <a:ext uri="{FF2B5EF4-FFF2-40B4-BE49-F238E27FC236}">
                <a16:creationId xmlns:a16="http://schemas.microsoft.com/office/drawing/2014/main" id="{7DB8E5A3-D82B-4688-A336-C1A2F73DF018}"/>
              </a:ext>
            </a:extLst>
          </p:cNvPr>
          <p:cNvSpPr>
            <a:spLocks xmlns:a="http://schemas.openxmlformats.org/drawingml/2006/main" noGrp="1"/>
          </p:cNvSpPr>
          <p:nvPr/>
        </p:nvSpPr>
        <p:spPr>
          <a:xfrm xmlns:a="http://schemas.openxmlformats.org/drawingml/2006/main">
            <a:off x="9239250" y="323850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3D8DFF"/>
                </a:solidFill>
              </a:defRPr>
            </a:pPr>
            <a:r>
              <a:rPr sz="3000" b="1">
                <a:solidFill>
                  <a:srgbClr val="3D8DFF"/>
                </a:solidFill>
              </a:rPr>
              <a:t>5.53%</a:t>
            </a:r>
          </a:p>
        </p:txBody>
      </p:sp>
      <p:sp>
        <p:nvSpPr>
          <p:cNvPr id="9" name="">
            <a:extLst xmlns:a="http://schemas.openxmlformats.org/drawingml/2006/main">
              <a:ext uri="{FF2B5EF4-FFF2-40B4-BE49-F238E27FC236}">
                <a16:creationId xmlns:a16="http://schemas.microsoft.com/office/drawing/2014/main" id="{F42E2E60-64FD-487A-91F3-CBD15D5EC7A9}"/>
              </a:ext>
            </a:extLst>
          </p:cNvPr>
          <p:cNvSpPr>
            <a:spLocks xmlns:a="http://schemas.openxmlformats.org/drawingml/2006/main" noGrp="1"/>
          </p:cNvSpPr>
          <p:nvPr/>
        </p:nvSpPr>
        <p:spPr>
          <a:xfrm xmlns:a="http://schemas.openxmlformats.org/drawingml/2006/main">
            <a:off x="9239250" y="37623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overlay 1.8x return</a:t>
            </a:r>
          </a:p>
        </p:txBody>
      </p:sp>
      <p:sp>
        <p:nvSpPr>
          <p:cNvPr id="10" name="">
            <a:extLst xmlns:a="http://schemas.openxmlformats.org/drawingml/2006/main">
              <a:ext uri="{FF2B5EF4-FFF2-40B4-BE49-F238E27FC236}">
                <a16:creationId xmlns:a16="http://schemas.microsoft.com/office/drawing/2014/main" id="{F87367BB-DD21-4ABC-AED1-D86F5357AD14}"/>
              </a:ext>
            </a:extLst>
          </p:cNvPr>
          <p:cNvSpPr>
            <a:spLocks xmlns:a="http://schemas.openxmlformats.org/drawingml/2006/main" noGrp="1"/>
          </p:cNvSpPr>
          <p:nvPr/>
        </p:nvSpPr>
        <p:spPr>
          <a:xfrm xmlns:a="http://schemas.openxmlformats.org/drawingml/2006/main">
            <a:off x="9239250" y="46672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2E8B57"/>
                </a:solidFill>
              </a:defRPr>
            </a:pPr>
            <a:r>
              <a:rPr sz="3000" b="1">
                <a:solidFill>
                  <a:srgbClr val="2E8B57"/>
                </a:solidFill>
              </a:rPr>
              <a:t>0</a:t>
            </a:r>
          </a:p>
        </p:txBody>
      </p:sp>
      <p:sp>
        <p:nvSpPr>
          <p:cNvPr id="11" name="">
            <a:extLst xmlns:a="http://schemas.openxmlformats.org/drawingml/2006/main">
              <a:ext uri="{FF2B5EF4-FFF2-40B4-BE49-F238E27FC236}">
                <a16:creationId xmlns:a16="http://schemas.microsoft.com/office/drawing/2014/main" id="{23598678-30DA-4A61-A30E-27E4DC5A6FF1}"/>
              </a:ext>
            </a:extLst>
          </p:cNvPr>
          <p:cNvSpPr>
            <a:spLocks xmlns:a="http://schemas.openxmlformats.org/drawingml/2006/main" noGrp="1"/>
          </p:cNvSpPr>
          <p:nvPr/>
        </p:nvSpPr>
        <p:spPr>
          <a:xfrm xmlns:a="http://schemas.openxmlformats.org/drawingml/2006/main">
            <a:off x="9239250" y="5191125"/>
            <a:ext cx="223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02630"/>
                </a:solidFill>
              </a:defRPr>
            </a:pPr>
            <a:r>
              <a:rPr sz="1350" b="0">
                <a:solidFill>
                  <a:srgbClr val="202630"/>
                </a:solidFill>
              </a:rPr>
              <a:t>strategy maintenance-proxy breaches</a:t>
            </a:r>
          </a:p>
        </p:txBody>
      </p:sp>
    </p:spTree>
    <p:extLst>
      <p:ext uri="{BB962C8B-B14F-4D97-AF65-F5344CB8AC3E}">
        <p14:creationId xmlns:p14="http://schemas.microsoft.com/office/powerpoint/2010/main" val="11328330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1C19FBE-9BEE-451F-B1E7-48253DD81AD4}"/>
              </a:ext>
            </a:extLst>
          </p:cNvPr>
          <p:cNvSpPr>
            <a:spLocks xmlns:a="http://schemas.openxmlformats.org/drawingml/2006/main" noGrp="1"/>
          </p:cNvSpPr>
          <p:nvPr/>
        </p:nvSpPr>
        <p:spPr>
          <a:xfrm xmlns:a="http://schemas.openxmlformats.org/drawingml/2006/main">
            <a:off x="457200" y="32385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000000"/>
                </a:solidFill>
              </a:defRPr>
            </a:pPr>
            <a:r>
              <a:rPr sz="2925" b="1">
                <a:solidFill>
                  <a:srgbClr val="000000"/>
                </a:solidFill>
              </a:rPr>
              <a:t>Preserve the classifier; reject this entry veto</a:t>
            </a:r>
          </a:p>
        </p:txBody>
      </p:sp>
      <p:sp>
        <p:nvSpPr>
          <p:cNvPr id="2" name="">
            <a:extLst xmlns:a="http://schemas.openxmlformats.org/drawingml/2006/main">
              <a:ext uri="{FF2B5EF4-FFF2-40B4-BE49-F238E27FC236}">
                <a16:creationId xmlns:a16="http://schemas.microsoft.com/office/drawing/2014/main" id="{EE40C517-29B7-403C-B1B2-E4178971610E}"/>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202630"/>
                </a:solidFill>
              </a:defRPr>
            </a:pPr>
            <a:r>
              <a:rPr sz="900" b="0">
                <a:solidFill>
                  <a:srgbClr val="202630"/>
                </a:solidFill>
              </a:rPr>
              <a:t>12</a:t>
            </a:r>
          </a:p>
        </p:txBody>
      </p:sp>
      <p:sp>
        <p:nvSpPr>
          <p:cNvPr id="3" name="">
            <a:extLst xmlns:a="http://schemas.openxmlformats.org/drawingml/2006/main">
              <a:ext uri="{FF2B5EF4-FFF2-40B4-BE49-F238E27FC236}">
                <a16:creationId xmlns:a16="http://schemas.microsoft.com/office/drawing/2014/main" id="{9D4B814C-80B2-4CF2-8F32-F70CBCE513B4}"/>
              </a:ext>
            </a:extLst>
          </p:cNvPr>
          <p:cNvSpPr>
            <a:spLocks xmlns:a="http://schemas.openxmlformats.org/drawingml/2006/main" noGrp="1"/>
          </p:cNvSpPr>
          <p:nvPr/>
        </p:nvSpPr>
        <p:spPr>
          <a:xfrm xmlns:a="http://schemas.openxmlformats.org/drawingml/2006/main">
            <a:off x="457200" y="10287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4" name="">
            <a:extLst xmlns:a="http://schemas.openxmlformats.org/drawingml/2006/main">
              <a:ext uri="{FF2B5EF4-FFF2-40B4-BE49-F238E27FC236}">
                <a16:creationId xmlns:a16="http://schemas.microsoft.com/office/drawing/2014/main" id="{FA5FC858-145E-4C33-9789-D79385A06E9F}"/>
              </a:ext>
            </a:extLst>
          </p:cNvPr>
          <p:cNvSpPr>
            <a:spLocks xmlns:a="http://schemas.openxmlformats.org/drawingml/2006/main" noGrp="1"/>
          </p:cNvSpPr>
          <p:nvPr/>
        </p:nvSpPr>
        <p:spPr>
          <a:xfrm xmlns:a="http://schemas.openxmlformats.org/drawingml/2006/main">
            <a:off x="523875" y="1714500"/>
            <a:ext cx="3000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700" b="1">
                <a:solidFill>
                  <a:srgbClr val="C83E3A"/>
                </a:solidFill>
              </a:defRPr>
            </a:pPr>
            <a:r>
              <a:rPr sz="5700" b="1">
                <a:solidFill>
                  <a:srgbClr val="C83E3A"/>
                </a:solidFill>
              </a:rPr>
              <a:t>STOP</a:t>
            </a:r>
          </a:p>
        </p:txBody>
      </p:sp>
      <p:sp>
        <p:nvSpPr>
          <p:cNvPr id="5" name="">
            <a:extLst xmlns:a="http://schemas.openxmlformats.org/drawingml/2006/main">
              <a:ext uri="{FF2B5EF4-FFF2-40B4-BE49-F238E27FC236}">
                <a16:creationId xmlns:a16="http://schemas.microsoft.com/office/drawing/2014/main" id="{B1B4C073-A408-4947-965F-DD7A890B8560}"/>
              </a:ext>
            </a:extLst>
          </p:cNvPr>
          <p:cNvSpPr>
            <a:spLocks xmlns:a="http://schemas.openxmlformats.org/drawingml/2006/main" noGrp="1"/>
          </p:cNvSpPr>
          <p:nvPr/>
        </p:nvSpPr>
        <p:spPr>
          <a:xfrm xmlns:a="http://schemas.openxmlformats.org/drawingml/2006/main">
            <a:off x="552450" y="2905125"/>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HYP-REG-01.2</a:t>
            </a:r>
          </a:p>
        </p:txBody>
      </p:sp>
      <p:sp>
        <p:nvSpPr>
          <p:cNvPr id="6" name="">
            <a:extLst xmlns:a="http://schemas.openxmlformats.org/drawingml/2006/main">
              <a:ext uri="{FF2B5EF4-FFF2-40B4-BE49-F238E27FC236}">
                <a16:creationId xmlns:a16="http://schemas.microsoft.com/office/drawing/2014/main" id="{82D68532-C970-4BB9-A1CA-A3C2E647D46E}"/>
              </a:ext>
            </a:extLst>
          </p:cNvPr>
          <p:cNvSpPr>
            <a:spLocks xmlns:a="http://schemas.openxmlformats.org/drawingml/2006/main" noGrp="1"/>
          </p:cNvSpPr>
          <p:nvPr/>
        </p:nvSpPr>
        <p:spPr>
          <a:xfrm xmlns:a="http://schemas.openxmlformats.org/drawingml/2006/main">
            <a:off x="552450" y="3524250"/>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defRPr>
            </a:pPr>
            <a:r>
              <a:rPr sz="2175" b="1">
                <a:solidFill>
                  <a:srgbClr val="000000"/>
                </a:solidFill>
              </a:rPr>
              <a:t>DEVELOPMENT gates failed</a:t>
            </a:r>
          </a:p>
          <a:p xmlns:a="http://schemas.openxmlformats.org/drawingml/2006/main">
            <a:pPr algn="l">
              <a:defRPr sz="2175" b="1">
                <a:solidFill>
                  <a:srgbClr val="000000"/>
                </a:solidFill>
              </a:defRPr>
            </a:pPr>
            <a:r>
              <a:rPr sz="2175" b="1">
                <a:solidFill>
                  <a:srgbClr val="000000"/>
                </a:solidFill>
              </a:rPr>
              <a:t>confirmation not run</a:t>
            </a:r>
          </a:p>
        </p:txBody>
      </p:sp>
      <p:sp>
        <p:nvSpPr>
          <p:cNvPr id="7" name="">
            <a:extLst xmlns:a="http://schemas.openxmlformats.org/drawingml/2006/main">
              <a:ext uri="{FF2B5EF4-FFF2-40B4-BE49-F238E27FC236}">
                <a16:creationId xmlns:a16="http://schemas.microsoft.com/office/drawing/2014/main" id="{D20D10AD-B6BC-46ED-8EA5-3C18DC880D37}"/>
              </a:ext>
            </a:extLst>
          </p:cNvPr>
          <p:cNvSpPr>
            <a:spLocks xmlns:a="http://schemas.openxmlformats.org/drawingml/2006/main" noGrp="1"/>
          </p:cNvSpPr>
          <p:nvPr/>
        </p:nvSpPr>
        <p:spPr>
          <a:xfrm xmlns:a="http://schemas.openxmlformats.org/drawingml/2006/main">
            <a:off x="5095875" y="1714500"/>
            <a:ext cx="228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2E8B57"/>
                </a:solidFill>
              </a:defRPr>
            </a:pPr>
            <a:r>
              <a:rPr sz="2850" b="1">
                <a:solidFill>
                  <a:srgbClr val="2E8B57"/>
                </a:solidFill>
              </a:rPr>
              <a:t>PASS</a:t>
            </a:r>
          </a:p>
        </p:txBody>
      </p:sp>
      <p:sp>
        <p:nvSpPr>
          <p:cNvPr id="8" name="">
            <a:extLst xmlns:a="http://schemas.openxmlformats.org/drawingml/2006/main">
              <a:ext uri="{FF2B5EF4-FFF2-40B4-BE49-F238E27FC236}">
                <a16:creationId xmlns:a16="http://schemas.microsoft.com/office/drawing/2014/main" id="{C669B97D-42E5-4B4C-A4AB-817EF46B726F}"/>
              </a:ext>
            </a:extLst>
          </p:cNvPr>
          <p:cNvSpPr>
            <a:spLocks xmlns:a="http://schemas.openxmlformats.org/drawingml/2006/main" noGrp="1"/>
          </p:cNvSpPr>
          <p:nvPr/>
        </p:nvSpPr>
        <p:spPr>
          <a:xfrm xmlns:a="http://schemas.openxmlformats.org/drawingml/2006/main">
            <a:off x="5095875" y="2590800"/>
            <a:ext cx="104775" cy="104775"/>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931958-B373-4D00-AB0D-7745409B46B8}"/>
              </a:ext>
            </a:extLst>
          </p:cNvPr>
          <p:cNvSpPr>
            <a:spLocks xmlns:a="http://schemas.openxmlformats.org/drawingml/2006/main" noGrp="1"/>
          </p:cNvSpPr>
          <p:nvPr/>
        </p:nvSpPr>
        <p:spPr>
          <a:xfrm xmlns:a="http://schemas.openxmlformats.org/drawingml/2006/main">
            <a:off x="5334000" y="2524125"/>
            <a:ext cx="2428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02630"/>
                </a:solidFill>
              </a:defRPr>
            </a:pPr>
            <a:r>
              <a:rPr sz="1650" b="0">
                <a:solidFill>
                  <a:srgbClr val="202630"/>
                </a:solidFill>
              </a:rPr>
              <a:t>Integrity</a:t>
            </a:r>
          </a:p>
        </p:txBody>
      </p:sp>
      <p:sp>
        <p:nvSpPr>
          <p:cNvPr id="10" name="">
            <a:extLst xmlns:a="http://schemas.openxmlformats.org/drawingml/2006/main">
              <a:ext uri="{FF2B5EF4-FFF2-40B4-BE49-F238E27FC236}">
                <a16:creationId xmlns:a16="http://schemas.microsoft.com/office/drawing/2014/main" id="{91073A4B-EDBB-4B8A-9AE4-16C1C91AEC45}"/>
              </a:ext>
            </a:extLst>
          </p:cNvPr>
          <p:cNvSpPr>
            <a:spLocks xmlns:a="http://schemas.openxmlformats.org/drawingml/2006/main" noGrp="1"/>
          </p:cNvSpPr>
          <p:nvPr/>
        </p:nvSpPr>
        <p:spPr>
          <a:xfrm xmlns:a="http://schemas.openxmlformats.org/drawingml/2006/main">
            <a:off x="5095875" y="3238500"/>
            <a:ext cx="104775" cy="104775"/>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846132B-3494-452B-AF62-A033DC08B8C0}"/>
              </a:ext>
            </a:extLst>
          </p:cNvPr>
          <p:cNvSpPr>
            <a:spLocks xmlns:a="http://schemas.openxmlformats.org/drawingml/2006/main" noGrp="1"/>
          </p:cNvSpPr>
          <p:nvPr/>
        </p:nvSpPr>
        <p:spPr>
          <a:xfrm xmlns:a="http://schemas.openxmlformats.org/drawingml/2006/main">
            <a:off x="5334000" y="3171825"/>
            <a:ext cx="2428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02630"/>
                </a:solidFill>
              </a:defRPr>
            </a:pPr>
            <a:r>
              <a:rPr sz="1650" b="0">
                <a:solidFill>
                  <a:srgbClr val="202630"/>
                </a:solidFill>
              </a:rPr>
              <a:t>Parent reproduction</a:t>
            </a:r>
          </a:p>
        </p:txBody>
      </p:sp>
      <p:sp>
        <p:nvSpPr>
          <p:cNvPr id="12" name="">
            <a:extLst xmlns:a="http://schemas.openxmlformats.org/drawingml/2006/main">
              <a:ext uri="{FF2B5EF4-FFF2-40B4-BE49-F238E27FC236}">
                <a16:creationId xmlns:a16="http://schemas.microsoft.com/office/drawing/2014/main" id="{E6552847-0FF7-4BF1-B963-33A70DD195E3}"/>
              </a:ext>
            </a:extLst>
          </p:cNvPr>
          <p:cNvSpPr>
            <a:spLocks xmlns:a="http://schemas.openxmlformats.org/drawingml/2006/main" noGrp="1"/>
          </p:cNvSpPr>
          <p:nvPr/>
        </p:nvSpPr>
        <p:spPr>
          <a:xfrm xmlns:a="http://schemas.openxmlformats.org/drawingml/2006/main">
            <a:off x="5095875" y="3886200"/>
            <a:ext cx="104775" cy="104775"/>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434958-921B-4737-8DCA-5E3A45DD6327}"/>
              </a:ext>
            </a:extLst>
          </p:cNvPr>
          <p:cNvSpPr>
            <a:spLocks xmlns:a="http://schemas.openxmlformats.org/drawingml/2006/main" noGrp="1"/>
          </p:cNvSpPr>
          <p:nvPr/>
        </p:nvSpPr>
        <p:spPr>
          <a:xfrm xmlns:a="http://schemas.openxmlformats.org/drawingml/2006/main">
            <a:off x="5334000" y="3819525"/>
            <a:ext cx="2428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02630"/>
                </a:solidFill>
              </a:defRPr>
            </a:pPr>
            <a:r>
              <a:rPr sz="1650" b="0">
                <a:solidFill>
                  <a:srgbClr val="202630"/>
                </a:solidFill>
              </a:rPr>
              <a:t>Absolute viability</a:t>
            </a:r>
          </a:p>
        </p:txBody>
      </p:sp>
      <p:sp>
        <p:nvSpPr>
          <p:cNvPr id="14" name="">
            <a:extLst xmlns:a="http://schemas.openxmlformats.org/drawingml/2006/main">
              <a:ext uri="{FF2B5EF4-FFF2-40B4-BE49-F238E27FC236}">
                <a16:creationId xmlns:a16="http://schemas.microsoft.com/office/drawing/2014/main" id="{85F155DE-6EFC-4806-975F-51725A001A7B}"/>
              </a:ext>
            </a:extLst>
          </p:cNvPr>
          <p:cNvSpPr>
            <a:spLocks xmlns:a="http://schemas.openxmlformats.org/drawingml/2006/main" noGrp="1"/>
          </p:cNvSpPr>
          <p:nvPr/>
        </p:nvSpPr>
        <p:spPr>
          <a:xfrm xmlns:a="http://schemas.openxmlformats.org/drawingml/2006/main">
            <a:off x="8429625" y="1714500"/>
            <a:ext cx="228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C83E3A"/>
                </a:solidFill>
              </a:defRPr>
            </a:pPr>
            <a:r>
              <a:rPr sz="2850" b="1">
                <a:solidFill>
                  <a:srgbClr val="C83E3A"/>
                </a:solidFill>
              </a:rPr>
              <a:t>FAIL</a:t>
            </a:r>
          </a:p>
        </p:txBody>
      </p:sp>
      <p:sp>
        <p:nvSpPr>
          <p:cNvPr id="15" name="">
            <a:extLst xmlns:a="http://schemas.openxmlformats.org/drawingml/2006/main">
              <a:ext uri="{FF2B5EF4-FFF2-40B4-BE49-F238E27FC236}">
                <a16:creationId xmlns:a16="http://schemas.microsoft.com/office/drawing/2014/main" id="{CEA35351-DDF2-4C09-948E-BFE5B6845F24}"/>
              </a:ext>
            </a:extLst>
          </p:cNvPr>
          <p:cNvSpPr>
            <a:spLocks xmlns:a="http://schemas.openxmlformats.org/drawingml/2006/main" noGrp="1"/>
          </p:cNvSpPr>
          <p:nvPr/>
        </p:nvSpPr>
        <p:spPr>
          <a:xfrm xmlns:a="http://schemas.openxmlformats.org/drawingml/2006/main">
            <a:off x="8429625" y="2590800"/>
            <a:ext cx="104775" cy="104775"/>
          </a:xfrm>
          <a:prstGeom xmlns:a="http://schemas.openxmlformats.org/drawingml/2006/main" prst="ellipse">
            <a:avLst/>
          </a:prstGeom>
          <a:solidFill xmlns:a="http://schemas.openxmlformats.org/drawingml/2006/main">
            <a:srgbClr val="C83E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AE6C6C-20E9-4644-BFD7-20D96091F8AF}"/>
              </a:ext>
            </a:extLst>
          </p:cNvPr>
          <p:cNvSpPr>
            <a:spLocks xmlns:a="http://schemas.openxmlformats.org/drawingml/2006/main" noGrp="1"/>
          </p:cNvSpPr>
          <p:nvPr/>
        </p:nvSpPr>
        <p:spPr>
          <a:xfrm xmlns:a="http://schemas.openxmlformats.org/drawingml/2006/main">
            <a:off x="8667750" y="252412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Panel return</a:t>
            </a:r>
          </a:p>
        </p:txBody>
      </p:sp>
      <p:sp>
        <p:nvSpPr>
          <p:cNvPr id="17" name="">
            <a:extLst xmlns:a="http://schemas.openxmlformats.org/drawingml/2006/main">
              <a:ext uri="{FF2B5EF4-FFF2-40B4-BE49-F238E27FC236}">
                <a16:creationId xmlns:a16="http://schemas.microsoft.com/office/drawing/2014/main" id="{E7FFA48F-A418-457D-92A8-247280A88EEF}"/>
              </a:ext>
            </a:extLst>
          </p:cNvPr>
          <p:cNvSpPr>
            <a:spLocks xmlns:a="http://schemas.openxmlformats.org/drawingml/2006/main" noGrp="1"/>
          </p:cNvSpPr>
          <p:nvPr/>
        </p:nvSpPr>
        <p:spPr>
          <a:xfrm xmlns:a="http://schemas.openxmlformats.org/drawingml/2006/main">
            <a:off x="8429625" y="3162300"/>
            <a:ext cx="104775" cy="104775"/>
          </a:xfrm>
          <a:prstGeom xmlns:a="http://schemas.openxmlformats.org/drawingml/2006/main" prst="ellipse">
            <a:avLst/>
          </a:prstGeom>
          <a:solidFill xmlns:a="http://schemas.openxmlformats.org/drawingml/2006/main">
            <a:srgbClr val="C83E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09A1992-A3D5-476D-AAD3-CFFDB93779E2}"/>
              </a:ext>
            </a:extLst>
          </p:cNvPr>
          <p:cNvSpPr>
            <a:spLocks xmlns:a="http://schemas.openxmlformats.org/drawingml/2006/main" noGrp="1"/>
          </p:cNvSpPr>
          <p:nvPr/>
        </p:nvSpPr>
        <p:spPr>
          <a:xfrm xmlns:a="http://schemas.openxmlformats.org/drawingml/2006/main">
            <a:off x="8667750" y="309562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Asset breadth</a:t>
            </a:r>
          </a:p>
        </p:txBody>
      </p:sp>
      <p:sp>
        <p:nvSpPr>
          <p:cNvPr id="19" name="">
            <a:extLst xmlns:a="http://schemas.openxmlformats.org/drawingml/2006/main">
              <a:ext uri="{FF2B5EF4-FFF2-40B4-BE49-F238E27FC236}">
                <a16:creationId xmlns:a16="http://schemas.microsoft.com/office/drawing/2014/main" id="{04E392E5-FEA2-4A40-913B-C5C6A911C29A}"/>
              </a:ext>
            </a:extLst>
          </p:cNvPr>
          <p:cNvSpPr>
            <a:spLocks xmlns:a="http://schemas.openxmlformats.org/drawingml/2006/main" noGrp="1"/>
          </p:cNvSpPr>
          <p:nvPr/>
        </p:nvSpPr>
        <p:spPr>
          <a:xfrm xmlns:a="http://schemas.openxmlformats.org/drawingml/2006/main">
            <a:off x="8429625" y="3733800"/>
            <a:ext cx="104775" cy="104775"/>
          </a:xfrm>
          <a:prstGeom xmlns:a="http://schemas.openxmlformats.org/drawingml/2006/main" prst="ellipse">
            <a:avLst/>
          </a:prstGeom>
          <a:solidFill xmlns:a="http://schemas.openxmlformats.org/drawingml/2006/main">
            <a:srgbClr val="C83E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D3B21EB-3918-495B-A622-6D600B27DB6A}"/>
              </a:ext>
            </a:extLst>
          </p:cNvPr>
          <p:cNvSpPr>
            <a:spLocks xmlns:a="http://schemas.openxmlformats.org/drawingml/2006/main" noGrp="1"/>
          </p:cNvSpPr>
          <p:nvPr/>
        </p:nvSpPr>
        <p:spPr>
          <a:xfrm xmlns:a="http://schemas.openxmlformats.org/drawingml/2006/main">
            <a:off x="8667750" y="366712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Calendar breadth</a:t>
            </a:r>
          </a:p>
        </p:txBody>
      </p:sp>
      <p:sp>
        <p:nvSpPr>
          <p:cNvPr id="21" name="">
            <a:extLst xmlns:a="http://schemas.openxmlformats.org/drawingml/2006/main">
              <a:ext uri="{FF2B5EF4-FFF2-40B4-BE49-F238E27FC236}">
                <a16:creationId xmlns:a16="http://schemas.microsoft.com/office/drawing/2014/main" id="{7768FE34-7661-47B8-82E0-A453A356C649}"/>
              </a:ext>
            </a:extLst>
          </p:cNvPr>
          <p:cNvSpPr>
            <a:spLocks xmlns:a="http://schemas.openxmlformats.org/drawingml/2006/main" noGrp="1"/>
          </p:cNvSpPr>
          <p:nvPr/>
        </p:nvSpPr>
        <p:spPr>
          <a:xfrm xmlns:a="http://schemas.openxmlformats.org/drawingml/2006/main">
            <a:off x="8429625" y="4305300"/>
            <a:ext cx="104775" cy="104775"/>
          </a:xfrm>
          <a:prstGeom xmlns:a="http://schemas.openxmlformats.org/drawingml/2006/main" prst="ellipse">
            <a:avLst/>
          </a:prstGeom>
          <a:solidFill xmlns:a="http://schemas.openxmlformats.org/drawingml/2006/main">
            <a:srgbClr val="C83E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5DC091-1547-4EBE-8978-CF33A6D5BB9F}"/>
              </a:ext>
            </a:extLst>
          </p:cNvPr>
          <p:cNvSpPr>
            <a:spLocks xmlns:a="http://schemas.openxmlformats.org/drawingml/2006/main" noGrp="1"/>
          </p:cNvSpPr>
          <p:nvPr/>
        </p:nvSpPr>
        <p:spPr>
          <a:xfrm xmlns:a="http://schemas.openxmlformats.org/drawingml/2006/main">
            <a:off x="8667750" y="423862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Protection + Sharpe</a:t>
            </a:r>
          </a:p>
        </p:txBody>
      </p:sp>
      <p:sp>
        <p:nvSpPr>
          <p:cNvPr id="23" name="">
            <a:extLst xmlns:a="http://schemas.openxmlformats.org/drawingml/2006/main">
              <a:ext uri="{FF2B5EF4-FFF2-40B4-BE49-F238E27FC236}">
                <a16:creationId xmlns:a16="http://schemas.microsoft.com/office/drawing/2014/main" id="{FCC9BEA4-63C8-45EF-AB5A-7F14D5711CED}"/>
              </a:ext>
            </a:extLst>
          </p:cNvPr>
          <p:cNvSpPr>
            <a:spLocks xmlns:a="http://schemas.openxmlformats.org/drawingml/2006/main" noGrp="1"/>
          </p:cNvSpPr>
          <p:nvPr/>
        </p:nvSpPr>
        <p:spPr>
          <a:xfrm xmlns:a="http://schemas.openxmlformats.org/drawingml/2006/main">
            <a:off x="8429625" y="4876800"/>
            <a:ext cx="104775" cy="104775"/>
          </a:xfrm>
          <a:prstGeom xmlns:a="http://schemas.openxmlformats.org/drawingml/2006/main" prst="ellipse">
            <a:avLst/>
          </a:prstGeom>
          <a:solidFill xmlns:a="http://schemas.openxmlformats.org/drawingml/2006/main">
            <a:srgbClr val="C83E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A8B7EC-2DD8-4C9B-8D2D-65BBE154105F}"/>
              </a:ext>
            </a:extLst>
          </p:cNvPr>
          <p:cNvSpPr>
            <a:spLocks xmlns:a="http://schemas.openxmlformats.org/drawingml/2006/main" noGrp="1"/>
          </p:cNvSpPr>
          <p:nvPr/>
        </p:nvSpPr>
        <p:spPr>
          <a:xfrm xmlns:a="http://schemas.openxmlformats.org/drawingml/2006/main">
            <a:off x="8667750" y="481012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02630"/>
                </a:solidFill>
              </a:defRPr>
            </a:pPr>
            <a:r>
              <a:rPr sz="1500" b="0">
                <a:solidFill>
                  <a:srgbClr val="202630"/>
                </a:solidFill>
              </a:rPr>
              <a:t>Regime specificity</a:t>
            </a:r>
          </a:p>
        </p:txBody>
      </p:sp>
      <p:sp>
        <p:nvSpPr>
          <p:cNvPr id="25" name="">
            <a:extLst xmlns:a="http://schemas.openxmlformats.org/drawingml/2006/main">
              <a:ext uri="{FF2B5EF4-FFF2-40B4-BE49-F238E27FC236}">
                <a16:creationId xmlns:a16="http://schemas.microsoft.com/office/drawing/2014/main" id="{A1FE454A-BB03-4E94-A586-4CD32AE04189}"/>
              </a:ext>
            </a:extLst>
          </p:cNvPr>
          <p:cNvSpPr>
            <a:spLocks xmlns:a="http://schemas.openxmlformats.org/drawingml/2006/main" noGrp="1"/>
          </p:cNvSpPr>
          <p:nvPr/>
        </p:nvSpPr>
        <p:spPr>
          <a:xfrm xmlns:a="http://schemas.openxmlformats.org/drawingml/2006/main">
            <a:off x="523875" y="5334000"/>
            <a:ext cx="10906125" cy="609600"/>
          </a:xfrm>
          <a:prstGeom xmlns:a="http://schemas.openxmlformats.org/drawingml/2006/main" prst="roundRect">
            <a:avLst>
              <a:gd name="adj" fmla="val 12500"/>
            </a:avLst>
          </a:prstGeom>
          <a:solidFill xmlns:a="http://schemas.openxmlformats.org/drawingml/2006/main">
            <a:srgbClr val="EAF5F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C47EFF4-4AAA-46D2-8D10-F4E3B04BEB4C}"/>
              </a:ext>
            </a:extLst>
          </p:cNvPr>
          <p:cNvSpPr>
            <a:spLocks xmlns:a="http://schemas.openxmlformats.org/drawingml/2006/main" noGrp="1"/>
          </p:cNvSpPr>
          <p:nvPr/>
        </p:nvSpPr>
        <p:spPr>
          <a:xfrm xmlns:a="http://schemas.openxmlformats.org/drawingml/2006/main">
            <a:off x="809625" y="5505450"/>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defRPr>
            </a:pPr>
            <a:r>
              <a:rPr sz="1650" b="1">
                <a:solidFill>
                  <a:srgbClr val="000000"/>
                </a:solidFill>
              </a:rPr>
              <a:t>HYP-REG-01.1 still predicts movement magnitude. It does not imply that LOW volatility is hostile to this momentum rule.</a:t>
            </a:r>
          </a:p>
        </p:txBody>
      </p:sp>
    </p:spTree>
    <p:extLst>
      <p:ext uri="{BB962C8B-B14F-4D97-AF65-F5344CB8AC3E}">
        <p14:creationId xmlns:p14="http://schemas.microsoft.com/office/powerpoint/2010/main" val="16288113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2026-08-15T02:32:55.7760000Z</dcterms:created>
  <dcterms:modified xsi:type="dcterms:W3CDTF">2026-08-15T02:32:55.7760000Z</dcterms:modified>
</coreProperties>
</file>