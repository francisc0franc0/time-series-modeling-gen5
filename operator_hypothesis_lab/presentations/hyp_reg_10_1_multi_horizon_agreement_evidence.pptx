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d76f9de41046b1" /><Relationship Type="http://schemas.openxmlformats.org/officeDocument/2006/relationships/extended-properties" Target="/docProps/app.xml" Id="Rb2d6ef4cea0d415a" /><Relationship Type="http://schemas.openxmlformats.org/officeDocument/2006/relationships/officeDocument" Target="/ppt/presentation.xml" Id="Rb5cbd55f2af541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4d111f1f5b4af0"/>
  </p:sldMasterIdLst>
  <p:notesMasterIdLst>
    <p:notesMasterId xmlns:r="http://schemas.openxmlformats.org/officeDocument/2006/relationships" r:id="R0bf1538ed602478f"/>
  </p:notesMasterIdLst>
  <p:sldIdLst>
    <p:sldId xmlns:r="http://schemas.openxmlformats.org/officeDocument/2006/relationships" id="256" r:id="R63593df62a8b4d47"/>
    <p:sldId xmlns:r="http://schemas.openxmlformats.org/officeDocument/2006/relationships" id="257" r:id="R401fb66795ec4360"/>
    <p:sldId xmlns:r="http://schemas.openxmlformats.org/officeDocument/2006/relationships" id="258" r:id="R8ce3cbe461b84392"/>
    <p:sldId xmlns:r="http://schemas.openxmlformats.org/officeDocument/2006/relationships" id="259" r:id="R38cb0f9441644f4a"/>
    <p:sldId xmlns:r="http://schemas.openxmlformats.org/officeDocument/2006/relationships" id="260" r:id="R103ee9eed51b4e40"/>
    <p:sldId xmlns:r="http://schemas.openxmlformats.org/officeDocument/2006/relationships" id="261" r:id="R363573398ffc4108"/>
    <p:sldId xmlns:r="http://schemas.openxmlformats.org/officeDocument/2006/relationships" id="262" r:id="R5abf475c2bd742b6"/>
    <p:sldId xmlns:r="http://schemas.openxmlformats.org/officeDocument/2006/relationships" id="263" r:id="Re59a8ffbc2ac4af9"/>
    <p:sldId xmlns:r="http://schemas.openxmlformats.org/officeDocument/2006/relationships" id="264" r:id="R0e46c247d98d43ea"/>
    <p:sldId xmlns:r="http://schemas.openxmlformats.org/officeDocument/2006/relationships" id="265" r:id="R75766f1dd7434b94"/>
    <p:sldId xmlns:r="http://schemas.openxmlformats.org/officeDocument/2006/relationships" id="266" r:id="Rd391dcb51aee426a"/>
    <p:sldId xmlns:r="http://schemas.openxmlformats.org/officeDocument/2006/relationships" id="267" r:id="R697c7a61f53f4e1a"/>
    <p:sldId xmlns:r="http://schemas.openxmlformats.org/officeDocument/2006/relationships" id="268" r:id="R04ec4b98849b49e3"/>
    <p:sldId xmlns:r="http://schemas.openxmlformats.org/officeDocument/2006/relationships" id="269" r:id="R02f0cda6d1eb4f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14ffbad8774554" /><Relationship Type="http://schemas.openxmlformats.org/officeDocument/2006/relationships/slideMaster" Target="/ppt/slideMasters/slideMaster1.xml" Id="R2e4d111f1f5b4af0" /><Relationship Type="http://schemas.openxmlformats.org/officeDocument/2006/relationships/notesMaster" Target="/ppt/notesMasters/notesMaster1.xml" Id="R0bf1538ed602478f" /><Relationship Type="http://schemas.openxmlformats.org/officeDocument/2006/relationships/presProps" Target="/ppt/presProps.xml" Id="Rf82a3522adca4e59" /><Relationship Type="http://schemas.openxmlformats.org/officeDocument/2006/relationships/tableStyles" Target="/ppt/tableStyles.xml" Id="R2c6f8c21fbf84f75" /><Relationship Type="http://schemas.openxmlformats.org/officeDocument/2006/relationships/slide" Target="/ppt/slides/slide1.xml" Id="R63593df62a8b4d47" /><Relationship Type="http://schemas.openxmlformats.org/officeDocument/2006/relationships/slide" Target="/ppt/slides/slide2.xml" Id="R401fb66795ec4360" /><Relationship Type="http://schemas.openxmlformats.org/officeDocument/2006/relationships/slide" Target="/ppt/slides/slide3.xml" Id="R8ce3cbe461b84392" /><Relationship Type="http://schemas.openxmlformats.org/officeDocument/2006/relationships/slide" Target="/ppt/slides/slide4.xml" Id="R38cb0f9441644f4a" /><Relationship Type="http://schemas.openxmlformats.org/officeDocument/2006/relationships/slide" Target="/ppt/slides/slide5.xml" Id="R103ee9eed51b4e40" /><Relationship Type="http://schemas.openxmlformats.org/officeDocument/2006/relationships/slide" Target="/ppt/slides/slide6.xml" Id="R363573398ffc4108" /><Relationship Type="http://schemas.openxmlformats.org/officeDocument/2006/relationships/slide" Target="/ppt/slides/slide7.xml" Id="R5abf475c2bd742b6" /><Relationship Type="http://schemas.openxmlformats.org/officeDocument/2006/relationships/slide" Target="/ppt/slides/slide8.xml" Id="Re59a8ffbc2ac4af9" /><Relationship Type="http://schemas.openxmlformats.org/officeDocument/2006/relationships/slide" Target="/ppt/slides/slide9.xml" Id="R0e46c247d98d43ea" /><Relationship Type="http://schemas.openxmlformats.org/officeDocument/2006/relationships/slide" Target="/ppt/slides/slide10.xml" Id="R75766f1dd7434b94" /><Relationship Type="http://schemas.openxmlformats.org/officeDocument/2006/relationships/slide" Target="/ppt/slides/slide11.xml" Id="Rd391dcb51aee426a" /><Relationship Type="http://schemas.openxmlformats.org/officeDocument/2006/relationships/slide" Target="/ppt/slides/slide12.xml" Id="R697c7a61f53f4e1a" /><Relationship Type="http://schemas.openxmlformats.org/officeDocument/2006/relationships/slide" Target="/ppt/slides/slide13.xml" Id="R04ec4b98849b49e3" /><Relationship Type="http://schemas.openxmlformats.org/officeDocument/2006/relationships/slide" Target="/ppt/slides/slide14.xml" Id="R02f0cda6d1eb4f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7ae410507246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39c4b55ce742ad" /><Relationship Type="http://schemas.openxmlformats.org/officeDocument/2006/relationships/notesMaster" Target="/ppt/notesMasters/notesMaster1.xml" Id="R8b2d4d63c38844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3bee0842ac4e5c" /><Relationship Type="http://schemas.openxmlformats.org/officeDocument/2006/relationships/notesMaster" Target="/ppt/notesMasters/notesMaster1.xml" Id="Rb964a5ea0c1d42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ced37ea24444a2" /><Relationship Type="http://schemas.openxmlformats.org/officeDocument/2006/relationships/notesMaster" Target="/ppt/notesMasters/notesMaster1.xml" Id="R566e4b66304547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89f3b354ab4db7" /><Relationship Type="http://schemas.openxmlformats.org/officeDocument/2006/relationships/notesMaster" Target="/ppt/notesMasters/notesMaster1.xml" Id="R41d5d130a6b44c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d91e520d5b4d23" /><Relationship Type="http://schemas.openxmlformats.org/officeDocument/2006/relationships/notesMaster" Target="/ppt/notesMasters/notesMaster1.xml" Id="R8c350b02a4484b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6114a25bc3418b" /><Relationship Type="http://schemas.openxmlformats.org/officeDocument/2006/relationships/notesMaster" Target="/ppt/notesMasters/notesMaster1.xml" Id="R05c006cbc0bb4e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3bd4d94d2d46dd" /><Relationship Type="http://schemas.openxmlformats.org/officeDocument/2006/relationships/notesMaster" Target="/ppt/notesMasters/notesMaster1.xml" Id="R2c6f9c94517342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302662eefb4f07" /><Relationship Type="http://schemas.openxmlformats.org/officeDocument/2006/relationships/notesMaster" Target="/ppt/notesMasters/notesMaster1.xml" Id="Ra6690e25be2140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f7d5ffbbc84f04" /><Relationship Type="http://schemas.openxmlformats.org/officeDocument/2006/relationships/notesMaster" Target="/ppt/notesMasters/notesMaster1.xml" Id="R7410296ff0694f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ce3c773a674f27" /><Relationship Type="http://schemas.openxmlformats.org/officeDocument/2006/relationships/notesMaster" Target="/ppt/notesMasters/notesMaster1.xml" Id="R3b50db4d8afa43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24b296c0ce49af" /><Relationship Type="http://schemas.openxmlformats.org/officeDocument/2006/relationships/notesMaster" Target="/ppt/notesMasters/notesMaster1.xml" Id="R1de712c37f5546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01b9ec92814eae" /><Relationship Type="http://schemas.openxmlformats.org/officeDocument/2006/relationships/notesMaster" Target="/ppt/notesMasters/notesMaster1.xml" Id="Ra69299f165bf4f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9adce6d9ff4156" /><Relationship Type="http://schemas.openxmlformats.org/officeDocument/2006/relationships/notesMaster" Target="/ppt/notesMasters/notesMaster1.xml" Id="R4cda484ce4564d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dbd3a373564f49" /><Relationship Type="http://schemas.openxmlformats.org/officeDocument/2006/relationships/notesMaster" Target="/ppt/notesMasters/notesMaster1.xml" Id="R1fd0ef09e75d40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tension: a useful measurement is not automatically a useful trading gate. This deck preserves both lessons.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Project/Time-Series-Modeling-Gen5/docs/GEN5_HYP_REG_10_1_MULTI_HORIZON_AGREEMENT_CONTRACT.md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Project/Time-Series-Modeling-Gen5/runs/research_workbench/operator_hypothesis_lab/hyp_reg_10_1_multi_horizon_agreement_20260816/hyp_reg_10_1_report.md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literature citation supports the premise of time-series momentum. Be explicit that this particular state machine was designed here and frozen before strategy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https://pages.stern.nyu.edu/~lpederse/papers/TimeSeriesMomentum.pdf</a:t>
            </a:r>
          </a:p>
          <a:p xmlns:a="http://schemas.openxmlformats.org/drawingml/2006/main">
            <a:r>
              <a:t>- C:/Users/Franc/OneDrive/Documents/Francis/Peltata Project/Time-Series-Modeling-Gen5/docs/GEN5_HYP_REG_10_1_MULTI_HORIZON_AGREEMENT_CONTRACT.md</a:t>
            </a:r>
          </a:p>
          <a:p xmlns:a="http://schemas.openxmlformats.org/drawingml/2006/main">
            <a:r>
              <a:t>- C:/Users/Franc/OneDrive/Documents/Francis/Peltata Project/Time-Series-Modeling-Gen5/docs/GEN5_TREND_INDICATOR_POC_ROADMAP.md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normalization plainly: it is a signal-to-noise description, not a forecast probability or a p-value.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Project/Time-Series-Modeling-Gen5/docs/GEN5_HYP_REG_10_1_MULTI_HORIZON_AGREEMENT_CONTRACT.md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distinction matters. Nested horizons are correlated summaries of one price path. Full agreement is a descriptive state, not three independent pieces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Project/Time-Series-Modeling-Gen5/docs/GEN5_HYP_REG_10_1_MULTI_HORIZON_AGREEMENT_CONTRACT.md</a:t>
            </a:r>
          </a:p>
          <a:p xmlns:a="http://schemas.openxmlformats.org/drawingml/2006/main">
            <a:r>
              <a:t>- https://pages.stern.nyu.edu/~lpederse/papers/TimeSeriesMomentum.pdf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taxonomy keeps potentially useful information that a binary up/down toggle would discard. Only FULL_UP was authorized as a fresh-entry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Project/Time-Series-Modeling-Gen5/docs/GEN5_HYP_REG_10_1_MULTI_HORIZON_AGREEMENT_CONTRACT.md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sequencing prevents a malformed indicator from being judged by a lucky strategy outcome. Stage B asks a decision-specific question because state persistence is not the only possible form of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Project/Time-Series-Modeling-Gen5/docs/GEN5_HYP_REG_10_1_MULTI_HORIZON_AGREEMENT_CONTRACT.md</a:t>
            </a:r>
          </a:p>
          <a:p xmlns:a="http://schemas.openxmlformats.org/drawingml/2006/main">
            <a:r>
              <a:t>- C:/Users/Franc/OneDrive/Documents/Francis/Peltata Project/Time-Series-Modeling-Gen5/docs/GEN5_TREND_INDICATOR_POC_ROADMAP.md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huge normalized values on nearly deterministic synthetic paths are expected; these paths test sign and state semantics, not realistic return magnitudes.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Project/Time-Series-Modeling-Gen5/runs/research_workbench/operator_hypothesis_lab/hyp_reg_10_1_multi_horizon_agreement_20260816/hyp_reg_10_1_synthetic_summary.csv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Project/Time-Series-Modeling-Gen5/runs/research_workbench/operator_hypothesis_lab/hyp_reg_10_1_multi_horizon_agreement_20260816/visuals/synthetic_calibration.png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indicator did not fail because it was too rare or undefined. It produced all required states and enough FULL_UP sessions to test the policy fairly.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Project/Time-Series-Modeling-Gen5/runs/research_workbench/operator_hypothesis_lab/hyp_reg_10_1_multi_horizon_agreement_20260816/hyp_reg_10_1_stage_a_gates.csv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Project/Time-Series-Modeling-Gen5/runs/research_workbench/operator_hypothesis_lab/hyp_reg_10_1_multi_horizon_agreement_20260816/hyp_reg_10_1_state_diagnostics.csv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Project/Time-Series-Modeling-Gen5/runs/research_workbench/operator_hypothesis_lab/hyp_reg_10_1_multi_horizon_agreement_20260816/visuals/state_usability.png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TSLA to show long aligned stretches and TXN/SPY to show frequent transitions. This is descriptive tape reading, not cherry-picked performance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Project/Time-Series-Modeling-Gen5/runs/research_workbench/operator_hypothesis_lab/hyp_reg_10_1_multi_horizon_agreement_20260816/visuals/representative_measurement_tapes.png</a:t>
            </a:r>
          </a:p>
          <a:p xmlns:a="http://schemas.openxmlformats.org/drawingml/2006/main">
            <a:r>
              <a:t>- C:/Users/Franc/OneDrive/Documents/Francis/Peltata Project/Time-Series-Modeling-Gen5/docs/GEN5_HYP_REG_10_1_MULTI_HORIZON_AGREEMENT_CONTRACT.md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only experimental difference is whether a fresh parent entry is admitted. This isolates timing from exit and sizing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Project/Time-Series-Modeling-Gen5/docs/GEN5_HYP_REG_10_1_MULTI_HORIZON_AGREEMENT_CONTRACT.md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Drawdown improved because exposure collapsed to about 17.5%, but the cost was a negative median return and negative Sharpe. Protection alone does not satisfy the bargain.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Project/Time-Series-Modeling-Gen5/runs/research_workbench/operator_hypothesis_lab/hyp_reg_10_1_multi_horizon_agreement_20260816/hyp_reg_10_1_policy_panel.csv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Project/Time-Series-Modeling-Gen5/runs/research_workbench/operator_hypothesis_lab/hyp_reg_10_1_multi_horizon_agreement_20260816/visuals/policy_performance.png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decisive evidence. Even after comparing only with controls of similar exposure, the actual FULL_UP dates were unusually poor rather than unusually good.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Project/Time-Series-Modeling-Gen5/runs/research_workbench/operator_hypothesis_lab/hyp_reg_10_1_multi_horizon_agreement_20260816/hyp_reg_10_1_asset_summary.csv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Project/Time-Series-Modeling-Gen5/runs/research_workbench/operator_hypothesis_lab/hyp_reg_10_1_multi_horizon_agreement_20260816/hyp_reg_10_1_year_summary.csv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Project/Time-Series-Modeling-Gen5/runs/research_workbench/operator_hypothesis_lab/hyp_reg_10_1_multi_horizon_agreement_20260816/hyp_reg_10_1_placebo_readout.csv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Project/Time-Series-Modeling-Gen5/runs/research_workbench/operator_hypothesis_lab/hyp_reg_10_1_multi_horizon_agreement_20260816/visuals/asset_breadth.png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Project/Time-Series-Modeling-Gen5/runs/research_workbench/operator_hypothesis_lab/hyp_reg_10_1_multi_horizon_agreement_20260816/visuals/calendar_and_controls.png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trade audit gives the behavioral explanation. FULL_UP is descriptive alignment, but for a fresh crossover entry it may be confirmation that arrives after much of the move.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Project/Time-Series-Modeling-Gen5/runs/research_workbench/operator_hypothesis_lab/hyp_reg_10_1_multi_horizon_agreement_20260816/hyp_reg_10_1_entry_state_audit.csv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Project/Time-Series-Modeling-Gen5/runs/research_workbench/operator_hypothesis_lab/hyp_reg_10_1_multi_horizon_agreement_20260816/visuals/entry_state_audit.png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Project/Time-Series-Modeling-Gen5/runs/research_workbench/operator_hypothesis_lab/hyp_reg_10_1_multi_horizon_agreement_20260816/visuals/representative_strategy_tapes.png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disciplined progress: T3 answered its question cleanly. The HMM item is only a bookmark; literature inventory, state-count discipline, causal filtering, and held-out validation must be discussed before any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Project/Time-Series-Modeling-Gen5/runs/research_workbench/operator_hypothesis_lab/hyp_reg_10_1_multi_horizon_agreement_20260816/hyp_reg_10_1_report.md</a:t>
            </a:r>
          </a:p>
          <a:p xmlns:a="http://schemas.openxmlformats.org/drawingml/2006/main">
            <a:r>
              <a:t>- C:/Users/Franc/OneDrive/Documents/Francis/Peltata Project/Time-Series-Modeling-Gen5/docs/GEN5_HYP_REG_10_1_MULTI_HORIZON_AGREEMENT_CONTRACT.md</a:t>
            </a:r>
          </a:p>
          <a:p xmlns:a="http://schemas.openxmlformats.org/drawingml/2006/main">
            <a:r>
              <a:t>- C:/Users/Franc/OneDrive/Documents/Francis/Peltata Project/Time-Series-Modeling-Gen5/docs/GEN5_TREND_INDICATOR_POC_ROADMAP.md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18620f16a4f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31036bdd874a3e" /><Relationship Type="http://schemas.openxmlformats.org/officeDocument/2006/relationships/slideLayout" Target="/ppt/slideLayouts/slideLayout1.xml" Id="R8e57b94431414f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57b94431414f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34d79389f4047" /><Relationship Type="http://schemas.openxmlformats.org/officeDocument/2006/relationships/image" Target="/ppt/media/image.png" Id="R1cac75ee9fa449f2" /><Relationship Type="http://schemas.openxmlformats.org/officeDocument/2006/relationships/notesSlide" Target="/ppt/notesSlides/notesSlide1.xml" Id="Rd281373306524b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baf0d0b904285" /><Relationship Type="http://schemas.openxmlformats.org/officeDocument/2006/relationships/notesSlide" Target="/ppt/notesSlides/notesSlide2.xml" Id="R2c1906ca474f48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3c1b7302c48ea" /><Relationship Type="http://schemas.openxmlformats.org/officeDocument/2006/relationships/notesSlide" Target="/ppt/notesSlides/notesSlide3.xml" Id="Rac599843e4bf4c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911acd91a48f2" /><Relationship Type="http://schemas.openxmlformats.org/officeDocument/2006/relationships/notesSlide" Target="/ppt/notesSlides/notesSlide4.xml" Id="R0fc7fe33a12742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254b39cef44a3" /><Relationship Type="http://schemas.openxmlformats.org/officeDocument/2006/relationships/notesSlide" Target="/ppt/notesSlides/notesSlide5.xml" Id="Re415b6d636d447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46418737d43be" /><Relationship Type="http://schemas.openxmlformats.org/officeDocument/2006/relationships/notesSlide" Target="/ppt/notesSlides/notesSlide6.xml" Id="Rb9cccd55245b48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d045bc5a14fe7" /><Relationship Type="http://schemas.openxmlformats.org/officeDocument/2006/relationships/image" Target="/ppt/media/image2.png" Id="R1009c54d76464e0b" /><Relationship Type="http://schemas.openxmlformats.org/officeDocument/2006/relationships/notesSlide" Target="/ppt/notesSlides/notesSlide7.xml" Id="R161c6fffa09a48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e5872fbfa4ca8" /><Relationship Type="http://schemas.openxmlformats.org/officeDocument/2006/relationships/image" Target="/ppt/media/image3.png" Id="R17aa0283686a48d8" /><Relationship Type="http://schemas.openxmlformats.org/officeDocument/2006/relationships/notesSlide" Target="/ppt/notesSlides/notesSlide8.xml" Id="R7346d186b2ba49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0982073804388" /><Relationship Type="http://schemas.openxmlformats.org/officeDocument/2006/relationships/image" Target="/ppt/media/image4.png" Id="Raeb02b8bb17040f6" /><Relationship Type="http://schemas.openxmlformats.org/officeDocument/2006/relationships/notesSlide" Target="/ppt/notesSlides/notesSlide9.xml" Id="Ra9fd1886b1b146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889e07b9044c6" /><Relationship Type="http://schemas.openxmlformats.org/officeDocument/2006/relationships/notesSlide" Target="/ppt/notesSlides/notesSlide10.xml" Id="Re54c5b632f3040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f43c2139741b3" /><Relationship Type="http://schemas.openxmlformats.org/officeDocument/2006/relationships/image" Target="/ppt/media/image5.png" Id="Rac8f36d7a7ed480c" /><Relationship Type="http://schemas.openxmlformats.org/officeDocument/2006/relationships/notesSlide" Target="/ppt/notesSlides/notesSlide11.xml" Id="R5b481eae914644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b2b76e2474ca2" /><Relationship Type="http://schemas.openxmlformats.org/officeDocument/2006/relationships/image" Target="/ppt/media/image6.png" Id="R34741a15b4b04716" /><Relationship Type="http://schemas.openxmlformats.org/officeDocument/2006/relationships/image" Target="/ppt/media/image7.png" Id="Rd0b62b1262414c11" /><Relationship Type="http://schemas.openxmlformats.org/officeDocument/2006/relationships/notesSlide" Target="/ppt/notesSlides/notesSlide12.xml" Id="R3188c7ad58e542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44df669944a91" /><Relationship Type="http://schemas.openxmlformats.org/officeDocument/2006/relationships/image" Target="/ppt/media/image8.png" Id="Rfc6c0dba8b8d4926" /><Relationship Type="http://schemas.openxmlformats.org/officeDocument/2006/relationships/notesSlide" Target="/ppt/notesSlides/notesSlide13.xml" Id="R7c3ab0ad639e46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b5b5d5e2c4c14" /><Relationship Type="http://schemas.openxmlformats.org/officeDocument/2006/relationships/notesSlide" Target="/ppt/notesSlides/notesSlide14.xml" Id="R0cafbf42dfef40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F41B4-6C7D-46D0-AC29-0B203480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HYP-REG-10.1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6F149-FC6A-40F5-8137-55990042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Multi-horizon agreement</a:t>
            </a:r>
          </a:p>
          <a:p xmlns:a="http://schemas.openxmlformats.org/drawingml/2006/main">
            <a:pPr algn="l">
              <a:defRPr sz="37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was coherent—but mistimed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842B3-65D5-4276-9452-E1B73052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509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A fixed 20 / 60 / 120-session direction state passed construction, then failed as a FULL_UP entry gate on SMA8/14.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D7176-158D-4E9D-81D5-373D26A1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5435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c75ee9fa449f2"/>
          <a:srcRect xmlns:a="http://schemas.openxmlformats.org/drawingml/2006/main" l="2803" t="0" r="28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628650"/>
            <a:ext cx="5086350" cy="5143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CC671-9909-4A2F-A6F2-7D7F5BBC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DEVELOPMENT_REUSED_WINDOW · 2018–2023 · 2024+ SEALED</a:t>
            </a:r>
          </a:p>
        </p:txBody>
      </p:sp>
    </p:spTree>
    <p:extLst>
      <p:ext uri="{BB962C8B-B14F-4D97-AF65-F5344CB8AC3E}">
        <p14:creationId xmlns:p14="http://schemas.microsoft.com/office/powerpoint/2010/main" val="1182338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98723-2C37-4C54-A257-69B7FE77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0AD98-94B6-42AB-8EE6-59A6D87F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question was narrow—and frozen before returns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5484F-D63E-4C5E-8AB8-EBE15ACB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A42F2-6808-46BE-B499-FEC7C3C9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F87BF-7C2E-44B3-909D-0358EFD5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Can cross-scale directional agreement improve only fresh entries in an unchanged parent?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EE5A6-48D7-4249-A843-54588D42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638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Literature gives the broad motivation: an asset’s own past return can contain trend information. Our exact 20/60/120 state is an operator-designed measurement, not a published trading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6D656-C32F-4E11-AF2C-AC02EA65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00200"/>
            <a:ext cx="38576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81664-82EA-458D-A46D-D6B435BD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Frozen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0945A-BEA2-459E-9B68-3CA854C8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76500"/>
            <a:ext cx="304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24 stocks + SPY / QQQ</a:t>
            </a:r>
          </a:p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2018-01-02 → 2023-12-29</a:t>
            </a:r>
          </a:p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Adjusted daily OHLCV</a:t>
            </a:r>
          </a:p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No horizon or threshold search</a:t>
            </a:r>
          </a:p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No ATR join · no leverage</a:t>
            </a:r>
          </a:p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2024+ never opened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84E05-ACFE-4659-B105-4610F3EE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642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The reused window is an educational development surface—not fresh OOS evidence.</a:t>
            </a:r>
          </a:p>
        </p:txBody>
      </p:sp>
    </p:spTree>
    <p:extLst>
      <p:ext uri="{BB962C8B-B14F-4D97-AF65-F5344CB8AC3E}">
        <p14:creationId xmlns:p14="http://schemas.microsoft.com/office/powerpoint/2010/main" val="1502386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E0896-845D-4F55-9A0C-15F90DB3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D93DA-DB32-484A-9B39-36C4C964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Each horizon asks: how large was the move relative to its own noise?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24565-9868-4F22-86E3-394E0D2C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2A234-E730-4FF2-99C7-100B0E20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792F3-C22E-40D9-8E35-255952F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695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53BFD-781E-4550-AB66-E11C98D2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Rₕ(t) = log(Pₜ / Pₜ₋ₕ)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20F3F-42B8-4871-BF95-8BC8A65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Vₕ(t) = sd[Δ log(P)] × √h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C52DB-D0BB-45FA-A1D9-D88E0863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Zₕ(t) = Rₕ(t) / Vₕ(t)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FC279-4118-41B0-8779-B3A57E8A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Sₕ(t) = sign(Zₕ(t))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769F9-ACA9-4713-81FE-AA0FCD27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R: signed displacement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3E2CC-76CB-47E9-B257-48792B51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How far price moved over h completed sessions.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6856E-A501-4A97-9BEB-FFFABF0C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051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V: realized noise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612AC-1D55-45A0-A398-576EC74A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861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The same move is less impressive when day-to-day variation is large.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51916-B276-431A-8F5D-1B8A3915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148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Z: dimensionless direction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5EF75-3C84-4716-BA58-557406FC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958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Scale-comparable across assets; sign supplies the state.</a:t>
            </a:r>
          </a:p>
        </p:txBody>
      </p:sp>
    </p:spTree>
    <p:extLst>
      <p:ext uri="{BB962C8B-B14F-4D97-AF65-F5344CB8AC3E}">
        <p14:creationId xmlns:p14="http://schemas.microsoft.com/office/powerpoint/2010/main" val="14602433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BB9FA-90AB-4477-805B-1AF22E13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38F1E-7FB3-493C-912D-0C3B8634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Three horizons are three lenses—not three independent votes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89517-681F-4D44-9A7C-89EB2A50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8C223-6E53-4C82-8AFE-D71378F8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91160-D707-4B4E-BE7D-C46C61C6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All windows end at today’s close and share observations.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AD188-AC3D-45D0-8DF7-DFA87805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EAFB2-7D97-4604-A5E3-833AB6FD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120 sessions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23DA3-A520-43BB-A5E3-80CB9660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628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4DF4F-2E64-4C03-9734-F7752A2B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67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60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E4FC9-FACC-48FA-9E2F-68D42270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97CEE-83AD-4788-B7CF-06E924E5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20 sessions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DC18D-3E56-42D6-A4D5-7299B026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t − 120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7BEB6-1899-44A4-B0CA-46A3CD14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t − 60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DF314-5658-4F82-8A18-CD59E87E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53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t − 20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356C7-168A-4773-8065-98CDFF9F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953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DDF30-F4F8-49C3-AD80-DD7C284C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Agreement means the current path points the same way at several scales. It does not multiply statistical confidence by three.</a:t>
            </a:r>
          </a:p>
        </p:txBody>
      </p:sp>
    </p:spTree>
    <p:extLst>
      <p:ext uri="{BB962C8B-B14F-4D97-AF65-F5344CB8AC3E}">
        <p14:creationId xmlns:p14="http://schemas.microsoft.com/office/powerpoint/2010/main" val="1784926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C47B13-3725-491F-8764-7340CE81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TAXONOMY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2513C-759F-495D-8751-D218356A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Five states preserve direction and short-horizon opposition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379CE-85F4-4801-8CDB-D1B542FB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98FE8-8038-4CD0-BB6F-57AC094D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14427-3118-4EBC-B627-7F980C4F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3019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45256-74FA-4740-A2F3-CC6BF9B6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2790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DB0FC-FD66-4BCF-B3F9-241C4133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002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AB804-D89C-45A1-845C-BC226E00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049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2457B-C2AA-405D-8D79-C300D8EC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002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073E9-CFB5-42A6-A54B-1299C1D9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7049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C2D5C-6088-4E4A-B7F1-0472EB82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002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C29EE-9F1D-4163-AC72-FA4C2B84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049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S120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2E174-AEF2-4158-B6F6-1905B4BC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002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897D9-0F37-4731-8FF8-D1C90A9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70497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Plain-English reading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FBB35-D084-46B4-94E9-D58DDEA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3019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6CB28-8776-43FD-8C50-E257D32E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2790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FULL_UP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AA9CB-310D-463C-84CD-1AE21F84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574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614FB-DE21-43EE-A0CC-7438A325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574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740D3-D41C-4C77-BC10-1CF81FC5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574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F1A8E7-B9DB-43E8-862A-451AB923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2574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EA7DD-2B1A-48C4-BBFF-F06E5B19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574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6462F-3627-45D1-8D99-7651F3CF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574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1E7BF-B708-4517-B16B-312E03B7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574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26A562-AFDD-4FD9-B934-F12666DC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5742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Entry-eligible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4D21E-C3D2-4388-B250-5C001DF6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3019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575A0-9007-43BD-8CF0-BC2F1C8E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1325"/>
            <a:ext cx="2790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SHORT_OPPOSES_UP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45198B-2FC2-40A0-90A7-21325D18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E674C4-9425-4A16-BAC0-AE54E7E3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813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0B9BA6-9CF8-49A1-829B-3761E67D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813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4FA54C-9781-49A5-8317-8DB5AD29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9813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F5038A-35BB-49E1-BBF6-2E614E5C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813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0FDDBE-0C51-40DB-AF0C-B3CCE7FC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813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13D405-2576-4C7F-AC94-5DF46EC9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813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40885B-21A7-42A0-A9ED-310B39DB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8132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Pullback inside up context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BF8DDC-116A-4FC0-869C-AAFE0E09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05200"/>
            <a:ext cx="3019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4587C8-DE2A-4AE2-A165-AF38C2E4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05225"/>
            <a:ext cx="2790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MIXED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B12B8F-60D3-4722-BCAB-494DC8DD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052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97C3F3-18E8-4F0B-839E-044966EA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052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varies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06F386-BEE6-4CA1-AC3C-C3BB1E0F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052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885618-5279-42F9-9A94-2C819F50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7052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varies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11E907-8B67-4DB7-B084-9F344B9A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052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04228C-C9CA-4EB2-86D9-E40286B5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052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varies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1851F0-F28A-4330-A049-D4016CD9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052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8A343F-FFBF-48BF-A8AD-1A537223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70522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No clean consensus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8EFA0B-21A5-4039-AD49-C93AE4BE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3019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34F78A-170A-439D-9C14-F6CA7992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2790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SHORT_OPPOSES_DOWN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DE0FE6-48AE-4DA0-AC50-877F9BC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291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BE7B51-C0F5-4527-8483-FC317CA3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291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2C913E-2B87-470B-9553-5F6DBA75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291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358AB5-89E7-4453-A182-4684ADCA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4291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DCE32B-ADC2-425E-B2EC-E709DB76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291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33C21F-6D46-4977-95DF-FE236689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291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4B4865-7E35-47EC-BDAE-0AE9CD77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291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7583D8-42E1-48EE-A69C-0B574DC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42912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Bounce inside down context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799B5C-EE78-4252-BC11-2BD166D0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3019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59C164-F600-4A36-AC29-8F03ED4E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2790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FULL_DOWN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58597C-4ACE-4FDC-9218-CF68B0C6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530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31CBEB-4D67-40B6-90BC-8E8D3A5E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1530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AF48C5-2B96-4DE5-A3D6-675FEBD6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530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B3F9A5-EA04-4757-86A8-F30617B1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1530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7EF5B6F-602A-4FCF-902D-C943BF37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9530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2B1D96-6E8A-4908-BD60-30007B5F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1530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CD4123-536C-4B29-B635-4522BBA8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9530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BC4D5F-0CA8-4881-AB4A-3DE9383C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15302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Aligned down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BCBD1A-3966-4608-9227-CB8570DE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666B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666B8"/>
                </a:solidFill>
                <a:latin typeface="Arial"/>
                <a:ea typeface="Arial"/>
                <a:cs typeface="Arial"/>
              </a:rPr>
              <a:t>SHORT_JOINS_UP / DOWN marks one-day descriptive transitions; it never triggers this strategy.</a:t>
            </a:r>
          </a:p>
        </p:txBody>
      </p:sp>
    </p:spTree>
    <p:extLst>
      <p:ext uri="{BB962C8B-B14F-4D97-AF65-F5344CB8AC3E}">
        <p14:creationId xmlns:p14="http://schemas.microsoft.com/office/powerpoint/2010/main" val="1976072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87D65-1D89-4690-BA66-1D7D460D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VALIDATION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83DBC-3C27-4E71-BC53-27A656BB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Construction had to pass before the strategy was allowed to speak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31426-3B7F-4181-9A01-B8A6848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385F8-79AE-4468-A633-F9947343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EFA76-E46F-49EA-BFC4-B38F027D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23877-3B34-4820-9E09-59AB1C95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Does the indicator behave as defined?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FAD7D-344D-43E5-849D-E12D855F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• complete causal coverage</a:t>
            </a:r>
          </a:p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• seeded path recovery</a:t>
            </a:r>
          </a:p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• price-scale invariance</a:t>
            </a:r>
          </a:p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• append invariance</a:t>
            </a:r>
          </a:p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• exact sign / transition semantics</a:t>
            </a:r>
          </a:p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• usable real-panel occupancy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33D1F-79B0-44A4-B444-9A3D51F8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954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E908B-E955-4730-8504-54C7A68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STAGE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A7630-9566-40EF-B31E-5B08588F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Does FULL_UP improve one unchanged decision?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AEB25-D5E1-439C-BFC9-E0256AC8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• same SMA8/14 parent</a:t>
            </a:r>
          </a:p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• fresh cross only; next-open entry</a:t>
            </a:r>
          </a:p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• rejected entries skipped, never deferred</a:t>
            </a:r>
          </a:p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• 5 bp primary / 10 bp stress</a:t>
            </a:r>
          </a:p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• buy-hold and cash baselines</a:t>
            </a:r>
          </a:p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• 200 circular timing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AD970-42D1-44C2-8602-2E7A7239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Passing Stage A licenses a strategy test—not a promotion.</a:t>
            </a:r>
          </a:p>
        </p:txBody>
      </p:sp>
    </p:spTree>
    <p:extLst>
      <p:ext uri="{BB962C8B-B14F-4D97-AF65-F5344CB8AC3E}">
        <p14:creationId xmlns:p14="http://schemas.microsoft.com/office/powerpoint/2010/main" val="13302222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B9B45-2ABE-4607-AE50-ADD61120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A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73155-D43C-440D-AAAA-479F4CED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Seeded paths recovered every intended directional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33D9F-299B-494E-B9B7-4C787A4F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F043C-AC08-4F1C-A290-C9E7EED1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9c54d76464e0b"/>
          <a:stretch xmlns:a="http://schemas.openxmlformats.org/drawingml/2006/main"/>
        </p:blipFill>
        <p:spPr>
          <a:xfrm xmlns:a="http://schemas.openxmlformats.org/drawingml/2006/main">
            <a:off x="457200" y="1635919"/>
            <a:ext cx="7715250" cy="424338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940B7-420B-4B68-BA73-25719AA6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15E95-4D3F-4B81-AA81-7AFDEA7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Clean up / down and both short-opposition families landed in their intended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E90FC-36FF-4A8D-BD5B-7FFE8A8A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Random walks fully agreed only 52.5% of the time—confirmation that agreement is not automatic.</a:t>
            </a:r>
          </a:p>
        </p:txBody>
      </p:sp>
    </p:spTree>
    <p:extLst>
      <p:ext uri="{BB962C8B-B14F-4D97-AF65-F5344CB8AC3E}">
        <p14:creationId xmlns:p14="http://schemas.microsoft.com/office/powerpoint/2010/main" val="527571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B783B-249B-4D6E-B18C-848D140A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A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EF530-4809-4FB0-B503-DDF91BDD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state was measurable and usable across every primary stock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CEA1D-7F20-4797-859A-81EB33F9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3C25F-F40D-41D4-A62F-A17132FD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a0283686a48d8"/>
          <a:stretch xmlns:a="http://schemas.openxmlformats.org/drawingml/2006/main"/>
        </p:blipFill>
        <p:spPr>
          <a:xfrm xmlns:a="http://schemas.openxmlformats.org/drawingml/2006/main">
            <a:off x="457200" y="1531144"/>
            <a:ext cx="8096250" cy="4452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20DB2-2E85-4A81-8389-382DECF1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C8905-C079-4247-A386-0DE4023F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construction gates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59159-72D5-4305-8F02-0CA21754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24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7B976-DF61-4677-AFB1-07217AB8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81450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stocks cleared state and policy usability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954C3-EE71-423F-9724-D97235A2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19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Median FULL_UP eligibility: 39.2% of sessions</a:t>
            </a:r>
          </a:p>
        </p:txBody>
      </p:sp>
    </p:spTree>
    <p:extLst>
      <p:ext uri="{BB962C8B-B14F-4D97-AF65-F5344CB8AC3E}">
        <p14:creationId xmlns:p14="http://schemas.microsoft.com/office/powerpoint/2010/main" val="971575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2E475-AD47-43F5-8294-96223BF0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MEASUREMENT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42F14-4CB7-4BC1-8C78-D5D36C4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tapes reveal persistence, opposition, and rapid state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BD13A-8A59-46AF-902C-8A7CDF93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67761-A681-47E6-BF7B-D8F8D199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02b8bb17040f6"/>
          <a:stretch xmlns:a="http://schemas.openxmlformats.org/drawingml/2006/main"/>
        </p:blipFill>
        <p:spPr>
          <a:xfrm xmlns:a="http://schemas.openxmlformats.org/drawingml/2006/main">
            <a:off x="1843995" y="1409700"/>
            <a:ext cx="4989286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584F0-71A3-4BA6-94BC-C25B873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Read the background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5508F-D159-4042-B7E3-9E881FA4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2619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Green: FULL_UP</a:t>
            </a:r>
          </a:p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Red: FULL_DOWN</a:t>
            </a:r>
          </a:p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Blue: short opposes up</a:t>
            </a:r>
          </a:p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Orange: short opposes down</a:t>
            </a:r>
          </a:p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Gray: mixed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D0FFD-3AAE-46FA-9B42-C8193E1E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0"/>
            <a:ext cx="2619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Then read the three Z lines: the state changes when one or more signs cross zero—not when magnitude reaches a fitted threshold.</a:t>
            </a:r>
          </a:p>
        </p:txBody>
      </p:sp>
    </p:spTree>
    <p:extLst>
      <p:ext uri="{BB962C8B-B14F-4D97-AF65-F5344CB8AC3E}">
        <p14:creationId xmlns:p14="http://schemas.microsoft.com/office/powerpoint/2010/main" val="10877528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D9DCD-23F9-430D-86C2-B0581046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STRATEGY CONTACT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0553B-CBE9-49CD-8A24-D62B89AD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FULL_UP changed admission only; exits remained untouched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7B6BD-F419-4A78-9BF5-4B5988FD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2B976-BA31-49B7-95D7-A7242043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9A2E0-43A4-4AA5-9B14-065037A7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3C9F4-DB5C-44FA-925D-776F3E90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811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98003-D469-48A6-BD89-4053B3DF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86346-7F36-4C3B-886E-459B0048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335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At the close, SMA8 crosses above SMA14.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C6760-2388-4F8D-BD7D-865EFDD6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9759E-32A0-47EF-B456-CB427D4E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4082F-5139-4DF1-8853-4C8DEA88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21B3A-EB2E-4007-BB17-E43EAC2F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622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Use only information through that close; state must be FULL_UP.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D9B1F-3B9C-49E1-9CB6-36CE6A33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C248C-3F7C-4122-BD9D-6883DCA3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4D528-D3EE-4D3D-ADCD-09662998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Enter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13C72-0869-49CA-880F-AC9C6CA2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909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Buy next open at 1×. A rejected cross is skipped—not queued.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0025B-C9D7-4C69-A35E-EDD46FD3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1B2B0-22A9-4002-84D6-F8E59511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A9E3D-B7E6-40F6-B253-1A261B9E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0A468-E06F-4340-AD1F-78E16CFB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196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Sell next open after the unchanged SMA8-below-SMA14 cross.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DAC8A-1D4C-459D-85AC-6E31FD5F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No magnitude threshold · no join-event entry · no candidate-driven exit · no sizing change</a:t>
            </a:r>
          </a:p>
        </p:txBody>
      </p:sp>
    </p:spTree>
    <p:extLst>
      <p:ext uri="{BB962C8B-B14F-4D97-AF65-F5344CB8AC3E}">
        <p14:creationId xmlns:p14="http://schemas.microsoft.com/office/powerpoint/2010/main" val="2717480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77BAC-D260-4B28-8DD3-A948C8C9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B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BFC56-71F1-469E-8C9A-6EEB314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Lower drawdown came with destroyed return and Sharpe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ECA14-CD23-4090-A399-7FA434F0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45453-D57F-4F2D-B2A2-BF70A5EE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f36d7a7ed480c"/>
          <a:stretch xmlns:a="http://schemas.openxmlformats.org/drawingml/2006/main"/>
        </p:blipFill>
        <p:spPr>
          <a:xfrm xmlns:a="http://schemas.openxmlformats.org/drawingml/2006/main">
            <a:off x="457200" y="1667404"/>
            <a:ext cx="7524750" cy="418041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8E877-1BFA-4C60-B8E2-211F6357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668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8.95% → −0.68%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1FB9A-E84E-453C-A72B-045B917D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574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median annual return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03E80-7E95-4B7A-956A-BF9F2873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43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−14.59% → −7.69%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8605E-65CC-4877-9134-B1DFE548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33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median maximum drawdown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3857B-EB16-4F29-997D-7282CE5F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196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0.642 → −0.203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AAD8E-EA66-43BE-B7B0-8BDDFAC5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101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median Sharpe</a:t>
            </a:r>
          </a:p>
        </p:txBody>
      </p:sp>
    </p:spTree>
    <p:extLst>
      <p:ext uri="{BB962C8B-B14F-4D97-AF65-F5344CB8AC3E}">
        <p14:creationId xmlns:p14="http://schemas.microsoft.com/office/powerpoint/2010/main" val="17522433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F6A8D-1F1F-4010-93C3-7F0B7FF8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B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152BD-AE3A-4876-81E8-377DB7C2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failure transported across assets, years, and timing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370BE-64EF-49F7-BFD9-9EE51665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53DA2-D28B-443B-A8E7-390099E3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41a15b4b04716"/>
          <a:stretch xmlns:a="http://schemas.openxmlformats.org/drawingml/2006/main"/>
        </p:blipFill>
        <p:spPr>
          <a:xfrm xmlns:a="http://schemas.openxmlformats.org/drawingml/2006/main">
            <a:off x="457200" y="1770459"/>
            <a:ext cx="5286375" cy="3964781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62b1262414c11"/>
          <a:stretch xmlns:a="http://schemas.openxmlformats.org/drawingml/2006/main"/>
        </p:blipFill>
        <p:spPr>
          <a:xfrm xmlns:a="http://schemas.openxmlformats.org/drawingml/2006/main">
            <a:off x="5953125" y="1765829"/>
            <a:ext cx="5781675" cy="32120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50145-ABA6-4306-958A-D1AB9C22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530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1 / 24 assets</a:t>
            </a:r>
          </a:p>
          <a:p xmlns:a="http://schemas.openxmlformats.org/drawingml/2006/main">
            <a:pPr algn="l">
              <a:defRPr sz="18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E93E8-4A27-4973-90AA-8BC7E697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530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1 / 6 years</a:t>
            </a:r>
          </a:p>
          <a:p xmlns:a="http://schemas.openxmlformats.org/drawingml/2006/main">
            <a:pPr algn="l">
              <a:defRPr sz="18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47086-7E42-4DE5-812C-97D454CF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007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Actual timing: 12.5th percentile</a:t>
            </a:r>
          </a:p>
        </p:txBody>
      </p:sp>
    </p:spTree>
    <p:extLst>
      <p:ext uri="{BB962C8B-B14F-4D97-AF65-F5344CB8AC3E}">
        <p14:creationId xmlns:p14="http://schemas.microsoft.com/office/powerpoint/2010/main" val="11014326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FF585-7C9B-4FB5-B145-80477143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TRADE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24CEA-9F47-4CB8-A3EB-BE235AA3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Parent trades entered during FULL_UP were the weakest group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31B0B-F24B-458F-8CD9-1B8EB008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94C11-061B-4C65-91CF-45324D56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c0dba8b8d4926"/>
          <a:stretch xmlns:a="http://schemas.openxmlformats.org/drawingml/2006/main"/>
        </p:blipFill>
        <p:spPr>
          <a:xfrm xmlns:a="http://schemas.openxmlformats.org/drawingml/2006/main">
            <a:off x="457200" y="1927225"/>
            <a:ext cx="5715000" cy="317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16155-134F-4524-8726-A0FE5187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FULL_UP entries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8B92F-A41B-4F50-AAA2-B2D08B93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495 trades</a:t>
            </a:r>
          </a:p>
          <a:p xmlns:a="http://schemas.openxmlformats.org/drawingml/2006/main">
            <a:pPr algn="l">
              <a:defRPr sz="18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42.4% hit rate</a:t>
            </a:r>
          </a:p>
          <a:p xmlns:a="http://schemas.openxmlformats.org/drawingml/2006/main">
            <a:pPr algn="l">
              <a:defRPr sz="180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−0.71% median trade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77087-25B3-4F05-B7D4-F48ED94E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Other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0C406-7074-4535-AB0E-96404621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899 trades combined</a:t>
            </a:r>
          </a:p>
          <a:p xmlns:a="http://schemas.openxmlformats.org/drawingml/2006/main">
            <a:pPr algn="l">
              <a:defRPr sz="172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Higher hit rates</a:t>
            </a:r>
          </a:p>
          <a:p xmlns:a="http://schemas.openxmlformats.org/drawingml/2006/main">
            <a:pPr algn="l">
              <a:defRPr sz="172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Positive or near-zero median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8C825-C35B-414C-B4C0-23230280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Full alignment appears late: it often admits after momentum is already mature.</a:t>
            </a:r>
          </a:p>
        </p:txBody>
      </p:sp>
    </p:spTree>
    <p:extLst>
      <p:ext uri="{BB962C8B-B14F-4D97-AF65-F5344CB8AC3E}">
        <p14:creationId xmlns:p14="http://schemas.microsoft.com/office/powerpoint/2010/main" val="13234485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5669D-DA2B-4D7C-9675-CE575E45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10B02-30B7-44BA-99BB-867B1289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Keep the measurement; stop the policy; continue the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2911D-E8D8-4DD3-8D57-40487BB1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140C4-89A4-4036-B997-79E5A2A0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D2F9E-15B5-4CBB-BC98-F9099A35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95F59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95F59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753B2-32F7-40FE-A1AD-FE2C05F8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3 / 9 strategy gates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BDEA3-EE02-46B5-A24D-BFE168C4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2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27D"/>
                </a:solidFill>
                <a:latin typeface="Arial"/>
                <a:ea typeface="Arial"/>
                <a:cs typeface="Arial"/>
              </a:rPr>
              <a:t>Do not rescue by tuning horizons, magnitude thresholds, majority-up rules, assets, ATR%, exits, leverage, or confirmation.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88CAB-B95E-44DE-B019-BF78CA4C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002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C9E7C-F720-4C94-92C1-B8E47EC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What remains valuable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9DB3F-D17A-4748-A3D1-80B73A4D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causal, scale-free cross-horizon state ledger</a:t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explicit opposition and join semantics</a:t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a clear example of ‘describes well’ ≠ ‘routes well’</a:t>
            </a:r>
          </a:p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reusable measurement tapes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D8BFA-3171-4BBC-9CA1-9079733A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Next: discuss T4 causal change-point onset.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86691-477C-4D7D-9D46-50B3ADB9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666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666B8"/>
                </a:solidFill>
                <a:latin typeface="Arial"/>
                <a:ea typeface="Arial"/>
                <a:cs typeface="Arial"/>
              </a:rPr>
              <a:t>Post-series bookmark: if T1–T5 yield no promotion, open a literature-first HMM discussion—never retrospective smoothed states presented as live-known regimes.</a:t>
            </a:r>
          </a:p>
        </p:txBody>
      </p:sp>
    </p:spTree>
    <p:extLst>
      <p:ext uri="{BB962C8B-B14F-4D97-AF65-F5344CB8AC3E}">
        <p14:creationId xmlns:p14="http://schemas.microsoft.com/office/powerpoint/2010/main" val="1595705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2026-08-17T02:08:49.3330000Z</dcterms:created>
  <dcterms:modified xsi:type="dcterms:W3CDTF">2026-08-17T02:08:49.3340000Z</dcterms:modified>
</coreProperties>
</file>