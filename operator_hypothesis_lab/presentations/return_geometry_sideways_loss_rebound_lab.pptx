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3912864bbe4089" /><Relationship Type="http://schemas.openxmlformats.org/officeDocument/2006/relationships/extended-properties" Target="/docProps/app.xml" Id="R12a60cc5a91f4d43" /><Relationship Type="http://schemas.openxmlformats.org/officeDocument/2006/relationships/officeDocument" Target="/ppt/presentation.xml" Id="R43cee1e7c6c04641" /></Relationships>
</file>

<file path=ppt/presentation.xml><?xml version="1.0" encoding="utf-8"?>
<p:presentation xmlns:p="http://schemas.openxmlformats.org/presentationml/2006/main">
  <p:sldMasterIdLst>
    <p:sldMasterId xmlns:r="http://schemas.openxmlformats.org/officeDocument/2006/relationships" id="2147483648" r:id="Rb651c6f22ad3457d"/>
  </p:sldMasterIdLst>
  <p:notesMasterIdLst>
    <p:notesMasterId xmlns:r="http://schemas.openxmlformats.org/officeDocument/2006/relationships" r:id="R941500b9b93a480a"/>
  </p:notesMasterIdLst>
  <p:sldIdLst>
    <p:sldId xmlns:r="http://schemas.openxmlformats.org/officeDocument/2006/relationships" id="256" r:id="Ra7be569ff3764a8e"/>
    <p:sldId xmlns:r="http://schemas.openxmlformats.org/officeDocument/2006/relationships" id="257" r:id="R4808484b39d047c4"/>
    <p:sldId xmlns:r="http://schemas.openxmlformats.org/officeDocument/2006/relationships" id="258" r:id="R917068d490eb4c14"/>
    <p:sldId xmlns:r="http://schemas.openxmlformats.org/officeDocument/2006/relationships" id="259" r:id="Rcf95ca2163334726"/>
    <p:sldId xmlns:r="http://schemas.openxmlformats.org/officeDocument/2006/relationships" id="260" r:id="R950f033eef414373"/>
    <p:sldId xmlns:r="http://schemas.openxmlformats.org/officeDocument/2006/relationships" id="261" r:id="Rf6004dcdc17d44cf"/>
    <p:sldId xmlns:r="http://schemas.openxmlformats.org/officeDocument/2006/relationships" id="262" r:id="Rcfd456fb8bfd4304"/>
    <p:sldId xmlns:r="http://schemas.openxmlformats.org/officeDocument/2006/relationships" id="263" r:id="R51b62579f33f4207"/>
    <p:sldId xmlns:r="http://schemas.openxmlformats.org/officeDocument/2006/relationships" id="264" r:id="R015443b73e134926"/>
    <p:sldId xmlns:r="http://schemas.openxmlformats.org/officeDocument/2006/relationships" id="265" r:id="R334a84dd68ab42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3153d1202543e3" /><Relationship Type="http://schemas.openxmlformats.org/officeDocument/2006/relationships/slideMaster" Target="/ppt/slideMasters/slideMaster1.xml" Id="Rb651c6f22ad3457d" /><Relationship Type="http://schemas.openxmlformats.org/officeDocument/2006/relationships/notesMaster" Target="/ppt/notesMasters/notesMaster1.xml" Id="R941500b9b93a480a" /><Relationship Type="http://schemas.openxmlformats.org/officeDocument/2006/relationships/presProps" Target="/ppt/presProps.xml" Id="R98a75ea360f04fc7" /><Relationship Type="http://schemas.openxmlformats.org/officeDocument/2006/relationships/tableStyles" Target="/ppt/tableStyles.xml" Id="Rf23df6a7217149a9" /><Relationship Type="http://schemas.openxmlformats.org/officeDocument/2006/relationships/slide" Target="/ppt/slides/slide1.xml" Id="Ra7be569ff3764a8e" /><Relationship Type="http://schemas.openxmlformats.org/officeDocument/2006/relationships/slide" Target="/ppt/slides/slide2.xml" Id="R4808484b39d047c4" /><Relationship Type="http://schemas.openxmlformats.org/officeDocument/2006/relationships/slide" Target="/ppt/slides/slide3.xml" Id="R917068d490eb4c14" /><Relationship Type="http://schemas.openxmlformats.org/officeDocument/2006/relationships/slide" Target="/ppt/slides/slide4.xml" Id="Rcf95ca2163334726" /><Relationship Type="http://schemas.openxmlformats.org/officeDocument/2006/relationships/slide" Target="/ppt/slides/slide5.xml" Id="R950f033eef414373" /><Relationship Type="http://schemas.openxmlformats.org/officeDocument/2006/relationships/slide" Target="/ppt/slides/slide6.xml" Id="Rf6004dcdc17d44cf" /><Relationship Type="http://schemas.openxmlformats.org/officeDocument/2006/relationships/slide" Target="/ppt/slides/slide7.xml" Id="Rcfd456fb8bfd4304" /><Relationship Type="http://schemas.openxmlformats.org/officeDocument/2006/relationships/slide" Target="/ppt/slides/slide8.xml" Id="R51b62579f33f4207" /><Relationship Type="http://schemas.openxmlformats.org/officeDocument/2006/relationships/slide" Target="/ppt/slides/slide9.xml" Id="R015443b73e134926" /><Relationship Type="http://schemas.openxmlformats.org/officeDocument/2006/relationships/slide" Target="/ppt/slides/slide10.xml" Id="R334a84dd68ab42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41476c816a40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SLA Descriptive Microscope">
      <a:dk1>
        <a:srgbClr val="000000"/>
      </a:dk1>
      <a:lt1>
        <a:srgbClr val="FFFFFF"/>
      </a:lt1>
      <a:dk2>
        <a:srgbClr val="273548"/>
      </a:dk2>
      <a:lt2>
        <a:srgbClr val="EDEDED"/>
      </a:lt2>
      <a:accent1>
        <a:srgbClr val="3D8DFF"/>
      </a:accent1>
      <a:accent2>
        <a:srgbClr val="2A9D6F"/>
      </a:accent2>
      <a:accent3>
        <a:srgbClr val="E45756"/>
      </a:accent3>
      <a:accent4>
        <a:srgbClr val="6DCBF4"/>
      </a:accent4>
      <a:accent5>
        <a:srgbClr val="7C3AED"/>
      </a:accent5>
      <a:accent6>
        <a:srgbClr val="F59E0B"/>
      </a:accent6>
      <a:hlink>
        <a:srgbClr val="3D8DFF"/>
      </a:hlink>
      <a:folHlink>
        <a:srgbClr val="7C3AED"/>
      </a:folHlink>
    </a:clrScheme>
    <a:fontScheme name="Office">
      <a:majorFont>
        <a:latin typeface="Calibri Light"/>
        <a:ea typeface="Calibri Light"/>
        <a:cs typeface="Calibri Light"/>
      </a:majorFont>
      <a:minorFont>
        <a:latin typeface="Calibri"/>
        <a:ea typeface="Calibri"/>
        <a:cs typeface="Calibri"/>
      </a:minorFont>
    </a:fontScheme>
    <a:fmtScheme name="TSLA Descriptive Microscop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164b31a67d4b98" /><Relationship Type="http://schemas.openxmlformats.org/officeDocument/2006/relationships/notesMaster" Target="/ppt/notesMasters/notesMaster1.xml" Id="R1efe7052223340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09f06555474326" /><Relationship Type="http://schemas.openxmlformats.org/officeDocument/2006/relationships/notesMaster" Target="/ppt/notesMasters/notesMaster1.xml" Id="R92fa9f2e993e4e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54ff10a3ab4b99" /><Relationship Type="http://schemas.openxmlformats.org/officeDocument/2006/relationships/notesMaster" Target="/ppt/notesMasters/notesMaster1.xml" Id="Rd67e8449c2d94b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0f9769925a48dc" /><Relationship Type="http://schemas.openxmlformats.org/officeDocument/2006/relationships/notesMaster" Target="/ppt/notesMasters/notesMaster1.xml" Id="R00c93106546f41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fbf2b65a964632" /><Relationship Type="http://schemas.openxmlformats.org/officeDocument/2006/relationships/notesMaster" Target="/ppt/notesMasters/notesMaster1.xml" Id="Rc3b382814ac148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c7ca8afc794f43" /><Relationship Type="http://schemas.openxmlformats.org/officeDocument/2006/relationships/notesMaster" Target="/ppt/notesMasters/notesMaster1.xml" Id="R0ada277dee5949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d8fbaea88a46f5" /><Relationship Type="http://schemas.openxmlformats.org/officeDocument/2006/relationships/notesMaster" Target="/ppt/notesMasters/notesMaster1.xml" Id="R595c8b4840b94f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aeeba978034aa8" /><Relationship Type="http://schemas.openxmlformats.org/officeDocument/2006/relationships/notesMaster" Target="/ppt/notesMasters/notesMaster1.xml" Id="R9f2be99cc8724e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98dbeb210b40c1" /><Relationship Type="http://schemas.openxmlformats.org/officeDocument/2006/relationships/notesMaster" Target="/ppt/notesMasters/notesMaster1.xml" Id="R32889c9f117b4c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a844dba8f74d7f" /><Relationship Type="http://schemas.openxmlformats.org/officeDocument/2006/relationships/notesMaster" Target="/ppt/notesMasters/notesMaster1.xml" Id="R068a51beb2d340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closes the continuation interpretation and opens a distinct rebound hypothesis. The question is deliberately incremental: after a negative 20-session return, does low path efficiency identify a better rebound environment than the negative return alone?</a:t>
            </a:r>
          </a:p>
          <a:p xmlns:a="http://schemas.openxmlformats.org/drawingml/2006/main">
            <a:r>
              <a:t/>
            </a:r>
          </a:p>
          <a:p xmlns:a="http://schemas.openxmlformats.org/drawingml/2006/main">
            <a:r>
              <a:t>[Sources]</a:t>
            </a:r>
          </a:p>
          <a:p xmlns:a="http://schemas.openxmlformats.org/drawingml/2006/main">
            <a:r>
              <a:t>- operator_hypothesis_lab/docs/RETURN_GEOMETRY_SIDEWAYS_LOSS_REBOUND_2018_2023.md</a:t>
            </a:r>
          </a:p>
          <a:p xmlns:a="http://schemas.openxmlformats.org/drawingml/2006/main">
            <a:r>
              <a:t>- C:/Users/Franc/OneDrive/Documents/Francis/Peltata Project/Time-Series-Modeling-Gen5/runs/research_workbench/operator_hypothesis_lab/return_geometry_sideways_loss_rebound_baseline_20260829/run_spec.csv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rebound lead emphasized a persistent directional selloff. This new line asks about a negative return accumulated through an inefficient, back-and-forth path. Both begin with loss, but they encode different path geometry and require separate controls.</a:t>
            </a:r>
          </a:p>
          <a:p xmlns:a="http://schemas.openxmlformats.org/drawingml/2006/main">
            <a:r>
              <a:t/>
            </a:r>
          </a:p>
          <a:p xmlns:a="http://schemas.openxmlformats.org/drawingml/2006/main">
            <a:r>
              <a:t>[Sources]</a:t>
            </a:r>
          </a:p>
          <a:p xmlns:a="http://schemas.openxmlformats.org/drawingml/2006/main">
            <a:r>
              <a:t>- operator_hypothesis_lab/docs/RETURN_GEOMETRY_DAILY_CONTINUATION_MICROSCOPE_2018_2023.md</a:t>
            </a:r>
          </a:p>
          <a:p xmlns:a="http://schemas.openxmlformats.org/drawingml/2006/main">
            <a:r>
              <a:t>- operator_hypothesis_lab/docs/RETURN_GEOMETRY_SIDEWAYS_LOSS_REBOUND_2018_2023.md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must beat ordinary drift and the negative-return-only control. Otherwise the result belongs to the negative prior return, not specifically to inefficient sideways movement. Trending-negative and sideways-all help separate path state from return sign.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Project/Time-Series-Modeling-Gen5/runs/research_workbench/operator_hypothesis_lab/return_geometry_sideways_loss_rebound_baseline_20260829/run_spec.csv</a:t>
            </a:r>
          </a:p>
          <a:p xmlns:a="http://schemas.openxmlformats.org/drawingml/2006/main">
            <a:r>
              <a:t>- C:/Users/Franc/OneDrive/Documents/Francis/Peltata Project/Time-Series-Modeling-Gen5/runs/research_workbench/operator_hypothesis_lab/return_geometry_sideways_loss_rebound_baseline_20260829/construction_checks.csv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SIDEWAYS_NEGATIVE is positive versus drift under both lenses: about +5.8 basis points equal-sector and +3.7 basis points event-pooled. NEGATIVE_ALL is also positive: about +7.9 and +0.1 basis points. The primary therefore has absolute context but has not yet established that the ER20 gate is the source of the result.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Project/Time-Series-Modeling-Gen5/runs/research_workbench/operator_hypothesis_lab/return_geometry_sideways_loss_rebound_baseline_20260829/equal_sector_rule_summary.csv</a:t>
            </a:r>
          </a:p>
          <a:p xmlns:a="http://schemas.openxmlformats.org/drawingml/2006/main">
            <a:r>
              <a:t>- C:/Users/Franc/OneDrive/Documents/Francis/Peltata Project/Time-Series-Modeling-Gen5/runs/research_workbench/operator_hypothesis_lab/return_geometry_sideways_loss_rebound_baseline_20260829/core_event_pooled_rule_summary.csv</a:t>
            </a:r>
          </a:p>
          <a:p xmlns:a="http://schemas.openxmlformats.org/drawingml/2006/main">
            <a:r>
              <a:t>- C:/Users/Franc/OneDrive/Documents/Francis/Peltata Project/Time-Series-Modeling-Gen5/runs/research_workbench/operator_hypothesis_lab/return_geometry_sideways_loss_rebound_baseline_20260829/visuals/matched_control_excess_both_lenses.png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Against NEGATIVE_ALL, the primary is about 5.6 basis points worse under equal-sector aggregation and 4.3 basis points better event-pooled. That sign disagreement is the decisive weakness. The primary beats SIDEWAYS_ALL, confirming that negative prior return matters, but it does not robustly show that inefficient sideways movement adds value beyond that loss.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Project/Time-Series-Modeling-Gen5/runs/research_workbench/operator_hypothesis_lab/return_geometry_sideways_loss_rebound_baseline_20260829/pairwise_readout.csv</a:t>
            </a:r>
          </a:p>
          <a:p xmlns:a="http://schemas.openxmlformats.org/drawingml/2006/main">
            <a:r>
              <a:t>- C:/Users/Franc/OneDrive/Documents/Francis/Peltata Project/Time-Series-Modeling-Gen5/runs/research_workbench/operator_hypothesis_lab/return_geometry_sideways_loss_rebound_baseline_20260829/visuals/primary_lift_vs_controls.png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is above drift in seven of eleven sector medians, but NEGATIVE_ALL is above drift in eight. Trending-negative also clears drift in seven sectors. Breadth therefore supports a broad negative-return rebound behavior, not a uniquely inefficient-sideways mechanism.</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Project/Time-Series-Modeling-Gen5/runs/research_workbench/operator_hypothesis_lab/return_geometry_sideways_loss_rebound_baseline_20260829/core_sector_rule_summary.csv</a:t>
            </a:r>
          </a:p>
          <a:p xmlns:a="http://schemas.openxmlformats.org/drawingml/2006/main">
            <a:r>
              <a:t>- C:/Users/Franc/OneDrive/Documents/Francis/Peltata Project/Time-Series-Modeling-Gen5/runs/research_workbench/operator_hypothesis_lab/return_geometry_sideways_loss_rebound_baseline_20260829/visuals/sector_matched_control_heatmap.png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clears drift only in 2019 and 2021. It is below drift in 2018, 2020, 2022, and 2023. This weak calendar stability is an independent reason to stop before rule refinement or sealed-data testing.</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Project/Time-Series-Modeling-Gen5/runs/research_workbench/operator_hypothesis_lab/return_geometry_sideways_loss_rebound_baseline_20260829/calendar_rule_summary.csv</a:t>
            </a:r>
          </a:p>
          <a:p xmlns:a="http://schemas.openxmlformats.org/drawingml/2006/main">
            <a:r>
              <a:t>- C:/Users/Franc/OneDrive/Documents/Francis/Peltata Project/Time-Series-Modeling-Gen5/runs/research_workbench/operator_hypothesis_lab/return_geometry_sideways_loss_rebound_baseline_20260829/visuals/calendar_primary_vs_negative_only.png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and negative-only paths are close for much of the hold. Trending-negative suffers more initially and then recovers later. The visual suggests different recovery timing, but not a clean, persistent advantage attributable to the sideways gate.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Project/Time-Series-Modeling-Gen5/runs/research_workbench/operator_hypothesis_lab/return_geometry_sideways_loss_rebound_baseline_20260829/trade_path_summary.csv</a:t>
            </a:r>
          </a:p>
          <a:p xmlns:a="http://schemas.openxmlformats.org/drawingml/2006/main">
            <a:r>
              <a:t>- C:/Users/Franc/OneDrive/Documents/Francis/Peltata Project/Time-Series-Modeling-Gen5/runs/research_workbench/operator_hypothesis_lab/return_geometry_sideways_loss_rebound_baseline_20260829/visuals/matched_control_trade_paths.png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first eligible examples are deterministic rather than selected for favorable outcomes. They show the actual next-open timing and the mixture of recoveries and failures that sits beneath a small aggregate excess-return estimate.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Project/Time-Series-Modeling-Gen5/runs/research_workbench/operator_hypothesis_lab/return_geometry_sideways_loss_rebound_baseline_20260829/trade_ledger.csv</a:t>
            </a:r>
          </a:p>
          <a:p xmlns:a="http://schemas.openxmlformats.org/drawingml/2006/main">
            <a:r>
              <a:t>- C:/Users/Franc/OneDrive/Documents/Francis/Peltata Project/Time-Series-Modeling-Gen5/runs/research_workbench/operator_hypothesis_lab/return_geometry_sideways_loss_rebound_baseline_20260829/visuals/representative_rebound_trade_tapes.png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successful falsification slice. The new hypothesis received its own identity and the correct matched control. The primary clears unconditional drift, but its advantage over negative-return-only changes sign across weighting lenses and appears in only two of six TRAIN years. Keep the behavioral lead documented; do not promote or tune it.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Project/Time-Series-Modeling-Gen5/runs/research_workbench/operator_hypothesis_lab/return_geometry_sideways_loss_rebound_baseline_20260829/report.md</a:t>
            </a:r>
          </a:p>
          <a:p xmlns:a="http://schemas.openxmlformats.org/drawingml/2006/main">
            <a:r>
              <a:t>- C:/Users/Franc/OneDrive/Documents/Francis/Peltata Project/Time-Series-Modeling-Gen5/runs/research_workbench/operator_hypothesis_lab/return_geometry_sideways_loss_rebound_baseline_20260829/pairwise_readout.csv</a:t>
            </a:r>
          </a:p>
          <a:p xmlns:a="http://schemas.openxmlformats.org/drawingml/2006/main">
            <a:r>
              <a:t>- C:/Users/Franc/OneDrive/Documents/Francis/Peltata Project/Time-Series-Modeling-Gen5/runs/research_workbench/operator_hypothesis_lab/return_geometry_sideways_loss_rebound_baseline_20260829/calendar_rule_summary.csv</a:t>
            </a:r>
          </a:p>
          <a:p xmlns:a="http://schemas.openxmlformats.org/drawingml/2006/main">
            <a:r>
              <a:t>- operator_hypothesis_lab/docs/RETURN_GEOMETRY_SIDEWAYS_LOSS_REBOUND_2018_2023.md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9c13e698ae4c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3abdee519f493a" /><Relationship Type="http://schemas.openxmlformats.org/officeDocument/2006/relationships/slideLayout" Target="/ppt/slideLayouts/slideLayout1.xml" Id="R228d5040edd841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8d5040edd841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SLA Descriptive Microscope">
      <a:dk1>
        <a:srgbClr val="000000"/>
      </a:dk1>
      <a:lt1>
        <a:srgbClr val="FFFFFF"/>
      </a:lt1>
      <a:dk2>
        <a:srgbClr val="273548"/>
      </a:dk2>
      <a:lt2>
        <a:srgbClr val="EDEDED"/>
      </a:lt2>
      <a:accent1>
        <a:srgbClr val="3D8DFF"/>
      </a:accent1>
      <a:accent2>
        <a:srgbClr val="2A9D6F"/>
      </a:accent2>
      <a:accent3>
        <a:srgbClr val="E45756"/>
      </a:accent3>
      <a:accent4>
        <a:srgbClr val="6DCBF4"/>
      </a:accent4>
      <a:accent5>
        <a:srgbClr val="7C3AED"/>
      </a:accent5>
      <a:accent6>
        <a:srgbClr val="F59E0B"/>
      </a:accent6>
      <a:hlink>
        <a:srgbClr val="3D8DFF"/>
      </a:hlink>
      <a:folHlink>
        <a:srgbClr val="7C3AED"/>
      </a:folHlink>
    </a:clrScheme>
    <a:fontScheme name="Office">
      <a:majorFont>
        <a:latin typeface="Calibri Light"/>
        <a:ea typeface="Calibri Light"/>
        <a:cs typeface="Calibri Light"/>
      </a:majorFont>
      <a:minorFont>
        <a:latin typeface="Calibri"/>
        <a:ea typeface="Calibri"/>
        <a:cs typeface="Calibri"/>
      </a:minorFont>
    </a:fontScheme>
    <a:fmtScheme name="TSLA Descriptive Microscop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2509568ace43b2" /><Relationship Type="http://schemas.openxmlformats.org/officeDocument/2006/relationships/notesSlide" Target="/ppt/notesSlides/notesSlide1.xml" Id="R368493cbd11e4e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f5d779dc6274227" /><Relationship Type="http://schemas.openxmlformats.org/officeDocument/2006/relationships/notesSlide" Target="/ppt/notesSlides/notesSlide2.xml" Id="Rcdffba9f2e3348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be2c6d4cd748b6" /><Relationship Type="http://schemas.openxmlformats.org/officeDocument/2006/relationships/notesSlide" Target="/ppt/notesSlides/notesSlide3.xml" Id="Ra5d10b2cacbc4b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36ecb351c545df" /><Relationship Type="http://schemas.openxmlformats.org/officeDocument/2006/relationships/image" Target="/ppt/media/image.png" Id="Rc6d9f8f07c52417e" /><Relationship Type="http://schemas.openxmlformats.org/officeDocument/2006/relationships/notesSlide" Target="/ppt/notesSlides/notesSlide4.xml" Id="Reb47dc11daa94b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a6e481d37784060" /><Relationship Type="http://schemas.openxmlformats.org/officeDocument/2006/relationships/image" Target="/ppt/media/image2.png" Id="R051649954fa14463" /><Relationship Type="http://schemas.openxmlformats.org/officeDocument/2006/relationships/notesSlide" Target="/ppt/notesSlides/notesSlide5.xml" Id="Rcfa00435871749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a74159b96f74e77" /><Relationship Type="http://schemas.openxmlformats.org/officeDocument/2006/relationships/image" Target="/ppt/media/image3.png" Id="Refa35eeb65484846" /><Relationship Type="http://schemas.openxmlformats.org/officeDocument/2006/relationships/notesSlide" Target="/ppt/notesSlides/notesSlide6.xml" Id="Rea249c85b1074b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c9355800d7b40a5" /><Relationship Type="http://schemas.openxmlformats.org/officeDocument/2006/relationships/image" Target="/ppt/media/image4.png" Id="Rb5e3562878854de2" /><Relationship Type="http://schemas.openxmlformats.org/officeDocument/2006/relationships/notesSlide" Target="/ppt/notesSlides/notesSlide7.xml" Id="R2f2f851b2e3a40a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c2d74e94d794bc6" /><Relationship Type="http://schemas.openxmlformats.org/officeDocument/2006/relationships/image" Target="/ppt/media/image5.png" Id="R40cb8a190e6b4fe0" /><Relationship Type="http://schemas.openxmlformats.org/officeDocument/2006/relationships/notesSlide" Target="/ppt/notesSlides/notesSlide8.xml" Id="Rd30c61cd337449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a39e369217747da" /><Relationship Type="http://schemas.openxmlformats.org/officeDocument/2006/relationships/image" Target="/ppt/media/image6.png" Id="Rce8bde6425474d84" /><Relationship Type="http://schemas.openxmlformats.org/officeDocument/2006/relationships/notesSlide" Target="/ppt/notesSlides/notesSlide9.xml" Id="R2f35e0529b7f4e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620a65421cb4366" /><Relationship Type="http://schemas.openxmlformats.org/officeDocument/2006/relationships/notesSlide" Target="/ppt/notesSlides/notesSlide10.xml" Id="R2b08708e6ec645e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12B881-2D87-4470-A9E2-CA40D710634E}"/>
              </a:ext>
            </a:extLst>
          </p:cNvPr>
          <p:cNvSpPr>
            <a:spLocks xmlns:a="http://schemas.openxmlformats.org/drawingml/2006/main" noGrp="1"/>
          </p:cNvSpPr>
          <p:nvPr/>
        </p:nvSpPr>
        <p:spPr>
          <a:xfrm xmlns:a="http://schemas.openxmlformats.org/drawingml/2006/main">
            <a:off x="457200" y="4000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E45756"/>
                </a:solidFill>
              </a:defRPr>
            </a:pPr>
            <a:r>
              <a:rPr sz="1350" b="1">
                <a:solidFill>
                  <a:srgbClr val="E45756"/>
                </a:solidFill>
              </a:rPr>
              <a:t>SIDEWAYS LOSS REBOUND</a:t>
            </a:r>
          </a:p>
        </p:txBody>
      </p:sp>
      <p:sp>
        <p:nvSpPr>
          <p:cNvPr id="2" name="">
            <a:extLst xmlns:a="http://schemas.openxmlformats.org/drawingml/2006/main">
              <a:ext uri="{FF2B5EF4-FFF2-40B4-BE49-F238E27FC236}">
                <a16:creationId xmlns:a16="http://schemas.microsoft.com/office/drawing/2014/main" id="{0BB2094F-C042-49AB-BE8C-0ECFD22457DD}"/>
              </a:ext>
            </a:extLst>
          </p:cNvPr>
          <p:cNvSpPr>
            <a:spLocks xmlns:a="http://schemas.openxmlformats.org/drawingml/2006/main" noGrp="1"/>
          </p:cNvSpPr>
          <p:nvPr/>
        </p:nvSpPr>
        <p:spPr>
          <a:xfrm xmlns:a="http://schemas.openxmlformats.org/drawingml/2006/main">
            <a:off x="457200" y="1562100"/>
            <a:ext cx="1076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350" b="1">
                <a:solidFill>
                  <a:srgbClr val="111827"/>
                </a:solidFill>
              </a:defRPr>
            </a:pPr>
            <a:r>
              <a:rPr sz="4350" b="1">
                <a:solidFill>
                  <a:srgbClr val="111827"/>
                </a:solidFill>
              </a:rPr>
              <a:t>A separate mean-reversion line after continuation stops</a:t>
            </a:r>
          </a:p>
        </p:txBody>
      </p:sp>
      <p:sp>
        <p:nvSpPr>
          <p:cNvPr id="3" name="">
            <a:extLst xmlns:a="http://schemas.openxmlformats.org/drawingml/2006/main">
              <a:ext uri="{FF2B5EF4-FFF2-40B4-BE49-F238E27FC236}">
                <a16:creationId xmlns:a16="http://schemas.microsoft.com/office/drawing/2014/main" id="{D8394FB8-5765-4318-8A56-6DACECFE912E}"/>
              </a:ext>
            </a:extLst>
          </p:cNvPr>
          <p:cNvSpPr>
            <a:spLocks xmlns:a="http://schemas.openxmlformats.org/drawingml/2006/main" noGrp="1"/>
          </p:cNvSpPr>
          <p:nvPr/>
        </p:nvSpPr>
        <p:spPr>
          <a:xfrm xmlns:a="http://schemas.openxmlformats.org/drawingml/2006/main">
            <a:off x="457200" y="3714750"/>
            <a:ext cx="1257300" cy="76200"/>
          </a:xfrm>
          <a:prstGeom xmlns:a="http://schemas.openxmlformats.org/drawingml/2006/main" prst="rect">
            <a:avLst/>
          </a:prstGeom>
          <a:solidFill xmlns:a="http://schemas.openxmlformats.org/drawingml/2006/main">
            <a:srgbClr val="E45756"/>
          </a:solidFill>
          <a:ln xmlns:a="http://schemas.openxmlformats.org/drawingml/2006/main" w="9525">
            <a:solidFill>
              <a:srgbClr val="E45756"/>
            </a:solidFill>
            <a:prstDash val="solid"/>
          </a:ln>
        </p:spPr>
      </p:sp>
      <p:sp>
        <p:nvSpPr>
          <p:cNvPr id="4" name="">
            <a:extLst xmlns:a="http://schemas.openxmlformats.org/drawingml/2006/main">
              <a:ext uri="{FF2B5EF4-FFF2-40B4-BE49-F238E27FC236}">
                <a16:creationId xmlns:a16="http://schemas.microsoft.com/office/drawing/2014/main" id="{67E3D676-3E4E-40CF-9FFA-FDD3E7F4C6B2}"/>
              </a:ext>
            </a:extLst>
          </p:cNvPr>
          <p:cNvSpPr>
            <a:spLocks xmlns:a="http://schemas.openxmlformats.org/drawingml/2006/main" noGrp="1"/>
          </p:cNvSpPr>
          <p:nvPr/>
        </p:nvSpPr>
        <p:spPr>
          <a:xfrm xmlns:a="http://schemas.openxmlformats.org/drawingml/2006/main">
            <a:off x="457200" y="4171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025" b="0">
                <a:solidFill>
                  <a:srgbClr val="667384"/>
                </a:solidFill>
              </a:defRPr>
            </a:pPr>
            <a:r>
              <a:rPr sz="2025" b="0">
                <a:solidFill>
                  <a:srgbClr val="667384"/>
                </a:solidFill>
              </a:rPr>
              <a:t>Can inefficient sideways movement add information beyond loss alone?</a:t>
            </a:r>
          </a:p>
        </p:txBody>
      </p:sp>
      <p:sp>
        <p:nvSpPr>
          <p:cNvPr id="5" name="">
            <a:extLst xmlns:a="http://schemas.openxmlformats.org/drawingml/2006/main">
              <a:ext uri="{FF2B5EF4-FFF2-40B4-BE49-F238E27FC236}">
                <a16:creationId xmlns:a16="http://schemas.microsoft.com/office/drawing/2014/main" id="{AF79BB13-9AEC-4C77-9A8C-3203F83002E1}"/>
              </a:ext>
            </a:extLst>
          </p:cNvPr>
          <p:cNvSpPr>
            <a:spLocks xmlns:a="http://schemas.openxmlformats.org/drawingml/2006/main" noGrp="1"/>
          </p:cNvSpPr>
          <p:nvPr/>
        </p:nvSpPr>
        <p:spPr>
          <a:xfrm xmlns:a="http://schemas.openxmlformats.org/drawingml/2006/main">
            <a:off x="457200" y="542925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0">
                <a:solidFill>
                  <a:srgbClr val="667384"/>
                </a:solidFill>
              </a:defRPr>
            </a:pPr>
            <a:r>
              <a:rPr sz="1575" b="0">
                <a:solidFill>
                  <a:srgbClr val="667384"/>
                </a:solidFill>
              </a:rPr>
              <a:t>2018–2023 TRAIN • next-open • matched controls • post-2023 sealed</a:t>
            </a:r>
          </a:p>
        </p:txBody>
      </p:sp>
      <p:sp>
        <p:nvSpPr>
          <p:cNvPr id="6" name="">
            <a:extLst xmlns:a="http://schemas.openxmlformats.org/drawingml/2006/main">
              <a:ext uri="{FF2B5EF4-FFF2-40B4-BE49-F238E27FC236}">
                <a16:creationId xmlns:a16="http://schemas.microsoft.com/office/drawing/2014/main" id="{AD589277-BA8D-465E-8FE0-58FC0F7326BE}"/>
              </a:ext>
            </a:extLst>
          </p:cNvPr>
          <p:cNvSpPr>
            <a:spLocks xmlns:a="http://schemas.openxmlformats.org/drawingml/2006/main" noGrp="1"/>
          </p:cNvSpPr>
          <p:nvPr/>
        </p:nvSpPr>
        <p:spPr>
          <a:xfrm xmlns:a="http://schemas.openxmlformats.org/drawingml/2006/main">
            <a:off x="11239500" y="64960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0">
                <a:solidFill>
                  <a:srgbClr val="667384"/>
                </a:solidFill>
              </a:defRPr>
            </a:pPr>
            <a:r>
              <a:rPr sz="900" b="0">
                <a:solidFill>
                  <a:srgbClr val="667384"/>
                </a:solidFill>
              </a:rPr>
              <a:t>1</a:t>
            </a:r>
          </a:p>
        </p:txBody>
      </p:sp>
    </p:spTree>
    <p:extLst>
      <p:ext uri="{BB962C8B-B14F-4D97-AF65-F5344CB8AC3E}">
        <p14:creationId xmlns:p14="http://schemas.microsoft.com/office/powerpoint/2010/main" val="169716707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12B881-2D87-4470-A9E2-CA40D710634E}"/>
              </a:ext>
            </a:extLst>
          </p:cNvPr>
          <p:cNvSpPr>
            <a:spLocks xmlns:a="http://schemas.openxmlformats.org/drawingml/2006/main" noGrp="1"/>
          </p:cNvSpPr>
          <p:nvPr/>
        </p:nvSpPr>
        <p:spPr>
          <a:xfrm xmlns:a="http://schemas.openxmlformats.org/drawingml/2006/main">
            <a:off x="457200" y="4000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E45756"/>
                </a:solidFill>
              </a:defRPr>
            </a:pPr>
            <a:r>
              <a:rPr sz="1350" b="1">
                <a:solidFill>
                  <a:srgbClr val="E45756"/>
                </a:solidFill>
              </a:rPr>
              <a:t>NEW REBOUND LINE</a:t>
            </a:r>
          </a:p>
        </p:txBody>
      </p:sp>
      <p:sp>
        <p:nvSpPr>
          <p:cNvPr id="2" name="">
            <a:extLst xmlns:a="http://schemas.openxmlformats.org/drawingml/2006/main">
              <a:ext uri="{FF2B5EF4-FFF2-40B4-BE49-F238E27FC236}">
                <a16:creationId xmlns:a16="http://schemas.microsoft.com/office/drawing/2014/main" id="{0BB2094F-C042-49AB-BE8C-0ECFD22457DD}"/>
              </a:ext>
            </a:extLst>
          </p:cNvPr>
          <p:cNvSpPr>
            <a:spLocks xmlns:a="http://schemas.openxmlformats.org/drawingml/2006/main" noGrp="1"/>
          </p:cNvSpPr>
          <p:nvPr/>
        </p:nvSpPr>
        <p:spPr>
          <a:xfrm xmlns:a="http://schemas.openxmlformats.org/drawingml/2006/main">
            <a:off x="457200" y="1562100"/>
            <a:ext cx="1076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350" b="1">
                <a:solidFill>
                  <a:srgbClr val="111827"/>
                </a:solidFill>
              </a:defRPr>
            </a:pPr>
            <a:r>
              <a:rPr sz="4350" b="1">
                <a:solidFill>
                  <a:srgbClr val="111827"/>
                </a:solidFill>
              </a:rPr>
              <a:t>Same negative anchor, different market path</a:t>
            </a:r>
          </a:p>
        </p:txBody>
      </p:sp>
      <p:sp>
        <p:nvSpPr>
          <p:cNvPr id="3" name="">
            <a:extLst xmlns:a="http://schemas.openxmlformats.org/drawingml/2006/main">
              <a:ext uri="{FF2B5EF4-FFF2-40B4-BE49-F238E27FC236}">
                <a16:creationId xmlns:a16="http://schemas.microsoft.com/office/drawing/2014/main" id="{D8394FB8-5765-4318-8A56-6DACECFE912E}"/>
              </a:ext>
            </a:extLst>
          </p:cNvPr>
          <p:cNvSpPr>
            <a:spLocks xmlns:a="http://schemas.openxmlformats.org/drawingml/2006/main" noGrp="1"/>
          </p:cNvSpPr>
          <p:nvPr/>
        </p:nvSpPr>
        <p:spPr>
          <a:xfrm xmlns:a="http://schemas.openxmlformats.org/drawingml/2006/main">
            <a:off x="457200" y="3714750"/>
            <a:ext cx="1257300" cy="76200"/>
          </a:xfrm>
          <a:prstGeom xmlns:a="http://schemas.openxmlformats.org/drawingml/2006/main" prst="rect">
            <a:avLst/>
          </a:prstGeom>
          <a:solidFill xmlns:a="http://schemas.openxmlformats.org/drawingml/2006/main">
            <a:srgbClr val="E45756"/>
          </a:solidFill>
          <a:ln xmlns:a="http://schemas.openxmlformats.org/drawingml/2006/main" w="9525">
            <a:solidFill>
              <a:srgbClr val="E45756"/>
            </a:solidFill>
            <a:prstDash val="solid"/>
          </a:ln>
        </p:spPr>
      </p:sp>
      <p:sp>
        <p:nvSpPr>
          <p:cNvPr id="4" name="">
            <a:extLst xmlns:a="http://schemas.openxmlformats.org/drawingml/2006/main">
              <a:ext uri="{FF2B5EF4-FFF2-40B4-BE49-F238E27FC236}">
                <a16:creationId xmlns:a16="http://schemas.microsoft.com/office/drawing/2014/main" id="{67E3D676-3E4E-40CF-9FFA-FDD3E7F4C6B2}"/>
              </a:ext>
            </a:extLst>
          </p:cNvPr>
          <p:cNvSpPr>
            <a:spLocks xmlns:a="http://schemas.openxmlformats.org/drawingml/2006/main" noGrp="1"/>
          </p:cNvSpPr>
          <p:nvPr/>
        </p:nvSpPr>
        <p:spPr>
          <a:xfrm xmlns:a="http://schemas.openxmlformats.org/drawingml/2006/main">
            <a:off x="457200" y="4171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025" b="0">
                <a:solidFill>
                  <a:srgbClr val="667384"/>
                </a:solidFill>
              </a:defRPr>
            </a:pPr>
            <a:r>
              <a:rPr sz="2025" b="0">
                <a:solidFill>
                  <a:srgbClr val="667384"/>
                </a:solidFill>
              </a:rPr>
              <a:t>Persistent selloff and inefficient loss are sibling hypotheses—not the same rule</a:t>
            </a:r>
          </a:p>
        </p:txBody>
      </p:sp>
      <p:sp>
        <p:nvSpPr>
          <p:cNvPr id="5" name="">
            <a:extLst xmlns:a="http://schemas.openxmlformats.org/drawingml/2006/main">
              <a:ext uri="{FF2B5EF4-FFF2-40B4-BE49-F238E27FC236}">
                <a16:creationId xmlns:a16="http://schemas.microsoft.com/office/drawing/2014/main" id="{AF79BB13-9AEC-4C77-9A8C-3203F83002E1}"/>
              </a:ext>
            </a:extLst>
          </p:cNvPr>
          <p:cNvSpPr>
            <a:spLocks xmlns:a="http://schemas.openxmlformats.org/drawingml/2006/main" noGrp="1"/>
          </p:cNvSpPr>
          <p:nvPr/>
        </p:nvSpPr>
        <p:spPr>
          <a:xfrm xmlns:a="http://schemas.openxmlformats.org/drawingml/2006/main">
            <a:off x="457200" y="542925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0">
                <a:solidFill>
                  <a:srgbClr val="667384"/>
                </a:solidFill>
              </a:defRPr>
            </a:pPr>
            <a:r>
              <a:rPr sz="1575" b="0">
                <a:solidFill>
                  <a:srgbClr val="667384"/>
                </a:solidFill>
              </a:rPr>
              <a:t>Continuation closed • rebound identity separated • post-2023 sealed</a:t>
            </a:r>
          </a:p>
        </p:txBody>
      </p:sp>
      <p:sp>
        <p:nvSpPr>
          <p:cNvPr id="6" name="">
            <a:extLst xmlns:a="http://schemas.openxmlformats.org/drawingml/2006/main">
              <a:ext uri="{FF2B5EF4-FFF2-40B4-BE49-F238E27FC236}">
                <a16:creationId xmlns:a16="http://schemas.microsoft.com/office/drawing/2014/main" id="{AD589277-BA8D-465E-8FE0-58FC0F7326BE}"/>
              </a:ext>
            </a:extLst>
          </p:cNvPr>
          <p:cNvSpPr>
            <a:spLocks xmlns:a="http://schemas.openxmlformats.org/drawingml/2006/main" noGrp="1"/>
          </p:cNvSpPr>
          <p:nvPr/>
        </p:nvSpPr>
        <p:spPr>
          <a:xfrm xmlns:a="http://schemas.openxmlformats.org/drawingml/2006/main">
            <a:off x="11239500" y="64960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0">
                <a:solidFill>
                  <a:srgbClr val="667384"/>
                </a:solidFill>
              </a:defRPr>
            </a:pPr>
            <a:r>
              <a:rPr sz="900" b="0">
                <a:solidFill>
                  <a:srgbClr val="667384"/>
                </a:solidFill>
              </a:rPr>
              <a:t>2</a:t>
            </a:r>
          </a:p>
        </p:txBody>
      </p:sp>
    </p:spTree>
    <p:extLst>
      <p:ext uri="{BB962C8B-B14F-4D97-AF65-F5344CB8AC3E}">
        <p14:creationId xmlns:p14="http://schemas.microsoft.com/office/powerpoint/2010/main" val="16971670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FROZEN MATCH</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The missing control is negative return alone</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129 instruments | 88-stock equal-sector core | 2018–2023 TRAIN</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PRIMARY</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Inefficient loss</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R20 &lt; 0 and ER20 &lt; 0.30</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NEGATIVE ONLY</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Matched sign control</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R20 &lt; 0; no ER20 gate</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TRENDING NEGATIVE</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Opposite path state</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R20 &lt; 0 and ER20 ≥ 0.30</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STATE CONTROL</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389"/>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SIDEWAYS_ALL uses ER20 &lt; 0.30 regardless of sign. All rules: close t signal → open t+1 entry → 20 sessions → 10 bp.</a:t>
            </a:r>
          </a:p>
        </p:txBody>
      </p:sp>
    </p:spTree>
    <p:extLst>
      <p:ext uri="{BB962C8B-B14F-4D97-AF65-F5344CB8AC3E}">
        <p14:creationId xmlns:p14="http://schemas.microsoft.com/office/powerpoint/2010/main" val="6665362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MATCHED CONTROLS</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The primary clears drift—but so does negative-only</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Excess versus same-asset 20d open-to-open drift | bp/trade</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4</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6d9f8f07c52417e"/>
          <a:stretch xmlns:a="http://schemas.openxmlformats.org/drawingml/2006/main"/>
        </p:blipFill>
        <p:spPr>
          <a:xfrm xmlns:a="http://schemas.openxmlformats.org/drawingml/2006/main">
            <a:off x="3253368" y="2152046"/>
            <a:ext cx="5685265" cy="3411159"/>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INCREMENTAL TEST</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The sideways gate fails the incremental test</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SIDEWAYS_NEGATIVE minus matched control | bp/trade</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5</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51649954fa14463"/>
          <a:stretch xmlns:a="http://schemas.openxmlformats.org/drawingml/2006/main"/>
        </p:blipFill>
        <p:spPr>
          <a:xfrm xmlns:a="http://schemas.openxmlformats.org/drawingml/2006/main">
            <a:off x="2885498" y="1975606"/>
            <a:ext cx="6421005" cy="3764037"/>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SECTOR BREADTH</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Sector breadth is real but not uniquely sideways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Sector median excess versus same-asset drift | bp/trade</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6</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fa35eeb65484846"/>
          <a:stretch xmlns:a="http://schemas.openxmlformats.org/drawingml/2006/main"/>
        </p:blipFill>
        <p:spPr>
          <a:xfrm xmlns:a="http://schemas.openxmlformats.org/drawingml/2006/main">
            <a:off x="3281926" y="1981575"/>
            <a:ext cx="5628150" cy="3752100"/>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CALENDAR STABILITY</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Only two of six TRAIN years clear drift</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Equal-sector excess versus drift by signal year | bp/trade</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7</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5e3562878854de2"/>
          <a:stretch xmlns:a="http://schemas.openxmlformats.org/drawingml/2006/main"/>
        </p:blipFill>
        <p:spPr>
          <a:xfrm xmlns:a="http://schemas.openxmlformats.org/drawingml/2006/main">
            <a:off x="3755009" y="2485320"/>
            <a:ext cx="4681983" cy="2744611"/>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PATH TIMING</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The state difference is mostly path timing</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Core event-pooled mean executable path | 20-session hold</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8</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40cb8a190e6b4fe0"/>
          <a:stretch xmlns:a="http://schemas.openxmlformats.org/drawingml/2006/main"/>
        </p:blipFill>
        <p:spPr>
          <a:xfrm xmlns:a="http://schemas.openxmlformats.org/drawingml/2006/main">
            <a:off x="3755009" y="2453030"/>
            <a:ext cx="4681983" cy="2809190"/>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TRADE TAPES</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8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Representative trades keep the aggregates grounded</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First eligible events | deterministic, not outcome-selected</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9</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e8bde6425474d84"/>
          <a:stretch xmlns:a="http://schemas.openxmlformats.org/drawingml/2006/main"/>
        </p:blipFill>
        <p:spPr>
          <a:xfrm xmlns:a="http://schemas.openxmlformats.org/drawingml/2006/main">
            <a:off x="2885498" y="1650404"/>
            <a:ext cx="6421005" cy="4414441"/>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MATCHED-CONTROL READOUT</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A distinct idea opens—and stops at its first control</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2018–2023 TRAIN | next-open | 129 instruments | post-2023 sealed</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BASELINE</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Primary clears ordinary drift</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+5.8 / +3.7 bp by weighting lens</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INCREMENT</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ER20 gate is not robustly additive</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−5.6 / +4.3 bp vs negative-only</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STABILITY</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Broad sectors, weak calendar</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7/11 sectors; only 2/6 years</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STATUS</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389"/>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STOP before rule selection or OOS. Negative prior return drives more of the result than inefficient sideways movement; do not rescue by tuning ER, horizon, severity, sector, or year.</a:t>
            </a:r>
          </a:p>
        </p:txBody>
      </p:sp>
    </p:spTree>
    <p:extLst>
      <p:ext uri="{BB962C8B-B14F-4D97-AF65-F5344CB8AC3E}">
        <p14:creationId xmlns:p14="http://schemas.microsoft.com/office/powerpoint/2010/main" val="666536286"/>
      </p:ext>
    </p:extLst>
  </p:cSld>
</p:sld>
</file>

<file path=ppt/theme/theme1.xml><?xml version="1.0" encoding="utf-8"?>
<a:theme xmlns:a="http://schemas.openxmlformats.org/drawingml/2006/main" name="ChatGPT">
  <a:themeElements>
    <a:clrScheme name="TSLA Descriptive Microscope">
      <a:dk1>
        <a:srgbClr val="000000"/>
      </a:dk1>
      <a:lt1>
        <a:srgbClr val="FFFFFF"/>
      </a:lt1>
      <a:dk2>
        <a:srgbClr val="273548"/>
      </a:dk2>
      <a:lt2>
        <a:srgbClr val="EDEDED"/>
      </a:lt2>
      <a:accent1>
        <a:srgbClr val="3D8DFF"/>
      </a:accent1>
      <a:accent2>
        <a:srgbClr val="2A9D6F"/>
      </a:accent2>
      <a:accent3>
        <a:srgbClr val="E45756"/>
      </a:accent3>
      <a:accent4>
        <a:srgbClr val="6DCBF4"/>
      </a:accent4>
      <a:accent5>
        <a:srgbClr val="7C3AED"/>
      </a:accent5>
      <a:accent6>
        <a:srgbClr val="F59E0B"/>
      </a:accent6>
      <a:hlink>
        <a:srgbClr val="3D8DFF"/>
      </a:hlink>
      <a:folHlink>
        <a:srgbClr val="7C3AED"/>
      </a:folHlink>
    </a:clrScheme>
    <a:fontScheme name="Office">
      <a:majorFont>
        <a:latin typeface="Calibri Light"/>
        <a:ea typeface="Calibri Light"/>
        <a:cs typeface="Calibri Light"/>
      </a:majorFont>
      <a:minorFont>
        <a:latin typeface="Calibri"/>
        <a:ea typeface="Calibri"/>
        <a:cs typeface="Calibri"/>
      </a:minorFont>
    </a:fontScheme>
    <a:fmtScheme name="TSLA Descriptive Microscop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2026-08-30T03:32:34.3100000Z</dcterms:created>
  <dcterms:modified xsi:type="dcterms:W3CDTF">2026-08-30T03:32:34.3100000Z</dcterms:modified>
</coreProperties>
</file>