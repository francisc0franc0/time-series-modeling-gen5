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07d9a7b1b740ff" /><Relationship Type="http://schemas.openxmlformats.org/officeDocument/2006/relationships/extended-properties" Target="/docProps/app.xml" Id="R626c8eb54f264f4e" /><Relationship Type="http://schemas.openxmlformats.org/officeDocument/2006/relationships/officeDocument" Target="/ppt/presentation.xml" Id="R93258771c19e4ff0" /></Relationships>
</file>

<file path=ppt/presentation.xml><?xml version="1.0" encoding="utf-8"?>
<p:presentation xmlns:p="http://schemas.openxmlformats.org/presentationml/2006/main">
  <p:sldMasterIdLst>
    <p:sldMasterId xmlns:r="http://schemas.openxmlformats.org/officeDocument/2006/relationships" id="2147483648" r:id="R85e05532f7054616"/>
  </p:sldMasterIdLst>
  <p:notesMasterIdLst>
    <p:notesMasterId xmlns:r="http://schemas.openxmlformats.org/officeDocument/2006/relationships" r:id="R9c6e08ef21e14aae"/>
  </p:notesMasterIdLst>
  <p:sldIdLst>
    <p:sldId xmlns:r="http://schemas.openxmlformats.org/officeDocument/2006/relationships" id="256" r:id="R918cd3ea180b4d0c"/>
    <p:sldId xmlns:r="http://schemas.openxmlformats.org/officeDocument/2006/relationships" id="257" r:id="Rd57bcb52ecab43db"/>
    <p:sldId xmlns:r="http://schemas.openxmlformats.org/officeDocument/2006/relationships" id="258" r:id="R5418df8a7aee41ad"/>
    <p:sldId xmlns:r="http://schemas.openxmlformats.org/officeDocument/2006/relationships" id="259" r:id="Rb7710b8a40434532"/>
    <p:sldId xmlns:r="http://schemas.openxmlformats.org/officeDocument/2006/relationships" id="260" r:id="R2f356d806c044311"/>
    <p:sldId xmlns:r="http://schemas.openxmlformats.org/officeDocument/2006/relationships" id="261" r:id="Rf175959bc4a242ae"/>
    <p:sldId xmlns:r="http://schemas.openxmlformats.org/officeDocument/2006/relationships" id="262" r:id="Rd229e12523be4b81"/>
    <p:sldId xmlns:r="http://schemas.openxmlformats.org/officeDocument/2006/relationships" id="263" r:id="Ref9b9bc36b9848f1"/>
    <p:sldId xmlns:r="http://schemas.openxmlformats.org/officeDocument/2006/relationships" id="264" r:id="R43efd08250394caf"/>
    <p:sldId xmlns:r="http://schemas.openxmlformats.org/officeDocument/2006/relationships" id="265" r:id="R0a00b334a1374a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80f8a8efca2419c" /><Relationship Type="http://schemas.openxmlformats.org/officeDocument/2006/relationships/slideMaster" Target="/ppt/slideMasters/slideMaster1.xml" Id="R85e05532f7054616" /><Relationship Type="http://schemas.openxmlformats.org/officeDocument/2006/relationships/notesMaster" Target="/ppt/notesMasters/notesMaster1.xml" Id="R9c6e08ef21e14aae" /><Relationship Type="http://schemas.openxmlformats.org/officeDocument/2006/relationships/presProps" Target="/ppt/presProps.xml" Id="Rf1a9df7acc9f40df" /><Relationship Type="http://schemas.openxmlformats.org/officeDocument/2006/relationships/tableStyles" Target="/ppt/tableStyles.xml" Id="Rff4c7e5ba7924ea2" /><Relationship Type="http://schemas.openxmlformats.org/officeDocument/2006/relationships/slide" Target="/ppt/slides/slide1.xml" Id="R918cd3ea180b4d0c" /><Relationship Type="http://schemas.openxmlformats.org/officeDocument/2006/relationships/slide" Target="/ppt/slides/slide2.xml" Id="Rd57bcb52ecab43db" /><Relationship Type="http://schemas.openxmlformats.org/officeDocument/2006/relationships/slide" Target="/ppt/slides/slide3.xml" Id="R5418df8a7aee41ad" /><Relationship Type="http://schemas.openxmlformats.org/officeDocument/2006/relationships/slide" Target="/ppt/slides/slide4.xml" Id="Rb7710b8a40434532" /><Relationship Type="http://schemas.openxmlformats.org/officeDocument/2006/relationships/slide" Target="/ppt/slides/slide5.xml" Id="R2f356d806c044311" /><Relationship Type="http://schemas.openxmlformats.org/officeDocument/2006/relationships/slide" Target="/ppt/slides/slide6.xml" Id="Rf175959bc4a242ae" /><Relationship Type="http://schemas.openxmlformats.org/officeDocument/2006/relationships/slide" Target="/ppt/slides/slide7.xml" Id="Rd229e12523be4b81" /><Relationship Type="http://schemas.openxmlformats.org/officeDocument/2006/relationships/slide" Target="/ppt/slides/slide8.xml" Id="Ref9b9bc36b9848f1" /><Relationship Type="http://schemas.openxmlformats.org/officeDocument/2006/relationships/slide" Target="/ppt/slides/slide9.xml" Id="R43efd08250394caf" /><Relationship Type="http://schemas.openxmlformats.org/officeDocument/2006/relationships/slide" Target="/ppt/slides/slide10.xml" Id="R0a00b334a1374a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c6c32544b045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e4d3bbe7294526" /><Relationship Type="http://schemas.openxmlformats.org/officeDocument/2006/relationships/notesMaster" Target="/ppt/notesMasters/notesMaster1.xml" Id="R8a505bd1e7c848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cbaf0836a34d9a" /><Relationship Type="http://schemas.openxmlformats.org/officeDocument/2006/relationships/notesMaster" Target="/ppt/notesMasters/notesMaster1.xml" Id="Rabb19a3950b44c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1736fe8bad4c3e" /><Relationship Type="http://schemas.openxmlformats.org/officeDocument/2006/relationships/notesMaster" Target="/ppt/notesMasters/notesMaster1.xml" Id="R8d2d36b3ab994f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f573a119eb4df5" /><Relationship Type="http://schemas.openxmlformats.org/officeDocument/2006/relationships/notesMaster" Target="/ppt/notesMasters/notesMaster1.xml" Id="Rfe0d5e92fcae4a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13228a8c8c4aa6" /><Relationship Type="http://schemas.openxmlformats.org/officeDocument/2006/relationships/notesMaster" Target="/ppt/notesMasters/notesMaster1.xml" Id="Rcd1fc12249d747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f05707512e41fa" /><Relationship Type="http://schemas.openxmlformats.org/officeDocument/2006/relationships/notesMaster" Target="/ppt/notesMasters/notesMaster1.xml" Id="R905e6863167541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382baba0fe4c1b" /><Relationship Type="http://schemas.openxmlformats.org/officeDocument/2006/relationships/notesMaster" Target="/ppt/notesMasters/notesMaster1.xml" Id="Rbc3a37e1e03c48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2b1ab0d7104c92" /><Relationship Type="http://schemas.openxmlformats.org/officeDocument/2006/relationships/notesMaster" Target="/ppt/notesMasters/notesMaster1.xml" Id="R542a1f9ecbbc4e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adc7f5d273425a" /><Relationship Type="http://schemas.openxmlformats.org/officeDocument/2006/relationships/notesMaster" Target="/ppt/notesMasters/notesMaster1.xml" Id="R757404d17be84c1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1d858219d04092" /><Relationship Type="http://schemas.openxmlformats.org/officeDocument/2006/relationships/notesMaster" Target="/ppt/notesMasters/notesMaster1.xml" Id="R2c36eb983f6341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distinction: the field is an interpretable contemporaneous measurement, but this frozen version did not persist into the next month strongly enough to become a permission filter.</a:t>
            </a:r>
          </a:p>
          <a:p xmlns:a="http://schemas.openxmlformats.org/drawingml/2006/main">
            <a:r>
              <a:t/>
            </a:r>
          </a:p>
          <a:p xmlns:a="http://schemas.openxmlformats.org/drawingml/2006/main">
            <a:r>
              <a:t>[Sources]</a:t>
            </a:r>
          </a:p>
          <a:p xmlns:a="http://schemas.openxmlformats.org/drawingml/2006/main">
            <a:r>
              <a:t>- docs/GEN5_HYP_REG_04_1_CROSS_SECTIONAL_TREND_FIELD_CONTRACT.md</a:t>
            </a:r>
          </a:p>
          <a:p xmlns:a="http://schemas.openxmlformats.org/drawingml/2006/main">
            <a:r>
              <a:t>- operator_hypothesis_lab/docs/HYP_REG_04_1_CROSS_SECTIONAL_TREND_FIELD_RESULTS.md</a:t>
            </a:r>
          </a:p>
          <a:p xmlns:a="http://schemas.openxmlformats.org/drawingml/2006/main">
            <a:r>
              <a:t>- C:/Users/Franc/OneDrive/Documents/Francis/Peltata Project/Time-Series-Modeling-Gen5/runs/research_workbench/operator_hypothesis_lab/hyp_reg_04_1_cross_sectional_trend_field_20260814/hyp_reg_04_1_gates.csv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SPY is a liquid external target used to test whether a market-level measurement has directional meaning. Even a passing market diagnostic would not automatically govern TSLA; it would first need an asset-panel overlay with unchanged strategy mechanics and fair controls.</a:t>
            </a:r>
          </a:p>
          <a:p xmlns:a="http://schemas.openxmlformats.org/drawingml/2006/main">
            <a:r>
              <a:t/>
            </a:r>
          </a:p>
          <a:p xmlns:a="http://schemas.openxmlformats.org/drawingml/2006/main">
            <a:r>
              <a:t>[Sources]</a:t>
            </a:r>
          </a:p>
          <a:p xmlns:a="http://schemas.openxmlformats.org/drawingml/2006/main">
            <a:r>
              <a:t>- docs/GEN5_CROSS_SECTIONAL_MARKET_CONTEXT_CANDIDATE_MAP.md</a:t>
            </a:r>
          </a:p>
          <a:p xmlns:a="http://schemas.openxmlformats.org/drawingml/2006/main">
            <a:r>
              <a:t>- docs/GEN5_HYP_REG_01_1_ATR_PERCENT_VOLATILITY_POC_CONTRACT.md</a:t>
            </a:r>
          </a:p>
          <a:p xmlns:a="http://schemas.openxmlformats.org/drawingml/2006/main">
            <a:r>
              <a:t>- docs/GEN5_HYP_REG_01_2_ATR_PERCENT_STRATEGY_OVERLAY_CONTRACT.md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serious alternatives are documented, but only the trend field was opened. The point-in-time constituent version is a data-authority upgrade, not a threshold variation on the ETF proxy.</a:t>
            </a:r>
          </a:p>
          <a:p xmlns:a="http://schemas.openxmlformats.org/drawingml/2006/main">
            <a:r>
              <a:t/>
            </a:r>
          </a:p>
          <a:p xmlns:a="http://schemas.openxmlformats.org/drawingml/2006/main">
            <a:r>
              <a:t>[Sources]</a:t>
            </a:r>
          </a:p>
          <a:p xmlns:a="http://schemas.openxmlformats.org/drawingml/2006/main">
            <a:r>
              <a:t>- docs/GEN5_CROSS_SECTIONAL_MARKET_CONTEXT_CANDIDATE_MAP.md</a:t>
            </a:r>
          </a:p>
          <a:p xmlns:a="http://schemas.openxmlformats.org/drawingml/2006/main">
            <a:r>
              <a:t>- https://www.spglobal.com/spdji/en/research/article/worth-the-weight/</a:t>
            </a:r>
          </a:p>
          <a:p xmlns:a="http://schemas.openxmlformats.org/drawingml/2006/main">
            <a:r>
              <a:t>- https://www.sciencedirect.com/science/article/pii/S1386418115000609</a:t>
            </a:r>
          </a:p>
          <a:p xmlns:a="http://schemas.openxmlformats.org/drawingml/2006/main">
            <a:r>
              <a:t>- https://www.reddit.com/r/algotrading/comments/1rvfy12/comment/oawke1k/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ticker is normalized by its own prior volatility, then summarized within economic group. The four groups receive equal influence so the ten-sector block cannot overwhelm the two international exposures.</a:t>
            </a:r>
          </a:p>
          <a:p xmlns:a="http://schemas.openxmlformats.org/drawingml/2006/main">
            <a:r>
              <a:t/>
            </a:r>
          </a:p>
          <a:p xmlns:a="http://schemas.openxmlformats.org/drawingml/2006/main">
            <a:r>
              <a:t>[Sources]</a:t>
            </a:r>
          </a:p>
          <a:p xmlns:a="http://schemas.openxmlformats.org/drawingml/2006/main">
            <a:r>
              <a:t>- docs/GEN5_HYP_REG_04_1_CROSS_SECTIONAL_TREND_FIELD_CONTRACT.md</a:t>
            </a:r>
          </a:p>
          <a:p xmlns:a="http://schemas.openxmlformats.org/drawingml/2006/main">
            <a:r>
              <a:t>- operator_hypothesis_lab/registries/hyp_reg_04_1_cross_sectional_trend_field_registry.csv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regime descriptor must persist over the intended holding horizon before it is allowed to gate an asset strategy. All-daily effect sizes are supported by non-overlapping offsets, temporal transport, and state-timing controls.</a:t>
            </a:r>
          </a:p>
          <a:p xmlns:a="http://schemas.openxmlformats.org/drawingml/2006/main">
            <a:r>
              <a:t/>
            </a:r>
          </a:p>
          <a:p xmlns:a="http://schemas.openxmlformats.org/drawingml/2006/main">
            <a:r>
              <a:t>[Sources]</a:t>
            </a:r>
          </a:p>
          <a:p xmlns:a="http://schemas.openxmlformats.org/drawingml/2006/main">
            <a:r>
              <a:t>- docs/GEN5_HYP_REG_04_1_CROSS_SECTIONAL_TREND_FIELD_CONTRACT.md</a:t>
            </a:r>
          </a:p>
          <a:p xmlns:a="http://schemas.openxmlformats.org/drawingml/2006/main">
            <a:r>
              <a:t>- C:/Users/Franc/OneDrive/Documents/Francis/Peltata Project/Time-Series-Modeling-Gen5/runs/research_workbench/operator_hypothesis_lab/hyp_reg_04_1_cross_sectional_trend_field_20260814/hyp_reg_04_1_gates.csv</a:t>
            </a:r>
          </a:p>
          <a:p xmlns:a="http://schemas.openxmlformats.org/drawingml/2006/main">
            <a:r>
              <a:t>- C:/Users/Franc/OneDrive/Documents/Francis/Peltata Project/Time-Series-Modeling-Gen5/runs/research_workbench/operator_hypothesis_lab/hyp_reg_04_1_cross_sectional_trend_field_20260814/hyp_reg_04_1_offset_summary.csv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broad-down state had +2.40% median future field return and 78.33% positive participation, versus +0.83% and 60.83% for broad up. This is the opposite of the frozen trend-persistence hypothesis.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Project/Time-Series-Modeling-Gen5/runs/research_workbench/operator_hypothesis_lab/hyp_reg_04_1_cross_sectional_trend_field_20260814/hyp_reg_04_1_state_summary.csv</a:t>
            </a:r>
          </a:p>
          <a:p xmlns:a="http://schemas.openxmlformats.org/drawingml/2006/main">
            <a:r>
              <a:t>- C:/Users/Franc/OneDrive/Documents/Francis/Peltata Project/Time-Series-Modeling-Gen5/runs/research_workbench/operator_hypothesis_lab/hyp_reg_04_1_cross_sectional_trend_field_20260814/hyp_reg_04_1_direction_contrast.csv</a:t>
            </a:r>
          </a:p>
          <a:p xmlns:a="http://schemas.openxmlformats.org/drawingml/2006/main">
            <a:r>
              <a:t>- operator_hypothesis_lab/docs/HYP_REG_04_1_CROSS_SECTIONAL_TREND_FIELD_RESULTS.md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Flow retained the intended positive sign at rho 0.074 but missed its 0.10 gate. Agreement was slightly negatively associated with signed directional persistence. The full positive-health conjunction provided no meaningful advantage over fragile up.</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Project/Time-Series-Modeling-Gen5/runs/research_workbench/operator_hypothesis_lab/hyp_reg_04_1_cross_sectional_trend_field_20260814/hyp_reg_04_1_continuous_summary.csv</a:t>
            </a:r>
          </a:p>
          <a:p xmlns:a="http://schemas.openxmlformats.org/drawingml/2006/main">
            <a:r>
              <a:t>- C:/Users/Franc/OneDrive/Documents/Francis/Peltata Project/Time-Series-Modeling-Gen5/runs/research_workbench/operator_hypothesis_lab/hyp_reg_04_1_cross_sectional_trend_field_20260814/hyp_reg_04_1_health_contrast.csv</a:t>
            </a:r>
          </a:p>
          <a:p xmlns:a="http://schemas.openxmlformats.org/drawingml/2006/main">
            <a:r>
              <a:t>- operator_hypothesis_lab/docs/HYP_REG_04_1_CROSS_SECTIONAL_TREND_FIELD_RESULTS.md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Direction return and participation gaps were negative in both halves. The circular test shows that the observed state timing was unusually contrarian rather than merely noisy. We do not invert the lane after observing that result.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Project/Time-Series-Modeling-Gen5/runs/research_workbench/operator_hypothesis_lab/hyp_reg_04_1_cross_sectional_trend_field_20260814/hyp_reg_04_1_period_summary.csv</a:t>
            </a:r>
          </a:p>
          <a:p xmlns:a="http://schemas.openxmlformats.org/drawingml/2006/main">
            <a:r>
              <a:t>- C:/Users/Franc/OneDrive/Documents/Francis/Peltata Project/Time-Series-Modeling-Gen5/runs/research_workbench/operator_hypothesis_lab/hyp_reg_04_1_cross_sectional_trend_field_20260814/hyp_reg_04_1_calendar_summary.csv</a:t>
            </a:r>
          </a:p>
          <a:p xmlns:a="http://schemas.openxmlformats.org/drawingml/2006/main">
            <a:r>
              <a:t>- C:/Users/Franc/OneDrive/Documents/Francis/Peltata Project/Time-Series-Modeling-Gen5/runs/research_workbench/operator_hypothesis_lab/hyp_reg_04_1_cross_sectional_trend_field_20260814/hyp_reg_04_1_circular_readout.csv</a:t>
            </a:r>
          </a:p>
          <a:p xmlns:a="http://schemas.openxmlformats.org/drawingml/2006/main">
            <a:r>
              <a:t>- C:/Users/Franc/OneDrive/Documents/Francis/Peltata Project/Time-Series-Modeling-Gen5/runs/research_workbench/operator_hypothesis_lab/hyp_reg_04_1_cross_sectional_trend_field_20260814/hyp_reg_04_1_offset_summary.csv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SPY result independently mirrors the field reversal: rho -0.135, AUC approximately chance, and negative broad-up versus broad-down gaps in both temporal halves. This blocks any asset-level interpretation.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Project/Time-Series-Modeling-Gen5/runs/research_workbench/operator_hypothesis_lab/hyp_reg_04_1_cross_sectional_trend_field_20260814/hyp_reg_04_1_state_summary.csv</a:t>
            </a:r>
          </a:p>
          <a:p xmlns:a="http://schemas.openxmlformats.org/drawingml/2006/main">
            <a:r>
              <a:t>- C:/Users/Franc/OneDrive/Documents/Francis/Peltata Project/Time-Series-Modeling-Gen5/runs/research_workbench/operator_hypothesis_lab/hyp_reg_04_1_cross_sectional_trend_field_20260814/hyp_reg_04_1_continuous_summary.csv</a:t>
            </a:r>
          </a:p>
          <a:p xmlns:a="http://schemas.openxmlformats.org/drawingml/2006/main">
            <a:r>
              <a:t>- C:/Users/Franc/OneDrive/Documents/Francis/Peltata Project/Time-Series-Modeling-Gen5/runs/research_workbench/operator_hypothesis_lab/hyp_reg_04_1_cross_sectional_trend_field_20260814/hyp_reg_04_1_period_summary.csv</a:t>
            </a:r>
          </a:p>
          <a:p xmlns:a="http://schemas.openxmlformats.org/drawingml/2006/main">
            <a:r>
              <a:t>- operator_hypothesis_lab/docs/HYP_REG_04_1_CROSS_SECTIONAL_TREND_FIELD_RESULTS.md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separating architecture from implementation. The concept of a market context axis beside per-asset ATR% remains coherent, but this exact 24-ETF, 20/60, H20 field failed every predictive and transport gate.</a:t>
            </a:r>
          </a:p>
          <a:p xmlns:a="http://schemas.openxmlformats.org/drawingml/2006/main">
            <a:r>
              <a:t/>
            </a:r>
          </a:p>
          <a:p xmlns:a="http://schemas.openxmlformats.org/drawingml/2006/main">
            <a:r>
              <a:t>[Sources]</a:t>
            </a:r>
          </a:p>
          <a:p xmlns:a="http://schemas.openxmlformats.org/drawingml/2006/main">
            <a:r>
              <a:t>- operator_hypothesis_lab/docs/HYP_REG_04_1_CROSS_SECTIONAL_TREND_FIELD_RESULTS.md</a:t>
            </a:r>
          </a:p>
          <a:p xmlns:a="http://schemas.openxmlformats.org/drawingml/2006/main">
            <a:r>
              <a:t>- docs/GEN5_CROSS_SECTIONAL_MARKET_CONTEXT_CANDIDATE_MAP.md</a:t>
            </a:r>
          </a:p>
          <a:p xmlns:a="http://schemas.openxmlformats.org/drawingml/2006/main">
            <a:r>
              <a:t>- docs/GEN5_HYP_REG_04_1_CROSS_SECTIONAL_TREND_FIELD_CONTRACT.md</a:t>
            </a:r>
          </a:p>
          <a:p xmlns:a="http://schemas.openxmlformats.org/drawingml/2006/main">
            <a:r>
              <a:t>- docs/GEN5_4_DECISION_DIALOGUE_INDEX.md#d132</a:t>
            </a:r>
          </a:p>
          <a:p xmlns:a="http://schemas.openxmlformats.org/drawingml/2006/main">
            <a:r>
              <a:t>- https://www.spglobal.com/spdji/en/research/article/worth-the-weight/</a:t>
            </a:r>
          </a:p>
          <a:p xmlns:a="http://schemas.openxmlformats.org/drawingml/2006/main">
            <a:r>
              <a:t>- https://www.sciencedirect.com/science/article/pii/S1386418115000609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d1bc4c6ebb4c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aa18391ddb4b12" /><Relationship Type="http://schemas.openxmlformats.org/officeDocument/2006/relationships/slideLayout" Target="/ppt/slideLayouts/slideLayout1.xml" Id="R3dbd4a33251c4b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bd4a33251c4b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0dd7e82f52947ac" /><Relationship Type="http://schemas.openxmlformats.org/officeDocument/2006/relationships/image" Target="/ppt/media/image.png" Id="Rbb99fc7cc3b94eee" /><Relationship Type="http://schemas.openxmlformats.org/officeDocument/2006/relationships/notesSlide" Target="/ppt/notesSlides/notesSlide1.xml" Id="R901d7943d3e94e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6cb71f9c58640d1" /><Relationship Type="http://schemas.openxmlformats.org/officeDocument/2006/relationships/notesSlide" Target="/ppt/notesSlides/notesSlide2.xml" Id="R6b1d69c0f0e841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26c8ed782b1423d" /><Relationship Type="http://schemas.openxmlformats.org/officeDocument/2006/relationships/notesSlide" Target="/ppt/notesSlides/notesSlide3.xml" Id="R18b8b25247dc46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9aa904cefe84979" /><Relationship Type="http://schemas.openxmlformats.org/officeDocument/2006/relationships/notesSlide" Target="/ppt/notesSlides/notesSlide4.xml" Id="Rac1a4075ddb842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cb8a33277f463a" /><Relationship Type="http://schemas.openxmlformats.org/officeDocument/2006/relationships/notesSlide" Target="/ppt/notesSlides/notesSlide5.xml" Id="Ra7f89b100e9e48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933975c35304428" /><Relationship Type="http://schemas.openxmlformats.org/officeDocument/2006/relationships/image" Target="/ppt/media/image2.png" Id="R189c41bc495b4448" /><Relationship Type="http://schemas.openxmlformats.org/officeDocument/2006/relationships/notesSlide" Target="/ppt/notesSlides/notesSlide6.xml" Id="Rf517f5c65c2b43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a2c72f91f824c7d" /><Relationship Type="http://schemas.openxmlformats.org/officeDocument/2006/relationships/image" Target="/ppt/media/image3.png" Id="R2cb53f6f7bdb4970" /><Relationship Type="http://schemas.openxmlformats.org/officeDocument/2006/relationships/notesSlide" Target="/ppt/notesSlides/notesSlide7.xml" Id="R8666b9aaa8f94e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bc30dcbe9c84329" /><Relationship Type="http://schemas.openxmlformats.org/officeDocument/2006/relationships/image" Target="/ppt/media/image4.png" Id="R7a087f5c410c4181" /><Relationship Type="http://schemas.openxmlformats.org/officeDocument/2006/relationships/notesSlide" Target="/ppt/notesSlides/notesSlide8.xml" Id="R26225fd6f11641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97567baad1648c1" /><Relationship Type="http://schemas.openxmlformats.org/officeDocument/2006/relationships/image" Target="/ppt/media/image5.png" Id="R98626c07e7664053" /><Relationship Type="http://schemas.openxmlformats.org/officeDocument/2006/relationships/notesSlide" Target="/ppt/notesSlides/notesSlide9.xml" Id="Re5b1d35873cf4c5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21c12e2d1274fab" /><Relationship Type="http://schemas.openxmlformats.org/officeDocument/2006/relationships/notesSlide" Target="/ppt/notesSlides/notesSlide10.xml" Id="R0ef6dcb3d798414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7BA6306-8A4B-4EAD-B53F-48CBEC286D80}"/>
              </a:ext>
            </a:extLst>
          </p:cNvPr>
          <p:cNvSpPr>
            <a:spLocks xmlns:a="http://schemas.openxmlformats.org/drawingml/2006/main" noGrp="1"/>
          </p:cNvSpPr>
          <p:nvPr/>
        </p:nvSpPr>
        <p:spPr>
          <a:xfrm xmlns:a="http://schemas.openxmlformats.org/drawingml/2006/main">
            <a:off x="476250" y="40005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HYP-REG-04.1</a:t>
            </a:r>
          </a:p>
        </p:txBody>
      </p:sp>
      <p:sp>
        <p:nvSpPr>
          <p:cNvPr id="2" name="">
            <a:extLst xmlns:a="http://schemas.openxmlformats.org/drawingml/2006/main">
              <a:ext uri="{FF2B5EF4-FFF2-40B4-BE49-F238E27FC236}">
                <a16:creationId xmlns:a16="http://schemas.microsoft.com/office/drawing/2014/main" id="{6F3E1E13-A7BA-46CB-970A-68CC308A91B3}"/>
              </a:ext>
            </a:extLst>
          </p:cNvPr>
          <p:cNvSpPr>
            <a:spLocks xmlns:a="http://schemas.openxmlformats.org/drawingml/2006/main" noGrp="1"/>
          </p:cNvSpPr>
          <p:nvPr/>
        </p:nvSpPr>
        <p:spPr>
          <a:xfrm xmlns:a="http://schemas.openxmlformats.org/drawingml/2006/main">
            <a:off x="476250" y="1143000"/>
            <a:ext cx="5286375"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750" b="1">
                <a:solidFill>
                  <a:srgbClr val="17324D"/>
                </a:solidFill>
              </a:defRPr>
            </a:pPr>
            <a:r>
              <a:rPr sz="3750" b="1">
                <a:solidFill>
                  <a:srgbClr val="17324D"/>
                </a:solidFill>
              </a:rPr>
              <a:t>A market trend field is not yet a usable asset filter</a:t>
            </a:r>
          </a:p>
        </p:txBody>
      </p:sp>
      <p:sp>
        <p:nvSpPr>
          <p:cNvPr id="3" name="">
            <a:extLst xmlns:a="http://schemas.openxmlformats.org/drawingml/2006/main">
              <a:ext uri="{FF2B5EF4-FFF2-40B4-BE49-F238E27FC236}">
                <a16:creationId xmlns:a16="http://schemas.microsoft.com/office/drawing/2014/main" id="{D5FE40BB-05DB-415E-8111-6097B67512D6}"/>
              </a:ext>
            </a:extLst>
          </p:cNvPr>
          <p:cNvSpPr>
            <a:spLocks xmlns:a="http://schemas.openxmlformats.org/drawingml/2006/main" noGrp="1"/>
          </p:cNvSpPr>
          <p:nvPr/>
        </p:nvSpPr>
        <p:spPr>
          <a:xfrm xmlns:a="http://schemas.openxmlformats.org/drawingml/2006/main">
            <a:off x="476250" y="3714750"/>
            <a:ext cx="5143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2606D"/>
                </a:solidFill>
              </a:defRPr>
            </a:pPr>
            <a:r>
              <a:rPr sz="1575" b="0">
                <a:solidFill>
                  <a:srgbClr val="52606D"/>
                </a:solidFill>
              </a:rPr>
              <a:t>24 ETFs · four equal economic groups · direction, participation, agreement, and flow</a:t>
            </a:r>
          </a:p>
        </p:txBody>
      </p:sp>
      <p:sp>
        <p:nvSpPr>
          <p:cNvPr id="4" name="">
            <a:extLst xmlns:a="http://schemas.openxmlformats.org/drawingml/2006/main">
              <a:ext uri="{FF2B5EF4-FFF2-40B4-BE49-F238E27FC236}">
                <a16:creationId xmlns:a16="http://schemas.microsoft.com/office/drawing/2014/main" id="{32DC6ACF-977D-4B24-B8C4-0A904CA8F556}"/>
              </a:ext>
            </a:extLst>
          </p:cNvPr>
          <p:cNvSpPr>
            <a:spLocks xmlns:a="http://schemas.openxmlformats.org/drawingml/2006/main" noGrp="1"/>
          </p:cNvSpPr>
          <p:nvPr/>
        </p:nvSpPr>
        <p:spPr>
          <a:xfrm xmlns:a="http://schemas.openxmlformats.org/drawingml/2006/main">
            <a:off x="476250" y="5048250"/>
            <a:ext cx="5095875" cy="74295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B30F9EB-8E29-49D6-BD62-8617B5D4611F}"/>
              </a:ext>
            </a:extLst>
          </p:cNvPr>
          <p:cNvSpPr>
            <a:spLocks xmlns:a="http://schemas.openxmlformats.org/drawingml/2006/main" noGrp="1"/>
          </p:cNvSpPr>
          <p:nvPr/>
        </p:nvSpPr>
        <p:spPr>
          <a:xfrm xmlns:a="http://schemas.openxmlformats.org/drawingml/2006/main">
            <a:off x="742950" y="5248275"/>
            <a:ext cx="457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D95F59"/>
                </a:solidFill>
              </a:defRPr>
            </a:pPr>
            <a:r>
              <a:rPr sz="1800" b="1">
                <a:solidFill>
                  <a:srgbClr val="D95F59"/>
                </a:solidFill>
              </a:rPr>
              <a:t>STOP · 1 of 9 gates passed</a:t>
            </a:r>
          </a:p>
        </p:txBody>
      </p:sp>
      <p:sp>
        <p:nvSpPr>
          <p:cNvPr id="6" name="">
            <a:extLst xmlns:a="http://schemas.openxmlformats.org/drawingml/2006/main">
              <a:ext uri="{FF2B5EF4-FFF2-40B4-BE49-F238E27FC236}">
                <a16:creationId xmlns:a16="http://schemas.microsoft.com/office/drawing/2014/main" id="{516CF40E-817C-48A9-B87E-8D4F5B437C0D}"/>
              </a:ext>
            </a:extLst>
          </p:cNvPr>
          <p:cNvSpPr>
            <a:spLocks xmlns:a="http://schemas.openxmlformats.org/drawingml/2006/main" noGrp="1"/>
          </p:cNvSpPr>
          <p:nvPr/>
        </p:nvSpPr>
        <p:spPr>
          <a:xfrm xmlns:a="http://schemas.openxmlformats.org/drawingml/2006/main">
            <a:off x="6096000" y="419100"/>
            <a:ext cx="5619750" cy="56197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b99fc7cc3b94eee"/>
          <a:stretch xmlns:a="http://schemas.openxmlformats.org/drawingml/2006/main"/>
        </p:blipFill>
        <p:spPr>
          <a:xfrm xmlns:a="http://schemas.openxmlformats.org/drawingml/2006/main">
            <a:off x="6096000" y="788820"/>
            <a:ext cx="5619750" cy="4880309"/>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0A5D9B5-4F16-4F57-A76D-AC3517216577}"/>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a:t>
            </a:r>
          </a:p>
        </p:txBody>
      </p:sp>
    </p:spTree>
    <p:extLst>
      <p:ext uri="{BB962C8B-B14F-4D97-AF65-F5344CB8AC3E}">
        <p14:creationId xmlns:p14="http://schemas.microsoft.com/office/powerpoint/2010/main" val="97231824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A9DAE3B-A26D-4008-9706-546813586430}"/>
              </a:ext>
            </a:extLst>
          </p:cNvPr>
          <p:cNvSpPr>
            <a:spLocks xmlns:a="http://schemas.openxmlformats.org/drawingml/2006/main" noGrp="1"/>
          </p:cNvSpPr>
          <p:nvPr/>
        </p:nvSpPr>
        <p:spPr>
          <a:xfrm xmlns:a="http://schemas.openxmlformats.org/drawingml/2006/main">
            <a:off x="476250" y="266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EVENTUAL REGIME ARCHITECTURE</a:t>
            </a:r>
          </a:p>
        </p:txBody>
      </p:sp>
      <p:sp>
        <p:nvSpPr>
          <p:cNvPr id="2" name="">
            <a:extLst xmlns:a="http://schemas.openxmlformats.org/drawingml/2006/main">
              <a:ext uri="{FF2B5EF4-FFF2-40B4-BE49-F238E27FC236}">
                <a16:creationId xmlns:a16="http://schemas.microsoft.com/office/drawing/2014/main" id="{2477270E-EE88-43CF-BC96-0FADC6ED3631}"/>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SPY is a validation surface—not the final operating asset</a:t>
            </a:r>
          </a:p>
        </p:txBody>
      </p:sp>
      <p:sp>
        <p:nvSpPr>
          <p:cNvPr id="3" name="">
            <a:extLst xmlns:a="http://schemas.openxmlformats.org/drawingml/2006/main">
              <a:ext uri="{FF2B5EF4-FFF2-40B4-BE49-F238E27FC236}">
                <a16:creationId xmlns:a16="http://schemas.microsoft.com/office/drawing/2014/main" id="{2FFB16A8-2ECD-42E6-BC6C-5B4D79E73E87}"/>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2</a:t>
            </a:r>
          </a:p>
        </p:txBody>
      </p:sp>
      <p:sp>
        <p:nvSpPr>
          <p:cNvPr id="4" name="">
            <a:extLst xmlns:a="http://schemas.openxmlformats.org/drawingml/2006/main">
              <a:ext uri="{FF2B5EF4-FFF2-40B4-BE49-F238E27FC236}">
                <a16:creationId xmlns:a16="http://schemas.microsoft.com/office/drawing/2014/main" id="{2FEA45AB-9272-4243-8E69-22EB63A4007E}"/>
              </a:ext>
            </a:extLst>
          </p:cNvPr>
          <p:cNvSpPr>
            <a:spLocks xmlns:a="http://schemas.openxmlformats.org/drawingml/2006/main" noGrp="1"/>
          </p:cNvSpPr>
          <p:nvPr/>
        </p:nvSpPr>
        <p:spPr>
          <a:xfrm xmlns:a="http://schemas.openxmlformats.org/drawingml/2006/main">
            <a:off x="523875" y="138112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7324D"/>
                </a:solidFill>
              </a:defRPr>
            </a:pPr>
            <a:r>
              <a:rPr sz="2025" b="1">
                <a:solidFill>
                  <a:srgbClr val="17324D"/>
                </a:solidFill>
              </a:rPr>
              <a:t>A future TSLA or AMD decision would require three different authorities.</a:t>
            </a:r>
          </a:p>
        </p:txBody>
      </p:sp>
      <p:sp>
        <p:nvSpPr>
          <p:cNvPr id="5" name="">
            <a:extLst xmlns:a="http://schemas.openxmlformats.org/drawingml/2006/main">
              <a:ext uri="{FF2B5EF4-FFF2-40B4-BE49-F238E27FC236}">
                <a16:creationId xmlns:a16="http://schemas.microsoft.com/office/drawing/2014/main" id="{E44A9ED3-AEE8-4162-A507-6692C33B2EE4}"/>
              </a:ext>
            </a:extLst>
          </p:cNvPr>
          <p:cNvSpPr>
            <a:spLocks xmlns:a="http://schemas.openxmlformats.org/drawingml/2006/main" noGrp="1"/>
          </p:cNvSpPr>
          <p:nvPr/>
        </p:nvSpPr>
        <p:spPr>
          <a:xfrm xmlns:a="http://schemas.openxmlformats.org/drawingml/2006/main">
            <a:off x="523875" y="2714625"/>
            <a:ext cx="3143250" cy="1952625"/>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1A151F8-F70A-4D4E-9380-CE8A2C9ED3FA}"/>
              </a:ext>
            </a:extLst>
          </p:cNvPr>
          <p:cNvSpPr>
            <a:spLocks xmlns:a="http://schemas.openxmlformats.org/drawingml/2006/main" noGrp="1"/>
          </p:cNvSpPr>
          <p:nvPr/>
        </p:nvSpPr>
        <p:spPr>
          <a:xfrm xmlns:a="http://schemas.openxmlformats.org/drawingml/2006/main">
            <a:off x="790575" y="3048000"/>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3D8DFF"/>
                </a:solidFill>
              </a:defRPr>
            </a:pPr>
            <a:r>
              <a:rPr sz="1875" b="1">
                <a:solidFill>
                  <a:srgbClr val="3D8DFF"/>
                </a:solidFill>
              </a:rPr>
              <a:t>Market trend field</a:t>
            </a:r>
          </a:p>
        </p:txBody>
      </p:sp>
      <p:sp>
        <p:nvSpPr>
          <p:cNvPr id="7" name="">
            <a:extLst xmlns:a="http://schemas.openxmlformats.org/drawingml/2006/main">
              <a:ext uri="{FF2B5EF4-FFF2-40B4-BE49-F238E27FC236}">
                <a16:creationId xmlns:a16="http://schemas.microsoft.com/office/drawing/2014/main" id="{FD4BCDAA-3AFC-49E0-A6C9-DBF78CC14528}"/>
              </a:ext>
            </a:extLst>
          </p:cNvPr>
          <p:cNvSpPr>
            <a:spLocks xmlns:a="http://schemas.openxmlformats.org/drawingml/2006/main" noGrp="1"/>
          </p:cNvSpPr>
          <p:nvPr/>
        </p:nvSpPr>
        <p:spPr>
          <a:xfrm xmlns:a="http://schemas.openxmlformats.org/drawingml/2006/main">
            <a:off x="790575" y="3762375"/>
            <a:ext cx="2619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Broad direction and health</a:t>
            </a:r>
          </a:p>
          <a:p xmlns:a="http://schemas.openxmlformats.org/drawingml/2006/main">
            <a:pPr algn="l">
              <a:defRPr sz="1500" b="0">
                <a:solidFill>
                  <a:srgbClr val="52606D"/>
                </a:solidFill>
              </a:defRPr>
            </a:pPr>
            <a:r>
              <a:rPr sz="1500" b="0">
                <a:solidFill>
                  <a:srgbClr val="52606D"/>
                </a:solidFill>
              </a:rPr>
              <a:t>shared across the equity tape</a:t>
            </a:r>
          </a:p>
        </p:txBody>
      </p:sp>
      <p:sp>
        <p:nvSpPr>
          <p:cNvPr id="8" name="">
            <a:extLst xmlns:a="http://schemas.openxmlformats.org/drawingml/2006/main">
              <a:ext uri="{FF2B5EF4-FFF2-40B4-BE49-F238E27FC236}">
                <a16:creationId xmlns:a16="http://schemas.microsoft.com/office/drawing/2014/main" id="{6AB7E7EA-B78D-4E5A-9CDD-831DDA1EF359}"/>
              </a:ext>
            </a:extLst>
          </p:cNvPr>
          <p:cNvSpPr>
            <a:spLocks xmlns:a="http://schemas.openxmlformats.org/drawingml/2006/main" noGrp="1"/>
          </p:cNvSpPr>
          <p:nvPr/>
        </p:nvSpPr>
        <p:spPr>
          <a:xfrm xmlns:a="http://schemas.openxmlformats.org/drawingml/2006/main">
            <a:off x="4381500" y="2714625"/>
            <a:ext cx="3143250" cy="1952625"/>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A94CF3A-9F96-469F-8A8E-07271EE63ADC}"/>
              </a:ext>
            </a:extLst>
          </p:cNvPr>
          <p:cNvSpPr>
            <a:spLocks xmlns:a="http://schemas.openxmlformats.org/drawingml/2006/main" noGrp="1"/>
          </p:cNvSpPr>
          <p:nvPr/>
        </p:nvSpPr>
        <p:spPr>
          <a:xfrm xmlns:a="http://schemas.openxmlformats.org/drawingml/2006/main">
            <a:off x="4648200" y="3048000"/>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F2A65A"/>
                </a:solidFill>
              </a:defRPr>
            </a:pPr>
            <a:r>
              <a:rPr sz="1875" b="1">
                <a:solidFill>
                  <a:srgbClr val="F2A65A"/>
                </a:solidFill>
              </a:rPr>
              <a:t>Asset-relative ATR%</a:t>
            </a:r>
          </a:p>
        </p:txBody>
      </p:sp>
      <p:sp>
        <p:nvSpPr>
          <p:cNvPr id="10" name="">
            <a:extLst xmlns:a="http://schemas.openxmlformats.org/drawingml/2006/main">
              <a:ext uri="{FF2B5EF4-FFF2-40B4-BE49-F238E27FC236}">
                <a16:creationId xmlns:a16="http://schemas.microsoft.com/office/drawing/2014/main" id="{25D8EDB3-F78E-48E6-B44F-B743F7752A79}"/>
              </a:ext>
            </a:extLst>
          </p:cNvPr>
          <p:cNvSpPr>
            <a:spLocks xmlns:a="http://schemas.openxmlformats.org/drawingml/2006/main" noGrp="1"/>
          </p:cNvSpPr>
          <p:nvPr/>
        </p:nvSpPr>
        <p:spPr>
          <a:xfrm xmlns:a="http://schemas.openxmlformats.org/drawingml/2006/main">
            <a:off x="4648200" y="3762375"/>
            <a:ext cx="2619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Low / medium / high</a:t>
            </a:r>
          </a:p>
          <a:p xmlns:a="http://schemas.openxmlformats.org/drawingml/2006/main">
            <a:pPr algn="l">
              <a:defRPr sz="1500" b="0">
                <a:solidFill>
                  <a:srgbClr val="52606D"/>
                </a:solidFill>
              </a:defRPr>
            </a:pPr>
            <a:r>
              <a:rPr sz="1500" b="0">
                <a:solidFill>
                  <a:srgbClr val="52606D"/>
                </a:solidFill>
              </a:rPr>
              <a:t>movement magnitude for TSLA</a:t>
            </a:r>
          </a:p>
        </p:txBody>
      </p:sp>
      <p:sp>
        <p:nvSpPr>
          <p:cNvPr id="11" name="">
            <a:extLst xmlns:a="http://schemas.openxmlformats.org/drawingml/2006/main">
              <a:ext uri="{FF2B5EF4-FFF2-40B4-BE49-F238E27FC236}">
                <a16:creationId xmlns:a16="http://schemas.microsoft.com/office/drawing/2014/main" id="{44CE2ED2-CF34-4199-ABBC-C5DF3366F8DE}"/>
              </a:ext>
            </a:extLst>
          </p:cNvPr>
          <p:cNvSpPr>
            <a:spLocks xmlns:a="http://schemas.openxmlformats.org/drawingml/2006/main" noGrp="1"/>
          </p:cNvSpPr>
          <p:nvPr/>
        </p:nvSpPr>
        <p:spPr>
          <a:xfrm xmlns:a="http://schemas.openxmlformats.org/drawingml/2006/main">
            <a:off x="8239125" y="2714625"/>
            <a:ext cx="3143250" cy="1952625"/>
          </a:xfrm>
          <a:prstGeom xmlns:a="http://schemas.openxmlformats.org/drawingml/2006/main" prst="rect">
            <a:avLst/>
          </a:prstGeom>
          <a:solidFill xmlns:a="http://schemas.openxmlformats.org/drawingml/2006/main">
            <a:srgbClr val="E8F4E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4DBBA05-5A32-4FE6-98CB-4AF0834EAEA9}"/>
              </a:ext>
            </a:extLst>
          </p:cNvPr>
          <p:cNvSpPr>
            <a:spLocks xmlns:a="http://schemas.openxmlformats.org/drawingml/2006/main" noGrp="1"/>
          </p:cNvSpPr>
          <p:nvPr/>
        </p:nvSpPr>
        <p:spPr>
          <a:xfrm xmlns:a="http://schemas.openxmlformats.org/drawingml/2006/main">
            <a:off x="8505825" y="3048000"/>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2E8B57"/>
                </a:solidFill>
              </a:defRPr>
            </a:pPr>
            <a:r>
              <a:rPr sz="1875" b="1">
                <a:solidFill>
                  <a:srgbClr val="2E8B57"/>
                </a:solidFill>
              </a:rPr>
              <a:t>Unchanged asset signal</a:t>
            </a:r>
          </a:p>
        </p:txBody>
      </p:sp>
      <p:sp>
        <p:nvSpPr>
          <p:cNvPr id="13" name="">
            <a:extLst xmlns:a="http://schemas.openxmlformats.org/drawingml/2006/main">
              <a:ext uri="{FF2B5EF4-FFF2-40B4-BE49-F238E27FC236}">
                <a16:creationId xmlns:a16="http://schemas.microsoft.com/office/drawing/2014/main" id="{CCA1804F-BB87-4520-BA8F-9DF248D2AAF5}"/>
              </a:ext>
            </a:extLst>
          </p:cNvPr>
          <p:cNvSpPr>
            <a:spLocks xmlns:a="http://schemas.openxmlformats.org/drawingml/2006/main" noGrp="1"/>
          </p:cNvSpPr>
          <p:nvPr/>
        </p:nvSpPr>
        <p:spPr>
          <a:xfrm xmlns:a="http://schemas.openxmlformats.org/drawingml/2006/main">
            <a:off x="8505825" y="3762375"/>
            <a:ext cx="2619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The strategy still creates</a:t>
            </a:r>
          </a:p>
          <a:p xmlns:a="http://schemas.openxmlformats.org/drawingml/2006/main">
            <a:pPr algn="l">
              <a:defRPr sz="1500" b="0">
                <a:solidFill>
                  <a:srgbClr val="52606D"/>
                </a:solidFill>
              </a:defRPr>
            </a:pPr>
            <a:r>
              <a:rPr sz="1500" b="0">
                <a:solidFill>
                  <a:srgbClr val="52606D"/>
                </a:solidFill>
              </a:rPr>
              <a:t>entry and exit timing</a:t>
            </a:r>
          </a:p>
        </p:txBody>
      </p:sp>
      <p:sp>
        <p:nvSpPr>
          <p:cNvPr id="14" name="">
            <a:extLst xmlns:a="http://schemas.openxmlformats.org/drawingml/2006/main">
              <a:ext uri="{FF2B5EF4-FFF2-40B4-BE49-F238E27FC236}">
                <a16:creationId xmlns:a16="http://schemas.microsoft.com/office/drawing/2014/main" id="{7AD6A8BE-DBF1-4C4C-9907-6428C9181BAD}"/>
              </a:ext>
            </a:extLst>
          </p:cNvPr>
          <p:cNvSpPr>
            <a:spLocks xmlns:a="http://schemas.openxmlformats.org/drawingml/2006/main" noGrp="1"/>
          </p:cNvSpPr>
          <p:nvPr/>
        </p:nvSpPr>
        <p:spPr>
          <a:xfrm xmlns:a="http://schemas.openxmlformats.org/drawingml/2006/main">
            <a:off x="3781425" y="3333750"/>
            <a:ext cx="38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150" b="1">
                <a:solidFill>
                  <a:srgbClr val="52606D"/>
                </a:solidFill>
              </a:defRPr>
            </a:pPr>
            <a:r>
              <a:rPr sz="3150" b="1">
                <a:solidFill>
                  <a:srgbClr val="52606D"/>
                </a:solidFill>
              </a:rPr>
              <a:t>×</a:t>
            </a:r>
          </a:p>
        </p:txBody>
      </p:sp>
      <p:sp>
        <p:nvSpPr>
          <p:cNvPr id="15" name="">
            <a:extLst xmlns:a="http://schemas.openxmlformats.org/drawingml/2006/main">
              <a:ext uri="{FF2B5EF4-FFF2-40B4-BE49-F238E27FC236}">
                <a16:creationId xmlns:a16="http://schemas.microsoft.com/office/drawing/2014/main" id="{E0AADFEE-2BBB-4A96-A5A8-E117D647F052}"/>
              </a:ext>
            </a:extLst>
          </p:cNvPr>
          <p:cNvSpPr>
            <a:spLocks xmlns:a="http://schemas.openxmlformats.org/drawingml/2006/main" noGrp="1"/>
          </p:cNvSpPr>
          <p:nvPr/>
        </p:nvSpPr>
        <p:spPr>
          <a:xfrm xmlns:a="http://schemas.openxmlformats.org/drawingml/2006/main">
            <a:off x="7639050" y="3333750"/>
            <a:ext cx="38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3150" b="1">
                <a:solidFill>
                  <a:srgbClr val="52606D"/>
                </a:solidFill>
              </a:defRPr>
            </a:pPr>
            <a:r>
              <a:rPr sz="3150" b="1">
                <a:solidFill>
                  <a:srgbClr val="52606D"/>
                </a:solidFill>
              </a:rPr>
              <a:t>×</a:t>
            </a:r>
          </a:p>
        </p:txBody>
      </p:sp>
      <p:sp>
        <p:nvSpPr>
          <p:cNvPr id="16" name="">
            <a:extLst xmlns:a="http://schemas.openxmlformats.org/drawingml/2006/main">
              <a:ext uri="{FF2B5EF4-FFF2-40B4-BE49-F238E27FC236}">
                <a16:creationId xmlns:a16="http://schemas.microsoft.com/office/drawing/2014/main" id="{9797AAE8-3783-4180-A2A2-8BA211BECD4D}"/>
              </a:ext>
            </a:extLst>
          </p:cNvPr>
          <p:cNvSpPr>
            <a:spLocks xmlns:a="http://schemas.openxmlformats.org/drawingml/2006/main" noGrp="1"/>
          </p:cNvSpPr>
          <p:nvPr/>
        </p:nvSpPr>
        <p:spPr>
          <a:xfrm xmlns:a="http://schemas.openxmlformats.org/drawingml/2006/main">
            <a:off x="1714500" y="5286375"/>
            <a:ext cx="8763000" cy="68580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1AE183A-45C6-41B8-A9A7-99738F9796EF}"/>
              </a:ext>
            </a:extLst>
          </p:cNvPr>
          <p:cNvSpPr>
            <a:spLocks xmlns:a="http://schemas.openxmlformats.org/drawingml/2006/main" noGrp="1"/>
          </p:cNvSpPr>
          <p:nvPr/>
        </p:nvSpPr>
        <p:spPr>
          <a:xfrm xmlns:a="http://schemas.openxmlformats.org/drawingml/2006/main">
            <a:off x="2047875" y="5486400"/>
            <a:ext cx="809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17202A"/>
                </a:solidFill>
              </a:defRPr>
            </a:pPr>
            <a:r>
              <a:rPr sz="1650" b="1">
                <a:solidFill>
                  <a:srgbClr val="17202A"/>
                </a:solidFill>
              </a:rPr>
              <a:t>Only a later unchanged-strategy overlay can validate asset decisions.</a:t>
            </a:r>
          </a:p>
        </p:txBody>
      </p:sp>
    </p:spTree>
    <p:extLst>
      <p:ext uri="{BB962C8B-B14F-4D97-AF65-F5344CB8AC3E}">
        <p14:creationId xmlns:p14="http://schemas.microsoft.com/office/powerpoint/2010/main" val="21457260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5469CB0-D338-4089-A409-99248837F843}"/>
              </a:ext>
            </a:extLst>
          </p:cNvPr>
          <p:cNvSpPr>
            <a:spLocks xmlns:a="http://schemas.openxmlformats.org/drawingml/2006/main" noGrp="1"/>
          </p:cNvSpPr>
          <p:nvPr/>
        </p:nvSpPr>
        <p:spPr>
          <a:xfrm xmlns:a="http://schemas.openxmlformats.org/drawingml/2006/main">
            <a:off x="476250" y="266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CANDIDATE MAP</a:t>
            </a:r>
          </a:p>
        </p:txBody>
      </p:sp>
      <p:sp>
        <p:nvSpPr>
          <p:cNvPr id="2" name="">
            <a:extLst xmlns:a="http://schemas.openxmlformats.org/drawingml/2006/main">
              <a:ext uri="{FF2B5EF4-FFF2-40B4-BE49-F238E27FC236}">
                <a16:creationId xmlns:a16="http://schemas.microsoft.com/office/drawing/2014/main" id="{CC580C63-EE79-4490-96F6-B7B911736EF1}"/>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Four compelling multi-asset directions remain conceptually distinct</a:t>
            </a:r>
          </a:p>
        </p:txBody>
      </p:sp>
      <p:sp>
        <p:nvSpPr>
          <p:cNvPr id="3" name="">
            <a:extLst xmlns:a="http://schemas.openxmlformats.org/drawingml/2006/main">
              <a:ext uri="{FF2B5EF4-FFF2-40B4-BE49-F238E27FC236}">
                <a16:creationId xmlns:a16="http://schemas.microsoft.com/office/drawing/2014/main" id="{763128A2-EAC9-43C1-8D31-7A141ADC3FDF}"/>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3</a:t>
            </a:r>
          </a:p>
        </p:txBody>
      </p:sp>
      <p:sp>
        <p:nvSpPr>
          <p:cNvPr id="4" name="">
            <a:extLst xmlns:a="http://schemas.openxmlformats.org/drawingml/2006/main">
              <a:ext uri="{FF2B5EF4-FFF2-40B4-BE49-F238E27FC236}">
                <a16:creationId xmlns:a16="http://schemas.microsoft.com/office/drawing/2014/main" id="{8AE317FA-2D82-4F36-A927-2A7EA71C8EF2}"/>
              </a:ext>
            </a:extLst>
          </p:cNvPr>
          <p:cNvSpPr>
            <a:spLocks xmlns:a="http://schemas.openxmlformats.org/drawingml/2006/main" noGrp="1"/>
          </p:cNvSpPr>
          <p:nvPr/>
        </p:nvSpPr>
        <p:spPr>
          <a:xfrm xmlns:a="http://schemas.openxmlformats.org/drawingml/2006/main">
            <a:off x="523875" y="1476375"/>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3D8DFF"/>
                </a:solidFill>
              </a:defRPr>
            </a:pPr>
            <a:r>
              <a:rPr sz="1875" b="1">
                <a:solidFill>
                  <a:srgbClr val="3D8DFF"/>
                </a:solidFill>
              </a:rPr>
              <a:t>04.1 · Trend field</a:t>
            </a:r>
          </a:p>
        </p:txBody>
      </p:sp>
      <p:sp>
        <p:nvSpPr>
          <p:cNvPr id="5" name="">
            <a:extLst xmlns:a="http://schemas.openxmlformats.org/drawingml/2006/main">
              <a:ext uri="{FF2B5EF4-FFF2-40B4-BE49-F238E27FC236}">
                <a16:creationId xmlns:a16="http://schemas.microsoft.com/office/drawing/2014/main" id="{DD69115D-758C-4EC9-A3B6-E336BAB60488}"/>
              </a:ext>
            </a:extLst>
          </p:cNvPr>
          <p:cNvSpPr>
            <a:spLocks xmlns:a="http://schemas.openxmlformats.org/drawingml/2006/main" noGrp="1"/>
          </p:cNvSpPr>
          <p:nvPr/>
        </p:nvSpPr>
        <p:spPr>
          <a:xfrm xmlns:a="http://schemas.openxmlformats.org/drawingml/2006/main">
            <a:off x="523875" y="2000250"/>
            <a:ext cx="4857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Current configuration and flow across stable ETF exposures.</a:t>
            </a:r>
          </a:p>
        </p:txBody>
      </p:sp>
      <p:sp>
        <p:nvSpPr>
          <p:cNvPr id="6" name="">
            <a:extLst xmlns:a="http://schemas.openxmlformats.org/drawingml/2006/main">
              <a:ext uri="{FF2B5EF4-FFF2-40B4-BE49-F238E27FC236}">
                <a16:creationId xmlns:a16="http://schemas.microsoft.com/office/drawing/2014/main" id="{E51185E5-38C4-483E-92B1-A5EDFD3163B6}"/>
              </a:ext>
            </a:extLst>
          </p:cNvPr>
          <p:cNvSpPr>
            <a:spLocks xmlns:a="http://schemas.openxmlformats.org/drawingml/2006/main" noGrp="1"/>
          </p:cNvSpPr>
          <p:nvPr/>
        </p:nvSpPr>
        <p:spPr>
          <a:xfrm xmlns:a="http://schemas.openxmlformats.org/drawingml/2006/main">
            <a:off x="523875" y="28575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TESTED NOW</a:t>
            </a:r>
          </a:p>
        </p:txBody>
      </p:sp>
      <p:sp>
        <p:nvSpPr>
          <p:cNvPr id="7" name="">
            <a:extLst xmlns:a="http://schemas.openxmlformats.org/drawingml/2006/main">
              <a:ext uri="{FF2B5EF4-FFF2-40B4-BE49-F238E27FC236}">
                <a16:creationId xmlns:a16="http://schemas.microsoft.com/office/drawing/2014/main" id="{FCF2E4C0-099C-42CB-B983-98846846DA74}"/>
              </a:ext>
            </a:extLst>
          </p:cNvPr>
          <p:cNvSpPr>
            <a:spLocks xmlns:a="http://schemas.openxmlformats.org/drawingml/2006/main" noGrp="1"/>
          </p:cNvSpPr>
          <p:nvPr/>
        </p:nvSpPr>
        <p:spPr>
          <a:xfrm xmlns:a="http://schemas.openxmlformats.org/drawingml/2006/main">
            <a:off x="523875" y="3314700"/>
            <a:ext cx="4857750" cy="9525"/>
          </a:xfrm>
          <a:prstGeom xmlns:a="http://schemas.openxmlformats.org/drawingml/2006/main" prst="rect">
            <a:avLst/>
          </a:prstGeom>
          <a:solidFill xmlns:a="http://schemas.openxmlformats.org/drawingml/2006/main">
            <a:srgbClr val="CCD3D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D4B1785-2BF2-45B0-AC56-344DB74AC60A}"/>
              </a:ext>
            </a:extLst>
          </p:cNvPr>
          <p:cNvSpPr>
            <a:spLocks xmlns:a="http://schemas.openxmlformats.org/drawingml/2006/main" noGrp="1"/>
          </p:cNvSpPr>
          <p:nvPr/>
        </p:nvSpPr>
        <p:spPr>
          <a:xfrm xmlns:a="http://schemas.openxmlformats.org/drawingml/2006/main">
            <a:off x="6191250" y="1476375"/>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52606D"/>
                </a:solidFill>
              </a:defRPr>
            </a:pPr>
            <a:r>
              <a:rPr sz="1875" b="1">
                <a:solidFill>
                  <a:srgbClr val="52606D"/>
                </a:solidFill>
              </a:rPr>
              <a:t>05.1 · Latent market mode</a:t>
            </a:r>
          </a:p>
        </p:txBody>
      </p:sp>
      <p:sp>
        <p:nvSpPr>
          <p:cNvPr id="9" name="">
            <a:extLst xmlns:a="http://schemas.openxmlformats.org/drawingml/2006/main">
              <a:ext uri="{FF2B5EF4-FFF2-40B4-BE49-F238E27FC236}">
                <a16:creationId xmlns:a16="http://schemas.microsoft.com/office/drawing/2014/main" id="{26522603-4B28-4C93-A079-C1697D6D1EDF}"/>
              </a:ext>
            </a:extLst>
          </p:cNvPr>
          <p:cNvSpPr>
            <a:spLocks xmlns:a="http://schemas.openxmlformats.org/drawingml/2006/main" noGrp="1"/>
          </p:cNvSpPr>
          <p:nvPr/>
        </p:nvSpPr>
        <p:spPr>
          <a:xfrm xmlns:a="http://schemas.openxmlformats.org/drawingml/2006/main">
            <a:off x="6191250" y="2000250"/>
            <a:ext cx="4857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Common factor direction, strength, loading agreement, and fragmentation.</a:t>
            </a:r>
          </a:p>
        </p:txBody>
      </p:sp>
      <p:sp>
        <p:nvSpPr>
          <p:cNvPr id="10" name="">
            <a:extLst xmlns:a="http://schemas.openxmlformats.org/drawingml/2006/main">
              <a:ext uri="{FF2B5EF4-FFF2-40B4-BE49-F238E27FC236}">
                <a16:creationId xmlns:a16="http://schemas.microsoft.com/office/drawing/2014/main" id="{5132576E-E468-4FA8-9F36-AA39203EDB24}"/>
              </a:ext>
            </a:extLst>
          </p:cNvPr>
          <p:cNvSpPr>
            <a:spLocks xmlns:a="http://schemas.openxmlformats.org/drawingml/2006/main" noGrp="1"/>
          </p:cNvSpPr>
          <p:nvPr/>
        </p:nvSpPr>
        <p:spPr>
          <a:xfrm xmlns:a="http://schemas.openxmlformats.org/drawingml/2006/main">
            <a:off x="6191250" y="28575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2606D"/>
                </a:solidFill>
              </a:defRPr>
            </a:pPr>
            <a:r>
              <a:rPr sz="1050" b="1">
                <a:solidFill>
                  <a:srgbClr val="52606D"/>
                </a:solidFill>
              </a:rPr>
              <a:t>UNOPENED</a:t>
            </a:r>
          </a:p>
        </p:txBody>
      </p:sp>
      <p:sp>
        <p:nvSpPr>
          <p:cNvPr id="11" name="">
            <a:extLst xmlns:a="http://schemas.openxmlformats.org/drawingml/2006/main">
              <a:ext uri="{FF2B5EF4-FFF2-40B4-BE49-F238E27FC236}">
                <a16:creationId xmlns:a16="http://schemas.microsoft.com/office/drawing/2014/main" id="{D4CACD1D-F5C9-4388-B54B-A5AB0E9A016E}"/>
              </a:ext>
            </a:extLst>
          </p:cNvPr>
          <p:cNvSpPr>
            <a:spLocks xmlns:a="http://schemas.openxmlformats.org/drawingml/2006/main" noGrp="1"/>
          </p:cNvSpPr>
          <p:nvPr/>
        </p:nvSpPr>
        <p:spPr>
          <a:xfrm xmlns:a="http://schemas.openxmlformats.org/drawingml/2006/main">
            <a:off x="6191250" y="3314700"/>
            <a:ext cx="4857750" cy="9525"/>
          </a:xfrm>
          <a:prstGeom xmlns:a="http://schemas.openxmlformats.org/drawingml/2006/main" prst="rect">
            <a:avLst/>
          </a:prstGeom>
          <a:solidFill xmlns:a="http://schemas.openxmlformats.org/drawingml/2006/main">
            <a:srgbClr val="CCD3D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9509DEA-FE1C-4D68-AC26-D65D23586893}"/>
              </a:ext>
            </a:extLst>
          </p:cNvPr>
          <p:cNvSpPr>
            <a:spLocks xmlns:a="http://schemas.openxmlformats.org/drawingml/2006/main" noGrp="1"/>
          </p:cNvSpPr>
          <p:nvPr/>
        </p:nvSpPr>
        <p:spPr>
          <a:xfrm xmlns:a="http://schemas.openxmlformats.org/drawingml/2006/main">
            <a:off x="523875" y="3571875"/>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52606D"/>
                </a:solidFill>
              </a:defRPr>
            </a:pPr>
            <a:r>
              <a:rPr sz="1875" b="1">
                <a:solidFill>
                  <a:srgbClr val="52606D"/>
                </a:solidFill>
              </a:rPr>
              <a:t>06.1 · Confirmation network</a:t>
            </a:r>
          </a:p>
        </p:txBody>
      </p:sp>
      <p:sp>
        <p:nvSpPr>
          <p:cNvPr id="13" name="">
            <a:extLst xmlns:a="http://schemas.openxmlformats.org/drawingml/2006/main">
              <a:ext uri="{FF2B5EF4-FFF2-40B4-BE49-F238E27FC236}">
                <a16:creationId xmlns:a16="http://schemas.microsoft.com/office/drawing/2014/main" id="{473ADEDB-23C5-4CB5-A344-7BB79B3281A7}"/>
              </a:ext>
            </a:extLst>
          </p:cNvPr>
          <p:cNvSpPr>
            <a:spLocks xmlns:a="http://schemas.openxmlformats.org/drawingml/2006/main" noGrp="1"/>
          </p:cNvSpPr>
          <p:nvPr/>
        </p:nvSpPr>
        <p:spPr>
          <a:xfrm xmlns:a="http://schemas.openxmlformats.org/drawingml/2006/main">
            <a:off x="523875" y="4095750"/>
            <a:ext cx="4857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Economically distinct risk-appetite ratios without duplicate voting.</a:t>
            </a:r>
          </a:p>
        </p:txBody>
      </p:sp>
      <p:sp>
        <p:nvSpPr>
          <p:cNvPr id="14" name="">
            <a:extLst xmlns:a="http://schemas.openxmlformats.org/drawingml/2006/main">
              <a:ext uri="{FF2B5EF4-FFF2-40B4-BE49-F238E27FC236}">
                <a16:creationId xmlns:a16="http://schemas.microsoft.com/office/drawing/2014/main" id="{8BAB518E-E9AC-4913-AE26-58B20447FFEB}"/>
              </a:ext>
            </a:extLst>
          </p:cNvPr>
          <p:cNvSpPr>
            <a:spLocks xmlns:a="http://schemas.openxmlformats.org/drawingml/2006/main" noGrp="1"/>
          </p:cNvSpPr>
          <p:nvPr/>
        </p:nvSpPr>
        <p:spPr>
          <a:xfrm xmlns:a="http://schemas.openxmlformats.org/drawingml/2006/main">
            <a:off x="523875" y="49530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2606D"/>
                </a:solidFill>
              </a:defRPr>
            </a:pPr>
            <a:r>
              <a:rPr sz="1050" b="1">
                <a:solidFill>
                  <a:srgbClr val="52606D"/>
                </a:solidFill>
              </a:rPr>
              <a:t>UNOPENED</a:t>
            </a:r>
          </a:p>
        </p:txBody>
      </p:sp>
      <p:sp>
        <p:nvSpPr>
          <p:cNvPr id="15" name="">
            <a:extLst xmlns:a="http://schemas.openxmlformats.org/drawingml/2006/main">
              <a:ext uri="{FF2B5EF4-FFF2-40B4-BE49-F238E27FC236}">
                <a16:creationId xmlns:a16="http://schemas.microsoft.com/office/drawing/2014/main" id="{68AE7437-4B9C-45B9-B0D4-A1B0ED2252A9}"/>
              </a:ext>
            </a:extLst>
          </p:cNvPr>
          <p:cNvSpPr>
            <a:spLocks xmlns:a="http://schemas.openxmlformats.org/drawingml/2006/main" noGrp="1"/>
          </p:cNvSpPr>
          <p:nvPr/>
        </p:nvSpPr>
        <p:spPr>
          <a:xfrm xmlns:a="http://schemas.openxmlformats.org/drawingml/2006/main">
            <a:off x="6191250" y="3571875"/>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52606D"/>
                </a:solidFill>
              </a:defRPr>
            </a:pPr>
            <a:r>
              <a:rPr sz="1875" b="1">
                <a:solidFill>
                  <a:srgbClr val="52606D"/>
                </a:solidFill>
              </a:rPr>
              <a:t>Data upgrade · PIT breadth</a:t>
            </a:r>
          </a:p>
        </p:txBody>
      </p:sp>
      <p:sp>
        <p:nvSpPr>
          <p:cNvPr id="16" name="">
            <a:extLst xmlns:a="http://schemas.openxmlformats.org/drawingml/2006/main">
              <a:ext uri="{FF2B5EF4-FFF2-40B4-BE49-F238E27FC236}">
                <a16:creationId xmlns:a16="http://schemas.microsoft.com/office/drawing/2014/main" id="{FCED3FAD-A178-4410-B0D3-4027977F6B29}"/>
              </a:ext>
            </a:extLst>
          </p:cNvPr>
          <p:cNvSpPr>
            <a:spLocks xmlns:a="http://schemas.openxmlformats.org/drawingml/2006/main" noGrp="1"/>
          </p:cNvSpPr>
          <p:nvPr/>
        </p:nvSpPr>
        <p:spPr>
          <a:xfrm xmlns:a="http://schemas.openxmlformats.org/drawingml/2006/main">
            <a:off x="6191250" y="4095750"/>
            <a:ext cx="4857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Survivorship-safe constituent participation, advances/declines, and new highs/lows.</a:t>
            </a:r>
          </a:p>
        </p:txBody>
      </p:sp>
      <p:sp>
        <p:nvSpPr>
          <p:cNvPr id="17" name="">
            <a:extLst xmlns:a="http://schemas.openxmlformats.org/drawingml/2006/main">
              <a:ext uri="{FF2B5EF4-FFF2-40B4-BE49-F238E27FC236}">
                <a16:creationId xmlns:a16="http://schemas.microsoft.com/office/drawing/2014/main" id="{E6DBDFFE-0AA6-4882-A5C0-F9E62FE1359B}"/>
              </a:ext>
            </a:extLst>
          </p:cNvPr>
          <p:cNvSpPr>
            <a:spLocks xmlns:a="http://schemas.openxmlformats.org/drawingml/2006/main" noGrp="1"/>
          </p:cNvSpPr>
          <p:nvPr/>
        </p:nvSpPr>
        <p:spPr>
          <a:xfrm xmlns:a="http://schemas.openxmlformats.org/drawingml/2006/main">
            <a:off x="6191250" y="49530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52606D"/>
                </a:solidFill>
              </a:defRPr>
            </a:pPr>
            <a:r>
              <a:rPr sz="1050" b="1">
                <a:solidFill>
                  <a:srgbClr val="52606D"/>
                </a:solidFill>
              </a:rPr>
              <a:t>SOURCE NEEDED</a:t>
            </a:r>
          </a:p>
        </p:txBody>
      </p:sp>
      <p:sp>
        <p:nvSpPr>
          <p:cNvPr id="18" name="">
            <a:extLst xmlns:a="http://schemas.openxmlformats.org/drawingml/2006/main">
              <a:ext uri="{FF2B5EF4-FFF2-40B4-BE49-F238E27FC236}">
                <a16:creationId xmlns:a16="http://schemas.microsoft.com/office/drawing/2014/main" id="{45369DF4-2690-423F-A0A5-F3D496BAA6DE}"/>
              </a:ext>
            </a:extLst>
          </p:cNvPr>
          <p:cNvSpPr>
            <a:spLocks xmlns:a="http://schemas.openxmlformats.org/drawingml/2006/main" noGrp="1"/>
          </p:cNvSpPr>
          <p:nvPr/>
        </p:nvSpPr>
        <p:spPr>
          <a:xfrm xmlns:a="http://schemas.openxmlformats.org/drawingml/2006/main">
            <a:off x="1143000" y="6048375"/>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D95F59"/>
                </a:solidFill>
              </a:defRPr>
            </a:pPr>
            <a:r>
              <a:rPr sz="1575" b="1">
                <a:solidFill>
                  <a:srgbClr val="D95F59"/>
                </a:solidFill>
              </a:rPr>
              <a:t>Testing one family does not grant permission to cycle through the others until something works.</a:t>
            </a:r>
          </a:p>
        </p:txBody>
      </p:sp>
    </p:spTree>
    <p:extLst>
      <p:ext uri="{BB962C8B-B14F-4D97-AF65-F5344CB8AC3E}">
        <p14:creationId xmlns:p14="http://schemas.microsoft.com/office/powerpoint/2010/main" val="67670114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F5DE77D-3507-4880-A96B-6F5311B7A0F6}"/>
              </a:ext>
            </a:extLst>
          </p:cNvPr>
          <p:cNvSpPr>
            <a:spLocks xmlns:a="http://schemas.openxmlformats.org/drawingml/2006/main" noGrp="1"/>
          </p:cNvSpPr>
          <p:nvPr/>
        </p:nvSpPr>
        <p:spPr>
          <a:xfrm xmlns:a="http://schemas.openxmlformats.org/drawingml/2006/main">
            <a:off x="476250" y="266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FROZEN CONSTRUCTION</a:t>
            </a:r>
          </a:p>
        </p:txBody>
      </p:sp>
      <p:sp>
        <p:nvSpPr>
          <p:cNvPr id="2" name="">
            <a:extLst xmlns:a="http://schemas.openxmlformats.org/drawingml/2006/main">
              <a:ext uri="{FF2B5EF4-FFF2-40B4-BE49-F238E27FC236}">
                <a16:creationId xmlns:a16="http://schemas.microsoft.com/office/drawing/2014/main" id="{62636436-2A84-469C-8A57-0234BB3C952C}"/>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Equal group weights prevent ticker-count dominance</a:t>
            </a:r>
          </a:p>
        </p:txBody>
      </p:sp>
      <p:sp>
        <p:nvSpPr>
          <p:cNvPr id="3" name="">
            <a:extLst xmlns:a="http://schemas.openxmlformats.org/drawingml/2006/main">
              <a:ext uri="{FF2B5EF4-FFF2-40B4-BE49-F238E27FC236}">
                <a16:creationId xmlns:a16="http://schemas.microsoft.com/office/drawing/2014/main" id="{F116829B-5723-4A8C-967A-D170D52009E6}"/>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4</a:t>
            </a:r>
          </a:p>
        </p:txBody>
      </p:sp>
      <p:sp>
        <p:nvSpPr>
          <p:cNvPr id="4" name="">
            <a:extLst xmlns:a="http://schemas.openxmlformats.org/drawingml/2006/main">
              <a:ext uri="{FF2B5EF4-FFF2-40B4-BE49-F238E27FC236}">
                <a16:creationId xmlns:a16="http://schemas.microsoft.com/office/drawing/2014/main" id="{62D24491-0D7A-4B83-9806-6426040424FB}"/>
              </a:ext>
            </a:extLst>
          </p:cNvPr>
          <p:cNvSpPr>
            <a:spLocks xmlns:a="http://schemas.openxmlformats.org/drawingml/2006/main" noGrp="1"/>
          </p:cNvSpPr>
          <p:nvPr/>
        </p:nvSpPr>
        <p:spPr>
          <a:xfrm xmlns:a="http://schemas.openxmlformats.org/drawingml/2006/main">
            <a:off x="523875" y="1476375"/>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defRPr>
            </a:pPr>
            <a:r>
              <a:rPr sz="1650" b="1">
                <a:solidFill>
                  <a:srgbClr val="3D8DFF"/>
                </a:solidFill>
              </a:rPr>
              <a:t>Broad / style / size</a:t>
            </a:r>
          </a:p>
          <a:p xmlns:a="http://schemas.openxmlformats.org/drawingml/2006/main">
            <a:pPr algn="l">
              <a:defRPr sz="1650" b="1">
                <a:solidFill>
                  <a:srgbClr val="3D8DFF"/>
                </a:solidFill>
              </a:defRPr>
            </a:pPr>
            <a:r>
              <a:rPr sz="1650" b="1">
                <a:solidFill>
                  <a:srgbClr val="3D8DFF"/>
                </a:solidFill>
              </a:rPr>
              <a:t>6 ETFs</a:t>
            </a:r>
          </a:p>
        </p:txBody>
      </p:sp>
      <p:sp>
        <p:nvSpPr>
          <p:cNvPr id="5" name="">
            <a:extLst xmlns:a="http://schemas.openxmlformats.org/drawingml/2006/main">
              <a:ext uri="{FF2B5EF4-FFF2-40B4-BE49-F238E27FC236}">
                <a16:creationId xmlns:a16="http://schemas.microsoft.com/office/drawing/2014/main" id="{AED00935-B1E7-4D36-B2C6-B00A7BB4BA60}"/>
              </a:ext>
            </a:extLst>
          </p:cNvPr>
          <p:cNvSpPr>
            <a:spLocks xmlns:a="http://schemas.openxmlformats.org/drawingml/2006/main" noGrp="1"/>
          </p:cNvSpPr>
          <p:nvPr/>
        </p:nvSpPr>
        <p:spPr>
          <a:xfrm xmlns:a="http://schemas.openxmlformats.org/drawingml/2006/main">
            <a:off x="523875" y="2238375"/>
            <a:ext cx="2333625"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DA81147-19E6-4C61-98AB-0AD43FABA2F9}"/>
              </a:ext>
            </a:extLst>
          </p:cNvPr>
          <p:cNvSpPr>
            <a:spLocks xmlns:a="http://schemas.openxmlformats.org/drawingml/2006/main" noGrp="1"/>
          </p:cNvSpPr>
          <p:nvPr/>
        </p:nvSpPr>
        <p:spPr>
          <a:xfrm xmlns:a="http://schemas.openxmlformats.org/drawingml/2006/main">
            <a:off x="3381375" y="1476375"/>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7324D"/>
                </a:solidFill>
              </a:defRPr>
            </a:pPr>
            <a:r>
              <a:rPr sz="1650" b="1">
                <a:solidFill>
                  <a:srgbClr val="17324D"/>
                </a:solidFill>
              </a:rPr>
              <a:t>Sector / real assets</a:t>
            </a:r>
          </a:p>
          <a:p xmlns:a="http://schemas.openxmlformats.org/drawingml/2006/main">
            <a:pPr algn="l">
              <a:defRPr sz="1650" b="1">
                <a:solidFill>
                  <a:srgbClr val="17324D"/>
                </a:solidFill>
              </a:defRPr>
            </a:pPr>
            <a:r>
              <a:rPr sz="1650" b="1">
                <a:solidFill>
                  <a:srgbClr val="17324D"/>
                </a:solidFill>
              </a:rPr>
              <a:t>10 ETFs</a:t>
            </a:r>
          </a:p>
        </p:txBody>
      </p:sp>
      <p:sp>
        <p:nvSpPr>
          <p:cNvPr id="7" name="">
            <a:extLst xmlns:a="http://schemas.openxmlformats.org/drawingml/2006/main">
              <a:ext uri="{FF2B5EF4-FFF2-40B4-BE49-F238E27FC236}">
                <a16:creationId xmlns:a16="http://schemas.microsoft.com/office/drawing/2014/main" id="{16ED8221-0745-49A3-AB23-3842242F4AA3}"/>
              </a:ext>
            </a:extLst>
          </p:cNvPr>
          <p:cNvSpPr>
            <a:spLocks xmlns:a="http://schemas.openxmlformats.org/drawingml/2006/main" noGrp="1"/>
          </p:cNvSpPr>
          <p:nvPr/>
        </p:nvSpPr>
        <p:spPr>
          <a:xfrm xmlns:a="http://schemas.openxmlformats.org/drawingml/2006/main">
            <a:off x="3381375" y="2238375"/>
            <a:ext cx="2333625" cy="28575"/>
          </a:xfrm>
          <a:prstGeom xmlns:a="http://schemas.openxmlformats.org/drawingml/2006/main" prst="rect">
            <a:avLst/>
          </a:prstGeom>
          <a:solidFill xmlns:a="http://schemas.openxmlformats.org/drawingml/2006/main">
            <a:srgbClr val="CCD3D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5A3EF34-4B97-4085-A29A-4FA8985D1256}"/>
              </a:ext>
            </a:extLst>
          </p:cNvPr>
          <p:cNvSpPr>
            <a:spLocks xmlns:a="http://schemas.openxmlformats.org/drawingml/2006/main" noGrp="1"/>
          </p:cNvSpPr>
          <p:nvPr/>
        </p:nvSpPr>
        <p:spPr>
          <a:xfrm xmlns:a="http://schemas.openxmlformats.org/drawingml/2006/main">
            <a:off x="6238875" y="1476375"/>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7324D"/>
                </a:solidFill>
              </a:defRPr>
            </a:pPr>
            <a:r>
              <a:rPr sz="1650" b="1">
                <a:solidFill>
                  <a:srgbClr val="17324D"/>
                </a:solidFill>
              </a:rPr>
              <a:t>Industry / cyclical</a:t>
            </a:r>
          </a:p>
          <a:p xmlns:a="http://schemas.openxmlformats.org/drawingml/2006/main">
            <a:pPr algn="l">
              <a:defRPr sz="1650" b="1">
                <a:solidFill>
                  <a:srgbClr val="17324D"/>
                </a:solidFill>
              </a:defRPr>
            </a:pPr>
            <a:r>
              <a:rPr sz="1650" b="1">
                <a:solidFill>
                  <a:srgbClr val="17324D"/>
                </a:solidFill>
              </a:rPr>
              <a:t>6 ETFs</a:t>
            </a:r>
          </a:p>
        </p:txBody>
      </p:sp>
      <p:sp>
        <p:nvSpPr>
          <p:cNvPr id="9" name="">
            <a:extLst xmlns:a="http://schemas.openxmlformats.org/drawingml/2006/main">
              <a:ext uri="{FF2B5EF4-FFF2-40B4-BE49-F238E27FC236}">
                <a16:creationId xmlns:a16="http://schemas.microsoft.com/office/drawing/2014/main" id="{9F1AD3E2-D6A3-4CF7-9391-D88117DE8C6B}"/>
              </a:ext>
            </a:extLst>
          </p:cNvPr>
          <p:cNvSpPr>
            <a:spLocks xmlns:a="http://schemas.openxmlformats.org/drawingml/2006/main" noGrp="1"/>
          </p:cNvSpPr>
          <p:nvPr/>
        </p:nvSpPr>
        <p:spPr>
          <a:xfrm xmlns:a="http://schemas.openxmlformats.org/drawingml/2006/main">
            <a:off x="6238875" y="2238375"/>
            <a:ext cx="2333625" cy="28575"/>
          </a:xfrm>
          <a:prstGeom xmlns:a="http://schemas.openxmlformats.org/drawingml/2006/main" prst="rect">
            <a:avLst/>
          </a:prstGeom>
          <a:solidFill xmlns:a="http://schemas.openxmlformats.org/drawingml/2006/main">
            <a:srgbClr val="CCD3D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553EC31-B0E6-4C1D-8A80-7042C4A758AC}"/>
              </a:ext>
            </a:extLst>
          </p:cNvPr>
          <p:cNvSpPr>
            <a:spLocks xmlns:a="http://schemas.openxmlformats.org/drawingml/2006/main" noGrp="1"/>
          </p:cNvSpPr>
          <p:nvPr/>
        </p:nvSpPr>
        <p:spPr>
          <a:xfrm xmlns:a="http://schemas.openxmlformats.org/drawingml/2006/main">
            <a:off x="9096375" y="1476375"/>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7324D"/>
                </a:solidFill>
              </a:defRPr>
            </a:pPr>
            <a:r>
              <a:rPr sz="1650" b="1">
                <a:solidFill>
                  <a:srgbClr val="17324D"/>
                </a:solidFill>
              </a:rPr>
              <a:t>International</a:t>
            </a:r>
          </a:p>
          <a:p xmlns:a="http://schemas.openxmlformats.org/drawingml/2006/main">
            <a:pPr algn="l">
              <a:defRPr sz="1650" b="1">
                <a:solidFill>
                  <a:srgbClr val="17324D"/>
                </a:solidFill>
              </a:defRPr>
            </a:pPr>
            <a:r>
              <a:rPr sz="1650" b="1">
                <a:solidFill>
                  <a:srgbClr val="17324D"/>
                </a:solidFill>
              </a:rPr>
              <a:t>2 ETFs</a:t>
            </a:r>
          </a:p>
        </p:txBody>
      </p:sp>
      <p:sp>
        <p:nvSpPr>
          <p:cNvPr id="11" name="">
            <a:extLst xmlns:a="http://schemas.openxmlformats.org/drawingml/2006/main">
              <a:ext uri="{FF2B5EF4-FFF2-40B4-BE49-F238E27FC236}">
                <a16:creationId xmlns:a16="http://schemas.microsoft.com/office/drawing/2014/main" id="{8ADDD11A-695B-4CA1-B3CC-928F97A64818}"/>
              </a:ext>
            </a:extLst>
          </p:cNvPr>
          <p:cNvSpPr>
            <a:spLocks xmlns:a="http://schemas.openxmlformats.org/drawingml/2006/main" noGrp="1"/>
          </p:cNvSpPr>
          <p:nvPr/>
        </p:nvSpPr>
        <p:spPr>
          <a:xfrm xmlns:a="http://schemas.openxmlformats.org/drawingml/2006/main">
            <a:off x="9096375" y="2238375"/>
            <a:ext cx="2333625" cy="28575"/>
          </a:xfrm>
          <a:prstGeom xmlns:a="http://schemas.openxmlformats.org/drawingml/2006/main" prst="rect">
            <a:avLst/>
          </a:prstGeom>
          <a:solidFill xmlns:a="http://schemas.openxmlformats.org/drawingml/2006/main">
            <a:srgbClr val="CCD3D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1D8C677-B6F7-4B6E-8984-7E0005F20ECD}"/>
              </a:ext>
            </a:extLst>
          </p:cNvPr>
          <p:cNvSpPr>
            <a:spLocks xmlns:a="http://schemas.openxmlformats.org/drawingml/2006/main" noGrp="1"/>
          </p:cNvSpPr>
          <p:nvPr/>
        </p:nvSpPr>
        <p:spPr>
          <a:xfrm xmlns:a="http://schemas.openxmlformats.org/drawingml/2006/main">
            <a:off x="523875" y="27622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defRPr>
            </a:pPr>
            <a:r>
              <a:rPr sz="1650" b="1">
                <a:solidFill>
                  <a:srgbClr val="3D8DFF"/>
                </a:solidFill>
              </a:rPr>
              <a:t>Per asset</a:t>
            </a:r>
          </a:p>
        </p:txBody>
      </p:sp>
      <p:sp>
        <p:nvSpPr>
          <p:cNvPr id="13" name="">
            <a:extLst xmlns:a="http://schemas.openxmlformats.org/drawingml/2006/main">
              <a:ext uri="{FF2B5EF4-FFF2-40B4-BE49-F238E27FC236}">
                <a16:creationId xmlns:a16="http://schemas.microsoft.com/office/drawing/2014/main" id="{E4CA7E3E-479D-41F0-B355-A7E735A62CE1}"/>
              </a:ext>
            </a:extLst>
          </p:cNvPr>
          <p:cNvSpPr>
            <a:spLocks xmlns:a="http://schemas.openxmlformats.org/drawingml/2006/main" noGrp="1"/>
          </p:cNvSpPr>
          <p:nvPr/>
        </p:nvSpPr>
        <p:spPr>
          <a:xfrm xmlns:a="http://schemas.openxmlformats.org/drawingml/2006/main">
            <a:off x="2381250" y="2686050"/>
            <a:ext cx="809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7202A"/>
                </a:solidFill>
              </a:defRPr>
            </a:pPr>
            <a:r>
              <a:rPr sz="2025" b="1">
                <a:solidFill>
                  <a:srgbClr val="17202A"/>
                </a:solidFill>
              </a:rPr>
              <a:t>mᵢ,ₜ = ½ [ r₂₀ /(σ₆₃,prior√20) + r₆₀ /(σ₆₃,prior√60) ]</a:t>
            </a:r>
          </a:p>
        </p:txBody>
      </p:sp>
      <p:sp>
        <p:nvSpPr>
          <p:cNvPr id="14" name="">
            <a:extLst xmlns:a="http://schemas.openxmlformats.org/drawingml/2006/main">
              <a:ext uri="{FF2B5EF4-FFF2-40B4-BE49-F238E27FC236}">
                <a16:creationId xmlns:a16="http://schemas.microsoft.com/office/drawing/2014/main" id="{15AF6D64-7CE6-4416-9B55-F12B4957992A}"/>
              </a:ext>
            </a:extLst>
          </p:cNvPr>
          <p:cNvSpPr>
            <a:spLocks xmlns:a="http://schemas.openxmlformats.org/drawingml/2006/main" noGrp="1"/>
          </p:cNvSpPr>
          <p:nvPr/>
        </p:nvSpPr>
        <p:spPr>
          <a:xfrm xmlns:a="http://schemas.openxmlformats.org/drawingml/2006/main">
            <a:off x="714375" y="3571875"/>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3D8DFF"/>
                </a:solidFill>
              </a:defRPr>
            </a:pPr>
            <a:r>
              <a:rPr sz="1575" b="1">
                <a:solidFill>
                  <a:srgbClr val="3D8DFF"/>
                </a:solidFill>
              </a:rPr>
              <a:t>Direction</a:t>
            </a:r>
          </a:p>
        </p:txBody>
      </p:sp>
      <p:sp>
        <p:nvSpPr>
          <p:cNvPr id="15" name="">
            <a:extLst xmlns:a="http://schemas.openxmlformats.org/drawingml/2006/main">
              <a:ext uri="{FF2B5EF4-FFF2-40B4-BE49-F238E27FC236}">
                <a16:creationId xmlns:a16="http://schemas.microsoft.com/office/drawing/2014/main" id="{A75FB5BD-26B0-4B9F-A570-C298B028F003}"/>
              </a:ext>
            </a:extLst>
          </p:cNvPr>
          <p:cNvSpPr>
            <a:spLocks xmlns:a="http://schemas.openxmlformats.org/drawingml/2006/main" noGrp="1"/>
          </p:cNvSpPr>
          <p:nvPr/>
        </p:nvSpPr>
        <p:spPr>
          <a:xfrm xmlns:a="http://schemas.openxmlformats.org/drawingml/2006/main">
            <a:off x="3000375" y="3571875"/>
            <a:ext cx="781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median of the four group-median trend scores</a:t>
            </a:r>
          </a:p>
        </p:txBody>
      </p:sp>
      <p:sp>
        <p:nvSpPr>
          <p:cNvPr id="16" name="">
            <a:extLst xmlns:a="http://schemas.openxmlformats.org/drawingml/2006/main">
              <a:ext uri="{FF2B5EF4-FFF2-40B4-BE49-F238E27FC236}">
                <a16:creationId xmlns:a16="http://schemas.microsoft.com/office/drawing/2014/main" id="{9AB3D5F5-6026-4893-887A-693D94D90702}"/>
              </a:ext>
            </a:extLst>
          </p:cNvPr>
          <p:cNvSpPr>
            <a:spLocks xmlns:a="http://schemas.openxmlformats.org/drawingml/2006/main" noGrp="1"/>
          </p:cNvSpPr>
          <p:nvPr/>
        </p:nvSpPr>
        <p:spPr>
          <a:xfrm xmlns:a="http://schemas.openxmlformats.org/drawingml/2006/main">
            <a:off x="714375" y="4152900"/>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2E8B57"/>
                </a:solidFill>
              </a:defRPr>
            </a:pPr>
            <a:r>
              <a:rPr sz="1575" b="1">
                <a:solidFill>
                  <a:srgbClr val="2E8B57"/>
                </a:solidFill>
              </a:rPr>
              <a:t>Participation</a:t>
            </a:r>
          </a:p>
        </p:txBody>
      </p:sp>
      <p:sp>
        <p:nvSpPr>
          <p:cNvPr id="17" name="">
            <a:extLst xmlns:a="http://schemas.openxmlformats.org/drawingml/2006/main">
              <a:ext uri="{FF2B5EF4-FFF2-40B4-BE49-F238E27FC236}">
                <a16:creationId xmlns:a16="http://schemas.microsoft.com/office/drawing/2014/main" id="{71C5DDC5-0205-423D-9CDA-49C55C01E018}"/>
              </a:ext>
            </a:extLst>
          </p:cNvPr>
          <p:cNvSpPr>
            <a:spLocks xmlns:a="http://schemas.openxmlformats.org/drawingml/2006/main" noGrp="1"/>
          </p:cNvSpPr>
          <p:nvPr/>
        </p:nvSpPr>
        <p:spPr>
          <a:xfrm xmlns:a="http://schemas.openxmlformats.org/drawingml/2006/main">
            <a:off x="3000375" y="4152900"/>
            <a:ext cx="781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equal-group mean fraction with mᵢ,ₜ &gt; 0</a:t>
            </a:r>
          </a:p>
        </p:txBody>
      </p:sp>
      <p:sp>
        <p:nvSpPr>
          <p:cNvPr id="18" name="">
            <a:extLst xmlns:a="http://schemas.openxmlformats.org/drawingml/2006/main">
              <a:ext uri="{FF2B5EF4-FFF2-40B4-BE49-F238E27FC236}">
                <a16:creationId xmlns:a16="http://schemas.microsoft.com/office/drawing/2014/main" id="{7A828495-2768-4AB6-8360-30AA6794C846}"/>
              </a:ext>
            </a:extLst>
          </p:cNvPr>
          <p:cNvSpPr>
            <a:spLocks xmlns:a="http://schemas.openxmlformats.org/drawingml/2006/main" noGrp="1"/>
          </p:cNvSpPr>
          <p:nvPr/>
        </p:nvSpPr>
        <p:spPr>
          <a:xfrm xmlns:a="http://schemas.openxmlformats.org/drawingml/2006/main">
            <a:off x="714375" y="4733925"/>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F2A65A"/>
                </a:solidFill>
              </a:defRPr>
            </a:pPr>
            <a:r>
              <a:rPr sz="1575" b="1">
                <a:solidFill>
                  <a:srgbClr val="F2A65A"/>
                </a:solidFill>
              </a:rPr>
              <a:t>Agreement</a:t>
            </a:r>
          </a:p>
        </p:txBody>
      </p:sp>
      <p:sp>
        <p:nvSpPr>
          <p:cNvPr id="19" name="">
            <a:extLst xmlns:a="http://schemas.openxmlformats.org/drawingml/2006/main">
              <a:ext uri="{FF2B5EF4-FFF2-40B4-BE49-F238E27FC236}">
                <a16:creationId xmlns:a16="http://schemas.microsoft.com/office/drawing/2014/main" id="{DCB7BA98-FD0E-40A8-AD62-9F364A75A00B}"/>
              </a:ext>
            </a:extLst>
          </p:cNvPr>
          <p:cNvSpPr>
            <a:spLocks xmlns:a="http://schemas.openxmlformats.org/drawingml/2006/main" noGrp="1"/>
          </p:cNvSpPr>
          <p:nvPr/>
        </p:nvSpPr>
        <p:spPr>
          <a:xfrm xmlns:a="http://schemas.openxmlformats.org/drawingml/2006/main">
            <a:off x="3000375" y="4733925"/>
            <a:ext cx="781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equal-group mean with matching 20/60 signs</a:t>
            </a:r>
          </a:p>
        </p:txBody>
      </p:sp>
      <p:sp>
        <p:nvSpPr>
          <p:cNvPr id="20" name="">
            <a:extLst xmlns:a="http://schemas.openxmlformats.org/drawingml/2006/main">
              <a:ext uri="{FF2B5EF4-FFF2-40B4-BE49-F238E27FC236}">
                <a16:creationId xmlns:a16="http://schemas.microsoft.com/office/drawing/2014/main" id="{53934203-A146-4B62-ABA5-5CFFB44E93CA}"/>
              </a:ext>
            </a:extLst>
          </p:cNvPr>
          <p:cNvSpPr>
            <a:spLocks xmlns:a="http://schemas.openxmlformats.org/drawingml/2006/main" noGrp="1"/>
          </p:cNvSpPr>
          <p:nvPr/>
        </p:nvSpPr>
        <p:spPr>
          <a:xfrm xmlns:a="http://schemas.openxmlformats.org/drawingml/2006/main">
            <a:off x="714375" y="5314950"/>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D95F59"/>
                </a:solidFill>
              </a:defRPr>
            </a:pPr>
            <a:r>
              <a:rPr sz="1575" b="1">
                <a:solidFill>
                  <a:srgbClr val="D95F59"/>
                </a:solidFill>
              </a:rPr>
              <a:t>Flow</a:t>
            </a:r>
          </a:p>
        </p:txBody>
      </p:sp>
      <p:sp>
        <p:nvSpPr>
          <p:cNvPr id="21" name="">
            <a:extLst xmlns:a="http://schemas.openxmlformats.org/drawingml/2006/main">
              <a:ext uri="{FF2B5EF4-FFF2-40B4-BE49-F238E27FC236}">
                <a16:creationId xmlns:a16="http://schemas.microsoft.com/office/drawing/2014/main" id="{A9AE6FD3-6154-4875-8508-50985DB38BAC}"/>
              </a:ext>
            </a:extLst>
          </p:cNvPr>
          <p:cNvSpPr>
            <a:spLocks xmlns:a="http://schemas.openxmlformats.org/drawingml/2006/main" noGrp="1"/>
          </p:cNvSpPr>
          <p:nvPr/>
        </p:nvSpPr>
        <p:spPr>
          <a:xfrm xmlns:a="http://schemas.openxmlformats.org/drawingml/2006/main">
            <a:off x="3000375" y="5314950"/>
            <a:ext cx="781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2606D"/>
                </a:solidFill>
              </a:defRPr>
            </a:pPr>
            <a:r>
              <a:rPr sz="1500" b="0">
                <a:solidFill>
                  <a:srgbClr val="52606D"/>
                </a:solidFill>
              </a:rPr>
              <a:t>equal-group improving-minus-weakening balance over five sessions</a:t>
            </a:r>
          </a:p>
        </p:txBody>
      </p:sp>
      <p:sp>
        <p:nvSpPr>
          <p:cNvPr id="22" name="">
            <a:extLst xmlns:a="http://schemas.openxmlformats.org/drawingml/2006/main">
              <a:ext uri="{FF2B5EF4-FFF2-40B4-BE49-F238E27FC236}">
                <a16:creationId xmlns:a16="http://schemas.microsoft.com/office/drawing/2014/main" id="{ABE29CE8-FE0A-4EBB-A3B1-4BFDFEE975C8}"/>
              </a:ext>
            </a:extLst>
          </p:cNvPr>
          <p:cNvSpPr>
            <a:spLocks xmlns:a="http://schemas.openxmlformats.org/drawingml/2006/main" noGrp="1"/>
          </p:cNvSpPr>
          <p:nvPr/>
        </p:nvSpPr>
        <p:spPr>
          <a:xfrm xmlns:a="http://schemas.openxmlformats.org/drawingml/2006/main">
            <a:off x="1238250" y="6096000"/>
            <a:ext cx="971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7202A"/>
                </a:solidFill>
              </a:defRPr>
            </a:pPr>
            <a:r>
              <a:rPr sz="1575" b="1">
                <a:solidFill>
                  <a:srgbClr val="17202A"/>
                </a:solidFill>
              </a:rPr>
              <a:t>No fitted weights. No scalar health score. SPY excluded from the field.</a:t>
            </a:r>
          </a:p>
        </p:txBody>
      </p:sp>
    </p:spTree>
    <p:extLst>
      <p:ext uri="{BB962C8B-B14F-4D97-AF65-F5344CB8AC3E}">
        <p14:creationId xmlns:p14="http://schemas.microsoft.com/office/powerpoint/2010/main" val="7831490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D2056D5-690B-47F4-9D78-5AA0F17E0950}"/>
              </a:ext>
            </a:extLst>
          </p:cNvPr>
          <p:cNvSpPr>
            <a:spLocks xmlns:a="http://schemas.openxmlformats.org/drawingml/2006/main" noGrp="1"/>
          </p:cNvSpPr>
          <p:nvPr/>
        </p:nvSpPr>
        <p:spPr>
          <a:xfrm xmlns:a="http://schemas.openxmlformats.org/drawingml/2006/main">
            <a:off x="476250" y="266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FROZEN VALIDATION</a:t>
            </a:r>
          </a:p>
        </p:txBody>
      </p:sp>
      <p:sp>
        <p:nvSpPr>
          <p:cNvPr id="2" name="">
            <a:extLst xmlns:a="http://schemas.openxmlformats.org/drawingml/2006/main">
              <a:ext uri="{FF2B5EF4-FFF2-40B4-BE49-F238E27FC236}">
                <a16:creationId xmlns:a16="http://schemas.microsoft.com/office/drawing/2014/main" id="{BA191D9A-EAE9-40C2-9911-8092DDDD4EF9}"/>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field had to predict its own semantics before touching a strategy</a:t>
            </a:r>
          </a:p>
        </p:txBody>
      </p:sp>
      <p:sp>
        <p:nvSpPr>
          <p:cNvPr id="3" name="">
            <a:extLst xmlns:a="http://schemas.openxmlformats.org/drawingml/2006/main">
              <a:ext uri="{FF2B5EF4-FFF2-40B4-BE49-F238E27FC236}">
                <a16:creationId xmlns:a16="http://schemas.microsoft.com/office/drawing/2014/main" id="{B9BAF4A2-D3C0-40D8-8095-83BE701E9A6A}"/>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5</a:t>
            </a:r>
          </a:p>
        </p:txBody>
      </p:sp>
      <p:sp>
        <p:nvSpPr>
          <p:cNvPr id="4" name="">
            <a:extLst xmlns:a="http://schemas.openxmlformats.org/drawingml/2006/main">
              <a:ext uri="{FF2B5EF4-FFF2-40B4-BE49-F238E27FC236}">
                <a16:creationId xmlns:a16="http://schemas.microsoft.com/office/drawing/2014/main" id="{D4009B5A-8810-4C0F-9B5D-2C0B1F249272}"/>
              </a:ext>
            </a:extLst>
          </p:cNvPr>
          <p:cNvSpPr>
            <a:spLocks xmlns:a="http://schemas.openxmlformats.org/drawingml/2006/main" noGrp="1"/>
          </p:cNvSpPr>
          <p:nvPr/>
        </p:nvSpPr>
        <p:spPr>
          <a:xfrm xmlns:a="http://schemas.openxmlformats.org/drawingml/2006/main">
            <a:off x="523875" y="14287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7324D"/>
                </a:solidFill>
              </a:defRPr>
            </a:pPr>
            <a:r>
              <a:rPr sz="1875" b="1">
                <a:solidFill>
                  <a:srgbClr val="17324D"/>
                </a:solidFill>
              </a:rPr>
              <a:t>Primary measurement tests</a:t>
            </a:r>
          </a:p>
        </p:txBody>
      </p:sp>
      <p:sp>
        <p:nvSpPr>
          <p:cNvPr id="5" name="">
            <a:extLst xmlns:a="http://schemas.openxmlformats.org/drawingml/2006/main">
              <a:ext uri="{FF2B5EF4-FFF2-40B4-BE49-F238E27FC236}">
                <a16:creationId xmlns:a16="http://schemas.microsoft.com/office/drawing/2014/main" id="{6056BCE3-ACC5-46A1-AEC7-327B71C61882}"/>
              </a:ext>
            </a:extLst>
          </p:cNvPr>
          <p:cNvSpPr>
            <a:spLocks xmlns:a="http://schemas.openxmlformats.org/drawingml/2006/main" noGrp="1"/>
          </p:cNvSpPr>
          <p:nvPr/>
        </p:nvSpPr>
        <p:spPr>
          <a:xfrm xmlns:a="http://schemas.openxmlformats.org/drawingml/2006/main">
            <a:off x="619125" y="2171700"/>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0B90071-1CB7-44AF-931B-A8F119BC157B}"/>
              </a:ext>
            </a:extLst>
          </p:cNvPr>
          <p:cNvSpPr>
            <a:spLocks xmlns:a="http://schemas.openxmlformats.org/drawingml/2006/main" noGrp="1"/>
          </p:cNvSpPr>
          <p:nvPr/>
        </p:nvSpPr>
        <p:spPr>
          <a:xfrm xmlns:a="http://schemas.openxmlformats.org/drawingml/2006/main">
            <a:off x="838200" y="2095500"/>
            <a:ext cx="48768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Future median return across the same four-group field</a:t>
            </a:r>
          </a:p>
        </p:txBody>
      </p:sp>
      <p:sp>
        <p:nvSpPr>
          <p:cNvPr id="7" name="">
            <a:extLst xmlns:a="http://schemas.openxmlformats.org/drawingml/2006/main">
              <a:ext uri="{FF2B5EF4-FFF2-40B4-BE49-F238E27FC236}">
                <a16:creationId xmlns:a16="http://schemas.microsoft.com/office/drawing/2014/main" id="{33DC4FD4-3AB8-4E18-B547-DA18B7C2E0CB}"/>
              </a:ext>
            </a:extLst>
          </p:cNvPr>
          <p:cNvSpPr>
            <a:spLocks xmlns:a="http://schemas.openxmlformats.org/drawingml/2006/main" noGrp="1"/>
          </p:cNvSpPr>
          <p:nvPr/>
        </p:nvSpPr>
        <p:spPr>
          <a:xfrm xmlns:a="http://schemas.openxmlformats.org/drawingml/2006/main">
            <a:off x="619125" y="2743200"/>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AFA0727-53D8-431C-A4F0-0A0D0DFC951C}"/>
              </a:ext>
            </a:extLst>
          </p:cNvPr>
          <p:cNvSpPr>
            <a:spLocks xmlns:a="http://schemas.openxmlformats.org/drawingml/2006/main" noGrp="1"/>
          </p:cNvSpPr>
          <p:nvPr/>
        </p:nvSpPr>
        <p:spPr>
          <a:xfrm xmlns:a="http://schemas.openxmlformats.org/drawingml/2006/main">
            <a:off x="838200" y="2667000"/>
            <a:ext cx="48768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Future positive participation across the field</a:t>
            </a:r>
          </a:p>
        </p:txBody>
      </p:sp>
      <p:sp>
        <p:nvSpPr>
          <p:cNvPr id="9" name="">
            <a:extLst xmlns:a="http://schemas.openxmlformats.org/drawingml/2006/main">
              <a:ext uri="{FF2B5EF4-FFF2-40B4-BE49-F238E27FC236}">
                <a16:creationId xmlns:a16="http://schemas.microsoft.com/office/drawing/2014/main" id="{F885E8F0-6039-4227-824A-A085CDD2601A}"/>
              </a:ext>
            </a:extLst>
          </p:cNvPr>
          <p:cNvSpPr>
            <a:spLocks xmlns:a="http://schemas.openxmlformats.org/drawingml/2006/main" noGrp="1"/>
          </p:cNvSpPr>
          <p:nvPr/>
        </p:nvSpPr>
        <p:spPr>
          <a:xfrm xmlns:a="http://schemas.openxmlformats.org/drawingml/2006/main">
            <a:off x="619125" y="3314700"/>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B90F04F-E4F8-42A2-BD6D-B0169307DDC9}"/>
              </a:ext>
            </a:extLst>
          </p:cNvPr>
          <p:cNvSpPr>
            <a:spLocks xmlns:a="http://schemas.openxmlformats.org/drawingml/2006/main" noGrp="1"/>
          </p:cNvSpPr>
          <p:nvPr/>
        </p:nvSpPr>
        <p:spPr>
          <a:xfrm xmlns:a="http://schemas.openxmlformats.org/drawingml/2006/main">
            <a:off x="838200" y="3238500"/>
            <a:ext cx="48768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Whether improving flow predicts a five-session participation gain</a:t>
            </a:r>
          </a:p>
        </p:txBody>
      </p:sp>
      <p:sp>
        <p:nvSpPr>
          <p:cNvPr id="11" name="">
            <a:extLst xmlns:a="http://schemas.openxmlformats.org/drawingml/2006/main">
              <a:ext uri="{FF2B5EF4-FFF2-40B4-BE49-F238E27FC236}">
                <a16:creationId xmlns:a16="http://schemas.microsoft.com/office/drawing/2014/main" id="{EBD85567-16A5-4EC5-ABFD-E0E4FE44C455}"/>
              </a:ext>
            </a:extLst>
          </p:cNvPr>
          <p:cNvSpPr>
            <a:spLocks xmlns:a="http://schemas.openxmlformats.org/drawingml/2006/main" noGrp="1"/>
          </p:cNvSpPr>
          <p:nvPr/>
        </p:nvSpPr>
        <p:spPr>
          <a:xfrm xmlns:a="http://schemas.openxmlformats.org/drawingml/2006/main">
            <a:off x="619125" y="3886200"/>
            <a:ext cx="95250" cy="95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3263E4C-AC1B-4C18-9A05-647FE0839D0B}"/>
              </a:ext>
            </a:extLst>
          </p:cNvPr>
          <p:cNvSpPr>
            <a:spLocks xmlns:a="http://schemas.openxmlformats.org/drawingml/2006/main" noGrp="1"/>
          </p:cNvSpPr>
          <p:nvPr/>
        </p:nvSpPr>
        <p:spPr>
          <a:xfrm xmlns:a="http://schemas.openxmlformats.org/drawingml/2006/main">
            <a:off x="838200" y="3810000"/>
            <a:ext cx="48768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Whether 20/60 agreement improves directional persistence</a:t>
            </a:r>
          </a:p>
        </p:txBody>
      </p:sp>
      <p:sp>
        <p:nvSpPr>
          <p:cNvPr id="13" name="">
            <a:extLst xmlns:a="http://schemas.openxmlformats.org/drawingml/2006/main">
              <a:ext uri="{FF2B5EF4-FFF2-40B4-BE49-F238E27FC236}">
                <a16:creationId xmlns:a16="http://schemas.microsoft.com/office/drawing/2014/main" id="{02A66528-6C41-49F0-97B1-FE311281B39D}"/>
              </a:ext>
            </a:extLst>
          </p:cNvPr>
          <p:cNvSpPr>
            <a:spLocks xmlns:a="http://schemas.openxmlformats.org/drawingml/2006/main" noGrp="1"/>
          </p:cNvSpPr>
          <p:nvPr/>
        </p:nvSpPr>
        <p:spPr>
          <a:xfrm xmlns:a="http://schemas.openxmlformats.org/drawingml/2006/main">
            <a:off x="6381750" y="14287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7324D"/>
                </a:solidFill>
              </a:defRPr>
            </a:pPr>
            <a:r>
              <a:rPr sz="1875" b="1">
                <a:solidFill>
                  <a:srgbClr val="17324D"/>
                </a:solidFill>
              </a:rPr>
              <a:t>Secondary external test</a:t>
            </a:r>
          </a:p>
        </p:txBody>
      </p:sp>
      <p:sp>
        <p:nvSpPr>
          <p:cNvPr id="14" name="">
            <a:extLst xmlns:a="http://schemas.openxmlformats.org/drawingml/2006/main">
              <a:ext uri="{FF2B5EF4-FFF2-40B4-BE49-F238E27FC236}">
                <a16:creationId xmlns:a16="http://schemas.microsoft.com/office/drawing/2014/main" id="{7E04FED3-B563-4EC7-BD42-15EB16EB9862}"/>
              </a:ext>
            </a:extLst>
          </p:cNvPr>
          <p:cNvSpPr>
            <a:spLocks xmlns:a="http://schemas.openxmlformats.org/drawingml/2006/main" noGrp="1"/>
          </p:cNvSpPr>
          <p:nvPr/>
        </p:nvSpPr>
        <p:spPr>
          <a:xfrm xmlns:a="http://schemas.openxmlformats.org/drawingml/2006/main">
            <a:off x="6381750" y="2095500"/>
            <a:ext cx="4762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2606D"/>
                </a:solidFill>
              </a:defRPr>
            </a:pPr>
            <a:r>
              <a:rPr sz="1650" b="0">
                <a:solidFill>
                  <a:srgbClr val="52606D"/>
                </a:solidFill>
              </a:rPr>
              <a:t>Next-open SPY H20 direction asks whether the market state transports outside its own construction.</a:t>
            </a:r>
          </a:p>
        </p:txBody>
      </p:sp>
      <p:sp>
        <p:nvSpPr>
          <p:cNvPr id="15" name="">
            <a:extLst xmlns:a="http://schemas.openxmlformats.org/drawingml/2006/main">
              <a:ext uri="{FF2B5EF4-FFF2-40B4-BE49-F238E27FC236}">
                <a16:creationId xmlns:a16="http://schemas.microsoft.com/office/drawing/2014/main" id="{E43851ED-7BF3-48E1-810B-C295BE8AB849}"/>
              </a:ext>
            </a:extLst>
          </p:cNvPr>
          <p:cNvSpPr>
            <a:spLocks xmlns:a="http://schemas.openxmlformats.org/drawingml/2006/main" noGrp="1"/>
          </p:cNvSpPr>
          <p:nvPr/>
        </p:nvSpPr>
        <p:spPr>
          <a:xfrm xmlns:a="http://schemas.openxmlformats.org/drawingml/2006/main">
            <a:off x="6381750" y="3333750"/>
            <a:ext cx="4810125" cy="1790700"/>
          </a:xfrm>
          <a:prstGeom xmlns:a="http://schemas.openxmlformats.org/drawingml/2006/main" prst="rect">
            <a:avLst/>
          </a:prstGeom>
          <a:solidFill xmlns:a="http://schemas.openxmlformats.org/drawingml/2006/main">
            <a:srgbClr val="F2F4F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926E5E5-54B7-4920-A5B1-971BD2B0E59A}"/>
              </a:ext>
            </a:extLst>
          </p:cNvPr>
          <p:cNvSpPr>
            <a:spLocks xmlns:a="http://schemas.openxmlformats.org/drawingml/2006/main" noGrp="1"/>
          </p:cNvSpPr>
          <p:nvPr/>
        </p:nvSpPr>
        <p:spPr>
          <a:xfrm xmlns:a="http://schemas.openxmlformats.org/drawingml/2006/main">
            <a:off x="6667500" y="360045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7202A"/>
                </a:solidFill>
              </a:defRPr>
            </a:pPr>
            <a:r>
              <a:rPr sz="1800" b="1">
                <a:solidFill>
                  <a:srgbClr val="17202A"/>
                </a:solidFill>
              </a:rPr>
              <a:t>Nine conjunctive gates</a:t>
            </a:r>
          </a:p>
        </p:txBody>
      </p:sp>
      <p:sp>
        <p:nvSpPr>
          <p:cNvPr id="17" name="">
            <a:extLst xmlns:a="http://schemas.openxmlformats.org/drawingml/2006/main">
              <a:ext uri="{FF2B5EF4-FFF2-40B4-BE49-F238E27FC236}">
                <a16:creationId xmlns:a16="http://schemas.microsoft.com/office/drawing/2014/main" id="{FB23C040-986B-4611-B856-FA1161D19E56}"/>
              </a:ext>
            </a:extLst>
          </p:cNvPr>
          <p:cNvSpPr>
            <a:spLocks xmlns:a="http://schemas.openxmlformats.org/drawingml/2006/main" noGrp="1"/>
          </p:cNvSpPr>
          <p:nvPr/>
        </p:nvSpPr>
        <p:spPr>
          <a:xfrm xmlns:a="http://schemas.openxmlformats.org/drawingml/2006/main">
            <a:off x="6667500" y="4143375"/>
            <a:ext cx="4191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effect size · continuous ordering · 20 offsets · temporal halves · calendar years · circular controls · SPY direction</a:t>
            </a:r>
          </a:p>
        </p:txBody>
      </p:sp>
      <p:sp>
        <p:nvSpPr>
          <p:cNvPr id="18" name="">
            <a:extLst xmlns:a="http://schemas.openxmlformats.org/drawingml/2006/main">
              <a:ext uri="{FF2B5EF4-FFF2-40B4-BE49-F238E27FC236}">
                <a16:creationId xmlns:a16="http://schemas.microsoft.com/office/drawing/2014/main" id="{D8EA0849-6369-4834-A9BD-D59C673E5A44}"/>
              </a:ext>
            </a:extLst>
          </p:cNvPr>
          <p:cNvSpPr>
            <a:spLocks xmlns:a="http://schemas.openxmlformats.org/drawingml/2006/main" noGrp="1"/>
          </p:cNvSpPr>
          <p:nvPr/>
        </p:nvSpPr>
        <p:spPr>
          <a:xfrm xmlns:a="http://schemas.openxmlformats.org/drawingml/2006/main">
            <a:off x="857250" y="5953125"/>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D95F59"/>
                </a:solidFill>
              </a:defRPr>
            </a:pPr>
            <a:r>
              <a:rPr sz="1575" b="1">
                <a:solidFill>
                  <a:srgbClr val="D95F59"/>
                </a:solidFill>
              </a:rPr>
              <a:t>Pass still means STOP before ATR%, TSLA/AMD, strategy outcomes, or 2024+.</a:t>
            </a:r>
          </a:p>
        </p:txBody>
      </p:sp>
    </p:spTree>
    <p:extLst>
      <p:ext uri="{BB962C8B-B14F-4D97-AF65-F5344CB8AC3E}">
        <p14:creationId xmlns:p14="http://schemas.microsoft.com/office/powerpoint/2010/main" val="20480504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05EBA3D-EFE0-4CD2-9F03-1CC77BDDA599}"/>
              </a:ext>
            </a:extLst>
          </p:cNvPr>
          <p:cNvSpPr>
            <a:spLocks xmlns:a="http://schemas.openxmlformats.org/drawingml/2006/main" noGrp="1"/>
          </p:cNvSpPr>
          <p:nvPr/>
        </p:nvSpPr>
        <p:spPr>
          <a:xfrm xmlns:a="http://schemas.openxmlformats.org/drawingml/2006/main">
            <a:off x="476250" y="266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PRIMARY RESULT</a:t>
            </a:r>
          </a:p>
        </p:txBody>
      </p:sp>
      <p:sp>
        <p:nvSpPr>
          <p:cNvPr id="2" name="">
            <a:extLst xmlns:a="http://schemas.openxmlformats.org/drawingml/2006/main">
              <a:ext uri="{FF2B5EF4-FFF2-40B4-BE49-F238E27FC236}">
                <a16:creationId xmlns:a16="http://schemas.microsoft.com/office/drawing/2014/main" id="{EAE698C4-30D1-4631-AEC3-8AC1838B4BFD}"/>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intended direction reversed at the one-month horizon</a:t>
            </a:r>
          </a:p>
        </p:txBody>
      </p:sp>
      <p:sp>
        <p:nvSpPr>
          <p:cNvPr id="3" name="">
            <a:extLst xmlns:a="http://schemas.openxmlformats.org/drawingml/2006/main">
              <a:ext uri="{FF2B5EF4-FFF2-40B4-BE49-F238E27FC236}">
                <a16:creationId xmlns:a16="http://schemas.microsoft.com/office/drawing/2014/main" id="{54A4E02F-D01C-498B-A8A9-A643C51F7810}"/>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6</a:t>
            </a:r>
          </a:p>
        </p:txBody>
      </p:sp>
      <p:sp>
        <p:nvSpPr>
          <p:cNvPr id="4" name="">
            <a:extLst xmlns:a="http://schemas.openxmlformats.org/drawingml/2006/main">
              <a:ext uri="{FF2B5EF4-FFF2-40B4-BE49-F238E27FC236}">
                <a16:creationId xmlns:a16="http://schemas.microsoft.com/office/drawing/2014/main" id="{8BF46579-CEFB-413C-8738-E89FA3960B2F}"/>
              </a:ext>
            </a:extLst>
          </p:cNvPr>
          <p:cNvSpPr>
            <a:spLocks xmlns:a="http://schemas.openxmlformats.org/drawingml/2006/main" noGrp="1"/>
          </p:cNvSpPr>
          <p:nvPr/>
        </p:nvSpPr>
        <p:spPr>
          <a:xfrm xmlns:a="http://schemas.openxmlformats.org/drawingml/2006/main">
            <a:off x="428625" y="1381125"/>
            <a:ext cx="7524750" cy="4667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89c41bc495b4448"/>
          <a:stretch xmlns:a="http://schemas.openxmlformats.org/drawingml/2006/main"/>
        </p:blipFill>
        <p:spPr>
          <a:xfrm xmlns:a="http://schemas.openxmlformats.org/drawingml/2006/main">
            <a:off x="428625" y="1520031"/>
            <a:ext cx="7524750" cy="438943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D23DC39-2567-45FC-86A9-F98ECA9DC823}"/>
              </a:ext>
            </a:extLst>
          </p:cNvPr>
          <p:cNvSpPr>
            <a:spLocks xmlns:a="http://schemas.openxmlformats.org/drawingml/2006/main" noGrp="1"/>
          </p:cNvSpPr>
          <p:nvPr/>
        </p:nvSpPr>
        <p:spPr>
          <a:xfrm xmlns:a="http://schemas.openxmlformats.org/drawingml/2006/main">
            <a:off x="8191500" y="1524000"/>
            <a:ext cx="28575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944B911-8433-408C-A3D9-E4D1FC36858D}"/>
              </a:ext>
            </a:extLst>
          </p:cNvPr>
          <p:cNvSpPr>
            <a:spLocks xmlns:a="http://schemas.openxmlformats.org/drawingml/2006/main" noGrp="1"/>
          </p:cNvSpPr>
          <p:nvPr/>
        </p:nvSpPr>
        <p:spPr>
          <a:xfrm xmlns:a="http://schemas.openxmlformats.org/drawingml/2006/main">
            <a:off x="8420100" y="1666875"/>
            <a:ext cx="2428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−1.58 pp</a:t>
            </a:r>
          </a:p>
        </p:txBody>
      </p:sp>
      <p:sp>
        <p:nvSpPr>
          <p:cNvPr id="8" name="">
            <a:extLst xmlns:a="http://schemas.openxmlformats.org/drawingml/2006/main">
              <a:ext uri="{FF2B5EF4-FFF2-40B4-BE49-F238E27FC236}">
                <a16:creationId xmlns:a16="http://schemas.microsoft.com/office/drawing/2014/main" id="{17844DA9-2D85-4736-87A6-B728AC551BD6}"/>
              </a:ext>
            </a:extLst>
          </p:cNvPr>
          <p:cNvSpPr>
            <a:spLocks xmlns:a="http://schemas.openxmlformats.org/drawingml/2006/main" noGrp="1"/>
          </p:cNvSpPr>
          <p:nvPr/>
        </p:nvSpPr>
        <p:spPr>
          <a:xfrm xmlns:a="http://schemas.openxmlformats.org/drawingml/2006/main">
            <a:off x="8420100" y="2143125"/>
            <a:ext cx="2428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BROAD UP minus BROAD DOWN field return</a:t>
            </a:r>
          </a:p>
        </p:txBody>
      </p:sp>
      <p:sp>
        <p:nvSpPr>
          <p:cNvPr id="9" name="">
            <a:extLst xmlns:a="http://schemas.openxmlformats.org/drawingml/2006/main">
              <a:ext uri="{FF2B5EF4-FFF2-40B4-BE49-F238E27FC236}">
                <a16:creationId xmlns:a16="http://schemas.microsoft.com/office/drawing/2014/main" id="{DBA102A1-5947-4A77-84E2-E72F481D8D81}"/>
              </a:ext>
            </a:extLst>
          </p:cNvPr>
          <p:cNvSpPr>
            <a:spLocks xmlns:a="http://schemas.openxmlformats.org/drawingml/2006/main" noGrp="1"/>
          </p:cNvSpPr>
          <p:nvPr/>
        </p:nvSpPr>
        <p:spPr>
          <a:xfrm xmlns:a="http://schemas.openxmlformats.org/drawingml/2006/main">
            <a:off x="8191500" y="2781300"/>
            <a:ext cx="28575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AC0062F-E210-4339-97A2-CCFBAC5F5ECD}"/>
              </a:ext>
            </a:extLst>
          </p:cNvPr>
          <p:cNvSpPr>
            <a:spLocks xmlns:a="http://schemas.openxmlformats.org/drawingml/2006/main" noGrp="1"/>
          </p:cNvSpPr>
          <p:nvPr/>
        </p:nvSpPr>
        <p:spPr>
          <a:xfrm xmlns:a="http://schemas.openxmlformats.org/drawingml/2006/main">
            <a:off x="8420100" y="2924175"/>
            <a:ext cx="2428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−17.5 pp</a:t>
            </a:r>
          </a:p>
        </p:txBody>
      </p:sp>
      <p:sp>
        <p:nvSpPr>
          <p:cNvPr id="11" name="">
            <a:extLst xmlns:a="http://schemas.openxmlformats.org/drawingml/2006/main">
              <a:ext uri="{FF2B5EF4-FFF2-40B4-BE49-F238E27FC236}">
                <a16:creationId xmlns:a16="http://schemas.microsoft.com/office/drawing/2014/main" id="{496F84F4-5F54-4E31-B080-36F7CA8B0759}"/>
              </a:ext>
            </a:extLst>
          </p:cNvPr>
          <p:cNvSpPr>
            <a:spLocks xmlns:a="http://schemas.openxmlformats.org/drawingml/2006/main" noGrp="1"/>
          </p:cNvSpPr>
          <p:nvPr/>
        </p:nvSpPr>
        <p:spPr>
          <a:xfrm xmlns:a="http://schemas.openxmlformats.org/drawingml/2006/main">
            <a:off x="8420100" y="3400425"/>
            <a:ext cx="2428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future participation gap</a:t>
            </a:r>
          </a:p>
        </p:txBody>
      </p:sp>
      <p:sp>
        <p:nvSpPr>
          <p:cNvPr id="12" name="">
            <a:extLst xmlns:a="http://schemas.openxmlformats.org/drawingml/2006/main">
              <a:ext uri="{FF2B5EF4-FFF2-40B4-BE49-F238E27FC236}">
                <a16:creationId xmlns:a16="http://schemas.microsoft.com/office/drawing/2014/main" id="{776F9B76-3B0D-4E94-B877-2A6383C0B687}"/>
              </a:ext>
            </a:extLst>
          </p:cNvPr>
          <p:cNvSpPr>
            <a:spLocks xmlns:a="http://schemas.openxmlformats.org/drawingml/2006/main" noGrp="1"/>
          </p:cNvSpPr>
          <p:nvPr/>
        </p:nvSpPr>
        <p:spPr>
          <a:xfrm xmlns:a="http://schemas.openxmlformats.org/drawingml/2006/main">
            <a:off x="8191500" y="4038600"/>
            <a:ext cx="2857500" cy="106680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740EFB9-59E9-4B5D-B645-3115C4AC76AA}"/>
              </a:ext>
            </a:extLst>
          </p:cNvPr>
          <p:cNvSpPr>
            <a:spLocks xmlns:a="http://schemas.openxmlformats.org/drawingml/2006/main" noGrp="1"/>
          </p:cNvSpPr>
          <p:nvPr/>
        </p:nvSpPr>
        <p:spPr>
          <a:xfrm xmlns:a="http://schemas.openxmlformats.org/drawingml/2006/main">
            <a:off x="8420100" y="4181475"/>
            <a:ext cx="2428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3D8DFF"/>
                </a:solidFill>
              </a:defRPr>
            </a:pPr>
            <a:r>
              <a:rPr sz="2325" b="1">
                <a:solidFill>
                  <a:srgbClr val="3D8DFF"/>
                </a:solidFill>
              </a:rPr>
              <a:t>207 / 429</a:t>
            </a:r>
          </a:p>
        </p:txBody>
      </p:sp>
      <p:sp>
        <p:nvSpPr>
          <p:cNvPr id="14" name="">
            <a:extLst xmlns:a="http://schemas.openxmlformats.org/drawingml/2006/main">
              <a:ext uri="{FF2B5EF4-FFF2-40B4-BE49-F238E27FC236}">
                <a16:creationId xmlns:a16="http://schemas.microsoft.com/office/drawing/2014/main" id="{C2345546-828B-4093-BC26-FD21CD828BD4}"/>
              </a:ext>
            </a:extLst>
          </p:cNvPr>
          <p:cNvSpPr>
            <a:spLocks xmlns:a="http://schemas.openxmlformats.org/drawingml/2006/main" noGrp="1"/>
          </p:cNvSpPr>
          <p:nvPr/>
        </p:nvSpPr>
        <p:spPr>
          <a:xfrm xmlns:a="http://schemas.openxmlformats.org/drawingml/2006/main">
            <a:off x="8420100" y="4657725"/>
            <a:ext cx="2428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BROAD DOWN / BROAD UP observations</a:t>
            </a:r>
          </a:p>
        </p:txBody>
      </p:sp>
      <p:sp>
        <p:nvSpPr>
          <p:cNvPr id="15" name="">
            <a:extLst xmlns:a="http://schemas.openxmlformats.org/drawingml/2006/main">
              <a:ext uri="{FF2B5EF4-FFF2-40B4-BE49-F238E27FC236}">
                <a16:creationId xmlns:a16="http://schemas.microsoft.com/office/drawing/2014/main" id="{88C79A2F-0C59-44E6-A905-BEE43BFD0C1B}"/>
              </a:ext>
            </a:extLst>
          </p:cNvPr>
          <p:cNvSpPr>
            <a:spLocks xmlns:a="http://schemas.openxmlformats.org/drawingml/2006/main" noGrp="1"/>
          </p:cNvSpPr>
          <p:nvPr/>
        </p:nvSpPr>
        <p:spPr>
          <a:xfrm xmlns:a="http://schemas.openxmlformats.org/drawingml/2006/main">
            <a:off x="8191500" y="541020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D95F59"/>
                </a:solidFill>
              </a:defRPr>
            </a:pPr>
            <a:r>
              <a:rPr sz="1500" b="1">
                <a:solidFill>
                  <a:srgbClr val="D95F59"/>
                </a:solidFill>
              </a:rPr>
              <a:t>Broad down was followed by the stronger rebound.</a:t>
            </a:r>
          </a:p>
        </p:txBody>
      </p:sp>
    </p:spTree>
    <p:extLst>
      <p:ext uri="{BB962C8B-B14F-4D97-AF65-F5344CB8AC3E}">
        <p14:creationId xmlns:p14="http://schemas.microsoft.com/office/powerpoint/2010/main" val="198948486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D6DAC0E-B4DC-436F-BF34-F9FB7E00941A}"/>
              </a:ext>
            </a:extLst>
          </p:cNvPr>
          <p:cNvSpPr>
            <a:spLocks xmlns:a="http://schemas.openxmlformats.org/drawingml/2006/main" noGrp="1"/>
          </p:cNvSpPr>
          <p:nvPr/>
        </p:nvSpPr>
        <p:spPr>
          <a:xfrm xmlns:a="http://schemas.openxmlformats.org/drawingml/2006/main">
            <a:off x="476250" y="266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CONTINUOUS + HEALTH EVIDENCE</a:t>
            </a:r>
          </a:p>
        </p:txBody>
      </p:sp>
      <p:sp>
        <p:nvSpPr>
          <p:cNvPr id="2" name="">
            <a:extLst xmlns:a="http://schemas.openxmlformats.org/drawingml/2006/main">
              <a:ext uri="{FF2B5EF4-FFF2-40B4-BE49-F238E27FC236}">
                <a16:creationId xmlns:a16="http://schemas.microsoft.com/office/drawing/2014/main" id="{27B1913C-ACBC-4637-BCBC-E05811D94944}"/>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Participation and agreement did not rescue positive direction</a:t>
            </a:r>
          </a:p>
        </p:txBody>
      </p:sp>
      <p:sp>
        <p:nvSpPr>
          <p:cNvPr id="3" name="">
            <a:extLst xmlns:a="http://schemas.openxmlformats.org/drawingml/2006/main">
              <a:ext uri="{FF2B5EF4-FFF2-40B4-BE49-F238E27FC236}">
                <a16:creationId xmlns:a16="http://schemas.microsoft.com/office/drawing/2014/main" id="{82805C96-E017-4352-A2C9-3EBAD6F7B04C}"/>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7</a:t>
            </a:r>
          </a:p>
        </p:txBody>
      </p:sp>
      <p:sp>
        <p:nvSpPr>
          <p:cNvPr id="4" name="">
            <a:extLst xmlns:a="http://schemas.openxmlformats.org/drawingml/2006/main">
              <a:ext uri="{FF2B5EF4-FFF2-40B4-BE49-F238E27FC236}">
                <a16:creationId xmlns:a16="http://schemas.microsoft.com/office/drawing/2014/main" id="{403366A1-9AA0-45E2-B6A2-E5ED2DDEBA2D}"/>
              </a:ext>
            </a:extLst>
          </p:cNvPr>
          <p:cNvSpPr>
            <a:spLocks xmlns:a="http://schemas.openxmlformats.org/drawingml/2006/main" noGrp="1"/>
          </p:cNvSpPr>
          <p:nvPr/>
        </p:nvSpPr>
        <p:spPr>
          <a:xfrm xmlns:a="http://schemas.openxmlformats.org/drawingml/2006/main">
            <a:off x="428625" y="1381125"/>
            <a:ext cx="7477125" cy="4667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cb53f6f7bdb4970"/>
          <a:stretch xmlns:a="http://schemas.openxmlformats.org/drawingml/2006/main"/>
        </p:blipFill>
        <p:spPr>
          <a:xfrm xmlns:a="http://schemas.openxmlformats.org/drawingml/2006/main">
            <a:off x="428625" y="1533922"/>
            <a:ext cx="7477125" cy="4361656"/>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47F52A7-77C6-4D20-BCE9-5147BB58C847}"/>
              </a:ext>
            </a:extLst>
          </p:cNvPr>
          <p:cNvSpPr>
            <a:spLocks xmlns:a="http://schemas.openxmlformats.org/drawingml/2006/main" noGrp="1"/>
          </p:cNvSpPr>
          <p:nvPr/>
        </p:nvSpPr>
        <p:spPr>
          <a:xfrm xmlns:a="http://schemas.openxmlformats.org/drawingml/2006/main">
            <a:off x="8191500" y="1524000"/>
            <a:ext cx="28575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511CCA6-5B40-42A3-82F7-2900410799FB}"/>
              </a:ext>
            </a:extLst>
          </p:cNvPr>
          <p:cNvSpPr>
            <a:spLocks xmlns:a="http://schemas.openxmlformats.org/drawingml/2006/main" noGrp="1"/>
          </p:cNvSpPr>
          <p:nvPr/>
        </p:nvSpPr>
        <p:spPr>
          <a:xfrm xmlns:a="http://schemas.openxmlformats.org/drawingml/2006/main">
            <a:off x="8420100" y="1666875"/>
            <a:ext cx="2428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ρ = −0.134</a:t>
            </a:r>
          </a:p>
        </p:txBody>
      </p:sp>
      <p:sp>
        <p:nvSpPr>
          <p:cNvPr id="8" name="">
            <a:extLst xmlns:a="http://schemas.openxmlformats.org/drawingml/2006/main">
              <a:ext uri="{FF2B5EF4-FFF2-40B4-BE49-F238E27FC236}">
                <a16:creationId xmlns:a16="http://schemas.microsoft.com/office/drawing/2014/main" id="{B2D8AB3A-997B-4D56-B577-D50F198B52AB}"/>
              </a:ext>
            </a:extLst>
          </p:cNvPr>
          <p:cNvSpPr>
            <a:spLocks xmlns:a="http://schemas.openxmlformats.org/drawingml/2006/main" noGrp="1"/>
          </p:cNvSpPr>
          <p:nvPr/>
        </p:nvSpPr>
        <p:spPr>
          <a:xfrm xmlns:a="http://schemas.openxmlformats.org/drawingml/2006/main">
            <a:off x="8420100" y="2143125"/>
            <a:ext cx="2428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direction versus future field return</a:t>
            </a:r>
          </a:p>
        </p:txBody>
      </p:sp>
      <p:sp>
        <p:nvSpPr>
          <p:cNvPr id="9" name="">
            <a:extLst xmlns:a="http://schemas.openxmlformats.org/drawingml/2006/main">
              <a:ext uri="{FF2B5EF4-FFF2-40B4-BE49-F238E27FC236}">
                <a16:creationId xmlns:a16="http://schemas.microsoft.com/office/drawing/2014/main" id="{C127D533-8E37-4267-9561-658DB8A37669}"/>
              </a:ext>
            </a:extLst>
          </p:cNvPr>
          <p:cNvSpPr>
            <a:spLocks xmlns:a="http://schemas.openxmlformats.org/drawingml/2006/main" noGrp="1"/>
          </p:cNvSpPr>
          <p:nvPr/>
        </p:nvSpPr>
        <p:spPr>
          <a:xfrm xmlns:a="http://schemas.openxmlformats.org/drawingml/2006/main">
            <a:off x="8191500" y="2781300"/>
            <a:ext cx="28575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9A7E124-FBD3-4F1B-9804-91CA7A0F5A4F}"/>
              </a:ext>
            </a:extLst>
          </p:cNvPr>
          <p:cNvSpPr>
            <a:spLocks xmlns:a="http://schemas.openxmlformats.org/drawingml/2006/main" noGrp="1"/>
          </p:cNvSpPr>
          <p:nvPr/>
        </p:nvSpPr>
        <p:spPr>
          <a:xfrm xmlns:a="http://schemas.openxmlformats.org/drawingml/2006/main">
            <a:off x="8420100" y="2924175"/>
            <a:ext cx="2428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ρ = −0.099</a:t>
            </a:r>
          </a:p>
        </p:txBody>
      </p:sp>
      <p:sp>
        <p:nvSpPr>
          <p:cNvPr id="11" name="">
            <a:extLst xmlns:a="http://schemas.openxmlformats.org/drawingml/2006/main">
              <a:ext uri="{FF2B5EF4-FFF2-40B4-BE49-F238E27FC236}">
                <a16:creationId xmlns:a16="http://schemas.microsoft.com/office/drawing/2014/main" id="{315175C9-1881-4508-9FB5-3A7A62AF6994}"/>
              </a:ext>
            </a:extLst>
          </p:cNvPr>
          <p:cNvSpPr>
            <a:spLocks xmlns:a="http://schemas.openxmlformats.org/drawingml/2006/main" noGrp="1"/>
          </p:cNvSpPr>
          <p:nvPr/>
        </p:nvSpPr>
        <p:spPr>
          <a:xfrm xmlns:a="http://schemas.openxmlformats.org/drawingml/2006/main">
            <a:off x="8420100" y="3400425"/>
            <a:ext cx="2428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participation versus future return</a:t>
            </a:r>
          </a:p>
        </p:txBody>
      </p:sp>
      <p:sp>
        <p:nvSpPr>
          <p:cNvPr id="12" name="">
            <a:extLst xmlns:a="http://schemas.openxmlformats.org/drawingml/2006/main">
              <a:ext uri="{FF2B5EF4-FFF2-40B4-BE49-F238E27FC236}">
                <a16:creationId xmlns:a16="http://schemas.microsoft.com/office/drawing/2014/main" id="{7749AB53-9AF6-4F99-B185-2CE5B60D6D44}"/>
              </a:ext>
            </a:extLst>
          </p:cNvPr>
          <p:cNvSpPr>
            <a:spLocks xmlns:a="http://schemas.openxmlformats.org/drawingml/2006/main" noGrp="1"/>
          </p:cNvSpPr>
          <p:nvPr/>
        </p:nvSpPr>
        <p:spPr>
          <a:xfrm xmlns:a="http://schemas.openxmlformats.org/drawingml/2006/main">
            <a:off x="8096250" y="4143375"/>
            <a:ext cx="3476625" cy="1666875"/>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24E9110-931B-49A8-9FBC-D7A61861AE8A}"/>
              </a:ext>
            </a:extLst>
          </p:cNvPr>
          <p:cNvSpPr>
            <a:spLocks xmlns:a="http://schemas.openxmlformats.org/drawingml/2006/main" noGrp="1"/>
          </p:cNvSpPr>
          <p:nvPr/>
        </p:nvSpPr>
        <p:spPr>
          <a:xfrm xmlns:a="http://schemas.openxmlformats.org/drawingml/2006/main">
            <a:off x="8382000" y="4381500"/>
            <a:ext cx="2905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F2A65A"/>
                </a:solidFill>
              </a:defRPr>
            </a:pPr>
            <a:r>
              <a:rPr sz="1725" b="1">
                <a:solidFill>
                  <a:srgbClr val="F2A65A"/>
                </a:solidFill>
              </a:rPr>
              <a:t>Health contrast</a:t>
            </a:r>
          </a:p>
        </p:txBody>
      </p:sp>
      <p:sp>
        <p:nvSpPr>
          <p:cNvPr id="14" name="">
            <a:extLst xmlns:a="http://schemas.openxmlformats.org/drawingml/2006/main">
              <a:ext uri="{FF2B5EF4-FFF2-40B4-BE49-F238E27FC236}">
                <a16:creationId xmlns:a16="http://schemas.microsoft.com/office/drawing/2014/main" id="{A6BD0428-BBFF-41AE-868A-B46291953902}"/>
              </a:ext>
            </a:extLst>
          </p:cNvPr>
          <p:cNvSpPr>
            <a:spLocks xmlns:a="http://schemas.openxmlformats.org/drawingml/2006/main" noGrp="1"/>
          </p:cNvSpPr>
          <p:nvPr/>
        </p:nvSpPr>
        <p:spPr>
          <a:xfrm xmlns:a="http://schemas.openxmlformats.org/drawingml/2006/main">
            <a:off x="8382000" y="4857750"/>
            <a:ext cx="2905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BROAD UP beat FRAGILE UP by only +0.06 pp return and had 0.8 pp less future participation.</a:t>
            </a:r>
          </a:p>
        </p:txBody>
      </p:sp>
    </p:spTree>
    <p:extLst>
      <p:ext uri="{BB962C8B-B14F-4D97-AF65-F5344CB8AC3E}">
        <p14:creationId xmlns:p14="http://schemas.microsoft.com/office/powerpoint/2010/main" val="115337332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F3EE1B5-DB65-4699-9D2D-44D63710DB4C}"/>
              </a:ext>
            </a:extLst>
          </p:cNvPr>
          <p:cNvSpPr>
            <a:spLocks xmlns:a="http://schemas.openxmlformats.org/drawingml/2006/main" noGrp="1"/>
          </p:cNvSpPr>
          <p:nvPr/>
        </p:nvSpPr>
        <p:spPr>
          <a:xfrm xmlns:a="http://schemas.openxmlformats.org/drawingml/2006/main">
            <a:off x="476250" y="266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STABILITY + FALSIFICATION</a:t>
            </a:r>
          </a:p>
        </p:txBody>
      </p:sp>
      <p:sp>
        <p:nvSpPr>
          <p:cNvPr id="2" name="">
            <a:extLst xmlns:a="http://schemas.openxmlformats.org/drawingml/2006/main">
              <a:ext uri="{FF2B5EF4-FFF2-40B4-BE49-F238E27FC236}">
                <a16:creationId xmlns:a16="http://schemas.microsoft.com/office/drawing/2014/main" id="{2D01F801-34F2-48E5-9CF3-D2CEA012816F}"/>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reversal transported across time and timing controls</a:t>
            </a:r>
          </a:p>
        </p:txBody>
      </p:sp>
      <p:sp>
        <p:nvSpPr>
          <p:cNvPr id="3" name="">
            <a:extLst xmlns:a="http://schemas.openxmlformats.org/drawingml/2006/main">
              <a:ext uri="{FF2B5EF4-FFF2-40B4-BE49-F238E27FC236}">
                <a16:creationId xmlns:a16="http://schemas.microsoft.com/office/drawing/2014/main" id="{D5E8DBB6-1655-4CEA-97FE-B5FEF9770815}"/>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8</a:t>
            </a:r>
          </a:p>
        </p:txBody>
      </p:sp>
      <p:sp>
        <p:nvSpPr>
          <p:cNvPr id="4" name="">
            <a:extLst xmlns:a="http://schemas.openxmlformats.org/drawingml/2006/main">
              <a:ext uri="{FF2B5EF4-FFF2-40B4-BE49-F238E27FC236}">
                <a16:creationId xmlns:a16="http://schemas.microsoft.com/office/drawing/2014/main" id="{7E3D0113-C4CB-485B-8216-0393D6356387}"/>
              </a:ext>
            </a:extLst>
          </p:cNvPr>
          <p:cNvSpPr>
            <a:spLocks xmlns:a="http://schemas.openxmlformats.org/drawingml/2006/main" noGrp="1"/>
          </p:cNvSpPr>
          <p:nvPr/>
        </p:nvSpPr>
        <p:spPr>
          <a:xfrm xmlns:a="http://schemas.openxmlformats.org/drawingml/2006/main">
            <a:off x="428625" y="1381125"/>
            <a:ext cx="7524750" cy="4667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7a087f5c410c4181"/>
          <a:stretch xmlns:a="http://schemas.openxmlformats.org/drawingml/2006/main"/>
        </p:blipFill>
        <p:spPr>
          <a:xfrm xmlns:a="http://schemas.openxmlformats.org/drawingml/2006/main">
            <a:off x="428625" y="1520031"/>
            <a:ext cx="7524750" cy="438943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273003E-5A9B-4F82-A6D8-C3293A6BDCF7}"/>
              </a:ext>
            </a:extLst>
          </p:cNvPr>
          <p:cNvSpPr>
            <a:spLocks xmlns:a="http://schemas.openxmlformats.org/drawingml/2006/main" noGrp="1"/>
          </p:cNvSpPr>
          <p:nvPr/>
        </p:nvSpPr>
        <p:spPr>
          <a:xfrm xmlns:a="http://schemas.openxmlformats.org/drawingml/2006/main">
            <a:off x="8191500" y="1524000"/>
            <a:ext cx="28575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4632C89-A797-4AB8-8EC2-88A1F3D168E9}"/>
              </a:ext>
            </a:extLst>
          </p:cNvPr>
          <p:cNvSpPr>
            <a:spLocks xmlns:a="http://schemas.openxmlformats.org/drawingml/2006/main" noGrp="1"/>
          </p:cNvSpPr>
          <p:nvPr/>
        </p:nvSpPr>
        <p:spPr>
          <a:xfrm xmlns:a="http://schemas.openxmlformats.org/drawingml/2006/main">
            <a:off x="8420100" y="1666875"/>
            <a:ext cx="2428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6 / 20</a:t>
            </a:r>
          </a:p>
        </p:txBody>
      </p:sp>
      <p:sp>
        <p:nvSpPr>
          <p:cNvPr id="8" name="">
            <a:extLst xmlns:a="http://schemas.openxmlformats.org/drawingml/2006/main">
              <a:ext uri="{FF2B5EF4-FFF2-40B4-BE49-F238E27FC236}">
                <a16:creationId xmlns:a16="http://schemas.microsoft.com/office/drawing/2014/main" id="{C09796AB-B8B5-41EA-A5CD-26B10C362234}"/>
              </a:ext>
            </a:extLst>
          </p:cNvPr>
          <p:cNvSpPr>
            <a:spLocks xmlns:a="http://schemas.openxmlformats.org/drawingml/2006/main" noGrp="1"/>
          </p:cNvSpPr>
          <p:nvPr/>
        </p:nvSpPr>
        <p:spPr>
          <a:xfrm xmlns:a="http://schemas.openxmlformats.org/drawingml/2006/main">
            <a:off x="8420100" y="2143125"/>
            <a:ext cx="2428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offsets jointly positive</a:t>
            </a:r>
          </a:p>
        </p:txBody>
      </p:sp>
      <p:sp>
        <p:nvSpPr>
          <p:cNvPr id="9" name="">
            <a:extLst xmlns:a="http://schemas.openxmlformats.org/drawingml/2006/main">
              <a:ext uri="{FF2B5EF4-FFF2-40B4-BE49-F238E27FC236}">
                <a16:creationId xmlns:a16="http://schemas.microsoft.com/office/drawing/2014/main" id="{4FCB0C40-17EB-461F-8D8A-8EB944B0217B}"/>
              </a:ext>
            </a:extLst>
          </p:cNvPr>
          <p:cNvSpPr>
            <a:spLocks xmlns:a="http://schemas.openxmlformats.org/drawingml/2006/main" noGrp="1"/>
          </p:cNvSpPr>
          <p:nvPr/>
        </p:nvSpPr>
        <p:spPr>
          <a:xfrm xmlns:a="http://schemas.openxmlformats.org/drawingml/2006/main">
            <a:off x="8191500" y="2781300"/>
            <a:ext cx="28575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C06C40F-0662-44D8-AB06-6C1B2359BF36}"/>
              </a:ext>
            </a:extLst>
          </p:cNvPr>
          <p:cNvSpPr>
            <a:spLocks xmlns:a="http://schemas.openxmlformats.org/drawingml/2006/main" noGrp="1"/>
          </p:cNvSpPr>
          <p:nvPr/>
        </p:nvSpPr>
        <p:spPr>
          <a:xfrm xmlns:a="http://schemas.openxmlformats.org/drawingml/2006/main">
            <a:off x="8420100" y="2924175"/>
            <a:ext cx="2428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1 / 6</a:t>
            </a:r>
          </a:p>
        </p:txBody>
      </p:sp>
      <p:sp>
        <p:nvSpPr>
          <p:cNvPr id="11" name="">
            <a:extLst xmlns:a="http://schemas.openxmlformats.org/drawingml/2006/main">
              <a:ext uri="{FF2B5EF4-FFF2-40B4-BE49-F238E27FC236}">
                <a16:creationId xmlns:a16="http://schemas.microsoft.com/office/drawing/2014/main" id="{3941B198-9BC6-497D-AC0D-337086DBFA6C}"/>
              </a:ext>
            </a:extLst>
          </p:cNvPr>
          <p:cNvSpPr>
            <a:spLocks xmlns:a="http://schemas.openxmlformats.org/drawingml/2006/main" noGrp="1"/>
          </p:cNvSpPr>
          <p:nvPr/>
        </p:nvSpPr>
        <p:spPr>
          <a:xfrm xmlns:a="http://schemas.openxmlformats.org/drawingml/2006/main">
            <a:off x="8420100" y="3400425"/>
            <a:ext cx="2428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direction years jointly positive</a:t>
            </a:r>
          </a:p>
        </p:txBody>
      </p:sp>
      <p:sp>
        <p:nvSpPr>
          <p:cNvPr id="12" name="">
            <a:extLst xmlns:a="http://schemas.openxmlformats.org/drawingml/2006/main">
              <a:ext uri="{FF2B5EF4-FFF2-40B4-BE49-F238E27FC236}">
                <a16:creationId xmlns:a16="http://schemas.microsoft.com/office/drawing/2014/main" id="{4D41C5EE-8CFB-43C5-B031-8E65349533FE}"/>
              </a:ext>
            </a:extLst>
          </p:cNvPr>
          <p:cNvSpPr>
            <a:spLocks xmlns:a="http://schemas.openxmlformats.org/drawingml/2006/main" noGrp="1"/>
          </p:cNvSpPr>
          <p:nvPr/>
        </p:nvSpPr>
        <p:spPr>
          <a:xfrm xmlns:a="http://schemas.openxmlformats.org/drawingml/2006/main">
            <a:off x="8096250" y="4143375"/>
            <a:ext cx="3476625" cy="1666875"/>
          </a:xfrm>
          <a:prstGeom xmlns:a="http://schemas.openxmlformats.org/drawingml/2006/main" prst="rect">
            <a:avLst/>
          </a:prstGeom>
          <a:solidFill xmlns:a="http://schemas.openxmlformats.org/drawingml/2006/main">
            <a:srgbClr val="FFF1E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AF6CC6F-2A20-47E3-A1CD-F08FBC21FBEB}"/>
              </a:ext>
            </a:extLst>
          </p:cNvPr>
          <p:cNvSpPr>
            <a:spLocks xmlns:a="http://schemas.openxmlformats.org/drawingml/2006/main" noGrp="1"/>
          </p:cNvSpPr>
          <p:nvPr/>
        </p:nvSpPr>
        <p:spPr>
          <a:xfrm xmlns:a="http://schemas.openxmlformats.org/drawingml/2006/main">
            <a:off x="8382000" y="4381500"/>
            <a:ext cx="2905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2A65A"/>
                </a:solidFill>
              </a:defRPr>
            </a:pPr>
            <a:r>
              <a:rPr sz="1650" b="1">
                <a:solidFill>
                  <a:srgbClr val="F2A65A"/>
                </a:solidFill>
              </a:rPr>
              <a:t>Opposite control tail</a:t>
            </a:r>
          </a:p>
        </p:txBody>
      </p:sp>
      <p:sp>
        <p:nvSpPr>
          <p:cNvPr id="14" name="">
            <a:extLst xmlns:a="http://schemas.openxmlformats.org/drawingml/2006/main">
              <a:ext uri="{FF2B5EF4-FFF2-40B4-BE49-F238E27FC236}">
                <a16:creationId xmlns:a16="http://schemas.microsoft.com/office/drawing/2014/main" id="{DE5ACEAB-FE11-4C8A-A0C1-C24F3142CB8E}"/>
              </a:ext>
            </a:extLst>
          </p:cNvPr>
          <p:cNvSpPr>
            <a:spLocks xmlns:a="http://schemas.openxmlformats.org/drawingml/2006/main" noGrp="1"/>
          </p:cNvSpPr>
          <p:nvPr/>
        </p:nvSpPr>
        <p:spPr>
          <a:xfrm xmlns:a="http://schemas.openxmlformats.org/drawingml/2006/main">
            <a:off x="8382000" y="4810125"/>
            <a:ext cx="29051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Actual direction return and participation gaps ranked at the 2.5th and 3.0th percentiles—not the required 90th.</a:t>
            </a:r>
          </a:p>
        </p:txBody>
      </p:sp>
    </p:spTree>
    <p:extLst>
      <p:ext uri="{BB962C8B-B14F-4D97-AF65-F5344CB8AC3E}">
        <p14:creationId xmlns:p14="http://schemas.microsoft.com/office/powerpoint/2010/main" val="77480888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0E4DBF9-BBB5-43CD-9AA2-9D7311F13264}"/>
              </a:ext>
            </a:extLst>
          </p:cNvPr>
          <p:cNvSpPr>
            <a:spLocks xmlns:a="http://schemas.openxmlformats.org/drawingml/2006/main" noGrp="1"/>
          </p:cNvSpPr>
          <p:nvPr/>
        </p:nvSpPr>
        <p:spPr>
          <a:xfrm xmlns:a="http://schemas.openxmlformats.org/drawingml/2006/main">
            <a:off x="476250" y="266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SECONDARY EXTERNAL CHECK</a:t>
            </a:r>
          </a:p>
        </p:txBody>
      </p:sp>
      <p:sp>
        <p:nvSpPr>
          <p:cNvPr id="2" name="">
            <a:extLst xmlns:a="http://schemas.openxmlformats.org/drawingml/2006/main">
              <a:ext uri="{FF2B5EF4-FFF2-40B4-BE49-F238E27FC236}">
                <a16:creationId xmlns:a16="http://schemas.microsoft.com/office/drawing/2014/main" id="{DC4F1E09-C9E4-47F3-B8A1-CC653746ACE8}"/>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SPY confirmed the failure—but SPY was never the product</a:t>
            </a:r>
          </a:p>
        </p:txBody>
      </p:sp>
      <p:sp>
        <p:nvSpPr>
          <p:cNvPr id="3" name="">
            <a:extLst xmlns:a="http://schemas.openxmlformats.org/drawingml/2006/main">
              <a:ext uri="{FF2B5EF4-FFF2-40B4-BE49-F238E27FC236}">
                <a16:creationId xmlns:a16="http://schemas.microsoft.com/office/drawing/2014/main" id="{7075766E-F077-46BA-883B-D63A84525866}"/>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9</a:t>
            </a:r>
          </a:p>
        </p:txBody>
      </p:sp>
      <p:sp>
        <p:nvSpPr>
          <p:cNvPr id="4" name="">
            <a:extLst xmlns:a="http://schemas.openxmlformats.org/drawingml/2006/main">
              <a:ext uri="{FF2B5EF4-FFF2-40B4-BE49-F238E27FC236}">
                <a16:creationId xmlns:a16="http://schemas.microsoft.com/office/drawing/2014/main" id="{B9CCF46E-6A68-4DA8-9567-1C7CAD17BB0F}"/>
              </a:ext>
            </a:extLst>
          </p:cNvPr>
          <p:cNvSpPr>
            <a:spLocks xmlns:a="http://schemas.openxmlformats.org/drawingml/2006/main" noGrp="1"/>
          </p:cNvSpPr>
          <p:nvPr/>
        </p:nvSpPr>
        <p:spPr>
          <a:xfrm xmlns:a="http://schemas.openxmlformats.org/drawingml/2006/main">
            <a:off x="428625" y="1381125"/>
            <a:ext cx="7524750" cy="4667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8626c07e7664053"/>
          <a:stretch xmlns:a="http://schemas.openxmlformats.org/drawingml/2006/main"/>
        </p:blipFill>
        <p:spPr>
          <a:xfrm xmlns:a="http://schemas.openxmlformats.org/drawingml/2006/main">
            <a:off x="428625" y="1520031"/>
            <a:ext cx="7524750" cy="438943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403F120-AA9B-4308-B094-F571A03A6C83}"/>
              </a:ext>
            </a:extLst>
          </p:cNvPr>
          <p:cNvSpPr>
            <a:spLocks xmlns:a="http://schemas.openxmlformats.org/drawingml/2006/main" noGrp="1"/>
          </p:cNvSpPr>
          <p:nvPr/>
        </p:nvSpPr>
        <p:spPr>
          <a:xfrm xmlns:a="http://schemas.openxmlformats.org/drawingml/2006/main">
            <a:off x="8191500" y="1524000"/>
            <a:ext cx="28575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A8FF5D8-0509-45CE-A365-D5B58507D16E}"/>
              </a:ext>
            </a:extLst>
          </p:cNvPr>
          <p:cNvSpPr>
            <a:spLocks xmlns:a="http://schemas.openxmlformats.org/drawingml/2006/main" noGrp="1"/>
          </p:cNvSpPr>
          <p:nvPr/>
        </p:nvSpPr>
        <p:spPr>
          <a:xfrm xmlns:a="http://schemas.openxmlformats.org/drawingml/2006/main">
            <a:off x="8420100" y="1666875"/>
            <a:ext cx="2428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−1.08 pp</a:t>
            </a:r>
          </a:p>
        </p:txBody>
      </p:sp>
      <p:sp>
        <p:nvSpPr>
          <p:cNvPr id="8" name="">
            <a:extLst xmlns:a="http://schemas.openxmlformats.org/drawingml/2006/main">
              <a:ext uri="{FF2B5EF4-FFF2-40B4-BE49-F238E27FC236}">
                <a16:creationId xmlns:a16="http://schemas.microsoft.com/office/drawing/2014/main" id="{3BEDF332-AACB-4DBA-AFB8-54D270ACBE12}"/>
              </a:ext>
            </a:extLst>
          </p:cNvPr>
          <p:cNvSpPr>
            <a:spLocks xmlns:a="http://schemas.openxmlformats.org/drawingml/2006/main" noGrp="1"/>
          </p:cNvSpPr>
          <p:nvPr/>
        </p:nvSpPr>
        <p:spPr>
          <a:xfrm xmlns:a="http://schemas.openxmlformats.org/drawingml/2006/main">
            <a:off x="8420100" y="2143125"/>
            <a:ext cx="2428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BROAD UP minus BROAD DOWN SPY return</a:t>
            </a:r>
          </a:p>
        </p:txBody>
      </p:sp>
      <p:sp>
        <p:nvSpPr>
          <p:cNvPr id="9" name="">
            <a:extLst xmlns:a="http://schemas.openxmlformats.org/drawingml/2006/main">
              <a:ext uri="{FF2B5EF4-FFF2-40B4-BE49-F238E27FC236}">
                <a16:creationId xmlns:a16="http://schemas.microsoft.com/office/drawing/2014/main" id="{34027E26-B9AB-4BCE-BAD8-96C6FD897D88}"/>
              </a:ext>
            </a:extLst>
          </p:cNvPr>
          <p:cNvSpPr>
            <a:spLocks xmlns:a="http://schemas.openxmlformats.org/drawingml/2006/main" noGrp="1"/>
          </p:cNvSpPr>
          <p:nvPr/>
        </p:nvSpPr>
        <p:spPr>
          <a:xfrm xmlns:a="http://schemas.openxmlformats.org/drawingml/2006/main">
            <a:off x="8191500" y="2781300"/>
            <a:ext cx="2857500" cy="10668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DC91461-7651-4BD0-95BF-E7F875E3C13D}"/>
              </a:ext>
            </a:extLst>
          </p:cNvPr>
          <p:cNvSpPr>
            <a:spLocks xmlns:a="http://schemas.openxmlformats.org/drawingml/2006/main" noGrp="1"/>
          </p:cNvSpPr>
          <p:nvPr/>
        </p:nvSpPr>
        <p:spPr>
          <a:xfrm xmlns:a="http://schemas.openxmlformats.org/drawingml/2006/main">
            <a:off x="8420100" y="2924175"/>
            <a:ext cx="2428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AUC 0.505</a:t>
            </a:r>
          </a:p>
        </p:txBody>
      </p:sp>
      <p:sp>
        <p:nvSpPr>
          <p:cNvPr id="11" name="">
            <a:extLst xmlns:a="http://schemas.openxmlformats.org/drawingml/2006/main">
              <a:ext uri="{FF2B5EF4-FFF2-40B4-BE49-F238E27FC236}">
                <a16:creationId xmlns:a16="http://schemas.microsoft.com/office/drawing/2014/main" id="{013A30F1-F034-49F8-9080-87F51E992643}"/>
              </a:ext>
            </a:extLst>
          </p:cNvPr>
          <p:cNvSpPr>
            <a:spLocks xmlns:a="http://schemas.openxmlformats.org/drawingml/2006/main" noGrp="1"/>
          </p:cNvSpPr>
          <p:nvPr/>
        </p:nvSpPr>
        <p:spPr>
          <a:xfrm xmlns:a="http://schemas.openxmlformats.org/drawingml/2006/main">
            <a:off x="8420100" y="3400425"/>
            <a:ext cx="2428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SPY positive-direction discrimination</a:t>
            </a:r>
          </a:p>
        </p:txBody>
      </p:sp>
      <p:sp>
        <p:nvSpPr>
          <p:cNvPr id="12" name="">
            <a:extLst xmlns:a="http://schemas.openxmlformats.org/drawingml/2006/main">
              <a:ext uri="{FF2B5EF4-FFF2-40B4-BE49-F238E27FC236}">
                <a16:creationId xmlns:a16="http://schemas.microsoft.com/office/drawing/2014/main" id="{E2687D50-335D-4561-A3C9-667AFF318A46}"/>
              </a:ext>
            </a:extLst>
          </p:cNvPr>
          <p:cNvSpPr>
            <a:spLocks xmlns:a="http://schemas.openxmlformats.org/drawingml/2006/main" noGrp="1"/>
          </p:cNvSpPr>
          <p:nvPr/>
        </p:nvSpPr>
        <p:spPr>
          <a:xfrm xmlns:a="http://schemas.openxmlformats.org/drawingml/2006/main">
            <a:off x="8096250" y="4143375"/>
            <a:ext cx="3476625" cy="1666875"/>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AB3A2DB-1CA2-4B21-8852-E5A96E36FB1F}"/>
              </a:ext>
            </a:extLst>
          </p:cNvPr>
          <p:cNvSpPr>
            <a:spLocks xmlns:a="http://schemas.openxmlformats.org/drawingml/2006/main" noGrp="1"/>
          </p:cNvSpPr>
          <p:nvPr/>
        </p:nvSpPr>
        <p:spPr>
          <a:xfrm xmlns:a="http://schemas.openxmlformats.org/drawingml/2006/main">
            <a:off x="8382000" y="4381500"/>
            <a:ext cx="2905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defRPr>
            </a:pPr>
            <a:r>
              <a:rPr sz="1650" b="1">
                <a:solidFill>
                  <a:srgbClr val="3D8DFF"/>
                </a:solidFill>
              </a:rPr>
              <a:t>Why test SPY?</a:t>
            </a:r>
          </a:p>
        </p:txBody>
      </p:sp>
      <p:sp>
        <p:nvSpPr>
          <p:cNvPr id="14" name="">
            <a:extLst xmlns:a="http://schemas.openxmlformats.org/drawingml/2006/main">
              <a:ext uri="{FF2B5EF4-FFF2-40B4-BE49-F238E27FC236}">
                <a16:creationId xmlns:a16="http://schemas.microsoft.com/office/drawing/2014/main" id="{B61043ED-1D31-4B18-B540-82ED27003C19}"/>
              </a:ext>
            </a:extLst>
          </p:cNvPr>
          <p:cNvSpPr>
            <a:spLocks xmlns:a="http://schemas.openxmlformats.org/drawingml/2006/main" noGrp="1"/>
          </p:cNvSpPr>
          <p:nvPr/>
        </p:nvSpPr>
        <p:spPr>
          <a:xfrm xmlns:a="http://schemas.openxmlformats.org/drawingml/2006/main">
            <a:off x="8382000" y="4810125"/>
            <a:ext cx="29051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A market field should transport beyond the ETFs used to construct it. That is evidence—not an instruction to trade SPY.</a:t>
            </a:r>
          </a:p>
        </p:txBody>
      </p:sp>
    </p:spTree>
    <p:extLst>
      <p:ext uri="{BB962C8B-B14F-4D97-AF65-F5344CB8AC3E}">
        <p14:creationId xmlns:p14="http://schemas.microsoft.com/office/powerpoint/2010/main" val="173573429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CE358A6-7137-4CBE-B0F6-94D5AD2C8FA1}"/>
              </a:ext>
            </a:extLst>
          </p:cNvPr>
          <p:cNvSpPr>
            <a:spLocks xmlns:a="http://schemas.openxmlformats.org/drawingml/2006/main" noGrp="1"/>
          </p:cNvSpPr>
          <p:nvPr/>
        </p:nvSpPr>
        <p:spPr>
          <a:xfrm xmlns:a="http://schemas.openxmlformats.org/drawingml/2006/main">
            <a:off x="476250" y="266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DECISION BOUNDARY</a:t>
            </a:r>
          </a:p>
        </p:txBody>
      </p:sp>
      <p:sp>
        <p:nvSpPr>
          <p:cNvPr id="2" name="">
            <a:extLst xmlns:a="http://schemas.openxmlformats.org/drawingml/2006/main">
              <a:ext uri="{FF2B5EF4-FFF2-40B4-BE49-F238E27FC236}">
                <a16:creationId xmlns:a16="http://schemas.microsoft.com/office/drawing/2014/main" id="{6482287D-B411-44F7-B220-545EC3EB1031}"/>
              </a:ext>
            </a:extLst>
          </p:cNvPr>
          <p:cNvSpPr>
            <a:spLocks xmlns:a="http://schemas.openxmlformats.org/drawingml/2006/main" noGrp="1"/>
          </p:cNvSpPr>
          <p:nvPr/>
        </p:nvSpPr>
        <p:spPr>
          <a:xfrm xmlns:a="http://schemas.openxmlformats.org/drawingml/2006/main">
            <a:off x="476250" y="590550"/>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Keep the architecture; retire this trend-field implementation</a:t>
            </a:r>
          </a:p>
        </p:txBody>
      </p:sp>
      <p:sp>
        <p:nvSpPr>
          <p:cNvPr id="3" name="">
            <a:extLst xmlns:a="http://schemas.openxmlformats.org/drawingml/2006/main">
              <a:ext uri="{FF2B5EF4-FFF2-40B4-BE49-F238E27FC236}">
                <a16:creationId xmlns:a16="http://schemas.microsoft.com/office/drawing/2014/main" id="{B47D2D8F-7B0F-4E0F-A412-0D07A406DF72}"/>
              </a:ext>
            </a:extLst>
          </p:cNvPr>
          <p:cNvSpPr>
            <a:spLocks xmlns:a="http://schemas.openxmlformats.org/drawingml/2006/main" noGrp="1"/>
          </p:cNvSpPr>
          <p:nvPr/>
        </p:nvSpPr>
        <p:spPr>
          <a:xfrm xmlns:a="http://schemas.openxmlformats.org/drawingml/2006/main">
            <a:off x="11334750" y="6429375"/>
            <a:ext cx="333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10</a:t>
            </a:r>
          </a:p>
        </p:txBody>
      </p:sp>
      <p:sp>
        <p:nvSpPr>
          <p:cNvPr id="4" name="">
            <a:extLst xmlns:a="http://schemas.openxmlformats.org/drawingml/2006/main">
              <a:ext uri="{FF2B5EF4-FFF2-40B4-BE49-F238E27FC236}">
                <a16:creationId xmlns:a16="http://schemas.microsoft.com/office/drawing/2014/main" id="{ABC0F2A9-1502-4866-982B-4C5A5D0F67F2}"/>
              </a:ext>
            </a:extLst>
          </p:cNvPr>
          <p:cNvSpPr>
            <a:spLocks xmlns:a="http://schemas.openxmlformats.org/drawingml/2006/main" noGrp="1"/>
          </p:cNvSpPr>
          <p:nvPr/>
        </p:nvSpPr>
        <p:spPr>
          <a:xfrm xmlns:a="http://schemas.openxmlformats.org/drawingml/2006/main">
            <a:off x="523875" y="1428750"/>
            <a:ext cx="3143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950" b="1">
                <a:solidFill>
                  <a:srgbClr val="D95F59"/>
                </a:solidFill>
              </a:defRPr>
            </a:pPr>
            <a:r>
              <a:rPr sz="4950" b="1">
                <a:solidFill>
                  <a:srgbClr val="D95F59"/>
                </a:solidFill>
              </a:rPr>
              <a:t>1 / 9</a:t>
            </a:r>
          </a:p>
        </p:txBody>
      </p:sp>
      <p:sp>
        <p:nvSpPr>
          <p:cNvPr id="5" name="">
            <a:extLst xmlns:a="http://schemas.openxmlformats.org/drawingml/2006/main">
              <a:ext uri="{FF2B5EF4-FFF2-40B4-BE49-F238E27FC236}">
                <a16:creationId xmlns:a16="http://schemas.microsoft.com/office/drawing/2014/main" id="{D5559B59-87BB-4322-911C-1660C30D98AE}"/>
              </a:ext>
            </a:extLst>
          </p:cNvPr>
          <p:cNvSpPr>
            <a:spLocks xmlns:a="http://schemas.openxmlformats.org/drawingml/2006/main" noGrp="1"/>
          </p:cNvSpPr>
          <p:nvPr/>
        </p:nvSpPr>
        <p:spPr>
          <a:xfrm xmlns:a="http://schemas.openxmlformats.org/drawingml/2006/main">
            <a:off x="590550" y="24003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7202A"/>
                </a:solidFill>
              </a:defRPr>
            </a:pPr>
            <a:r>
              <a:rPr sz="1950" b="1">
                <a:solidFill>
                  <a:srgbClr val="17202A"/>
                </a:solidFill>
              </a:rPr>
              <a:t>gates passed</a:t>
            </a:r>
          </a:p>
        </p:txBody>
      </p:sp>
      <p:sp>
        <p:nvSpPr>
          <p:cNvPr id="6" name="">
            <a:extLst xmlns:a="http://schemas.openxmlformats.org/drawingml/2006/main">
              <a:ext uri="{FF2B5EF4-FFF2-40B4-BE49-F238E27FC236}">
                <a16:creationId xmlns:a16="http://schemas.microsoft.com/office/drawing/2014/main" id="{D54699A7-AE33-43A3-AD10-F92FC55696C0}"/>
              </a:ext>
            </a:extLst>
          </p:cNvPr>
          <p:cNvSpPr>
            <a:spLocks xmlns:a="http://schemas.openxmlformats.org/drawingml/2006/main" noGrp="1"/>
          </p:cNvSpPr>
          <p:nvPr/>
        </p:nvSpPr>
        <p:spPr>
          <a:xfrm xmlns:a="http://schemas.openxmlformats.org/drawingml/2006/main">
            <a:off x="495300" y="3286125"/>
            <a:ext cx="4762500" cy="1181100"/>
          </a:xfrm>
          <a:prstGeom xmlns:a="http://schemas.openxmlformats.org/drawingml/2006/main" prst="rect">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377DD39-7F80-4CC4-96C0-665F298B42B4}"/>
              </a:ext>
            </a:extLst>
          </p:cNvPr>
          <p:cNvSpPr>
            <a:spLocks xmlns:a="http://schemas.openxmlformats.org/drawingml/2006/main" noGrp="1"/>
          </p:cNvSpPr>
          <p:nvPr/>
        </p:nvSpPr>
        <p:spPr>
          <a:xfrm xmlns:a="http://schemas.openxmlformats.org/drawingml/2006/main">
            <a:off x="742950" y="3562350"/>
            <a:ext cx="428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D95F59"/>
                </a:solidFill>
              </a:defRPr>
            </a:pPr>
            <a:r>
              <a:rPr sz="1575" b="1">
                <a:solidFill>
                  <a:srgbClr val="D95F59"/>
                </a:solidFill>
              </a:rPr>
              <a:t>STOP_TREND_FIELD_GATES_FAILED_</a:t>
            </a:r>
          </a:p>
          <a:p xmlns:a="http://schemas.openxmlformats.org/drawingml/2006/main">
            <a:pPr algn="l">
              <a:defRPr sz="1575" b="1">
                <a:solidFill>
                  <a:srgbClr val="D95F59"/>
                </a:solidFill>
              </a:defRPr>
            </a:pPr>
            <a:r>
              <a:rPr sz="1575" b="1">
                <a:solidFill>
                  <a:srgbClr val="D95F59"/>
                </a:solidFill>
              </a:rPr>
              <a:t>NO_ATR_JOIN_OR_STRATEGY</a:t>
            </a:r>
          </a:p>
        </p:txBody>
      </p:sp>
      <p:sp>
        <p:nvSpPr>
          <p:cNvPr id="8" name="">
            <a:extLst xmlns:a="http://schemas.openxmlformats.org/drawingml/2006/main">
              <a:ext uri="{FF2B5EF4-FFF2-40B4-BE49-F238E27FC236}">
                <a16:creationId xmlns:a16="http://schemas.microsoft.com/office/drawing/2014/main" id="{529461CA-E844-4549-8E5A-CDFAF9BE9FD0}"/>
              </a:ext>
            </a:extLst>
          </p:cNvPr>
          <p:cNvSpPr>
            <a:spLocks xmlns:a="http://schemas.openxmlformats.org/drawingml/2006/main" noGrp="1"/>
          </p:cNvSpPr>
          <p:nvPr/>
        </p:nvSpPr>
        <p:spPr>
          <a:xfrm xmlns:a="http://schemas.openxmlformats.org/drawingml/2006/main">
            <a:off x="590550" y="514350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2E8B57"/>
                </a:solidFill>
              </a:defRPr>
            </a:pPr>
            <a:r>
              <a:rPr sz="1725" b="1">
                <a:solidFill>
                  <a:srgbClr val="2E8B57"/>
                </a:solidFill>
              </a:rPr>
              <a:t>2024+ remained sealed</a:t>
            </a:r>
          </a:p>
        </p:txBody>
      </p:sp>
      <p:sp>
        <p:nvSpPr>
          <p:cNvPr id="9" name="">
            <a:extLst xmlns:a="http://schemas.openxmlformats.org/drawingml/2006/main">
              <a:ext uri="{FF2B5EF4-FFF2-40B4-BE49-F238E27FC236}">
                <a16:creationId xmlns:a16="http://schemas.microsoft.com/office/drawing/2014/main" id="{BD790549-4AB5-433D-A6E2-C95DA9771688}"/>
              </a:ext>
            </a:extLst>
          </p:cNvPr>
          <p:cNvSpPr>
            <a:spLocks xmlns:a="http://schemas.openxmlformats.org/drawingml/2006/main" noGrp="1"/>
          </p:cNvSpPr>
          <p:nvPr/>
        </p:nvSpPr>
        <p:spPr>
          <a:xfrm xmlns:a="http://schemas.openxmlformats.org/drawingml/2006/main">
            <a:off x="6191250" y="1476375"/>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7324D"/>
                </a:solidFill>
              </a:defRPr>
            </a:pPr>
            <a:r>
              <a:rPr sz="2100" b="1">
                <a:solidFill>
                  <a:srgbClr val="17324D"/>
                </a:solidFill>
              </a:rPr>
              <a:t>What the result changes</a:t>
            </a:r>
          </a:p>
        </p:txBody>
      </p:sp>
      <p:sp>
        <p:nvSpPr>
          <p:cNvPr id="10" name="">
            <a:extLst xmlns:a="http://schemas.openxmlformats.org/drawingml/2006/main">
              <a:ext uri="{FF2B5EF4-FFF2-40B4-BE49-F238E27FC236}">
                <a16:creationId xmlns:a16="http://schemas.microsoft.com/office/drawing/2014/main" id="{69B1E05C-3629-4908-BA59-67839F922388}"/>
              </a:ext>
            </a:extLst>
          </p:cNvPr>
          <p:cNvSpPr>
            <a:spLocks xmlns:a="http://schemas.openxmlformats.org/drawingml/2006/main" noGrp="1"/>
          </p:cNvSpPr>
          <p:nvPr/>
        </p:nvSpPr>
        <p:spPr>
          <a:xfrm xmlns:a="http://schemas.openxmlformats.org/drawingml/2006/main">
            <a:off x="6286500" y="2362200"/>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6253CE2-F5F8-4D35-92BA-22FFDEC10254}"/>
              </a:ext>
            </a:extLst>
          </p:cNvPr>
          <p:cNvSpPr>
            <a:spLocks xmlns:a="http://schemas.openxmlformats.org/drawingml/2006/main" noGrp="1"/>
          </p:cNvSpPr>
          <p:nvPr/>
        </p:nvSpPr>
        <p:spPr>
          <a:xfrm xmlns:a="http://schemas.openxmlformats.org/drawingml/2006/main">
            <a:off x="6505575" y="2286000"/>
            <a:ext cx="47815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A market descriptor is not automatically a forward permission filter.</a:t>
            </a:r>
          </a:p>
        </p:txBody>
      </p:sp>
      <p:sp>
        <p:nvSpPr>
          <p:cNvPr id="12" name="">
            <a:extLst xmlns:a="http://schemas.openxmlformats.org/drawingml/2006/main">
              <a:ext uri="{FF2B5EF4-FFF2-40B4-BE49-F238E27FC236}">
                <a16:creationId xmlns:a16="http://schemas.microsoft.com/office/drawing/2014/main" id="{CE1AF73E-BEF5-4386-AFD4-6F7319828B17}"/>
              </a:ext>
            </a:extLst>
          </p:cNvPr>
          <p:cNvSpPr>
            <a:spLocks xmlns:a="http://schemas.openxmlformats.org/drawingml/2006/main" noGrp="1"/>
          </p:cNvSpPr>
          <p:nvPr/>
        </p:nvSpPr>
        <p:spPr>
          <a:xfrm xmlns:a="http://schemas.openxmlformats.org/drawingml/2006/main">
            <a:off x="6286500" y="2933700"/>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DE50336-B558-4984-A8DE-4F69CA3202DD}"/>
              </a:ext>
            </a:extLst>
          </p:cNvPr>
          <p:cNvSpPr>
            <a:spLocks xmlns:a="http://schemas.openxmlformats.org/drawingml/2006/main" noGrp="1"/>
          </p:cNvSpPr>
          <p:nvPr/>
        </p:nvSpPr>
        <p:spPr>
          <a:xfrm xmlns:a="http://schemas.openxmlformats.org/drawingml/2006/main">
            <a:off x="6505575" y="2857500"/>
            <a:ext cx="47815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This 20/60 field appeared late relative to its H20 target.</a:t>
            </a:r>
          </a:p>
        </p:txBody>
      </p:sp>
      <p:sp>
        <p:nvSpPr>
          <p:cNvPr id="14" name="">
            <a:extLst xmlns:a="http://schemas.openxmlformats.org/drawingml/2006/main">
              <a:ext uri="{FF2B5EF4-FFF2-40B4-BE49-F238E27FC236}">
                <a16:creationId xmlns:a16="http://schemas.microsoft.com/office/drawing/2014/main" id="{0814BCE6-DDB2-472F-9A07-E4F6292C1895}"/>
              </a:ext>
            </a:extLst>
          </p:cNvPr>
          <p:cNvSpPr>
            <a:spLocks xmlns:a="http://schemas.openxmlformats.org/drawingml/2006/main" noGrp="1"/>
          </p:cNvSpPr>
          <p:nvPr/>
        </p:nvSpPr>
        <p:spPr>
          <a:xfrm xmlns:a="http://schemas.openxmlformats.org/drawingml/2006/main">
            <a:off x="6286500" y="3505200"/>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2C94128-1198-4593-AB77-07441C48F909}"/>
              </a:ext>
            </a:extLst>
          </p:cNvPr>
          <p:cNvSpPr>
            <a:spLocks xmlns:a="http://schemas.openxmlformats.org/drawingml/2006/main" noGrp="1"/>
          </p:cNvSpPr>
          <p:nvPr/>
        </p:nvSpPr>
        <p:spPr>
          <a:xfrm xmlns:a="http://schemas.openxmlformats.org/drawingml/2006/main">
            <a:off x="6505575" y="3429000"/>
            <a:ext cx="47815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Do not invert, retune, or join it to the accepted ATR% state.</a:t>
            </a:r>
          </a:p>
        </p:txBody>
      </p:sp>
      <p:sp>
        <p:nvSpPr>
          <p:cNvPr id="16" name="">
            <a:extLst xmlns:a="http://schemas.openxmlformats.org/drawingml/2006/main">
              <a:ext uri="{FF2B5EF4-FFF2-40B4-BE49-F238E27FC236}">
                <a16:creationId xmlns:a16="http://schemas.microsoft.com/office/drawing/2014/main" id="{C9E37AE2-09A2-43A0-8E65-F7B32409EBE7}"/>
              </a:ext>
            </a:extLst>
          </p:cNvPr>
          <p:cNvSpPr>
            <a:spLocks xmlns:a="http://schemas.openxmlformats.org/drawingml/2006/main" noGrp="1"/>
          </p:cNvSpPr>
          <p:nvPr/>
        </p:nvSpPr>
        <p:spPr>
          <a:xfrm xmlns:a="http://schemas.openxmlformats.org/drawingml/2006/main">
            <a:off x="6286500" y="4076700"/>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2E100AE-AF58-406A-AD67-6DF8130D5AA0}"/>
              </a:ext>
            </a:extLst>
          </p:cNvPr>
          <p:cNvSpPr>
            <a:spLocks xmlns:a="http://schemas.openxmlformats.org/drawingml/2006/main" noGrp="1"/>
          </p:cNvSpPr>
          <p:nvPr/>
        </p:nvSpPr>
        <p:spPr>
          <a:xfrm xmlns:a="http://schemas.openxmlformats.org/drawingml/2006/main">
            <a:off x="6505575" y="4000500"/>
            <a:ext cx="47815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Latent market mode and confirmation network remain unopened—not queued rescues.</a:t>
            </a:r>
          </a:p>
        </p:txBody>
      </p:sp>
      <p:sp>
        <p:nvSpPr>
          <p:cNvPr id="18" name="">
            <a:extLst xmlns:a="http://schemas.openxmlformats.org/drawingml/2006/main">
              <a:ext uri="{FF2B5EF4-FFF2-40B4-BE49-F238E27FC236}">
                <a16:creationId xmlns:a16="http://schemas.microsoft.com/office/drawing/2014/main" id="{B29529D2-DC8B-4E3A-A843-DD38BE84FBF7}"/>
              </a:ext>
            </a:extLst>
          </p:cNvPr>
          <p:cNvSpPr>
            <a:spLocks xmlns:a="http://schemas.openxmlformats.org/drawingml/2006/main" noGrp="1"/>
          </p:cNvSpPr>
          <p:nvPr/>
        </p:nvSpPr>
        <p:spPr>
          <a:xfrm xmlns:a="http://schemas.openxmlformats.org/drawingml/2006/main">
            <a:off x="6286500" y="4648200"/>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E67AA42-6232-42AF-9C66-35E620451311}"/>
              </a:ext>
            </a:extLst>
          </p:cNvPr>
          <p:cNvSpPr>
            <a:spLocks xmlns:a="http://schemas.openxmlformats.org/drawingml/2006/main" noGrp="1"/>
          </p:cNvSpPr>
          <p:nvPr/>
        </p:nvSpPr>
        <p:spPr>
          <a:xfrm xmlns:a="http://schemas.openxmlformats.org/drawingml/2006/main">
            <a:off x="6505575" y="4572000"/>
            <a:ext cx="47815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Future progress needs a newly justified estimand or better point-in-time breadth data.</a:t>
            </a:r>
          </a:p>
        </p:txBody>
      </p:sp>
      <p:sp>
        <p:nvSpPr>
          <p:cNvPr id="20" name="">
            <a:extLst xmlns:a="http://schemas.openxmlformats.org/drawingml/2006/main">
              <a:ext uri="{FF2B5EF4-FFF2-40B4-BE49-F238E27FC236}">
                <a16:creationId xmlns:a16="http://schemas.microsoft.com/office/drawing/2014/main" id="{EFE48A99-37FA-4F53-AD83-ADB396E3D5E3}"/>
              </a:ext>
            </a:extLst>
          </p:cNvPr>
          <p:cNvSpPr>
            <a:spLocks xmlns:a="http://schemas.openxmlformats.org/drawingml/2006/main" noGrp="1"/>
          </p:cNvSpPr>
          <p:nvPr/>
        </p:nvSpPr>
        <p:spPr>
          <a:xfrm xmlns:a="http://schemas.openxmlformats.org/drawingml/2006/main">
            <a:off x="809625" y="6115050"/>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7202A"/>
                </a:solidFill>
              </a:defRPr>
            </a:pPr>
            <a:r>
              <a:rPr sz="1575" b="1">
                <a:solidFill>
                  <a:srgbClr val="17202A"/>
                </a:solidFill>
              </a:rPr>
              <a:t>The multi-asset architecture remains plausible; this implementation does not earn a place in it.</a:t>
            </a:r>
          </a:p>
        </p:txBody>
      </p:sp>
    </p:spTree>
    <p:extLst>
      <p:ext uri="{BB962C8B-B14F-4D97-AF65-F5344CB8AC3E}">
        <p14:creationId xmlns:p14="http://schemas.microsoft.com/office/powerpoint/2010/main" val="9319833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2026-08-15T07:17:42.1110000Z</dcterms:created>
  <dcterms:modified xsi:type="dcterms:W3CDTF">2026-08-15T07:17:42.1110000Z</dcterms:modified>
</coreProperties>
</file>