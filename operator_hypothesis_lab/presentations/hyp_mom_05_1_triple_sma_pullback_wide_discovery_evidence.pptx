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90985001144474" /><Relationship Type="http://schemas.openxmlformats.org/officeDocument/2006/relationships/extended-properties" Target="/docProps/app.xml" Id="Rb5ac46a08ab3428f" /><Relationship Type="http://schemas.openxmlformats.org/officeDocument/2006/relationships/officeDocument" Target="/ppt/presentation.xml" Id="Rcfb2eb3cb88642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f22c32221e4e26"/>
  </p:sldMasterIdLst>
  <p:notesMasterIdLst>
    <p:notesMasterId xmlns:r="http://schemas.openxmlformats.org/officeDocument/2006/relationships" r:id="R0578b5dafafe4389"/>
  </p:notesMasterIdLst>
  <p:sldIdLst>
    <p:sldId xmlns:r="http://schemas.openxmlformats.org/officeDocument/2006/relationships" id="256" r:id="R5b37edefa4a84aa0"/>
    <p:sldId xmlns:r="http://schemas.openxmlformats.org/officeDocument/2006/relationships" id="257" r:id="R8e51ee1e5cd6414c"/>
    <p:sldId xmlns:r="http://schemas.openxmlformats.org/officeDocument/2006/relationships" id="258" r:id="R31129d04ec164f38"/>
    <p:sldId xmlns:r="http://schemas.openxmlformats.org/officeDocument/2006/relationships" id="259" r:id="Reb919aea77ec489a"/>
    <p:sldId xmlns:r="http://schemas.openxmlformats.org/officeDocument/2006/relationships" id="260" r:id="R87da0a7b1ae34817"/>
    <p:sldId xmlns:r="http://schemas.openxmlformats.org/officeDocument/2006/relationships" id="261" r:id="R30299658211a4ed2"/>
    <p:sldId xmlns:r="http://schemas.openxmlformats.org/officeDocument/2006/relationships" id="262" r:id="R7d2d2081d7184985"/>
    <p:sldId xmlns:r="http://schemas.openxmlformats.org/officeDocument/2006/relationships" id="263" r:id="R8cc83d7f4a8b4f7d"/>
    <p:sldId xmlns:r="http://schemas.openxmlformats.org/officeDocument/2006/relationships" id="264" r:id="Rba8b371f88f042c3"/>
    <p:sldId xmlns:r="http://schemas.openxmlformats.org/officeDocument/2006/relationships" id="265" r:id="R3f5d680e88db4477"/>
    <p:sldId xmlns:r="http://schemas.openxmlformats.org/officeDocument/2006/relationships" id="266" r:id="R007abc621d07491e"/>
    <p:sldId xmlns:r="http://schemas.openxmlformats.org/officeDocument/2006/relationships" id="267" r:id="Rfc92b9f997494f3c"/>
    <p:sldId xmlns:r="http://schemas.openxmlformats.org/officeDocument/2006/relationships" id="268" r:id="R0a3ecb64302c46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5b9872378840a5" /><Relationship Type="http://schemas.openxmlformats.org/officeDocument/2006/relationships/slideMaster" Target="/ppt/slideMasters/slideMaster1.xml" Id="R28f22c32221e4e26" /><Relationship Type="http://schemas.openxmlformats.org/officeDocument/2006/relationships/notesMaster" Target="/ppt/notesMasters/notesMaster1.xml" Id="R0578b5dafafe4389" /><Relationship Type="http://schemas.openxmlformats.org/officeDocument/2006/relationships/presProps" Target="/ppt/presProps.xml" Id="R2222eb0384864623" /><Relationship Type="http://schemas.openxmlformats.org/officeDocument/2006/relationships/tableStyles" Target="/ppt/tableStyles.xml" Id="Racd06dcdf17444cb" /><Relationship Type="http://schemas.openxmlformats.org/officeDocument/2006/relationships/slide" Target="/ppt/slides/slide1.xml" Id="R5b37edefa4a84aa0" /><Relationship Type="http://schemas.openxmlformats.org/officeDocument/2006/relationships/slide" Target="/ppt/slides/slide2.xml" Id="R8e51ee1e5cd6414c" /><Relationship Type="http://schemas.openxmlformats.org/officeDocument/2006/relationships/slide" Target="/ppt/slides/slide3.xml" Id="R31129d04ec164f38" /><Relationship Type="http://schemas.openxmlformats.org/officeDocument/2006/relationships/slide" Target="/ppt/slides/slide4.xml" Id="Reb919aea77ec489a" /><Relationship Type="http://schemas.openxmlformats.org/officeDocument/2006/relationships/slide" Target="/ppt/slides/slide5.xml" Id="R87da0a7b1ae34817" /><Relationship Type="http://schemas.openxmlformats.org/officeDocument/2006/relationships/slide" Target="/ppt/slides/slide6.xml" Id="R30299658211a4ed2" /><Relationship Type="http://schemas.openxmlformats.org/officeDocument/2006/relationships/slide" Target="/ppt/slides/slide7.xml" Id="R7d2d2081d7184985" /><Relationship Type="http://schemas.openxmlformats.org/officeDocument/2006/relationships/slide" Target="/ppt/slides/slide8.xml" Id="R8cc83d7f4a8b4f7d" /><Relationship Type="http://schemas.openxmlformats.org/officeDocument/2006/relationships/slide" Target="/ppt/slides/slide9.xml" Id="Rba8b371f88f042c3" /><Relationship Type="http://schemas.openxmlformats.org/officeDocument/2006/relationships/slide" Target="/ppt/slides/slide10.xml" Id="R3f5d680e88db4477" /><Relationship Type="http://schemas.openxmlformats.org/officeDocument/2006/relationships/slide" Target="/ppt/slides/slide11.xml" Id="R007abc621d07491e" /><Relationship Type="http://schemas.openxmlformats.org/officeDocument/2006/relationships/slide" Target="/ppt/slides/slide12.xml" Id="Rfc92b9f997494f3c" /><Relationship Type="http://schemas.openxmlformats.org/officeDocument/2006/relationships/slide" Target="/ppt/slides/slide13.xml" Id="R0a3ecb64302c46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13fd004a5f4e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f902f49af147fe" /><Relationship Type="http://schemas.openxmlformats.org/officeDocument/2006/relationships/notesMaster" Target="/ppt/notesMasters/notesMaster1.xml" Id="R056493319a2548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e7a52ed4354a64" /><Relationship Type="http://schemas.openxmlformats.org/officeDocument/2006/relationships/notesMaster" Target="/ppt/notesMasters/notesMaster1.xml" Id="R0c396eba6a6340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4c537fd9114644" /><Relationship Type="http://schemas.openxmlformats.org/officeDocument/2006/relationships/notesMaster" Target="/ppt/notesMasters/notesMaster1.xml" Id="R8036f523659e46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ad65ac79dc4976" /><Relationship Type="http://schemas.openxmlformats.org/officeDocument/2006/relationships/notesMaster" Target="/ppt/notesMasters/notesMaster1.xml" Id="Rf7b6e6ed499b47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4d55f8f49c44a3" /><Relationship Type="http://schemas.openxmlformats.org/officeDocument/2006/relationships/notesMaster" Target="/ppt/notesMasters/notesMaster1.xml" Id="Rfe03d9b2101e45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15fde114244415" /><Relationship Type="http://schemas.openxmlformats.org/officeDocument/2006/relationships/notesMaster" Target="/ppt/notesMasters/notesMaster1.xml" Id="R4bf141c83fef4f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ea1cf590ca4a0f" /><Relationship Type="http://schemas.openxmlformats.org/officeDocument/2006/relationships/notesMaster" Target="/ppt/notesMasters/notesMaster1.xml" Id="R5850c89b7e594c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eeb12e612c4d90" /><Relationship Type="http://schemas.openxmlformats.org/officeDocument/2006/relationships/notesMaster" Target="/ppt/notesMasters/notesMaster1.xml" Id="R2b820ad0ae9f48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baff150ec14d04" /><Relationship Type="http://schemas.openxmlformats.org/officeDocument/2006/relationships/notesMaster" Target="/ppt/notesMasters/notesMaster1.xml" Id="Rec2e68896c6e47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6eedc1fd194c75" /><Relationship Type="http://schemas.openxmlformats.org/officeDocument/2006/relationships/notesMaster" Target="/ppt/notesMasters/notesMaster1.xml" Id="R78a7ac34d5dd44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a7ac5bd5a849f4" /><Relationship Type="http://schemas.openxmlformats.org/officeDocument/2006/relationships/notesMaster" Target="/ppt/notesMasters/notesMaster1.xml" Id="R6c9baabee2b341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948e15a1914b32" /><Relationship Type="http://schemas.openxmlformats.org/officeDocument/2006/relationships/notesMaster" Target="/ppt/notesMasters/notesMaster1.xml" Id="R4cbcd2e95ec947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21de81988b426a" /><Relationship Type="http://schemas.openxmlformats.org/officeDocument/2006/relationships/notesMaster" Target="/ppt/notesMasters/notesMaster1.xml" Id="R361a9567e38e47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the frozen rule, its execution assumptions, the wide-atlas result, and the resulting STOP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Project/Time-Series-Modeling-Gen5/operator_hypothesis_lab/docs/HYP_MOM_05_1_TRIPLE_SMA_PULLBACK_CONTRACT.md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exit design intentionally tolerates temporary loss of stack ordering. Post-exit re-entry is stricter than a new stack activation: it requires a fresh SMA30 reclaim while ordered.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Project/Time-Series-Modeling-Gen5/operator_hypothesis_lab/docs/HYP_MOM_05_1_TRIPLE_SMA_PULLBACK_CONTRACT.md</a:t>
            </a:r>
          </a:p>
          <a:p xmlns:a="http://schemas.openxmlformats.org/drawingml/2006/main">
            <a:r>
              <a:t>- C:/Users/Franc/OneDrive/Documents/Francis/Peltata Project/Time-Series-Modeling-Gen5/operator_hypothesis_lab/R/hyp_mom_05_1_triple_sma_pullback.R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Debt compounds once per open-to-open interval. Position quantity stays fixed during a trade. A 30% maintenance-equity proxy is reported, but no broker-specific liquidation is simulated.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Project/Time-Series-Modeling-Gen5/operator_hypothesis_lab/docs/HYP_MOM_05_1_TRIPLE_SMA_PULLBACK_CONTRACT.md</a:t>
            </a:r>
          </a:p>
          <a:p xmlns:a="http://schemas.openxmlformats.org/drawingml/2006/main">
            <a:r>
              <a:t>- C:/Users/Franc/OneDrive/Documents/Francis/Peltata Project/Time-Series-Modeling-Gen5/operator_hypothesis_lab/R/hyp_mom_05_1_triple_sma_pullback.R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Project/Time-Series-Modeling-Gen5/runs/research_workbench/operator_hypothesis_lab/hyp_mom_05_1_triple_sma_pullback_wide_discovery_20260812/hyp_mom_05_1_integrity.csv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global stale labels arise from the deliberately bounded 2023 endpoint. APHA and SNE retained partial-history/refresh-needed warnings after the authorized refresh; neither entered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Project/Time-Series-Modeling-Gen5/runs/research_workbench/operator_hypothesis_lab/hyp_mom_05_1_triple_sma_pullback_wide_discovery_20260812/hyp_mom_05_1_run_spec.csv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Project/Time-Series-Modeling-Gen5/runs/research_workbench/operator_hypothesis_lab/hyp_mom_05_1_triple_sma_pullback_wide_discovery_20260812/hyp_mom_05_1_coverage.csv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Project/Time-Series-Modeling-Gen5/runs/research_workbench/operator_hypothesis_lab/hyp_mom_05_1_triple_sma_pullback_wide_discovery_20260812/hyp_mom_05_1_integrity.csv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Project/Time-Series-Modeling-Gen5/runs/research_workbench/operator_hypothesis_lab/hyp_mom_05_1_triple_sma_pullback_wide_discovery_20260812/hyp_mom_05_1_query_health.csv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Top-line medians are equal-asset descriptive summaries, not a portfolio replay. The 1× median Sharpe was -0.094 and median exposure was 11.1%.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Project/Time-Series-Modeling-Gen5/runs/research_workbench/operator_hypothesis_lab/hyp_mom_05_1_triple_sma_pullback_wide_discovery_20260812/hyp_mom_05_1_panel_summary.csv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Median H05.1 excess return at 1×: -23.5 pp versus buy-and-hold, -11.9 pp versus SMA30-only, and -0.09 pp versus ordered-stack-only. At 1.8× it was +6.1 pp versus ordered-stack-only while remaining negative in absolute terms.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Project/Time-Series-Modeling-Gen5/runs/research_workbench/operator_hypothesis_lab/hyp_mom_05_1_triple_sma_pullback_wide_discovery_20260812/hyp_mom_05_1_baseline_comparisons.csv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Initial activations also had negative median return (-0.71%) but held longer (16.5 sessions) and won more often (43.3%). Reclaims dominated count and had a 29.1% pooled hit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Project/Time-Series-Modeling-Gen5/runs/research_workbench/operator_hypothesis_lab/hyp_mom_05_1_triple_sma_pullback_wide_discovery_20260812/hyp_mom_05_1_entry_summary.csv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Project/Time-Series-Modeling-Gen5/runs/research_workbench/operator_hypothesis_lab/hyp_mom_05_1_triple_sma_pullback_wide_discovery_20260812/hyp_mom_05_1_panel_summary.csv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Project/Time-Series-Modeling-Gen5/runs/research_workbench/operator_hypothesis_lab/hyp_mom_05_1_triple_sma_pullback_wide_discovery_20260812/hyp_mom_05_1_trades.csv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scatter uses fixed trade quantity and compounding debt. META is the large positive outlier; several weak names approach -70% 1.8x drawdowns.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Project/Time-Series-Modeling-Gen5/runs/research_workbench/operator_hypothesis_lab/hyp_mom_05_1_triple_sma_pullback_wide_discovery_20260812/hyp_mom_05_1_leverage_comparisons.csv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Project/Time-Series-Modeling-Gen5/runs/research_workbench/operator_hypothesis_lab/hyp_mom_05_1_triple_sma_pullback_wide_discovery_20260812/hyp_mom_05_1_panel_summary.csv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Project/Time-Series-Modeling-Gen5/runs/research_workbench/operator_hypothesis_lab/hyp_mom_05_1_triple_sma_pullback_wide_discovery_20260812/hyp_mom_05_1_asset_policy_summary.csv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frozen atlas deliberately spans 11 sectors and includes both diversified-core and 2020 retail-attention cohorts. No sector was selected or excluded after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Project/Time-Series-Modeling-Gen5/runs/research_workbench/operator_hypothesis_lab/hyp_mom_05_1_triple_sma_pullback_wide_discovery_20260812/hyp_mom_05_1_sector_summary.csv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selected for behavioral coverage, not as evidence of asset selection. O is nearest the panel median return; META is the maximum-return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Project/Time-Series-Modeling-Gen5/runs/research_workbench/operator_hypothesis_lab/hyp_mom_05_1_triple_sma_pullback_wide_discovery_20260812/hyp_mom_05_1_tape_manifest.csv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Project/Time-Series-Modeling-Gen5/runs/research_workbench/operator_hypothesis_lab/hyp_mom_05_1_triple_sma_pullback_wide_discovery_20260812/hyp_mom_05_1_daily_paths.csv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SNAP is the minimum-return case. SPCE has the deepest 1x drawdown even though its final return is positive, illustrating why terminal P&amp;L cannot substitute for bar-by-bar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Project/Time-Series-Modeling-Gen5/runs/research_workbench/operator_hypothesis_lab/hyp_mom_05_1_triple_sma_pullback_wide_discovery_20260812/hyp_mom_05_1_tape_manifest.csv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Project/Time-Series-Modeling-Gen5/runs/research_workbench/operator_hypothesis_lab/hyp_mom_05_1_triple_sma_pullback_wide_discovery_20260812/hyp_mom_05_1_daily_paths.csv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PEP has the highest trade count. DOW is the highest-reclaim-share case after enforcing distinct tape identities. Both show repeated short trades around the medium average.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Project/Time-Series-Modeling-Gen5/runs/research_workbench/operator_hypothesis_lab/hyp_mom_05_1_triple_sma_pullback_wide_discovery_20260812/hyp_mom_05_1_tape_manifest.csv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Project/Time-Series-Modeling-Gen5/runs/research_workbench/operator_hypothesis_lab/hyp_mom_05_1_triple_sma_pullback_wide_discovery_20260812/hyp_mom_05_1_trades.csv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STOP. Any delay, confirmation, volatility filter, slope rule, or moving-average change is a substantive new mechanic, not a reactive tweak inside HYP-MOM-05.1.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Project/Time-Series-Modeling-Gen5/operator_hypothesis_lab/docs/HYP_MOM_05_1_TRIPLE_SMA_PULLBACK_CONTRACT.md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Project/Time-Series-Modeling-Gen5/runs/research_workbench/operator_hypothesis_lab/hyp_mom_05_1_triple_sma_pullback_wide_discovery_20260812/hyp_mom_05_1_panel_summary.csv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Project/Time-Series-Modeling-Gen5/runs/research_workbench/operator_hypothesis_lab/hyp_mom_05_1_triple_sma_pullback_wide_discovery_20260812/hyp_mom_05_1_entry_summary.csv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Project/Time-Series-Modeling-Gen5/runs/research_workbench/operator_hypothesis_lab/hyp_mom_05_1_triple_sma_pullback_wide_discovery_20260812/hyp_mom_05_1_baseline_comparisons.csv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969a1d6964d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16cdd684f942d2" /><Relationship Type="http://schemas.openxmlformats.org/officeDocument/2006/relationships/slideLayout" Target="/ppt/slideLayouts/slideLayout1.xml" Id="R7e0210c5561e4e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0210c5561e4e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29c9384d04ae4" /><Relationship Type="http://schemas.openxmlformats.org/officeDocument/2006/relationships/notesSlide" Target="/ppt/notesSlides/notesSlide1.xml" Id="R783b277b581643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e17ec37c049e4" /><Relationship Type="http://schemas.openxmlformats.org/officeDocument/2006/relationships/notesSlide" Target="/ppt/notesSlides/notesSlide2.xml" Id="Rbae039ac61764a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853faf11a44f7" /><Relationship Type="http://schemas.openxmlformats.org/officeDocument/2006/relationships/notesSlide" Target="/ppt/notesSlides/notesSlide3.xml" Id="R25b1655c9e7844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a8a801dc048d2" /><Relationship Type="http://schemas.openxmlformats.org/officeDocument/2006/relationships/image" Target="/ppt/media/image.png" Id="Rd491725376e44264" /><Relationship Type="http://schemas.openxmlformats.org/officeDocument/2006/relationships/notesSlide" Target="/ppt/notesSlides/notesSlide4.xml" Id="Rdccfdfa13a6f49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40b85a9b24328" /><Relationship Type="http://schemas.openxmlformats.org/officeDocument/2006/relationships/notesSlide" Target="/ppt/notesSlides/notesSlide5.xml" Id="R11fd9eef3ce74a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953cb3aee4153" /><Relationship Type="http://schemas.openxmlformats.org/officeDocument/2006/relationships/image" Target="/ppt/media/image2.png" Id="R9eba8d7dc776450b" /><Relationship Type="http://schemas.openxmlformats.org/officeDocument/2006/relationships/notesSlide" Target="/ppt/notesSlides/notesSlide6.xml" Id="Rcf89cbf63dfc43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1ac5bc9d44d6f" /><Relationship Type="http://schemas.openxmlformats.org/officeDocument/2006/relationships/image" Target="/ppt/media/image3.png" Id="Rf1875e0ebabd4dff" /><Relationship Type="http://schemas.openxmlformats.org/officeDocument/2006/relationships/notesSlide" Target="/ppt/notesSlides/notesSlide7.xml" Id="Rad8d673abb444f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0bda009bb4fcb" /><Relationship Type="http://schemas.openxmlformats.org/officeDocument/2006/relationships/image" Target="/ppt/media/image4.png" Id="Rd35e588f92f941de" /><Relationship Type="http://schemas.openxmlformats.org/officeDocument/2006/relationships/notesSlide" Target="/ppt/notesSlides/notesSlide8.xml" Id="R17eb8d0e6a3d4f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03920dee142b2" /><Relationship Type="http://schemas.openxmlformats.org/officeDocument/2006/relationships/image" Target="/ppt/media/image5.png" Id="R48287bc53bd04498" /><Relationship Type="http://schemas.openxmlformats.org/officeDocument/2006/relationships/notesSlide" Target="/ppt/notesSlides/notesSlide9.xml" Id="R62e9870cb5b14d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5b873034241ed" /><Relationship Type="http://schemas.openxmlformats.org/officeDocument/2006/relationships/image" Target="/ppt/media/image6.png" Id="R03a1c83e80434ccb" /><Relationship Type="http://schemas.openxmlformats.org/officeDocument/2006/relationships/image" Target="/ppt/media/image7.png" Id="Recd244e730f64500" /><Relationship Type="http://schemas.openxmlformats.org/officeDocument/2006/relationships/notesSlide" Target="/ppt/notesSlides/notesSlide10.xml" Id="R3bcf67db74664e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591b054c146ea" /><Relationship Type="http://schemas.openxmlformats.org/officeDocument/2006/relationships/image" Target="/ppt/media/image8.png" Id="Rebf81fa6c448438f" /><Relationship Type="http://schemas.openxmlformats.org/officeDocument/2006/relationships/image" Target="/ppt/media/image9.png" Id="Rcfa08ea9fa2b4123" /><Relationship Type="http://schemas.openxmlformats.org/officeDocument/2006/relationships/notesSlide" Target="/ppt/notesSlides/notesSlide11.xml" Id="Rfb568003b08c47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2f95988aa4d70" /><Relationship Type="http://schemas.openxmlformats.org/officeDocument/2006/relationships/image" Target="/ppt/media/image10.png" Id="R81cbe25a861849b7" /><Relationship Type="http://schemas.openxmlformats.org/officeDocument/2006/relationships/image" Target="/ppt/media/image11.png" Id="R2984b041d78e455e" /><Relationship Type="http://schemas.openxmlformats.org/officeDocument/2006/relationships/notesSlide" Target="/ppt/notesSlides/notesSlide12.xml" Id="R87946aaf2c4b4c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fa6df590441f3" /><Relationship Type="http://schemas.openxmlformats.org/officeDocument/2006/relationships/notesSlide" Target="/ppt/notesSlides/notesSlide13.xml" Id="R9ef4b5544e2a41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FD894-E583-4338-A4DF-98414F9A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OPERATOR HYPOTHESIS LAB • REUSED-WINDOW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F31CF-C872-4798-8B9D-7A2A7D17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24025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HYP-MOM-05.1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98697-39BD-4E96-AFB4-622FA94A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Ordered triple-SMA</a:t>
            </a:r>
          </a:p>
          <a:p xmlns:a="http://schemas.openxmlformats.org/drawingml/2006/main">
            <a:pPr algn="l">
              <a:defRPr sz="43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pullback and reclaim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7D1FD-8DCF-46E1-A77D-1885314D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7381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A causal 15 / 30 / 45 trend rule tested across a frozen 122-stock atlas at 1× and fixed-quantity 1.8× leverage.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7220A-34C6-4352-8AC5-815EC70D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162050"/>
            <a:ext cx="24384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CF790-8DB6-40F6-85CA-75E75DC4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552575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46772-3403-4047-8F71-0B20562E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2410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642C5-334B-4B07-AD14-3116152C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8194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33DB9-EA88-4911-B070-2ED5C4A4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9092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84420-328C-450C-A711-C88FC51D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86225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7654C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7654C4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91479-4C3B-4864-AEB1-7BC3D330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616E"/>
                </a:solidFill>
                <a:latin typeface="Arial"/>
                <a:ea typeface="Arial"/>
                <a:cs typeface="Arial"/>
              </a:rPr>
              <a:t>12 AUG 2026</a:t>
            </a:r>
          </a:p>
        </p:txBody>
      </p:sp>
    </p:spTree>
    <p:extLst>
      <p:ext uri="{BB962C8B-B14F-4D97-AF65-F5344CB8AC3E}">
        <p14:creationId xmlns:p14="http://schemas.microsoft.com/office/powerpoint/2010/main" val="8827153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6D7F3-EA6A-4E9C-8B41-60133925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Trend permission is separate from pullback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3864F-85BA-46BF-B78E-A053539F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277CF-0F59-4392-A14D-AE7E0F1A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7CF1E-B5C5-4D4E-A84B-AB6653C6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TREND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D260F-06DE-4368-848D-BD1C472D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SMAₙ(t) = (1/n) Σᵢ₌₀ⁿ⁻¹ Close(t−i)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0E863-A948-41BA-B9F9-5D42FE19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Ordered(t) = [SMA₁₅ &gt; SMA₃₀ &gt; SMA₄₅]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35308-E065-4BFC-9B14-E853ACFE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The stack is evidence of a rising multi-speed trend. It grants permission; it is not itself the exit trigger.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60490-409D-41CC-BE6A-8BEA6341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438275"/>
            <a:ext cx="50673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88889-E21E-4CCD-BDF8-31503B8B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621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CAUSAL STATE MACHINE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689B7-AB94-408E-9696-A8218F81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35EE1-062F-4654-82C7-E41F46B1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Initial entry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E365C-4B74-4C30-8D06-EFD0312A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76525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Fresh ordered-stack activation and close &gt; SMA30; buy next open.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B7EA5-EA32-4B19-86A4-B2CD4BA8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909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83E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83E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B6942-1889-49DA-BA7B-ADE7FE0E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A1F2C-D1C6-47C1-8230-3C747B89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62375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Close ≤ SMA30; sell next open. Losing stack order alone does not exit.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059FE-2CD7-4F70-A914-C7948AD9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129794-FB58-49D1-B837-21DC30E9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577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Re-entry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0131C0-D590-4832-8C99-561E7376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48225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After an exit, close must freshly reclaim SMA30 while the stack is ordered.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3E85E-CD2F-416B-93BC-9D716E86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673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Signals use completed closes; orders occur at the next session's open.</a:t>
            </a:r>
          </a:p>
        </p:txBody>
      </p:sp>
    </p:spTree>
    <p:extLst>
      <p:ext uri="{BB962C8B-B14F-4D97-AF65-F5344CB8AC3E}">
        <p14:creationId xmlns:p14="http://schemas.microsoft.com/office/powerpoint/2010/main" val="5959660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AC12A-E1DC-430F-AE5C-8C2641DB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test makes timing, debt, and comparators explicit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3736E-F34B-4CEE-AD39-298915C8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54910-69CB-4512-85D0-DEB165F1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F99C8-987F-413E-BE82-C5C63082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CAUSAL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FF552-63C0-4916-8AD3-7F459388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• Start each asset in cash</a:t>
            </a:r>
          </a:p>
          <a:p xmlns:a="http://schemas.openxmlformats.org/drawingml/2006/main">
            <a:pPr algn="l">
              <a:defRPr sz="17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• No warm-start positions</a:t>
            </a:r>
          </a:p>
          <a:p xmlns:a="http://schemas.openxmlformats.org/drawingml/2006/main">
            <a:pPr algn="l">
              <a:defRPr sz="17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• Liquidate at the final discovery open</a:t>
            </a:r>
          </a:p>
          <a:p xmlns:a="http://schemas.openxmlformats.org/drawingml/2006/main">
            <a:pPr algn="l">
              <a:defRPr sz="17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• Reinvest prior trade equity</a:t>
            </a:r>
          </a:p>
          <a:p xmlns:a="http://schemas.openxmlformats.org/drawingml/2006/main">
            <a:pPr algn="l">
              <a:defRPr sz="17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• Never access 2024+ confirmation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00986-EFCC-4281-8439-FEED46B1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811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54C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54C4"/>
                </a:solidFill>
                <a:latin typeface="Arial"/>
                <a:ea typeface="Arial"/>
                <a:cs typeface="Arial"/>
              </a:rPr>
              <a:t>FIXED-QUANTITY LEVERAGE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7EFCE-07D2-4A72-896D-CD6FD4FC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62125"/>
            <a:ext cx="52387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Gross₀ = L × Equity₀</a:t>
            </a:r>
          </a:p>
          <a:p xmlns:a="http://schemas.openxmlformats.org/drawingml/2006/main">
            <a:pPr algn="l">
              <a:defRPr sz="17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Debt₀ = (L − 1) × Equity₀</a:t>
            </a:r>
          </a:p>
          <a:p xmlns:a="http://schemas.openxmlformats.org/drawingml/2006/main">
            <a:pPr algn="l">
              <a:defRPr sz="17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Shares = Gross₀(1 − c) / EntryOpen</a:t>
            </a:r>
          </a:p>
          <a:p xmlns:a="http://schemas.openxmlformats.org/drawingml/2006/main">
            <a:pPr algn="l">
              <a:defRPr sz="17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Debtₜ₊₁ = Debtₜ(1 + rdaily)</a:t>
            </a:r>
          </a:p>
          <a:p xmlns:a="http://schemas.openxmlformats.org/drawingml/2006/main">
            <a:pPr algn="l">
              <a:defRPr sz="1725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Equityₜ = Shares × Openₜ − Debtₜ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DA4F6-11DB-4D61-A18D-9F686231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1068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C47DEB-AA7F-4833-824F-03EDAFCC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Primary friction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1A375-B624-49A2-8688-C387522F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5 bp one-way + 6% annual debt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7CEB9-00CF-4940-9A72-9A9AA887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14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Stress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F8BED-F3E9-4016-80E3-D5A2C76D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054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10 bp one-way + 10% annual debt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DE371-15F0-4C6D-B84C-1B950561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14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Comparators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13933-7BC5-400E-AF29-0CFC60E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05400"/>
            <a:ext cx="3476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Cash, buy &amp; hold, SMA30-only, ordered-stack only, and 500 exposure-matched circular shifts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A1C88-47CC-404A-919F-FD556CA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848350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654C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654C4"/>
                </a:solidFill>
                <a:latin typeface="Arial"/>
                <a:ea typeface="Arial"/>
                <a:cs typeface="Arial"/>
              </a:rPr>
              <a:t>1.8× is not a daily-reset leveraged return series.</a:t>
            </a:r>
          </a:p>
        </p:txBody>
      </p:sp>
    </p:spTree>
    <p:extLst>
      <p:ext uri="{BB962C8B-B14F-4D97-AF65-F5344CB8AC3E}">
        <p14:creationId xmlns:p14="http://schemas.microsoft.com/office/powerpoint/2010/main" val="10128825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4165B-E9AE-4BE0-99BD-66697094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refreshed atlas retained 120 of 122 stocks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EB109-CA27-418B-A901-EF4FD7F7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44D66-9936-43D5-830E-A1AE5BB6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1725376e44264"/>
          <a:stretch xmlns:a="http://schemas.openxmlformats.org/drawingml/2006/main"/>
        </p:blipFill>
        <p:spPr>
          <a:xfrm xmlns:a="http://schemas.openxmlformats.org/drawingml/2006/main">
            <a:off x="1775460" y="1200150"/>
            <a:ext cx="8641080" cy="4800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8AA38-7F8C-4FBE-9847-8C2A8809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APHA and SNE remained incomplete after refresh and were excluded; no replacements were introduced.</a:t>
            </a:r>
          </a:p>
        </p:txBody>
      </p:sp>
    </p:spTree>
    <p:extLst>
      <p:ext uri="{BB962C8B-B14F-4D97-AF65-F5344CB8AC3E}">
        <p14:creationId xmlns:p14="http://schemas.microsoft.com/office/powerpoint/2010/main" val="5057812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6C0B2-F244-4397-824E-62AE1EF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15 / 30 / 45 rule was broadly negative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4F19D-7999-4658-A320-A3C56C96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9634C-20F9-4A81-86E2-337AEA7F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2CD95-2F31-47E8-BFF4-3682BB59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Across 120 eligible assets and 1,099 completed trades at each leverage, the strategy was usually out of the market—and usually wrong when it re-entered.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F07F5-3073-4894-8215-0056D1DC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C83E3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C83E3A"/>
                </a:solidFill>
                <a:latin typeface="Arial"/>
                <a:ea typeface="Arial"/>
                <a:cs typeface="Arial"/>
              </a:rPr>
              <a:t>−3.4%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9B287-7952-40AB-9DD2-C900BB6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385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9616E"/>
                </a:solidFill>
                <a:latin typeface="Arial"/>
                <a:ea typeface="Arial"/>
                <a:cs typeface="Arial"/>
              </a:rPr>
              <a:t>Median total return • 1×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FA379-FE90-4AC7-BA19-EF44130E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381250"/>
            <a:ext cx="190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CF8D6-8390-4DF5-8E81-5A8B098C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4193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29.3%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8416C-8195-403D-B6DB-7236B44D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385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9616E"/>
                </a:solidFill>
                <a:latin typeface="Arial"/>
                <a:ea typeface="Arial"/>
                <a:cs typeface="Arial"/>
              </a:rPr>
              <a:t>Median hit rate • 1×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F3D9B-F2C3-48D9-B2F9-C048D48D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81250"/>
            <a:ext cx="190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851CD-9731-493E-AA21-F0C5E160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193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 / 120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2ACD9-EEA7-4751-84A4-4837AFB8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385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9616E"/>
                </a:solidFill>
                <a:latin typeface="Arial"/>
                <a:ea typeface="Arial"/>
                <a:cs typeface="Arial"/>
              </a:rPr>
              <a:t>Above 80th timing percentile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E0744-7A18-4DED-802B-AF275E15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1068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EC208D-73D2-4F2B-8199-1C06E784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0542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1.8× did not rescue the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586F8-0E40-43F7-8C61-84045F4B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Median return fell to −7.8% and median maximum drawdown deepened to −25.6%, versus −15.1% at 1×.</a:t>
            </a:r>
          </a:p>
        </p:txBody>
      </p:sp>
    </p:spTree>
    <p:extLst>
      <p:ext uri="{BB962C8B-B14F-4D97-AF65-F5344CB8AC3E}">
        <p14:creationId xmlns:p14="http://schemas.microsoft.com/office/powerpoint/2010/main" val="3425183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0A310-197B-40F3-9803-451CEEA8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hybrid lagged ownership and SMA30-only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C3C61-B161-4265-8423-7F2EF4D4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E351D-FA8C-4D44-896B-8AE425EB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a8d7dc776450b"/>
          <a:stretch xmlns:a="http://schemas.openxmlformats.org/drawingml/2006/main"/>
        </p:blipFill>
        <p:spPr>
          <a:xfrm xmlns:a="http://schemas.openxmlformats.org/drawingml/2006/main">
            <a:off x="1809750" y="1171575"/>
            <a:ext cx="857250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8645D-F939-43FA-A243-B912A22E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Only the comparison with an ordered-stack-only policy was close at 1×; at 1.8× the hybrid beat that baseline because it spent less time exposed—not because its timing became strong.</a:t>
            </a:r>
          </a:p>
        </p:txBody>
      </p:sp>
    </p:spTree>
    <p:extLst>
      <p:ext uri="{BB962C8B-B14F-4D97-AF65-F5344CB8AC3E}">
        <p14:creationId xmlns:p14="http://schemas.microsoft.com/office/powerpoint/2010/main" val="18254975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45306-CFE9-4198-8E57-4D59A199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Repeated SMA30 reclaims became a whipsaw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EA0DF-D6B8-48A6-B147-5B8E0C55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5B19E-4D33-4B76-8A73-924BE1F9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75e0ebabd4dff"/>
          <a:stretch xmlns:a="http://schemas.openxmlformats.org/drawingml/2006/main"/>
        </p:blipFill>
        <p:spPr>
          <a:xfrm xmlns:a="http://schemas.openxmlformats.org/drawingml/2006/main">
            <a:off x="1826895" y="1181100"/>
            <a:ext cx="8538210" cy="4743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F670C-C9EE-41FC-9E63-5A4C2590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979 of 1,099 trades were reclaims. Their median hold was 3 sessions, median return was −0.93%, and 83.3% of each asset's trades were typically ≤20 sessions.</a:t>
            </a:r>
          </a:p>
        </p:txBody>
      </p:sp>
    </p:spTree>
    <p:extLst>
      <p:ext uri="{BB962C8B-B14F-4D97-AF65-F5344CB8AC3E}">
        <p14:creationId xmlns:p14="http://schemas.microsoft.com/office/powerpoint/2010/main" val="14924739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9C19D-997C-4F27-9E33-ABFBC846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Fixed debt amplified a weak timing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A12DC-4483-4A11-A0A4-7C36E673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DE3BB-7A00-4742-B997-9D68C24E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e588f92f941de"/>
          <a:stretch xmlns:a="http://schemas.openxmlformats.org/drawingml/2006/main"/>
        </p:blipFill>
        <p:spPr>
          <a:xfrm xmlns:a="http://schemas.openxmlformats.org/drawingml/2006/main">
            <a:off x="2066925" y="1190625"/>
            <a:ext cx="805815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185D1-A9B6-4C35-9843-60C1A7A3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No asset breached the 30% maintenance proxy and none reached nonpositive equity—but that does not make 1.8× attractive. Median return and drawdown both worsened, and financing added a median 1.44% of starting wealth in cost.</a:t>
            </a:r>
          </a:p>
        </p:txBody>
      </p:sp>
    </p:spTree>
    <p:extLst>
      <p:ext uri="{BB962C8B-B14F-4D97-AF65-F5344CB8AC3E}">
        <p14:creationId xmlns:p14="http://schemas.microsoft.com/office/powerpoint/2010/main" val="7855114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67029-8388-4D0C-9650-D30F665F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weakness was broad, not confined to meme stocks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0E41D-5CCC-43BC-A0BC-31AA55DA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5A67B-135F-49D1-8E1F-40CF314F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287bc53bd04498"/>
          <a:stretch xmlns:a="http://schemas.openxmlformats.org/drawingml/2006/main"/>
        </p:blipFill>
        <p:spPr>
          <a:xfrm xmlns:a="http://schemas.openxmlformats.org/drawingml/2006/main">
            <a:off x="1766888" y="1200150"/>
            <a:ext cx="8658225" cy="4810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6F839-8B56-424B-9367-3872336F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674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Utilities, real estate, and industrials were modestly positive at the median; eight of eleven sectors were negative. This is descriptive breadth, not a sector-selection license.</a:t>
            </a:r>
          </a:p>
        </p:txBody>
      </p:sp>
    </p:spTree>
    <p:extLst>
      <p:ext uri="{BB962C8B-B14F-4D97-AF65-F5344CB8AC3E}">
        <p14:creationId xmlns:p14="http://schemas.microsoft.com/office/powerpoint/2010/main" val="5296892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5C1C3-BBF7-4BA7-A244-E46FACA5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O sat mostly in cash; META captured trend bursts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4474E-2659-4A29-8D8F-2C7D479F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A470F-61E4-4D7F-85A5-9B592C3A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1c83e80434ccb"/>
          <a:stretch xmlns:a="http://schemas.openxmlformats.org/drawingml/2006/main"/>
        </p:blipFill>
        <p:spPr>
          <a:xfrm xmlns:a="http://schemas.openxmlformats.org/drawingml/2006/main">
            <a:off x="400050" y="1861608"/>
            <a:ext cx="5581650" cy="3411008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244e730f64500"/>
          <a:stretch xmlns:a="http://schemas.openxmlformats.org/drawingml/2006/main"/>
        </p:blipFill>
        <p:spPr>
          <a:xfrm xmlns:a="http://schemas.openxmlformats.org/drawingml/2006/main">
            <a:off x="6210300" y="1861608"/>
            <a:ext cx="5581650" cy="341100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3D805-7A96-48B5-B799-EB25F9AC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38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16E"/>
                </a:solidFill>
                <a:latin typeface="Arial"/>
                <a:ea typeface="Arial"/>
                <a:cs typeface="Arial"/>
              </a:rPr>
              <a:t>O: −3.5%, 10 trades, 6.6% exposure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6F461-73AB-4738-9BDE-98BE00AA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03885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8B5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META: +138.0%, 14 trades, 40.6% exposure</a:t>
            </a:r>
          </a:p>
        </p:txBody>
      </p:sp>
    </p:spTree>
    <p:extLst>
      <p:ext uri="{BB962C8B-B14F-4D97-AF65-F5344CB8AC3E}">
        <p14:creationId xmlns:p14="http://schemas.microsoft.com/office/powerpoint/2010/main" val="70213252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8D566-EB98-44E7-8D63-6C765FC6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SNAP and SPCE expose hidden path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1D3C4-8471-407A-BDFB-E6D87ED8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170F6-EF51-4BED-B4F5-FF890FBE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81fa6c448438f"/>
          <a:stretch xmlns:a="http://schemas.openxmlformats.org/drawingml/2006/main"/>
        </p:blipFill>
        <p:spPr>
          <a:xfrm xmlns:a="http://schemas.openxmlformats.org/drawingml/2006/main">
            <a:off x="400050" y="1861608"/>
            <a:ext cx="5581650" cy="3411008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08ea9fa2b4123"/>
          <a:stretch xmlns:a="http://schemas.openxmlformats.org/drawingml/2006/main"/>
        </p:blipFill>
        <p:spPr>
          <a:xfrm xmlns:a="http://schemas.openxmlformats.org/drawingml/2006/main">
            <a:off x="6210300" y="1861608"/>
            <a:ext cx="5581650" cy="341100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E7F60-99B3-4A88-9E57-5F9D94F8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38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3E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3E3A"/>
                </a:solidFill>
                <a:latin typeface="Arial"/>
                <a:ea typeface="Arial"/>
                <a:cs typeface="Arial"/>
              </a:rPr>
              <a:t>SNAP: −36.6%; repeated trend failure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6979A-40D8-4D83-930C-B7149B6B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0388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3E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83E3A"/>
                </a:solidFill>
                <a:latin typeface="Arial"/>
                <a:ea typeface="Arial"/>
                <a:cs typeface="Arial"/>
              </a:rPr>
              <a:t>SPCE: +6.6% final return; −55.3% max drawdown</a:t>
            </a:r>
          </a:p>
        </p:txBody>
      </p:sp>
    </p:spTree>
    <p:extLst>
      <p:ext uri="{BB962C8B-B14F-4D97-AF65-F5344CB8AC3E}">
        <p14:creationId xmlns:p14="http://schemas.microsoft.com/office/powerpoint/2010/main" val="49357192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B2832-391F-45E9-8FED-41460D1A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Frequent reclaims added activity without a durable 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7CF91-EBD8-404E-9EBE-BD95CEAF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7DCFC-716F-4214-971B-F96560EA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cbe25a861849b7"/>
          <a:stretch xmlns:a="http://schemas.openxmlformats.org/drawingml/2006/main"/>
        </p:blipFill>
        <p:spPr>
          <a:xfrm xmlns:a="http://schemas.openxmlformats.org/drawingml/2006/main">
            <a:off x="400050" y="1861608"/>
            <a:ext cx="5581650" cy="3411008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4b041d78e455e"/>
          <a:stretch xmlns:a="http://schemas.openxmlformats.org/drawingml/2006/main"/>
        </p:blipFill>
        <p:spPr>
          <a:xfrm xmlns:a="http://schemas.openxmlformats.org/drawingml/2006/main">
            <a:off x="6210300" y="1861608"/>
            <a:ext cx="5581650" cy="341100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D6FF3-F632-44B6-BA2A-7B9819CC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388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16E"/>
                </a:solidFill>
                <a:latin typeface="Arial"/>
                <a:ea typeface="Arial"/>
                <a:cs typeface="Arial"/>
              </a:rPr>
              <a:t>PEP: 20 trades; +1.1% total return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C7372-77B0-4DEC-8726-6671ACC7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03885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16E"/>
                </a:solidFill>
                <a:latin typeface="Arial"/>
                <a:ea typeface="Arial"/>
                <a:cs typeface="Arial"/>
              </a:rPr>
              <a:t>DOW: 17 trades; +3.6% total return</a:t>
            </a:r>
          </a:p>
        </p:txBody>
      </p:sp>
    </p:spTree>
    <p:extLst>
      <p:ext uri="{BB962C8B-B14F-4D97-AF65-F5344CB8AC3E}">
        <p14:creationId xmlns:p14="http://schemas.microsoft.com/office/powerpoint/2010/main" val="648794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DF77B-BE35-45D1-A4DD-1396716A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Set down 05.1; preserve the re-entry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1ADC7-4F2C-413F-9593-68090567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1917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ECB59-F96C-4A0D-870A-BF994ECF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3D138-71C4-492E-A1E0-B19AE25B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3E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3E3A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0416D-50A5-4BAE-9DB1-99621CEE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5381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83E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83E3A"/>
                </a:solidFill>
                <a:latin typeface="Arial"/>
                <a:ea typeface="Arial"/>
                <a:cs typeface="Arial"/>
              </a:rPr>
              <a:t>WIDE DISCOVERY COMPLETE</a:t>
            </a:r>
          </a:p>
          <a:p xmlns:a="http://schemas.openxmlformats.org/drawingml/2006/main">
            <a:pPr algn="l">
              <a:defRPr sz="2700" b="1">
                <a:solidFill>
                  <a:srgbClr val="C83E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83E3A"/>
                </a:solidFill>
                <a:latin typeface="Arial"/>
                <a:ea typeface="Arial"/>
                <a:cs typeface="Arial"/>
              </a:rPr>
              <a:t>NO PROMOTION 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7E2B7-590F-487E-80D8-552550BA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This precise rule does not warrant confirmation access, live leverage, sector selection, or parameter tuning.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317FD-5F11-45D7-9026-0813FE73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38275"/>
            <a:ext cx="5010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75C87-FB88-4B19-9981-64E384AA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716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WHAT THE EXERCISE TAUGHT 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13158-0CD5-4A0C-841A-982E44CA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28850"/>
            <a:ext cx="41719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  Trend-stack activation is not enough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2  Immediate SMA30 reclaim is low-quality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3  Low exposure can improve drawdown while still destroying relative return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318"/>
                </a:solidFill>
                <a:latin typeface="Arial"/>
                <a:ea typeface="Arial"/>
                <a:cs typeface="Arial"/>
              </a:rPr>
              <a:t>4  Fixed debt amplifies a weak timing rule; it does not repair 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398E3-4109-4017-8E4B-D41958D9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24525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16E"/>
                </a:solidFill>
                <a:latin typeface="Arial"/>
                <a:ea typeface="Arial"/>
                <a:cs typeface="Arial"/>
              </a:rPr>
              <a:t>A future lane may ask a new theory-first question about reclaim confirmation or persistence—but only under a new frozen identifier and distinct evidence.</a:t>
            </a:r>
          </a:p>
        </p:txBody>
      </p:sp>
    </p:spTree>
    <p:extLst>
      <p:ext uri="{BB962C8B-B14F-4D97-AF65-F5344CB8AC3E}">
        <p14:creationId xmlns:p14="http://schemas.microsoft.com/office/powerpoint/2010/main" val="427486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2026-08-13T02:54:28.7200000Z</dcterms:created>
  <dcterms:modified xsi:type="dcterms:W3CDTF">2026-08-13T02:54:28.7200000Z</dcterms:modified>
</coreProperties>
</file>