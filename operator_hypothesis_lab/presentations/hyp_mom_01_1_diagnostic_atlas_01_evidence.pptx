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aa4105658440aa" /><Relationship Type="http://schemas.openxmlformats.org/officeDocument/2006/relationships/extended-properties" Target="/docProps/app.xml" Id="R1499ba4dd1714f62" /><Relationship Type="http://schemas.openxmlformats.org/officeDocument/2006/relationships/officeDocument" Target="/ppt/presentation.xml" Id="R7519d57b8f154e79" /></Relationships>
</file>

<file path=ppt/presentation.xml><?xml version="1.0" encoding="utf-8"?>
<p:presentation xmlns:p="http://schemas.openxmlformats.org/presentationml/2006/main">
  <p:sldMasterIdLst>
    <p:sldMasterId xmlns:r="http://schemas.openxmlformats.org/officeDocument/2006/relationships" id="2147483648" r:id="R1b10c0bc23d9484e"/>
  </p:sldMasterIdLst>
  <p:notesMasterIdLst>
    <p:notesMasterId xmlns:r="http://schemas.openxmlformats.org/officeDocument/2006/relationships" r:id="R48dcb8cb1cc84b2e"/>
  </p:notesMasterIdLst>
  <p:sldIdLst>
    <p:sldId xmlns:r="http://schemas.openxmlformats.org/officeDocument/2006/relationships" id="256" r:id="R83a86030e1b14cb8"/>
    <p:sldId xmlns:r="http://schemas.openxmlformats.org/officeDocument/2006/relationships" id="257" r:id="R948ab97c8b9840a2"/>
    <p:sldId xmlns:r="http://schemas.openxmlformats.org/officeDocument/2006/relationships" id="258" r:id="R0d6a5c40ac1d4dc9"/>
    <p:sldId xmlns:r="http://schemas.openxmlformats.org/officeDocument/2006/relationships" id="259" r:id="Re24c96d4a7f8415c"/>
    <p:sldId xmlns:r="http://schemas.openxmlformats.org/officeDocument/2006/relationships" id="260" r:id="Rb52753500dac4b71"/>
    <p:sldId xmlns:r="http://schemas.openxmlformats.org/officeDocument/2006/relationships" id="261" r:id="Re5e30aa30c6846a6"/>
    <p:sldId xmlns:r="http://schemas.openxmlformats.org/officeDocument/2006/relationships" id="262" r:id="Rc4885752e0054be9"/>
    <p:sldId xmlns:r="http://schemas.openxmlformats.org/officeDocument/2006/relationships" id="263" r:id="R927b811bef944fd4"/>
    <p:sldId xmlns:r="http://schemas.openxmlformats.org/officeDocument/2006/relationships" id="264" r:id="R705b822742414401"/>
    <p:sldId xmlns:r="http://schemas.openxmlformats.org/officeDocument/2006/relationships" id="265" r:id="Rad17f7d0a7484fff"/>
    <p:sldId xmlns:r="http://schemas.openxmlformats.org/officeDocument/2006/relationships" id="266" r:id="R1582b272a94d4ee8"/>
    <p:sldId xmlns:r="http://schemas.openxmlformats.org/officeDocument/2006/relationships" id="267" r:id="R90c0606589794f80"/>
    <p:sldId xmlns:r="http://schemas.openxmlformats.org/officeDocument/2006/relationships" id="268" r:id="R9484ba077e084360"/>
    <p:sldId xmlns:r="http://schemas.openxmlformats.org/officeDocument/2006/relationships" id="269" r:id="R988461d783a3408b"/>
    <p:sldId xmlns:r="http://schemas.openxmlformats.org/officeDocument/2006/relationships" id="270" r:id="R304f9e84530f4f20"/>
    <p:sldId xmlns:r="http://schemas.openxmlformats.org/officeDocument/2006/relationships" id="271" r:id="Rfed11afe149c4f43"/>
    <p:sldId xmlns:r="http://schemas.openxmlformats.org/officeDocument/2006/relationships" id="272" r:id="R15dd81de6d614b02"/>
    <p:sldId xmlns:r="http://schemas.openxmlformats.org/officeDocument/2006/relationships" id="273" r:id="Ra4f40333d6f340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f171bb7fde4870" /><Relationship Type="http://schemas.openxmlformats.org/officeDocument/2006/relationships/slideMaster" Target="/ppt/slideMasters/slideMaster1.xml" Id="R1b10c0bc23d9484e" /><Relationship Type="http://schemas.openxmlformats.org/officeDocument/2006/relationships/notesMaster" Target="/ppt/notesMasters/notesMaster1.xml" Id="R48dcb8cb1cc84b2e" /><Relationship Type="http://schemas.openxmlformats.org/officeDocument/2006/relationships/presProps" Target="/ppt/presProps.xml" Id="R03c6689548394d72" /><Relationship Type="http://schemas.openxmlformats.org/officeDocument/2006/relationships/tableStyles" Target="/ppt/tableStyles.xml" Id="R556bacc44ac04ff0" /><Relationship Type="http://schemas.openxmlformats.org/officeDocument/2006/relationships/slide" Target="/ppt/slides/slide1.xml" Id="R83a86030e1b14cb8" /><Relationship Type="http://schemas.openxmlformats.org/officeDocument/2006/relationships/slide" Target="/ppt/slides/slide2.xml" Id="R948ab97c8b9840a2" /><Relationship Type="http://schemas.openxmlformats.org/officeDocument/2006/relationships/slide" Target="/ppt/slides/slide3.xml" Id="R0d6a5c40ac1d4dc9" /><Relationship Type="http://schemas.openxmlformats.org/officeDocument/2006/relationships/slide" Target="/ppt/slides/slide4.xml" Id="Re24c96d4a7f8415c" /><Relationship Type="http://schemas.openxmlformats.org/officeDocument/2006/relationships/slide" Target="/ppt/slides/slide5.xml" Id="Rb52753500dac4b71" /><Relationship Type="http://schemas.openxmlformats.org/officeDocument/2006/relationships/slide" Target="/ppt/slides/slide6.xml" Id="Re5e30aa30c6846a6" /><Relationship Type="http://schemas.openxmlformats.org/officeDocument/2006/relationships/slide" Target="/ppt/slides/slide7.xml" Id="Rc4885752e0054be9" /><Relationship Type="http://schemas.openxmlformats.org/officeDocument/2006/relationships/slide" Target="/ppt/slides/slide8.xml" Id="R927b811bef944fd4" /><Relationship Type="http://schemas.openxmlformats.org/officeDocument/2006/relationships/slide" Target="/ppt/slides/slide9.xml" Id="R705b822742414401" /><Relationship Type="http://schemas.openxmlformats.org/officeDocument/2006/relationships/slide" Target="/ppt/slides/slide10.xml" Id="Rad17f7d0a7484fff" /><Relationship Type="http://schemas.openxmlformats.org/officeDocument/2006/relationships/slide" Target="/ppt/slides/slide11.xml" Id="R1582b272a94d4ee8" /><Relationship Type="http://schemas.openxmlformats.org/officeDocument/2006/relationships/slide" Target="/ppt/slides/slide12.xml" Id="R90c0606589794f80" /><Relationship Type="http://schemas.openxmlformats.org/officeDocument/2006/relationships/slide" Target="/ppt/slides/slide13.xml" Id="R9484ba077e084360" /><Relationship Type="http://schemas.openxmlformats.org/officeDocument/2006/relationships/slide" Target="/ppt/slides/slide14.xml" Id="R988461d783a3408b" /><Relationship Type="http://schemas.openxmlformats.org/officeDocument/2006/relationships/slide" Target="/ppt/slides/slide15.xml" Id="R304f9e84530f4f20" /><Relationship Type="http://schemas.openxmlformats.org/officeDocument/2006/relationships/slide" Target="/ppt/slides/slide16.xml" Id="Rfed11afe149c4f43" /><Relationship Type="http://schemas.openxmlformats.org/officeDocument/2006/relationships/slide" Target="/ppt/slides/slide17.xml" Id="R15dd81de6d614b02" /><Relationship Type="http://schemas.openxmlformats.org/officeDocument/2006/relationships/slide" Target="/ppt/slides/slide18.xml" Id="Ra4f40333d6f340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bace69caf147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907e539af74bb9" /><Relationship Type="http://schemas.openxmlformats.org/officeDocument/2006/relationships/notesMaster" Target="/ppt/notesMasters/notesMaster1.xml" Id="Re2dc626b5c9f4e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b127348a1b4983" /><Relationship Type="http://schemas.openxmlformats.org/officeDocument/2006/relationships/notesMaster" Target="/ppt/notesMasters/notesMaster1.xml" Id="Raa186a7f6f0047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e12b5549d54194" /><Relationship Type="http://schemas.openxmlformats.org/officeDocument/2006/relationships/notesMaster" Target="/ppt/notesMasters/notesMaster1.xml" Id="R88676cc63c4f45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ebd8104783411e" /><Relationship Type="http://schemas.openxmlformats.org/officeDocument/2006/relationships/notesMaster" Target="/ppt/notesMasters/notesMaster1.xml" Id="R038211215e8a45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7470b0ae55406c" /><Relationship Type="http://schemas.openxmlformats.org/officeDocument/2006/relationships/notesMaster" Target="/ppt/notesMasters/notesMaster1.xml" Id="Rfa3a92d875d440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172371d3c4e53" /><Relationship Type="http://schemas.openxmlformats.org/officeDocument/2006/relationships/notesMaster" Target="/ppt/notesMasters/notesMaster1.xml" Id="R8b8bdcd6b52d40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dea469668d4ae5" /><Relationship Type="http://schemas.openxmlformats.org/officeDocument/2006/relationships/notesMaster" Target="/ppt/notesMasters/notesMaster1.xml" Id="R9f67f379707745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ded931802244c7" /><Relationship Type="http://schemas.openxmlformats.org/officeDocument/2006/relationships/notesMaster" Target="/ppt/notesMasters/notesMaster1.xml" Id="R8946b2fc2a9a4d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3fe62f841948f7" /><Relationship Type="http://schemas.openxmlformats.org/officeDocument/2006/relationships/notesMaster" Target="/ppt/notesMasters/notesMaster1.xml" Id="R7c2d35f50d5940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8261c2efe34301" /><Relationship Type="http://schemas.openxmlformats.org/officeDocument/2006/relationships/notesMaster" Target="/ppt/notesMasters/notesMaster1.xml" Id="R0c4dd294e89444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be56fd3e854bb6" /><Relationship Type="http://schemas.openxmlformats.org/officeDocument/2006/relationships/notesMaster" Target="/ppt/notesMasters/notesMaster1.xml" Id="Rf8f81e33ec2747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303066be214558" /><Relationship Type="http://schemas.openxmlformats.org/officeDocument/2006/relationships/notesMaster" Target="/ppt/notesMasters/notesMaster1.xml" Id="Rf81966d3484443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f16cf6fd854888" /><Relationship Type="http://schemas.openxmlformats.org/officeDocument/2006/relationships/notesMaster" Target="/ppt/notesMasters/notesMaster1.xml" Id="R17e51e7bf7a546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c2512f7463457e" /><Relationship Type="http://schemas.openxmlformats.org/officeDocument/2006/relationships/notesMaster" Target="/ppt/notesMasters/notesMaster1.xml" Id="Rdfd7fa699ba844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88e04e253e46c9" /><Relationship Type="http://schemas.openxmlformats.org/officeDocument/2006/relationships/notesMaster" Target="/ppt/notesMasters/notesMaster1.xml" Id="Re2e2fc684d3a47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be6d5d90e9458e" /><Relationship Type="http://schemas.openxmlformats.org/officeDocument/2006/relationships/notesMaster" Target="/ppt/notesMasters/notesMaster1.xml" Id="R48dd505ca69145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906814d03d4ee5" /><Relationship Type="http://schemas.openxmlformats.org/officeDocument/2006/relationships/notesMaster" Target="/ppt/notesMasters/notesMaster1.xml" Id="R7d78a5e97cac4b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e137927169401d" /><Relationship Type="http://schemas.openxmlformats.org/officeDocument/2006/relationships/notesMaster" Target="/ppt/notesMasters/notesMaster1.xml" Id="R8b5884bda1b64a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atlas keeps the original two-green-gap-up strategy mechanically unchanged and asks which observable features describe stronger or weaker outcomes. It is a reused-window discovery audit, not promotion evidence.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Project\Time-Series-Modeling-Gen5\operator_hypothesis_lab\docs\HYP_MOM_01_1_DIAGNOSTIC_ATLAS_01_CONTRACT.md</a:t>
            </a:r>
          </a:p>
          <a:p xmlns:a="http://schemas.openxmlformats.org/drawingml/2006/main">
            <a:r>
              <a:t>- C:\Users\Franc\OneDrive\Documents\Francis\Peltata Project\Time-Series-Modeling-Gen5\operator_hypothesis_lab\docs\HYP_MOM_01_1_DIAGNOSTIC_ATLAS_01_RESULTS.md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registry predeclares the primary diagnostic questions. Continuous feature correlations and representative tapes complement the grouped views. Every result remains descriptive because the same exploratory data was reused.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Project\Time-Series-Modeling-Gen5\operator_hypothesis_lab\registries\hyp_mom_01_1_diagnostic_atlas_01_registry.csv</a:t>
            </a:r>
          </a:p>
          <a:p xmlns:a="http://schemas.openxmlformats.org/drawingml/2006/main">
            <a:r>
              <a:t>- C:\Users\Franc\OneDrive\Documents\Francis\Peltata Project\Time-Series-Modeling-Gen5\operator_hypothesis_lab\docs\HYP_MOM_01_1_DIAGNOSTIC_ATLAS_01_CONTRACT.md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one-percent gap is not equally unusual for every stock. Dividing each gap and body by the strictly lagged 20-session return volatility expresses pattern size in recent-volatility units without leaking either signal candle into the denominator. The atlas uses two-session sums as the primary composites.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Project\Time-Series-Modeling-Gen5\operator_hypothesis_lab\docs\HYP_MOM_01_1_DIAGNOSTIC_ATLAS_01_CONTRACT.md</a:t>
            </a:r>
          </a:p>
          <a:p xmlns:a="http://schemas.openxmlformats.org/drawingml/2006/main">
            <a:r>
              <a:t>- C:\Users\Franc\OneDrive\Documents\Francis\Peltata Project\Time-Series-Modeling-Gen5\operator_hypothesis_lab\registries\hyp_mom_01_1_diagnostic_atlas_01_registry.csv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is the mean of within-asset group differences, so assets with many trades do not dominate. The horizontal intervals are 2,000 asset-level bootstrap intervals and are descriptive, not p-values. Every interval crosses zero; the SPY SMA200 contrast is the largest coherent point estimate.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Project\Time-Series-Modeling-Gen5\runs\research_workbench\operator_hypothesis_lab\hyp_mom_01_1_diagnostic_atlas_01_20260803\visuals\asset_paired_contrast_forest.png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High-gap trades had a pooled mean 0.50 percentage points above low-gap trades, but only eleven of twenty-two within-asset contrasts were positive. The best pooled cell was middle-gap/high-body, not high/high, and low-gap/high-body was the worst. This irregular surface argues against selecting a threshold from these cells.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Project\Time-Series-Modeling-Gen5\runs\research_workbench\operator_hypothesis_lab\hyp_mom_01_1_diagnostic_atlas_01_20260803\visuals\gap_body_strength_atlas.png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Gap magnitude has the most encouraging asset-level point estimate among the pattern features, but its breadth is exactly half the universe and its interval is wide. Body magnitude is weaker. A legitimate later experiment would predeclare a monotonic composite based on mechanism, rather than mine this grid for the winning cell.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Project\Time-Series-Modeling-Gen5\runs\research_workbench\operator_hypothesis_lab\hyp_mom_01_1_diagnostic_atlas_01_20260803\hyp_mom_01_1_da_correlation_summary.csv</a:t>
            </a:r>
          </a:p>
          <a:p xmlns:a="http://schemas.openxmlformats.org/drawingml/2006/main">
            <a:r>
              <a:t>- C:\Users\Franc\OneDrive\Documents\Francis\Peltata Project\Time-Series-Modeling-Gen5\operator_hypothesis_lab\docs\HYP_MOM_01_1_DIAGNOSTIC_ATLAS_01_RESULTS.md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Trades below the asset's SMA200 had the highest pooled mean, but also the widest tails. Established-above minus below was negative in fourteen of twenty-two assets; recent reclaim minus below was negative in fourteen of twenty-one. This does not support an above-SMA momentum permission. The below-anchor result may be rebound-like, but it is not a selected reversal rule.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Project\Time-Series-Modeling-Gen5\runs\research_workbench\operator_hypothesis_lab\hyp_mom_01_1_diagnostic_atlas_01_20260803\visuals\slow_anchor_state_behavior.png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three slides make the state definitions tangible. Established above means the stock is above SMA200 now and was also above twenty sessions earlier. Recent reclaim means it is above now but was below twenty sessions earlier. Below anchor means it is below SMA200 at signal time.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Project\Time-Series-Modeling-Gen5\operator_hypothesis_lab\docs\HYP_MOM_01_1_DIAGNOSTIC_ATLAS_01_CONTRACT.md</a:t>
            </a:r>
          </a:p>
          <a:p xmlns:a="http://schemas.openxmlformats.org/drawingml/2006/main">
            <a:r>
              <a:t>- C:\Users\Franc\OneDrive\Documents\Francis\Peltata Project\Time-Series-Modeling-Gen5\runs\research_workbench\operator_hypothesis_lab\hyp_mom_01_1_diagnostic_atlas_01_20260803\hyp_mom_01_1_da_tape_manifest.csv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HD is the frozen medoid-return established-above example. The asset was already above its slow anchor before the signal; the five-session result is representative of that state's central trade rather than evidence that the state works.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Project\Time-Series-Modeling-Gen5\runs\research_workbench\operator_hypothesis_lab\hyp_mom_01_1_diagnostic_atlas_01_20260803\hyp_mom_01_1_da_tape_manifest.csv</a:t>
            </a:r>
          </a:p>
          <a:p xmlns:a="http://schemas.openxmlformats.org/drawingml/2006/main">
            <a:r>
              <a:t>- C:\Users\Franc\OneDrive\Documents\Francis\Peltata Project\Time-Series-Modeling-Gen5\runs\research_workbench\operator_hypothesis_lab\hyp_mom_01_1_diagnostic_atlas_01_20260803\visuals\diagnostic_tape_01_anchor_established_above_median_hd.png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PG is the frozen medoid-return recent-reclaim example. The state tests the operator's pivot hypothesis: current price is above SMA200 but was below it twenty sessions earlier. Its aggregate outcomes were not better than below-anchor outcomes.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Project\Time-Series-Modeling-Gen5\runs\research_workbench\operator_hypothesis_lab\hyp_mom_01_1_diagnostic_atlas_01_20260803\hyp_mom_01_1_da_tape_manifest.csv</a:t>
            </a:r>
          </a:p>
          <a:p xmlns:a="http://schemas.openxmlformats.org/drawingml/2006/main">
            <a:r>
              <a:t>- C:\Users\Franc\OneDrive\Documents\Francis\Peltata Project\Time-Series-Modeling-Gen5\runs\research_workbench\operator_hypothesis_lab\hyp_mom_01_1_diagnostic_atlas_01_20260803\visuals\diagnostic_tape_02_anchor_recent_reclaim_median_pg.png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MSFT is the frozen medoid-return below-anchor example. Below-anchor trades had wider gains and losses, consistent with a more volatile rebound context. That tail width prevents interpreting the slightly higher pooled mean as a clean reversal edge.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Project\Time-Series-Modeling-Gen5\runs\research_workbench\operator_hypothesis_lab\hyp_mom_01_1_diagnostic_atlas_01_20260803\hyp_mom_01_1_da_tape_manifest.csv</a:t>
            </a:r>
          </a:p>
          <a:p xmlns:a="http://schemas.openxmlformats.org/drawingml/2006/main">
            <a:r>
              <a:t>- C:\Users\Franc\OneDrive\Documents\Francis\Peltata Project\Time-Series-Modeling-Gen5\runs\research_workbench\operator_hypothesis_lab\hyp_mom_01_1_diagnostic_atlas_01_20260803\visuals\diagnostic_tape_03_anchor_below_median_msft.png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Twenty-session positive momentum was nearly neutral relative to nonpositive momentum; sixty-session positive momentum was directionally worse; 120-session positive momentum was directionally better but only ten of twenty-two assets agreed. Continuous per-asset rank correlations were also weak or negative. Adding an L lookback therefore did not sharpen this pattern in the reused window.</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Project\Time-Series-Modeling-Gen5\runs\research_workbench\operator_hypothesis_lab\hyp_mom_01_1_diagnostic_atlas_01_20260803\hyp_mom_01_1_da_correlation_summary.csv</a:t>
            </a:r>
          </a:p>
          <a:p xmlns:a="http://schemas.openxmlformats.org/drawingml/2006/main">
            <a:r>
              <a:t>- C:\Users\Franc\OneDrive\Documents\Francis\Peltata Project\Time-Series-Modeling-Gen5\runs\research_workbench\operator_hypothesis_lab\hyp_mom_01_1_diagnostic_atlas_01_20260803\visuals\lookback_momentum_behavior.png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fifteen trades extended to three or more qualifying sessions, so streak length is too sparse to interpret. Above-median volume and proximity to the 60-day high produced small, unstable differences with about half the assets agreeing. These should not be stacked into a multi-filter rule.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Project\Time-Series-Modeling-Gen5\runs\research_workbench\operator_hypothesis_lab\hyp_mom_01_1_diagnostic_atlas_01_20260803\visuals\secondary_context_behavior.png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SPY was above SMA200, pooled mean trade return was +0.137%; below it was −0.417%. Thirteen of twenty-two assets favored the above state, and the equal-asset contrast was +0.571 percentage points with a bootstrap interval from −0.083 to +1.286. The below state also had a materially worse loss tail. This is the most coherent later replication candidate, but the interval crosses zero and 2022 may confound the result.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Project\Time-Series-Modeling-Gen5\runs\research_workbench\operator_hypothesis_lab\hyp_mom_01_1_diagnostic_atlas_01_20260803\visuals\spy_sma200_tail_and_asset_breadth.png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Trades nonpositive after one or two sessions had more average return remaining than trades already positive, suggesting a simple early stop would forfeit some recovery. But that recovery was insufficient: their mean final returns remained −1.12% after day one and −1.56% after day two. This is a risk-versus-expectancy tradeoff, not evidence for either a stop or averaging down.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Project\Time-Series-Modeling-Gen5\runs\research_workbench\operator_hypothesis_lab\hyp_mom_01_1_diagnostic_atlas_01_20260803\hyp_mom_01_1_da_checkpoint_summary.csv</a:t>
            </a:r>
          </a:p>
          <a:p xmlns:a="http://schemas.openxmlformats.org/drawingml/2006/main">
            <a:r>
              <a:t>- C:\Users\Franc\OneDrive\Documents\Francis\Peltata Project\Time-Series-Modeling-Gen5\runs\research_workbench\operator_hypothesis_lab\hyp_mom_01_1_diagnostic_atlas_01_20260803\hyp_mom_01_1_da_checkpoint_contrasts.csv</a:t>
            </a:r>
          </a:p>
          <a:p xmlns:a="http://schemas.openxmlformats.org/drawingml/2006/main">
            <a:r>
              <a:t>- C:\Users\Franc\OneDrive\Documents\Francis\Peltata Project\Time-Series-Modeling-Gen5\runs\research_workbench\operator_hypothesis_lab\hyp_mom_01_1_diagnostic_atlas_01_20260803\visuals\checkpoint_remaining_return.png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MCD examples are frozen medoid-return trades inside the low-gap/low-body and high-gap/high-body cells. They provide intuition for the normalized pattern measurements but do not establish a monotonic outcome relationship; the aggregate 3×3 surface remained irregular.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Project\Time-Series-Modeling-Gen5\runs\research_workbench\operator_hypothesis_lab\hyp_mom_01_1_diagnostic_atlas_01_20260803\hyp_mom_01_1_da_executed_trades.csv</a:t>
            </a:r>
          </a:p>
          <a:p xmlns:a="http://schemas.openxmlformats.org/drawingml/2006/main">
            <a:r>
              <a:t>- C:\Users\Franc\OneDrive\Documents\Francis\Peltata Project\Time-Series-Modeling-Gen5\runs\research_workbench\operator_hypothesis_lab\hyp_mom_01_1_diagnostic_atlas_01_20260803\hyp_mom_01_1_da_tape_manifest.csv</a:t>
            </a:r>
          </a:p>
          <a:p xmlns:a="http://schemas.openxmlformats.org/drawingml/2006/main">
            <a:r>
              <a:t>- C:\Users\Franc\OneDrive\Documents\Francis\Peltata Project\Time-Series-Modeling-Gen5\runs\research_workbench\operator_hypothesis_lab\hyp_mom_01_1_diagnostic_atlas_01_20260803\visuals\diagnostic_tape_04_low_gap_low_body_median_mcd.png</a:t>
            </a:r>
          </a:p>
          <a:p xmlns:a="http://schemas.openxmlformats.org/drawingml/2006/main">
            <a:r>
              <a:t>- C:\Users\Franc\OneDrive\Documents\Francis\Peltata Project\Time-Series-Modeling-Gen5\runs\research_workbench\operator_hypothesis_lab\hyp_mom_01_1_diagnostic_atlas_01_20260803\visuals\diagnostic_tape_05_high_gap_high_body_median_mcd.png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Per-asset Spearman correlations avoid letting arbitrary tercile cutoffs create the entire story. Median correlations were close to zero for gap and body strength, negative for asset anchor distance and the three lookback returns, and heterogeneous across assets. These are descriptive associations, not independent significance tests.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Project\Time-Series-Modeling-Gen5\runs\research_workbench\operator_hypothesis_lab\hyp_mom_01_1_diagnostic_atlas_01_20260803\hyp_mom_01_1_da_correlation_summary.csv</a:t>
            </a:r>
          </a:p>
          <a:p xmlns:a="http://schemas.openxmlformats.org/drawingml/2006/main">
            <a:r>
              <a:t>- C:\Users\Franc\OneDrive\Documents\Francis\Peltata Project\Time-Series-Modeling-Gen5\runs\research_workbench\operator_hypothesis_lab\hyp_mom_01_1_diagnostic_atlas_01_20260803\visuals\continuous_feature_asset_correlations.png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atlas answers the operator's questions without manufacturing a strategy. The market-anchor condition is the only candidate with a coherent mechanism and broad enough separation to justify a predeclared test on distinct data. Pattern strength is a serious alternative only if reduced to one monotonic, theory-led score. Nothing here authorizes a 01.2 variant yet.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Project\Time-Series-Modeling-Gen5\operator_hypothesis_lab\docs\HYP_MOM_01_1_DIAGNOSTIC_ATLAS_01_RESULTS.md</a:t>
            </a:r>
          </a:p>
          <a:p xmlns:a="http://schemas.openxmlformats.org/drawingml/2006/main">
            <a:r>
              <a:t>- C:\Users\Franc\OneDrive\Documents\Francis\Peltata Project\Time-Series-Modeling-Gen5\runs\research_workbench\operator_hypothesis_lab\hyp_mom_01_1_diagnostic_atlas_01_20260803\hyp_mom_01_1_da_asset_contrasts.csv</a:t>
            </a:r>
          </a:p>
          <a:p xmlns:a="http://schemas.openxmlformats.org/drawingml/2006/main">
            <a:r>
              <a:t>- C:\Users\Franc\OneDrive\Documents\Francis\Peltata Project\Time-Series-Modeling-Gen5\operator_hypothesis_lab\docs\HYP_MOM_01_1_DIAGNOSTIC_ATLAS_01_CONTRACT.md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15b7af2d3e4c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e0af5c3cb5495b" /><Relationship Type="http://schemas.openxmlformats.org/officeDocument/2006/relationships/slideLayout" Target="/ppt/slideLayouts/slideLayout1.xml" Id="R64a98d3f73744a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a98d3f73744a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6e1fd1ee654602" /><Relationship Type="http://schemas.openxmlformats.org/officeDocument/2006/relationships/notesSlide" Target="/ppt/notesSlides/notesSlide1.xml" Id="Ra27a67c1b4374a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4dd3849acc4727" /><Relationship Type="http://schemas.openxmlformats.org/officeDocument/2006/relationships/notesSlide" Target="/ppt/notesSlides/notesSlide2.xml" Id="R39d71b91b17045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daae58fa544e7c" /><Relationship Type="http://schemas.openxmlformats.org/officeDocument/2006/relationships/notesSlide" Target="/ppt/notesSlides/notesSlide3.xml" Id="R713c1da881b542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fcc26f0b3448d3" /><Relationship Type="http://schemas.openxmlformats.org/officeDocument/2006/relationships/image" Target="/ppt/media/image.png" Id="R707274e1ac9f462f" /><Relationship Type="http://schemas.openxmlformats.org/officeDocument/2006/relationships/notesSlide" Target="/ppt/notesSlides/notesSlide4.xml" Id="Ra34a258901b349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800ddff49c4d8d" /><Relationship Type="http://schemas.openxmlformats.org/officeDocument/2006/relationships/image" Target="/ppt/media/image2.png" Id="Rc423509246554812" /><Relationship Type="http://schemas.openxmlformats.org/officeDocument/2006/relationships/notesSlide" Target="/ppt/notesSlides/notesSlide5.xml" Id="R1d3bae02a3ca43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143b2b48b14a3a" /><Relationship Type="http://schemas.openxmlformats.org/officeDocument/2006/relationships/notesSlide" Target="/ppt/notesSlides/notesSlide6.xml" Id="Red99fc2ef0ef49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9f1555d7b84682" /><Relationship Type="http://schemas.openxmlformats.org/officeDocument/2006/relationships/image" Target="/ppt/media/image3.png" Id="Rf0c7c0c412184b91" /><Relationship Type="http://schemas.openxmlformats.org/officeDocument/2006/relationships/notesSlide" Target="/ppt/notesSlides/notesSlide7.xml" Id="R3bd7892a6bc141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adeaafe961413f" /><Relationship Type="http://schemas.openxmlformats.org/officeDocument/2006/relationships/notesSlide" Target="/ppt/notesSlides/notesSlide8.xml" Id="Re34e2ba54f1d48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6fabf7c11f4ea4" /><Relationship Type="http://schemas.openxmlformats.org/officeDocument/2006/relationships/image" Target="/ppt/media/image4.png" Id="Ra92e852391c54dc5" /><Relationship Type="http://schemas.openxmlformats.org/officeDocument/2006/relationships/notesSlide" Target="/ppt/notesSlides/notesSlide9.xml" Id="R67bc9296677a40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dc1778cb04417d" /><Relationship Type="http://schemas.openxmlformats.org/officeDocument/2006/relationships/image" Target="/ppt/media/image5.png" Id="R2cf084d915f549f9" /><Relationship Type="http://schemas.openxmlformats.org/officeDocument/2006/relationships/notesSlide" Target="/ppt/notesSlides/notesSlide10.xml" Id="R2aa53442fcb240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7fb7def36c4f26" /><Relationship Type="http://schemas.openxmlformats.org/officeDocument/2006/relationships/image" Target="/ppt/media/image6.png" Id="R6ce255a669b84012" /><Relationship Type="http://schemas.openxmlformats.org/officeDocument/2006/relationships/notesSlide" Target="/ppt/notesSlides/notesSlide11.xml" Id="R74b73b1fedf448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b7d891011b47f5" /><Relationship Type="http://schemas.openxmlformats.org/officeDocument/2006/relationships/image" Target="/ppt/media/image7.png" Id="R98fbe7451e914497" /><Relationship Type="http://schemas.openxmlformats.org/officeDocument/2006/relationships/notesSlide" Target="/ppt/notesSlides/notesSlide12.xml" Id="R1e22341ed04f4b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818ba3b18e4345" /><Relationship Type="http://schemas.openxmlformats.org/officeDocument/2006/relationships/image" Target="/ppt/media/image8.png" Id="R1b1488826e514f44" /><Relationship Type="http://schemas.openxmlformats.org/officeDocument/2006/relationships/notesSlide" Target="/ppt/notesSlides/notesSlide13.xml" Id="R5af8596d353f48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7907a8dfc3474c" /><Relationship Type="http://schemas.openxmlformats.org/officeDocument/2006/relationships/image" Target="/ppt/media/image9.png" Id="R53de9eaf956940a9" /><Relationship Type="http://schemas.openxmlformats.org/officeDocument/2006/relationships/notesSlide" Target="/ppt/notesSlides/notesSlide14.xml" Id="R02f25142ec5d40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a11ce7b6aa406f" /><Relationship Type="http://schemas.openxmlformats.org/officeDocument/2006/relationships/image" Target="/ppt/media/image10.png" Id="R67522d16b9e74168" /><Relationship Type="http://schemas.openxmlformats.org/officeDocument/2006/relationships/notesSlide" Target="/ppt/notesSlides/notesSlide15.xml" Id="R22493b392f8648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f3bc209ea7f42db" /><Relationship Type="http://schemas.openxmlformats.org/officeDocument/2006/relationships/image" Target="/ppt/media/image11.png" Id="Rfefdd38adba1484e" /><Relationship Type="http://schemas.openxmlformats.org/officeDocument/2006/relationships/image" Target="/ppt/media/image12.png" Id="Ra363bf5426094ca3" /><Relationship Type="http://schemas.openxmlformats.org/officeDocument/2006/relationships/notesSlide" Target="/ppt/notesSlides/notesSlide16.xml" Id="Ra42830188d4f455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096b74ec26a482e" /><Relationship Type="http://schemas.openxmlformats.org/officeDocument/2006/relationships/image" Target="/ppt/media/image13.png" Id="Rc704489731a94cf9" /><Relationship Type="http://schemas.openxmlformats.org/officeDocument/2006/relationships/notesSlide" Target="/ppt/notesSlides/notesSlide17.xml" Id="R28040eca69404b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276037707943d7" /><Relationship Type="http://schemas.openxmlformats.org/officeDocument/2006/relationships/notesSlide" Target="/ppt/notesSlides/notesSlide18.xml" Id="R5a742ad99e2a4a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215465EC-199C-46FD-AE00-92B8DB6736BF}"/>
              </a:ext>
            </a:extLst>
          </p:cNvPr>
          <p:cNvSpPr>
            <a:spLocks xmlns:a="http://schemas.openxmlformats.org/drawingml/2006/main" noGrp="1"/>
          </p:cNvSpPr>
          <p:nvPr/>
        </p:nvSpPr>
        <p:spPr>
          <a:xfrm xmlns:a="http://schemas.openxmlformats.org/drawingml/2006/main">
            <a:off x="390525" y="39052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67085"/>
                </a:solidFill>
                <a:latin typeface="Helvetica Neue"/>
                <a:ea typeface="Helvetica Neue"/>
                <a:cs typeface="Helvetica Neue"/>
              </a:defRPr>
            </a:pPr>
            <a:r>
              <a:rPr sz="2100" b="0">
                <a:solidFill>
                  <a:srgbClr val="667085"/>
                </a:solidFill>
                <a:latin typeface="Helvetica Neue"/>
                <a:ea typeface="Helvetica Neue"/>
                <a:cs typeface="Helvetica Neue"/>
              </a:rPr>
              <a:t>OPERATOR HYPOTHESIS LAB | DIAGNOSTIC ATLAS 01</a:t>
            </a:r>
          </a:p>
        </p:txBody>
      </p:sp>
      <p:sp>
        <p:nvSpPr>
          <p:cNvPr id="2" name="text">
            <a:extLst xmlns:a="http://schemas.openxmlformats.org/drawingml/2006/main">
              <a:ext uri="{FF2B5EF4-FFF2-40B4-BE49-F238E27FC236}">
                <a16:creationId xmlns:a16="http://schemas.microsoft.com/office/drawing/2014/main" id="{E65835CD-6B5A-45B0-AF11-B102B8EF11FA}"/>
              </a:ext>
            </a:extLst>
          </p:cNvPr>
          <p:cNvSpPr>
            <a:spLocks xmlns:a="http://schemas.openxmlformats.org/drawingml/2006/main" noGrp="1"/>
          </p:cNvSpPr>
          <p:nvPr/>
        </p:nvSpPr>
        <p:spPr>
          <a:xfrm xmlns:a="http://schemas.openxmlformats.org/drawingml/2006/main">
            <a:off x="390525" y="1571625"/>
            <a:ext cx="10763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400" b="0">
                <a:solidFill>
                  <a:srgbClr val="000000"/>
                </a:solidFill>
                <a:latin typeface="Helvetica Neue"/>
                <a:ea typeface="Helvetica Neue"/>
                <a:cs typeface="Helvetica Neue"/>
              </a:defRPr>
            </a:pPr>
            <a:r>
              <a:rPr sz="5400" b="0">
                <a:solidFill>
                  <a:srgbClr val="000000"/>
                </a:solidFill>
                <a:latin typeface="Helvetica Neue"/>
                <a:ea typeface="Helvetica Neue"/>
                <a:cs typeface="Helvetica Neue"/>
              </a:rPr>
              <a:t>What changes the odds</a:t>
            </a:r>
          </a:p>
          <a:p xmlns:a="http://schemas.openxmlformats.org/drawingml/2006/main">
            <a:pPr algn="l">
              <a:defRPr sz="5400" b="0">
                <a:solidFill>
                  <a:srgbClr val="000000"/>
                </a:solidFill>
                <a:latin typeface="Helvetica Neue"/>
                <a:ea typeface="Helvetica Neue"/>
                <a:cs typeface="Helvetica Neue"/>
              </a:defRPr>
            </a:pPr>
            <a:r>
              <a:rPr sz="5400" b="0">
                <a:solidFill>
                  <a:srgbClr val="000000"/>
                </a:solidFill>
                <a:latin typeface="Helvetica Neue"/>
                <a:ea typeface="Helvetica Neue"/>
                <a:cs typeface="Helvetica Neue"/>
              </a:rPr>
              <a:t>after two green gap-ups?</a:t>
            </a:r>
          </a:p>
        </p:txBody>
      </p:sp>
      <p:sp>
        <p:nvSpPr>
          <p:cNvPr id="3" name="text">
            <a:extLst xmlns:a="http://schemas.openxmlformats.org/drawingml/2006/main">
              <a:ext uri="{FF2B5EF4-FFF2-40B4-BE49-F238E27FC236}">
                <a16:creationId xmlns:a16="http://schemas.microsoft.com/office/drawing/2014/main" id="{D973CE86-E9D0-4DF7-9003-7EC34026966B}"/>
              </a:ext>
            </a:extLst>
          </p:cNvPr>
          <p:cNvSpPr>
            <a:spLocks xmlns:a="http://schemas.openxmlformats.org/drawingml/2006/main" noGrp="1"/>
          </p:cNvSpPr>
          <p:nvPr/>
        </p:nvSpPr>
        <p:spPr>
          <a:xfrm xmlns:a="http://schemas.openxmlformats.org/drawingml/2006/main">
            <a:off x="390525" y="4953000"/>
            <a:ext cx="904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HYP-MOM-01.1 | discovery diagnostics, not a new strategy</a:t>
            </a:r>
          </a:p>
        </p:txBody>
      </p:sp>
    </p:spTree>
    <p:extLst>
      <p:ext uri="{BB962C8B-B14F-4D97-AF65-F5344CB8AC3E}">
        <p14:creationId xmlns:p14="http://schemas.microsoft.com/office/powerpoint/2010/main" val="7436964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AC144F5E-F19D-470D-B8C5-69CE5CD0F806}"/>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Seven question families were frozen before outcomes were inspected</a:t>
            </a:r>
          </a:p>
        </p:txBody>
      </p:sp>
      <p:sp>
        <p:nvSpPr>
          <p:cNvPr id="2" name="page-number">
            <a:extLst xmlns:a="http://schemas.openxmlformats.org/drawingml/2006/main">
              <a:ext uri="{FF2B5EF4-FFF2-40B4-BE49-F238E27FC236}">
                <a16:creationId xmlns:a16="http://schemas.microsoft.com/office/drawing/2014/main" id="{75BB068E-7162-49E5-8AC1-B44FD321E6FE}"/>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2</a:t>
            </a:r>
          </a:p>
        </p:txBody>
      </p:sp>
      <p:sp>
        <p:nvSpPr>
          <p:cNvPr id="3" name="q0">
            <a:extLst xmlns:a="http://schemas.openxmlformats.org/drawingml/2006/main">
              <a:ext uri="{FF2B5EF4-FFF2-40B4-BE49-F238E27FC236}">
                <a16:creationId xmlns:a16="http://schemas.microsoft.com/office/drawing/2014/main" id="{6E13E048-4182-4900-9B0A-831F23A1426B}"/>
              </a:ext>
            </a:extLst>
          </p:cNvPr>
          <p:cNvSpPr>
            <a:spLocks xmlns:a="http://schemas.openxmlformats.org/drawingml/2006/main" noGrp="1"/>
          </p:cNvSpPr>
          <p:nvPr/>
        </p:nvSpPr>
        <p:spPr>
          <a:xfrm xmlns:a="http://schemas.openxmlformats.org/drawingml/2006/main">
            <a:off x="390525" y="1666875"/>
            <a:ext cx="3524250" cy="1714500"/>
          </a:xfrm>
          <a:prstGeom xmlns:a="http://schemas.openxmlformats.org/drawingml/2006/main" prst="roundRect">
            <a:avLst>
              <a:gd name="adj" fmla="val 6667"/>
            </a:avLst>
          </a:prstGeom>
          <a:solidFill xmlns:a="http://schemas.openxmlformats.org/drawingml/2006/main">
            <a:srgbClr val="EAF5FB"/>
          </a:solidFill>
          <a:ln xmlns:a="http://schemas.openxmlformats.org/drawingml/2006/main" w="9525">
            <a:solidFill>
              <a:srgbClr val="3D8DFF"/>
            </a:solidFill>
            <a:prstDash val="solid"/>
          </a:ln>
        </p:spPr>
      </p:sp>
      <p:sp>
        <p:nvSpPr>
          <p:cNvPr id="4" name="text">
            <a:extLst xmlns:a="http://schemas.openxmlformats.org/drawingml/2006/main">
              <a:ext uri="{FF2B5EF4-FFF2-40B4-BE49-F238E27FC236}">
                <a16:creationId xmlns:a16="http://schemas.microsoft.com/office/drawing/2014/main" id="{DAF8EBB3-A2E8-4E41-8BB1-32B4096DB167}"/>
              </a:ext>
            </a:extLst>
          </p:cNvPr>
          <p:cNvSpPr>
            <a:spLocks xmlns:a="http://schemas.openxmlformats.org/drawingml/2006/main" noGrp="1"/>
          </p:cNvSpPr>
          <p:nvPr/>
        </p:nvSpPr>
        <p:spPr>
          <a:xfrm xmlns:a="http://schemas.openxmlformats.org/drawingml/2006/main">
            <a:off x="619125" y="1895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PATTERN</a:t>
            </a:r>
          </a:p>
        </p:txBody>
      </p:sp>
      <p:sp>
        <p:nvSpPr>
          <p:cNvPr id="5" name="text">
            <a:extLst xmlns:a="http://schemas.openxmlformats.org/drawingml/2006/main">
              <a:ext uri="{FF2B5EF4-FFF2-40B4-BE49-F238E27FC236}">
                <a16:creationId xmlns:a16="http://schemas.microsoft.com/office/drawing/2014/main" id="{CE95C842-C7E1-4BB8-AD49-E33FF7B313DF}"/>
              </a:ext>
            </a:extLst>
          </p:cNvPr>
          <p:cNvSpPr>
            <a:spLocks xmlns:a="http://schemas.openxmlformats.org/drawingml/2006/main" noGrp="1"/>
          </p:cNvSpPr>
          <p:nvPr/>
        </p:nvSpPr>
        <p:spPr>
          <a:xfrm xmlns:a="http://schemas.openxmlformats.org/drawingml/2006/main">
            <a:off x="619125" y="2352675"/>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Gap and candle-body strength</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scaled to recent volatility</a:t>
            </a:r>
          </a:p>
        </p:txBody>
      </p:sp>
      <p:sp>
        <p:nvSpPr>
          <p:cNvPr id="6" name="q1">
            <a:extLst xmlns:a="http://schemas.openxmlformats.org/drawingml/2006/main">
              <a:ext uri="{FF2B5EF4-FFF2-40B4-BE49-F238E27FC236}">
                <a16:creationId xmlns:a16="http://schemas.microsoft.com/office/drawing/2014/main" id="{83346F0A-D9DC-41B1-95BA-D7EB14908363}"/>
              </a:ext>
            </a:extLst>
          </p:cNvPr>
          <p:cNvSpPr>
            <a:spLocks xmlns:a="http://schemas.openxmlformats.org/drawingml/2006/main" noGrp="1"/>
          </p:cNvSpPr>
          <p:nvPr/>
        </p:nvSpPr>
        <p:spPr>
          <a:xfrm xmlns:a="http://schemas.openxmlformats.org/drawingml/2006/main">
            <a:off x="4295775" y="1666875"/>
            <a:ext cx="3524250" cy="1714500"/>
          </a:xfrm>
          <a:prstGeom xmlns:a="http://schemas.openxmlformats.org/drawingml/2006/main" prst="roundRect">
            <a:avLst>
              <a:gd name="adj" fmla="val 6667"/>
            </a:avLst>
          </a:prstGeom>
          <a:solidFill xmlns:a="http://schemas.openxmlformats.org/drawingml/2006/main">
            <a:srgbClr val="EDEDED"/>
          </a:solidFill>
          <a:ln xmlns:a="http://schemas.openxmlformats.org/drawingml/2006/main" w="0">
            <a:solidFill>
              <a:srgbClr val="EDEDED"/>
            </a:solidFill>
            <a:prstDash val="solid"/>
          </a:ln>
        </p:spPr>
      </p:sp>
      <p:sp>
        <p:nvSpPr>
          <p:cNvPr id="7" name="text">
            <a:extLst xmlns:a="http://schemas.openxmlformats.org/drawingml/2006/main">
              <a:ext uri="{FF2B5EF4-FFF2-40B4-BE49-F238E27FC236}">
                <a16:creationId xmlns:a16="http://schemas.microsoft.com/office/drawing/2014/main" id="{8DFD85C0-A995-4142-ABD7-85C41D597382}"/>
              </a:ext>
            </a:extLst>
          </p:cNvPr>
          <p:cNvSpPr>
            <a:spLocks xmlns:a="http://schemas.openxmlformats.org/drawingml/2006/main" noGrp="1"/>
          </p:cNvSpPr>
          <p:nvPr/>
        </p:nvSpPr>
        <p:spPr>
          <a:xfrm xmlns:a="http://schemas.openxmlformats.org/drawingml/2006/main">
            <a:off x="4524375" y="1895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ASSET TREND</a:t>
            </a:r>
          </a:p>
        </p:txBody>
      </p:sp>
      <p:sp>
        <p:nvSpPr>
          <p:cNvPr id="8" name="text">
            <a:extLst xmlns:a="http://schemas.openxmlformats.org/drawingml/2006/main">
              <a:ext uri="{FF2B5EF4-FFF2-40B4-BE49-F238E27FC236}">
                <a16:creationId xmlns:a16="http://schemas.microsoft.com/office/drawing/2014/main" id="{AA8283C3-3F63-42B2-8F6F-EEE993FB9646}"/>
              </a:ext>
            </a:extLst>
          </p:cNvPr>
          <p:cNvSpPr>
            <a:spLocks xmlns:a="http://schemas.openxmlformats.org/drawingml/2006/main" noGrp="1"/>
          </p:cNvSpPr>
          <p:nvPr/>
        </p:nvSpPr>
        <p:spPr>
          <a:xfrm xmlns:a="http://schemas.openxmlformats.org/drawingml/2006/main">
            <a:off x="4524375" y="2352675"/>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Below, recent reclaim, or</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established above SMA200</a:t>
            </a:r>
          </a:p>
        </p:txBody>
      </p:sp>
      <p:sp>
        <p:nvSpPr>
          <p:cNvPr id="9" name="q2">
            <a:extLst xmlns:a="http://schemas.openxmlformats.org/drawingml/2006/main">
              <a:ext uri="{FF2B5EF4-FFF2-40B4-BE49-F238E27FC236}">
                <a16:creationId xmlns:a16="http://schemas.microsoft.com/office/drawing/2014/main" id="{E9F01537-1123-4EFB-B3D7-237A1363F107}"/>
              </a:ext>
            </a:extLst>
          </p:cNvPr>
          <p:cNvSpPr>
            <a:spLocks xmlns:a="http://schemas.openxmlformats.org/drawingml/2006/main" noGrp="1"/>
          </p:cNvSpPr>
          <p:nvPr/>
        </p:nvSpPr>
        <p:spPr>
          <a:xfrm xmlns:a="http://schemas.openxmlformats.org/drawingml/2006/main">
            <a:off x="8201025" y="1666875"/>
            <a:ext cx="3524250" cy="1714500"/>
          </a:xfrm>
          <a:prstGeom xmlns:a="http://schemas.openxmlformats.org/drawingml/2006/main" prst="roundRect">
            <a:avLst>
              <a:gd name="adj" fmla="val 6667"/>
            </a:avLst>
          </a:prstGeom>
          <a:solidFill xmlns:a="http://schemas.openxmlformats.org/drawingml/2006/main">
            <a:srgbClr val="EDEDED"/>
          </a:solidFill>
          <a:ln xmlns:a="http://schemas.openxmlformats.org/drawingml/2006/main" w="0">
            <a:solidFill>
              <a:srgbClr val="EDEDED"/>
            </a:solidFill>
            <a:prstDash val="solid"/>
          </a:ln>
        </p:spPr>
      </p:sp>
      <p:sp>
        <p:nvSpPr>
          <p:cNvPr id="10" name="text">
            <a:extLst xmlns:a="http://schemas.openxmlformats.org/drawingml/2006/main">
              <a:ext uri="{FF2B5EF4-FFF2-40B4-BE49-F238E27FC236}">
                <a16:creationId xmlns:a16="http://schemas.microsoft.com/office/drawing/2014/main" id="{350E9758-5670-4325-9084-1FDE82E104D1}"/>
              </a:ext>
            </a:extLst>
          </p:cNvPr>
          <p:cNvSpPr>
            <a:spLocks xmlns:a="http://schemas.openxmlformats.org/drawingml/2006/main" noGrp="1"/>
          </p:cNvSpPr>
          <p:nvPr/>
        </p:nvSpPr>
        <p:spPr>
          <a:xfrm xmlns:a="http://schemas.openxmlformats.org/drawingml/2006/main">
            <a:off x="8429625" y="1895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PRIOR RETURN</a:t>
            </a:r>
          </a:p>
        </p:txBody>
      </p:sp>
      <p:sp>
        <p:nvSpPr>
          <p:cNvPr id="11" name="text">
            <a:extLst xmlns:a="http://schemas.openxmlformats.org/drawingml/2006/main">
              <a:ext uri="{FF2B5EF4-FFF2-40B4-BE49-F238E27FC236}">
                <a16:creationId xmlns:a16="http://schemas.microsoft.com/office/drawing/2014/main" id="{B6C68F5A-1453-467F-8597-BF89679FFE55}"/>
              </a:ext>
            </a:extLst>
          </p:cNvPr>
          <p:cNvSpPr>
            <a:spLocks xmlns:a="http://schemas.openxmlformats.org/drawingml/2006/main" noGrp="1"/>
          </p:cNvSpPr>
          <p:nvPr/>
        </p:nvSpPr>
        <p:spPr>
          <a:xfrm xmlns:a="http://schemas.openxmlformats.org/drawingml/2006/main">
            <a:off x="8429625" y="2352675"/>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20, 60, and 120-session</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lookback momentum</a:t>
            </a:r>
          </a:p>
        </p:txBody>
      </p:sp>
      <p:sp>
        <p:nvSpPr>
          <p:cNvPr id="12" name="q3">
            <a:extLst xmlns:a="http://schemas.openxmlformats.org/drawingml/2006/main">
              <a:ext uri="{FF2B5EF4-FFF2-40B4-BE49-F238E27FC236}">
                <a16:creationId xmlns:a16="http://schemas.microsoft.com/office/drawing/2014/main" id="{FA523680-FC64-46B2-ADB5-290B5E7D7534}"/>
              </a:ext>
            </a:extLst>
          </p:cNvPr>
          <p:cNvSpPr>
            <a:spLocks xmlns:a="http://schemas.openxmlformats.org/drawingml/2006/main" noGrp="1"/>
          </p:cNvSpPr>
          <p:nvPr/>
        </p:nvSpPr>
        <p:spPr>
          <a:xfrm xmlns:a="http://schemas.openxmlformats.org/drawingml/2006/main">
            <a:off x="390525" y="3762375"/>
            <a:ext cx="3524250" cy="1714500"/>
          </a:xfrm>
          <a:prstGeom xmlns:a="http://schemas.openxmlformats.org/drawingml/2006/main" prst="roundRect">
            <a:avLst>
              <a:gd name="adj" fmla="val 6667"/>
            </a:avLst>
          </a:prstGeom>
          <a:solidFill xmlns:a="http://schemas.openxmlformats.org/drawingml/2006/main">
            <a:srgbClr val="EDEDED"/>
          </a:solidFill>
          <a:ln xmlns:a="http://schemas.openxmlformats.org/drawingml/2006/main" w="0">
            <a:solidFill>
              <a:srgbClr val="EDEDED"/>
            </a:solidFill>
            <a:prstDash val="solid"/>
          </a:ln>
        </p:spPr>
      </p:sp>
      <p:sp>
        <p:nvSpPr>
          <p:cNvPr id="13" name="text">
            <a:extLst xmlns:a="http://schemas.openxmlformats.org/drawingml/2006/main">
              <a:ext uri="{FF2B5EF4-FFF2-40B4-BE49-F238E27FC236}">
                <a16:creationId xmlns:a16="http://schemas.microsoft.com/office/drawing/2014/main" id="{8C1F0C5B-DA74-40F6-9CBF-CF2F6F430869}"/>
              </a:ext>
            </a:extLst>
          </p:cNvPr>
          <p:cNvSpPr>
            <a:spLocks xmlns:a="http://schemas.openxmlformats.org/drawingml/2006/main" noGrp="1"/>
          </p:cNvSpPr>
          <p:nvPr/>
        </p:nvSpPr>
        <p:spPr>
          <a:xfrm xmlns:a="http://schemas.openxmlformats.org/drawingml/2006/main">
            <a:off x="619125" y="39909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CONFIRMATION</a:t>
            </a:r>
          </a:p>
        </p:txBody>
      </p:sp>
      <p:sp>
        <p:nvSpPr>
          <p:cNvPr id="14" name="text">
            <a:extLst xmlns:a="http://schemas.openxmlformats.org/drawingml/2006/main">
              <a:ext uri="{FF2B5EF4-FFF2-40B4-BE49-F238E27FC236}">
                <a16:creationId xmlns:a16="http://schemas.microsoft.com/office/drawing/2014/main" id="{26A1D624-C586-47EB-AAB0-951265CEB217}"/>
              </a:ext>
            </a:extLst>
          </p:cNvPr>
          <p:cNvSpPr>
            <a:spLocks xmlns:a="http://schemas.openxmlformats.org/drawingml/2006/main" noGrp="1"/>
          </p:cNvSpPr>
          <p:nvPr/>
        </p:nvSpPr>
        <p:spPr>
          <a:xfrm xmlns:a="http://schemas.openxmlformats.org/drawingml/2006/main">
            <a:off x="619125" y="4448175"/>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Streak length, relative volume,</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distance from 60-day high</a:t>
            </a:r>
          </a:p>
        </p:txBody>
      </p:sp>
      <p:sp>
        <p:nvSpPr>
          <p:cNvPr id="15" name="q4">
            <a:extLst xmlns:a="http://schemas.openxmlformats.org/drawingml/2006/main">
              <a:ext uri="{FF2B5EF4-FFF2-40B4-BE49-F238E27FC236}">
                <a16:creationId xmlns:a16="http://schemas.microsoft.com/office/drawing/2014/main" id="{57DDE4B3-05A1-4683-8099-FAB8358E7A18}"/>
              </a:ext>
            </a:extLst>
          </p:cNvPr>
          <p:cNvSpPr>
            <a:spLocks xmlns:a="http://schemas.openxmlformats.org/drawingml/2006/main" noGrp="1"/>
          </p:cNvSpPr>
          <p:nvPr/>
        </p:nvSpPr>
        <p:spPr>
          <a:xfrm xmlns:a="http://schemas.openxmlformats.org/drawingml/2006/main">
            <a:off x="4295775" y="3762375"/>
            <a:ext cx="3524250" cy="1714500"/>
          </a:xfrm>
          <a:prstGeom xmlns:a="http://schemas.openxmlformats.org/drawingml/2006/main" prst="roundRect">
            <a:avLst>
              <a:gd name="adj" fmla="val 6667"/>
            </a:avLst>
          </a:prstGeom>
          <a:solidFill xmlns:a="http://schemas.openxmlformats.org/drawingml/2006/main">
            <a:srgbClr val="EDEDED"/>
          </a:solidFill>
          <a:ln xmlns:a="http://schemas.openxmlformats.org/drawingml/2006/main" w="0">
            <a:solidFill>
              <a:srgbClr val="EDEDED"/>
            </a:solidFill>
            <a:prstDash val="solid"/>
          </a:ln>
        </p:spPr>
      </p:sp>
      <p:sp>
        <p:nvSpPr>
          <p:cNvPr id="16" name="text">
            <a:extLst xmlns:a="http://schemas.openxmlformats.org/drawingml/2006/main">
              <a:ext uri="{FF2B5EF4-FFF2-40B4-BE49-F238E27FC236}">
                <a16:creationId xmlns:a16="http://schemas.microsoft.com/office/drawing/2014/main" id="{4A04FD06-570B-49BE-B493-F829A754DA37}"/>
              </a:ext>
            </a:extLst>
          </p:cNvPr>
          <p:cNvSpPr>
            <a:spLocks xmlns:a="http://schemas.openxmlformats.org/drawingml/2006/main" noGrp="1"/>
          </p:cNvSpPr>
          <p:nvPr/>
        </p:nvSpPr>
        <p:spPr>
          <a:xfrm xmlns:a="http://schemas.openxmlformats.org/drawingml/2006/main">
            <a:off x="4524375" y="39909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MARKET</a:t>
            </a:r>
          </a:p>
        </p:txBody>
      </p:sp>
      <p:sp>
        <p:nvSpPr>
          <p:cNvPr id="17" name="text">
            <a:extLst xmlns:a="http://schemas.openxmlformats.org/drawingml/2006/main">
              <a:ext uri="{FF2B5EF4-FFF2-40B4-BE49-F238E27FC236}">
                <a16:creationId xmlns:a16="http://schemas.microsoft.com/office/drawing/2014/main" id="{7A6520E5-00F3-41D5-A17D-D3020C0711AE}"/>
              </a:ext>
            </a:extLst>
          </p:cNvPr>
          <p:cNvSpPr>
            <a:spLocks xmlns:a="http://schemas.openxmlformats.org/drawingml/2006/main" noGrp="1"/>
          </p:cNvSpPr>
          <p:nvPr/>
        </p:nvSpPr>
        <p:spPr>
          <a:xfrm xmlns:a="http://schemas.openxmlformats.org/drawingml/2006/main">
            <a:off x="4524375" y="4448175"/>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SPY SMA200 state and</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SPY 60-session momentum</a:t>
            </a:r>
          </a:p>
        </p:txBody>
      </p:sp>
      <p:sp>
        <p:nvSpPr>
          <p:cNvPr id="18" name="q5">
            <a:extLst xmlns:a="http://schemas.openxmlformats.org/drawingml/2006/main">
              <a:ext uri="{FF2B5EF4-FFF2-40B4-BE49-F238E27FC236}">
                <a16:creationId xmlns:a16="http://schemas.microsoft.com/office/drawing/2014/main" id="{90ABCF5B-686A-4E0D-8BC3-A0FB75A9438D}"/>
              </a:ext>
            </a:extLst>
          </p:cNvPr>
          <p:cNvSpPr>
            <a:spLocks xmlns:a="http://schemas.openxmlformats.org/drawingml/2006/main" noGrp="1"/>
          </p:cNvSpPr>
          <p:nvPr/>
        </p:nvSpPr>
        <p:spPr>
          <a:xfrm xmlns:a="http://schemas.openxmlformats.org/drawingml/2006/main">
            <a:off x="8201025" y="3762375"/>
            <a:ext cx="3524250" cy="1714500"/>
          </a:xfrm>
          <a:prstGeom xmlns:a="http://schemas.openxmlformats.org/drawingml/2006/main" prst="roundRect">
            <a:avLst>
              <a:gd name="adj" fmla="val 6667"/>
            </a:avLst>
          </a:prstGeom>
          <a:solidFill xmlns:a="http://schemas.openxmlformats.org/drawingml/2006/main">
            <a:srgbClr val="EDEDED"/>
          </a:solidFill>
          <a:ln xmlns:a="http://schemas.openxmlformats.org/drawingml/2006/main" w="0">
            <a:solidFill>
              <a:srgbClr val="EDEDED"/>
            </a:solidFill>
            <a:prstDash val="solid"/>
          </a:ln>
        </p:spPr>
      </p:sp>
      <p:sp>
        <p:nvSpPr>
          <p:cNvPr id="19" name="text">
            <a:extLst xmlns:a="http://schemas.openxmlformats.org/drawingml/2006/main">
              <a:ext uri="{FF2B5EF4-FFF2-40B4-BE49-F238E27FC236}">
                <a16:creationId xmlns:a16="http://schemas.microsoft.com/office/drawing/2014/main" id="{26040E2E-E3B1-47BE-A644-8FF000295743}"/>
              </a:ext>
            </a:extLst>
          </p:cNvPr>
          <p:cNvSpPr>
            <a:spLocks xmlns:a="http://schemas.openxmlformats.org/drawingml/2006/main" noGrp="1"/>
          </p:cNvSpPr>
          <p:nvPr/>
        </p:nvSpPr>
        <p:spPr>
          <a:xfrm xmlns:a="http://schemas.openxmlformats.org/drawingml/2006/main">
            <a:off x="8429625" y="39909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PATH</a:t>
            </a:r>
          </a:p>
        </p:txBody>
      </p:sp>
      <p:sp>
        <p:nvSpPr>
          <p:cNvPr id="20" name="text">
            <a:extLst xmlns:a="http://schemas.openxmlformats.org/drawingml/2006/main">
              <a:ext uri="{FF2B5EF4-FFF2-40B4-BE49-F238E27FC236}">
                <a16:creationId xmlns:a16="http://schemas.microsoft.com/office/drawing/2014/main" id="{B2BB30E5-AA14-4969-9E70-227825EEF88F}"/>
              </a:ext>
            </a:extLst>
          </p:cNvPr>
          <p:cNvSpPr>
            <a:spLocks xmlns:a="http://schemas.openxmlformats.org/drawingml/2006/main" noGrp="1"/>
          </p:cNvSpPr>
          <p:nvPr/>
        </p:nvSpPr>
        <p:spPr>
          <a:xfrm xmlns:a="http://schemas.openxmlformats.org/drawingml/2006/main">
            <a:off x="8429625" y="4448175"/>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Day 1-4 state and return</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remaining to fixed day-five exit</a:t>
            </a:r>
          </a:p>
        </p:txBody>
      </p:sp>
      <p:sp>
        <p:nvSpPr>
          <p:cNvPr id="21" name="text">
            <a:extLst xmlns:a="http://schemas.openxmlformats.org/drawingml/2006/main">
              <a:ext uri="{FF2B5EF4-FFF2-40B4-BE49-F238E27FC236}">
                <a16:creationId xmlns:a16="http://schemas.microsoft.com/office/drawing/2014/main" id="{88E99FA1-38C7-4C2B-9DA8-F49840A06E4F}"/>
              </a:ext>
            </a:extLst>
          </p:cNvPr>
          <p:cNvSpPr>
            <a:spLocks xmlns:a="http://schemas.openxmlformats.org/drawingml/2006/main" noGrp="1"/>
          </p:cNvSpPr>
          <p:nvPr/>
        </p:nvSpPr>
        <p:spPr>
          <a:xfrm xmlns:a="http://schemas.openxmlformats.org/drawingml/2006/main">
            <a:off x="390525" y="600075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7085"/>
                </a:solidFill>
                <a:latin typeface="Helvetica Neue"/>
                <a:ea typeface="Helvetica Neue"/>
                <a:cs typeface="Helvetica Neue"/>
              </a:defRPr>
            </a:pPr>
            <a:r>
              <a:rPr sz="1650" b="0">
                <a:solidFill>
                  <a:srgbClr val="667085"/>
                </a:solidFill>
                <a:latin typeface="Helvetica Neue"/>
                <a:ea typeface="Helvetica Neue"/>
                <a:cs typeface="Helvetica Neue"/>
              </a:rPr>
              <a:t>All cells remain visible; no post-hoc winning cell becomes a rule.</a:t>
            </a:r>
          </a:p>
        </p:txBody>
      </p:sp>
    </p:spTree>
    <p:extLst>
      <p:ext uri="{BB962C8B-B14F-4D97-AF65-F5344CB8AC3E}">
        <p14:creationId xmlns:p14="http://schemas.microsoft.com/office/powerpoint/2010/main" val="452241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2F432DA-398D-46EC-9B6B-C57808704FA0}"/>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Volatility scaling makes candle requirements comparable across assets</a:t>
            </a:r>
          </a:p>
        </p:txBody>
      </p:sp>
      <p:sp>
        <p:nvSpPr>
          <p:cNvPr id="2" name="page-number">
            <a:extLst xmlns:a="http://schemas.openxmlformats.org/drawingml/2006/main">
              <a:ext uri="{FF2B5EF4-FFF2-40B4-BE49-F238E27FC236}">
                <a16:creationId xmlns:a16="http://schemas.microsoft.com/office/drawing/2014/main" id="{51094D97-284A-47BB-966B-AF5CAF71D430}"/>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3</a:t>
            </a:r>
          </a:p>
        </p:txBody>
      </p:sp>
      <p:sp>
        <p:nvSpPr>
          <p:cNvPr id="3" name="formula-panel">
            <a:extLst xmlns:a="http://schemas.openxmlformats.org/drawingml/2006/main">
              <a:ext uri="{FF2B5EF4-FFF2-40B4-BE49-F238E27FC236}">
                <a16:creationId xmlns:a16="http://schemas.microsoft.com/office/drawing/2014/main" id="{40F7AEB4-2A27-46D6-B77E-103EDE6F4662}"/>
              </a:ext>
            </a:extLst>
          </p:cNvPr>
          <p:cNvSpPr>
            <a:spLocks xmlns:a="http://schemas.openxmlformats.org/drawingml/2006/main" noGrp="1"/>
          </p:cNvSpPr>
          <p:nvPr/>
        </p:nvSpPr>
        <p:spPr>
          <a:xfrm xmlns:a="http://schemas.openxmlformats.org/drawingml/2006/main">
            <a:off x="523875" y="1428750"/>
            <a:ext cx="5334000" cy="3905250"/>
          </a:xfrm>
          <a:prstGeom xmlns:a="http://schemas.openxmlformats.org/drawingml/2006/main" prst="roundRect">
            <a:avLst>
              <a:gd name="adj" fmla="val 2927"/>
            </a:avLst>
          </a:prstGeom>
          <a:solidFill xmlns:a="http://schemas.openxmlformats.org/drawingml/2006/main">
            <a:srgbClr val="EAF5FB"/>
          </a:solidFill>
          <a:ln xmlns:a="http://schemas.openxmlformats.org/drawingml/2006/main" w="9525">
            <a:solidFill>
              <a:srgbClr val="B8BCC4"/>
            </a:solidFill>
            <a:prstDash val="solid"/>
          </a:ln>
        </p:spPr>
      </p:sp>
      <p:sp>
        <p:nvSpPr>
          <p:cNvPr id="4" name="text">
            <a:extLst xmlns:a="http://schemas.openxmlformats.org/drawingml/2006/main">
              <a:ext uri="{FF2B5EF4-FFF2-40B4-BE49-F238E27FC236}">
                <a16:creationId xmlns:a16="http://schemas.microsoft.com/office/drawing/2014/main" id="{E9D91A98-E3BF-46F0-9EF4-F1279E847C10}"/>
              </a:ext>
            </a:extLst>
          </p:cNvPr>
          <p:cNvSpPr>
            <a:spLocks xmlns:a="http://schemas.openxmlformats.org/drawingml/2006/main" noGrp="1"/>
          </p:cNvSpPr>
          <p:nvPr/>
        </p:nvSpPr>
        <p:spPr>
          <a:xfrm xmlns:a="http://schemas.openxmlformats.org/drawingml/2006/main">
            <a:off x="857250" y="17621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Lagged volatility</a:t>
            </a:r>
          </a:p>
        </p:txBody>
      </p:sp>
      <p:sp>
        <p:nvSpPr>
          <p:cNvPr id="5" name="text">
            <a:extLst xmlns:a="http://schemas.openxmlformats.org/drawingml/2006/main">
              <a:ext uri="{FF2B5EF4-FFF2-40B4-BE49-F238E27FC236}">
                <a16:creationId xmlns:a16="http://schemas.microsoft.com/office/drawing/2014/main" id="{D0B8BE8D-FBB2-4025-8581-2D9A08475C7C}"/>
              </a:ext>
            </a:extLst>
          </p:cNvPr>
          <p:cNvSpPr>
            <a:spLocks xmlns:a="http://schemas.openxmlformats.org/drawingml/2006/main" noGrp="1"/>
          </p:cNvSpPr>
          <p:nvPr/>
        </p:nvSpPr>
        <p:spPr>
          <a:xfrm xmlns:a="http://schemas.openxmlformats.org/drawingml/2006/main">
            <a:off x="857250" y="2381250"/>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σ₂₀,t−1 = SD(rₜ₋₂₀, …, rₜ₋₁)</a:t>
            </a:r>
          </a:p>
        </p:txBody>
      </p:sp>
      <p:sp>
        <p:nvSpPr>
          <p:cNvPr id="6" name="text">
            <a:extLst xmlns:a="http://schemas.openxmlformats.org/drawingml/2006/main">
              <a:ext uri="{FF2B5EF4-FFF2-40B4-BE49-F238E27FC236}">
                <a16:creationId xmlns:a16="http://schemas.microsoft.com/office/drawing/2014/main" id="{5D1AF42B-35D7-4C73-A713-A4FF1F271A81}"/>
              </a:ext>
            </a:extLst>
          </p:cNvPr>
          <p:cNvSpPr>
            <a:spLocks xmlns:a="http://schemas.openxmlformats.org/drawingml/2006/main" noGrp="1"/>
          </p:cNvSpPr>
          <p:nvPr/>
        </p:nvSpPr>
        <p:spPr>
          <a:xfrm xmlns:a="http://schemas.openxmlformats.org/drawingml/2006/main">
            <a:off x="857250" y="32861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Gap strength</a:t>
            </a:r>
          </a:p>
        </p:txBody>
      </p:sp>
      <p:sp>
        <p:nvSpPr>
          <p:cNvPr id="7" name="text">
            <a:extLst xmlns:a="http://schemas.openxmlformats.org/drawingml/2006/main">
              <a:ext uri="{FF2B5EF4-FFF2-40B4-BE49-F238E27FC236}">
                <a16:creationId xmlns:a16="http://schemas.microsoft.com/office/drawing/2014/main" id="{6A3C044F-6E5F-483B-B1F8-2DA4E7476433}"/>
              </a:ext>
            </a:extLst>
          </p:cNvPr>
          <p:cNvSpPr>
            <a:spLocks xmlns:a="http://schemas.openxmlformats.org/drawingml/2006/main" noGrp="1"/>
          </p:cNvSpPr>
          <p:nvPr/>
        </p:nvSpPr>
        <p:spPr>
          <a:xfrm xmlns:a="http://schemas.openxmlformats.org/drawingml/2006/main">
            <a:off x="857250" y="3905250"/>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gᵢ = (Openᵢ / Closeᵢ₋₁ − 1) / σ₂₀,i−1</a:t>
            </a:r>
          </a:p>
        </p:txBody>
      </p:sp>
      <p:sp>
        <p:nvSpPr>
          <p:cNvPr id="8" name="text">
            <a:extLst xmlns:a="http://schemas.openxmlformats.org/drawingml/2006/main">
              <a:ext uri="{FF2B5EF4-FFF2-40B4-BE49-F238E27FC236}">
                <a16:creationId xmlns:a16="http://schemas.microsoft.com/office/drawing/2014/main" id="{8C8365E2-AC88-4A62-BE67-F1F9FA47991A}"/>
              </a:ext>
            </a:extLst>
          </p:cNvPr>
          <p:cNvSpPr>
            <a:spLocks xmlns:a="http://schemas.openxmlformats.org/drawingml/2006/main" noGrp="1"/>
          </p:cNvSpPr>
          <p:nvPr/>
        </p:nvSpPr>
        <p:spPr>
          <a:xfrm xmlns:a="http://schemas.openxmlformats.org/drawingml/2006/main">
            <a:off x="6572250" y="17621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Body strength</a:t>
            </a:r>
          </a:p>
        </p:txBody>
      </p:sp>
      <p:sp>
        <p:nvSpPr>
          <p:cNvPr id="9" name="text">
            <a:extLst xmlns:a="http://schemas.openxmlformats.org/drawingml/2006/main">
              <a:ext uri="{FF2B5EF4-FFF2-40B4-BE49-F238E27FC236}">
                <a16:creationId xmlns:a16="http://schemas.microsoft.com/office/drawing/2014/main" id="{6D9545AE-8B60-4983-9EF1-5C7181CE967D}"/>
              </a:ext>
            </a:extLst>
          </p:cNvPr>
          <p:cNvSpPr>
            <a:spLocks xmlns:a="http://schemas.openxmlformats.org/drawingml/2006/main" noGrp="1"/>
          </p:cNvSpPr>
          <p:nvPr/>
        </p:nvSpPr>
        <p:spPr>
          <a:xfrm xmlns:a="http://schemas.openxmlformats.org/drawingml/2006/main">
            <a:off x="6572250" y="23812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bᵢ = (Closeᵢ / Openᵢ − 1) / σ₂₀,i−1</a:t>
            </a:r>
          </a:p>
        </p:txBody>
      </p:sp>
      <p:sp>
        <p:nvSpPr>
          <p:cNvPr id="10" name="text">
            <a:extLst xmlns:a="http://schemas.openxmlformats.org/drawingml/2006/main">
              <a:ext uri="{FF2B5EF4-FFF2-40B4-BE49-F238E27FC236}">
                <a16:creationId xmlns:a16="http://schemas.microsoft.com/office/drawing/2014/main" id="{DB9AD685-1599-41A4-915B-2DDA5280A301}"/>
              </a:ext>
            </a:extLst>
          </p:cNvPr>
          <p:cNvSpPr>
            <a:spLocks xmlns:a="http://schemas.openxmlformats.org/drawingml/2006/main" noGrp="1"/>
          </p:cNvSpPr>
          <p:nvPr/>
        </p:nvSpPr>
        <p:spPr>
          <a:xfrm xmlns:a="http://schemas.openxmlformats.org/drawingml/2006/main">
            <a:off x="6572250" y="32861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Two-session composites</a:t>
            </a:r>
          </a:p>
        </p:txBody>
      </p:sp>
      <p:sp>
        <p:nvSpPr>
          <p:cNvPr id="11" name="text">
            <a:extLst xmlns:a="http://schemas.openxmlformats.org/drawingml/2006/main">
              <a:ext uri="{FF2B5EF4-FFF2-40B4-BE49-F238E27FC236}">
                <a16:creationId xmlns:a16="http://schemas.microsoft.com/office/drawing/2014/main" id="{6C76A344-EA23-4BA7-A1EE-CD7DAD3A3001}"/>
              </a:ext>
            </a:extLst>
          </p:cNvPr>
          <p:cNvSpPr>
            <a:spLocks xmlns:a="http://schemas.openxmlformats.org/drawingml/2006/main" noGrp="1"/>
          </p:cNvSpPr>
          <p:nvPr/>
        </p:nvSpPr>
        <p:spPr>
          <a:xfrm xmlns:a="http://schemas.openxmlformats.org/drawingml/2006/main">
            <a:off x="6572250" y="3857625"/>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0000"/>
                </a:solidFill>
                <a:latin typeface="Helvetica Neue"/>
                <a:ea typeface="Helvetica Neue"/>
                <a:cs typeface="Helvetica Neue"/>
              </a:defRPr>
            </a:pPr>
            <a:r>
              <a:rPr sz="2700" b="0">
                <a:solidFill>
                  <a:srgbClr val="000000"/>
                </a:solidFill>
                <a:latin typeface="Helvetica Neue"/>
                <a:ea typeface="Helvetica Neue"/>
                <a:cs typeface="Helvetica Neue"/>
              </a:rPr>
              <a:t>G = gₜ₋₁ + gₜ</a:t>
            </a:r>
          </a:p>
          <a:p xmlns:a="http://schemas.openxmlformats.org/drawingml/2006/main">
            <a:pPr algn="l">
              <a:defRPr sz="2700" b="0">
                <a:solidFill>
                  <a:srgbClr val="000000"/>
                </a:solidFill>
                <a:latin typeface="Helvetica Neue"/>
                <a:ea typeface="Helvetica Neue"/>
                <a:cs typeface="Helvetica Neue"/>
              </a:defRPr>
            </a:pPr>
            <a:r>
              <a:rPr sz="2700" b="0">
                <a:solidFill>
                  <a:srgbClr val="000000"/>
                </a:solidFill>
                <a:latin typeface="Helvetica Neue"/>
                <a:ea typeface="Helvetica Neue"/>
                <a:cs typeface="Helvetica Neue"/>
              </a:rPr>
              <a:t>B = bₜ₋₁ + bₜ</a:t>
            </a:r>
          </a:p>
        </p:txBody>
      </p:sp>
      <p:sp>
        <p:nvSpPr>
          <p:cNvPr id="12" name="text">
            <a:extLst xmlns:a="http://schemas.openxmlformats.org/drawingml/2006/main">
              <a:ext uri="{FF2B5EF4-FFF2-40B4-BE49-F238E27FC236}">
                <a16:creationId xmlns:a16="http://schemas.microsoft.com/office/drawing/2014/main" id="{6E3D1011-FBA4-4751-BBAC-4829F03BE61F}"/>
              </a:ext>
            </a:extLst>
          </p:cNvPr>
          <p:cNvSpPr>
            <a:spLocks xmlns:a="http://schemas.openxmlformats.org/drawingml/2006/main" noGrp="1"/>
          </p:cNvSpPr>
          <p:nvPr/>
        </p:nvSpPr>
        <p:spPr>
          <a:xfrm xmlns:a="http://schemas.openxmlformats.org/drawingml/2006/main">
            <a:off x="762000" y="58102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667085"/>
                </a:solidFill>
                <a:latin typeface="Helvetica Neue"/>
                <a:ea typeface="Helvetica Neue"/>
                <a:cs typeface="Helvetica Neue"/>
              </a:defRPr>
            </a:pPr>
            <a:r>
              <a:rPr sz="1725" b="0">
                <a:solidFill>
                  <a:srgbClr val="667085"/>
                </a:solidFill>
                <a:latin typeface="Helvetica Neue"/>
                <a:ea typeface="Helvetica Neue"/>
                <a:cs typeface="Helvetica Neue"/>
              </a:rPr>
              <a:t>Strict lagging prevents the signal candles from defining their own scale.</a:t>
            </a:r>
          </a:p>
        </p:txBody>
      </p:sp>
    </p:spTree>
    <p:extLst>
      <p:ext uri="{BB962C8B-B14F-4D97-AF65-F5344CB8AC3E}">
        <p14:creationId xmlns:p14="http://schemas.microsoft.com/office/powerpoint/2010/main" val="93140817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7ACEAE0-47CA-4B7F-A3D8-AE739D6D596A}"/>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No proposed condition produced stable, broad asset-level separation</a:t>
            </a:r>
          </a:p>
        </p:txBody>
      </p:sp>
      <p:sp>
        <p:nvSpPr>
          <p:cNvPr id="2" name="page-number">
            <a:extLst xmlns:a="http://schemas.openxmlformats.org/drawingml/2006/main">
              <a:ext uri="{FF2B5EF4-FFF2-40B4-BE49-F238E27FC236}">
                <a16:creationId xmlns:a16="http://schemas.microsoft.com/office/drawing/2014/main" id="{EF958177-6EA3-4C22-88C6-083396D3F2F3}"/>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4</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07274e1ac9f462f"/>
          <a:stretch xmlns:a="http://schemas.openxmlformats.org/drawingml/2006/main"/>
        </p:blipFill>
        <p:spPr>
          <a:xfrm xmlns:a="http://schemas.openxmlformats.org/drawingml/2006/main">
            <a:off x="2486422" y="1047750"/>
            <a:ext cx="7219156" cy="5095875"/>
          </a:xfrm>
          <a:prstGeom xmlns:a="http://schemas.openxmlformats.org/drawingml/2006/main" prst="rect">
            <a:avLst/>
          </a:prstGeom>
        </p:spPr>
      </p:pic>
    </p:spTree>
    <p:extLst>
      <p:ext uri="{BB962C8B-B14F-4D97-AF65-F5344CB8AC3E}">
        <p14:creationId xmlns:p14="http://schemas.microsoft.com/office/powerpoint/2010/main" val="15039339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1160A3C-E085-4688-BBAE-4234ECB2968A}"/>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Larger gaps looked better, but the full gap-body surface was not monotonic</a:t>
            </a:r>
          </a:p>
        </p:txBody>
      </p:sp>
      <p:sp>
        <p:nvSpPr>
          <p:cNvPr id="2" name="page-number">
            <a:extLst xmlns:a="http://schemas.openxmlformats.org/drawingml/2006/main">
              <a:ext uri="{FF2B5EF4-FFF2-40B4-BE49-F238E27FC236}">
                <a16:creationId xmlns:a16="http://schemas.microsoft.com/office/drawing/2014/main" id="{48AAE6FD-258D-4F60-BACF-8E5AECC4F803}"/>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423509246554812"/>
          <a:stretch xmlns:a="http://schemas.openxmlformats.org/drawingml/2006/main"/>
        </p:blipFill>
        <p:spPr>
          <a:xfrm xmlns:a="http://schemas.openxmlformats.org/drawingml/2006/main">
            <a:off x="1653886" y="1028700"/>
            <a:ext cx="8884227" cy="5143500"/>
          </a:xfrm>
          <a:prstGeom xmlns:a="http://schemas.openxmlformats.org/drawingml/2006/main" prst="rect">
            <a:avLst/>
          </a:prstGeom>
        </p:spPr>
      </p:pic>
    </p:spTree>
    <p:extLst>
      <p:ext uri="{BB962C8B-B14F-4D97-AF65-F5344CB8AC3E}">
        <p14:creationId xmlns:p14="http://schemas.microsoft.com/office/powerpoint/2010/main" val="20948680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91545D83-2A54-4F37-B8DD-A0F3929503F2}"/>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Pattern intensity is a useful measurement—not yet an entry filter</a:t>
            </a:r>
          </a:p>
        </p:txBody>
      </p:sp>
      <p:sp>
        <p:nvSpPr>
          <p:cNvPr id="2" name="page-number">
            <a:extLst xmlns:a="http://schemas.openxmlformats.org/drawingml/2006/main">
              <a:ext uri="{FF2B5EF4-FFF2-40B4-BE49-F238E27FC236}">
                <a16:creationId xmlns:a16="http://schemas.microsoft.com/office/drawing/2014/main" id="{97C4B02C-95F7-4387-9D2D-68BF029978B2}"/>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6</a:t>
            </a:r>
          </a:p>
        </p:txBody>
      </p:sp>
      <p:sp>
        <p:nvSpPr>
          <p:cNvPr id="3" name="stat-gap high − low">
            <a:extLst xmlns:a="http://schemas.openxmlformats.org/drawingml/2006/main">
              <a:ext uri="{FF2B5EF4-FFF2-40B4-BE49-F238E27FC236}">
                <a16:creationId xmlns:a16="http://schemas.microsoft.com/office/drawing/2014/main" id="{1F0B436C-D932-4ADB-88F9-6BCE4D891DDA}"/>
              </a:ext>
            </a:extLst>
          </p:cNvPr>
          <p:cNvSpPr>
            <a:spLocks xmlns:a="http://schemas.openxmlformats.org/drawingml/2006/main" noGrp="1"/>
          </p:cNvSpPr>
          <p:nvPr/>
        </p:nvSpPr>
        <p:spPr>
          <a:xfrm xmlns:a="http://schemas.openxmlformats.org/drawingml/2006/main">
            <a:off x="390525" y="2571750"/>
            <a:ext cx="2581275" cy="2762250"/>
          </a:xfrm>
          <a:prstGeom xmlns:a="http://schemas.openxmlformats.org/drawingml/2006/main" prst="roundRect">
            <a:avLst>
              <a:gd name="adj" fmla="val 4428"/>
            </a:avLst>
          </a:prstGeom>
          <a:solidFill xmlns:a="http://schemas.openxmlformats.org/drawingml/2006/main">
            <a:srgbClr val="EAF5FB"/>
          </a:solidFill>
          <a:ln xmlns:a="http://schemas.openxmlformats.org/drawingml/2006/main" w="0">
            <a:solidFill>
              <a:srgbClr val="EAF5FB"/>
            </a:solidFill>
            <a:prstDash val="solid"/>
          </a:ln>
        </p:spPr>
      </p:sp>
      <p:sp>
        <p:nvSpPr>
          <p:cNvPr id="4" name="text">
            <a:extLst xmlns:a="http://schemas.openxmlformats.org/drawingml/2006/main">
              <a:ext uri="{FF2B5EF4-FFF2-40B4-BE49-F238E27FC236}">
                <a16:creationId xmlns:a16="http://schemas.microsoft.com/office/drawing/2014/main" id="{ABA42F8C-1D11-4094-8A01-04A556A11B77}"/>
              </a:ext>
            </a:extLst>
          </p:cNvPr>
          <p:cNvSpPr>
            <a:spLocks xmlns:a="http://schemas.openxmlformats.org/drawingml/2006/main" noGrp="1"/>
          </p:cNvSpPr>
          <p:nvPr/>
        </p:nvSpPr>
        <p:spPr>
          <a:xfrm xmlns:a="http://schemas.openxmlformats.org/drawingml/2006/main">
            <a:off x="619125" y="3000375"/>
            <a:ext cx="2114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+0.48 pp</a:t>
            </a:r>
          </a:p>
        </p:txBody>
      </p:sp>
      <p:sp>
        <p:nvSpPr>
          <p:cNvPr id="5" name="text">
            <a:extLst xmlns:a="http://schemas.openxmlformats.org/drawingml/2006/main">
              <a:ext uri="{FF2B5EF4-FFF2-40B4-BE49-F238E27FC236}">
                <a16:creationId xmlns:a16="http://schemas.microsoft.com/office/drawing/2014/main" id="{901E9ABD-1674-4A06-B2B0-AA99B386E207}"/>
              </a:ext>
            </a:extLst>
          </p:cNvPr>
          <p:cNvSpPr>
            <a:spLocks xmlns:a="http://schemas.openxmlformats.org/drawingml/2006/main" noGrp="1"/>
          </p:cNvSpPr>
          <p:nvPr/>
        </p:nvSpPr>
        <p:spPr>
          <a:xfrm xmlns:a="http://schemas.openxmlformats.org/drawingml/2006/main">
            <a:off x="619125" y="4048125"/>
            <a:ext cx="2114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gap high − low</a:t>
            </a:r>
          </a:p>
        </p:txBody>
      </p:sp>
      <p:sp>
        <p:nvSpPr>
          <p:cNvPr id="6" name="text">
            <a:extLst xmlns:a="http://schemas.openxmlformats.org/drawingml/2006/main">
              <a:ext uri="{FF2B5EF4-FFF2-40B4-BE49-F238E27FC236}">
                <a16:creationId xmlns:a16="http://schemas.microsoft.com/office/drawing/2014/main" id="{E7E379B0-3C5F-41A5-9DEF-6E116DB5905D}"/>
              </a:ext>
            </a:extLst>
          </p:cNvPr>
          <p:cNvSpPr>
            <a:spLocks xmlns:a="http://schemas.openxmlformats.org/drawingml/2006/main" noGrp="1"/>
          </p:cNvSpPr>
          <p:nvPr/>
        </p:nvSpPr>
        <p:spPr>
          <a:xfrm xmlns:a="http://schemas.openxmlformats.org/drawingml/2006/main">
            <a:off x="619125" y="466725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Equal-asset mean contrast; interval −0.18 to +1.15 pp</a:t>
            </a:r>
          </a:p>
        </p:txBody>
      </p:sp>
      <p:sp>
        <p:nvSpPr>
          <p:cNvPr id="7" name="stat-gap breadth">
            <a:extLst xmlns:a="http://schemas.openxmlformats.org/drawingml/2006/main">
              <a:ext uri="{FF2B5EF4-FFF2-40B4-BE49-F238E27FC236}">
                <a16:creationId xmlns:a16="http://schemas.microsoft.com/office/drawing/2014/main" id="{3843B53D-5B35-44FD-B061-1FCE12DFF1ED}"/>
              </a:ext>
            </a:extLst>
          </p:cNvPr>
          <p:cNvSpPr>
            <a:spLocks xmlns:a="http://schemas.openxmlformats.org/drawingml/2006/main" noGrp="1"/>
          </p:cNvSpPr>
          <p:nvPr/>
        </p:nvSpPr>
        <p:spPr>
          <a:xfrm xmlns:a="http://schemas.openxmlformats.org/drawingml/2006/main">
            <a:off x="3333750" y="2571750"/>
            <a:ext cx="2581275" cy="2762250"/>
          </a:xfrm>
          <a:prstGeom xmlns:a="http://schemas.openxmlformats.org/drawingml/2006/main" prst="roundRect">
            <a:avLst>
              <a:gd name="adj" fmla="val 4428"/>
            </a:avLst>
          </a:prstGeom>
          <a:solidFill xmlns:a="http://schemas.openxmlformats.org/drawingml/2006/main">
            <a:srgbClr val="EDEDED"/>
          </a:solidFill>
          <a:ln xmlns:a="http://schemas.openxmlformats.org/drawingml/2006/main" w="0">
            <a:solidFill>
              <a:srgbClr val="EDEDED"/>
            </a:solidFill>
            <a:prstDash val="solid"/>
          </a:ln>
        </p:spPr>
      </p:sp>
      <p:sp>
        <p:nvSpPr>
          <p:cNvPr id="8" name="text">
            <a:extLst xmlns:a="http://schemas.openxmlformats.org/drawingml/2006/main">
              <a:ext uri="{FF2B5EF4-FFF2-40B4-BE49-F238E27FC236}">
                <a16:creationId xmlns:a16="http://schemas.microsoft.com/office/drawing/2014/main" id="{F767C8A7-40DC-46B9-9DAD-E7D19BD798A9}"/>
              </a:ext>
            </a:extLst>
          </p:cNvPr>
          <p:cNvSpPr>
            <a:spLocks xmlns:a="http://schemas.openxmlformats.org/drawingml/2006/main" noGrp="1"/>
          </p:cNvSpPr>
          <p:nvPr/>
        </p:nvSpPr>
        <p:spPr>
          <a:xfrm xmlns:a="http://schemas.openxmlformats.org/drawingml/2006/main">
            <a:off x="3562350" y="3000375"/>
            <a:ext cx="2114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11 / 22</a:t>
            </a:r>
          </a:p>
        </p:txBody>
      </p:sp>
      <p:sp>
        <p:nvSpPr>
          <p:cNvPr id="9" name="text">
            <a:extLst xmlns:a="http://schemas.openxmlformats.org/drawingml/2006/main">
              <a:ext uri="{FF2B5EF4-FFF2-40B4-BE49-F238E27FC236}">
                <a16:creationId xmlns:a16="http://schemas.microsoft.com/office/drawing/2014/main" id="{9667F10B-4945-487A-91A1-35A618426A24}"/>
              </a:ext>
            </a:extLst>
          </p:cNvPr>
          <p:cNvSpPr>
            <a:spLocks xmlns:a="http://schemas.openxmlformats.org/drawingml/2006/main" noGrp="1"/>
          </p:cNvSpPr>
          <p:nvPr/>
        </p:nvSpPr>
        <p:spPr>
          <a:xfrm xmlns:a="http://schemas.openxmlformats.org/drawingml/2006/main">
            <a:off x="3562350" y="4048125"/>
            <a:ext cx="2114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gap breadth</a:t>
            </a:r>
          </a:p>
        </p:txBody>
      </p:sp>
      <p:sp>
        <p:nvSpPr>
          <p:cNvPr id="10" name="text">
            <a:extLst xmlns:a="http://schemas.openxmlformats.org/drawingml/2006/main">
              <a:ext uri="{FF2B5EF4-FFF2-40B4-BE49-F238E27FC236}">
                <a16:creationId xmlns:a16="http://schemas.microsoft.com/office/drawing/2014/main" id="{BE4B1FC0-6178-42C2-949B-2900B09054CF}"/>
              </a:ext>
            </a:extLst>
          </p:cNvPr>
          <p:cNvSpPr>
            <a:spLocks xmlns:a="http://schemas.openxmlformats.org/drawingml/2006/main" noGrp="1"/>
          </p:cNvSpPr>
          <p:nvPr/>
        </p:nvSpPr>
        <p:spPr>
          <a:xfrm xmlns:a="http://schemas.openxmlformats.org/drawingml/2006/main">
            <a:off x="3562350" y="466725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Only half the assets favored the high-gap tercile</a:t>
            </a:r>
          </a:p>
        </p:txBody>
      </p:sp>
      <p:sp>
        <p:nvSpPr>
          <p:cNvPr id="11" name="stat-body high − low">
            <a:extLst xmlns:a="http://schemas.openxmlformats.org/drawingml/2006/main">
              <a:ext uri="{FF2B5EF4-FFF2-40B4-BE49-F238E27FC236}">
                <a16:creationId xmlns:a16="http://schemas.microsoft.com/office/drawing/2014/main" id="{A7019221-E4EB-4228-915C-5E54DBA78C00}"/>
              </a:ext>
            </a:extLst>
          </p:cNvPr>
          <p:cNvSpPr>
            <a:spLocks xmlns:a="http://schemas.openxmlformats.org/drawingml/2006/main" noGrp="1"/>
          </p:cNvSpPr>
          <p:nvPr/>
        </p:nvSpPr>
        <p:spPr>
          <a:xfrm xmlns:a="http://schemas.openxmlformats.org/drawingml/2006/main">
            <a:off x="6276975" y="2571750"/>
            <a:ext cx="2581275" cy="2762250"/>
          </a:xfrm>
          <a:prstGeom xmlns:a="http://schemas.openxmlformats.org/drawingml/2006/main" prst="roundRect">
            <a:avLst>
              <a:gd name="adj" fmla="val 4428"/>
            </a:avLst>
          </a:prstGeom>
          <a:solidFill xmlns:a="http://schemas.openxmlformats.org/drawingml/2006/main">
            <a:srgbClr val="EDEDED"/>
          </a:solidFill>
          <a:ln xmlns:a="http://schemas.openxmlformats.org/drawingml/2006/main" w="0">
            <a:solidFill>
              <a:srgbClr val="EDEDED"/>
            </a:solidFill>
            <a:prstDash val="solid"/>
          </a:ln>
        </p:spPr>
      </p:sp>
      <p:sp>
        <p:nvSpPr>
          <p:cNvPr id="12" name="text">
            <a:extLst xmlns:a="http://schemas.openxmlformats.org/drawingml/2006/main">
              <a:ext uri="{FF2B5EF4-FFF2-40B4-BE49-F238E27FC236}">
                <a16:creationId xmlns:a16="http://schemas.microsoft.com/office/drawing/2014/main" id="{B16E7F29-4B0D-4615-A0A6-A23881A85CDF}"/>
              </a:ext>
            </a:extLst>
          </p:cNvPr>
          <p:cNvSpPr>
            <a:spLocks xmlns:a="http://schemas.openxmlformats.org/drawingml/2006/main" noGrp="1"/>
          </p:cNvSpPr>
          <p:nvPr/>
        </p:nvSpPr>
        <p:spPr>
          <a:xfrm xmlns:a="http://schemas.openxmlformats.org/drawingml/2006/main">
            <a:off x="6505575" y="3000375"/>
            <a:ext cx="2114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+0.06 pp</a:t>
            </a:r>
          </a:p>
        </p:txBody>
      </p:sp>
      <p:sp>
        <p:nvSpPr>
          <p:cNvPr id="13" name="text">
            <a:extLst xmlns:a="http://schemas.openxmlformats.org/drawingml/2006/main">
              <a:ext uri="{FF2B5EF4-FFF2-40B4-BE49-F238E27FC236}">
                <a16:creationId xmlns:a16="http://schemas.microsoft.com/office/drawing/2014/main" id="{92B40C3A-DBE8-477B-B1CF-6928A9A0AD6B}"/>
              </a:ext>
            </a:extLst>
          </p:cNvPr>
          <p:cNvSpPr>
            <a:spLocks xmlns:a="http://schemas.openxmlformats.org/drawingml/2006/main" noGrp="1"/>
          </p:cNvSpPr>
          <p:nvPr/>
        </p:nvSpPr>
        <p:spPr>
          <a:xfrm xmlns:a="http://schemas.openxmlformats.org/drawingml/2006/main">
            <a:off x="6505575" y="4048125"/>
            <a:ext cx="2114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body high − low</a:t>
            </a:r>
          </a:p>
        </p:txBody>
      </p:sp>
      <p:sp>
        <p:nvSpPr>
          <p:cNvPr id="14" name="text">
            <a:extLst xmlns:a="http://schemas.openxmlformats.org/drawingml/2006/main">
              <a:ext uri="{FF2B5EF4-FFF2-40B4-BE49-F238E27FC236}">
                <a16:creationId xmlns:a16="http://schemas.microsoft.com/office/drawing/2014/main" id="{7E2A85BE-3D25-45CA-ABA6-DC075703C7C9}"/>
              </a:ext>
            </a:extLst>
          </p:cNvPr>
          <p:cNvSpPr>
            <a:spLocks xmlns:a="http://schemas.openxmlformats.org/drawingml/2006/main" noGrp="1"/>
          </p:cNvSpPr>
          <p:nvPr/>
        </p:nvSpPr>
        <p:spPr>
          <a:xfrm xmlns:a="http://schemas.openxmlformats.org/drawingml/2006/main">
            <a:off x="6505575" y="466725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Equal-asset mean contrast; interval −0.71 to +0.75 pp</a:t>
            </a:r>
          </a:p>
        </p:txBody>
      </p:sp>
      <p:sp>
        <p:nvSpPr>
          <p:cNvPr id="15" name="stat-body rank sign">
            <a:extLst xmlns:a="http://schemas.openxmlformats.org/drawingml/2006/main">
              <a:ext uri="{FF2B5EF4-FFF2-40B4-BE49-F238E27FC236}">
                <a16:creationId xmlns:a16="http://schemas.microsoft.com/office/drawing/2014/main" id="{0441FA3E-51F0-4589-B994-EC2E7DB9972B}"/>
              </a:ext>
            </a:extLst>
          </p:cNvPr>
          <p:cNvSpPr>
            <a:spLocks xmlns:a="http://schemas.openxmlformats.org/drawingml/2006/main" noGrp="1"/>
          </p:cNvSpPr>
          <p:nvPr/>
        </p:nvSpPr>
        <p:spPr>
          <a:xfrm xmlns:a="http://schemas.openxmlformats.org/drawingml/2006/main">
            <a:off x="9220200" y="2571750"/>
            <a:ext cx="2581275" cy="2762250"/>
          </a:xfrm>
          <a:prstGeom xmlns:a="http://schemas.openxmlformats.org/drawingml/2006/main" prst="roundRect">
            <a:avLst>
              <a:gd name="adj" fmla="val 4428"/>
            </a:avLst>
          </a:prstGeom>
          <a:solidFill xmlns:a="http://schemas.openxmlformats.org/drawingml/2006/main">
            <a:srgbClr val="EDEDED"/>
          </a:solidFill>
          <a:ln xmlns:a="http://schemas.openxmlformats.org/drawingml/2006/main" w="0">
            <a:solidFill>
              <a:srgbClr val="EDEDED"/>
            </a:solidFill>
            <a:prstDash val="solid"/>
          </a:ln>
        </p:spPr>
      </p:sp>
      <p:sp>
        <p:nvSpPr>
          <p:cNvPr id="16" name="text">
            <a:extLst xmlns:a="http://schemas.openxmlformats.org/drawingml/2006/main">
              <a:ext uri="{FF2B5EF4-FFF2-40B4-BE49-F238E27FC236}">
                <a16:creationId xmlns:a16="http://schemas.microsoft.com/office/drawing/2014/main" id="{2DCFF01F-946F-4870-ADBB-88D0ACA2F740}"/>
              </a:ext>
            </a:extLst>
          </p:cNvPr>
          <p:cNvSpPr>
            <a:spLocks xmlns:a="http://schemas.openxmlformats.org/drawingml/2006/main" noGrp="1"/>
          </p:cNvSpPr>
          <p:nvPr/>
        </p:nvSpPr>
        <p:spPr>
          <a:xfrm xmlns:a="http://schemas.openxmlformats.org/drawingml/2006/main">
            <a:off x="9448800" y="3000375"/>
            <a:ext cx="2114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13 / 22</a:t>
            </a:r>
          </a:p>
        </p:txBody>
      </p:sp>
      <p:sp>
        <p:nvSpPr>
          <p:cNvPr id="17" name="text">
            <a:extLst xmlns:a="http://schemas.openxmlformats.org/drawingml/2006/main">
              <a:ext uri="{FF2B5EF4-FFF2-40B4-BE49-F238E27FC236}">
                <a16:creationId xmlns:a16="http://schemas.microsoft.com/office/drawing/2014/main" id="{77DA316E-7DB8-42B7-B851-FC1E30C59967}"/>
              </a:ext>
            </a:extLst>
          </p:cNvPr>
          <p:cNvSpPr>
            <a:spLocks xmlns:a="http://schemas.openxmlformats.org/drawingml/2006/main" noGrp="1"/>
          </p:cNvSpPr>
          <p:nvPr/>
        </p:nvSpPr>
        <p:spPr>
          <a:xfrm xmlns:a="http://schemas.openxmlformats.org/drawingml/2006/main">
            <a:off x="9448800" y="4048125"/>
            <a:ext cx="2114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body rank sign</a:t>
            </a:r>
          </a:p>
        </p:txBody>
      </p:sp>
      <p:sp>
        <p:nvSpPr>
          <p:cNvPr id="18" name="text">
            <a:extLst xmlns:a="http://schemas.openxmlformats.org/drawingml/2006/main">
              <a:ext uri="{FF2B5EF4-FFF2-40B4-BE49-F238E27FC236}">
                <a16:creationId xmlns:a16="http://schemas.microsoft.com/office/drawing/2014/main" id="{5FC6F3D2-4B8A-4222-9BB4-B58D4763183C}"/>
              </a:ext>
            </a:extLst>
          </p:cNvPr>
          <p:cNvSpPr>
            <a:spLocks xmlns:a="http://schemas.openxmlformats.org/drawingml/2006/main" noGrp="1"/>
          </p:cNvSpPr>
          <p:nvPr/>
        </p:nvSpPr>
        <p:spPr>
          <a:xfrm xmlns:a="http://schemas.openxmlformats.org/drawingml/2006/main">
            <a:off x="9448800" y="466725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Positive per-asset rank correlation in thirteen assets</a:t>
            </a:r>
          </a:p>
        </p:txBody>
      </p:sp>
      <p:sp>
        <p:nvSpPr>
          <p:cNvPr id="19" name="text">
            <a:extLst xmlns:a="http://schemas.openxmlformats.org/drawingml/2006/main">
              <a:ext uri="{FF2B5EF4-FFF2-40B4-BE49-F238E27FC236}">
                <a16:creationId xmlns:a16="http://schemas.microsoft.com/office/drawing/2014/main" id="{749517B2-4BD2-4B6A-92E8-4AF2EAF7CDE6}"/>
              </a:ext>
            </a:extLst>
          </p:cNvPr>
          <p:cNvSpPr>
            <a:spLocks xmlns:a="http://schemas.openxmlformats.org/drawingml/2006/main" noGrp="1"/>
          </p:cNvSpPr>
          <p:nvPr/>
        </p:nvSpPr>
        <p:spPr>
          <a:xfrm xmlns:a="http://schemas.openxmlformats.org/drawingml/2006/main">
            <a:off x="952500" y="58578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667085"/>
                </a:solidFill>
                <a:latin typeface="Helvetica Neue"/>
                <a:ea typeface="Helvetica Neue"/>
                <a:cs typeface="Helvetica Neue"/>
              </a:defRPr>
            </a:pPr>
            <a:r>
              <a:rPr sz="1725" b="0">
                <a:solidFill>
                  <a:srgbClr val="667085"/>
                </a:solidFill>
                <a:latin typeface="Helvetica Neue"/>
                <a:ea typeface="Helvetica Neue"/>
                <a:cs typeface="Helvetica Neue"/>
              </a:rPr>
              <a:t>Future test, if chosen: freeze one monotonic strength score—not the best 3×3 cell.</a:t>
            </a:r>
          </a:p>
        </p:txBody>
      </p:sp>
    </p:spTree>
    <p:extLst>
      <p:ext uri="{BB962C8B-B14F-4D97-AF65-F5344CB8AC3E}">
        <p14:creationId xmlns:p14="http://schemas.microsoft.com/office/powerpoint/2010/main" val="6328179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21057E4-F4AF-4CB3-8EEE-8B940E4AFD76}"/>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signal did not improve when the stock was already above SMA200</a:t>
            </a:r>
          </a:p>
        </p:txBody>
      </p:sp>
      <p:sp>
        <p:nvSpPr>
          <p:cNvPr id="2" name="page-number">
            <a:extLst xmlns:a="http://schemas.openxmlformats.org/drawingml/2006/main">
              <a:ext uri="{FF2B5EF4-FFF2-40B4-BE49-F238E27FC236}">
                <a16:creationId xmlns:a16="http://schemas.microsoft.com/office/drawing/2014/main" id="{DB801946-0A0E-444E-A0BD-A7B6FA9AD37C}"/>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0c7c0c412184b91"/>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105796423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C1EE641A-9FF9-44E7-8780-36809203EC8C}"/>
              </a:ext>
            </a:extLst>
          </p:cNvPr>
          <p:cNvSpPr>
            <a:spLocks xmlns:a="http://schemas.openxmlformats.org/drawingml/2006/main" noGrp="1"/>
          </p:cNvSpPr>
          <p:nvPr/>
        </p:nvSpPr>
        <p:spPr>
          <a:xfrm xmlns:a="http://schemas.openxmlformats.org/drawingml/2006/main">
            <a:off x="390525" y="390525"/>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67085"/>
                </a:solidFill>
                <a:latin typeface="Helvetica Neue"/>
                <a:ea typeface="Helvetica Neue"/>
                <a:cs typeface="Helvetica Neue"/>
              </a:defRPr>
            </a:pPr>
            <a:r>
              <a:rPr sz="2100" b="0">
                <a:solidFill>
                  <a:srgbClr val="667085"/>
                </a:solidFill>
                <a:latin typeface="Helvetica Neue"/>
                <a:ea typeface="Helvetica Neue"/>
                <a:cs typeface="Helvetica Neue"/>
              </a:rPr>
              <a:t>ASSET TREND STATES</a:t>
            </a:r>
          </a:p>
        </p:txBody>
      </p:sp>
      <p:sp>
        <p:nvSpPr>
          <p:cNvPr id="2" name="text">
            <a:extLst xmlns:a="http://schemas.openxmlformats.org/drawingml/2006/main">
              <a:ext uri="{FF2B5EF4-FFF2-40B4-BE49-F238E27FC236}">
                <a16:creationId xmlns:a16="http://schemas.microsoft.com/office/drawing/2014/main" id="{87DF20F6-C0A3-4416-838F-E386EB2FCAE1}"/>
              </a:ext>
            </a:extLst>
          </p:cNvPr>
          <p:cNvSpPr>
            <a:spLocks xmlns:a="http://schemas.openxmlformats.org/drawingml/2006/main" noGrp="1"/>
          </p:cNvSpPr>
          <p:nvPr/>
        </p:nvSpPr>
        <p:spPr>
          <a:xfrm xmlns:a="http://schemas.openxmlformats.org/drawingml/2006/main">
            <a:off x="390525" y="1524000"/>
            <a:ext cx="10287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100" b="0">
                <a:solidFill>
                  <a:srgbClr val="000000"/>
                </a:solidFill>
                <a:latin typeface="Helvetica Neue"/>
                <a:ea typeface="Helvetica Neue"/>
                <a:cs typeface="Helvetica Neue"/>
              </a:defRPr>
            </a:pPr>
            <a:r>
              <a:rPr sz="5100" b="0">
                <a:solidFill>
                  <a:srgbClr val="000000"/>
                </a:solidFill>
                <a:latin typeface="Helvetica Neue"/>
                <a:ea typeface="Helvetica Neue"/>
                <a:cs typeface="Helvetica Neue"/>
              </a:rPr>
              <a:t>The same two-candle signal</a:t>
            </a:r>
          </a:p>
          <a:p xmlns:a="http://schemas.openxmlformats.org/drawingml/2006/main">
            <a:pPr algn="l">
              <a:defRPr sz="5100" b="0">
                <a:solidFill>
                  <a:srgbClr val="000000"/>
                </a:solidFill>
                <a:latin typeface="Helvetica Neue"/>
                <a:ea typeface="Helvetica Neue"/>
                <a:cs typeface="Helvetica Neue"/>
              </a:defRPr>
            </a:pPr>
            <a:r>
              <a:rPr sz="5100" b="0">
                <a:solidFill>
                  <a:srgbClr val="000000"/>
                </a:solidFill>
                <a:latin typeface="Helvetica Neue"/>
                <a:ea typeface="Helvetica Neue"/>
                <a:cs typeface="Helvetica Neue"/>
              </a:rPr>
              <a:t>appeared in three distinct</a:t>
            </a:r>
          </a:p>
          <a:p xmlns:a="http://schemas.openxmlformats.org/drawingml/2006/main">
            <a:pPr algn="l">
              <a:defRPr sz="5100" b="0">
                <a:solidFill>
                  <a:srgbClr val="000000"/>
                </a:solidFill>
                <a:latin typeface="Helvetica Neue"/>
                <a:ea typeface="Helvetica Neue"/>
                <a:cs typeface="Helvetica Neue"/>
              </a:defRPr>
            </a:pPr>
            <a:r>
              <a:rPr sz="5100" b="0">
                <a:solidFill>
                  <a:srgbClr val="000000"/>
                </a:solidFill>
                <a:latin typeface="Helvetica Neue"/>
                <a:ea typeface="Helvetica Neue"/>
                <a:cs typeface="Helvetica Neue"/>
              </a:rPr>
              <a:t>trend contexts</a:t>
            </a:r>
          </a:p>
        </p:txBody>
      </p:sp>
      <p:sp>
        <p:nvSpPr>
          <p:cNvPr id="3" name="text">
            <a:extLst xmlns:a="http://schemas.openxmlformats.org/drawingml/2006/main">
              <a:ext uri="{FF2B5EF4-FFF2-40B4-BE49-F238E27FC236}">
                <a16:creationId xmlns:a16="http://schemas.microsoft.com/office/drawing/2014/main" id="{E06729C0-9E13-4BF1-8F0A-CC8EFAFFC34D}"/>
              </a:ext>
            </a:extLst>
          </p:cNvPr>
          <p:cNvSpPr>
            <a:spLocks xmlns:a="http://schemas.openxmlformats.org/drawingml/2006/main" noGrp="1"/>
          </p:cNvSpPr>
          <p:nvPr/>
        </p:nvSpPr>
        <p:spPr>
          <a:xfrm xmlns:a="http://schemas.openxmlformats.org/drawingml/2006/main">
            <a:off x="390525" y="514350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Representative paths are frozen medoid-return examples within each state—not hand-picked winners.</a:t>
            </a:r>
          </a:p>
        </p:txBody>
      </p:sp>
      <p:sp>
        <p:nvSpPr>
          <p:cNvPr id="4" name="text">
            <a:extLst xmlns:a="http://schemas.openxmlformats.org/drawingml/2006/main">
              <a:ext uri="{FF2B5EF4-FFF2-40B4-BE49-F238E27FC236}">
                <a16:creationId xmlns:a16="http://schemas.microsoft.com/office/drawing/2014/main" id="{CE54B08A-BCBF-400C-AB97-73F468E89764}"/>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8</a:t>
            </a:r>
          </a:p>
        </p:txBody>
      </p:sp>
    </p:spTree>
    <p:extLst>
      <p:ext uri="{BB962C8B-B14F-4D97-AF65-F5344CB8AC3E}">
        <p14:creationId xmlns:p14="http://schemas.microsoft.com/office/powerpoint/2010/main" val="20607471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31A0DA3A-31EC-4D6A-9389-71CAFA934682}"/>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Established-above: the pattern occurred inside a mature uptrend</a:t>
            </a:r>
          </a:p>
        </p:txBody>
      </p:sp>
      <p:sp>
        <p:nvSpPr>
          <p:cNvPr id="2" name="page-number">
            <a:extLst xmlns:a="http://schemas.openxmlformats.org/drawingml/2006/main">
              <a:ext uri="{FF2B5EF4-FFF2-40B4-BE49-F238E27FC236}">
                <a16:creationId xmlns:a16="http://schemas.microsoft.com/office/drawing/2014/main" id="{625432F9-BD9D-4228-B939-3D55236075FA}"/>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9</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92e852391c54dc5"/>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2394112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9E79AF5-1BA3-42C8-B030-9F169F926E53}"/>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Recent reclaim: the signal followed a transition across the anchor</a:t>
            </a:r>
          </a:p>
        </p:txBody>
      </p:sp>
      <p:sp>
        <p:nvSpPr>
          <p:cNvPr id="2" name="page-number">
            <a:extLst xmlns:a="http://schemas.openxmlformats.org/drawingml/2006/main">
              <a:ext uri="{FF2B5EF4-FFF2-40B4-BE49-F238E27FC236}">
                <a16:creationId xmlns:a16="http://schemas.microsoft.com/office/drawing/2014/main" id="{982363B3-F877-4153-B08F-7930721134C7}"/>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10</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cf084d915f549f9"/>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7540312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42D8957-3C3B-4DE0-BE8C-8E6E5C89E4AE}"/>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Below anchor: the pattern can be a bounce inside a weak regime</a:t>
            </a:r>
          </a:p>
        </p:txBody>
      </p:sp>
      <p:sp>
        <p:nvSpPr>
          <p:cNvPr id="2" name="page-number">
            <a:extLst xmlns:a="http://schemas.openxmlformats.org/drawingml/2006/main">
              <a:ext uri="{FF2B5EF4-FFF2-40B4-BE49-F238E27FC236}">
                <a16:creationId xmlns:a16="http://schemas.microsoft.com/office/drawing/2014/main" id="{93A571C8-20D2-4EB9-9EA0-2830F784C915}"/>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ce255a669b84012"/>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10453171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58C120E-2DCE-46EB-86F6-EBD725EEFFFF}"/>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93"/>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Positive prior return was not a dependable confirmation across 20, 60, or 120 sessions</a:t>
            </a:r>
          </a:p>
        </p:txBody>
      </p:sp>
      <p:sp>
        <p:nvSpPr>
          <p:cNvPr id="2" name="page-number">
            <a:extLst xmlns:a="http://schemas.openxmlformats.org/drawingml/2006/main">
              <a:ext uri="{FF2B5EF4-FFF2-40B4-BE49-F238E27FC236}">
                <a16:creationId xmlns:a16="http://schemas.microsoft.com/office/drawing/2014/main" id="{18DF66DB-EA0D-4D8E-AD3C-BAA5153A4938}"/>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12</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8fbe7451e914497"/>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3409089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6B0ABD4-A54B-4720-895B-9F8D1176D1F5}"/>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Secondary asset context added little; the market anchor stood out</a:t>
            </a:r>
          </a:p>
        </p:txBody>
      </p:sp>
      <p:sp>
        <p:nvSpPr>
          <p:cNvPr id="2" name="page-number">
            <a:extLst xmlns:a="http://schemas.openxmlformats.org/drawingml/2006/main">
              <a:ext uri="{FF2B5EF4-FFF2-40B4-BE49-F238E27FC236}">
                <a16:creationId xmlns:a16="http://schemas.microsoft.com/office/drawing/2014/main" id="{C2A5D947-CBC0-47E3-862A-FB9727D4B381}"/>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13</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b1488826e514f44"/>
          <a:stretch xmlns:a="http://schemas.openxmlformats.org/drawingml/2006/main"/>
        </p:blipFill>
        <p:spPr>
          <a:xfrm xmlns:a="http://schemas.openxmlformats.org/drawingml/2006/main">
            <a:off x="2274094" y="1047750"/>
            <a:ext cx="7643813" cy="5095875"/>
          </a:xfrm>
          <a:prstGeom xmlns:a="http://schemas.openxmlformats.org/drawingml/2006/main" prst="rect">
            <a:avLst/>
          </a:prstGeom>
        </p:spPr>
      </p:pic>
    </p:spTree>
    <p:extLst>
      <p:ext uri="{BB962C8B-B14F-4D97-AF65-F5344CB8AC3E}">
        <p14:creationId xmlns:p14="http://schemas.microsoft.com/office/powerpoint/2010/main" val="19280326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D577EB2-CD98-4CBE-A48C-E17500921C9E}"/>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clearest coherent question came from the market—not the stock</a:t>
            </a:r>
          </a:p>
        </p:txBody>
      </p:sp>
      <p:sp>
        <p:nvSpPr>
          <p:cNvPr id="2" name="page-number">
            <a:extLst xmlns:a="http://schemas.openxmlformats.org/drawingml/2006/main">
              <a:ext uri="{FF2B5EF4-FFF2-40B4-BE49-F238E27FC236}">
                <a16:creationId xmlns:a16="http://schemas.microsoft.com/office/drawing/2014/main" id="{D8C4BBD1-4804-4FAD-97F1-F79B1BC9A445}"/>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14</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3de9eaf956940a9"/>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18805188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E63EE07-ADFC-4B1B-84B3-7211615D2BA9}"/>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Early losers partially recovered—yet remained losers by the fixed exit</a:t>
            </a:r>
          </a:p>
        </p:txBody>
      </p:sp>
      <p:sp>
        <p:nvSpPr>
          <p:cNvPr id="2" name="page-number">
            <a:extLst xmlns:a="http://schemas.openxmlformats.org/drawingml/2006/main">
              <a:ext uri="{FF2B5EF4-FFF2-40B4-BE49-F238E27FC236}">
                <a16:creationId xmlns:a16="http://schemas.microsoft.com/office/drawing/2014/main" id="{716F5F63-41A6-45DA-ACA1-F2191E8983BD}"/>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7522d16b9e74168"/>
          <a:stretch xmlns:a="http://schemas.openxmlformats.org/drawingml/2006/main"/>
        </p:blipFill>
        <p:spPr>
          <a:xfrm xmlns:a="http://schemas.openxmlformats.org/drawingml/2006/main">
            <a:off x="1849437" y="1047750"/>
            <a:ext cx="8493125" cy="5095875"/>
          </a:xfrm>
          <a:prstGeom xmlns:a="http://schemas.openxmlformats.org/drawingml/2006/main" prst="rect">
            <a:avLst/>
          </a:prstGeom>
        </p:spPr>
      </p:pic>
    </p:spTree>
    <p:extLst>
      <p:ext uri="{BB962C8B-B14F-4D97-AF65-F5344CB8AC3E}">
        <p14:creationId xmlns:p14="http://schemas.microsoft.com/office/powerpoint/2010/main" val="48000327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DF53A7A-8456-4106-B969-FE9DDC8DFFF1}"/>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Similar pattern categories still contained very different five-session paths</a:t>
            </a:r>
          </a:p>
        </p:txBody>
      </p:sp>
      <p:sp>
        <p:nvSpPr>
          <p:cNvPr id="2" name="page-number">
            <a:extLst xmlns:a="http://schemas.openxmlformats.org/drawingml/2006/main">
              <a:ext uri="{FF2B5EF4-FFF2-40B4-BE49-F238E27FC236}">
                <a16:creationId xmlns:a16="http://schemas.microsoft.com/office/drawing/2014/main" id="{F89BB200-4255-4EE2-9EE4-A657A41EFF3C}"/>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16</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efdd38adba1484e"/>
          <a:stretch xmlns:a="http://schemas.openxmlformats.org/drawingml/2006/main"/>
        </p:blipFill>
        <p:spPr>
          <a:xfrm xmlns:a="http://schemas.openxmlformats.org/drawingml/2006/main">
            <a:off x="390525" y="1836208"/>
            <a:ext cx="5524500" cy="3376083"/>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363bf5426094ca3"/>
          <a:stretch xmlns:a="http://schemas.openxmlformats.org/drawingml/2006/main"/>
        </p:blipFill>
        <p:spPr>
          <a:xfrm xmlns:a="http://schemas.openxmlformats.org/drawingml/2006/main">
            <a:off x="6267450" y="1836208"/>
            <a:ext cx="5524500" cy="3376083"/>
          </a:xfrm>
          <a:prstGeom xmlns:a="http://schemas.openxmlformats.org/drawingml/2006/main" prst="rect">
            <a:avLst/>
          </a:prstGeom>
        </p:spPr>
      </p:pic>
    </p:spTree>
    <p:extLst>
      <p:ext uri="{BB962C8B-B14F-4D97-AF65-F5344CB8AC3E}">
        <p14:creationId xmlns:p14="http://schemas.microsoft.com/office/powerpoint/2010/main" val="8634344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08C779A6-1FA5-44D8-8112-DFEC69176D7B}"/>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87"/>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Continuous ranks confirm that the grouped stories are weak and asset-dependent</a:t>
            </a:r>
          </a:p>
        </p:txBody>
      </p:sp>
      <p:sp>
        <p:nvSpPr>
          <p:cNvPr id="2" name="page-number">
            <a:extLst xmlns:a="http://schemas.openxmlformats.org/drawingml/2006/main">
              <a:ext uri="{FF2B5EF4-FFF2-40B4-BE49-F238E27FC236}">
                <a16:creationId xmlns:a16="http://schemas.microsoft.com/office/drawing/2014/main" id="{E53982F3-5252-4E4C-BAD9-4105D6EFA9B5}"/>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704489731a94cf9"/>
          <a:stretch xmlns:a="http://schemas.openxmlformats.org/drawingml/2006/main"/>
        </p:blipFill>
        <p:spPr>
          <a:xfrm xmlns:a="http://schemas.openxmlformats.org/drawingml/2006/main">
            <a:off x="2042463" y="1047750"/>
            <a:ext cx="8107074" cy="5095875"/>
          </a:xfrm>
          <a:prstGeom xmlns:a="http://schemas.openxmlformats.org/drawingml/2006/main" prst="rect">
            <a:avLst/>
          </a:prstGeom>
        </p:spPr>
      </p:pic>
    </p:spTree>
    <p:extLst>
      <p:ext uri="{BB962C8B-B14F-4D97-AF65-F5344CB8AC3E}">
        <p14:creationId xmlns:p14="http://schemas.microsoft.com/office/powerpoint/2010/main" val="74549995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3187BBF-66F4-4173-9EC4-E4FD17E982EF}"/>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Discovery ends with one credible replication question—not a pile of filters</a:t>
            </a:r>
          </a:p>
        </p:txBody>
      </p:sp>
      <p:sp>
        <p:nvSpPr>
          <p:cNvPr id="2" name="page-number">
            <a:extLst xmlns:a="http://schemas.openxmlformats.org/drawingml/2006/main">
              <a:ext uri="{FF2B5EF4-FFF2-40B4-BE49-F238E27FC236}">
                <a16:creationId xmlns:a16="http://schemas.microsoft.com/office/drawing/2014/main" id="{223DC103-EADC-4B05-908B-F2914599C8E9}"/>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18</a:t>
            </a:r>
          </a:p>
        </p:txBody>
      </p:sp>
      <p:sp>
        <p:nvSpPr>
          <p:cNvPr id="3" name="recommended">
            <a:extLst xmlns:a="http://schemas.openxmlformats.org/drawingml/2006/main">
              <a:ext uri="{FF2B5EF4-FFF2-40B4-BE49-F238E27FC236}">
                <a16:creationId xmlns:a16="http://schemas.microsoft.com/office/drawing/2014/main" id="{54217C42-4292-4A1C-A673-22AE0B757916}"/>
              </a:ext>
            </a:extLst>
          </p:cNvPr>
          <p:cNvSpPr>
            <a:spLocks xmlns:a="http://schemas.openxmlformats.org/drawingml/2006/main" noGrp="1"/>
          </p:cNvSpPr>
          <p:nvPr/>
        </p:nvSpPr>
        <p:spPr>
          <a:xfrm xmlns:a="http://schemas.openxmlformats.org/drawingml/2006/main">
            <a:off x="390525" y="1571625"/>
            <a:ext cx="5334000" cy="3333750"/>
          </a:xfrm>
          <a:prstGeom xmlns:a="http://schemas.openxmlformats.org/drawingml/2006/main" prst="roundRect">
            <a:avLst>
              <a:gd name="adj" fmla="val 3429"/>
            </a:avLst>
          </a:prstGeom>
          <a:solidFill xmlns:a="http://schemas.openxmlformats.org/drawingml/2006/main">
            <a:srgbClr val="EAF5FB"/>
          </a:solidFill>
          <a:ln xmlns:a="http://schemas.openxmlformats.org/drawingml/2006/main" w="9525">
            <a:solidFill>
              <a:srgbClr val="3D8DFF"/>
            </a:solidFill>
            <a:prstDash val="solid"/>
          </a:ln>
        </p:spPr>
      </p:sp>
      <p:sp>
        <p:nvSpPr>
          <p:cNvPr id="4" name="text">
            <a:extLst xmlns:a="http://schemas.openxmlformats.org/drawingml/2006/main">
              <a:ext uri="{FF2B5EF4-FFF2-40B4-BE49-F238E27FC236}">
                <a16:creationId xmlns:a16="http://schemas.microsoft.com/office/drawing/2014/main" id="{D4C82175-5043-4B8B-9F18-303E175B7131}"/>
              </a:ext>
            </a:extLst>
          </p:cNvPr>
          <p:cNvSpPr>
            <a:spLocks xmlns:a="http://schemas.openxmlformats.org/drawingml/2006/main" noGrp="1"/>
          </p:cNvSpPr>
          <p:nvPr/>
        </p:nvSpPr>
        <p:spPr>
          <a:xfrm xmlns:a="http://schemas.openxmlformats.org/drawingml/2006/main">
            <a:off x="714375" y="1905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RECOMMENDED NEXT QUESTION</a:t>
            </a:r>
          </a:p>
        </p:txBody>
      </p:sp>
      <p:sp>
        <p:nvSpPr>
          <p:cNvPr id="5" name="text">
            <a:extLst xmlns:a="http://schemas.openxmlformats.org/drawingml/2006/main">
              <a:ext uri="{FF2B5EF4-FFF2-40B4-BE49-F238E27FC236}">
                <a16:creationId xmlns:a16="http://schemas.microsoft.com/office/drawing/2014/main" id="{6FA1367D-2424-4694-834B-AE2D8A21480E}"/>
              </a:ext>
            </a:extLst>
          </p:cNvPr>
          <p:cNvSpPr>
            <a:spLocks xmlns:a="http://schemas.openxmlformats.org/drawingml/2006/main" noGrp="1"/>
          </p:cNvSpPr>
          <p:nvPr/>
        </p:nvSpPr>
        <p:spPr>
          <a:xfrm xmlns:a="http://schemas.openxmlformats.org/drawingml/2006/main">
            <a:off x="714375" y="247650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Does a frozen SPY-above-SMA200 market permission improve HYP-MOM-01.1 on distinct data?</a:t>
            </a:r>
          </a:p>
        </p:txBody>
      </p:sp>
      <p:sp>
        <p:nvSpPr>
          <p:cNvPr id="6" name="text">
            <a:extLst xmlns:a="http://schemas.openxmlformats.org/drawingml/2006/main">
              <a:ext uri="{FF2B5EF4-FFF2-40B4-BE49-F238E27FC236}">
                <a16:creationId xmlns:a16="http://schemas.microsoft.com/office/drawing/2014/main" id="{BF51CF31-7A72-4FA2-8E73-C6423EDACE08}"/>
              </a:ext>
            </a:extLst>
          </p:cNvPr>
          <p:cNvSpPr>
            <a:spLocks xmlns:a="http://schemas.openxmlformats.org/drawingml/2006/main" noGrp="1"/>
          </p:cNvSpPr>
          <p:nvPr/>
        </p:nvSpPr>
        <p:spPr>
          <a:xfrm xmlns:a="http://schemas.openxmlformats.org/drawingml/2006/main">
            <a:off x="714375" y="4095750"/>
            <a:ext cx="457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Helvetica Neue"/>
                <a:ea typeface="Helvetica Neue"/>
                <a:cs typeface="Helvetica Neue"/>
              </a:defRPr>
            </a:pPr>
            <a:r>
              <a:rPr sz="1425" b="0">
                <a:solidFill>
                  <a:srgbClr val="667085"/>
                </a:solidFill>
                <a:latin typeface="Helvetica Neue"/>
                <a:ea typeface="Helvetica Neue"/>
                <a:cs typeface="Helvetica Neue"/>
              </a:rPr>
              <a:t>Reason: clearest tail separation, largest coherent contrast, and 13/22 asset breadth.</a:t>
            </a:r>
          </a:p>
        </p:txBody>
      </p:sp>
      <p:sp>
        <p:nvSpPr>
          <p:cNvPr id="7" name="not-selected">
            <a:extLst xmlns:a="http://schemas.openxmlformats.org/drawingml/2006/main">
              <a:ext uri="{FF2B5EF4-FFF2-40B4-BE49-F238E27FC236}">
                <a16:creationId xmlns:a16="http://schemas.microsoft.com/office/drawing/2014/main" id="{8835B38F-FCF7-4412-BF74-A4C8696EB955}"/>
              </a:ext>
            </a:extLst>
          </p:cNvPr>
          <p:cNvSpPr>
            <a:spLocks xmlns:a="http://schemas.openxmlformats.org/drawingml/2006/main" noGrp="1"/>
          </p:cNvSpPr>
          <p:nvPr/>
        </p:nvSpPr>
        <p:spPr>
          <a:xfrm xmlns:a="http://schemas.openxmlformats.org/drawingml/2006/main">
            <a:off x="6096000" y="1571625"/>
            <a:ext cx="5705475" cy="3333750"/>
          </a:xfrm>
          <a:prstGeom xmlns:a="http://schemas.openxmlformats.org/drawingml/2006/main" prst="roundRect">
            <a:avLst>
              <a:gd name="adj" fmla="val 3429"/>
            </a:avLst>
          </a:prstGeom>
          <a:solidFill xmlns:a="http://schemas.openxmlformats.org/drawingml/2006/main">
            <a:srgbClr val="EDEDED"/>
          </a:solidFill>
          <a:ln xmlns:a="http://schemas.openxmlformats.org/drawingml/2006/main" w="0">
            <a:solidFill>
              <a:srgbClr val="EDEDED"/>
            </a:solidFill>
            <a:prstDash val="solid"/>
          </a:ln>
        </p:spPr>
      </p:sp>
      <p:sp>
        <p:nvSpPr>
          <p:cNvPr id="8" name="text">
            <a:extLst xmlns:a="http://schemas.openxmlformats.org/drawingml/2006/main">
              <a:ext uri="{FF2B5EF4-FFF2-40B4-BE49-F238E27FC236}">
                <a16:creationId xmlns:a16="http://schemas.microsoft.com/office/drawing/2014/main" id="{F697AA9C-677C-46CE-92CE-6CAD9901B8BC}"/>
              </a:ext>
            </a:extLst>
          </p:cNvPr>
          <p:cNvSpPr>
            <a:spLocks xmlns:a="http://schemas.openxmlformats.org/drawingml/2006/main" noGrp="1"/>
          </p:cNvSpPr>
          <p:nvPr/>
        </p:nvSpPr>
        <p:spPr>
          <a:xfrm xmlns:a="http://schemas.openxmlformats.org/drawingml/2006/main">
            <a:off x="6429375" y="190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NOT SELECTED</a:t>
            </a:r>
          </a:p>
        </p:txBody>
      </p:sp>
      <p:sp>
        <p:nvSpPr>
          <p:cNvPr id="9" name="text">
            <a:extLst xmlns:a="http://schemas.openxmlformats.org/drawingml/2006/main">
              <a:ext uri="{FF2B5EF4-FFF2-40B4-BE49-F238E27FC236}">
                <a16:creationId xmlns:a16="http://schemas.microsoft.com/office/drawing/2014/main" id="{25B46F3C-6DDF-4B87-A20F-A94793366B68}"/>
              </a:ext>
            </a:extLst>
          </p:cNvPr>
          <p:cNvSpPr>
            <a:spLocks xmlns:a="http://schemas.openxmlformats.org/drawingml/2006/main" noGrp="1"/>
          </p:cNvSpPr>
          <p:nvPr/>
        </p:nvSpPr>
        <p:spPr>
          <a:xfrm xmlns:a="http://schemas.openxmlformats.org/drawingml/2006/main">
            <a:off x="6429375" y="2428875"/>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 Asset SMA200 permission</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 20/60/120-day positive return</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 Best gap/body grid cell</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 Volume or 60-day-high stack</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 Reactive early stop</a:t>
            </a:r>
          </a:p>
        </p:txBody>
      </p:sp>
      <p:sp>
        <p:nvSpPr>
          <p:cNvPr id="10" name="text">
            <a:extLst xmlns:a="http://schemas.openxmlformats.org/drawingml/2006/main">
              <a:ext uri="{FF2B5EF4-FFF2-40B4-BE49-F238E27FC236}">
                <a16:creationId xmlns:a16="http://schemas.microsoft.com/office/drawing/2014/main" id="{C3BEEC79-B942-417B-AB7D-9B8B9B8E968E}"/>
              </a:ext>
            </a:extLst>
          </p:cNvPr>
          <p:cNvSpPr>
            <a:spLocks xmlns:a="http://schemas.openxmlformats.org/drawingml/2006/main" noGrp="1"/>
          </p:cNvSpPr>
          <p:nvPr/>
        </p:nvSpPr>
        <p:spPr>
          <a:xfrm xmlns:a="http://schemas.openxmlformats.org/drawingml/2006/main">
            <a:off x="666750" y="56197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667085"/>
                </a:solidFill>
                <a:latin typeface="Helvetica Neue"/>
                <a:ea typeface="Helvetica Neue"/>
                <a:cs typeface="Helvetica Neue"/>
              </a:defRPr>
            </a:pPr>
            <a:r>
              <a:rPr sz="1725" b="0">
                <a:solidFill>
                  <a:srgbClr val="667085"/>
                </a:solidFill>
                <a:latin typeface="Helvetica Neue"/>
                <a:ea typeface="Helvetica Neue"/>
                <a:cs typeface="Helvetica Neue"/>
              </a:rPr>
              <a:t>Current status: DIAGNOSTIC COMPLETE | NO STRATEGY PROMOTION | 2024+ SEALED</a:t>
            </a:r>
          </a:p>
        </p:txBody>
      </p:sp>
    </p:spTree>
    <p:extLst>
      <p:ext uri="{BB962C8B-B14F-4D97-AF65-F5344CB8AC3E}">
        <p14:creationId xmlns:p14="http://schemas.microsoft.com/office/powerpoint/2010/main" val="1531470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2026-08-03T14:16:37.4190000Z</dcterms:created>
  <dcterms:modified xsi:type="dcterms:W3CDTF">2026-08-03T14:16:37.4200000Z</dcterms:modified>
</coreProperties>
</file>