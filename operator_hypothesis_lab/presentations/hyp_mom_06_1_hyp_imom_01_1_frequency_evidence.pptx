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fa24d3873c48ef" /><Relationship Type="http://schemas.openxmlformats.org/officeDocument/2006/relationships/extended-properties" Target="/docProps/app.xml" Id="Rbcdf84f264d04511" /><Relationship Type="http://schemas.openxmlformats.org/officeDocument/2006/relationships/officeDocument" Target="/ppt/presentation.xml" Id="Rd3591a6f6d8e4b9d" /></Relationships>
</file>

<file path=ppt/presentation.xml><?xml version="1.0" encoding="utf-8"?>
<p:presentation xmlns:p="http://schemas.openxmlformats.org/presentationml/2006/main">
  <p:sldMasterIdLst>
    <p:sldMasterId xmlns:r="http://schemas.openxmlformats.org/officeDocument/2006/relationships" id="2147483648" r:id="R13775b65592142e8"/>
  </p:sldMasterIdLst>
  <p:notesMasterIdLst>
    <p:notesMasterId xmlns:r="http://schemas.openxmlformats.org/officeDocument/2006/relationships" r:id="R1870cc80665046e0"/>
  </p:notesMasterIdLst>
  <p:sldIdLst>
    <p:sldId xmlns:r="http://schemas.openxmlformats.org/officeDocument/2006/relationships" id="256" r:id="Rd1edc355ed7b4c1f"/>
    <p:sldId xmlns:r="http://schemas.openxmlformats.org/officeDocument/2006/relationships" id="257" r:id="R3335f9aef35c48da"/>
    <p:sldId xmlns:r="http://schemas.openxmlformats.org/officeDocument/2006/relationships" id="258" r:id="R9750d6672b834c48"/>
    <p:sldId xmlns:r="http://schemas.openxmlformats.org/officeDocument/2006/relationships" id="259" r:id="R4183a1744ff24f2e"/>
    <p:sldId xmlns:r="http://schemas.openxmlformats.org/officeDocument/2006/relationships" id="260" r:id="R9c4a13fdaefa4931"/>
    <p:sldId xmlns:r="http://schemas.openxmlformats.org/officeDocument/2006/relationships" id="261" r:id="R148baa7a1e174e8f"/>
    <p:sldId xmlns:r="http://schemas.openxmlformats.org/officeDocument/2006/relationships" id="262" r:id="R6162c6f276604f54"/>
    <p:sldId xmlns:r="http://schemas.openxmlformats.org/officeDocument/2006/relationships" id="263" r:id="Red6c9c5dec014d8f"/>
    <p:sldId xmlns:r="http://schemas.openxmlformats.org/officeDocument/2006/relationships" id="264" r:id="Rfb3adb87cf9b4031"/>
    <p:sldId xmlns:r="http://schemas.openxmlformats.org/officeDocument/2006/relationships" id="265" r:id="Ra4eb09a818474f20"/>
    <p:sldId xmlns:r="http://schemas.openxmlformats.org/officeDocument/2006/relationships" id="266" r:id="Rb53c9b9a85b54d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10f379fedb4096" /><Relationship Type="http://schemas.openxmlformats.org/officeDocument/2006/relationships/slideMaster" Target="/ppt/slideMasters/slideMaster1.xml" Id="R13775b65592142e8" /><Relationship Type="http://schemas.openxmlformats.org/officeDocument/2006/relationships/notesMaster" Target="/ppt/notesMasters/notesMaster1.xml" Id="R1870cc80665046e0" /><Relationship Type="http://schemas.openxmlformats.org/officeDocument/2006/relationships/presProps" Target="/ppt/presProps.xml" Id="R0b69be51ee4c4676" /><Relationship Type="http://schemas.openxmlformats.org/officeDocument/2006/relationships/tableStyles" Target="/ppt/tableStyles.xml" Id="Rf9e8c9db28b34d73" /><Relationship Type="http://schemas.openxmlformats.org/officeDocument/2006/relationships/slide" Target="/ppt/slides/slide1.xml" Id="Rd1edc355ed7b4c1f" /><Relationship Type="http://schemas.openxmlformats.org/officeDocument/2006/relationships/slide" Target="/ppt/slides/slide2.xml" Id="R3335f9aef35c48da" /><Relationship Type="http://schemas.openxmlformats.org/officeDocument/2006/relationships/slide" Target="/ppt/slides/slide3.xml" Id="R9750d6672b834c48" /><Relationship Type="http://schemas.openxmlformats.org/officeDocument/2006/relationships/slide" Target="/ppt/slides/slide4.xml" Id="R4183a1744ff24f2e" /><Relationship Type="http://schemas.openxmlformats.org/officeDocument/2006/relationships/slide" Target="/ppt/slides/slide5.xml" Id="R9c4a13fdaefa4931" /><Relationship Type="http://schemas.openxmlformats.org/officeDocument/2006/relationships/slide" Target="/ppt/slides/slide6.xml" Id="R148baa7a1e174e8f" /><Relationship Type="http://schemas.openxmlformats.org/officeDocument/2006/relationships/slide" Target="/ppt/slides/slide7.xml" Id="R6162c6f276604f54" /><Relationship Type="http://schemas.openxmlformats.org/officeDocument/2006/relationships/slide" Target="/ppt/slides/slide8.xml" Id="Red6c9c5dec014d8f" /><Relationship Type="http://schemas.openxmlformats.org/officeDocument/2006/relationships/slide" Target="/ppt/slides/slide9.xml" Id="Rfb3adb87cf9b4031" /><Relationship Type="http://schemas.openxmlformats.org/officeDocument/2006/relationships/slide" Target="/ppt/slides/slide10.xml" Id="Ra4eb09a818474f20" /><Relationship Type="http://schemas.openxmlformats.org/officeDocument/2006/relationships/slide" Target="/ppt/slides/slide11.xml" Id="Rb53c9b9a85b54d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cea51e17574f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196b39fe524fa3" /><Relationship Type="http://schemas.openxmlformats.org/officeDocument/2006/relationships/notesMaster" Target="/ppt/notesMasters/notesMaster1.xml" Id="R64e5f50efc1e4c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48f70fd2784fef" /><Relationship Type="http://schemas.openxmlformats.org/officeDocument/2006/relationships/notesMaster" Target="/ppt/notesMasters/notesMaster1.xml" Id="R8768f8df209542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80edd3440e4e22" /><Relationship Type="http://schemas.openxmlformats.org/officeDocument/2006/relationships/notesMaster" Target="/ppt/notesMasters/notesMaster1.xml" Id="Re611b5aa045846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d35741a5ed4a9c" /><Relationship Type="http://schemas.openxmlformats.org/officeDocument/2006/relationships/notesMaster" Target="/ppt/notesMasters/notesMaster1.xml" Id="R68487131c22640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6af5d1627842d8" /><Relationship Type="http://schemas.openxmlformats.org/officeDocument/2006/relationships/notesMaster" Target="/ppt/notesMasters/notesMaster1.xml" Id="R991941bfe9d049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c2dd62e2194102" /><Relationship Type="http://schemas.openxmlformats.org/officeDocument/2006/relationships/notesMaster" Target="/ppt/notesMasters/notesMaster1.xml" Id="Rabdb107584be48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a0f6036ac94956" /><Relationship Type="http://schemas.openxmlformats.org/officeDocument/2006/relationships/notesMaster" Target="/ppt/notesMasters/notesMaster1.xml" Id="R8ed4ecac378243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78c450bf9b4b29" /><Relationship Type="http://schemas.openxmlformats.org/officeDocument/2006/relationships/notesMaster" Target="/ppt/notesMasters/notesMaster1.xml" Id="R378a9bca34f248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f06c8ad65c4094" /><Relationship Type="http://schemas.openxmlformats.org/officeDocument/2006/relationships/notesMaster" Target="/ppt/notesMasters/notesMaster1.xml" Id="Re3c4bb3f328747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c91b8492fe421b" /><Relationship Type="http://schemas.openxmlformats.org/officeDocument/2006/relationships/notesMaster" Target="/ppt/notesMasters/notesMaster1.xml" Id="Re81343f9683b49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8b539d876c49d0" /><Relationship Type="http://schemas.openxmlformats.org/officeDocument/2006/relationships/notesMaster" Target="/ppt/notesMasters/notesMaster1.xml" Id="R5533fc8aa5ef44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docs/GEN5_INTRADAY_MOMENTUM_POC_SERIES_CONTRACT.md</a:t>
            </a:r>
          </a:p>
          <a:p xmlns:a="http://schemas.openxmlformats.org/drawingml/2006/main">
            <a:r>
              <a:t>- operator_hypothesis_lab/docs/GEN5_INTRADAY_MOMENTUM_POC_SERIES_RESULTS.md</a:t>
            </a:r>
          </a:p>
          <a:p xmlns:a="http://schemas.openxmlformats.org/drawingml/2006/main">
            <a:r>
              <a:t>- runs/research_workbench/operator_hypothesis_lab/intraday_momentum_poc_series_20260813/visuals/fixed_frequency_contrast.png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docs/GEN5_INTRADAY_MOMENTUM_POC_SERIES_CONTRACT.md</a:t>
            </a:r>
          </a:p>
          <a:p xmlns:a="http://schemas.openxmlformats.org/drawingml/2006/main">
            <a:r>
              <a:t>- operator_hypothesis_lab/registries/gen5_intraday_momentum_poc_registry.csv</a:t>
            </a:r>
          </a:p>
          <a:p xmlns:a="http://schemas.openxmlformats.org/drawingml/2006/main">
            <a:r>
              <a:t>- runs/research_workbench/operator_hypothesis_lab/intraday_momentum_poc_series_20260813/visuals/data_admission.png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docs/GEN5_INTRADAY_MOMENTUM_POC_SERIES_CONTRACT.md</a:t>
            </a:r>
          </a:p>
          <a:p xmlns:a="http://schemas.openxmlformats.org/drawingml/2006/main">
            <a:r>
              <a:t>- operator_hypothesis_lab/R/hyp_intraday_momentum_engine.R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docs/GEN5_INTRADAY_MOMENTUM_POC_SERIES_CONTRACT.md</a:t>
            </a:r>
          </a:p>
          <a:p xmlns:a="http://schemas.openxmlformats.org/drawingml/2006/main">
            <a:r>
              <a:t>- runs/research_workbench/operator_hypothesis_lab/intraday_momentum_poc_series_20260813/visuals/data_admission.png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operator_hypothesis_lab/docs/GEN5_INTRADAY_MOMENTUM_POC_SERIES_RESULTS.md</a:t>
            </a:r>
          </a:p>
          <a:p xmlns:a="http://schemas.openxmlformats.org/drawingml/2006/main">
            <a:r>
              <a:t>- runs/research_workbench/operator_hypothesis_lab/intraday_momentum_poc_series_20260813/series_topline.csv</a:t>
            </a:r>
          </a:p>
          <a:p xmlns:a="http://schemas.openxmlformats.org/drawingml/2006/main">
            <a:r>
              <a:t>- runs/research_workbench/operator_hypothesis_lab/intraday_momentum_poc_series_20260813/visuals/series_topline.png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operator_hypothesis_lab/docs/GEN5_INTRADAY_MOMENTUM_POC_SERIES_RESULTS.md</a:t>
            </a:r>
          </a:p>
          <a:p xmlns:a="http://schemas.openxmlformats.org/drawingml/2006/main">
            <a:r>
              <a:t>- runs/research_workbench/operator_hypothesis_lab/intraday_momentum_poc_series_20260813/series_topline.csv</a:t>
            </a:r>
          </a:p>
          <a:p xmlns:a="http://schemas.openxmlformats.org/drawingml/2006/main">
            <a:r>
              <a:t>- runs/research_workbench/operator_hypothesis_lab/intraday_momentum_poc_series_20260813/timing_control_comparison.csv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operator_hypothesis_lab/docs/GEN5_INTRADAY_MOMENTUM_POC_SERIES_RESULTS.md</a:t>
            </a:r>
          </a:p>
          <a:p xmlns:a="http://schemas.openxmlformats.org/drawingml/2006/main">
            <a:r>
              <a:t>- runs/research_workbench/operator_hypothesis_lab/intraday_momentum_poc_series_20260813/series_topline.csv</a:t>
            </a:r>
          </a:p>
          <a:p xmlns:a="http://schemas.openxmlformats.org/drawingml/2006/main">
            <a:r>
              <a:t>- runs/research_workbench/operator_hypothesis_lab/intraday_momentum_poc_series_20260813/timing_control_comparison.csv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operator_hypothesis_lab/docs/GEN5_INTRADAY_MOMENTUM_POC_SERIES_RESULTS.md</a:t>
            </a:r>
          </a:p>
          <a:p xmlns:a="http://schemas.openxmlformats.org/drawingml/2006/main">
            <a:r>
              <a:t>- runs/research_workbench/operator_hypothesis_lab/intraday_momentum_poc_series_20260813/series_sensitivity.csv</a:t>
            </a:r>
          </a:p>
          <a:p xmlns:a="http://schemas.openxmlformats.org/drawingml/2006/main">
            <a:r>
              <a:t>- runs/research_workbench/operator_hypothesis_lab/intraday_momentum_poc_series_20260813/intraday_return_components_by_block.csv</a:t>
            </a:r>
          </a:p>
          <a:p xmlns:a="http://schemas.openxmlformats.org/drawingml/2006/main">
            <a:r>
              <a:t>- runs/research_workbench/operator_hypothesis_lab/intraday_momentum_poc_series_20260813/visuals/sensitivity_summary.png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operator_hypothesis_lab/docs/GEN5_INTRADAY_MOMENTUM_POC_SERIES_RESULTS.md</a:t>
            </a:r>
          </a:p>
          <a:p xmlns:a="http://schemas.openxmlformats.org/drawingml/2006/main">
            <a:r>
              <a:t>- runs/research_workbench/operator_hypothesis_lab/intraday_momentum_poc_series_20260813/fixed_representative_trade_tapes.csv</a:t>
            </a:r>
          </a:p>
          <a:p xmlns:a="http://schemas.openxmlformats.org/drawingml/2006/main">
            <a:r>
              <a:t>- runs/research_workbench/operator_hypothesis_lab/intraday_momentum_poc_series_20260813/visuals/fixed_m30_trade_tapes.png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operator_hypothesis_lab/docs/GEN5_INTRADAY_MOMENTUM_POC_SERIES_RESULTS.md</a:t>
            </a:r>
          </a:p>
          <a:p xmlns:a="http://schemas.openxmlformats.org/drawingml/2006/main">
            <a:r>
              <a:t>- runs/research_workbench/operator_hypothesis_lab/intraday_momentum_poc_series_20260813/timing_control_simulations.csv</a:t>
            </a:r>
          </a:p>
          <a:p xmlns:a="http://schemas.openxmlformats.org/drawingml/2006/main">
            <a:r>
              <a:t>- runs/research_workbench/operator_hypothesis_lab/intraday_momentum_poc_series_20260813/timing_control_comparison.csv</a:t>
            </a:r>
          </a:p>
          <a:p xmlns:a="http://schemas.openxmlformats.org/drawingml/2006/main">
            <a:r>
              <a:t>- runs/research_workbench/operator_hypothesis_lab/intraday_momentum_poc_series_20260813/visuals/timing_nulls.png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operator_hypothesis_lab/docs/GEN5_INTRADAY_MOMENTUM_POC_SERIES_RESULTS.md</a:t>
            </a:r>
          </a:p>
          <a:p xmlns:a="http://schemas.openxmlformats.org/drawingml/2006/main">
            <a:r>
              <a:t>- docs/GEN5_INTRADAY_MOMENTUM_POC_SERIES_CONTRACT.md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0f1bce26c245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91630bbcbf4294" /><Relationship Type="http://schemas.openxmlformats.org/officeDocument/2006/relationships/slideLayout" Target="/ppt/slideLayouts/slideLayout1.xml" Id="R1a6542d027604f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6542d027604f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5e0e4a5b314c6a" /><Relationship Type="http://schemas.openxmlformats.org/officeDocument/2006/relationships/image" Target="/ppt/media/image.png" Id="R41f9004a1d9b4ede" /><Relationship Type="http://schemas.openxmlformats.org/officeDocument/2006/relationships/notesSlide" Target="/ppt/notesSlides/notesSlide1.xml" Id="Rc5cd7ac303ba47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f6de57f30040eb" /><Relationship Type="http://schemas.openxmlformats.org/officeDocument/2006/relationships/image" Target="/ppt/media/image2.png" Id="R7a0058be1df24f7c" /><Relationship Type="http://schemas.openxmlformats.org/officeDocument/2006/relationships/notesSlide" Target="/ppt/notesSlides/notesSlide2.xml" Id="R68b4e86c088c48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6df5e0a11949b5" /><Relationship Type="http://schemas.openxmlformats.org/officeDocument/2006/relationships/notesSlide" Target="/ppt/notesSlides/notesSlide3.xml" Id="R5fff5d97092743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46c5cac7914aa8" /><Relationship Type="http://schemas.openxmlformats.org/officeDocument/2006/relationships/image" Target="/ppt/media/image3.png" Id="R9a62f73549c24d3b" /><Relationship Type="http://schemas.openxmlformats.org/officeDocument/2006/relationships/notesSlide" Target="/ppt/notesSlides/notesSlide4.xml" Id="Rc4b4354d3ed146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7679f73df24107" /><Relationship Type="http://schemas.openxmlformats.org/officeDocument/2006/relationships/image" Target="/ppt/media/image4.png" Id="R403d127d05cf4b0a" /><Relationship Type="http://schemas.openxmlformats.org/officeDocument/2006/relationships/notesSlide" Target="/ppt/notesSlides/notesSlide5.xml" Id="R209b879f43084d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d6f0c1ca8c4033" /><Relationship Type="http://schemas.openxmlformats.org/officeDocument/2006/relationships/notesSlide" Target="/ppt/notesSlides/notesSlide6.xml" Id="R314ff49a19bb4e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23363ff1124fbf" /><Relationship Type="http://schemas.openxmlformats.org/officeDocument/2006/relationships/notesSlide" Target="/ppt/notesSlides/notesSlide7.xml" Id="R24531c5024fc4d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fb0af10d444339" /><Relationship Type="http://schemas.openxmlformats.org/officeDocument/2006/relationships/image" Target="/ppt/media/image5.png" Id="R492a0177e36648eb" /><Relationship Type="http://schemas.openxmlformats.org/officeDocument/2006/relationships/notesSlide" Target="/ppt/notesSlides/notesSlide8.xml" Id="R30a90a91b57349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2de02792b54266" /><Relationship Type="http://schemas.openxmlformats.org/officeDocument/2006/relationships/image" Target="/ppt/media/image6.png" Id="Ra0de5a821b1c4167" /><Relationship Type="http://schemas.openxmlformats.org/officeDocument/2006/relationships/notesSlide" Target="/ppt/notesSlides/notesSlide9.xml" Id="Rd0e1edc931ac41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250163f31dd455c" /><Relationship Type="http://schemas.openxmlformats.org/officeDocument/2006/relationships/image" Target="/ppt/media/image7.png" Id="R0756480045c54c0b" /><Relationship Type="http://schemas.openxmlformats.org/officeDocument/2006/relationships/notesSlide" Target="/ppt/notesSlides/notesSlide10.xml" Id="Rdad9995e750c43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84b044814648ad" /><Relationship Type="http://schemas.openxmlformats.org/officeDocument/2006/relationships/notesSlide" Target="/ppt/notesSlides/notesSlide11.xml" Id="R084b7e59a9ff435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ro-backing">
            <a:extLst xmlns:a="http://schemas.openxmlformats.org/drawingml/2006/main">
              <a:ext uri="{FF2B5EF4-FFF2-40B4-BE49-F238E27FC236}">
                <a16:creationId xmlns:a16="http://schemas.microsoft.com/office/drawing/2014/main" id="{8B7F7C96-AF3C-4E08-A3BE-C57326F1603B}"/>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1f9004a1d9b4ede"/>
          <a:stretch xmlns:a="http://schemas.openxmlformats.org/drawingml/2006/main"/>
        </p:blipFill>
        <p:spPr>
          <a:xfrm xmlns:a="http://schemas.openxmlformats.org/drawingml/2006/main">
            <a:off x="6267450" y="1660525"/>
            <a:ext cx="5543550" cy="3079750"/>
          </a:xfrm>
          <a:prstGeom xmlns:a="http://schemas.openxmlformats.org/drawingml/2006/main" prst="rect">
            <a:avLst/>
          </a:prstGeom>
        </p:spPr>
      </p:pic>
      <p:sp>
        <p:nvSpPr>
          <p:cNvPr id="3" name="cover-eyebrow">
            <a:extLst xmlns:a="http://schemas.openxmlformats.org/drawingml/2006/main">
              <a:ext uri="{FF2B5EF4-FFF2-40B4-BE49-F238E27FC236}">
                <a16:creationId xmlns:a16="http://schemas.microsoft.com/office/drawing/2014/main" id="{BFFC2148-8BC8-4526-93CF-09F7016C9951}"/>
              </a:ext>
            </a:extLst>
          </p:cNvPr>
          <p:cNvSpPr>
            <a:spLocks xmlns:a="http://schemas.openxmlformats.org/drawingml/2006/main" noGrp="1"/>
          </p:cNvSpPr>
          <p:nvPr/>
        </p:nvSpPr>
        <p:spPr>
          <a:xfrm xmlns:a="http://schemas.openxmlformats.org/drawingml/2006/main">
            <a:off x="457200" y="4000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GEN5 OPERATOR HYPOTHESIS LAB</a:t>
            </a:r>
          </a:p>
        </p:txBody>
      </p:sp>
      <p:sp>
        <p:nvSpPr>
          <p:cNvPr id="4" name="cover-title">
            <a:extLst xmlns:a="http://schemas.openxmlformats.org/drawingml/2006/main">
              <a:ext uri="{FF2B5EF4-FFF2-40B4-BE49-F238E27FC236}">
                <a16:creationId xmlns:a16="http://schemas.microsoft.com/office/drawing/2014/main" id="{52279604-D09C-4FC3-B9F6-E86F751C48DD}"/>
              </a:ext>
            </a:extLst>
          </p:cNvPr>
          <p:cNvSpPr>
            <a:spLocks xmlns:a="http://schemas.openxmlformats.org/drawingml/2006/main" noGrp="1"/>
          </p:cNvSpPr>
          <p:nvPr/>
        </p:nvSpPr>
        <p:spPr>
          <a:xfrm xmlns:a="http://schemas.openxmlformats.org/drawingml/2006/main">
            <a:off x="457200" y="1009650"/>
            <a:ext cx="5286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111827"/>
                </a:solidFill>
              </a:defRPr>
            </a:pPr>
            <a:r>
              <a:rPr sz="3900" b="1">
                <a:solidFill>
                  <a:srgbClr val="111827"/>
                </a:solidFill>
              </a:rPr>
              <a:t>One SMA rule, two clocks</a:t>
            </a:r>
          </a:p>
        </p:txBody>
      </p:sp>
      <p:sp>
        <p:nvSpPr>
          <p:cNvPr id="5" name="cover-subtitle">
            <a:extLst xmlns:a="http://schemas.openxmlformats.org/drawingml/2006/main">
              <a:ext uri="{FF2B5EF4-FFF2-40B4-BE49-F238E27FC236}">
                <a16:creationId xmlns:a16="http://schemas.microsoft.com/office/drawing/2014/main" id="{DF992EC5-706C-4936-A90F-CEADD3333F0D}"/>
              </a:ext>
            </a:extLst>
          </p:cNvPr>
          <p:cNvSpPr>
            <a:spLocks xmlns:a="http://schemas.openxmlformats.org/drawingml/2006/main" noGrp="1"/>
          </p:cNvSpPr>
          <p:nvPr/>
        </p:nvSpPr>
        <p:spPr>
          <a:xfrm xmlns:a="http://schemas.openxmlformats.org/drawingml/2006/main">
            <a:off x="457200" y="314325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A6470"/>
                </a:solidFill>
              </a:defRPr>
            </a:pPr>
            <a:r>
              <a:rPr sz="1800" b="0">
                <a:solidFill>
                  <a:srgbClr val="5A6470"/>
                </a:solidFill>
              </a:rPr>
              <a:t>Daily and 30-minute SMA8/SMA14 evidence at 1x and 1.8x</a:t>
            </a:r>
          </a:p>
        </p:txBody>
      </p:sp>
      <p:sp>
        <p:nvSpPr>
          <p:cNvPr id="6" name="cover-status">
            <a:extLst xmlns:a="http://schemas.openxmlformats.org/drawingml/2006/main">
              <a:ext uri="{FF2B5EF4-FFF2-40B4-BE49-F238E27FC236}">
                <a16:creationId xmlns:a16="http://schemas.microsoft.com/office/drawing/2014/main" id="{2FAF0AFB-4BCA-46EE-8C0B-E0240D98E885}"/>
              </a:ext>
            </a:extLst>
          </p:cNvPr>
          <p:cNvSpPr>
            <a:spLocks xmlns:a="http://schemas.openxmlformats.org/drawingml/2006/main" noGrp="1"/>
          </p:cNvSpPr>
          <p:nvPr/>
        </p:nvSpPr>
        <p:spPr>
          <a:xfrm xmlns:a="http://schemas.openxmlformats.org/drawingml/2006/main">
            <a:off x="457200" y="54292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E46A47"/>
                </a:solidFill>
              </a:defRPr>
            </a:pPr>
            <a:r>
              <a:rPr sz="1350" b="1">
                <a:solidFill>
                  <a:srgbClr val="E46A47"/>
                </a:solidFill>
              </a:rPr>
              <a:t>DEVELOPMENT COMPLETE • NO REGIME FILTER</a:t>
            </a:r>
          </a:p>
        </p:txBody>
      </p:sp>
    </p:spTree>
    <p:extLst>
      <p:ext uri="{BB962C8B-B14F-4D97-AF65-F5344CB8AC3E}">
        <p14:creationId xmlns:p14="http://schemas.microsoft.com/office/powerpoint/2010/main" val="11919515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2">
            <a:extLst xmlns:a="http://schemas.openxmlformats.org/drawingml/2006/main">
              <a:ext uri="{FF2B5EF4-FFF2-40B4-BE49-F238E27FC236}">
                <a16:creationId xmlns:a16="http://schemas.microsoft.com/office/drawing/2014/main" id="{58BBD1A9-21D5-451E-868B-AF89AAE9A988}"/>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The comparison changes only the clock</a:t>
            </a:r>
          </a:p>
        </p:txBody>
      </p:sp>
      <p:sp>
        <p:nvSpPr>
          <p:cNvPr id="2" name="section-2">
            <a:extLst xmlns:a="http://schemas.openxmlformats.org/drawingml/2006/main">
              <a:ext uri="{FF2B5EF4-FFF2-40B4-BE49-F238E27FC236}">
                <a16:creationId xmlns:a16="http://schemas.microsoft.com/office/drawing/2014/main" id="{4D09FC2D-A9FB-4540-B3EB-C3ADF6FDEA50}"/>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CONTRACT</a:t>
            </a:r>
          </a:p>
        </p:txBody>
      </p:sp>
      <p:sp>
        <p:nvSpPr>
          <p:cNvPr id="3" name="page-2">
            <a:extLst xmlns:a="http://schemas.openxmlformats.org/drawingml/2006/main">
              <a:ext uri="{FF2B5EF4-FFF2-40B4-BE49-F238E27FC236}">
                <a16:creationId xmlns:a16="http://schemas.microsoft.com/office/drawing/2014/main" id="{2BEC827F-7550-4EBD-84B3-81AAF635DFDF}"/>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2</a:t>
            </a:r>
          </a:p>
        </p:txBody>
      </p:sp>
      <p:sp>
        <p:nvSpPr>
          <p:cNvPr id="4" name="left-head-2">
            <a:extLst xmlns:a="http://schemas.openxmlformats.org/drawingml/2006/main">
              <a:ext uri="{FF2B5EF4-FFF2-40B4-BE49-F238E27FC236}">
                <a16:creationId xmlns:a16="http://schemas.microsoft.com/office/drawing/2014/main" id="{51C21248-E311-4C89-9AD2-6B540E7458FA}"/>
              </a:ext>
            </a:extLst>
          </p:cNvPr>
          <p:cNvSpPr>
            <a:spLocks xmlns:a="http://schemas.openxmlformats.org/drawingml/2006/main" noGrp="1"/>
          </p:cNvSpPr>
          <p:nvPr/>
        </p:nvSpPr>
        <p:spPr>
          <a:xfrm xmlns:a="http://schemas.openxmlformats.org/drawingml/2006/main">
            <a:off x="457200" y="16192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827"/>
                </a:solidFill>
              </a:defRPr>
            </a:pPr>
            <a:r>
              <a:rPr sz="2025" b="1">
                <a:solidFill>
                  <a:srgbClr val="111827"/>
                </a:solidFill>
              </a:rPr>
              <a:t>A fresh cross—not inherited state—opens risk</a:t>
            </a:r>
          </a:p>
        </p:txBody>
      </p:sp>
      <p:sp>
        <p:nvSpPr>
          <p:cNvPr id="5" name="left-body-2">
            <a:extLst xmlns:a="http://schemas.openxmlformats.org/drawingml/2006/main">
              <a:ext uri="{FF2B5EF4-FFF2-40B4-BE49-F238E27FC236}">
                <a16:creationId xmlns:a16="http://schemas.microsoft.com/office/drawing/2014/main" id="{395C5E28-75CA-48B8-8B3B-E67E9A42A521}"/>
              </a:ext>
            </a:extLst>
          </p:cNvPr>
          <p:cNvSpPr>
            <a:spLocks xmlns:a="http://schemas.openxmlformats.org/drawingml/2006/main" noGrp="1"/>
          </p:cNvSpPr>
          <p:nvPr/>
        </p:nvSpPr>
        <p:spPr>
          <a:xfrm xmlns:a="http://schemas.openxmlformats.org/drawingml/2006/main">
            <a:off x="457200" y="2381250"/>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A6470"/>
                </a:solidFill>
              </a:defRPr>
            </a:pPr>
            <a:r>
              <a:rPr sz="1575" b="0">
                <a:solidFill>
                  <a:srgbClr val="5A6470"/>
                </a:solidFill>
              </a:rPr>
              <a:t>On either clock, a completed-bar SMA8 cross above SMA14 enters long at the next open. A completed-bar cross below exits at the next open. Every block starts in cash, even when price is already above the averages. The 1.8x path uses fixed shares until exit and pays financing on debt.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a0058be1df24f7c"/>
          <a:stretch xmlns:a="http://schemas.openxmlformats.org/drawingml/2006/main"/>
        </p:blipFill>
        <p:spPr>
          <a:xfrm xmlns:a="http://schemas.openxmlformats.org/drawingml/2006/main">
            <a:off x="5953125" y="1796521"/>
            <a:ext cx="5705475" cy="3169708"/>
          </a:xfrm>
          <a:prstGeom xmlns:a="http://schemas.openxmlformats.org/drawingml/2006/main" prst="rect">
            <a:avLst/>
          </a:prstGeom>
        </p:spPr>
      </p:pic>
      <p:sp>
        <p:nvSpPr>
          <p:cNvPr id="7" name="callout-2">
            <a:extLst xmlns:a="http://schemas.openxmlformats.org/drawingml/2006/main">
              <a:ext uri="{FF2B5EF4-FFF2-40B4-BE49-F238E27FC236}">
                <a16:creationId xmlns:a16="http://schemas.microsoft.com/office/drawing/2014/main" id="{EF55384A-E4AF-4699-9A2E-851968E51C6B}"/>
              </a:ext>
            </a:extLst>
          </p:cNvPr>
          <p:cNvSpPr>
            <a:spLocks xmlns:a="http://schemas.openxmlformats.org/drawingml/2006/main" noGrp="1"/>
          </p:cNvSpPr>
          <p:nvPr/>
        </p:nvSpPr>
        <p:spPr>
          <a:xfrm xmlns:a="http://schemas.openxmlformats.org/drawingml/2006/main">
            <a:off x="5953125" y="5476875"/>
            <a:ext cx="57054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E46A47"/>
                </a:solidFill>
              </a:defRPr>
            </a:pPr>
            <a:r>
              <a:rPr sz="1425" b="1">
                <a:solidFill>
                  <a:srgbClr val="E46A47"/>
                </a:solidFill>
              </a:rPr>
              <a:t>26 / 26 assets passed after ten common archive-gap sessions were excluded without imputation.</a:t>
            </a:r>
          </a:p>
        </p:txBody>
      </p:sp>
    </p:spTree>
    <p:extLst>
      <p:ext uri="{BB962C8B-B14F-4D97-AF65-F5344CB8AC3E}">
        <p14:creationId xmlns:p14="http://schemas.microsoft.com/office/powerpoint/2010/main" val="1216833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3">
            <a:extLst xmlns:a="http://schemas.openxmlformats.org/drawingml/2006/main">
              <a:ext uri="{FF2B5EF4-FFF2-40B4-BE49-F238E27FC236}">
                <a16:creationId xmlns:a16="http://schemas.microsoft.com/office/drawing/2014/main" id="{0F173D98-95AC-4552-85E3-8AFC0A59AF07}"/>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The formula is identical; the economic horizon is not</a:t>
            </a:r>
          </a:p>
        </p:txBody>
      </p:sp>
      <p:sp>
        <p:nvSpPr>
          <p:cNvPr id="2" name="section-3">
            <a:extLst xmlns:a="http://schemas.openxmlformats.org/drawingml/2006/main">
              <a:ext uri="{FF2B5EF4-FFF2-40B4-BE49-F238E27FC236}">
                <a16:creationId xmlns:a16="http://schemas.microsoft.com/office/drawing/2014/main" id="{6E742817-A9D9-44B2-89A1-F9D01CD7080D}"/>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MECHANICS</a:t>
            </a:r>
          </a:p>
        </p:txBody>
      </p:sp>
      <p:sp>
        <p:nvSpPr>
          <p:cNvPr id="3" name="page-3">
            <a:extLst xmlns:a="http://schemas.openxmlformats.org/drawingml/2006/main">
              <a:ext uri="{FF2B5EF4-FFF2-40B4-BE49-F238E27FC236}">
                <a16:creationId xmlns:a16="http://schemas.microsoft.com/office/drawing/2014/main" id="{1656CD96-DC3A-471F-80B7-032C03932F9E}"/>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3</a:t>
            </a:r>
          </a:p>
        </p:txBody>
      </p:sp>
      <p:sp>
        <p:nvSpPr>
          <p:cNvPr id="4" name="lead-3">
            <a:extLst xmlns:a="http://schemas.openxmlformats.org/drawingml/2006/main">
              <a:ext uri="{FF2B5EF4-FFF2-40B4-BE49-F238E27FC236}">
                <a16:creationId xmlns:a16="http://schemas.microsoft.com/office/drawing/2014/main" id="{E9F6BBD2-210B-41A8-BAA8-269DC3356BD7}"/>
              </a:ext>
            </a:extLst>
          </p:cNvPr>
          <p:cNvSpPr>
            <a:spLocks xmlns:a="http://schemas.openxmlformats.org/drawingml/2006/main" noGrp="1"/>
          </p:cNvSpPr>
          <p:nvPr/>
        </p:nvSpPr>
        <p:spPr>
          <a:xfrm xmlns:a="http://schemas.openxmlformats.org/drawingml/2006/main">
            <a:off x="457200" y="1571625"/>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A6470"/>
                </a:solidFill>
              </a:defRPr>
            </a:pPr>
            <a:r>
              <a:rPr sz="1800" b="0">
                <a:solidFill>
                  <a:srgbClr val="5A6470"/>
                </a:solidFill>
              </a:rPr>
              <a:t>A daily 8/14 pair spans roughly two to three weeks. A 30-minute 8/14 pair spans about four to seven trading hours. Equal numbers do not imply equal memory.</a:t>
            </a:r>
          </a:p>
        </p:txBody>
      </p:sp>
      <p:sp>
        <p:nvSpPr>
          <p:cNvPr id="5" name="formula-panel-3">
            <a:extLst xmlns:a="http://schemas.openxmlformats.org/drawingml/2006/main">
              <a:ext uri="{FF2B5EF4-FFF2-40B4-BE49-F238E27FC236}">
                <a16:creationId xmlns:a16="http://schemas.microsoft.com/office/drawing/2014/main" id="{E85E3AB6-EC24-4379-A492-24E1D8025005}"/>
              </a:ext>
            </a:extLst>
          </p:cNvPr>
          <p:cNvSpPr>
            <a:spLocks xmlns:a="http://schemas.openxmlformats.org/drawingml/2006/main" noGrp="1"/>
          </p:cNvSpPr>
          <p:nvPr/>
        </p:nvSpPr>
        <p:spPr>
          <a:xfrm xmlns:a="http://schemas.openxmlformats.org/drawingml/2006/main">
            <a:off x="6286500" y="1524000"/>
            <a:ext cx="5381625" cy="3000375"/>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formula-3-0">
            <a:extLst xmlns:a="http://schemas.openxmlformats.org/drawingml/2006/main">
              <a:ext uri="{FF2B5EF4-FFF2-40B4-BE49-F238E27FC236}">
                <a16:creationId xmlns:a16="http://schemas.microsoft.com/office/drawing/2014/main" id="{63C4D461-A6C3-4F31-AF89-3B8ECDE87887}"/>
              </a:ext>
            </a:extLst>
          </p:cNvPr>
          <p:cNvSpPr>
            <a:spLocks xmlns:a="http://schemas.openxmlformats.org/drawingml/2006/main" noGrp="1"/>
          </p:cNvSpPr>
          <p:nvPr/>
        </p:nvSpPr>
        <p:spPr>
          <a:xfrm xmlns:a="http://schemas.openxmlformats.org/drawingml/2006/main">
            <a:off x="6667500" y="18288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67D8D"/>
                </a:solidFill>
              </a:defRPr>
            </a:pPr>
            <a:r>
              <a:rPr sz="1950" b="1">
                <a:solidFill>
                  <a:srgbClr val="167D8D"/>
                </a:solidFill>
              </a:rPr>
              <a:t>LONGₜ ⇔ SMA₈(t) &gt; SMA₁₄(t)</a:t>
            </a:r>
          </a:p>
        </p:txBody>
      </p:sp>
      <p:sp>
        <p:nvSpPr>
          <p:cNvPr id="7" name="formula-3-1">
            <a:extLst xmlns:a="http://schemas.openxmlformats.org/drawingml/2006/main">
              <a:ext uri="{FF2B5EF4-FFF2-40B4-BE49-F238E27FC236}">
                <a16:creationId xmlns:a16="http://schemas.microsoft.com/office/drawing/2014/main" id="{1E4E6F56-F1E0-415B-9BD1-DDFB14FF6FD3}"/>
              </a:ext>
            </a:extLst>
          </p:cNvPr>
          <p:cNvSpPr>
            <a:spLocks xmlns:a="http://schemas.openxmlformats.org/drawingml/2006/main" noGrp="1"/>
          </p:cNvSpPr>
          <p:nvPr/>
        </p:nvSpPr>
        <p:spPr>
          <a:xfrm xmlns:a="http://schemas.openxmlformats.org/drawingml/2006/main">
            <a:off x="6667500" y="260985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111827"/>
                </a:solidFill>
              </a:defRPr>
            </a:pPr>
            <a:r>
              <a:rPr sz="1950" b="0">
                <a:solidFill>
                  <a:srgbClr val="111827"/>
                </a:solidFill>
              </a:rPr>
              <a:t>entry: cross at close of bar t → open of bar t+1</a:t>
            </a:r>
          </a:p>
        </p:txBody>
      </p:sp>
      <p:sp>
        <p:nvSpPr>
          <p:cNvPr id="8" name="formula-3-2">
            <a:extLst xmlns:a="http://schemas.openxmlformats.org/drawingml/2006/main">
              <a:ext uri="{FF2B5EF4-FFF2-40B4-BE49-F238E27FC236}">
                <a16:creationId xmlns:a16="http://schemas.microsoft.com/office/drawing/2014/main" id="{DC768966-8120-4392-9C26-B0747F86FEFE}"/>
              </a:ext>
            </a:extLst>
          </p:cNvPr>
          <p:cNvSpPr>
            <a:spLocks xmlns:a="http://schemas.openxmlformats.org/drawingml/2006/main" noGrp="1"/>
          </p:cNvSpPr>
          <p:nvPr/>
        </p:nvSpPr>
        <p:spPr>
          <a:xfrm xmlns:a="http://schemas.openxmlformats.org/drawingml/2006/main">
            <a:off x="6667500" y="3390900"/>
            <a:ext cx="461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111827"/>
                </a:solidFill>
              </a:defRPr>
            </a:pPr>
            <a:r>
              <a:rPr sz="1950" b="0">
                <a:solidFill>
                  <a:srgbClr val="111827"/>
                </a:solidFill>
              </a:rPr>
              <a:t>exit: reverse cross at close of bar t → open of bar t+1</a:t>
            </a:r>
          </a:p>
        </p:txBody>
      </p:sp>
      <p:sp>
        <p:nvSpPr>
          <p:cNvPr id="9" name="interpret-3">
            <a:extLst xmlns:a="http://schemas.openxmlformats.org/drawingml/2006/main">
              <a:ext uri="{FF2B5EF4-FFF2-40B4-BE49-F238E27FC236}">
                <a16:creationId xmlns:a16="http://schemas.microsoft.com/office/drawing/2014/main" id="{B5CB09FB-B843-483F-8D43-A015A00B7818}"/>
              </a:ext>
            </a:extLst>
          </p:cNvPr>
          <p:cNvSpPr>
            <a:spLocks xmlns:a="http://schemas.openxmlformats.org/drawingml/2006/main" noGrp="1"/>
          </p:cNvSpPr>
          <p:nvPr/>
        </p:nvSpPr>
        <p:spPr>
          <a:xfrm xmlns:a="http://schemas.openxmlformats.org/drawingml/2006/main">
            <a:off x="457200" y="4857750"/>
            <a:ext cx="11191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827"/>
                </a:solidFill>
              </a:defRPr>
            </a:pPr>
            <a:r>
              <a:rPr sz="1650" b="1">
                <a:solidFill>
                  <a:srgbClr val="111827"/>
                </a:solidFill>
              </a:rPr>
              <a:t>This slide isolates the real hypothesis: whether the operator’s remembered 8/14 behavior survives when its clock—not just its asset—is changed.</a:t>
            </a:r>
          </a:p>
        </p:txBody>
      </p:sp>
    </p:spTree>
    <p:extLst>
      <p:ext uri="{BB962C8B-B14F-4D97-AF65-F5344CB8AC3E}">
        <p14:creationId xmlns:p14="http://schemas.microsoft.com/office/powerpoint/2010/main" val="15695777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4">
            <a:extLst xmlns:a="http://schemas.openxmlformats.org/drawingml/2006/main">
              <a:ext uri="{FF2B5EF4-FFF2-40B4-BE49-F238E27FC236}">
                <a16:creationId xmlns:a16="http://schemas.microsoft.com/office/drawing/2014/main" id="{E9993D8C-3E70-4E58-9F87-8DD91FFCEEC0}"/>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The corrected calendar preserves the full atlas</a:t>
            </a:r>
          </a:p>
        </p:txBody>
      </p:sp>
      <p:sp>
        <p:nvSpPr>
          <p:cNvPr id="2" name="section-4">
            <a:extLst xmlns:a="http://schemas.openxmlformats.org/drawingml/2006/main">
              <a:ext uri="{FF2B5EF4-FFF2-40B4-BE49-F238E27FC236}">
                <a16:creationId xmlns:a16="http://schemas.microsoft.com/office/drawing/2014/main" id="{E4AFA517-C9BE-43AE-BA95-70EF55A91C31}"/>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DATA</a:t>
            </a:r>
          </a:p>
        </p:txBody>
      </p:sp>
      <p:sp>
        <p:nvSpPr>
          <p:cNvPr id="3" name="page-4">
            <a:extLst xmlns:a="http://schemas.openxmlformats.org/drawingml/2006/main">
              <a:ext uri="{FF2B5EF4-FFF2-40B4-BE49-F238E27FC236}">
                <a16:creationId xmlns:a16="http://schemas.microsoft.com/office/drawing/2014/main" id="{25C51A79-E008-484A-97FB-B4FDE3C36634}"/>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a62f73549c24d3b"/>
          <a:stretch xmlns:a="http://schemas.openxmlformats.org/drawingml/2006/main"/>
        </p:blipFill>
        <p:spPr>
          <a:xfrm xmlns:a="http://schemas.openxmlformats.org/drawingml/2006/main">
            <a:off x="2131695" y="1409700"/>
            <a:ext cx="7852410" cy="4362450"/>
          </a:xfrm>
          <a:prstGeom xmlns:a="http://schemas.openxmlformats.org/drawingml/2006/main" prst="rect">
            <a:avLst/>
          </a:prstGeom>
        </p:spPr>
      </p:pic>
      <p:sp>
        <p:nvSpPr>
          <p:cNvPr id="5" name="caption-4">
            <a:extLst xmlns:a="http://schemas.openxmlformats.org/drawingml/2006/main">
              <a:ext uri="{FF2B5EF4-FFF2-40B4-BE49-F238E27FC236}">
                <a16:creationId xmlns:a16="http://schemas.microsoft.com/office/drawing/2014/main" id="{365052ED-2EF7-48A2-A532-BABC53C8BD4D}"/>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A6470"/>
                </a:solidFill>
              </a:defRPr>
            </a:pPr>
            <a:r>
              <a:rPr sz="1350" b="0">
                <a:solidFill>
                  <a:srgbClr val="5A6470"/>
                </a:solidFill>
              </a:rPr>
              <a:t>No IEX or Yahoo bar was substituted; the same ten unavailable sessions were removed from every asset.</a:t>
            </a:r>
          </a:p>
        </p:txBody>
      </p:sp>
    </p:spTree>
    <p:extLst>
      <p:ext uri="{BB962C8B-B14F-4D97-AF65-F5344CB8AC3E}">
        <p14:creationId xmlns:p14="http://schemas.microsoft.com/office/powerpoint/2010/main" val="6796059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5">
            <a:extLst xmlns:a="http://schemas.openxmlformats.org/drawingml/2006/main">
              <a:ext uri="{FF2B5EF4-FFF2-40B4-BE49-F238E27FC236}">
                <a16:creationId xmlns:a16="http://schemas.microsoft.com/office/drawing/2014/main" id="{2B28D3D5-452B-4CF6-AD91-D77972EEEAF3}"/>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Frequency—not leverage—dominated the outcome</a:t>
            </a:r>
          </a:p>
        </p:txBody>
      </p:sp>
      <p:sp>
        <p:nvSpPr>
          <p:cNvPr id="2" name="section-5">
            <a:extLst xmlns:a="http://schemas.openxmlformats.org/drawingml/2006/main">
              <a:ext uri="{FF2B5EF4-FFF2-40B4-BE49-F238E27FC236}">
                <a16:creationId xmlns:a16="http://schemas.microsoft.com/office/drawing/2014/main" id="{0FE460D1-DEAF-4FB4-9CB0-0DEFE054CC68}"/>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RESULT</a:t>
            </a:r>
          </a:p>
        </p:txBody>
      </p:sp>
      <p:sp>
        <p:nvSpPr>
          <p:cNvPr id="3" name="page-5">
            <a:extLst xmlns:a="http://schemas.openxmlformats.org/drawingml/2006/main">
              <a:ext uri="{FF2B5EF4-FFF2-40B4-BE49-F238E27FC236}">
                <a16:creationId xmlns:a16="http://schemas.microsoft.com/office/drawing/2014/main" id="{9EC7AB81-3804-4B5F-A854-3A21E85EADF2}"/>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03d127d05cf4b0a"/>
          <a:stretch xmlns:a="http://schemas.openxmlformats.org/drawingml/2006/main"/>
        </p:blipFill>
        <p:spPr>
          <a:xfrm xmlns:a="http://schemas.openxmlformats.org/drawingml/2006/main">
            <a:off x="2131695" y="1409700"/>
            <a:ext cx="7852410" cy="4362450"/>
          </a:xfrm>
          <a:prstGeom xmlns:a="http://schemas.openxmlformats.org/drawingml/2006/main" prst="rect">
            <a:avLst/>
          </a:prstGeom>
        </p:spPr>
      </p:pic>
      <p:sp>
        <p:nvSpPr>
          <p:cNvPr id="5" name="caption-5">
            <a:extLst xmlns:a="http://schemas.openxmlformats.org/drawingml/2006/main">
              <a:ext uri="{FF2B5EF4-FFF2-40B4-BE49-F238E27FC236}">
                <a16:creationId xmlns:a16="http://schemas.microsoft.com/office/drawing/2014/main" id="{6569813C-3D1C-40A5-955A-DC332477DAB0}"/>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A6470"/>
                </a:solidFill>
              </a:defRPr>
            </a:pPr>
            <a:r>
              <a:rPr sz="1350" b="0">
                <a:solidFill>
                  <a:srgbClr val="5A6470"/>
                </a:solidFill>
              </a:rPr>
              <a:t>Only the daily rule had a positive median return; 1.8x amplified each underlying path.</a:t>
            </a:r>
          </a:p>
        </p:txBody>
      </p:sp>
    </p:spTree>
    <p:extLst>
      <p:ext uri="{BB962C8B-B14F-4D97-AF65-F5344CB8AC3E}">
        <p14:creationId xmlns:p14="http://schemas.microsoft.com/office/powerpoint/2010/main" val="17081369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6">
            <a:extLst xmlns:a="http://schemas.openxmlformats.org/drawingml/2006/main">
              <a:ext uri="{FF2B5EF4-FFF2-40B4-BE49-F238E27FC236}">
                <a16:creationId xmlns:a16="http://schemas.microsoft.com/office/drawing/2014/main" id="{AD367292-BDD7-47C2-91C3-84A96DE2A65D}"/>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The daily rule captured drift, but less than ownership</a:t>
            </a:r>
          </a:p>
        </p:txBody>
      </p:sp>
      <p:sp>
        <p:nvSpPr>
          <p:cNvPr id="2" name="section-6">
            <a:extLst xmlns:a="http://schemas.openxmlformats.org/drawingml/2006/main">
              <a:ext uri="{FF2B5EF4-FFF2-40B4-BE49-F238E27FC236}">
                <a16:creationId xmlns:a16="http://schemas.microsoft.com/office/drawing/2014/main" id="{D7551870-A958-48F6-AD4F-EB8A404AF6FC}"/>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DAILY</a:t>
            </a:r>
          </a:p>
        </p:txBody>
      </p:sp>
      <p:sp>
        <p:nvSpPr>
          <p:cNvPr id="3" name="page-6">
            <a:extLst xmlns:a="http://schemas.openxmlformats.org/drawingml/2006/main">
              <a:ext uri="{FF2B5EF4-FFF2-40B4-BE49-F238E27FC236}">
                <a16:creationId xmlns:a16="http://schemas.microsoft.com/office/drawing/2014/main" id="{1EC55485-D0DE-4BB2-AD4B-681476502A48}"/>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6</a:t>
            </a:r>
          </a:p>
        </p:txBody>
      </p:sp>
      <p:sp>
        <p:nvSpPr>
          <p:cNvPr id="4" name="lead-6">
            <a:extLst xmlns:a="http://schemas.openxmlformats.org/drawingml/2006/main">
              <a:ext uri="{FF2B5EF4-FFF2-40B4-BE49-F238E27FC236}">
                <a16:creationId xmlns:a16="http://schemas.microsoft.com/office/drawing/2014/main" id="{AD58A0F4-BC7C-48C6-9444-EE5CF5258B28}"/>
              </a:ext>
            </a:extLst>
          </p:cNvPr>
          <p:cNvSpPr>
            <a:spLocks xmlns:a="http://schemas.openxmlformats.org/drawingml/2006/main" noGrp="1"/>
          </p:cNvSpPr>
          <p:nvPr/>
        </p:nvSpPr>
        <p:spPr>
          <a:xfrm xmlns:a="http://schemas.openxmlformats.org/drawingml/2006/main">
            <a:off x="457200" y="1381125"/>
            <a:ext cx="11191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A6470"/>
                </a:solidFill>
              </a:defRPr>
            </a:pPr>
            <a:r>
              <a:rPr sz="1725" b="0">
                <a:solidFill>
                  <a:srgbClr val="5A6470"/>
                </a:solidFill>
              </a:rPr>
              <a:t>Across 144 stock-years at 1x, the strategy was usually profitable and its timing was unusually good relative to shifted schedules. It still surrendered a meaningful share of buy-and-hold return.</a:t>
            </a:r>
          </a:p>
        </p:txBody>
      </p:sp>
      <p:sp>
        <p:nvSpPr>
          <p:cNvPr id="5" name="metric-panel-6-0">
            <a:extLst xmlns:a="http://schemas.openxmlformats.org/drawingml/2006/main">
              <a:ext uri="{FF2B5EF4-FFF2-40B4-BE49-F238E27FC236}">
                <a16:creationId xmlns:a16="http://schemas.microsoft.com/office/drawing/2014/main" id="{A0B86BDB-A304-4E53-A536-34E9DE5D538E}"/>
              </a:ext>
            </a:extLst>
          </p:cNvPr>
          <p:cNvSpPr>
            <a:spLocks xmlns:a="http://schemas.openxmlformats.org/drawingml/2006/main" noGrp="1"/>
          </p:cNvSpPr>
          <p:nvPr/>
        </p:nvSpPr>
        <p:spPr>
          <a:xfrm xmlns:a="http://schemas.openxmlformats.org/drawingml/2006/main">
            <a:off x="457200" y="2724150"/>
            <a:ext cx="3476625" cy="28956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metric-value-6-0">
            <a:extLst xmlns:a="http://schemas.openxmlformats.org/drawingml/2006/main">
              <a:ext uri="{FF2B5EF4-FFF2-40B4-BE49-F238E27FC236}">
                <a16:creationId xmlns:a16="http://schemas.microsoft.com/office/drawing/2014/main" id="{3401DE2E-1E61-46CC-BD87-A700430952A4}"/>
              </a:ext>
            </a:extLst>
          </p:cNvPr>
          <p:cNvSpPr>
            <a:spLocks xmlns:a="http://schemas.openxmlformats.org/drawingml/2006/main" noGrp="1"/>
          </p:cNvSpPr>
          <p:nvPr/>
        </p:nvSpPr>
        <p:spPr>
          <a:xfrm xmlns:a="http://schemas.openxmlformats.org/drawingml/2006/main">
            <a:off x="723900" y="316230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3600" b="1">
                <a:solidFill>
                  <a:srgbClr val="167D8D"/>
                </a:solidFill>
              </a:defRPr>
            </a:pPr>
            <a:r>
              <a:rPr sz="3600" b="1">
                <a:solidFill>
                  <a:srgbClr val="167D8D"/>
                </a:solidFill>
              </a:rPr>
              <a:t>+8.95%</a:t>
            </a:r>
          </a:p>
        </p:txBody>
      </p:sp>
      <p:sp>
        <p:nvSpPr>
          <p:cNvPr id="7" name="metric-label-6-0">
            <a:extLst xmlns:a="http://schemas.openxmlformats.org/drawingml/2006/main">
              <a:ext uri="{FF2B5EF4-FFF2-40B4-BE49-F238E27FC236}">
                <a16:creationId xmlns:a16="http://schemas.microsoft.com/office/drawing/2014/main" id="{39585144-3C80-4606-8572-794F48D19A5A}"/>
              </a:ext>
            </a:extLst>
          </p:cNvPr>
          <p:cNvSpPr>
            <a:spLocks xmlns:a="http://schemas.openxmlformats.org/drawingml/2006/main" noGrp="1"/>
          </p:cNvSpPr>
          <p:nvPr/>
        </p:nvSpPr>
        <p:spPr>
          <a:xfrm xmlns:a="http://schemas.openxmlformats.org/drawingml/2006/main">
            <a:off x="723900" y="4476750"/>
            <a:ext cx="295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A6470"/>
                </a:solidFill>
              </a:defRPr>
            </a:pPr>
            <a:r>
              <a:rPr sz="1500" b="0">
                <a:solidFill>
                  <a:srgbClr val="5A6470"/>
                </a:solidFill>
              </a:rPr>
              <a:t>median annual return</a:t>
            </a:r>
          </a:p>
        </p:txBody>
      </p:sp>
      <p:sp>
        <p:nvSpPr>
          <p:cNvPr id="8" name="metric-panel-6-1">
            <a:extLst xmlns:a="http://schemas.openxmlformats.org/drawingml/2006/main">
              <a:ext uri="{FF2B5EF4-FFF2-40B4-BE49-F238E27FC236}">
                <a16:creationId xmlns:a16="http://schemas.microsoft.com/office/drawing/2014/main" id="{D0E6BA7B-854A-4FA5-ACDB-4641D9B26BF7}"/>
              </a:ext>
            </a:extLst>
          </p:cNvPr>
          <p:cNvSpPr>
            <a:spLocks xmlns:a="http://schemas.openxmlformats.org/drawingml/2006/main" noGrp="1"/>
          </p:cNvSpPr>
          <p:nvPr/>
        </p:nvSpPr>
        <p:spPr>
          <a:xfrm xmlns:a="http://schemas.openxmlformats.org/drawingml/2006/main">
            <a:off x="4305300" y="2724150"/>
            <a:ext cx="3476625" cy="28956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9" name="metric-value-6-1">
            <a:extLst xmlns:a="http://schemas.openxmlformats.org/drawingml/2006/main">
              <a:ext uri="{FF2B5EF4-FFF2-40B4-BE49-F238E27FC236}">
                <a16:creationId xmlns:a16="http://schemas.microsoft.com/office/drawing/2014/main" id="{507237F3-EE8B-47ED-A710-E3054276AC6A}"/>
              </a:ext>
            </a:extLst>
          </p:cNvPr>
          <p:cNvSpPr>
            <a:spLocks xmlns:a="http://schemas.openxmlformats.org/drawingml/2006/main" noGrp="1"/>
          </p:cNvSpPr>
          <p:nvPr/>
        </p:nvSpPr>
        <p:spPr>
          <a:xfrm xmlns:a="http://schemas.openxmlformats.org/drawingml/2006/main">
            <a:off x="4572000" y="316230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3600" b="1">
                <a:solidFill>
                  <a:srgbClr val="111827"/>
                </a:solidFill>
              </a:defRPr>
            </a:pPr>
            <a:r>
              <a:rPr sz="3600" b="1">
                <a:solidFill>
                  <a:srgbClr val="111827"/>
                </a:solidFill>
              </a:rPr>
              <a:t>70.1%</a:t>
            </a:r>
          </a:p>
        </p:txBody>
      </p:sp>
      <p:sp>
        <p:nvSpPr>
          <p:cNvPr id="10" name="metric-label-6-1">
            <a:extLst xmlns:a="http://schemas.openxmlformats.org/drawingml/2006/main">
              <a:ext uri="{FF2B5EF4-FFF2-40B4-BE49-F238E27FC236}">
                <a16:creationId xmlns:a16="http://schemas.microsoft.com/office/drawing/2014/main" id="{3E09DC8C-C930-4266-85A5-138909BB2DA1}"/>
              </a:ext>
            </a:extLst>
          </p:cNvPr>
          <p:cNvSpPr>
            <a:spLocks xmlns:a="http://schemas.openxmlformats.org/drawingml/2006/main" noGrp="1"/>
          </p:cNvSpPr>
          <p:nvPr/>
        </p:nvSpPr>
        <p:spPr>
          <a:xfrm xmlns:a="http://schemas.openxmlformats.org/drawingml/2006/main">
            <a:off x="4572000" y="4476750"/>
            <a:ext cx="295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A6470"/>
                </a:solidFill>
              </a:defRPr>
            </a:pPr>
            <a:r>
              <a:rPr sz="1500" b="0">
                <a:solidFill>
                  <a:srgbClr val="5A6470"/>
                </a:solidFill>
              </a:rPr>
              <a:t>positive stock-years</a:t>
            </a:r>
          </a:p>
        </p:txBody>
      </p:sp>
      <p:sp>
        <p:nvSpPr>
          <p:cNvPr id="11" name="metric-panel-6-2">
            <a:extLst xmlns:a="http://schemas.openxmlformats.org/drawingml/2006/main">
              <a:ext uri="{FF2B5EF4-FFF2-40B4-BE49-F238E27FC236}">
                <a16:creationId xmlns:a16="http://schemas.microsoft.com/office/drawing/2014/main" id="{A90E485B-D4A3-4F65-BF1E-21F717C3A8F0}"/>
              </a:ext>
            </a:extLst>
          </p:cNvPr>
          <p:cNvSpPr>
            <a:spLocks xmlns:a="http://schemas.openxmlformats.org/drawingml/2006/main" noGrp="1"/>
          </p:cNvSpPr>
          <p:nvPr/>
        </p:nvSpPr>
        <p:spPr>
          <a:xfrm xmlns:a="http://schemas.openxmlformats.org/drawingml/2006/main">
            <a:off x="8153400" y="2724150"/>
            <a:ext cx="3476625" cy="28956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12" name="metric-value-6-2">
            <a:extLst xmlns:a="http://schemas.openxmlformats.org/drawingml/2006/main">
              <a:ext uri="{FF2B5EF4-FFF2-40B4-BE49-F238E27FC236}">
                <a16:creationId xmlns:a16="http://schemas.microsoft.com/office/drawing/2014/main" id="{2A95F5F0-8765-4623-939C-40D3FA24BC62}"/>
              </a:ext>
            </a:extLst>
          </p:cNvPr>
          <p:cNvSpPr>
            <a:spLocks xmlns:a="http://schemas.openxmlformats.org/drawingml/2006/main" noGrp="1"/>
          </p:cNvSpPr>
          <p:nvPr/>
        </p:nvSpPr>
        <p:spPr>
          <a:xfrm xmlns:a="http://schemas.openxmlformats.org/drawingml/2006/main">
            <a:off x="8420100" y="316230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3600" b="1">
                <a:solidFill>
                  <a:srgbClr val="E46A47"/>
                </a:solidFill>
              </a:defRPr>
            </a:pPr>
            <a:r>
              <a:rPr sz="3600" b="1">
                <a:solidFill>
                  <a:srgbClr val="E46A47"/>
                </a:solidFill>
              </a:rPr>
              <a:t>−5.83 pp</a:t>
            </a:r>
          </a:p>
        </p:txBody>
      </p:sp>
      <p:sp>
        <p:nvSpPr>
          <p:cNvPr id="13" name="metric-label-6-2">
            <a:extLst xmlns:a="http://schemas.openxmlformats.org/drawingml/2006/main">
              <a:ext uri="{FF2B5EF4-FFF2-40B4-BE49-F238E27FC236}">
                <a16:creationId xmlns:a16="http://schemas.microsoft.com/office/drawing/2014/main" id="{4DCEE0F3-E87D-4CE5-B09E-596FAED7E81A}"/>
              </a:ext>
            </a:extLst>
          </p:cNvPr>
          <p:cNvSpPr>
            <a:spLocks xmlns:a="http://schemas.openxmlformats.org/drawingml/2006/main" noGrp="1"/>
          </p:cNvSpPr>
          <p:nvPr/>
        </p:nvSpPr>
        <p:spPr>
          <a:xfrm xmlns:a="http://schemas.openxmlformats.org/drawingml/2006/main">
            <a:off x="8420100" y="4476750"/>
            <a:ext cx="295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A6470"/>
                </a:solidFill>
              </a:defRPr>
            </a:pPr>
            <a:r>
              <a:rPr sz="1500" b="0">
                <a:solidFill>
                  <a:srgbClr val="5A6470"/>
                </a:solidFill>
              </a:rPr>
              <a:t>median excess vs buy-and-hold</a:t>
            </a:r>
          </a:p>
        </p:txBody>
      </p:sp>
    </p:spTree>
    <p:extLst>
      <p:ext uri="{BB962C8B-B14F-4D97-AF65-F5344CB8AC3E}">
        <p14:creationId xmlns:p14="http://schemas.microsoft.com/office/powerpoint/2010/main" val="18644183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CB286CBB-E597-46B5-A97E-A66A4A9FA2EF}"/>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The intraday clock converted the rule into a turnover problem</a:t>
            </a:r>
          </a:p>
        </p:txBody>
      </p:sp>
      <p:sp>
        <p:nvSpPr>
          <p:cNvPr id="2" name="section-7">
            <a:extLst xmlns:a="http://schemas.openxmlformats.org/drawingml/2006/main">
              <a:ext uri="{FF2B5EF4-FFF2-40B4-BE49-F238E27FC236}">
                <a16:creationId xmlns:a16="http://schemas.microsoft.com/office/drawing/2014/main" id="{0943BFEC-9D72-441F-BFB8-334F330A91E6}"/>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30-MINUTE</a:t>
            </a:r>
          </a:p>
        </p:txBody>
      </p:sp>
      <p:sp>
        <p:nvSpPr>
          <p:cNvPr id="3" name="page-7">
            <a:extLst xmlns:a="http://schemas.openxmlformats.org/drawingml/2006/main">
              <a:ext uri="{FF2B5EF4-FFF2-40B4-BE49-F238E27FC236}">
                <a16:creationId xmlns:a16="http://schemas.microsoft.com/office/drawing/2014/main" id="{F3E1C890-7B8B-4C7A-944A-98BE42D50CF3}"/>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7</a:t>
            </a:r>
          </a:p>
        </p:txBody>
      </p:sp>
      <p:sp>
        <p:nvSpPr>
          <p:cNvPr id="4" name="lead-7">
            <a:extLst xmlns:a="http://schemas.openxmlformats.org/drawingml/2006/main">
              <a:ext uri="{FF2B5EF4-FFF2-40B4-BE49-F238E27FC236}">
                <a16:creationId xmlns:a16="http://schemas.microsoft.com/office/drawing/2014/main" id="{8363FD9B-791F-4828-A301-3D7F212DA885}"/>
              </a:ext>
            </a:extLst>
          </p:cNvPr>
          <p:cNvSpPr>
            <a:spLocks xmlns:a="http://schemas.openxmlformats.org/drawingml/2006/main" noGrp="1"/>
          </p:cNvSpPr>
          <p:nvPr/>
        </p:nvSpPr>
        <p:spPr>
          <a:xfrm xmlns:a="http://schemas.openxmlformats.org/drawingml/2006/main">
            <a:off x="457200" y="1381125"/>
            <a:ext cx="11191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A6470"/>
                </a:solidFill>
              </a:defRPr>
            </a:pPr>
            <a:r>
              <a:rPr sz="1725" b="0">
                <a:solidFill>
                  <a:srgbClr val="5A6470"/>
                </a:solidFill>
              </a:rPr>
              <a:t>The 30-minute rule traded more than twelve times as often as the daily rule. Its actual timing beat most shifted schedules, but the entire timing neighborhood was deeply negative.</a:t>
            </a:r>
          </a:p>
        </p:txBody>
      </p:sp>
      <p:sp>
        <p:nvSpPr>
          <p:cNvPr id="5" name="metric-panel-7-0">
            <a:extLst xmlns:a="http://schemas.openxmlformats.org/drawingml/2006/main">
              <a:ext uri="{FF2B5EF4-FFF2-40B4-BE49-F238E27FC236}">
                <a16:creationId xmlns:a16="http://schemas.microsoft.com/office/drawing/2014/main" id="{73AD912C-70A5-4462-A5FD-2BA3D188DA1F}"/>
              </a:ext>
            </a:extLst>
          </p:cNvPr>
          <p:cNvSpPr>
            <a:spLocks xmlns:a="http://schemas.openxmlformats.org/drawingml/2006/main" noGrp="1"/>
          </p:cNvSpPr>
          <p:nvPr/>
        </p:nvSpPr>
        <p:spPr>
          <a:xfrm xmlns:a="http://schemas.openxmlformats.org/drawingml/2006/main">
            <a:off x="457200" y="2724150"/>
            <a:ext cx="3476625" cy="28956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6" name="metric-value-7-0">
            <a:extLst xmlns:a="http://schemas.openxmlformats.org/drawingml/2006/main">
              <a:ext uri="{FF2B5EF4-FFF2-40B4-BE49-F238E27FC236}">
                <a16:creationId xmlns:a16="http://schemas.microsoft.com/office/drawing/2014/main" id="{AEEA6F63-3212-43AD-8ECD-4FF52E0BA8A6}"/>
              </a:ext>
            </a:extLst>
          </p:cNvPr>
          <p:cNvSpPr>
            <a:spLocks xmlns:a="http://schemas.openxmlformats.org/drawingml/2006/main" noGrp="1"/>
          </p:cNvSpPr>
          <p:nvPr/>
        </p:nvSpPr>
        <p:spPr>
          <a:xfrm xmlns:a="http://schemas.openxmlformats.org/drawingml/2006/main">
            <a:off x="723900" y="316230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3600" b="1">
                <a:solidFill>
                  <a:srgbClr val="E46A47"/>
                </a:solidFill>
              </a:defRPr>
            </a:pPr>
            <a:r>
              <a:rPr sz="3600" b="1">
                <a:solidFill>
                  <a:srgbClr val="E46A47"/>
                </a:solidFill>
              </a:rPr>
              <a:t>−14.47%</a:t>
            </a:r>
          </a:p>
        </p:txBody>
      </p:sp>
      <p:sp>
        <p:nvSpPr>
          <p:cNvPr id="7" name="metric-label-7-0">
            <a:extLst xmlns:a="http://schemas.openxmlformats.org/drawingml/2006/main">
              <a:ext uri="{FF2B5EF4-FFF2-40B4-BE49-F238E27FC236}">
                <a16:creationId xmlns:a16="http://schemas.microsoft.com/office/drawing/2014/main" id="{6B950284-8108-4EB9-91A7-5C74C7DA8B80}"/>
              </a:ext>
            </a:extLst>
          </p:cNvPr>
          <p:cNvSpPr>
            <a:spLocks xmlns:a="http://schemas.openxmlformats.org/drawingml/2006/main" noGrp="1"/>
          </p:cNvSpPr>
          <p:nvPr/>
        </p:nvSpPr>
        <p:spPr>
          <a:xfrm xmlns:a="http://schemas.openxmlformats.org/drawingml/2006/main">
            <a:off x="723900" y="4476750"/>
            <a:ext cx="295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A6470"/>
                </a:solidFill>
              </a:defRPr>
            </a:pPr>
            <a:r>
              <a:rPr sz="1500" b="0">
                <a:solidFill>
                  <a:srgbClr val="5A6470"/>
                </a:solidFill>
              </a:rPr>
              <a:t>median annual return</a:t>
            </a:r>
          </a:p>
        </p:txBody>
      </p:sp>
      <p:sp>
        <p:nvSpPr>
          <p:cNvPr id="8" name="metric-panel-7-1">
            <a:extLst xmlns:a="http://schemas.openxmlformats.org/drawingml/2006/main">
              <a:ext uri="{FF2B5EF4-FFF2-40B4-BE49-F238E27FC236}">
                <a16:creationId xmlns:a16="http://schemas.microsoft.com/office/drawing/2014/main" id="{25D63A5E-E276-43D5-AADA-01D68A26FF74}"/>
              </a:ext>
            </a:extLst>
          </p:cNvPr>
          <p:cNvSpPr>
            <a:spLocks xmlns:a="http://schemas.openxmlformats.org/drawingml/2006/main" noGrp="1"/>
          </p:cNvSpPr>
          <p:nvPr/>
        </p:nvSpPr>
        <p:spPr>
          <a:xfrm xmlns:a="http://schemas.openxmlformats.org/drawingml/2006/main">
            <a:off x="4305300" y="2724150"/>
            <a:ext cx="3476625" cy="28956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9" name="metric-value-7-1">
            <a:extLst xmlns:a="http://schemas.openxmlformats.org/drawingml/2006/main">
              <a:ext uri="{FF2B5EF4-FFF2-40B4-BE49-F238E27FC236}">
                <a16:creationId xmlns:a16="http://schemas.microsoft.com/office/drawing/2014/main" id="{5E205B72-2549-4A5F-B275-38D78F6639E8}"/>
              </a:ext>
            </a:extLst>
          </p:cNvPr>
          <p:cNvSpPr>
            <a:spLocks xmlns:a="http://schemas.openxmlformats.org/drawingml/2006/main" noGrp="1"/>
          </p:cNvSpPr>
          <p:nvPr/>
        </p:nvSpPr>
        <p:spPr>
          <a:xfrm xmlns:a="http://schemas.openxmlformats.org/drawingml/2006/main">
            <a:off x="4572000" y="316230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3600" b="1">
                <a:solidFill>
                  <a:srgbClr val="111827"/>
                </a:solidFill>
              </a:defRPr>
            </a:pPr>
            <a:r>
              <a:rPr sz="3600" b="1">
                <a:solidFill>
                  <a:srgbClr val="111827"/>
                </a:solidFill>
              </a:rPr>
              <a:t>17,900</a:t>
            </a:r>
          </a:p>
        </p:txBody>
      </p:sp>
      <p:sp>
        <p:nvSpPr>
          <p:cNvPr id="10" name="metric-label-7-1">
            <a:extLst xmlns:a="http://schemas.openxmlformats.org/drawingml/2006/main">
              <a:ext uri="{FF2B5EF4-FFF2-40B4-BE49-F238E27FC236}">
                <a16:creationId xmlns:a16="http://schemas.microsoft.com/office/drawing/2014/main" id="{A5D99066-CFEE-4385-A5CD-366D42CE6C75}"/>
              </a:ext>
            </a:extLst>
          </p:cNvPr>
          <p:cNvSpPr>
            <a:spLocks xmlns:a="http://schemas.openxmlformats.org/drawingml/2006/main" noGrp="1"/>
          </p:cNvSpPr>
          <p:nvPr/>
        </p:nvSpPr>
        <p:spPr>
          <a:xfrm xmlns:a="http://schemas.openxmlformats.org/drawingml/2006/main">
            <a:off x="4572000" y="4476750"/>
            <a:ext cx="295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A6470"/>
                </a:solidFill>
              </a:defRPr>
            </a:pPr>
            <a:r>
              <a:rPr sz="1500" b="0">
                <a:solidFill>
                  <a:srgbClr val="5A6470"/>
                </a:solidFill>
              </a:rPr>
              <a:t>completed trades</a:t>
            </a:r>
          </a:p>
        </p:txBody>
      </p:sp>
      <p:sp>
        <p:nvSpPr>
          <p:cNvPr id="11" name="metric-panel-7-2">
            <a:extLst xmlns:a="http://schemas.openxmlformats.org/drawingml/2006/main">
              <a:ext uri="{FF2B5EF4-FFF2-40B4-BE49-F238E27FC236}">
                <a16:creationId xmlns:a16="http://schemas.microsoft.com/office/drawing/2014/main" id="{19971A69-1E3C-473B-92D4-0018C361B445}"/>
              </a:ext>
            </a:extLst>
          </p:cNvPr>
          <p:cNvSpPr>
            <a:spLocks xmlns:a="http://schemas.openxmlformats.org/drawingml/2006/main" noGrp="1"/>
          </p:cNvSpPr>
          <p:nvPr/>
        </p:nvSpPr>
        <p:spPr>
          <a:xfrm xmlns:a="http://schemas.openxmlformats.org/drawingml/2006/main">
            <a:off x="8153400" y="2724150"/>
            <a:ext cx="3476625" cy="2895600"/>
          </a:xfrm>
          <a:prstGeom xmlns:a="http://schemas.openxmlformats.org/drawingml/2006/main" prst="rect">
            <a:avLst/>
          </a:prstGeom>
          <a:solidFill xmlns:a="http://schemas.openxmlformats.org/drawingml/2006/main">
            <a:srgbClr val="F2F2F2"/>
          </a:solidFill>
          <a:ln xmlns:a="http://schemas.openxmlformats.org/drawingml/2006/main" w="9525">
            <a:solidFill>
              <a:srgbClr val="F2F2F2"/>
            </a:solidFill>
            <a:prstDash val="solid"/>
          </a:ln>
        </p:spPr>
      </p:sp>
      <p:sp>
        <p:nvSpPr>
          <p:cNvPr id="12" name="metric-value-7-2">
            <a:extLst xmlns:a="http://schemas.openxmlformats.org/drawingml/2006/main">
              <a:ext uri="{FF2B5EF4-FFF2-40B4-BE49-F238E27FC236}">
                <a16:creationId xmlns:a16="http://schemas.microsoft.com/office/drawing/2014/main" id="{6C8C380C-91A1-47A4-90D3-6C31C92DF4A3}"/>
              </a:ext>
            </a:extLst>
          </p:cNvPr>
          <p:cNvSpPr>
            <a:spLocks xmlns:a="http://schemas.openxmlformats.org/drawingml/2006/main" noGrp="1"/>
          </p:cNvSpPr>
          <p:nvPr/>
        </p:nvSpPr>
        <p:spPr>
          <a:xfrm xmlns:a="http://schemas.openxmlformats.org/drawingml/2006/main">
            <a:off x="8420100" y="3162300"/>
            <a:ext cx="295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3600" b="1">
                <a:solidFill>
                  <a:srgbClr val="E46A47"/>
                </a:solidFill>
              </a:defRPr>
            </a:pPr>
            <a:r>
              <a:rPr sz="3600" b="1">
                <a:solidFill>
                  <a:srgbClr val="E46A47"/>
                </a:solidFill>
              </a:rPr>
              <a:t>−26.62 pp</a:t>
            </a:r>
          </a:p>
        </p:txBody>
      </p:sp>
      <p:sp>
        <p:nvSpPr>
          <p:cNvPr id="13" name="metric-label-7-2">
            <a:extLst xmlns:a="http://schemas.openxmlformats.org/drawingml/2006/main">
              <a:ext uri="{FF2B5EF4-FFF2-40B4-BE49-F238E27FC236}">
                <a16:creationId xmlns:a16="http://schemas.microsoft.com/office/drawing/2014/main" id="{17C4174B-09C4-41EE-9B29-47EDE976BB07}"/>
              </a:ext>
            </a:extLst>
          </p:cNvPr>
          <p:cNvSpPr>
            <a:spLocks xmlns:a="http://schemas.openxmlformats.org/drawingml/2006/main" noGrp="1"/>
          </p:cNvSpPr>
          <p:nvPr/>
        </p:nvSpPr>
        <p:spPr>
          <a:xfrm xmlns:a="http://schemas.openxmlformats.org/drawingml/2006/main">
            <a:off x="8420100" y="4476750"/>
            <a:ext cx="295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A6470"/>
                </a:solidFill>
              </a:defRPr>
            </a:pPr>
            <a:r>
              <a:rPr sz="1500" b="0">
                <a:solidFill>
                  <a:srgbClr val="5A6470"/>
                </a:solidFill>
              </a:rPr>
              <a:t>median excess vs buy-and-hold</a:t>
            </a:r>
          </a:p>
        </p:txBody>
      </p:sp>
    </p:spTree>
    <p:extLst>
      <p:ext uri="{BB962C8B-B14F-4D97-AF65-F5344CB8AC3E}">
        <p14:creationId xmlns:p14="http://schemas.microsoft.com/office/powerpoint/2010/main" val="8617414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8">
            <a:extLst xmlns:a="http://schemas.openxmlformats.org/drawingml/2006/main">
              <a:ext uri="{FF2B5EF4-FFF2-40B4-BE49-F238E27FC236}">
                <a16:creationId xmlns:a16="http://schemas.microsoft.com/office/drawing/2014/main" id="{8ACC84E2-7D64-498C-9D22-471AA2802F69}"/>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Positive raw drift did not survive intraday turnover costs</a:t>
            </a:r>
          </a:p>
        </p:txBody>
      </p:sp>
      <p:sp>
        <p:nvSpPr>
          <p:cNvPr id="2" name="section-8">
            <a:extLst xmlns:a="http://schemas.openxmlformats.org/drawingml/2006/main">
              <a:ext uri="{FF2B5EF4-FFF2-40B4-BE49-F238E27FC236}">
                <a16:creationId xmlns:a16="http://schemas.microsoft.com/office/drawing/2014/main" id="{7C26544E-909C-48FB-9608-1CCF84BA5B5C}"/>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ROBUSTNESS</a:t>
            </a:r>
          </a:p>
        </p:txBody>
      </p:sp>
      <p:sp>
        <p:nvSpPr>
          <p:cNvPr id="3" name="page-8">
            <a:extLst xmlns:a="http://schemas.openxmlformats.org/drawingml/2006/main">
              <a:ext uri="{FF2B5EF4-FFF2-40B4-BE49-F238E27FC236}">
                <a16:creationId xmlns:a16="http://schemas.microsoft.com/office/drawing/2014/main" id="{85E027C1-358E-47A1-B27A-6C6B39A45F20}"/>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92a0177e36648eb"/>
          <a:stretch xmlns:a="http://schemas.openxmlformats.org/drawingml/2006/main"/>
        </p:blipFill>
        <p:spPr>
          <a:xfrm xmlns:a="http://schemas.openxmlformats.org/drawingml/2006/main">
            <a:off x="2131695" y="1409700"/>
            <a:ext cx="7852410" cy="4362450"/>
          </a:xfrm>
          <a:prstGeom xmlns:a="http://schemas.openxmlformats.org/drawingml/2006/main" prst="rect">
            <a:avLst/>
          </a:prstGeom>
        </p:spPr>
      </p:pic>
      <p:sp>
        <p:nvSpPr>
          <p:cNvPr id="5" name="caption-8">
            <a:extLst xmlns:a="http://schemas.openxmlformats.org/drawingml/2006/main">
              <a:ext uri="{FF2B5EF4-FFF2-40B4-BE49-F238E27FC236}">
                <a16:creationId xmlns:a16="http://schemas.microsoft.com/office/drawing/2014/main" id="{BF03F4B7-556F-48EA-AF83-C16561893BCA}"/>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A6470"/>
                </a:solidFill>
              </a:defRPr>
            </a:pPr>
            <a:r>
              <a:rPr sz="1350" b="0">
                <a:solidFill>
                  <a:srgbClr val="5A6470"/>
                </a:solidFill>
              </a:rPr>
              <a:t>Stress costs worsened the 30-minute median to −33.29%; one-bar delay left the conclusion unchanged.</a:t>
            </a:r>
          </a:p>
        </p:txBody>
      </p:sp>
    </p:spTree>
    <p:extLst>
      <p:ext uri="{BB962C8B-B14F-4D97-AF65-F5344CB8AC3E}">
        <p14:creationId xmlns:p14="http://schemas.microsoft.com/office/powerpoint/2010/main" val="15111767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9">
            <a:extLst xmlns:a="http://schemas.openxmlformats.org/drawingml/2006/main">
              <a:ext uri="{FF2B5EF4-FFF2-40B4-BE49-F238E27FC236}">
                <a16:creationId xmlns:a16="http://schemas.microsoft.com/office/drawing/2014/main" id="{F49C9C86-2042-4BC3-9D5B-8B878B92104B}"/>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The trade tapes make the whipsaw visible</a:t>
            </a:r>
          </a:p>
        </p:txBody>
      </p:sp>
      <p:sp>
        <p:nvSpPr>
          <p:cNvPr id="2" name="section-9">
            <a:extLst xmlns:a="http://schemas.openxmlformats.org/drawingml/2006/main">
              <a:ext uri="{FF2B5EF4-FFF2-40B4-BE49-F238E27FC236}">
                <a16:creationId xmlns:a16="http://schemas.microsoft.com/office/drawing/2014/main" id="{74D6600D-7C9A-44F6-80F8-892D2BAD8EDA}"/>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AUDIT</a:t>
            </a:r>
          </a:p>
        </p:txBody>
      </p:sp>
      <p:sp>
        <p:nvSpPr>
          <p:cNvPr id="3" name="page-9">
            <a:extLst xmlns:a="http://schemas.openxmlformats.org/drawingml/2006/main">
              <a:ext uri="{FF2B5EF4-FFF2-40B4-BE49-F238E27FC236}">
                <a16:creationId xmlns:a16="http://schemas.microsoft.com/office/drawing/2014/main" id="{90EC7166-9F30-43EA-98B4-3C00EEC8CEF4}"/>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9</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0de5a821b1c4167"/>
          <a:stretch xmlns:a="http://schemas.openxmlformats.org/drawingml/2006/main"/>
        </p:blipFill>
        <p:spPr>
          <a:xfrm xmlns:a="http://schemas.openxmlformats.org/drawingml/2006/main">
            <a:off x="2131695" y="1409700"/>
            <a:ext cx="7852410" cy="4362450"/>
          </a:xfrm>
          <a:prstGeom xmlns:a="http://schemas.openxmlformats.org/drawingml/2006/main" prst="rect">
            <a:avLst/>
          </a:prstGeom>
        </p:spPr>
      </p:pic>
      <p:sp>
        <p:nvSpPr>
          <p:cNvPr id="5" name="caption-9">
            <a:extLst xmlns:a="http://schemas.openxmlformats.org/drawingml/2006/main">
              <a:ext uri="{FF2B5EF4-FFF2-40B4-BE49-F238E27FC236}">
                <a16:creationId xmlns:a16="http://schemas.microsoft.com/office/drawing/2014/main" id="{9D36B30B-75E6-4A5F-B15F-849F386A754C}"/>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A6470"/>
                </a:solidFill>
              </a:defRPr>
            </a:pPr>
            <a:r>
              <a:rPr sz="1350" b="0">
                <a:solidFill>
                  <a:srgbClr val="5A6470"/>
                </a:solidFill>
              </a:rPr>
              <a:t>Green shading is invested state; dense alternation shows why small positive drift could not overcome costs.</a:t>
            </a:r>
          </a:p>
        </p:txBody>
      </p:sp>
    </p:spTree>
    <p:extLst>
      <p:ext uri="{BB962C8B-B14F-4D97-AF65-F5344CB8AC3E}">
        <p14:creationId xmlns:p14="http://schemas.microsoft.com/office/powerpoint/2010/main" val="12474286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10">
            <a:extLst xmlns:a="http://schemas.openxmlformats.org/drawingml/2006/main">
              <a:ext uri="{FF2B5EF4-FFF2-40B4-BE49-F238E27FC236}">
                <a16:creationId xmlns:a16="http://schemas.microsoft.com/office/drawing/2014/main" id="{2279371B-D165-424E-9A39-F761B5E81E3B}"/>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Timing controls refine—but do not reverse—the verdict</a:t>
            </a:r>
          </a:p>
        </p:txBody>
      </p:sp>
      <p:sp>
        <p:nvSpPr>
          <p:cNvPr id="2" name="section-10">
            <a:extLst xmlns:a="http://schemas.openxmlformats.org/drawingml/2006/main">
              <a:ext uri="{FF2B5EF4-FFF2-40B4-BE49-F238E27FC236}">
                <a16:creationId xmlns:a16="http://schemas.microsoft.com/office/drawing/2014/main" id="{4E8D21D4-8AB8-4079-8FB7-767145B79E69}"/>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FALSIFICATION</a:t>
            </a:r>
          </a:p>
        </p:txBody>
      </p:sp>
      <p:sp>
        <p:nvSpPr>
          <p:cNvPr id="3" name="page-10">
            <a:extLst xmlns:a="http://schemas.openxmlformats.org/drawingml/2006/main">
              <a:ext uri="{FF2B5EF4-FFF2-40B4-BE49-F238E27FC236}">
                <a16:creationId xmlns:a16="http://schemas.microsoft.com/office/drawing/2014/main" id="{311EC578-DAA5-4075-B23D-8A41C82FF2A9}"/>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10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756480045c54c0b"/>
          <a:stretch xmlns:a="http://schemas.openxmlformats.org/drawingml/2006/main"/>
        </p:blipFill>
        <p:spPr>
          <a:xfrm xmlns:a="http://schemas.openxmlformats.org/drawingml/2006/main">
            <a:off x="2131695" y="1409700"/>
            <a:ext cx="7852410" cy="4362450"/>
          </a:xfrm>
          <a:prstGeom xmlns:a="http://schemas.openxmlformats.org/drawingml/2006/main" prst="rect">
            <a:avLst/>
          </a:prstGeom>
        </p:spPr>
      </p:pic>
      <p:sp>
        <p:nvSpPr>
          <p:cNvPr id="5" name="caption-10">
            <a:extLst xmlns:a="http://schemas.openxmlformats.org/drawingml/2006/main">
              <a:ext uri="{FF2B5EF4-FFF2-40B4-BE49-F238E27FC236}">
                <a16:creationId xmlns:a16="http://schemas.microsoft.com/office/drawing/2014/main" id="{98AC4161-1295-4F1A-AC62-88C79D12C28D}"/>
              </a:ext>
            </a:extLst>
          </p:cNvPr>
          <p:cNvSpPr>
            <a:spLocks xmlns:a="http://schemas.openxmlformats.org/drawingml/2006/main" noGrp="1"/>
          </p:cNvSpPr>
          <p:nvPr/>
        </p:nvSpPr>
        <p:spPr>
          <a:xfrm xmlns:a="http://schemas.openxmlformats.org/drawingml/2006/main">
            <a:off x="457200" y="58674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A6470"/>
                </a:solidFill>
              </a:defRPr>
            </a:pPr>
            <a:r>
              <a:rPr sz="1350" b="0">
                <a:solidFill>
                  <a:srgbClr val="5A6470"/>
                </a:solidFill>
              </a:rPr>
              <a:t>Daily timing was near the favorable tail. The 30-minute actual was also better than its shifts—but remained an unusable loss.</a:t>
            </a:r>
          </a:p>
        </p:txBody>
      </p:sp>
    </p:spTree>
    <p:extLst>
      <p:ext uri="{BB962C8B-B14F-4D97-AF65-F5344CB8AC3E}">
        <p14:creationId xmlns:p14="http://schemas.microsoft.com/office/powerpoint/2010/main" val="17721825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11">
            <a:extLst xmlns:a="http://schemas.openxmlformats.org/drawingml/2006/main">
              <a:ext uri="{FF2B5EF4-FFF2-40B4-BE49-F238E27FC236}">
                <a16:creationId xmlns:a16="http://schemas.microsoft.com/office/drawing/2014/main" id="{C20C2867-A05E-4261-A789-83458A9AB1F4}"/>
              </a:ext>
            </a:extLst>
          </p:cNvPr>
          <p:cNvSpPr>
            <a:spLocks xmlns:a="http://schemas.openxmlformats.org/drawingml/2006/main" noGrp="1"/>
          </p:cNvSpPr>
          <p:nvPr/>
        </p:nvSpPr>
        <p:spPr>
          <a:xfrm xmlns:a="http://schemas.openxmlformats.org/drawingml/2006/main">
            <a:off x="457200" y="3238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111827"/>
                </a:solidFill>
              </a:defRPr>
            </a:pPr>
            <a:r>
              <a:rPr sz="2775" b="1">
                <a:solidFill>
                  <a:srgbClr val="111827"/>
                </a:solidFill>
              </a:rPr>
              <a:t>Keep the daily baseline; stop the exact intraday translation</a:t>
            </a:r>
          </a:p>
        </p:txBody>
      </p:sp>
      <p:sp>
        <p:nvSpPr>
          <p:cNvPr id="2" name="section-11">
            <a:extLst xmlns:a="http://schemas.openxmlformats.org/drawingml/2006/main">
              <a:ext uri="{FF2B5EF4-FFF2-40B4-BE49-F238E27FC236}">
                <a16:creationId xmlns:a16="http://schemas.microsoft.com/office/drawing/2014/main" id="{0BB3B748-3EFD-423A-A2C5-65C396FAFB6B}"/>
              </a:ext>
            </a:extLst>
          </p:cNvPr>
          <p:cNvSpPr>
            <a:spLocks xmlns:a="http://schemas.openxmlformats.org/drawingml/2006/main" noGrp="1"/>
          </p:cNvSpPr>
          <p:nvPr/>
        </p:nvSpPr>
        <p:spPr>
          <a:xfrm xmlns:a="http://schemas.openxmlformats.org/drawingml/2006/main">
            <a:off x="457200" y="10572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67D8D"/>
                </a:solidFill>
              </a:defRPr>
            </a:pPr>
            <a:r>
              <a:rPr sz="1200" b="1">
                <a:solidFill>
                  <a:srgbClr val="167D8D"/>
                </a:solidFill>
              </a:rPr>
              <a:t>DECISION</a:t>
            </a:r>
          </a:p>
        </p:txBody>
      </p:sp>
      <p:sp>
        <p:nvSpPr>
          <p:cNvPr id="3" name="page-11">
            <a:extLst xmlns:a="http://schemas.openxmlformats.org/drawingml/2006/main">
              <a:ext uri="{FF2B5EF4-FFF2-40B4-BE49-F238E27FC236}">
                <a16:creationId xmlns:a16="http://schemas.microsoft.com/office/drawing/2014/main" id="{7CA0959D-8399-472D-AEBC-8AA306AB5096}"/>
              </a:ext>
            </a:extLst>
          </p:cNvPr>
          <p:cNvSpPr>
            <a:spLocks xmlns:a="http://schemas.openxmlformats.org/drawingml/2006/main" noGrp="1"/>
          </p:cNvSpPr>
          <p:nvPr/>
        </p:nvSpPr>
        <p:spPr>
          <a:xfrm xmlns:a="http://schemas.openxmlformats.org/drawingml/2006/main">
            <a:off x="11239500" y="641985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A6470"/>
                </a:solidFill>
              </a:defRPr>
            </a:pPr>
            <a:r>
              <a:rPr sz="975" b="0">
                <a:solidFill>
                  <a:srgbClr val="5A6470"/>
                </a:solidFill>
              </a:rPr>
              <a:t>11</a:t>
            </a:r>
          </a:p>
        </p:txBody>
      </p:sp>
      <p:sp>
        <p:nvSpPr>
          <p:cNvPr id="4" name="thesis-11">
            <a:extLst xmlns:a="http://schemas.openxmlformats.org/drawingml/2006/main">
              <a:ext uri="{FF2B5EF4-FFF2-40B4-BE49-F238E27FC236}">
                <a16:creationId xmlns:a16="http://schemas.microsoft.com/office/drawing/2014/main" id="{268B4B22-94A4-4AC4-8DAE-ED4C2B487BA6}"/>
              </a:ext>
            </a:extLst>
          </p:cNvPr>
          <p:cNvSpPr>
            <a:spLocks xmlns:a="http://schemas.openxmlformats.org/drawingml/2006/main" noGrp="1"/>
          </p:cNvSpPr>
          <p:nvPr/>
        </p:nvSpPr>
        <p:spPr>
          <a:xfrm xmlns:a="http://schemas.openxmlformats.org/drawingml/2006/main">
            <a:off x="457200" y="1524000"/>
            <a:ext cx="11191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11827"/>
                </a:solidFill>
              </a:defRPr>
            </a:pPr>
            <a:r>
              <a:rPr sz="2175" b="1">
                <a:solidFill>
                  <a:srgbClr val="111827"/>
                </a:solidFill>
              </a:rPr>
              <a:t>This series separates a useful research parent from a failed mechanical port.</a:t>
            </a:r>
          </a:p>
        </p:txBody>
      </p:sp>
      <p:sp>
        <p:nvSpPr>
          <p:cNvPr id="5" name="bullet-mark-11-0">
            <a:extLst xmlns:a="http://schemas.openxmlformats.org/drawingml/2006/main">
              <a:ext uri="{FF2B5EF4-FFF2-40B4-BE49-F238E27FC236}">
                <a16:creationId xmlns:a16="http://schemas.microsoft.com/office/drawing/2014/main" id="{A72457EF-7AC7-4FEF-9351-57504EF890D5}"/>
              </a:ext>
            </a:extLst>
          </p:cNvPr>
          <p:cNvSpPr>
            <a:spLocks xmlns:a="http://schemas.openxmlformats.org/drawingml/2006/main" noGrp="1"/>
          </p:cNvSpPr>
          <p:nvPr/>
        </p:nvSpPr>
        <p:spPr>
          <a:xfrm xmlns:a="http://schemas.openxmlformats.org/drawingml/2006/main">
            <a:off x="523875" y="2990850"/>
            <a:ext cx="114300" cy="114300"/>
          </a:xfrm>
          <a:prstGeom xmlns:a="http://schemas.openxmlformats.org/drawingml/2006/main" prst="rect">
            <a:avLst/>
          </a:prstGeom>
          <a:solidFill xmlns:a="http://schemas.openxmlformats.org/drawingml/2006/main">
            <a:srgbClr val="167D8D"/>
          </a:solidFill>
          <a:ln xmlns:a="http://schemas.openxmlformats.org/drawingml/2006/main" w="9525">
            <a:solidFill>
              <a:srgbClr val="167D8D"/>
            </a:solidFill>
            <a:prstDash val="solid"/>
          </a:ln>
        </p:spPr>
      </p:sp>
      <p:sp>
        <p:nvSpPr>
          <p:cNvPr id="6" name="bullet-11-0">
            <a:extLst xmlns:a="http://schemas.openxmlformats.org/drawingml/2006/main">
              <a:ext uri="{FF2B5EF4-FFF2-40B4-BE49-F238E27FC236}">
                <a16:creationId xmlns:a16="http://schemas.microsoft.com/office/drawing/2014/main" id="{CA144466-468E-4532-BDEF-1C6FEBE220BA}"/>
              </a:ext>
            </a:extLst>
          </p:cNvPr>
          <p:cNvSpPr>
            <a:spLocks xmlns:a="http://schemas.openxmlformats.org/drawingml/2006/main" noGrp="1"/>
          </p:cNvSpPr>
          <p:nvPr/>
        </p:nvSpPr>
        <p:spPr>
          <a:xfrm xmlns:a="http://schemas.openxmlformats.org/drawingml/2006/main">
            <a:off x="819150" y="2914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827"/>
                </a:solidFill>
              </a:defRPr>
            </a:pPr>
            <a:r>
              <a:rPr sz="1650" b="0">
                <a:solidFill>
                  <a:srgbClr val="111827"/>
                </a:solidFill>
              </a:rPr>
              <a:t>Daily SMA8/14 is worth retaining as an unfiltered baseline, not as ownership alpha.</a:t>
            </a:r>
          </a:p>
        </p:txBody>
      </p:sp>
      <p:sp>
        <p:nvSpPr>
          <p:cNvPr id="7" name="bullet-mark-11-1">
            <a:extLst xmlns:a="http://schemas.openxmlformats.org/drawingml/2006/main">
              <a:ext uri="{FF2B5EF4-FFF2-40B4-BE49-F238E27FC236}">
                <a16:creationId xmlns:a16="http://schemas.microsoft.com/office/drawing/2014/main" id="{DD12085F-0A42-432C-AFE6-99D44E51D717}"/>
              </a:ext>
            </a:extLst>
          </p:cNvPr>
          <p:cNvSpPr>
            <a:spLocks xmlns:a="http://schemas.openxmlformats.org/drawingml/2006/main" noGrp="1"/>
          </p:cNvSpPr>
          <p:nvPr/>
        </p:nvSpPr>
        <p:spPr>
          <a:xfrm xmlns:a="http://schemas.openxmlformats.org/drawingml/2006/main">
            <a:off x="523875" y="3752850"/>
            <a:ext cx="114300" cy="114300"/>
          </a:xfrm>
          <a:prstGeom xmlns:a="http://schemas.openxmlformats.org/drawingml/2006/main" prst="rect">
            <a:avLst/>
          </a:prstGeom>
          <a:solidFill xmlns:a="http://schemas.openxmlformats.org/drawingml/2006/main">
            <a:srgbClr val="E46A47"/>
          </a:solidFill>
          <a:ln xmlns:a="http://schemas.openxmlformats.org/drawingml/2006/main" w="9525">
            <a:solidFill>
              <a:srgbClr val="E46A47"/>
            </a:solidFill>
            <a:prstDash val="solid"/>
          </a:ln>
        </p:spPr>
      </p:sp>
      <p:sp>
        <p:nvSpPr>
          <p:cNvPr id="8" name="bullet-11-1">
            <a:extLst xmlns:a="http://schemas.openxmlformats.org/drawingml/2006/main">
              <a:ext uri="{FF2B5EF4-FFF2-40B4-BE49-F238E27FC236}">
                <a16:creationId xmlns:a16="http://schemas.microsoft.com/office/drawing/2014/main" id="{230406B2-BED5-4C02-9984-66A37E830B43}"/>
              </a:ext>
            </a:extLst>
          </p:cNvPr>
          <p:cNvSpPr>
            <a:spLocks xmlns:a="http://schemas.openxmlformats.org/drawingml/2006/main" noGrp="1"/>
          </p:cNvSpPr>
          <p:nvPr/>
        </p:nvSpPr>
        <p:spPr>
          <a:xfrm xmlns:a="http://schemas.openxmlformats.org/drawingml/2006/main">
            <a:off x="819150" y="3676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827"/>
                </a:solidFill>
              </a:defRPr>
            </a:pPr>
            <a:r>
              <a:rPr sz="1650" b="0">
                <a:solidFill>
                  <a:srgbClr val="111827"/>
                </a:solidFill>
              </a:rPr>
              <a:t>The numeric 8/14 pair is economically mismatched to 30-minute costs and turnover.</a:t>
            </a:r>
          </a:p>
        </p:txBody>
      </p:sp>
      <p:sp>
        <p:nvSpPr>
          <p:cNvPr id="9" name="bullet-mark-11-2">
            <a:extLst xmlns:a="http://schemas.openxmlformats.org/drawingml/2006/main">
              <a:ext uri="{FF2B5EF4-FFF2-40B4-BE49-F238E27FC236}">
                <a16:creationId xmlns:a16="http://schemas.microsoft.com/office/drawing/2014/main" id="{9C1D31BB-FB77-41A2-B130-4283FA9F8120}"/>
              </a:ext>
            </a:extLst>
          </p:cNvPr>
          <p:cNvSpPr>
            <a:spLocks xmlns:a="http://schemas.openxmlformats.org/drawingml/2006/main" noGrp="1"/>
          </p:cNvSpPr>
          <p:nvPr/>
        </p:nvSpPr>
        <p:spPr>
          <a:xfrm xmlns:a="http://schemas.openxmlformats.org/drawingml/2006/main">
            <a:off x="523875" y="4514850"/>
            <a:ext cx="114300" cy="114300"/>
          </a:xfrm>
          <a:prstGeom xmlns:a="http://schemas.openxmlformats.org/drawingml/2006/main" prst="rect">
            <a:avLst/>
          </a:prstGeom>
          <a:solidFill xmlns:a="http://schemas.openxmlformats.org/drawingml/2006/main">
            <a:srgbClr val="D3A73A"/>
          </a:solidFill>
          <a:ln xmlns:a="http://schemas.openxmlformats.org/drawingml/2006/main" w="9525">
            <a:solidFill>
              <a:srgbClr val="D3A73A"/>
            </a:solidFill>
            <a:prstDash val="solid"/>
          </a:ln>
        </p:spPr>
      </p:sp>
      <p:sp>
        <p:nvSpPr>
          <p:cNvPr id="10" name="bullet-11-2">
            <a:extLst xmlns:a="http://schemas.openxmlformats.org/drawingml/2006/main">
              <a:ext uri="{FF2B5EF4-FFF2-40B4-BE49-F238E27FC236}">
                <a16:creationId xmlns:a16="http://schemas.microsoft.com/office/drawing/2014/main" id="{BF3B2A2F-109F-4EA2-B29E-C1A4A7C49F01}"/>
              </a:ext>
            </a:extLst>
          </p:cNvPr>
          <p:cNvSpPr>
            <a:spLocks xmlns:a="http://schemas.openxmlformats.org/drawingml/2006/main" noGrp="1"/>
          </p:cNvSpPr>
          <p:nvPr/>
        </p:nvSpPr>
        <p:spPr>
          <a:xfrm xmlns:a="http://schemas.openxmlformats.org/drawingml/2006/main">
            <a:off x="819150" y="44386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827"/>
                </a:solidFill>
              </a:defRPr>
            </a:pPr>
            <a:r>
              <a:rPr sz="1650" b="0">
                <a:solidFill>
                  <a:srgbClr val="111827"/>
                </a:solidFill>
              </a:rPr>
              <a:t>Leverage magnified return and drawdown; it did not supply timing edge.</a:t>
            </a:r>
          </a:p>
        </p:txBody>
      </p:sp>
      <p:sp>
        <p:nvSpPr>
          <p:cNvPr id="11" name="stop-11">
            <a:extLst xmlns:a="http://schemas.openxmlformats.org/drawingml/2006/main">
              <a:ext uri="{FF2B5EF4-FFF2-40B4-BE49-F238E27FC236}">
                <a16:creationId xmlns:a16="http://schemas.microsoft.com/office/drawing/2014/main" id="{AF2CC8CA-4F0E-47EF-ADB1-A141A9CB5065}"/>
              </a:ext>
            </a:extLst>
          </p:cNvPr>
          <p:cNvSpPr>
            <a:spLocks xmlns:a="http://schemas.openxmlformats.org/drawingml/2006/main" noGrp="1"/>
          </p:cNvSpPr>
          <p:nvPr/>
        </p:nvSpPr>
        <p:spPr>
          <a:xfrm xmlns:a="http://schemas.openxmlformats.org/drawingml/2006/main">
            <a:off x="457200" y="5657850"/>
            <a:ext cx="11191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E46A47"/>
                </a:solidFill>
              </a:defRPr>
            </a:pPr>
            <a:r>
              <a:rPr sz="1500" b="1">
                <a:solidFill>
                  <a:srgbClr val="E46A47"/>
                </a:solidFill>
              </a:rPr>
              <a:t>STOP: no horizon tuning, asset selection, confirmation access, portfolio, or regime filter under these identifiers.</a:t>
            </a:r>
          </a:p>
        </p:txBody>
      </p:sp>
    </p:spTree>
    <p:extLst>
      <p:ext uri="{BB962C8B-B14F-4D97-AF65-F5344CB8AC3E}">
        <p14:creationId xmlns:p14="http://schemas.microsoft.com/office/powerpoint/2010/main" val="19613992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2026-08-14T14:07:41.8050000Z</dcterms:created>
  <dcterms:modified xsi:type="dcterms:W3CDTF">2026-08-14T14:07:41.8050000Z</dcterms:modified>
</coreProperties>
</file>