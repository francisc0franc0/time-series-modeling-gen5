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9854b87f6647cb" /><Relationship Type="http://schemas.openxmlformats.org/officeDocument/2006/relationships/extended-properties" Target="/docProps/app.xml" Id="R50ccb4462c3d45c2" /><Relationship Type="http://schemas.openxmlformats.org/officeDocument/2006/relationships/officeDocument" Target="/ppt/presentation.xml" Id="R3bbd691c92a84cc2" /></Relationships>
</file>

<file path=ppt/presentation.xml><?xml version="1.0" encoding="utf-8"?>
<p:presentation xmlns:p="http://schemas.openxmlformats.org/presentationml/2006/main">
  <p:sldMasterIdLst>
    <p:sldMasterId xmlns:r="http://schemas.openxmlformats.org/officeDocument/2006/relationships" id="2147483648" r:id="R00e916d7a1f74a9b"/>
  </p:sldMasterIdLst>
  <p:notesMasterIdLst>
    <p:notesMasterId xmlns:r="http://schemas.openxmlformats.org/officeDocument/2006/relationships" r:id="Rdc29a47bbbaf4b98"/>
  </p:notesMasterIdLst>
  <p:sldIdLst>
    <p:sldId xmlns:r="http://schemas.openxmlformats.org/officeDocument/2006/relationships" id="256" r:id="R32615bc58f704ce3"/>
    <p:sldId xmlns:r="http://schemas.openxmlformats.org/officeDocument/2006/relationships" id="257" r:id="Rce16a7e5df1f443e"/>
    <p:sldId xmlns:r="http://schemas.openxmlformats.org/officeDocument/2006/relationships" id="258" r:id="Rbfb0e8f87b974f81"/>
    <p:sldId xmlns:r="http://schemas.openxmlformats.org/officeDocument/2006/relationships" id="259" r:id="R5c8c6a78f6934d04"/>
    <p:sldId xmlns:r="http://schemas.openxmlformats.org/officeDocument/2006/relationships" id="260" r:id="Rc0bfcd1339294f6c"/>
    <p:sldId xmlns:r="http://schemas.openxmlformats.org/officeDocument/2006/relationships" id="261" r:id="Rd90141b20b92407f"/>
    <p:sldId xmlns:r="http://schemas.openxmlformats.org/officeDocument/2006/relationships" id="262" r:id="R139ff871ad6445a4"/>
    <p:sldId xmlns:r="http://schemas.openxmlformats.org/officeDocument/2006/relationships" id="263" r:id="Rd03302bb24a74409"/>
    <p:sldId xmlns:r="http://schemas.openxmlformats.org/officeDocument/2006/relationships" id="264" r:id="R6659d97b77564d3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5496fd0de1433b" /><Relationship Type="http://schemas.openxmlformats.org/officeDocument/2006/relationships/slideMaster" Target="/ppt/slideMasters/slideMaster1.xml" Id="R00e916d7a1f74a9b" /><Relationship Type="http://schemas.openxmlformats.org/officeDocument/2006/relationships/notesMaster" Target="/ppt/notesMasters/notesMaster1.xml" Id="Rdc29a47bbbaf4b98" /><Relationship Type="http://schemas.openxmlformats.org/officeDocument/2006/relationships/presProps" Target="/ppt/presProps.xml" Id="Re0169004e43f49ee" /><Relationship Type="http://schemas.openxmlformats.org/officeDocument/2006/relationships/tableStyles" Target="/ppt/tableStyles.xml" Id="Reaf32d825b134109" /><Relationship Type="http://schemas.openxmlformats.org/officeDocument/2006/relationships/slide" Target="/ppt/slides/slide1.xml" Id="R32615bc58f704ce3" /><Relationship Type="http://schemas.openxmlformats.org/officeDocument/2006/relationships/slide" Target="/ppt/slides/slide2.xml" Id="Rce16a7e5df1f443e" /><Relationship Type="http://schemas.openxmlformats.org/officeDocument/2006/relationships/slide" Target="/ppt/slides/slide3.xml" Id="Rbfb0e8f87b974f81" /><Relationship Type="http://schemas.openxmlformats.org/officeDocument/2006/relationships/slide" Target="/ppt/slides/slide4.xml" Id="R5c8c6a78f6934d04" /><Relationship Type="http://schemas.openxmlformats.org/officeDocument/2006/relationships/slide" Target="/ppt/slides/slide5.xml" Id="Rc0bfcd1339294f6c" /><Relationship Type="http://schemas.openxmlformats.org/officeDocument/2006/relationships/slide" Target="/ppt/slides/slide6.xml" Id="Rd90141b20b92407f" /><Relationship Type="http://schemas.openxmlformats.org/officeDocument/2006/relationships/slide" Target="/ppt/slides/slide7.xml" Id="R139ff871ad6445a4" /><Relationship Type="http://schemas.openxmlformats.org/officeDocument/2006/relationships/slide" Target="/ppt/slides/slide8.xml" Id="Rd03302bb24a74409" /><Relationship Type="http://schemas.openxmlformats.org/officeDocument/2006/relationships/slide" Target="/ppt/slides/slide9.xml" Id="R6659d97b77564d3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4e3df389fac44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06235ffcf342f7" /><Relationship Type="http://schemas.openxmlformats.org/officeDocument/2006/relationships/notesMaster" Target="/ppt/notesMasters/notesMaster1.xml" Id="Rfeb85e2acad048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a320db4a4841c7" /><Relationship Type="http://schemas.openxmlformats.org/officeDocument/2006/relationships/notesMaster" Target="/ppt/notesMasters/notesMaster1.xml" Id="R0b504380e2db4e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146090dee8a34a49" /><Relationship Type="http://schemas.openxmlformats.org/officeDocument/2006/relationships/notesMaster" Target="/ppt/notesMasters/notesMaster1.xml" Id="Rc79e091c4b3a44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3c8667357048c7" /><Relationship Type="http://schemas.openxmlformats.org/officeDocument/2006/relationships/notesMaster" Target="/ppt/notesMasters/notesMaster1.xml" Id="R7c8cc2f64d6a45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a1cc2f0099e14219" /><Relationship Type="http://schemas.openxmlformats.org/officeDocument/2006/relationships/notesMaster" Target="/ppt/notesMasters/notesMaster1.xml" Id="Rb136ea96f51b41de"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e5dbc4e1d446b9" /><Relationship Type="http://schemas.openxmlformats.org/officeDocument/2006/relationships/notesMaster" Target="/ppt/notesMasters/notesMaster1.xml" Id="R948b9939755e49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5f37b29989643ed" /><Relationship Type="http://schemas.openxmlformats.org/officeDocument/2006/relationships/notesMaster" Target="/ppt/notesMasters/notesMaster1.xml" Id="Rf0aca5659c944d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ddde60b59f464a" /><Relationship Type="http://schemas.openxmlformats.org/officeDocument/2006/relationships/notesMaster" Target="/ppt/notesMasters/notesMaster1.xml" Id="R04ecd74818324d14"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3fbf82347e4538" /><Relationship Type="http://schemas.openxmlformats.org/officeDocument/2006/relationships/notesMaster" Target="/ppt/notesMasters/notesMaster1.xml" Id="R81396cc03a8942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documents the derivative HYP-MOM-04.2 lane. The feature atlas was frozen before the run, and the reserved 2021-2023 OOS period remained unqueried.</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Project/Time-Series-Modeling-Gen5/operator_hypothesis_lab/docs/HYP_MOM_04_2_FEATURE_ATLAS_CONTRACT.md</a:t>
            </a:r>
          </a:p>
          <a:p xmlns:a="http://schemas.openxmlformats.org/drawingml/2006/main">
            <a:r>
              <a:t>- C:/Users/Franc/OneDrive/Documents/Francis/Peltata Project/Time-Series-Modeling-Gen5/runs/research_workbench/operator_hypothesis_lab/hyp_mom_04_2_feature_atlas_train_20260811/REPORT.md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scatter view is intentionally descriptive. It helps reveal curvature, thresholds, outliers, and non-monotonicity. It does not create thousands of independent temporal tests because stocks in one quarter share the same environment.</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Project/Time-Series-Modeling-Gen5/runs/research_workbench/operator_hypothesis_lab/hyp_mom_04_2_feature_atlas_train_20260811/hyp_mom_04_2_feature_panel.csv</a:t>
            </a:r>
          </a:p>
          <a:p xmlns:a="http://schemas.openxmlformats.org/drawingml/2006/main">
            <a:r>
              <a:t>- C:/Users/Franc/OneDrive/Documents/Francis/Peltata Project/Time-Series-Modeling-Gen5/runs/research_workbench/operator_hypothesis_lab/hyp_mom_04_2_feature_atlas_train_20260811/visuals/scatter_spotlight_risk.png</a:t>
            </a:r>
          </a:p>
          <a:p xmlns:a="http://schemas.openxmlformats.org/drawingml/2006/main">
            <a:r>
              <a:t>- C:/Users/Franc/OneDrive/Documents/Francis/Peltata Project/Time-Series-Modeling-Gen5/runs/research_workbench/operator_hypothesis_lab/hyp_mom_04_2_feature_atlas_train_20260811/hyp_mom_04_2_feature_scorecard.csv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33 features were causal at signal-quarter close and derived from adjusted daily OHLCV. Raw values support human plots; rank-normalized within-quarter values enter the models.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Project/Time-Series-Modeling-Gen5/operator_hypothesis_lab/docs/HYP_MOM_04_2_FEATURE_ATLAS_CONTRACT.md</a:t>
            </a:r>
          </a:p>
          <a:p xmlns:a="http://schemas.openxmlformats.org/drawingml/2006/main">
            <a:r>
              <a:t>- C:/Users/Franc/OneDrive/Documents/Francis/Peltata Project/Time-Series-Modeling-Gen5/runs/research_workbench/operator_hypothesis_lab/hyp_mom_04_2_feature_atlas_train_20260811/hyp_mom_04_2_feature_dictionary.csv</a:t>
            </a:r>
          </a:p>
          <a:p xmlns:a="http://schemas.openxmlformats.org/drawingml/2006/main">
            <a:r>
              <a:t>- C:/Users/Franc/OneDrive/Documents/Francis/Peltata Project/Time-Series-Modeling-Gen5/runs/research_workbench/operator_hypothesis_lab/hyp_mom_04_2_feature_atlas_train_20260811/hyp_mom_04_2_candidate_registry.csv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Outer fold 1 trains on nine quarters and validates three. Outer fold 2 trains on twelve and validates three. Basket and lambda choice are repeated inside each outer-training window. The full-search permutation repeats that complete selection procedure.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Project/Time-Series-Modeling-Gen5/operator_hypothesis_lab/docs/HYP_MOM_04_2_FEATURE_ATLAS_CONTRACT.md</a:t>
            </a:r>
          </a:p>
          <a:p xmlns:a="http://schemas.openxmlformats.org/drawingml/2006/main">
            <a:r>
              <a:t>- C:/Users/Franc/OneDrive/Documents/Francis/Peltata Project/Time-Series-Modeling-Gen5/runs/research_workbench/operator_hypothesis_lab/hyp_mom_04_2_feature_atlas_train_20260811/hyp_mom_04_2_inner_details.csv</a:t>
            </a:r>
          </a:p>
          <a:p xmlns:a="http://schemas.openxmlformats.org/drawingml/2006/main">
            <a:r>
              <a:t>- C:/Users/Franc/OneDrive/Documents/Francis/Peltata Project/Time-Series-Modeling-Gen5/runs/research_workbench/operator_hypothesis_lab/hyp_mom_04_2_feature_atlas_train_20260811/hyp_mom_04_2_full_search_permutation.csv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feature scorecard is descriptive across all 15 TRAIN quarters. Beta had the largest mean IC, while recovery from the 252-session low had the highest positive-quarter fraction. Neither fact is sufficient for promotion.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Project/Time-Series-Modeling-Gen5/runs/research_workbench/operator_hypothesis_lab/hyp_mom_04_2_feature_atlas_train_20260811/hyp_mom_04_2_feature_scorecard.csv</a:t>
            </a:r>
          </a:p>
          <a:p xmlns:a="http://schemas.openxmlformats.org/drawingml/2006/main">
            <a:r>
              <a:t>- C:/Users/Franc/OneDrive/Documents/Francis/Peltata Project/Time-Series-Modeling-Gen5/runs/research_workbench/operator_hypothesis_lab/hyp_mom_04_2_feature_atlas_train_20260811/visuals/feature_scorecard.png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one feature's Spearman rank correlation with next-quarter relative return in one signal quarter. The heatmap is clipped to ±0.25 for color readability, but the CSV retains exact values.</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Project/Time-Series-Modeling-Gen5/runs/research_workbench/operator_hypothesis_lab/hyp_mom_04_2_feature_atlas_train_20260811/hyp_mom_04_2_feature_quarterly_ic.csv</a:t>
            </a:r>
          </a:p>
          <a:p xmlns:a="http://schemas.openxmlformats.org/drawingml/2006/main">
            <a:r>
              <a:t>- C:/Users/Franc/OneDrive/Documents/Francis/Peltata Project/Time-Series-Modeling-Gen5/runs/research_workbench/operator_hypothesis_lab/hyp_mom_04_2_feature_atlas_train_20260811/hyp_mom_04_2_redundancy_pairs.csv</a:t>
            </a:r>
          </a:p>
          <a:p xmlns:a="http://schemas.openxmlformats.org/drawingml/2006/main">
            <a:r>
              <a:t>- C:/Users/Franc/OneDrive/Documents/Francis/Peltata Project/Time-Series-Modeling-Gen5/runs/research_workbench/operator_hypothesis_lab/hyp_mom_04_2_feature_atlas_train_20260811/visuals/feature_quarterly_ic_heatmap.png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shows the best lambda for each frozen candidate in each outer rehearsal. Even the selected candidate was negative on average in the earlier inner folds. Selection still proceeds mechanically so the outer block can measure the whole procedure.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Project/Time-Series-Modeling-Gen5/runs/research_workbench/operator_hypothesis_lab/hyp_mom_04_2_feature_atlas_train_20260811/hyp_mom_04_2_inner_summary.csv</a:t>
            </a:r>
          </a:p>
          <a:p xmlns:a="http://schemas.openxmlformats.org/drawingml/2006/main">
            <a:r>
              <a:t>- C:/Users/Franc/OneDrive/Documents/Francis/Peltata Project/Time-Series-Modeling-Gen5/runs/research_workbench/operator_hypothesis_lab/hyp_mom_04_2_feature_atlas_train_20260811/hyp_mom_04_2_outer_selections.csv</a:t>
            </a:r>
          </a:p>
          <a:p xmlns:a="http://schemas.openxmlformats.org/drawingml/2006/main">
            <a:r>
              <a:t>- C:/Users/Franc/OneDrive/Documents/Francis/Peltata Project/Time-Series-Modeling-Gen5/runs/research_workbench/operator_hypothesis_lab/hyp_mom_04_2_feature_atlas_train_20260811/visuals/predefined_basket_competition.png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outer metrics concatenate the two untouched three-quarter validation blocks. The mean outer IC was -0.1071. Mean top-quartile relative return was -2.227 percentage points per quarter.</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Project/Time-Series-Modeling-Gen5/runs/research_workbench/operator_hypothesis_lab/hyp_mom_04_2_feature_atlas_train_20260811/hyp_mom_04_2_outer_metrics.csv</a:t>
            </a:r>
          </a:p>
          <a:p xmlns:a="http://schemas.openxmlformats.org/drawingml/2006/main">
            <a:r>
              <a:t>- C:/Users/Franc/OneDrive/Documents/Francis/Peltata Project/Time-Series-Modeling-Gen5/runs/research_workbench/operator_hypothesis_lab/hyp_mom_04_2_feature_atlas_train_20260811/visuals/nested_outer_validation.png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null draw shuffled the target within quarter and repeated basket and lambda selection before outer scoring. The observed statistic was -0.1071; every null draw was greater or equal, producing p=1.000. The authoritative status is STOP_TRAIN_GATES_FAILED_OOS_NOT_RUN.</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Project/Time-Series-Modeling-Gen5/runs/research_workbench/operator_hypothesis_lab/hyp_mom_04_2_feature_atlas_train_20260811/hyp_mom_04_2_full_search_permutation.csv</a:t>
            </a:r>
          </a:p>
          <a:p xmlns:a="http://schemas.openxmlformats.org/drawingml/2006/main">
            <a:r>
              <a:t>- C:/Users/Franc/OneDrive/Documents/Francis/Peltata Project/Time-Series-Modeling-Gen5/runs/research_workbench/operator_hypothesis_lab/hyp_mom_04_2_feature_atlas_train_20260811/hyp_mom_04_2_train_gates.csv</a:t>
            </a:r>
          </a:p>
          <a:p xmlns:a="http://schemas.openxmlformats.org/drawingml/2006/main">
            <a:r>
              <a:t>- C:/Users/Franc/OneDrive/Documents/Francis/Peltata Project/Time-Series-Modeling-Gen5/runs/research_workbench/operator_hypothesis_lab/hyp_mom_04_2_feature_atlas_train_20260811/status.txt</a:t>
            </a:r>
          </a:p>
          <a:p xmlns:a="http://schemas.openxmlformats.org/drawingml/2006/main">
            <a:r>
              <a:t>- C:/Users/Franc/OneDrive/Documents/Francis/Peltata Project/Time-Series-Modeling-Gen5/runs/research_workbench/operator_hypothesis_lab/hyp_mom_04_2_feature_atlas_train_20260811/visuals/full_search_permutation.png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aa932eca1340b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3d678062e84c36" /><Relationship Type="http://schemas.openxmlformats.org/officeDocument/2006/relationships/slideLayout" Target="/ppt/slideLayouts/slideLayout1.xml" Id="R3ba1328d090149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a1328d090149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8b025c4c06456a" /><Relationship Type="http://schemas.openxmlformats.org/officeDocument/2006/relationships/notesSlide" Target="/ppt/notesSlides/notesSlide1.xml" Id="Rc9968f89b373451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e6defd48e7248ae" /><Relationship Type="http://schemas.openxmlformats.org/officeDocument/2006/relationships/image" Target="/ppt/media/image.png" Id="R93d00ec1c8a64da9" /><Relationship Type="http://schemas.openxmlformats.org/officeDocument/2006/relationships/notesSlide" Target="/ppt/notesSlides/notesSlide2.xml" Id="Rd042b5daf55346a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008d4eb5e5c44ab" /><Relationship Type="http://schemas.openxmlformats.org/officeDocument/2006/relationships/notesSlide" Target="/ppt/notesSlides/notesSlide3.xml" Id="R6a8712aeeb1f447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7e8c3153d1b4b18" /><Relationship Type="http://schemas.openxmlformats.org/officeDocument/2006/relationships/notesSlide" Target="/ppt/notesSlides/notesSlide4.xml" Id="Rdf76df3ac12141b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fe2c86fec88438e" /><Relationship Type="http://schemas.openxmlformats.org/officeDocument/2006/relationships/image" Target="/ppt/media/image2.png" Id="R0110ee4ed6804db8" /><Relationship Type="http://schemas.openxmlformats.org/officeDocument/2006/relationships/notesSlide" Target="/ppt/notesSlides/notesSlide5.xml" Id="R18874fc89bff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b028384b5ae4d4d" /><Relationship Type="http://schemas.openxmlformats.org/officeDocument/2006/relationships/image" Target="/ppt/media/image3.png" Id="R8a796dfa1fb249fe" /><Relationship Type="http://schemas.openxmlformats.org/officeDocument/2006/relationships/notesSlide" Target="/ppt/notesSlides/notesSlide6.xml" Id="R2d4f75fff45a45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d4eb44413fc4fea" /><Relationship Type="http://schemas.openxmlformats.org/officeDocument/2006/relationships/image" Target="/ppt/media/image4.png" Id="Rb94235e46c754ced" /><Relationship Type="http://schemas.openxmlformats.org/officeDocument/2006/relationships/notesSlide" Target="/ppt/notesSlides/notesSlide7.xml" Id="R2f1565ee6c3e46c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e5c8ac8dc1841ed" /><Relationship Type="http://schemas.openxmlformats.org/officeDocument/2006/relationships/image" Target="/ppt/media/image5.png" Id="Ra666de2fd85944ec" /><Relationship Type="http://schemas.openxmlformats.org/officeDocument/2006/relationships/notesSlide" Target="/ppt/notesSlides/notesSlide8.xml" Id="Rbb0e9713e9a84f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af8c6e874d14025" /><Relationship Type="http://schemas.openxmlformats.org/officeDocument/2006/relationships/image" Target="/ppt/media/image6.png" Id="Rc920fcbff21b4fbf" /><Relationship Type="http://schemas.openxmlformats.org/officeDocument/2006/relationships/notesSlide" Target="/ppt/notesSlides/notesSlide9.xml" Id="Re16b2c4d1400441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kicker">
            <a:extLst xmlns:a="http://schemas.openxmlformats.org/drawingml/2006/main">
              <a:ext uri="{FF2B5EF4-FFF2-40B4-BE49-F238E27FC236}">
                <a16:creationId xmlns:a16="http://schemas.microsoft.com/office/drawing/2014/main" id="{5EDC6BE1-31B4-4379-8828-1A6727472883}"/>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400" b="1">
                <a:solidFill>
                  <a:srgbClr val="000000"/>
                </a:solidFill>
                <a:latin typeface="Helvetica Neue"/>
                <a:ea typeface="Helvetica Neue"/>
                <a:cs typeface="Helvetica Neue"/>
              </a:defRPr>
            </a:pPr>
            <a:r>
              <a:t>TRAIN-ONLY EVIDENCE</a:t>
            </a:r>
          </a:p>
        </p:txBody>
      </p:sp>
      <p:sp>
        <p:nvSpPr>
          <p:cNvPr id="2" name="title-date">
            <a:extLst xmlns:a="http://schemas.openxmlformats.org/drawingml/2006/main">
              <a:ext uri="{FF2B5EF4-FFF2-40B4-BE49-F238E27FC236}">
                <a16:creationId xmlns:a16="http://schemas.microsoft.com/office/drawing/2014/main" id="{2677FE73-D733-4010-B843-015FAB36D6BC}"/>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2100" b="0">
                <a:solidFill>
                  <a:srgbClr val="67717E"/>
                </a:solidFill>
                <a:latin typeface="Helvetica Neue"/>
                <a:ea typeface="Helvetica Neue"/>
                <a:cs typeface="Helvetica Neue"/>
              </a:defRPr>
            </a:pPr>
            <a:r>
              <a:t>11 AUG 2026</a:t>
            </a:r>
          </a:p>
        </p:txBody>
      </p:sp>
      <p:sp>
        <p:nvSpPr>
          <p:cNvPr id="3" name="deck-title">
            <a:extLst xmlns:a="http://schemas.openxmlformats.org/drawingml/2006/main">
              <a:ext uri="{FF2B5EF4-FFF2-40B4-BE49-F238E27FC236}">
                <a16:creationId xmlns:a16="http://schemas.microsoft.com/office/drawing/2014/main" id="{1BE33748-8F88-44AE-AB73-A12503680FBE}"/>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l">
              <a:defRPr sz="6000" b="1">
                <a:solidFill>
                  <a:srgbClr val="000000"/>
                </a:solidFill>
                <a:latin typeface="Helvetica Neue"/>
                <a:ea typeface="Helvetica Neue"/>
                <a:cs typeface="Helvetica Neue"/>
              </a:defRPr>
            </a:pPr>
            <a:r>
              <a:t>HYP-MOM-04.2
Feature Atlas</a:t>
            </a:r>
          </a:p>
        </p:txBody>
      </p:sp>
      <p:sp>
        <p:nvSpPr>
          <p:cNvPr id="4" name="status-rule">
            <a:extLst xmlns:a="http://schemas.openxmlformats.org/drawingml/2006/main">
              <a:ext uri="{FF2B5EF4-FFF2-40B4-BE49-F238E27FC236}">
                <a16:creationId xmlns:a16="http://schemas.microsoft.com/office/drawing/2014/main" id="{4D7FF14A-2209-4E0B-9078-D6018C1F478C}"/>
              </a:ext>
            </a:extLst>
          </p:cNvPr>
          <p:cNvSpPr>
            <a:spLocks xmlns:a="http://schemas.openxmlformats.org/drawingml/2006/main" noGrp="1"/>
          </p:cNvSpPr>
          <p:nvPr/>
        </p:nvSpPr>
        <p:spPr>
          <a:xfrm xmlns:a="http://schemas.openxmlformats.org/drawingml/2006/main">
            <a:off x="393668" y="6210300"/>
            <a:ext cx="4000500" cy="76200"/>
          </a:xfrm>
          <a:prstGeom xmlns:a="http://schemas.openxmlformats.org/drawingml/2006/main" prst="rect">
            <a:avLst/>
          </a:prstGeom>
          <a:solidFill xmlns:a="http://schemas.openxmlformats.org/drawingml/2006/main">
            <a:srgbClr val="D1495B"/>
          </a:solidFill>
          <a:ln xmlns:a="http://schemas.openxmlformats.org/drawingml/2006/main" w="0">
            <a:solidFill>
              <a:srgbClr val="D1495B"/>
            </a:solidFill>
            <a:prstDash val="solid"/>
          </a:ln>
        </p:spPr>
      </p:sp>
    </p:spTree>
    <p:extLst>
      <p:ext uri="{BB962C8B-B14F-4D97-AF65-F5344CB8AC3E}">
        <p14:creationId xmlns:p14="http://schemas.microsoft.com/office/powerpoint/2010/main" val="16684207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1A3B503A-5C04-4AF6-B43F-9FD93D551107}"/>
              </a:ext>
            </a:extLst>
          </p:cNvPr>
          <p:cNvSpPr>
            <a:spLocks xmlns:a="http://schemas.openxmlformats.org/drawingml/2006/main" noGrp="1"/>
          </p:cNvSpPr>
          <p:nvPr/>
        </p:nvSpPr>
        <p:spPr>
          <a:xfrm xmlns:a="http://schemas.openxmlformats.org/drawingml/2006/main">
            <a:off x="393668" y="344043"/>
            <a:ext cx="5476875" cy="762000"/>
          </a:xfrm>
          <a:prstGeom xmlns:a="http://schemas.openxmlformats.org/drawingml/2006/main" prst="rect">
            <a:avLst/>
          </a:prstGeom>
        </p:spPr>
        <p:txBody>
          <a:bodyPr xmlns:a="http://schemas.openxmlformats.org/drawingml/2006/main" wrap="square" lIns="0" tIns="0" rIns="0" bIns="0" anchor="t">
            <a:normAutofit fontScale="71116"/>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Scatterplots reveal shape—not transport</a:t>
            </a:r>
          </a:p>
        </p:txBody>
      </p:sp>
      <p:sp>
        <p:nvSpPr>
          <p:cNvPr id="2" name="scatter-explanation">
            <a:extLst xmlns:a="http://schemas.openxmlformats.org/drawingml/2006/main">
              <a:ext uri="{FF2B5EF4-FFF2-40B4-BE49-F238E27FC236}">
                <a16:creationId xmlns:a16="http://schemas.microsoft.com/office/drawing/2014/main" id="{E08E1646-B78C-4452-9197-457F449DEDD7}"/>
              </a:ext>
            </a:extLst>
          </p:cNvPr>
          <p:cNvSpPr>
            <a:spLocks xmlns:a="http://schemas.openxmlformats.org/drawingml/2006/main" noGrp="1"/>
          </p:cNvSpPr>
          <p:nvPr/>
        </p:nvSpPr>
        <p:spPr>
          <a:xfrm xmlns:a="http://schemas.openxmlformats.org/drawingml/2006/main">
            <a:off x="393668" y="1666875"/>
            <a:ext cx="5286375" cy="3905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t>7,208 stock-quarter points
Orange line = pooled decile means
Beta and 126-day volatility bend upward in the highest deciles. Classic momentum was nearly flat.
The catch: all those dots still span only 15 market quarters.</a:t>
            </a:r>
          </a:p>
        </p:txBody>
      </p:sp>
      <p:sp>
        <p:nvSpPr>
          <p:cNvPr id="3" name="scatter-footnote">
            <a:extLst xmlns:a="http://schemas.openxmlformats.org/drawingml/2006/main">
              <a:ext uri="{FF2B5EF4-FFF2-40B4-BE49-F238E27FC236}">
                <a16:creationId xmlns:a16="http://schemas.microsoft.com/office/drawing/2014/main" id="{CE02FC4F-77A1-493D-8942-B01D6153DAC8}"/>
              </a:ext>
            </a:extLst>
          </p:cNvPr>
          <p:cNvSpPr>
            <a:spLocks xmlns:a="http://schemas.openxmlformats.org/drawingml/2006/main" noGrp="1"/>
          </p:cNvSpPr>
          <p:nvPr/>
        </p:nvSpPr>
        <p:spPr>
          <a:xfrm xmlns:a="http://schemas.openxmlformats.org/drawingml/2006/main">
            <a:off x="393668" y="5810250"/>
            <a:ext cx="5286375" cy="4000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67717E"/>
                </a:solidFill>
                <a:latin typeface="Helvetica Neue"/>
                <a:ea typeface="Helvetica Neue"/>
                <a:cs typeface="Helvetica Neue"/>
              </a:defRPr>
            </a:pPr>
            <a:r>
              <a:t>Display: 1st–99th percentile axes. Statistics: all finite observations.</a:t>
            </a:r>
          </a:p>
        </p:txBody>
      </p:sp>
      <p:sp>
        <p:nvSpPr>
          <p:cNvPr id="4" name="scatter-frame">
            <a:extLst xmlns:a="http://schemas.openxmlformats.org/drawingml/2006/main">
              <a:ext uri="{FF2B5EF4-FFF2-40B4-BE49-F238E27FC236}">
                <a16:creationId xmlns:a16="http://schemas.microsoft.com/office/drawing/2014/main" id="{30C30979-CAD8-4AB5-B7A7-A3BDB4E730AB}"/>
              </a:ext>
            </a:extLst>
          </p:cNvPr>
          <p:cNvSpPr>
            <a:spLocks xmlns:a="http://schemas.openxmlformats.org/drawingml/2006/main" noGrp="1"/>
          </p:cNvSpPr>
          <p:nvPr/>
        </p:nvSpPr>
        <p:spPr>
          <a:xfrm xmlns:a="http://schemas.openxmlformats.org/drawingml/2006/main">
            <a:off x="5953125" y="685800"/>
            <a:ext cx="5848350" cy="514350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B8BCC4"/>
            </a:solidFill>
            <a:prstDash val="solid"/>
          </a:ln>
        </p:spPr>
      </p:sp>
      <p:sp>
        <p:nvSpPr>
          <p:cNvPr id="5" name="footer-2">
            <a:extLst xmlns:a="http://schemas.openxmlformats.org/drawingml/2006/main">
              <a:ext uri="{FF2B5EF4-FFF2-40B4-BE49-F238E27FC236}">
                <a16:creationId xmlns:a16="http://schemas.microsoft.com/office/drawing/2014/main" id="{5795F852-166C-4310-9F18-BE51F0FD724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2</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93d00ec1c8a64da9"/>
          <a:stretch xmlns:a="http://schemas.openxmlformats.org/drawingml/2006/main"/>
        </p:blipFill>
        <p:spPr>
          <a:xfrm xmlns:a="http://schemas.openxmlformats.org/drawingml/2006/main">
            <a:off x="6076950" y="1790700"/>
            <a:ext cx="5600700" cy="2933700"/>
          </a:xfrm>
          <a:prstGeom xmlns:a="http://schemas.openxmlformats.org/drawingml/2006/main" prst="rect">
            <a:avLst/>
          </a:prstGeom>
        </p:spPr>
      </p:pic>
    </p:spTree>
    <p:extLst>
      <p:ext uri="{BB962C8B-B14F-4D97-AF65-F5344CB8AC3E}">
        <p14:creationId xmlns:p14="http://schemas.microsoft.com/office/powerpoint/2010/main" val="72495854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3BBC2DA7-19B0-4D8A-B7AC-36C662AE3FFE}"/>
              </a:ext>
            </a:extLst>
          </p:cNvPr>
          <p:cNvSpPr>
            <a:spLocks xmlns:a="http://schemas.openxmlformats.org/drawingml/2006/main" noGrp="1"/>
          </p:cNvSpPr>
          <p:nvPr/>
        </p:nvSpPr>
        <p:spPr>
          <a:xfrm xmlns:a="http://schemas.openxmlformats.org/drawingml/2006/main">
            <a:off x="393668" y="344043"/>
            <a:ext cx="11404568"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The atlas widens theory while keeping the search finite</a:t>
            </a:r>
          </a:p>
        </p:txBody>
      </p:sp>
      <p:sp>
        <p:nvSpPr>
          <p:cNvPr id="2" name="footer-3">
            <a:extLst xmlns:a="http://schemas.openxmlformats.org/drawingml/2006/main">
              <a:ext uri="{FF2B5EF4-FFF2-40B4-BE49-F238E27FC236}">
                <a16:creationId xmlns:a16="http://schemas.microsoft.com/office/drawing/2014/main" id="{A2EC5911-D86C-4A4B-81BA-768D3B4A77E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3</a:t>
            </a:r>
          </a:p>
        </p:txBody>
      </p:sp>
      <p:sp>
        <p:nvSpPr>
          <p:cNvPr id="3" name="family-0">
            <a:extLst xmlns:a="http://schemas.openxmlformats.org/drawingml/2006/main">
              <a:ext uri="{FF2B5EF4-FFF2-40B4-BE49-F238E27FC236}">
                <a16:creationId xmlns:a16="http://schemas.microsoft.com/office/drawing/2014/main" id="{1CD754C1-D67A-43E6-BA0E-22873CD14778}"/>
              </a:ext>
            </a:extLst>
          </p:cNvPr>
          <p:cNvSpPr>
            <a:spLocks xmlns:a="http://schemas.openxmlformats.org/drawingml/2006/main" noGrp="1"/>
          </p:cNvSpPr>
          <p:nvPr/>
        </p:nvSpPr>
        <p:spPr>
          <a:xfrm xmlns:a="http://schemas.openxmlformats.org/drawingml/2006/main">
            <a:off x="393668" y="1952625"/>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Momentum level · 7
1–12 month return, 12-to-1 momentum, acceleration, positive-month share</a:t>
            </a:r>
          </a:p>
        </p:txBody>
      </p:sp>
      <p:sp>
        <p:nvSpPr>
          <p:cNvPr id="4" name="family-1">
            <a:extLst xmlns:a="http://schemas.openxmlformats.org/drawingml/2006/main">
              <a:ext uri="{FF2B5EF4-FFF2-40B4-BE49-F238E27FC236}">
                <a16:creationId xmlns:a16="http://schemas.microsoft.com/office/drawing/2014/main" id="{CB37E2F5-7CE9-4559-82FF-314A1DBBE251}"/>
              </a:ext>
            </a:extLst>
          </p:cNvPr>
          <p:cNvSpPr>
            <a:spLocks xmlns:a="http://schemas.openxmlformats.org/drawingml/2006/main" noGrp="1"/>
          </p:cNvSpPr>
          <p:nvPr/>
        </p:nvSpPr>
        <p:spPr>
          <a:xfrm xmlns:a="http://schemas.openxmlformats.org/drawingml/2006/main">
            <a:off x="3334988" y="1952625"/>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Trend quality · 5
ATR-scaled slopes, R², 63/126-session path efficiency</a:t>
            </a:r>
          </a:p>
        </p:txBody>
      </p:sp>
      <p:sp>
        <p:nvSpPr>
          <p:cNvPr id="5" name="family-2">
            <a:extLst xmlns:a="http://schemas.openxmlformats.org/drawingml/2006/main">
              <a:ext uri="{FF2B5EF4-FFF2-40B4-BE49-F238E27FC236}">
                <a16:creationId xmlns:a16="http://schemas.microsoft.com/office/drawing/2014/main" id="{05E61344-76F2-46A4-89EC-A2D140F78659}"/>
              </a:ext>
            </a:extLst>
          </p:cNvPr>
          <p:cNvSpPr>
            <a:spLocks xmlns:a="http://schemas.openxmlformats.org/drawingml/2006/main" noGrp="1"/>
          </p:cNvSpPr>
          <p:nvPr/>
        </p:nvSpPr>
        <p:spPr>
          <a:xfrm xmlns:a="http://schemas.openxmlformats.org/drawingml/2006/main">
            <a:off x="6264402" y="1952625"/>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Trend state · 5
SMA structure, distance above anchors, proximity to highs</a:t>
            </a:r>
          </a:p>
        </p:txBody>
      </p:sp>
      <p:sp>
        <p:nvSpPr>
          <p:cNvPr id="6" name="family-3">
            <a:extLst xmlns:a="http://schemas.openxmlformats.org/drawingml/2006/main">
              <a:ext uri="{FF2B5EF4-FFF2-40B4-BE49-F238E27FC236}">
                <a16:creationId xmlns:a16="http://schemas.microsoft.com/office/drawing/2014/main" id="{B1884E8F-68AF-4BDB-AA8F-92931B316E1A}"/>
              </a:ext>
            </a:extLst>
          </p:cNvPr>
          <p:cNvSpPr>
            <a:spLocks xmlns:a="http://schemas.openxmlformats.org/drawingml/2006/main" noGrp="1"/>
          </p:cNvSpPr>
          <p:nvPr/>
        </p:nvSpPr>
        <p:spPr>
          <a:xfrm xmlns:a="http://schemas.openxmlformats.org/drawingml/2006/main">
            <a:off x="9205722" y="1952625"/>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Path / drawdown · 4
Current and maximum drawdown, recovery, short extension</a:t>
            </a:r>
          </a:p>
        </p:txBody>
      </p:sp>
      <p:sp>
        <p:nvSpPr>
          <p:cNvPr id="7" name="family-4">
            <a:extLst xmlns:a="http://schemas.openxmlformats.org/drawingml/2006/main">
              <a:ext uri="{FF2B5EF4-FFF2-40B4-BE49-F238E27FC236}">
                <a16:creationId xmlns:a16="http://schemas.microsoft.com/office/drawing/2014/main" id="{AFB150D3-8C28-407A-A424-578F6F7377AB}"/>
              </a:ext>
            </a:extLst>
          </p:cNvPr>
          <p:cNvSpPr>
            <a:spLocks xmlns:a="http://schemas.openxmlformats.org/drawingml/2006/main" noGrp="1"/>
          </p:cNvSpPr>
          <p:nvPr/>
        </p:nvSpPr>
        <p:spPr>
          <a:xfrm xmlns:a="http://schemas.openxmlformats.org/drawingml/2006/main">
            <a:off x="393668" y="4095750"/>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Risk · 5
Realized and downside volatility, ATR, volatility regime ratio</a:t>
            </a:r>
          </a:p>
        </p:txBody>
      </p:sp>
      <p:sp>
        <p:nvSpPr>
          <p:cNvPr id="8" name="family-5">
            <a:extLst xmlns:a="http://schemas.openxmlformats.org/drawingml/2006/main">
              <a:ext uri="{FF2B5EF4-FFF2-40B4-BE49-F238E27FC236}">
                <a16:creationId xmlns:a16="http://schemas.microsoft.com/office/drawing/2014/main" id="{B19B5036-7E7E-4DE6-86B7-AC2AAD3936F2}"/>
              </a:ext>
            </a:extLst>
          </p:cNvPr>
          <p:cNvSpPr>
            <a:spLocks xmlns:a="http://schemas.openxmlformats.org/drawingml/2006/main" noGrp="1"/>
          </p:cNvSpPr>
          <p:nvPr/>
        </p:nvSpPr>
        <p:spPr>
          <a:xfrm xmlns:a="http://schemas.openxmlformats.org/drawingml/2006/main">
            <a:off x="3334988" y="4095750"/>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Participation · 3
Volume trend, up-volume share, price/volume correlation</a:t>
            </a:r>
          </a:p>
        </p:txBody>
      </p:sp>
      <p:sp>
        <p:nvSpPr>
          <p:cNvPr id="9" name="family-6">
            <a:extLst xmlns:a="http://schemas.openxmlformats.org/drawingml/2006/main">
              <a:ext uri="{FF2B5EF4-FFF2-40B4-BE49-F238E27FC236}">
                <a16:creationId xmlns:a16="http://schemas.microsoft.com/office/drawing/2014/main" id="{F0A6753C-44A3-444E-BAC5-FB47D56A17CE}"/>
              </a:ext>
            </a:extLst>
          </p:cNvPr>
          <p:cNvSpPr>
            <a:spLocks xmlns:a="http://schemas.openxmlformats.org/drawingml/2006/main" noGrp="1"/>
          </p:cNvSpPr>
          <p:nvPr/>
        </p:nvSpPr>
        <p:spPr>
          <a:xfrm xmlns:a="http://schemas.openxmlformats.org/drawingml/2006/main">
            <a:off x="6264402" y="4095750"/>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Relative strength · 4
Beta, market-relative, residual and sector-relative momentum</a:t>
            </a:r>
          </a:p>
        </p:txBody>
      </p:sp>
      <p:sp>
        <p:nvSpPr>
          <p:cNvPr id="10" name="family-7">
            <a:extLst xmlns:a="http://schemas.openxmlformats.org/drawingml/2006/main">
              <a:ext uri="{FF2B5EF4-FFF2-40B4-BE49-F238E27FC236}">
                <a16:creationId xmlns:a16="http://schemas.microsoft.com/office/drawing/2014/main" id="{4EB122C6-C10A-403E-9310-769486B2E559}"/>
              </a:ext>
            </a:extLst>
          </p:cNvPr>
          <p:cNvSpPr>
            <a:spLocks xmlns:a="http://schemas.openxmlformats.org/drawingml/2006/main" noGrp="1"/>
          </p:cNvSpPr>
          <p:nvPr/>
        </p:nvSpPr>
        <p:spPr>
          <a:xfrm xmlns:a="http://schemas.openxmlformats.org/drawingml/2006/main">
            <a:off x="9205722" y="4095750"/>
            <a:ext cx="2595944"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650" b="0">
                <a:solidFill>
                  <a:srgbClr val="000000"/>
                </a:solidFill>
                <a:latin typeface="Helvetica Neue"/>
                <a:ea typeface="Helvetica Neue"/>
                <a:cs typeface="Helvetica Neue"/>
              </a:defRPr>
            </a:pPr>
            <a:r>
              <a:t>Search control · 9
Eight Ridge baskets plus one fixed-sign composite—no subset mining</a:t>
            </a:r>
          </a:p>
        </p:txBody>
      </p:sp>
    </p:spTree>
    <p:extLst>
      <p:ext uri="{BB962C8B-B14F-4D97-AF65-F5344CB8AC3E}">
        <p14:creationId xmlns:p14="http://schemas.microsoft.com/office/powerpoint/2010/main" val="17053353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lide-title">
            <a:extLst xmlns:a="http://schemas.openxmlformats.org/drawingml/2006/main">
              <a:ext uri="{FF2B5EF4-FFF2-40B4-BE49-F238E27FC236}">
                <a16:creationId xmlns:a16="http://schemas.microsoft.com/office/drawing/2014/main" id="{EE91136F-E2BF-4A83-8DC8-35C8F7A119AF}"/>
              </a:ext>
            </a:extLst>
          </p:cNvPr>
          <p:cNvSpPr>
            <a:spLocks xmlns:a="http://schemas.openxmlformats.org/drawingml/2006/main" noGrp="1"/>
          </p:cNvSpPr>
          <p:nvPr/>
        </p:nvSpPr>
        <p:spPr>
          <a:xfrm xmlns:a="http://schemas.openxmlformats.org/drawingml/2006/main">
            <a:off x="393668" y="344043"/>
            <a:ext cx="11404568" cy="762000"/>
          </a:xfrm>
          <a:prstGeom xmlns:a="http://schemas.openxmlformats.org/drawingml/2006/main" prst="rect">
            <a:avLst/>
          </a:prstGeom>
        </p:spPr>
        <p:txBody>
          <a:bodyPr xmlns:a="http://schemas.openxmlformats.org/drawingml/2006/main" wrap="square" lIns="0" tIns="0" rIns="0" bIns="0" anchor="t">
            <a:normAutofit fontScale="97603"/>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Selection happens inside TRAIN before any reserved evidence</a:t>
            </a:r>
          </a:p>
        </p:txBody>
      </p:sp>
      <p:sp>
        <p:nvSpPr>
          <p:cNvPr id="2" name="timeline-rule">
            <a:extLst xmlns:a="http://schemas.openxmlformats.org/drawingml/2006/main">
              <a:ext uri="{FF2B5EF4-FFF2-40B4-BE49-F238E27FC236}">
                <a16:creationId xmlns:a16="http://schemas.microsoft.com/office/drawing/2014/main" id="{56B37EE0-34FA-42FA-A0D4-6C044CD9A16F}"/>
              </a:ext>
            </a:extLst>
          </p:cNvPr>
          <p:cNvSpPr>
            <a:spLocks xmlns:a="http://schemas.openxmlformats.org/drawingml/2006/main" noGrp="1"/>
          </p:cNvSpPr>
          <p:nvPr/>
        </p:nvSpPr>
        <p:spPr>
          <a:xfrm xmlns:a="http://schemas.openxmlformats.org/drawingml/2006/main">
            <a:off x="337757" y="3373755"/>
            <a:ext cx="11430000" cy="19050"/>
          </a:xfrm>
          <a:prstGeom xmlns:a="http://schemas.openxmlformats.org/drawingml/2006/main" prst="rect">
            <a:avLst/>
          </a:prstGeom>
          <a:solidFill xmlns:a="http://schemas.openxmlformats.org/drawingml/2006/main">
            <a:srgbClr val="000000"/>
          </a:solidFill>
          <a:ln xmlns:a="http://schemas.openxmlformats.org/drawingml/2006/main" w="0">
            <a:solidFill>
              <a:srgbClr val="000000"/>
            </a:solidFill>
            <a:prstDash val="solid"/>
          </a:ln>
        </p:spPr>
      </p:sp>
      <p:sp>
        <p:nvSpPr>
          <p:cNvPr id="3" name="dot-1">
            <a:extLst xmlns:a="http://schemas.openxmlformats.org/drawingml/2006/main">
              <a:ext uri="{FF2B5EF4-FFF2-40B4-BE49-F238E27FC236}">
                <a16:creationId xmlns:a16="http://schemas.microsoft.com/office/drawing/2014/main" id="{A7D7A886-F28E-4F6F-AC5A-FF510576682B}"/>
              </a:ext>
            </a:extLst>
          </p:cNvPr>
          <p:cNvSpPr>
            <a:spLocks xmlns:a="http://schemas.openxmlformats.org/drawingml/2006/main" noGrp="1"/>
          </p:cNvSpPr>
          <p:nvPr/>
        </p:nvSpPr>
        <p:spPr>
          <a:xfrm xmlns:a="http://schemas.openxmlformats.org/drawingml/2006/main">
            <a:off x="381000" y="3305175"/>
            <a:ext cx="133350" cy="1333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4" name="dot-2">
            <a:extLst xmlns:a="http://schemas.openxmlformats.org/drawingml/2006/main">
              <a:ext uri="{FF2B5EF4-FFF2-40B4-BE49-F238E27FC236}">
                <a16:creationId xmlns:a16="http://schemas.microsoft.com/office/drawing/2014/main" id="{399E4115-AA20-4FB3-A512-6E81245C0024}"/>
              </a:ext>
            </a:extLst>
          </p:cNvPr>
          <p:cNvSpPr>
            <a:spLocks xmlns:a="http://schemas.openxmlformats.org/drawingml/2006/main" noGrp="1"/>
          </p:cNvSpPr>
          <p:nvPr/>
        </p:nvSpPr>
        <p:spPr>
          <a:xfrm xmlns:a="http://schemas.openxmlformats.org/drawingml/2006/main">
            <a:off x="4248150" y="3305175"/>
            <a:ext cx="133350" cy="1333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5" name="dot-3">
            <a:extLst xmlns:a="http://schemas.openxmlformats.org/drawingml/2006/main">
              <a:ext uri="{FF2B5EF4-FFF2-40B4-BE49-F238E27FC236}">
                <a16:creationId xmlns:a16="http://schemas.microsoft.com/office/drawing/2014/main" id="{C9366A48-D91C-4A9E-AEAB-46C19CA015B3}"/>
              </a:ext>
            </a:extLst>
          </p:cNvPr>
          <p:cNvSpPr>
            <a:spLocks xmlns:a="http://schemas.openxmlformats.org/drawingml/2006/main" noGrp="1"/>
          </p:cNvSpPr>
          <p:nvPr/>
        </p:nvSpPr>
        <p:spPr>
          <a:xfrm xmlns:a="http://schemas.openxmlformats.org/drawingml/2006/main">
            <a:off x="8172450" y="3305175"/>
            <a:ext cx="133350" cy="133350"/>
          </a:xfrm>
          <a:prstGeom xmlns:a="http://schemas.openxmlformats.org/drawingml/2006/main" prst="ellipse">
            <a:avLst/>
          </a:prstGeom>
          <a:solidFill xmlns:a="http://schemas.openxmlformats.org/drawingml/2006/main">
            <a:srgbClr val="000000"/>
          </a:solidFill>
          <a:ln xmlns:a="http://schemas.openxmlformats.org/drawingml/2006/main" w="0">
            <a:solidFill>
              <a:srgbClr val="000000"/>
            </a:solidFill>
            <a:prstDash val="solid"/>
          </a:ln>
        </p:spPr>
      </p:sp>
      <p:sp>
        <p:nvSpPr>
          <p:cNvPr id="6" name="label-1">
            <a:extLst xmlns:a="http://schemas.openxmlformats.org/drawingml/2006/main">
              <a:ext uri="{FF2B5EF4-FFF2-40B4-BE49-F238E27FC236}">
                <a16:creationId xmlns:a16="http://schemas.microsoft.com/office/drawing/2014/main" id="{6C87C7E2-591F-44E2-9C23-9F04206DD1AB}"/>
              </a:ext>
            </a:extLst>
          </p:cNvPr>
          <p:cNvSpPr>
            <a:spLocks xmlns:a="http://schemas.openxmlformats.org/drawingml/2006/main" noGrp="1"/>
          </p:cNvSpPr>
          <p:nvPr/>
        </p:nvSpPr>
        <p:spPr>
          <a:xfrm xmlns:a="http://schemas.openxmlformats.org/drawingml/2006/main">
            <a:off x="393668" y="27813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OBSERVE</a:t>
            </a:r>
          </a:p>
        </p:txBody>
      </p:sp>
      <p:sp>
        <p:nvSpPr>
          <p:cNvPr id="7" name="label-2">
            <a:extLst xmlns:a="http://schemas.openxmlformats.org/drawingml/2006/main">
              <a:ext uri="{FF2B5EF4-FFF2-40B4-BE49-F238E27FC236}">
                <a16:creationId xmlns:a16="http://schemas.microsoft.com/office/drawing/2014/main" id="{7D433374-C3D5-4588-A88E-AA14B6E33278}"/>
              </a:ext>
            </a:extLst>
          </p:cNvPr>
          <p:cNvSpPr>
            <a:spLocks xmlns:a="http://schemas.openxmlformats.org/drawingml/2006/main" noGrp="1"/>
          </p:cNvSpPr>
          <p:nvPr/>
        </p:nvSpPr>
        <p:spPr>
          <a:xfrm xmlns:a="http://schemas.openxmlformats.org/drawingml/2006/main">
            <a:off x="4294156" y="27813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REHEARSE</a:t>
            </a:r>
          </a:p>
        </p:txBody>
      </p:sp>
      <p:sp>
        <p:nvSpPr>
          <p:cNvPr id="8" name="label-3">
            <a:extLst xmlns:a="http://schemas.openxmlformats.org/drawingml/2006/main">
              <a:ext uri="{FF2B5EF4-FFF2-40B4-BE49-F238E27FC236}">
                <a16:creationId xmlns:a16="http://schemas.microsoft.com/office/drawing/2014/main" id="{CCABA231-23CF-43C4-8669-72F50356F1A4}"/>
              </a:ext>
            </a:extLst>
          </p:cNvPr>
          <p:cNvSpPr>
            <a:spLocks xmlns:a="http://schemas.openxmlformats.org/drawingml/2006/main" noGrp="1"/>
          </p:cNvSpPr>
          <p:nvPr/>
        </p:nvSpPr>
        <p:spPr>
          <a:xfrm xmlns:a="http://schemas.openxmlformats.org/drawingml/2006/main">
            <a:off x="8223218" y="2781300"/>
            <a:ext cx="1714500" cy="285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1">
                <a:solidFill>
                  <a:srgbClr val="000000"/>
                </a:solidFill>
                <a:latin typeface="Helvetica Neue"/>
                <a:ea typeface="Helvetica Neue"/>
                <a:cs typeface="Helvetica Neue"/>
              </a:defRPr>
            </a:pPr>
            <a:r>
              <a:t>VALIDATE</a:t>
            </a:r>
          </a:p>
        </p:txBody>
      </p:sp>
      <p:sp>
        <p:nvSpPr>
          <p:cNvPr id="9" name="timeline-1">
            <a:extLst xmlns:a="http://schemas.openxmlformats.org/drawingml/2006/main">
              <a:ext uri="{FF2B5EF4-FFF2-40B4-BE49-F238E27FC236}">
                <a16:creationId xmlns:a16="http://schemas.microsoft.com/office/drawing/2014/main" id="{928D5947-C1D5-43BD-A761-50E5DA1D9193}"/>
              </a:ext>
            </a:extLst>
          </p:cNvPr>
          <p:cNvSpPr>
            <a:spLocks xmlns:a="http://schemas.openxmlformats.org/drawingml/2006/main" noGrp="1"/>
          </p:cNvSpPr>
          <p:nvPr/>
        </p:nvSpPr>
        <p:spPr>
          <a:xfrm xmlns:a="http://schemas.openxmlformats.org/drawingml/2006/main">
            <a:off x="399859" y="3762375"/>
            <a:ext cx="3156109" cy="1714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33-feature atlas
Scatter, deciles, per-quarter IC and redundancy across all 15 TRAIN quarters.</a:t>
            </a:r>
          </a:p>
        </p:txBody>
      </p:sp>
      <p:sp>
        <p:nvSpPr>
          <p:cNvPr id="10" name="timeline-2">
            <a:extLst xmlns:a="http://schemas.openxmlformats.org/drawingml/2006/main">
              <a:ext uri="{FF2B5EF4-FFF2-40B4-BE49-F238E27FC236}">
                <a16:creationId xmlns:a16="http://schemas.microsoft.com/office/drawing/2014/main" id="{64E40DB2-C534-4A1A-9836-3B4AAABA75E7}"/>
              </a:ext>
            </a:extLst>
          </p:cNvPr>
          <p:cNvSpPr>
            <a:spLocks xmlns:a="http://schemas.openxmlformats.org/drawingml/2006/main" noGrp="1"/>
          </p:cNvSpPr>
          <p:nvPr/>
        </p:nvSpPr>
        <p:spPr>
          <a:xfrm xmlns:a="http://schemas.openxmlformats.org/drawingml/2006/main">
            <a:off x="4317111" y="3762375"/>
            <a:ext cx="3156109" cy="1714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Nested inner search
Nine frozen candidates; Ridge lambda selected only from earlier quarters.</a:t>
            </a:r>
          </a:p>
        </p:txBody>
      </p:sp>
      <p:sp>
        <p:nvSpPr>
          <p:cNvPr id="11" name="timeline-3">
            <a:extLst xmlns:a="http://schemas.openxmlformats.org/drawingml/2006/main">
              <a:ext uri="{FF2B5EF4-FFF2-40B4-BE49-F238E27FC236}">
                <a16:creationId xmlns:a16="http://schemas.microsoft.com/office/drawing/2014/main" id="{E01D04FA-C1F0-4436-83D7-BDA51A845C1A}"/>
              </a:ext>
            </a:extLst>
          </p:cNvPr>
          <p:cNvSpPr>
            <a:spLocks xmlns:a="http://schemas.openxmlformats.org/drawingml/2006/main" noGrp="1"/>
          </p:cNvSpPr>
          <p:nvPr/>
        </p:nvSpPr>
        <p:spPr>
          <a:xfrm xmlns:a="http://schemas.openxmlformats.org/drawingml/2006/main">
            <a:off x="8177879" y="3762375"/>
            <a:ext cx="3156109" cy="17145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800" b="0">
                <a:solidFill>
                  <a:srgbClr val="000000"/>
                </a:solidFill>
                <a:latin typeface="Helvetica Neue"/>
                <a:ea typeface="Helvetica Neue"/>
                <a:cs typeface="Helvetica Neue"/>
              </a:defRPr>
            </a:pPr>
            <a:r>
              <a:t>Two outer blocks
Six untouched TRAIN quarters plus a 200-draw full-search null.</a:t>
            </a:r>
          </a:p>
        </p:txBody>
      </p:sp>
      <p:sp>
        <p:nvSpPr>
          <p:cNvPr id="12" name="oos-lock">
            <a:extLst xmlns:a="http://schemas.openxmlformats.org/drawingml/2006/main">
              <a:ext uri="{FF2B5EF4-FFF2-40B4-BE49-F238E27FC236}">
                <a16:creationId xmlns:a16="http://schemas.microsoft.com/office/drawing/2014/main" id="{CA95659F-12D9-4771-B437-4F51C474DCA1}"/>
              </a:ext>
            </a:extLst>
          </p:cNvPr>
          <p:cNvSpPr>
            <a:spLocks xmlns:a="http://schemas.openxmlformats.org/drawingml/2006/main" noGrp="1"/>
          </p:cNvSpPr>
          <p:nvPr/>
        </p:nvSpPr>
        <p:spPr>
          <a:xfrm xmlns:a="http://schemas.openxmlformats.org/drawingml/2006/main">
            <a:off x="3524250" y="5953125"/>
            <a:ext cx="5143500" cy="3619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725" b="1">
                <a:solidFill>
                  <a:srgbClr val="D1495B"/>
                </a:solidFill>
                <a:latin typeface="Helvetica Neue"/>
                <a:ea typeface="Helvetica Neue"/>
                <a:cs typeface="Helvetica Neue"/>
              </a:defRPr>
            </a:pPr>
            <a:r>
              <a:t>Reserved 2021–2023 OOS: never queried</a:t>
            </a:r>
          </a:p>
        </p:txBody>
      </p:sp>
      <p:sp>
        <p:nvSpPr>
          <p:cNvPr id="13" name="footer-4">
            <a:extLst xmlns:a="http://schemas.openxmlformats.org/drawingml/2006/main">
              <a:ext uri="{FF2B5EF4-FFF2-40B4-BE49-F238E27FC236}">
                <a16:creationId xmlns:a16="http://schemas.microsoft.com/office/drawing/2014/main" id="{6DBEC385-0D75-4350-98D0-8EB57B44970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4</a:t>
            </a:r>
          </a:p>
        </p:txBody>
      </p:sp>
    </p:spTree>
    <p:extLst>
      <p:ext uri="{BB962C8B-B14F-4D97-AF65-F5344CB8AC3E}">
        <p14:creationId xmlns:p14="http://schemas.microsoft.com/office/powerpoint/2010/main" val="978530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9DCB3F6-F4ED-49ED-85B7-91FE95418072}"/>
              </a:ext>
            </a:extLst>
          </p:cNvPr>
          <p:cNvSpPr>
            <a:spLocks xmlns:a="http://schemas.openxmlformats.org/drawingml/2006/main" noGrp="1"/>
          </p:cNvSpPr>
          <p:nvPr/>
        </p:nvSpPr>
        <p:spPr>
          <a:xfrm xmlns:a="http://schemas.openxmlformats.org/drawingml/2006/main">
            <a:off x="393668" y="344043"/>
            <a:ext cx="5715000" cy="762000"/>
          </a:xfrm>
          <a:prstGeom xmlns:a="http://schemas.openxmlformats.org/drawingml/2006/main" prst="rect">
            <a:avLst/>
          </a:prstGeom>
        </p:spPr>
        <p:txBody>
          <a:bodyPr xmlns:a="http://schemas.openxmlformats.org/drawingml/2006/main" wrap="square" lIns="0" tIns="0" rIns="0" bIns="0" anchor="t">
            <a:normAutofit fontScale="69444"/>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Pooled averages favored risk—not classic momentum</a:t>
            </a:r>
          </a:p>
        </p:txBody>
      </p:sp>
      <p:sp>
        <p:nvSpPr>
          <p:cNvPr id="2" name="scorecard-frame">
            <a:extLst xmlns:a="http://schemas.openxmlformats.org/drawingml/2006/main">
              <a:ext uri="{FF2B5EF4-FFF2-40B4-BE49-F238E27FC236}">
                <a16:creationId xmlns:a16="http://schemas.microsoft.com/office/drawing/2014/main" id="{C51EAFC1-3469-4491-9970-EE45B4FE517A}"/>
              </a:ext>
            </a:extLst>
          </p:cNvPr>
          <p:cNvSpPr>
            <a:spLocks xmlns:a="http://schemas.openxmlformats.org/drawingml/2006/main" noGrp="1"/>
          </p:cNvSpPr>
          <p:nvPr/>
        </p:nvSpPr>
        <p:spPr>
          <a:xfrm xmlns:a="http://schemas.openxmlformats.org/drawingml/2006/main">
            <a:off x="393668" y="1219200"/>
            <a:ext cx="5619750" cy="4810125"/>
          </a:xfrm>
          <a:prstGeom xmlns:a="http://schemas.openxmlformats.org/drawingml/2006/main" prst="roundRect">
            <a:avLst>
              <a:gd name="adj" fmla="val 1584"/>
            </a:avLst>
          </a:prstGeom>
          <a:solidFill xmlns:a="http://schemas.openxmlformats.org/drawingml/2006/main">
            <a:srgbClr val="FFFFFF"/>
          </a:solidFill>
          <a:ln xmlns:a="http://schemas.openxmlformats.org/drawingml/2006/main" w="9525">
            <a:solidFill>
              <a:srgbClr val="B8BCC4"/>
            </a:solidFill>
            <a:prstDash val="solid"/>
          </a:ln>
        </p:spPr>
      </p:sp>
      <p:sp>
        <p:nvSpPr>
          <p:cNvPr id="3" name="callout-a">
            <a:extLst xmlns:a="http://schemas.openxmlformats.org/drawingml/2006/main">
              <a:ext uri="{FF2B5EF4-FFF2-40B4-BE49-F238E27FC236}">
                <a16:creationId xmlns:a16="http://schemas.microsoft.com/office/drawing/2014/main" id="{B7CAA867-65EB-41DE-AA43-802E1D20E4D0}"/>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4" name="callout-b">
            <a:extLst xmlns:a="http://schemas.openxmlformats.org/drawingml/2006/main">
              <a:ext uri="{FF2B5EF4-FFF2-40B4-BE49-F238E27FC236}">
                <a16:creationId xmlns:a16="http://schemas.microsoft.com/office/drawing/2014/main" id="{1037BAB4-1FFE-4BFD-9E8E-D5116E729F19}"/>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5" name="callout-c">
            <a:extLst xmlns:a="http://schemas.openxmlformats.org/drawingml/2006/main">
              <a:ext uri="{FF2B5EF4-FFF2-40B4-BE49-F238E27FC236}">
                <a16:creationId xmlns:a16="http://schemas.microsoft.com/office/drawing/2014/main" id="{2C5C6EC7-7596-4EC2-8014-7B68ECA9EC6B}"/>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6" name="callout-a-text">
            <a:extLst xmlns:a="http://schemas.openxmlformats.org/drawingml/2006/main">
              <a:ext uri="{FF2B5EF4-FFF2-40B4-BE49-F238E27FC236}">
                <a16:creationId xmlns:a16="http://schemas.microsoft.com/office/drawing/2014/main" id="{F796E432-99F3-4218-A660-9BEDECFBC1C5}"/>
              </a:ext>
            </a:extLst>
          </p:cNvPr>
          <p:cNvSpPr>
            <a:spLocks xmlns:a="http://schemas.openxmlformats.org/drawingml/2006/main" noGrp="1"/>
          </p:cNvSpPr>
          <p:nvPr/>
        </p:nvSpPr>
        <p:spPr>
          <a:xfrm xmlns:a="http://schemas.openxmlformats.org/drawingml/2006/main">
            <a:off x="6561677" y="714375"/>
            <a:ext cx="4986909"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t>BETA · +0.061 MEAN IC
Only 8 of 15 quarters were positive.</a:t>
            </a:r>
          </a:p>
        </p:txBody>
      </p:sp>
      <p:sp>
        <p:nvSpPr>
          <p:cNvPr id="7" name="callout-b-text">
            <a:extLst xmlns:a="http://schemas.openxmlformats.org/drawingml/2006/main">
              <a:ext uri="{FF2B5EF4-FFF2-40B4-BE49-F238E27FC236}">
                <a16:creationId xmlns:a16="http://schemas.microsoft.com/office/drawing/2014/main" id="{A65CE673-796F-4737-9B06-99BAAA11D1FF}"/>
              </a:ext>
            </a:extLst>
          </p:cNvPr>
          <p:cNvSpPr>
            <a:spLocks xmlns:a="http://schemas.openxmlformats.org/drawingml/2006/main" noGrp="1"/>
          </p:cNvSpPr>
          <p:nvPr/>
        </p:nvSpPr>
        <p:spPr>
          <a:xfrm xmlns:a="http://schemas.openxmlformats.org/drawingml/2006/main">
            <a:off x="6561677" y="2686050"/>
            <a:ext cx="4986909"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t>RECOVERY · 12 OF 15 POSITIVE
But mean IC was only +0.037.</a:t>
            </a:r>
          </a:p>
        </p:txBody>
      </p:sp>
      <p:sp>
        <p:nvSpPr>
          <p:cNvPr id="8" name="callout-c-text">
            <a:extLst xmlns:a="http://schemas.openxmlformats.org/drawingml/2006/main">
              <a:ext uri="{FF2B5EF4-FFF2-40B4-BE49-F238E27FC236}">
                <a16:creationId xmlns:a16="http://schemas.microsoft.com/office/drawing/2014/main" id="{C2C0B835-6D29-4439-91DE-4B75BB2711A5}"/>
              </a:ext>
            </a:extLst>
          </p:cNvPr>
          <p:cNvSpPr>
            <a:spLocks xmlns:a="http://schemas.openxmlformats.org/drawingml/2006/main" noGrp="1"/>
          </p:cNvSpPr>
          <p:nvPr/>
        </p:nvSpPr>
        <p:spPr>
          <a:xfrm xmlns:a="http://schemas.openxmlformats.org/drawingml/2006/main">
            <a:off x="6561677" y="4695825"/>
            <a:ext cx="4986909" cy="10477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t>12–1 MOMENTUM · ~0 MEAN IC
Sign frequency alone did not create magnitude.</a:t>
            </a:r>
          </a:p>
        </p:txBody>
      </p:sp>
      <p:sp>
        <p:nvSpPr>
          <p:cNvPr id="9" name="footer-5">
            <a:extLst xmlns:a="http://schemas.openxmlformats.org/drawingml/2006/main">
              <a:ext uri="{FF2B5EF4-FFF2-40B4-BE49-F238E27FC236}">
                <a16:creationId xmlns:a16="http://schemas.microsoft.com/office/drawing/2014/main" id="{A7A9916C-E9DA-4EE1-AEA1-464FA9A7896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5</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110ee4ed6804db8"/>
          <a:stretch xmlns:a="http://schemas.openxmlformats.org/drawingml/2006/main"/>
        </p:blipFill>
        <p:spPr>
          <a:xfrm xmlns:a="http://schemas.openxmlformats.org/drawingml/2006/main">
            <a:off x="514350" y="1910195"/>
            <a:ext cx="5372100" cy="3418609"/>
          </a:xfrm>
          <a:prstGeom xmlns:a="http://schemas.openxmlformats.org/drawingml/2006/main" prst="rect">
            <a:avLst/>
          </a:prstGeom>
        </p:spPr>
      </p:pic>
    </p:spTree>
    <p:extLst>
      <p:ext uri="{BB962C8B-B14F-4D97-AF65-F5344CB8AC3E}">
        <p14:creationId xmlns:p14="http://schemas.microsoft.com/office/powerpoint/2010/main" val="1463403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03D02619-9B0B-49B4-9E77-F06D3B28D70A}"/>
              </a:ext>
            </a:extLst>
          </p:cNvPr>
          <p:cNvSpPr>
            <a:spLocks xmlns:a="http://schemas.openxmlformats.org/drawingml/2006/main" noGrp="1"/>
          </p:cNvSpPr>
          <p:nvPr/>
        </p:nvSpPr>
        <p:spPr>
          <a:xfrm xmlns:a="http://schemas.openxmlformats.org/drawingml/2006/main">
            <a:off x="393668" y="344043"/>
            <a:ext cx="11404568"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Feature direction changed with the market quarter</a:t>
            </a:r>
          </a:p>
        </p:txBody>
      </p:sp>
      <p:sp>
        <p:nvSpPr>
          <p:cNvPr id="2" name="heatmap-frame">
            <a:extLst xmlns:a="http://schemas.openxmlformats.org/drawingml/2006/main">
              <a:ext uri="{FF2B5EF4-FFF2-40B4-BE49-F238E27FC236}">
                <a16:creationId xmlns:a16="http://schemas.microsoft.com/office/drawing/2014/main" id="{F11F2341-2497-4D5A-AE4C-1887219FB90F}"/>
              </a:ext>
            </a:extLst>
          </p:cNvPr>
          <p:cNvSpPr>
            <a:spLocks xmlns:a="http://schemas.openxmlformats.org/drawingml/2006/main" noGrp="1"/>
          </p:cNvSpPr>
          <p:nvPr/>
        </p:nvSpPr>
        <p:spPr>
          <a:xfrm xmlns:a="http://schemas.openxmlformats.org/drawingml/2006/main">
            <a:off x="393668" y="1143000"/>
            <a:ext cx="6572250" cy="5048250"/>
          </a:xfrm>
          <a:prstGeom xmlns:a="http://schemas.openxmlformats.org/drawingml/2006/main" prst="roundRect">
            <a:avLst>
              <a:gd name="adj" fmla="val 1509"/>
            </a:avLst>
          </a:prstGeom>
          <a:solidFill xmlns:a="http://schemas.openxmlformats.org/drawingml/2006/main">
            <a:srgbClr val="FFFFFF"/>
          </a:solidFill>
          <a:ln xmlns:a="http://schemas.openxmlformats.org/drawingml/2006/main" w="9525">
            <a:solidFill>
              <a:srgbClr val="B8BCC4"/>
            </a:solidFill>
            <a:prstDash val="solid"/>
          </a:ln>
        </p:spPr>
      </p:sp>
      <p:sp>
        <p:nvSpPr>
          <p:cNvPr id="3" name="heatmap-body">
            <a:extLst xmlns:a="http://schemas.openxmlformats.org/drawingml/2006/main">
              <a:ext uri="{FF2B5EF4-FFF2-40B4-BE49-F238E27FC236}">
                <a16:creationId xmlns:a16="http://schemas.microsoft.com/office/drawing/2014/main" id="{9DC8B965-4284-472B-BD16-FF8C836C1A75}"/>
              </a:ext>
            </a:extLst>
          </p:cNvPr>
          <p:cNvSpPr>
            <a:spLocks xmlns:a="http://schemas.openxmlformats.org/drawingml/2006/main" noGrp="1"/>
          </p:cNvSpPr>
          <p:nvPr/>
        </p:nvSpPr>
        <p:spPr>
          <a:xfrm xmlns:a="http://schemas.openxmlformats.org/drawingml/2006/main">
            <a:off x="7239000" y="1571625"/>
            <a:ext cx="4333875" cy="2190750"/>
          </a:xfrm>
          <a:prstGeom xmlns:a="http://schemas.openxmlformats.org/drawingml/2006/main" prst="rect">
            <a:avLst/>
          </a:prstGeom>
        </p:spPr>
        <p:txBody>
          <a:bodyPr xmlns:a="http://schemas.openxmlformats.org/drawingml/2006/main" wrap="square" lIns="0" tIns="0" rIns="0" bIns="0" anchor="t">
            <a:normAutofit fontScale="88735"/>
          </a:bodyPr>
          <a:lstStyle xmlns:a="http://schemas.openxmlformats.org/drawingml/2006/main"/>
          <a:p xmlns:a="http://schemas.openxmlformats.org/drawingml/2006/main">
            <a:pPr algn="l">
              <a:defRPr sz="2025" b="0">
                <a:solidFill>
                  <a:srgbClr val="000000"/>
                </a:solidFill>
                <a:latin typeface="Helvetica Neue"/>
                <a:ea typeface="Helvetica Neue"/>
                <a:cs typeface="Helvetica Neue"/>
              </a:defRPr>
            </a:pPr>
            <a:r>
              <a:t>Green and red alternate within the same rows.
Risk, trend and momentum relationships were episodic—not stable laws.
That instability is invisible in one pooled scatter cloud.</a:t>
            </a:r>
          </a:p>
        </p:txBody>
      </p:sp>
      <p:sp>
        <p:nvSpPr>
          <p:cNvPr id="4" name="heat-stat-1">
            <a:extLst xmlns:a="http://schemas.openxmlformats.org/drawingml/2006/main">
              <a:ext uri="{FF2B5EF4-FFF2-40B4-BE49-F238E27FC236}">
                <a16:creationId xmlns:a16="http://schemas.microsoft.com/office/drawing/2014/main" id="{39DB631D-948B-4D5D-9200-40C4B6293C26}"/>
              </a:ext>
            </a:extLst>
          </p:cNvPr>
          <p:cNvSpPr>
            <a:spLocks xmlns:a="http://schemas.openxmlformats.org/drawingml/2006/main" noGrp="1"/>
          </p:cNvSpPr>
          <p:nvPr/>
        </p:nvSpPr>
        <p:spPr>
          <a:xfrm xmlns:a="http://schemas.openxmlformats.org/drawingml/2006/main">
            <a:off x="7239000" y="4095750"/>
            <a:ext cx="1952625" cy="1571625"/>
          </a:xfrm>
          <a:prstGeom xmlns:a="http://schemas.openxmlformats.org/drawingml/2006/main" prst="roundRect">
            <a:avLst>
              <a:gd name="adj" fmla="val 4848"/>
            </a:avLst>
          </a:prstGeom>
          <a:solidFill xmlns:a="http://schemas.openxmlformats.org/drawingml/2006/main">
            <a:srgbClr val="F2F2F2"/>
          </a:solidFill>
          <a:ln xmlns:a="http://schemas.openxmlformats.org/drawingml/2006/main" w="0">
            <a:solidFill>
              <a:srgbClr val="F2F2F2"/>
            </a:solidFill>
            <a:prstDash val="solid"/>
          </a:ln>
        </p:spPr>
      </p:sp>
      <p:sp>
        <p:nvSpPr>
          <p:cNvPr id="5" name="heat-stat-2">
            <a:extLst xmlns:a="http://schemas.openxmlformats.org/drawingml/2006/main">
              <a:ext uri="{FF2B5EF4-FFF2-40B4-BE49-F238E27FC236}">
                <a16:creationId xmlns:a16="http://schemas.microsoft.com/office/drawing/2014/main" id="{569478BB-1370-4186-BC77-B6586FF6800B}"/>
              </a:ext>
            </a:extLst>
          </p:cNvPr>
          <p:cNvSpPr>
            <a:spLocks xmlns:a="http://schemas.openxmlformats.org/drawingml/2006/main" noGrp="1"/>
          </p:cNvSpPr>
          <p:nvPr/>
        </p:nvSpPr>
        <p:spPr>
          <a:xfrm xmlns:a="http://schemas.openxmlformats.org/drawingml/2006/main">
            <a:off x="9525000" y="4095750"/>
            <a:ext cx="1952625" cy="1571625"/>
          </a:xfrm>
          <a:prstGeom xmlns:a="http://schemas.openxmlformats.org/drawingml/2006/main" prst="roundRect">
            <a:avLst>
              <a:gd name="adj" fmla="val 4848"/>
            </a:avLst>
          </a:prstGeom>
          <a:solidFill xmlns:a="http://schemas.openxmlformats.org/drawingml/2006/main">
            <a:srgbClr val="F2F2F2"/>
          </a:solidFill>
          <a:ln xmlns:a="http://schemas.openxmlformats.org/drawingml/2006/main" w="0">
            <a:solidFill>
              <a:srgbClr val="F2F2F2"/>
            </a:solidFill>
            <a:prstDash val="solid"/>
          </a:ln>
        </p:spPr>
      </p:sp>
      <p:sp>
        <p:nvSpPr>
          <p:cNvPr id="6" name="heat-stat-1-value">
            <a:extLst xmlns:a="http://schemas.openxmlformats.org/drawingml/2006/main">
              <a:ext uri="{FF2B5EF4-FFF2-40B4-BE49-F238E27FC236}">
                <a16:creationId xmlns:a16="http://schemas.microsoft.com/office/drawing/2014/main" id="{83E15443-4431-4F94-9697-1D4D23411236}"/>
              </a:ext>
            </a:extLst>
          </p:cNvPr>
          <p:cNvSpPr>
            <a:spLocks xmlns:a="http://schemas.openxmlformats.org/drawingml/2006/main" noGrp="1"/>
          </p:cNvSpPr>
          <p:nvPr/>
        </p:nvSpPr>
        <p:spPr>
          <a:xfrm xmlns:a="http://schemas.openxmlformats.org/drawingml/2006/main">
            <a:off x="7477125" y="4286250"/>
            <a:ext cx="15240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000000"/>
                </a:solidFill>
                <a:latin typeface="Helvetica Neue"/>
                <a:ea typeface="Helvetica Neue"/>
                <a:cs typeface="Helvetica Neue"/>
              </a:defRPr>
            </a:pPr>
            <a:r>
              <a:t>15</a:t>
            </a:r>
          </a:p>
        </p:txBody>
      </p:sp>
      <p:sp>
        <p:nvSpPr>
          <p:cNvPr id="7" name="heat-stat-1-label">
            <a:extLst xmlns:a="http://schemas.openxmlformats.org/drawingml/2006/main">
              <a:ext uri="{FF2B5EF4-FFF2-40B4-BE49-F238E27FC236}">
                <a16:creationId xmlns:a16="http://schemas.microsoft.com/office/drawing/2014/main" id="{3C0DF677-A29C-443C-9570-D8F569ED9A5B}"/>
              </a:ext>
            </a:extLst>
          </p:cNvPr>
          <p:cNvSpPr>
            <a:spLocks xmlns:a="http://schemas.openxmlformats.org/drawingml/2006/main" noGrp="1"/>
          </p:cNvSpPr>
          <p:nvPr/>
        </p:nvSpPr>
        <p:spPr>
          <a:xfrm xmlns:a="http://schemas.openxmlformats.org/drawingml/2006/main">
            <a:off x="7477125" y="5095875"/>
            <a:ext cx="15240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t>independent market quarters</a:t>
            </a:r>
          </a:p>
        </p:txBody>
      </p:sp>
      <p:sp>
        <p:nvSpPr>
          <p:cNvPr id="8" name="heat-stat-2-value">
            <a:extLst xmlns:a="http://schemas.openxmlformats.org/drawingml/2006/main">
              <a:ext uri="{FF2B5EF4-FFF2-40B4-BE49-F238E27FC236}">
                <a16:creationId xmlns:a16="http://schemas.microsoft.com/office/drawing/2014/main" id="{5AA95318-EF9A-4717-8859-2848F17B5E28}"/>
              </a:ext>
            </a:extLst>
          </p:cNvPr>
          <p:cNvSpPr>
            <a:spLocks xmlns:a="http://schemas.openxmlformats.org/drawingml/2006/main" noGrp="1"/>
          </p:cNvSpPr>
          <p:nvPr/>
        </p:nvSpPr>
        <p:spPr>
          <a:xfrm xmlns:a="http://schemas.openxmlformats.org/drawingml/2006/main">
            <a:off x="9763125" y="4286250"/>
            <a:ext cx="1524000"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000000"/>
                </a:solidFill>
                <a:latin typeface="Helvetica Neue"/>
                <a:ea typeface="Helvetica Neue"/>
                <a:cs typeface="Helvetica Neue"/>
              </a:defRPr>
            </a:pPr>
            <a:r>
              <a:t>21</a:t>
            </a:r>
          </a:p>
        </p:txBody>
      </p:sp>
      <p:sp>
        <p:nvSpPr>
          <p:cNvPr id="9" name="heat-stat-2-label">
            <a:extLst xmlns:a="http://schemas.openxmlformats.org/drawingml/2006/main">
              <a:ext uri="{FF2B5EF4-FFF2-40B4-BE49-F238E27FC236}">
                <a16:creationId xmlns:a16="http://schemas.microsoft.com/office/drawing/2014/main" id="{661B87E5-5385-43CA-97F4-11C9F4218D9E}"/>
              </a:ext>
            </a:extLst>
          </p:cNvPr>
          <p:cNvSpPr>
            <a:spLocks xmlns:a="http://schemas.openxmlformats.org/drawingml/2006/main" noGrp="1"/>
          </p:cNvSpPr>
          <p:nvPr/>
        </p:nvSpPr>
        <p:spPr>
          <a:xfrm xmlns:a="http://schemas.openxmlformats.org/drawingml/2006/main">
            <a:off x="9763125" y="5095875"/>
            <a:ext cx="1524000" cy="476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t>highly redundant feature pairs</a:t>
            </a:r>
          </a:p>
        </p:txBody>
      </p:sp>
      <p:sp>
        <p:nvSpPr>
          <p:cNvPr id="10" name="footer-6">
            <a:extLst xmlns:a="http://schemas.openxmlformats.org/drawingml/2006/main">
              <a:ext uri="{FF2B5EF4-FFF2-40B4-BE49-F238E27FC236}">
                <a16:creationId xmlns:a16="http://schemas.microsoft.com/office/drawing/2014/main" id="{F4C7B58B-0D40-4250-AC38-076B87BC93C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6</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8a796dfa1fb249fe"/>
          <a:stretch xmlns:a="http://schemas.openxmlformats.org/drawingml/2006/main"/>
        </p:blipFill>
        <p:spPr>
          <a:xfrm xmlns:a="http://schemas.openxmlformats.org/drawingml/2006/main">
            <a:off x="558053" y="1257300"/>
            <a:ext cx="6237194" cy="4819650"/>
          </a:xfrm>
          <a:prstGeom xmlns:a="http://schemas.openxmlformats.org/drawingml/2006/main" prst="rect">
            <a:avLst/>
          </a:prstGeom>
        </p:spPr>
      </p:pic>
    </p:spTree>
    <p:extLst>
      <p:ext uri="{BB962C8B-B14F-4D97-AF65-F5344CB8AC3E}">
        <p14:creationId xmlns:p14="http://schemas.microsoft.com/office/powerpoint/2010/main" val="19694395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597F789A-62B5-4A99-9979-2486BFE06EEE}"/>
              </a:ext>
            </a:extLst>
          </p:cNvPr>
          <p:cNvSpPr>
            <a:spLocks xmlns:a="http://schemas.openxmlformats.org/drawingml/2006/main" noGrp="1"/>
          </p:cNvSpPr>
          <p:nvPr/>
        </p:nvSpPr>
        <p:spPr>
          <a:xfrm xmlns:a="http://schemas.openxmlformats.org/drawingml/2006/main">
            <a:off x="393668" y="344043"/>
            <a:ext cx="5715000" cy="762000"/>
          </a:xfrm>
          <a:prstGeom xmlns:a="http://schemas.openxmlformats.org/drawingml/2006/main" prst="rect">
            <a:avLst/>
          </a:prstGeom>
        </p:spPr>
        <p:txBody>
          <a:bodyPr xmlns:a="http://schemas.openxmlformats.org/drawingml/2006/main" wrap="square" lIns="0" tIns="0" rIns="0" bIns="0" anchor="t">
            <a:normAutofit fontScale="69444"/>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Every predefined basket rehearsed below zero</a:t>
            </a:r>
          </a:p>
        </p:txBody>
      </p:sp>
      <p:sp>
        <p:nvSpPr>
          <p:cNvPr id="2" name="basket-frame">
            <a:extLst xmlns:a="http://schemas.openxmlformats.org/drawingml/2006/main">
              <a:ext uri="{FF2B5EF4-FFF2-40B4-BE49-F238E27FC236}">
                <a16:creationId xmlns:a16="http://schemas.microsoft.com/office/drawing/2014/main" id="{BAD23E52-D8FA-49F2-9065-6C0E39B5D6DB}"/>
              </a:ext>
            </a:extLst>
          </p:cNvPr>
          <p:cNvSpPr>
            <a:spLocks xmlns:a="http://schemas.openxmlformats.org/drawingml/2006/main" noGrp="1"/>
          </p:cNvSpPr>
          <p:nvPr/>
        </p:nvSpPr>
        <p:spPr>
          <a:xfrm xmlns:a="http://schemas.openxmlformats.org/drawingml/2006/main">
            <a:off x="393668" y="1219200"/>
            <a:ext cx="5619750" cy="4810125"/>
          </a:xfrm>
          <a:prstGeom xmlns:a="http://schemas.openxmlformats.org/drawingml/2006/main" prst="roundRect">
            <a:avLst>
              <a:gd name="adj" fmla="val 1584"/>
            </a:avLst>
          </a:prstGeom>
          <a:solidFill xmlns:a="http://schemas.openxmlformats.org/drawingml/2006/main">
            <a:srgbClr val="FFFFFF"/>
          </a:solidFill>
          <a:ln xmlns:a="http://schemas.openxmlformats.org/drawingml/2006/main" w="9525">
            <a:solidFill>
              <a:srgbClr val="B8BCC4"/>
            </a:solidFill>
            <a:prstDash val="solid"/>
          </a:ln>
        </p:spPr>
      </p:sp>
      <p:sp>
        <p:nvSpPr>
          <p:cNvPr id="3" name="basket-a">
            <a:extLst xmlns:a="http://schemas.openxmlformats.org/drawingml/2006/main">
              <a:ext uri="{FF2B5EF4-FFF2-40B4-BE49-F238E27FC236}">
                <a16:creationId xmlns:a16="http://schemas.microsoft.com/office/drawing/2014/main" id="{4AE8A646-9488-487D-AA6D-EB6DC23401A9}"/>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4" name="basket-b">
            <a:extLst xmlns:a="http://schemas.openxmlformats.org/drawingml/2006/main">
              <a:ext uri="{FF2B5EF4-FFF2-40B4-BE49-F238E27FC236}">
                <a16:creationId xmlns:a16="http://schemas.microsoft.com/office/drawing/2014/main" id="{6210F85E-4584-4BDB-A84B-0747E721B480}"/>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5" name="basket-c">
            <a:extLst xmlns:a="http://schemas.openxmlformats.org/drawingml/2006/main">
              <a:ext uri="{FF2B5EF4-FFF2-40B4-BE49-F238E27FC236}">
                <a16:creationId xmlns:a16="http://schemas.microsoft.com/office/drawing/2014/main" id="{4EAA4BD2-F337-4E3D-B395-2CFC990B5936}"/>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a:ln xmlns:a="http://schemas.openxmlformats.org/drawingml/2006/main" w="0">
            <a:solidFill>
              <a:srgbClr val="F2F2F2"/>
            </a:solidFill>
            <a:prstDash val="solid"/>
          </a:ln>
        </p:spPr>
      </p:sp>
      <p:sp>
        <p:nvSpPr>
          <p:cNvPr id="6" name="basket-a-text">
            <a:extLst xmlns:a="http://schemas.openxmlformats.org/drawingml/2006/main">
              <a:ext uri="{FF2B5EF4-FFF2-40B4-BE49-F238E27FC236}">
                <a16:creationId xmlns:a16="http://schemas.microsoft.com/office/drawing/2014/main" id="{25FDF9FC-B2B8-4045-A78C-9D1BF55E184C}"/>
              </a:ext>
            </a:extLst>
          </p:cNvPr>
          <p:cNvSpPr>
            <a:spLocks xmlns:a="http://schemas.openxmlformats.org/drawingml/2006/main" noGrp="1"/>
          </p:cNvSpPr>
          <p:nvPr/>
        </p:nvSpPr>
        <p:spPr>
          <a:xfrm xmlns:a="http://schemas.openxmlformats.org/drawingml/2006/main">
            <a:off x="6561677" y="666750"/>
            <a:ext cx="4986909" cy="1095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t>FOLD 1
Trend quality · λ 100
Best inner mean IC: –0.0063</a:t>
            </a:r>
          </a:p>
        </p:txBody>
      </p:sp>
      <p:sp>
        <p:nvSpPr>
          <p:cNvPr id="7" name="basket-b-text">
            <a:extLst xmlns:a="http://schemas.openxmlformats.org/drawingml/2006/main">
              <a:ext uri="{FF2B5EF4-FFF2-40B4-BE49-F238E27FC236}">
                <a16:creationId xmlns:a16="http://schemas.microsoft.com/office/drawing/2014/main" id="{25C2EED1-0F44-449E-B53F-0C79B7304974}"/>
              </a:ext>
            </a:extLst>
          </p:cNvPr>
          <p:cNvSpPr>
            <a:spLocks xmlns:a="http://schemas.openxmlformats.org/drawingml/2006/main" noGrp="1"/>
          </p:cNvSpPr>
          <p:nvPr/>
        </p:nvSpPr>
        <p:spPr>
          <a:xfrm xmlns:a="http://schemas.openxmlformats.org/drawingml/2006/main">
            <a:off x="6561677" y="2638425"/>
            <a:ext cx="4986909" cy="1095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t>FOLD 2
Relative strength · λ 10
Best inner mean IC: –0.0084</a:t>
            </a:r>
          </a:p>
        </p:txBody>
      </p:sp>
      <p:sp>
        <p:nvSpPr>
          <p:cNvPr id="8" name="basket-c-text">
            <a:extLst xmlns:a="http://schemas.openxmlformats.org/drawingml/2006/main">
              <a:ext uri="{FF2B5EF4-FFF2-40B4-BE49-F238E27FC236}">
                <a16:creationId xmlns:a16="http://schemas.microsoft.com/office/drawing/2014/main" id="{8431933C-5D49-4AB0-B3ED-48CA4F3A08F1}"/>
              </a:ext>
            </a:extLst>
          </p:cNvPr>
          <p:cNvSpPr>
            <a:spLocks xmlns:a="http://schemas.openxmlformats.org/drawingml/2006/main" noGrp="1"/>
          </p:cNvSpPr>
          <p:nvPr/>
        </p:nvSpPr>
        <p:spPr>
          <a:xfrm xmlns:a="http://schemas.openxmlformats.org/drawingml/2006/main">
            <a:off x="6561677" y="4648200"/>
            <a:ext cx="4986909" cy="1095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D1495B"/>
                </a:solidFill>
                <a:latin typeface="Helvetica Neue"/>
                <a:ea typeface="Helvetica Neue"/>
                <a:cs typeface="Helvetica Neue"/>
              </a:defRPr>
            </a:pPr>
            <a:r>
              <a:t>NO STABLE WINNER
Changing basket + negative rehearsal
= no promotion case</a:t>
            </a:r>
          </a:p>
        </p:txBody>
      </p:sp>
      <p:sp>
        <p:nvSpPr>
          <p:cNvPr id="9" name="footer-7">
            <a:extLst xmlns:a="http://schemas.openxmlformats.org/drawingml/2006/main">
              <a:ext uri="{FF2B5EF4-FFF2-40B4-BE49-F238E27FC236}">
                <a16:creationId xmlns:a16="http://schemas.microsoft.com/office/drawing/2014/main" id="{BB9DA37A-0DCB-40DB-A405-F7B176C732CE}"/>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7</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b94235e46c754ced"/>
          <a:stretch xmlns:a="http://schemas.openxmlformats.org/drawingml/2006/main"/>
        </p:blipFill>
        <p:spPr>
          <a:xfrm xmlns:a="http://schemas.openxmlformats.org/drawingml/2006/main">
            <a:off x="514350" y="1956707"/>
            <a:ext cx="5372100" cy="3325586"/>
          </a:xfrm>
          <a:prstGeom xmlns:a="http://schemas.openxmlformats.org/drawingml/2006/main" prst="rect">
            <a:avLst/>
          </a:prstGeom>
        </p:spPr>
      </p:pic>
    </p:spTree>
    <p:extLst>
      <p:ext uri="{BB962C8B-B14F-4D97-AF65-F5344CB8AC3E}">
        <p14:creationId xmlns:p14="http://schemas.microsoft.com/office/powerpoint/2010/main" val="18448315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D4D2C67-32DF-4090-B31A-9D4E99DA5B94}"/>
              </a:ext>
            </a:extLst>
          </p:cNvPr>
          <p:cNvSpPr>
            <a:spLocks xmlns:a="http://schemas.openxmlformats.org/drawingml/2006/main" noGrp="1"/>
          </p:cNvSpPr>
          <p:nvPr/>
        </p:nvSpPr>
        <p:spPr>
          <a:xfrm xmlns:a="http://schemas.openxmlformats.org/drawingml/2006/main">
            <a:off x="393668" y="344043"/>
            <a:ext cx="11404568"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The nested procedure failed where transport mattered</a:t>
            </a:r>
          </a:p>
        </p:txBody>
      </p:sp>
      <p:sp>
        <p:nvSpPr>
          <p:cNvPr id="2" name="outer-frame">
            <a:extLst xmlns:a="http://schemas.openxmlformats.org/drawingml/2006/main">
              <a:ext uri="{FF2B5EF4-FFF2-40B4-BE49-F238E27FC236}">
                <a16:creationId xmlns:a16="http://schemas.microsoft.com/office/drawing/2014/main" id="{4E351711-60A9-46C4-94B1-89998F47978A}"/>
              </a:ext>
            </a:extLst>
          </p:cNvPr>
          <p:cNvSpPr>
            <a:spLocks xmlns:a="http://schemas.openxmlformats.org/drawingml/2006/main" noGrp="1"/>
          </p:cNvSpPr>
          <p:nvPr/>
        </p:nvSpPr>
        <p:spPr>
          <a:xfrm xmlns:a="http://schemas.openxmlformats.org/drawingml/2006/main">
            <a:off x="385858" y="1285875"/>
            <a:ext cx="6191250" cy="4762500"/>
          </a:xfrm>
          <a:prstGeom xmlns:a="http://schemas.openxmlformats.org/drawingml/2006/main" prst="roundRect">
            <a:avLst>
              <a:gd name="adj" fmla="val 1600"/>
            </a:avLst>
          </a:prstGeom>
          <a:solidFill xmlns:a="http://schemas.openxmlformats.org/drawingml/2006/main">
            <a:srgbClr val="FFFFFF"/>
          </a:solidFill>
          <a:ln xmlns:a="http://schemas.openxmlformats.org/drawingml/2006/main" w="9525">
            <a:solidFill>
              <a:srgbClr val="B8BCC4"/>
            </a:solidFill>
            <a:prstDash val="solid"/>
          </a:ln>
        </p:spPr>
      </p:sp>
      <p:sp>
        <p:nvSpPr>
          <p:cNvPr id="3" name="outer-body">
            <a:extLst xmlns:a="http://schemas.openxmlformats.org/drawingml/2006/main">
              <a:ext uri="{FF2B5EF4-FFF2-40B4-BE49-F238E27FC236}">
                <a16:creationId xmlns:a16="http://schemas.microsoft.com/office/drawing/2014/main" id="{374CCA10-9D48-4F8F-88D3-4C980087FA62}"/>
              </a:ext>
            </a:extLst>
          </p:cNvPr>
          <p:cNvSpPr>
            <a:spLocks xmlns:a="http://schemas.openxmlformats.org/drawingml/2006/main" noGrp="1"/>
          </p:cNvSpPr>
          <p:nvPr/>
        </p:nvSpPr>
        <p:spPr>
          <a:xfrm xmlns:a="http://schemas.openxmlformats.org/drawingml/2006/main">
            <a:off x="6858000" y="1619250"/>
            <a:ext cx="4667250" cy="161925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950" b="0">
                <a:solidFill>
                  <a:srgbClr val="000000"/>
                </a:solidFill>
                <a:latin typeface="Helvetica Neue"/>
                <a:ea typeface="Helvetica Neue"/>
                <a:cs typeface="Helvetica Neue"/>
              </a:defRPr>
            </a:pPr>
            <a:r>
              <a:t>Only 3 of 6 outer quarters had positive IC.
2020Q3 overwhelmed earlier gains: IC –0.673 and top-quartile excess –13.34 pp.</a:t>
            </a:r>
          </a:p>
        </p:txBody>
      </p:sp>
      <p:sp>
        <p:nvSpPr>
          <p:cNvPr id="4" name="outer-stat-1">
            <a:extLst xmlns:a="http://schemas.openxmlformats.org/drawingml/2006/main">
              <a:ext uri="{FF2B5EF4-FFF2-40B4-BE49-F238E27FC236}">
                <a16:creationId xmlns:a16="http://schemas.microsoft.com/office/drawing/2014/main" id="{F21CB225-3405-4D78-B20A-11B6D693CF13}"/>
              </a:ext>
            </a:extLst>
          </p:cNvPr>
          <p:cNvSpPr>
            <a:spLocks xmlns:a="http://schemas.openxmlformats.org/drawingml/2006/main" noGrp="1"/>
          </p:cNvSpPr>
          <p:nvPr/>
        </p:nvSpPr>
        <p:spPr>
          <a:xfrm xmlns:a="http://schemas.openxmlformats.org/drawingml/2006/main">
            <a:off x="6858000" y="3667125"/>
            <a:ext cx="2095500" cy="1952625"/>
          </a:xfrm>
          <a:prstGeom xmlns:a="http://schemas.openxmlformats.org/drawingml/2006/main" prst="roundRect">
            <a:avLst>
              <a:gd name="adj" fmla="val 3902"/>
            </a:avLst>
          </a:prstGeom>
          <a:solidFill xmlns:a="http://schemas.openxmlformats.org/drawingml/2006/main">
            <a:srgbClr val="F2F2F2"/>
          </a:solidFill>
          <a:ln xmlns:a="http://schemas.openxmlformats.org/drawingml/2006/main" w="0">
            <a:solidFill>
              <a:srgbClr val="F2F2F2"/>
            </a:solidFill>
            <a:prstDash val="solid"/>
          </a:ln>
        </p:spPr>
      </p:sp>
      <p:sp>
        <p:nvSpPr>
          <p:cNvPr id="5" name="outer-stat-2">
            <a:extLst xmlns:a="http://schemas.openxmlformats.org/drawingml/2006/main">
              <a:ext uri="{FF2B5EF4-FFF2-40B4-BE49-F238E27FC236}">
                <a16:creationId xmlns:a16="http://schemas.microsoft.com/office/drawing/2014/main" id="{42FB02E9-B1B2-4827-9209-716ED7649CE1}"/>
              </a:ext>
            </a:extLst>
          </p:cNvPr>
          <p:cNvSpPr>
            <a:spLocks xmlns:a="http://schemas.openxmlformats.org/drawingml/2006/main" noGrp="1"/>
          </p:cNvSpPr>
          <p:nvPr/>
        </p:nvSpPr>
        <p:spPr>
          <a:xfrm xmlns:a="http://schemas.openxmlformats.org/drawingml/2006/main">
            <a:off x="9334500" y="3667125"/>
            <a:ext cx="2095500" cy="1952625"/>
          </a:xfrm>
          <a:prstGeom xmlns:a="http://schemas.openxmlformats.org/drawingml/2006/main" prst="roundRect">
            <a:avLst>
              <a:gd name="adj" fmla="val 3902"/>
            </a:avLst>
          </a:prstGeom>
          <a:solidFill xmlns:a="http://schemas.openxmlformats.org/drawingml/2006/main">
            <a:srgbClr val="F2F2F2"/>
          </a:solidFill>
          <a:ln xmlns:a="http://schemas.openxmlformats.org/drawingml/2006/main" w="0">
            <a:solidFill>
              <a:srgbClr val="F2F2F2"/>
            </a:solidFill>
            <a:prstDash val="solid"/>
          </a:ln>
        </p:spPr>
      </p:sp>
      <p:sp>
        <p:nvSpPr>
          <p:cNvPr id="6" name="outer-stat-1-value">
            <a:extLst xmlns:a="http://schemas.openxmlformats.org/drawingml/2006/main">
              <a:ext uri="{FF2B5EF4-FFF2-40B4-BE49-F238E27FC236}">
                <a16:creationId xmlns:a16="http://schemas.microsoft.com/office/drawing/2014/main" id="{DA11B86E-0EE5-4102-B0DE-281943AA6B50}"/>
              </a:ext>
            </a:extLst>
          </p:cNvPr>
          <p:cNvSpPr>
            <a:spLocks xmlns:a="http://schemas.openxmlformats.org/drawingml/2006/main" noGrp="1"/>
          </p:cNvSpPr>
          <p:nvPr/>
        </p:nvSpPr>
        <p:spPr>
          <a:xfrm xmlns:a="http://schemas.openxmlformats.org/drawingml/2006/main">
            <a:off x="7067550" y="3905250"/>
            <a:ext cx="1714500" cy="809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D1495B"/>
                </a:solidFill>
                <a:latin typeface="Helvetica Neue"/>
                <a:ea typeface="Helvetica Neue"/>
                <a:cs typeface="Helvetica Neue"/>
              </a:defRPr>
            </a:pPr>
            <a:r>
              <a:t>–0.107</a:t>
            </a:r>
          </a:p>
        </p:txBody>
      </p:sp>
      <p:sp>
        <p:nvSpPr>
          <p:cNvPr id="7" name="outer-stat-1-label">
            <a:extLst xmlns:a="http://schemas.openxmlformats.org/drawingml/2006/main">
              <a:ext uri="{FF2B5EF4-FFF2-40B4-BE49-F238E27FC236}">
                <a16:creationId xmlns:a16="http://schemas.microsoft.com/office/drawing/2014/main" id="{E8194585-97A6-407E-8711-C5B151E1267D}"/>
              </a:ext>
            </a:extLst>
          </p:cNvPr>
          <p:cNvSpPr>
            <a:spLocks xmlns:a="http://schemas.openxmlformats.org/drawingml/2006/main" noGrp="1"/>
          </p:cNvSpPr>
          <p:nvPr/>
        </p:nvSpPr>
        <p:spPr>
          <a:xfrm xmlns:a="http://schemas.openxmlformats.org/drawingml/2006/main">
            <a:off x="7067550" y="4905375"/>
            <a:ext cx="1714500" cy="428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75" b="0">
                <a:solidFill>
                  <a:srgbClr val="000000"/>
                </a:solidFill>
                <a:latin typeface="Helvetica Neue"/>
                <a:ea typeface="Helvetica Neue"/>
                <a:cs typeface="Helvetica Neue"/>
              </a:defRPr>
            </a:pPr>
            <a:r>
              <a:t>mean outer IC</a:t>
            </a:r>
          </a:p>
        </p:txBody>
      </p:sp>
      <p:sp>
        <p:nvSpPr>
          <p:cNvPr id="8" name="outer-stat-2-value">
            <a:extLst xmlns:a="http://schemas.openxmlformats.org/drawingml/2006/main">
              <a:ext uri="{FF2B5EF4-FFF2-40B4-BE49-F238E27FC236}">
                <a16:creationId xmlns:a16="http://schemas.microsoft.com/office/drawing/2014/main" id="{88705813-C161-4F3E-A732-09642951099C}"/>
              </a:ext>
            </a:extLst>
          </p:cNvPr>
          <p:cNvSpPr>
            <a:spLocks xmlns:a="http://schemas.openxmlformats.org/drawingml/2006/main" noGrp="1"/>
          </p:cNvSpPr>
          <p:nvPr/>
        </p:nvSpPr>
        <p:spPr>
          <a:xfrm xmlns:a="http://schemas.openxmlformats.org/drawingml/2006/main">
            <a:off x="9544050" y="3905250"/>
            <a:ext cx="1714500" cy="80962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300" b="1">
                <a:solidFill>
                  <a:srgbClr val="D1495B"/>
                </a:solidFill>
                <a:latin typeface="Helvetica Neue"/>
                <a:ea typeface="Helvetica Neue"/>
                <a:cs typeface="Helvetica Neue"/>
              </a:defRPr>
            </a:pPr>
            <a:r>
              <a:t>–2.23 pp</a:t>
            </a:r>
          </a:p>
        </p:txBody>
      </p:sp>
      <p:sp>
        <p:nvSpPr>
          <p:cNvPr id="9" name="outer-stat-2-label">
            <a:extLst xmlns:a="http://schemas.openxmlformats.org/drawingml/2006/main">
              <a:ext uri="{FF2B5EF4-FFF2-40B4-BE49-F238E27FC236}">
                <a16:creationId xmlns:a16="http://schemas.microsoft.com/office/drawing/2014/main" id="{34D7B898-00CA-409F-B01B-2A0CC22B9EF5}"/>
              </a:ext>
            </a:extLst>
          </p:cNvPr>
          <p:cNvSpPr>
            <a:spLocks xmlns:a="http://schemas.openxmlformats.org/drawingml/2006/main" noGrp="1"/>
          </p:cNvSpPr>
          <p:nvPr/>
        </p:nvSpPr>
        <p:spPr>
          <a:xfrm xmlns:a="http://schemas.openxmlformats.org/drawingml/2006/main">
            <a:off x="9544050" y="4905375"/>
            <a:ext cx="1714500" cy="5238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t>mean top-quartile excess</a:t>
            </a:r>
          </a:p>
        </p:txBody>
      </p:sp>
      <p:sp>
        <p:nvSpPr>
          <p:cNvPr id="10" name="footer-8">
            <a:extLst xmlns:a="http://schemas.openxmlformats.org/drawingml/2006/main">
              <a:ext uri="{FF2B5EF4-FFF2-40B4-BE49-F238E27FC236}">
                <a16:creationId xmlns:a16="http://schemas.microsoft.com/office/drawing/2014/main" id="{94A2685D-E4CC-4F05-B2D7-7C8A2DDFDCA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a666de2fd85944ec"/>
          <a:stretch xmlns:a="http://schemas.openxmlformats.org/drawingml/2006/main"/>
        </p:blipFill>
        <p:spPr>
          <a:xfrm xmlns:a="http://schemas.openxmlformats.org/drawingml/2006/main">
            <a:off x="514350" y="1827439"/>
            <a:ext cx="5943600" cy="3679371"/>
          </a:xfrm>
          <a:prstGeom xmlns:a="http://schemas.openxmlformats.org/drawingml/2006/main" prst="rect">
            <a:avLst/>
          </a:prstGeom>
        </p:spPr>
      </p:pic>
    </p:spTree>
    <p:extLst>
      <p:ext uri="{BB962C8B-B14F-4D97-AF65-F5344CB8AC3E}">
        <p14:creationId xmlns:p14="http://schemas.microsoft.com/office/powerpoint/2010/main" val="12867710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4D7FE690-9170-452E-93B3-362498E77CC7}"/>
              </a:ext>
            </a:extLst>
          </p:cNvPr>
          <p:cNvSpPr>
            <a:spLocks xmlns:a="http://schemas.openxmlformats.org/drawingml/2006/main" noGrp="1"/>
          </p:cNvSpPr>
          <p:nvPr/>
        </p:nvSpPr>
        <p:spPr>
          <a:xfrm xmlns:a="http://schemas.openxmlformats.org/drawingml/2006/main">
            <a:off x="393668" y="344043"/>
            <a:ext cx="11404568" cy="762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000000"/>
                </a:solidFill>
                <a:latin typeface="Helvetica Neue"/>
                <a:ea typeface="Helvetica Neue"/>
                <a:cs typeface="Helvetica Neue"/>
              </a:defRPr>
            </a:pPr>
            <a:r>
              <a:t>STOP before OOS: the search underperformed noise</a:t>
            </a:r>
          </a:p>
        </p:txBody>
      </p:sp>
      <p:sp>
        <p:nvSpPr>
          <p:cNvPr id="2" name="perm-frame">
            <a:extLst xmlns:a="http://schemas.openxmlformats.org/drawingml/2006/main">
              <a:ext uri="{FF2B5EF4-FFF2-40B4-BE49-F238E27FC236}">
                <a16:creationId xmlns:a16="http://schemas.microsoft.com/office/drawing/2014/main" id="{0739B471-4718-4119-9AE6-C043712BF34B}"/>
              </a:ext>
            </a:extLst>
          </p:cNvPr>
          <p:cNvSpPr>
            <a:spLocks xmlns:a="http://schemas.openxmlformats.org/drawingml/2006/main" noGrp="1"/>
          </p:cNvSpPr>
          <p:nvPr/>
        </p:nvSpPr>
        <p:spPr>
          <a:xfrm xmlns:a="http://schemas.openxmlformats.org/drawingml/2006/main">
            <a:off x="393668" y="1143000"/>
            <a:ext cx="6572250" cy="5048250"/>
          </a:xfrm>
          <a:prstGeom xmlns:a="http://schemas.openxmlformats.org/drawingml/2006/main" prst="roundRect">
            <a:avLst>
              <a:gd name="adj" fmla="val 1509"/>
            </a:avLst>
          </a:prstGeom>
          <a:solidFill xmlns:a="http://schemas.openxmlformats.org/drawingml/2006/main">
            <a:srgbClr val="FFFFFF"/>
          </a:solidFill>
          <a:ln xmlns:a="http://schemas.openxmlformats.org/drawingml/2006/main" w="9525">
            <a:solidFill>
              <a:srgbClr val="B8BCC4"/>
            </a:solidFill>
            <a:prstDash val="solid"/>
          </a:ln>
        </p:spPr>
      </p:sp>
      <p:sp>
        <p:nvSpPr>
          <p:cNvPr id="3" name="decision-body">
            <a:extLst xmlns:a="http://schemas.openxmlformats.org/drawingml/2006/main">
              <a:ext uri="{FF2B5EF4-FFF2-40B4-BE49-F238E27FC236}">
                <a16:creationId xmlns:a16="http://schemas.microsoft.com/office/drawing/2014/main" id="{55F4DEAA-E611-48ED-B580-A98F828EA0AA}"/>
              </a:ext>
            </a:extLst>
          </p:cNvPr>
          <p:cNvSpPr>
            <a:spLocks xmlns:a="http://schemas.openxmlformats.org/drawingml/2006/main" noGrp="1"/>
          </p:cNvSpPr>
          <p:nvPr/>
        </p:nvSpPr>
        <p:spPr>
          <a:xfrm xmlns:a="http://schemas.openxmlformats.org/drawingml/2006/main">
            <a:off x="7239000" y="1428750"/>
            <a:ext cx="4333875" cy="2428875"/>
          </a:xfrm>
          <a:prstGeom xmlns:a="http://schemas.openxmlformats.org/drawingml/2006/main" prst="rect">
            <a:avLst/>
          </a:prstGeom>
        </p:spPr>
        <p:txBody>
          <a:bodyPr xmlns:a="http://schemas.openxmlformats.org/drawingml/2006/main" wrap="square" lIns="0" tIns="0" rIns="0" bIns="0" anchor="t">
            <a:normAutofit fontScale="94444"/>
          </a:bodyPr>
          <a:lstStyle xmlns:a="http://schemas.openxmlformats.org/drawingml/2006/main"/>
          <a:p xmlns:a="http://schemas.openxmlformats.org/drawingml/2006/main">
            <a:pPr algn="l">
              <a:defRPr sz="1875" b="0">
                <a:solidFill>
                  <a:srgbClr val="000000"/>
                </a:solidFill>
                <a:latin typeface="Helvetica Neue"/>
                <a:ea typeface="Helvetica Neue"/>
                <a:cs typeface="Helvetica Neue"/>
              </a:defRPr>
            </a:pPr>
            <a:r>
              <a:t>The observed mean outer IC sat below every full-search permutation draw.
Six of nine TRAIN gates failed. No feature family or basket earned access to reserved evidence.
Useful next questions require a new frozen lane—not a rescue tweak.</a:t>
            </a:r>
          </a:p>
        </p:txBody>
      </p:sp>
      <p:sp>
        <p:nvSpPr>
          <p:cNvPr id="4" name="decision-stat-1">
            <a:extLst xmlns:a="http://schemas.openxmlformats.org/drawingml/2006/main">
              <a:ext uri="{FF2B5EF4-FFF2-40B4-BE49-F238E27FC236}">
                <a16:creationId xmlns:a16="http://schemas.microsoft.com/office/drawing/2014/main" id="{00012518-2949-40CA-BFC1-E102EE4B924F}"/>
              </a:ext>
            </a:extLst>
          </p:cNvPr>
          <p:cNvSpPr>
            <a:spLocks xmlns:a="http://schemas.openxmlformats.org/drawingml/2006/main" noGrp="1"/>
          </p:cNvSpPr>
          <p:nvPr/>
        </p:nvSpPr>
        <p:spPr>
          <a:xfrm xmlns:a="http://schemas.openxmlformats.org/drawingml/2006/main">
            <a:off x="7239000" y="4191000"/>
            <a:ext cx="1952625" cy="1476375"/>
          </a:xfrm>
          <a:prstGeom xmlns:a="http://schemas.openxmlformats.org/drawingml/2006/main" prst="roundRect">
            <a:avLst>
              <a:gd name="adj" fmla="val 5161"/>
            </a:avLst>
          </a:prstGeom>
          <a:solidFill xmlns:a="http://schemas.openxmlformats.org/drawingml/2006/main">
            <a:srgbClr val="F2F2F2"/>
          </a:solidFill>
          <a:ln xmlns:a="http://schemas.openxmlformats.org/drawingml/2006/main" w="0">
            <a:solidFill>
              <a:srgbClr val="F2F2F2"/>
            </a:solidFill>
            <a:prstDash val="solid"/>
          </a:ln>
        </p:spPr>
      </p:sp>
      <p:sp>
        <p:nvSpPr>
          <p:cNvPr id="5" name="decision-stat-2">
            <a:extLst xmlns:a="http://schemas.openxmlformats.org/drawingml/2006/main">
              <a:ext uri="{FF2B5EF4-FFF2-40B4-BE49-F238E27FC236}">
                <a16:creationId xmlns:a16="http://schemas.microsoft.com/office/drawing/2014/main" id="{6C903243-5C4F-446A-9001-E0EEDDA95A16}"/>
              </a:ext>
            </a:extLst>
          </p:cNvPr>
          <p:cNvSpPr>
            <a:spLocks xmlns:a="http://schemas.openxmlformats.org/drawingml/2006/main" noGrp="1"/>
          </p:cNvSpPr>
          <p:nvPr/>
        </p:nvSpPr>
        <p:spPr>
          <a:xfrm xmlns:a="http://schemas.openxmlformats.org/drawingml/2006/main">
            <a:off x="9525000" y="4191000"/>
            <a:ext cx="1952625" cy="1476375"/>
          </a:xfrm>
          <a:prstGeom xmlns:a="http://schemas.openxmlformats.org/drawingml/2006/main" prst="roundRect">
            <a:avLst>
              <a:gd name="adj" fmla="val 5161"/>
            </a:avLst>
          </a:prstGeom>
          <a:solidFill xmlns:a="http://schemas.openxmlformats.org/drawingml/2006/main">
            <a:srgbClr val="F2F2F2"/>
          </a:solidFill>
          <a:ln xmlns:a="http://schemas.openxmlformats.org/drawingml/2006/main" w="0">
            <a:solidFill>
              <a:srgbClr val="F2F2F2"/>
            </a:solidFill>
            <a:prstDash val="solid"/>
          </a:ln>
        </p:spPr>
      </p:sp>
      <p:sp>
        <p:nvSpPr>
          <p:cNvPr id="6" name="decision-stat-1-value">
            <a:extLst xmlns:a="http://schemas.openxmlformats.org/drawingml/2006/main">
              <a:ext uri="{FF2B5EF4-FFF2-40B4-BE49-F238E27FC236}">
                <a16:creationId xmlns:a16="http://schemas.microsoft.com/office/drawing/2014/main" id="{D7A4F3C3-F97C-44C7-A36B-51A1D097903E}"/>
              </a:ext>
            </a:extLst>
          </p:cNvPr>
          <p:cNvSpPr>
            <a:spLocks xmlns:a="http://schemas.openxmlformats.org/drawingml/2006/main" noGrp="1"/>
          </p:cNvSpPr>
          <p:nvPr/>
        </p:nvSpPr>
        <p:spPr>
          <a:xfrm xmlns:a="http://schemas.openxmlformats.org/drawingml/2006/main">
            <a:off x="7448550" y="4362450"/>
            <a:ext cx="1571625" cy="714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600" b="1">
                <a:solidFill>
                  <a:srgbClr val="D1495B"/>
                </a:solidFill>
                <a:latin typeface="Helvetica Neue"/>
                <a:ea typeface="Helvetica Neue"/>
                <a:cs typeface="Helvetica Neue"/>
              </a:defRPr>
            </a:pPr>
            <a:r>
              <a:t>1.000</a:t>
            </a:r>
          </a:p>
        </p:txBody>
      </p:sp>
      <p:sp>
        <p:nvSpPr>
          <p:cNvPr id="7" name="decision-stat-1-label">
            <a:extLst xmlns:a="http://schemas.openxmlformats.org/drawingml/2006/main">
              <a:ext uri="{FF2B5EF4-FFF2-40B4-BE49-F238E27FC236}">
                <a16:creationId xmlns:a16="http://schemas.microsoft.com/office/drawing/2014/main" id="{986D845E-18A1-4D77-B8DE-799EED93D04F}"/>
              </a:ext>
            </a:extLst>
          </p:cNvPr>
          <p:cNvSpPr>
            <a:spLocks xmlns:a="http://schemas.openxmlformats.org/drawingml/2006/main" noGrp="1"/>
          </p:cNvSpPr>
          <p:nvPr/>
        </p:nvSpPr>
        <p:spPr>
          <a:xfrm xmlns:a="http://schemas.openxmlformats.org/drawingml/2006/main">
            <a:off x="7448550" y="5143500"/>
            <a:ext cx="1571625" cy="381000"/>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500" b="0">
                <a:solidFill>
                  <a:srgbClr val="000000"/>
                </a:solidFill>
                <a:latin typeface="Helvetica Neue"/>
                <a:ea typeface="Helvetica Neue"/>
                <a:cs typeface="Helvetica Neue"/>
              </a:defRPr>
            </a:pPr>
            <a:r>
              <a:t>search-adjusted p</a:t>
            </a:r>
          </a:p>
        </p:txBody>
      </p:sp>
      <p:sp>
        <p:nvSpPr>
          <p:cNvPr id="8" name="decision-stat-2-value">
            <a:extLst xmlns:a="http://schemas.openxmlformats.org/drawingml/2006/main">
              <a:ext uri="{FF2B5EF4-FFF2-40B4-BE49-F238E27FC236}">
                <a16:creationId xmlns:a16="http://schemas.microsoft.com/office/drawing/2014/main" id="{9A446D61-48A4-4C0A-B29D-534A50C490DE}"/>
              </a:ext>
            </a:extLst>
          </p:cNvPr>
          <p:cNvSpPr>
            <a:spLocks xmlns:a="http://schemas.openxmlformats.org/drawingml/2006/main" noGrp="1"/>
          </p:cNvSpPr>
          <p:nvPr/>
        </p:nvSpPr>
        <p:spPr>
          <a:xfrm xmlns:a="http://schemas.openxmlformats.org/drawingml/2006/main">
            <a:off x="9763125" y="4362450"/>
            <a:ext cx="1476375" cy="714375"/>
          </a:xfrm>
          <a:prstGeom xmlns:a="http://schemas.openxmlformats.org/drawingml/2006/main" prst="rect">
            <a:avLst/>
          </a:prstGeom>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3900" b="1">
                <a:solidFill>
                  <a:srgbClr val="000000"/>
                </a:solidFill>
                <a:latin typeface="Helvetica Neue"/>
                <a:ea typeface="Helvetica Neue"/>
                <a:cs typeface="Helvetica Neue"/>
              </a:defRPr>
            </a:pPr>
            <a:r>
              <a:t>0</a:t>
            </a:r>
          </a:p>
        </p:txBody>
      </p:sp>
      <p:sp>
        <p:nvSpPr>
          <p:cNvPr id="9" name="decision-stat-2-label">
            <a:extLst xmlns:a="http://schemas.openxmlformats.org/drawingml/2006/main">
              <a:ext uri="{FF2B5EF4-FFF2-40B4-BE49-F238E27FC236}">
                <a16:creationId xmlns:a16="http://schemas.microsoft.com/office/drawing/2014/main" id="{04F2D893-C219-467A-A671-E1904FD68437}"/>
              </a:ext>
            </a:extLst>
          </p:cNvPr>
          <p:cNvSpPr>
            <a:spLocks xmlns:a="http://schemas.openxmlformats.org/drawingml/2006/main" noGrp="1"/>
          </p:cNvSpPr>
          <p:nvPr/>
        </p:nvSpPr>
        <p:spPr>
          <a:xfrm xmlns:a="http://schemas.openxmlformats.org/drawingml/2006/main">
            <a:off x="9763125" y="5143500"/>
            <a:ext cx="1476375" cy="428625"/>
          </a:xfrm>
          <a:prstGeom xmlns:a="http://schemas.openxmlformats.org/drawingml/2006/main" prst="rect">
            <a:avLst/>
          </a:prstGeom>
        </p:spPr>
        <p:txBody>
          <a:bodyPr xmlns:a="http://schemas.openxmlformats.org/drawingml/2006/main" wrap="square" lIns="0" tIns="0" rIns="0" bIns="0" anchor="t">
            <a:normAutofit fontScale="98684"/>
          </a:bodyPr>
          <a:lstStyle xmlns:a="http://schemas.openxmlformats.org/drawingml/2006/main"/>
          <a:p xmlns:a="http://schemas.openxmlformats.org/drawingml/2006/main">
            <a:pPr algn="l">
              <a:defRPr sz="1425" b="0">
                <a:solidFill>
                  <a:srgbClr val="000000"/>
                </a:solidFill>
                <a:latin typeface="Helvetica Neue"/>
                <a:ea typeface="Helvetica Neue"/>
                <a:cs typeface="Helvetica Neue"/>
              </a:defRPr>
            </a:pPr>
            <a:r>
              <a:t>OOS observations queried</a:t>
            </a:r>
          </a:p>
        </p:txBody>
      </p:sp>
      <p:sp>
        <p:nvSpPr>
          <p:cNvPr id="10" name="footer-9">
            <a:extLst xmlns:a="http://schemas.openxmlformats.org/drawingml/2006/main">
              <a:ext uri="{FF2B5EF4-FFF2-40B4-BE49-F238E27FC236}">
                <a16:creationId xmlns:a16="http://schemas.microsoft.com/office/drawing/2014/main" id="{5F403F4A-27BE-4702-8B72-BDFEDBA4BD9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r">
              <a:defRPr sz="1050" b="0">
                <a:solidFill>
                  <a:srgbClr val="000000"/>
                </a:solidFill>
                <a:latin typeface="Helvetica Neue"/>
                <a:ea typeface="Helvetica Neue"/>
                <a:cs typeface="Helvetica Neue"/>
              </a:defRPr>
            </a:pPr>
            <a:r>
              <a:t>9</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c920fcbff21b4fbf"/>
          <a:stretch xmlns:a="http://schemas.openxmlformats.org/drawingml/2006/main"/>
        </p:blipFill>
        <p:spPr>
          <a:xfrm xmlns:a="http://schemas.openxmlformats.org/drawingml/2006/main">
            <a:off x="514350" y="1669883"/>
            <a:ext cx="6324600" cy="3994484"/>
          </a:xfrm>
          <a:prstGeom xmlns:a="http://schemas.openxmlformats.org/drawingml/2006/main" prst="rect">
            <a:avLst/>
          </a:prstGeom>
        </p:spPr>
      </p:pic>
    </p:spTree>
    <p:extLst>
      <p:ext uri="{BB962C8B-B14F-4D97-AF65-F5344CB8AC3E}">
        <p14:creationId xmlns:p14="http://schemas.microsoft.com/office/powerpoint/2010/main" val="1758323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2026-08-12T00:24:59.1000000Z</dcterms:created>
  <dcterms:modified xsi:type="dcterms:W3CDTF">2026-08-12T00:24:59.1000000Z</dcterms:modified>
</coreProperties>
</file>