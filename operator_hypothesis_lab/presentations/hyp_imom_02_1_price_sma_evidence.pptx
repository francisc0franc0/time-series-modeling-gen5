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c50ebdc6884265" /><Relationship Type="http://schemas.openxmlformats.org/officeDocument/2006/relationships/extended-properties" Target="/docProps/app.xml" Id="R79feba926bee4349" /><Relationship Type="http://schemas.openxmlformats.org/officeDocument/2006/relationships/officeDocument" Target="/ppt/presentation.xml" Id="R8c22818844d548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552a34f58a4a03"/>
  </p:sldMasterIdLst>
  <p:notesMasterIdLst>
    <p:notesMasterId xmlns:r="http://schemas.openxmlformats.org/officeDocument/2006/relationships" r:id="Rf5dbbe85c4714bf0"/>
  </p:notesMasterIdLst>
  <p:sldIdLst>
    <p:sldId xmlns:r="http://schemas.openxmlformats.org/officeDocument/2006/relationships" id="256" r:id="R94a0c37786894121"/>
    <p:sldId xmlns:r="http://schemas.openxmlformats.org/officeDocument/2006/relationships" id="257" r:id="R88743127786845ce"/>
    <p:sldId xmlns:r="http://schemas.openxmlformats.org/officeDocument/2006/relationships" id="258" r:id="R4fa96d4a6b4e49d3"/>
    <p:sldId xmlns:r="http://schemas.openxmlformats.org/officeDocument/2006/relationships" id="259" r:id="Rf55b07cbe860433c"/>
    <p:sldId xmlns:r="http://schemas.openxmlformats.org/officeDocument/2006/relationships" id="260" r:id="R30e7efdee8d34962"/>
    <p:sldId xmlns:r="http://schemas.openxmlformats.org/officeDocument/2006/relationships" id="261" r:id="Red279f8fcc2c444e"/>
    <p:sldId xmlns:r="http://schemas.openxmlformats.org/officeDocument/2006/relationships" id="262" r:id="Rce205b8255fd4e49"/>
    <p:sldId xmlns:r="http://schemas.openxmlformats.org/officeDocument/2006/relationships" id="263" r:id="R97ed9e8a6c034afc"/>
    <p:sldId xmlns:r="http://schemas.openxmlformats.org/officeDocument/2006/relationships" id="264" r:id="R0f94a31cdaf348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9eeb8330124e3d" /><Relationship Type="http://schemas.openxmlformats.org/officeDocument/2006/relationships/slideMaster" Target="/ppt/slideMasters/slideMaster1.xml" Id="Ree552a34f58a4a03" /><Relationship Type="http://schemas.openxmlformats.org/officeDocument/2006/relationships/notesMaster" Target="/ppt/notesMasters/notesMaster1.xml" Id="Rf5dbbe85c4714bf0" /><Relationship Type="http://schemas.openxmlformats.org/officeDocument/2006/relationships/presProps" Target="/ppt/presProps.xml" Id="Ref07190c5da54738" /><Relationship Type="http://schemas.openxmlformats.org/officeDocument/2006/relationships/tableStyles" Target="/ppt/tableStyles.xml" Id="Re305d5d5871f4c77" /><Relationship Type="http://schemas.openxmlformats.org/officeDocument/2006/relationships/slide" Target="/ppt/slides/slide1.xml" Id="R94a0c37786894121" /><Relationship Type="http://schemas.openxmlformats.org/officeDocument/2006/relationships/slide" Target="/ppt/slides/slide2.xml" Id="R88743127786845ce" /><Relationship Type="http://schemas.openxmlformats.org/officeDocument/2006/relationships/slide" Target="/ppt/slides/slide3.xml" Id="R4fa96d4a6b4e49d3" /><Relationship Type="http://schemas.openxmlformats.org/officeDocument/2006/relationships/slide" Target="/ppt/slides/slide4.xml" Id="Rf55b07cbe860433c" /><Relationship Type="http://schemas.openxmlformats.org/officeDocument/2006/relationships/slide" Target="/ppt/slides/slide5.xml" Id="R30e7efdee8d34962" /><Relationship Type="http://schemas.openxmlformats.org/officeDocument/2006/relationships/slide" Target="/ppt/slides/slide6.xml" Id="Red279f8fcc2c444e" /><Relationship Type="http://schemas.openxmlformats.org/officeDocument/2006/relationships/slide" Target="/ppt/slides/slide7.xml" Id="Rce205b8255fd4e49" /><Relationship Type="http://schemas.openxmlformats.org/officeDocument/2006/relationships/slide" Target="/ppt/slides/slide8.xml" Id="R97ed9e8a6c034afc" /><Relationship Type="http://schemas.openxmlformats.org/officeDocument/2006/relationships/slide" Target="/ppt/slides/slide9.xml" Id="R0f94a31cdaf348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298152ada946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c17546bc824e0a" /><Relationship Type="http://schemas.openxmlformats.org/officeDocument/2006/relationships/notesMaster" Target="/ppt/notesMasters/notesMaster1.xml" Id="R9d130db8283b47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f27569cca14b6f" /><Relationship Type="http://schemas.openxmlformats.org/officeDocument/2006/relationships/notesMaster" Target="/ppt/notesMasters/notesMaster1.xml" Id="R6550b5b42d9c41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bc7e0fcadb47c3" /><Relationship Type="http://schemas.openxmlformats.org/officeDocument/2006/relationships/notesMaster" Target="/ppt/notesMasters/notesMaster1.xml" Id="Rcd0fa5e065314a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0b1b552a2c42ee" /><Relationship Type="http://schemas.openxmlformats.org/officeDocument/2006/relationships/notesMaster" Target="/ppt/notesMasters/notesMaster1.xml" Id="R223842b90efb4f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acf39420fc4ea9" /><Relationship Type="http://schemas.openxmlformats.org/officeDocument/2006/relationships/notesMaster" Target="/ppt/notesMasters/notesMaster1.xml" Id="R2474b935f35142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a4e2e8b0bb4f5d" /><Relationship Type="http://schemas.openxmlformats.org/officeDocument/2006/relationships/notesMaster" Target="/ppt/notesMasters/notesMaster1.xml" Id="Rbe5000c285c74e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a3af026bb74817" /><Relationship Type="http://schemas.openxmlformats.org/officeDocument/2006/relationships/notesMaster" Target="/ppt/notesMasters/notesMaster1.xml" Id="R91684df39cde42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86f5148283433b" /><Relationship Type="http://schemas.openxmlformats.org/officeDocument/2006/relationships/notesMaster" Target="/ppt/notesMasters/notesMaster1.xml" Id="Rab9a3f9a377349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46acded5c34f16" /><Relationship Type="http://schemas.openxmlformats.org/officeDocument/2006/relationships/notesMaster" Target="/ppt/notesMasters/notesMaster1.xml" Id="R8b858e467a5c43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docs/GEN5_INTRADAY_MOMENTUM_POC_SERIES_CONTRACT.md</a:t>
            </a:r>
          </a:p>
          <a:p xmlns:a="http://schemas.openxmlformats.org/drawingml/2006/main">
            <a:r>
              <a:t>- operator_hypothesis_lab/docs/GEN5_INTRADAY_MOMENTUM_POC_SERIES_RESULTS.md</a:t>
            </a:r>
          </a:p>
          <a:p xmlns:a="http://schemas.openxmlformats.org/drawingml/2006/main">
            <a:r>
              <a:t>- runs/research_workbench/operator_hypothesis_lab/intraday_momentum_poc_series_20260813/visuals/price_selection_oos.png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docs/GEN5_INTRADAY_MOMENTUM_POC_SERIES_CONTRACT.md</a:t>
            </a:r>
          </a:p>
          <a:p xmlns:a="http://schemas.openxmlformats.org/drawingml/2006/main">
            <a:r>
              <a:t>- operator_hypothesis_lab/R/hyp_intraday_momentum_engine.R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docs/GEN5_INTRADAY_MOMENTUM_POC_SERIES_CONTRACT.md</a:t>
            </a:r>
          </a:p>
          <a:p xmlns:a="http://schemas.openxmlformats.org/drawingml/2006/main">
            <a:r>
              <a:t>- operator_hypothesis_lab/R/hyp_intraday_momentum_engine.R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operator_hypothesis_lab/docs/GEN5_INTRADAY_MOMENTUM_POC_SERIES_RESULTS.md</a:t>
            </a:r>
          </a:p>
          <a:p xmlns:a="http://schemas.openxmlformats.org/drawingml/2006/main">
            <a:r>
              <a:t>- runs/research_workbench/operator_hypothesis_lab/intraday_momentum_poc_series_20260813/price_sma_selections.csv</a:t>
            </a:r>
          </a:p>
          <a:p xmlns:a="http://schemas.openxmlformats.org/drawingml/2006/main">
            <a:r>
              <a:t>- runs/research_workbench/operator_hypothesis_lab/intraday_momentum_poc_series_20260813/visuals/price_selection_oos.png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operator_hypothesis_lab/docs/GEN5_INTRADAY_MOMENTUM_POC_SERIES_RESULTS.md</a:t>
            </a:r>
          </a:p>
          <a:p xmlns:a="http://schemas.openxmlformats.org/drawingml/2006/main">
            <a:r>
              <a:t>- runs/research_workbench/operator_hypothesis_lab/intraday_momentum_poc_series_20260813/series_topline.csv</a:t>
            </a:r>
          </a:p>
          <a:p xmlns:a="http://schemas.openxmlformats.org/drawingml/2006/main">
            <a:r>
              <a:t>- runs/research_workbench/operator_hypothesis_lab/intraday_momentum_poc_series_20260813/price_sma_oos_summaries.csv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operator_hypothesis_lab/docs/GEN5_INTRADAY_MOMENTUM_POC_SERIES_RESULTS.md</a:t>
            </a:r>
          </a:p>
          <a:p xmlns:a="http://schemas.openxmlformats.org/drawingml/2006/main">
            <a:r>
              <a:t>- runs/research_workbench/operator_hypothesis_lab/intraday_momentum_poc_series_20260813/timing_control_comparison.csv</a:t>
            </a:r>
          </a:p>
          <a:p xmlns:a="http://schemas.openxmlformats.org/drawingml/2006/main">
            <a:r>
              <a:t>- runs/research_workbench/operator_hypothesis_lab/intraday_momentum_poc_series_20260813/visuals/timing_nulls.png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operator_hypothesis_lab/docs/GEN5_INTRADAY_MOMENTUM_POC_SERIES_RESULTS.md</a:t>
            </a:r>
          </a:p>
          <a:p xmlns:a="http://schemas.openxmlformats.org/drawingml/2006/main">
            <a:r>
              <a:t>- runs/research_workbench/operator_hypothesis_lab/intraday_momentum_poc_series_20260813/series_sensitivity.csv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operator_hypothesis_lab/docs/GEN5_INTRADAY_MOMENTUM_POC_SERIES_RESULTS.md</a:t>
            </a:r>
          </a:p>
          <a:p xmlns:a="http://schemas.openxmlformats.org/drawingml/2006/main">
            <a:r>
              <a:t>- runs/research_workbench/operator_hypothesis_lab/intraday_momentum_poc_series_20260813/price_representative_trade_tapes.csv</a:t>
            </a:r>
          </a:p>
          <a:p xmlns:a="http://schemas.openxmlformats.org/drawingml/2006/main">
            <a:r>
              <a:t>- runs/research_workbench/operator_hypothesis_lab/intraday_momentum_poc_series_20260813/visuals/price_sma_trade_tapes.png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operator_hypothesis_lab/docs/GEN5_INTRADAY_MOMENTUM_POC_SERIES_RESULTS.md</a:t>
            </a:r>
          </a:p>
          <a:p xmlns:a="http://schemas.openxmlformats.org/drawingml/2006/main">
            <a:r>
              <a:t>- docs/GEN5_INTRADAY_MOMENTUM_POC_SERIES_CONTRACT.md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96a80941f14f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4800ea7990447b" /><Relationship Type="http://schemas.openxmlformats.org/officeDocument/2006/relationships/slideLayout" Target="/ppt/slideLayouts/slideLayout1.xml" Id="R37eb3b8363fb48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eb3b8363fb48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7cd7be3a2443d5" /><Relationship Type="http://schemas.openxmlformats.org/officeDocument/2006/relationships/image" Target="/ppt/media/image.png" Id="R2378ff351d654422" /><Relationship Type="http://schemas.openxmlformats.org/officeDocument/2006/relationships/notesSlide" Target="/ppt/notesSlides/notesSlide1.xml" Id="R6786976a202740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90ec7a173246f0" /><Relationship Type="http://schemas.openxmlformats.org/officeDocument/2006/relationships/notesSlide" Target="/ppt/notesSlides/notesSlide2.xml" Id="Rf8ac3e460faa4f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c9007b9ddd48c7" /><Relationship Type="http://schemas.openxmlformats.org/officeDocument/2006/relationships/notesSlide" Target="/ppt/notesSlides/notesSlide3.xml" Id="R66f0861f915143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afbfce792f4094" /><Relationship Type="http://schemas.openxmlformats.org/officeDocument/2006/relationships/image" Target="/ppt/media/image2.png" Id="R78fac63ea5a14f2c" /><Relationship Type="http://schemas.openxmlformats.org/officeDocument/2006/relationships/notesSlide" Target="/ppt/notesSlides/notesSlide4.xml" Id="R05f8b1ef192041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16240edcfb4b54" /><Relationship Type="http://schemas.openxmlformats.org/officeDocument/2006/relationships/notesSlide" Target="/ppt/notesSlides/notesSlide5.xml" Id="Rd029e295cd7448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78754df4684275" /><Relationship Type="http://schemas.openxmlformats.org/officeDocument/2006/relationships/image" Target="/ppt/media/image3.png" Id="R2c0fb86f816c4db0" /><Relationship Type="http://schemas.openxmlformats.org/officeDocument/2006/relationships/notesSlide" Target="/ppt/notesSlides/notesSlide6.xml" Id="R7b3c162365904c0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ab8a8c76bd4825" /><Relationship Type="http://schemas.openxmlformats.org/officeDocument/2006/relationships/notesSlide" Target="/ppt/notesSlides/notesSlide7.xml" Id="R7183975c24374e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a908c3bbfa46fc" /><Relationship Type="http://schemas.openxmlformats.org/officeDocument/2006/relationships/image" Target="/ppt/media/image4.png" Id="R5de3fca24f344a53" /><Relationship Type="http://schemas.openxmlformats.org/officeDocument/2006/relationships/notesSlide" Target="/ppt/notesSlides/notesSlide8.xml" Id="Rfd3ed521ce9745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23e1fdcfc42d5" /><Relationship Type="http://schemas.openxmlformats.org/officeDocument/2006/relationships/notesSlide" Target="/ppt/notesSlides/notesSlide9.xml" Id="R8111370bcb1f45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hero-backing">
            <a:extLst xmlns:a="http://schemas.openxmlformats.org/drawingml/2006/main">
              <a:ext uri="{FF2B5EF4-FFF2-40B4-BE49-F238E27FC236}">
                <a16:creationId xmlns:a16="http://schemas.microsoft.com/office/drawing/2014/main" id="{7E14C40D-4613-4A1F-8A47-4FCB409C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4355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78ff351d654422"/>
          <a:stretch xmlns:a="http://schemas.openxmlformats.org/drawingml/2006/main"/>
        </p:blipFill>
        <p:spPr>
          <a:xfrm xmlns:a="http://schemas.openxmlformats.org/drawingml/2006/main">
            <a:off x="6267450" y="1660525"/>
            <a:ext cx="5543550" cy="3079750"/>
          </a:xfrm>
          <a:prstGeom xmlns:a="http://schemas.openxmlformats.org/drawingml/2006/main" prst="rect">
            <a:avLst/>
          </a:prstGeom>
        </p:spPr>
      </p:pic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FA384375-A95A-42D1-8340-4026B188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528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D8D"/>
                </a:solidFill>
              </a:defRPr>
            </a:pPr>
            <a:r>
              <a:rPr sz="1200" b="1">
                <a:solidFill>
                  <a:srgbClr val="167D8D"/>
                </a:solidFill>
              </a:rPr>
              <a:t>HYP-IMOM-02.1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ABFF491-3E51-404E-815D-15A65903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9650"/>
            <a:ext cx="5286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827"/>
                </a:solidFill>
              </a:defRPr>
            </a:pPr>
            <a:r>
              <a:rPr sz="3900" b="1">
                <a:solidFill>
                  <a:srgbClr val="111827"/>
                </a:solidFill>
              </a:rPr>
              <a:t>Can TRAIN choose a portable intraday anchor?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915CBFF-A9F7-4403-A4DA-FD547CE2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5286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0"/>
                </a:solidFill>
              </a:defRPr>
            </a:pPr>
            <a:r>
              <a:rPr sz="1800" b="0">
                <a:solidFill>
                  <a:srgbClr val="5A6470"/>
                </a:solidFill>
              </a:rPr>
              <a:t>Session-scaled price/SMA crosses with symmetric and faster exits</a:t>
            </a:r>
          </a:p>
        </p:txBody>
      </p:sp>
      <p:sp>
        <p:nvSpPr>
          <p:cNvPr id="6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EE0DA15F-1A8E-4295-828D-FF949B27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5286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46A47"/>
                </a:solidFill>
              </a:defRPr>
            </a:pPr>
            <a:r>
              <a:rPr sz="1350" b="1">
                <a:solidFill>
                  <a:srgbClr val="E46A47"/>
                </a:solidFill>
              </a:rPr>
              <a:t>DEVELOPMENT COMPLETE • STOP</a:t>
            </a:r>
          </a:p>
        </p:txBody>
      </p:sp>
    </p:spTree>
    <p:extLst>
      <p:ext uri="{BB962C8B-B14F-4D97-AF65-F5344CB8AC3E}">
        <p14:creationId xmlns:p14="http://schemas.microsoft.com/office/powerpoint/2010/main" val="17767131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2">
            <a:extLst xmlns:a="http://schemas.openxmlformats.org/drawingml/2006/main">
              <a:ext uri="{FF2B5EF4-FFF2-40B4-BE49-F238E27FC236}">
                <a16:creationId xmlns:a16="http://schemas.microsoft.com/office/drawing/2014/main" id="{1700FAF1-2440-4379-A579-2FD559C5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The entry asks for a fresh change in long-horizon state</a:t>
            </a:r>
          </a:p>
        </p:txBody>
      </p:sp>
      <p:sp>
        <p:nvSpPr>
          <p:cNvPr id="2" name="section-2">
            <a:extLst xmlns:a="http://schemas.openxmlformats.org/drawingml/2006/main">
              <a:ext uri="{FF2B5EF4-FFF2-40B4-BE49-F238E27FC236}">
                <a16:creationId xmlns:a16="http://schemas.microsoft.com/office/drawing/2014/main" id="{3D48944E-4814-43B2-B1F5-FB59431D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D8D"/>
                </a:solidFill>
              </a:defRPr>
            </a:pPr>
            <a:r>
              <a:rPr sz="1200" b="1">
                <a:solidFill>
                  <a:srgbClr val="167D8D"/>
                </a:solidFill>
              </a:rPr>
              <a:t>MECHANICS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CB038C21-9F85-48A6-A360-DC94E690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470"/>
                </a:solidFill>
              </a:defRPr>
            </a:pPr>
            <a:r>
              <a:rPr sz="975" b="0">
                <a:solidFill>
                  <a:srgbClr val="5A6470"/>
                </a:solidFill>
              </a:rPr>
              <a:t>2</a:t>
            </a:r>
          </a:p>
        </p:txBody>
      </p:sp>
      <p:sp>
        <p:nvSpPr>
          <p:cNvPr id="4" name="lead-2">
            <a:extLst xmlns:a="http://schemas.openxmlformats.org/drawingml/2006/main">
              <a:ext uri="{FF2B5EF4-FFF2-40B4-BE49-F238E27FC236}">
                <a16:creationId xmlns:a16="http://schemas.microsoft.com/office/drawing/2014/main" id="{534DB543-D7C1-4A79-BEAD-5B42E284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71625"/>
            <a:ext cx="533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0"/>
                </a:solidFill>
              </a:defRPr>
            </a:pPr>
            <a:r>
              <a:rPr sz="1800" b="0">
                <a:solidFill>
                  <a:srgbClr val="5A6470"/>
                </a:solidFill>
              </a:rPr>
              <a:t>The anchors represent about 5, 10, 20, and 40 regular sessions. A new completed-bar cross above the slow anchor enters at the next open.</a:t>
            </a:r>
          </a:p>
        </p:txBody>
      </p:sp>
      <p:sp>
        <p:nvSpPr>
          <p:cNvPr id="5" name="formula-panel-2">
            <a:extLst xmlns:a="http://schemas.openxmlformats.org/drawingml/2006/main">
              <a:ext uri="{FF2B5EF4-FFF2-40B4-BE49-F238E27FC236}">
                <a16:creationId xmlns:a16="http://schemas.microsoft.com/office/drawing/2014/main" id="{FD890B35-E6F9-4E70-B3CD-CD25DEC5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53816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6" name="formula-2-0">
            <a:extLst xmlns:a="http://schemas.openxmlformats.org/drawingml/2006/main">
              <a:ext uri="{FF2B5EF4-FFF2-40B4-BE49-F238E27FC236}">
                <a16:creationId xmlns:a16="http://schemas.microsoft.com/office/drawing/2014/main" id="{1D17835D-D2D7-4850-81F5-DAD4E90A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28800"/>
            <a:ext cx="4619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7D8D"/>
                </a:solidFill>
              </a:defRPr>
            </a:pPr>
            <a:r>
              <a:rPr sz="1950" b="1">
                <a:solidFill>
                  <a:srgbClr val="167D8D"/>
                </a:solidFill>
              </a:rPr>
              <a:t>S ∈ {65, 130, 260, 520} bars</a:t>
            </a:r>
          </a:p>
        </p:txBody>
      </p:sp>
      <p:sp>
        <p:nvSpPr>
          <p:cNvPr id="7" name="formula-2-1">
            <a:extLst xmlns:a="http://schemas.openxmlformats.org/drawingml/2006/main">
              <a:ext uri="{FF2B5EF4-FFF2-40B4-BE49-F238E27FC236}">
                <a16:creationId xmlns:a16="http://schemas.microsoft.com/office/drawing/2014/main" id="{7F4463F0-181A-4682-8EA8-7D5F4AD9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09850"/>
            <a:ext cx="4619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827"/>
                </a:solidFill>
              </a:defRPr>
            </a:pPr>
            <a:r>
              <a:rPr sz="1950" b="0">
                <a:solidFill>
                  <a:srgbClr val="111827"/>
                </a:solidFill>
              </a:rPr>
              <a:t>symmetric: exit after price crosses below SMA(S)</a:t>
            </a:r>
          </a:p>
        </p:txBody>
      </p:sp>
      <p:sp>
        <p:nvSpPr>
          <p:cNvPr id="8" name="formula-2-2">
            <a:extLst xmlns:a="http://schemas.openxmlformats.org/drawingml/2006/main">
              <a:ext uri="{FF2B5EF4-FFF2-40B4-BE49-F238E27FC236}">
                <a16:creationId xmlns:a16="http://schemas.microsoft.com/office/drawing/2014/main" id="{69FE7A36-587A-4744-9818-A67ACD01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90900"/>
            <a:ext cx="4619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827"/>
                </a:solidFill>
              </a:defRPr>
            </a:pPr>
            <a:r>
              <a:rPr sz="1950" b="0">
                <a:solidFill>
                  <a:srgbClr val="111827"/>
                </a:solidFill>
              </a:rPr>
              <a:t>asymmetric: exit below SMA(round(S/4))</a:t>
            </a:r>
          </a:p>
        </p:txBody>
      </p:sp>
      <p:sp>
        <p:nvSpPr>
          <p:cNvPr id="9" name="interpret-2">
            <a:extLst xmlns:a="http://schemas.openxmlformats.org/drawingml/2006/main">
              <a:ext uri="{FF2B5EF4-FFF2-40B4-BE49-F238E27FC236}">
                <a16:creationId xmlns:a16="http://schemas.microsoft.com/office/drawing/2014/main" id="{FBFB3303-CCAD-4F1B-AE4A-0BD591E2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11191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The asymmetric version tries to enter on a slow momentum shift but relinquish risk before the slow anchor fully reverses.</a:t>
            </a:r>
          </a:p>
        </p:txBody>
      </p:sp>
    </p:spTree>
    <p:extLst>
      <p:ext uri="{BB962C8B-B14F-4D97-AF65-F5344CB8AC3E}">
        <p14:creationId xmlns:p14="http://schemas.microsoft.com/office/powerpoint/2010/main" val="4061580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3">
            <a:extLst xmlns:a="http://schemas.openxmlformats.org/drawingml/2006/main">
              <a:ext uri="{FF2B5EF4-FFF2-40B4-BE49-F238E27FC236}">
                <a16:creationId xmlns:a16="http://schemas.microsoft.com/office/drawing/2014/main" id="{89793085-B8C5-494B-A870-07D32C43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Selection is nested inside expanding TRAIN</a:t>
            </a:r>
          </a:p>
        </p:txBody>
      </p:sp>
      <p:sp>
        <p:nvSpPr>
          <p:cNvPr id="2" name="section-3">
            <a:extLst xmlns:a="http://schemas.openxmlformats.org/drawingml/2006/main">
              <a:ext uri="{FF2B5EF4-FFF2-40B4-BE49-F238E27FC236}">
                <a16:creationId xmlns:a16="http://schemas.microsoft.com/office/drawing/2014/main" id="{F214B376-345D-46E0-BBE2-CDF5E045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D8D"/>
                </a:solidFill>
              </a:defRPr>
            </a:pPr>
            <a:r>
              <a:rPr sz="1200" b="1">
                <a:solidFill>
                  <a:srgbClr val="167D8D"/>
                </a:solidFill>
              </a:rPr>
              <a:t>SELECTION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616777C7-6DB0-4E19-AD7B-95877B87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470"/>
                </a:solidFill>
              </a:defRPr>
            </a:pPr>
            <a:r>
              <a:rPr sz="975" b="0">
                <a:solidFill>
                  <a:srgbClr val="5A6470"/>
                </a:solidFill>
              </a:rPr>
              <a:t>3</a:t>
            </a:r>
          </a:p>
        </p:txBody>
      </p:sp>
      <p:sp>
        <p:nvSpPr>
          <p:cNvPr id="4" name="stage-0">
            <a:extLst xmlns:a="http://schemas.openxmlformats.org/drawingml/2006/main">
              <a:ext uri="{FF2B5EF4-FFF2-40B4-BE49-F238E27FC236}">
                <a16:creationId xmlns:a16="http://schemas.microsoft.com/office/drawing/2014/main" id="{F09DEBD5-2B52-4BED-94B7-EF5E3CD4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5" name="stage-h-0">
            <a:extLst xmlns:a="http://schemas.openxmlformats.org/drawingml/2006/main">
              <a:ext uri="{FF2B5EF4-FFF2-40B4-BE49-F238E27FC236}">
                <a16:creationId xmlns:a16="http://schemas.microsoft.com/office/drawing/2014/main" id="{15376F3A-1F78-4FAE-94E0-2A08751D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7D8D"/>
                </a:solidFill>
              </a:defRPr>
            </a:pPr>
            <a:r>
              <a:rPr sz="1875" b="1">
                <a:solidFill>
                  <a:srgbClr val="167D8D"/>
                </a:solidFill>
              </a:rPr>
              <a:t>1  Score eight candidates</a:t>
            </a:r>
          </a:p>
        </p:txBody>
      </p:sp>
      <p:sp>
        <p:nvSpPr>
          <p:cNvPr id="6" name="stage-b-0">
            <a:extLst xmlns:a="http://schemas.openxmlformats.org/drawingml/2006/main">
              <a:ext uri="{FF2B5EF4-FFF2-40B4-BE49-F238E27FC236}">
                <a16:creationId xmlns:a16="http://schemas.microsoft.com/office/drawing/2014/main" id="{316131A8-9810-44D0-8657-88DEEAD1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470"/>
                </a:solidFill>
              </a:defRPr>
            </a:pPr>
            <a:r>
              <a:rPr sz="1500" b="0">
                <a:solidFill>
                  <a:srgbClr val="5A6470"/>
                </a:solidFill>
              </a:rPr>
              <a:t>Five equal-weight yearly ranks: return, positive-stock breadth, Sharpe, drawdown, and buy-and-hold excess.</a:t>
            </a:r>
          </a:p>
        </p:txBody>
      </p:sp>
      <p:sp>
        <p:nvSpPr>
          <p:cNvPr id="7" name="stage-1">
            <a:extLst xmlns:a="http://schemas.openxmlformats.org/drawingml/2006/main">
              <a:ext uri="{FF2B5EF4-FFF2-40B4-BE49-F238E27FC236}">
                <a16:creationId xmlns:a16="http://schemas.microsoft.com/office/drawing/2014/main" id="{09337612-90D8-475E-9734-FB8FB3C3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52625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8" name="stage-h-1">
            <a:extLst xmlns:a="http://schemas.openxmlformats.org/drawingml/2006/main">
              <a:ext uri="{FF2B5EF4-FFF2-40B4-BE49-F238E27FC236}">
                <a16:creationId xmlns:a16="http://schemas.microsoft.com/office/drawing/2014/main" id="{99A5FCDF-576C-4574-891A-7337BDE1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3362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3A73A"/>
                </a:solidFill>
              </a:defRPr>
            </a:pPr>
            <a:r>
              <a:rPr sz="1875" b="1">
                <a:solidFill>
                  <a:srgbClr val="D3A73A"/>
                </a:solidFill>
              </a:rPr>
              <a:t>2  Form a tolerance plateau</a:t>
            </a:r>
          </a:p>
        </p:txBody>
      </p:sp>
      <p:sp>
        <p:nvSpPr>
          <p:cNvPr id="9" name="stage-b-1">
            <a:extLst xmlns:a="http://schemas.openxmlformats.org/drawingml/2006/main">
              <a:ext uri="{FF2B5EF4-FFF2-40B4-BE49-F238E27FC236}">
                <a16:creationId xmlns:a16="http://schemas.microsoft.com/office/drawing/2014/main" id="{0C12A13A-A906-40AC-990C-B5A78F7E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337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470"/>
                </a:solidFill>
              </a:defRPr>
            </a:pPr>
            <a:r>
              <a:rPr sz="1500" b="0">
                <a:solidFill>
                  <a:srgbClr val="5A6470"/>
                </a:solidFill>
              </a:rPr>
              <a:t>Keep candidates within one standard error of the best mean TRAIN score.</a:t>
            </a:r>
          </a:p>
        </p:txBody>
      </p:sp>
      <p:sp>
        <p:nvSpPr>
          <p:cNvPr id="10" name="stage-2">
            <a:extLst xmlns:a="http://schemas.openxmlformats.org/drawingml/2006/main">
              <a:ext uri="{FF2B5EF4-FFF2-40B4-BE49-F238E27FC236}">
                <a16:creationId xmlns:a16="http://schemas.microsoft.com/office/drawing/2014/main" id="{9F685879-ACB5-481C-82BF-17E852A2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52625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1" name="stage-h-2">
            <a:extLst xmlns:a="http://schemas.openxmlformats.org/drawingml/2006/main">
              <a:ext uri="{FF2B5EF4-FFF2-40B4-BE49-F238E27FC236}">
                <a16:creationId xmlns:a16="http://schemas.microsoft.com/office/drawing/2014/main" id="{D78E7733-EA78-4E26-B5F7-A0520A19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3362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46A47"/>
                </a:solidFill>
              </a:defRPr>
            </a:pPr>
            <a:r>
              <a:rPr sz="1875" b="1">
                <a:solidFill>
                  <a:srgbClr val="E46A47"/>
                </a:solidFill>
              </a:rPr>
              <a:t>3  Prefer lower turnover</a:t>
            </a:r>
          </a:p>
        </p:txBody>
      </p:sp>
      <p:sp>
        <p:nvSpPr>
          <p:cNvPr id="12" name="stage-b-2">
            <a:extLst xmlns:a="http://schemas.openxmlformats.org/drawingml/2006/main">
              <a:ext uri="{FF2B5EF4-FFF2-40B4-BE49-F238E27FC236}">
                <a16:creationId xmlns:a16="http://schemas.microsoft.com/office/drawing/2014/main" id="{0FF8DAC9-7B7E-47C7-89A5-359B4CEE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337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470"/>
                </a:solidFill>
              </a:defRPr>
            </a:pPr>
            <a:r>
              <a:rPr sz="1500" b="0">
                <a:solidFill>
                  <a:srgbClr val="5A6470"/>
                </a:solidFill>
              </a:rPr>
              <a:t>Within the plateau, choose fewer trades; ties prefer longer anchors, then symmetric exits.</a:t>
            </a:r>
          </a:p>
        </p:txBody>
      </p:sp>
      <p:sp>
        <p:nvSpPr>
          <p:cNvPr id="13" name="stage-conclusion">
            <a:extLst xmlns:a="http://schemas.openxmlformats.org/drawingml/2006/main">
              <a:ext uri="{FF2B5EF4-FFF2-40B4-BE49-F238E27FC236}">
                <a16:creationId xmlns:a16="http://schemas.microsoft.com/office/drawing/2014/main" id="{4A64A89D-C496-4CD6-AB56-4F882A34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76875"/>
            <a:ext cx="10839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The selected policy is frozen before the next quarter is replayed. The 1.8x path cannot influence selection.</a:t>
            </a:r>
          </a:p>
        </p:txBody>
      </p:sp>
    </p:spTree>
    <p:extLst>
      <p:ext uri="{BB962C8B-B14F-4D97-AF65-F5344CB8AC3E}">
        <p14:creationId xmlns:p14="http://schemas.microsoft.com/office/powerpoint/2010/main" val="10538236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487DF28D-38BF-49EC-880C-2E60035B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TRAIN consistently preferred the longest anchor</a:t>
            </a:r>
          </a:p>
        </p:txBody>
      </p:sp>
      <p:sp>
        <p:nvSpPr>
          <p:cNvPr id="2" name="section-4">
            <a:extLst xmlns:a="http://schemas.openxmlformats.org/drawingml/2006/main">
              <a:ext uri="{FF2B5EF4-FFF2-40B4-BE49-F238E27FC236}">
                <a16:creationId xmlns:a16="http://schemas.microsoft.com/office/drawing/2014/main" id="{58C835F2-13CC-4B2C-8733-B235A5C3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D8D"/>
                </a:solidFill>
              </a:defRPr>
            </a:pPr>
            <a:r>
              <a:rPr sz="1200" b="1">
                <a:solidFill>
                  <a:srgbClr val="167D8D"/>
                </a:solidFill>
              </a:rPr>
              <a:t>SELECTION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203BC560-24C2-42A5-B9DC-733A9560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470"/>
                </a:solidFill>
              </a:defRPr>
            </a:pPr>
            <a:r>
              <a:rPr sz="975" b="0">
                <a:solidFill>
                  <a:srgbClr val="5A6470"/>
                </a:solidFill>
              </a:rPr>
              <a:t>4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fac63ea5a14f2c"/>
          <a:stretch xmlns:a="http://schemas.openxmlformats.org/drawingml/2006/main"/>
        </p:blipFill>
        <p:spPr>
          <a:xfrm xmlns:a="http://schemas.openxmlformats.org/drawingml/2006/main">
            <a:off x="2131695" y="1409700"/>
            <a:ext cx="7852410" cy="4362450"/>
          </a:xfrm>
          <a:prstGeom xmlns:a="http://schemas.openxmlformats.org/drawingml/2006/main" prst="rect">
            <a:avLst/>
          </a:prstGeom>
        </p:spPr>
      </p:pic>
      <p:sp>
        <p:nvSpPr>
          <p:cNvPr id="5" name="caption-4">
            <a:extLst xmlns:a="http://schemas.openxmlformats.org/drawingml/2006/main">
              <a:ext uri="{FF2B5EF4-FFF2-40B4-BE49-F238E27FC236}">
                <a16:creationId xmlns:a16="http://schemas.microsoft.com/office/drawing/2014/main" id="{697A5B52-A89E-4105-9EA1-7FD3A886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67400"/>
            <a:ext cx="11201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A6470"/>
                </a:solidFill>
              </a:defRPr>
            </a:pPr>
            <a:r>
              <a:rPr sz="1350" b="0">
                <a:solidFill>
                  <a:srgbClr val="5A6470"/>
                </a:solidFill>
              </a:rPr>
              <a:t>SMA520 symmetric dominated through 2022; the 130-bar exit entered the tolerance set for 2023.</a:t>
            </a:r>
          </a:p>
        </p:txBody>
      </p:sp>
    </p:spTree>
    <p:extLst>
      <p:ext uri="{BB962C8B-B14F-4D97-AF65-F5344CB8AC3E}">
        <p14:creationId xmlns:p14="http://schemas.microsoft.com/office/powerpoint/2010/main" val="19781195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5">
            <a:extLst xmlns:a="http://schemas.openxmlformats.org/drawingml/2006/main">
              <a:ext uri="{FF2B5EF4-FFF2-40B4-BE49-F238E27FC236}">
                <a16:creationId xmlns:a16="http://schemas.microsoft.com/office/drawing/2014/main" id="{C9A6B710-A9A4-4CC3-B007-5E0004EC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The selected policy failed to stabilize out of sample</a:t>
            </a:r>
          </a:p>
        </p:txBody>
      </p:sp>
      <p:sp>
        <p:nvSpPr>
          <p:cNvPr id="2" name="section-5">
            <a:extLst xmlns:a="http://schemas.openxmlformats.org/drawingml/2006/main">
              <a:ext uri="{FF2B5EF4-FFF2-40B4-BE49-F238E27FC236}">
                <a16:creationId xmlns:a16="http://schemas.microsoft.com/office/drawing/2014/main" id="{2C5CBC12-C695-4F59-8CED-6F754029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D8D"/>
                </a:solidFill>
              </a:defRPr>
            </a:pPr>
            <a:r>
              <a:rPr sz="1200" b="1">
                <a:solidFill>
                  <a:srgbClr val="167D8D"/>
                </a:solidFill>
              </a:rPr>
              <a:t>OOS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8924E403-532D-402E-B59C-A833C0F4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470"/>
                </a:solidFill>
              </a:defRPr>
            </a:pPr>
            <a:r>
              <a:rPr sz="975" b="0">
                <a:solidFill>
                  <a:srgbClr val="5A6470"/>
                </a:solidFill>
              </a:rPr>
              <a:t>5</a:t>
            </a:r>
          </a:p>
        </p:txBody>
      </p:sp>
      <p:sp>
        <p:nvSpPr>
          <p:cNvPr id="4" name="lead-5">
            <a:extLst xmlns:a="http://schemas.openxmlformats.org/drawingml/2006/main">
              <a:ext uri="{FF2B5EF4-FFF2-40B4-BE49-F238E27FC236}">
                <a16:creationId xmlns:a16="http://schemas.microsoft.com/office/drawing/2014/main" id="{69B13F5A-033D-4388-828D-7AB62CDF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191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A6470"/>
                </a:solidFill>
              </a:defRPr>
            </a:pPr>
            <a:r>
              <a:rPr sz="1725" b="0">
                <a:solidFill>
                  <a:srgbClr val="5A6470"/>
                </a:solidFill>
              </a:rPr>
              <a:t>Across 288 stock-quarters at 1x, the family was less destructive than the 8/14 intraday rule—but still negative in absolute and relative terms.</a:t>
            </a:r>
          </a:p>
        </p:txBody>
      </p:sp>
      <p:sp>
        <p:nvSpPr>
          <p:cNvPr id="5" name="metric-panel-5-0">
            <a:extLst xmlns:a="http://schemas.openxmlformats.org/drawingml/2006/main">
              <a:ext uri="{FF2B5EF4-FFF2-40B4-BE49-F238E27FC236}">
                <a16:creationId xmlns:a16="http://schemas.microsoft.com/office/drawing/2014/main" id="{7AB0D2A4-1221-4994-8D1A-8DAC386F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3476625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6" name="metric-value-5-0">
            <a:extLst xmlns:a="http://schemas.openxmlformats.org/drawingml/2006/main">
              <a:ext uri="{FF2B5EF4-FFF2-40B4-BE49-F238E27FC236}">
                <a16:creationId xmlns:a16="http://schemas.microsoft.com/office/drawing/2014/main" id="{ADC58F73-7777-4523-B061-239F0F18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295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46A47"/>
                </a:solidFill>
              </a:defRPr>
            </a:pPr>
            <a:r>
              <a:rPr sz="3600" b="1">
                <a:solidFill>
                  <a:srgbClr val="E46A47"/>
                </a:solidFill>
              </a:rPr>
              <a:t>−0.86%</a:t>
            </a:r>
          </a:p>
        </p:txBody>
      </p:sp>
      <p:sp>
        <p:nvSpPr>
          <p:cNvPr id="7" name="metric-label-5-0">
            <a:extLst xmlns:a="http://schemas.openxmlformats.org/drawingml/2006/main">
              <a:ext uri="{FF2B5EF4-FFF2-40B4-BE49-F238E27FC236}">
                <a16:creationId xmlns:a16="http://schemas.microsoft.com/office/drawing/2014/main" id="{64F2BF8B-8472-4712-B685-807FBB27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295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470"/>
                </a:solidFill>
              </a:defRPr>
            </a:pPr>
            <a:r>
              <a:rPr sz="1500" b="0">
                <a:solidFill>
                  <a:srgbClr val="5A6470"/>
                </a:solidFill>
              </a:rPr>
              <a:t>median quarter return</a:t>
            </a:r>
          </a:p>
        </p:txBody>
      </p:sp>
      <p:sp>
        <p:nvSpPr>
          <p:cNvPr id="8" name="metric-panel-5-1">
            <a:extLst xmlns:a="http://schemas.openxmlformats.org/drawingml/2006/main">
              <a:ext uri="{FF2B5EF4-FFF2-40B4-BE49-F238E27FC236}">
                <a16:creationId xmlns:a16="http://schemas.microsoft.com/office/drawing/2014/main" id="{23B1DF44-07D0-4099-9065-EEB31ECF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24150"/>
            <a:ext cx="3476625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9" name="metric-value-5-1">
            <a:extLst xmlns:a="http://schemas.openxmlformats.org/drawingml/2006/main">
              <a:ext uri="{FF2B5EF4-FFF2-40B4-BE49-F238E27FC236}">
                <a16:creationId xmlns:a16="http://schemas.microsoft.com/office/drawing/2014/main" id="{FAC9607A-9179-461B-A8C2-B03CECAE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62300"/>
            <a:ext cx="295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</a:defRPr>
            </a:pPr>
            <a:r>
              <a:rPr sz="3600" b="1">
                <a:solidFill>
                  <a:srgbClr val="111827"/>
                </a:solidFill>
              </a:rPr>
              <a:t>39.2%</a:t>
            </a:r>
          </a:p>
        </p:txBody>
      </p:sp>
      <p:sp>
        <p:nvSpPr>
          <p:cNvPr id="10" name="metric-label-5-1">
            <a:extLst xmlns:a="http://schemas.openxmlformats.org/drawingml/2006/main">
              <a:ext uri="{FF2B5EF4-FFF2-40B4-BE49-F238E27FC236}">
                <a16:creationId xmlns:a16="http://schemas.microsoft.com/office/drawing/2014/main" id="{542E03D5-00FA-4614-95DF-075B75D5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76750"/>
            <a:ext cx="295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470"/>
                </a:solidFill>
              </a:defRPr>
            </a:pPr>
            <a:r>
              <a:rPr sz="1500" b="0">
                <a:solidFill>
                  <a:srgbClr val="5A6470"/>
                </a:solidFill>
              </a:rPr>
              <a:t>positive stock-quarters</a:t>
            </a:r>
          </a:p>
        </p:txBody>
      </p:sp>
      <p:sp>
        <p:nvSpPr>
          <p:cNvPr id="11" name="metric-panel-5-2">
            <a:extLst xmlns:a="http://schemas.openxmlformats.org/drawingml/2006/main">
              <a:ext uri="{FF2B5EF4-FFF2-40B4-BE49-F238E27FC236}">
                <a16:creationId xmlns:a16="http://schemas.microsoft.com/office/drawing/2014/main" id="{BA869F16-3932-4A98-81E2-452DE47A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24150"/>
            <a:ext cx="3476625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2" name="metric-value-5-2">
            <a:extLst xmlns:a="http://schemas.openxmlformats.org/drawingml/2006/main">
              <a:ext uri="{FF2B5EF4-FFF2-40B4-BE49-F238E27FC236}">
                <a16:creationId xmlns:a16="http://schemas.microsoft.com/office/drawing/2014/main" id="{6FD265CC-8743-4E27-A289-FBE1191F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62300"/>
            <a:ext cx="295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46A47"/>
                </a:solidFill>
              </a:defRPr>
            </a:pPr>
            <a:r>
              <a:rPr sz="3600" b="1">
                <a:solidFill>
                  <a:srgbClr val="E46A47"/>
                </a:solidFill>
              </a:rPr>
              <a:t>−3.32 pp</a:t>
            </a:r>
          </a:p>
        </p:txBody>
      </p:sp>
      <p:sp>
        <p:nvSpPr>
          <p:cNvPr id="13" name="metric-label-5-2">
            <a:extLst xmlns:a="http://schemas.openxmlformats.org/drawingml/2006/main">
              <a:ext uri="{FF2B5EF4-FFF2-40B4-BE49-F238E27FC236}">
                <a16:creationId xmlns:a16="http://schemas.microsoft.com/office/drawing/2014/main" id="{C467E39D-FEE4-4F0C-A05A-44342C38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76750"/>
            <a:ext cx="295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470"/>
                </a:solidFill>
              </a:defRPr>
            </a:pPr>
            <a:r>
              <a:rPr sz="1500" b="0">
                <a:solidFill>
                  <a:srgbClr val="5A6470"/>
                </a:solidFill>
              </a:rPr>
              <a:t>median excess vs buy-and-hold</a:t>
            </a:r>
          </a:p>
        </p:txBody>
      </p:sp>
    </p:spTree>
    <p:extLst>
      <p:ext uri="{BB962C8B-B14F-4D97-AF65-F5344CB8AC3E}">
        <p14:creationId xmlns:p14="http://schemas.microsoft.com/office/powerpoint/2010/main" val="1485009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6">
            <a:extLst xmlns:a="http://schemas.openxmlformats.org/drawingml/2006/main">
              <a:ext uri="{FF2B5EF4-FFF2-40B4-BE49-F238E27FC236}">
                <a16:creationId xmlns:a16="http://schemas.microsoft.com/office/drawing/2014/main" id="{80C6AE34-3429-46F9-B160-1F05179F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The actual timing was worse than every shifted panel</a:t>
            </a:r>
          </a:p>
        </p:txBody>
      </p:sp>
      <p:sp>
        <p:nvSpPr>
          <p:cNvPr id="2" name="section-6">
            <a:extLst xmlns:a="http://schemas.openxmlformats.org/drawingml/2006/main">
              <a:ext uri="{FF2B5EF4-FFF2-40B4-BE49-F238E27FC236}">
                <a16:creationId xmlns:a16="http://schemas.microsoft.com/office/drawing/2014/main" id="{07D19590-84DF-462C-A323-498CB1BF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D8D"/>
                </a:solidFill>
              </a:defRPr>
            </a:pPr>
            <a:r>
              <a:rPr sz="1200" b="1">
                <a:solidFill>
                  <a:srgbClr val="167D8D"/>
                </a:solidFill>
              </a:rPr>
              <a:t>FALSIFICATION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B12995BB-974D-4428-91A9-B6A964D1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470"/>
                </a:solidFill>
              </a:defRPr>
            </a:pPr>
            <a:r>
              <a:rPr sz="975" b="0">
                <a:solidFill>
                  <a:srgbClr val="5A6470"/>
                </a:solidFill>
              </a:rPr>
              <a:t>6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0fb86f816c4db0"/>
          <a:stretch xmlns:a="http://schemas.openxmlformats.org/drawingml/2006/main"/>
        </p:blipFill>
        <p:spPr>
          <a:xfrm xmlns:a="http://schemas.openxmlformats.org/drawingml/2006/main">
            <a:off x="2131695" y="1409700"/>
            <a:ext cx="7852410" cy="4362450"/>
          </a:xfrm>
          <a:prstGeom xmlns:a="http://schemas.openxmlformats.org/drawingml/2006/main" prst="rect">
            <a:avLst/>
          </a:prstGeom>
        </p:spPr>
      </p:pic>
      <p:sp>
        <p:nvSpPr>
          <p:cNvPr id="5" name="caption-6">
            <a:extLst xmlns:a="http://schemas.openxmlformats.org/drawingml/2006/main">
              <a:ext uri="{FF2B5EF4-FFF2-40B4-BE49-F238E27FC236}">
                <a16:creationId xmlns:a16="http://schemas.microsoft.com/office/drawing/2014/main" id="{14BFB6F6-CBE6-471F-9700-0C07021F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67400"/>
            <a:ext cx="11201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A6470"/>
                </a:solidFill>
              </a:defRPr>
            </a:pPr>
            <a:r>
              <a:rPr sz="1350" b="0">
                <a:solidFill>
                  <a:srgbClr val="5A6470"/>
                </a:solidFill>
              </a:rPr>
              <a:t>For HYP-IMOM-02.1, the orange actual line lies below the 200 whole-session timing shifts.</a:t>
            </a:r>
          </a:p>
        </p:txBody>
      </p:sp>
    </p:spTree>
    <p:extLst>
      <p:ext uri="{BB962C8B-B14F-4D97-AF65-F5344CB8AC3E}">
        <p14:creationId xmlns:p14="http://schemas.microsoft.com/office/powerpoint/2010/main" val="12240077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7">
            <a:extLst xmlns:a="http://schemas.openxmlformats.org/drawingml/2006/main">
              <a:ext uri="{FF2B5EF4-FFF2-40B4-BE49-F238E27FC236}">
                <a16:creationId xmlns:a16="http://schemas.microsoft.com/office/drawing/2014/main" id="{54C0133F-7BA6-4081-BCF3-97DA3CD5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Costs and one-bar delay both pushed the result lower</a:t>
            </a:r>
          </a:p>
        </p:txBody>
      </p:sp>
      <p:sp>
        <p:nvSpPr>
          <p:cNvPr id="2" name="section-7">
            <a:extLst xmlns:a="http://schemas.openxmlformats.org/drawingml/2006/main">
              <a:ext uri="{FF2B5EF4-FFF2-40B4-BE49-F238E27FC236}">
                <a16:creationId xmlns:a16="http://schemas.microsoft.com/office/drawing/2014/main" id="{E6728387-5660-469E-8CB0-DA8C65B1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D8D"/>
                </a:solidFill>
              </a:defRPr>
            </a:pPr>
            <a:r>
              <a:rPr sz="1200" b="1">
                <a:solidFill>
                  <a:srgbClr val="167D8D"/>
                </a:solidFill>
              </a:rPr>
              <a:t>ROBUSTNESS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B7560E38-C767-410E-A82D-6A5BCF8B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470"/>
                </a:solidFill>
              </a:defRPr>
            </a:pPr>
            <a:r>
              <a:rPr sz="975" b="0">
                <a:solidFill>
                  <a:srgbClr val="5A6470"/>
                </a:solidFill>
              </a:rPr>
              <a:t>7</a:t>
            </a:r>
          </a:p>
        </p:txBody>
      </p:sp>
      <p:sp>
        <p:nvSpPr>
          <p:cNvPr id="4" name="lead-7">
            <a:extLst xmlns:a="http://schemas.openxmlformats.org/drawingml/2006/main">
              <a:ext uri="{FF2B5EF4-FFF2-40B4-BE49-F238E27FC236}">
                <a16:creationId xmlns:a16="http://schemas.microsoft.com/office/drawing/2014/main" id="{8220E9F1-DB7C-4D9D-B878-F9B2BA47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191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A6470"/>
                </a:solidFill>
              </a:defRPr>
            </a:pPr>
            <a:r>
              <a:rPr sz="1725" b="0">
                <a:solidFill>
                  <a:srgbClr val="5A6470"/>
                </a:solidFill>
              </a:rPr>
              <a:t>The weak result is not an artifact of one precise next-open fill. Stress costs and an extra completed-bar delay each worsen the median.</a:t>
            </a:r>
          </a:p>
        </p:txBody>
      </p:sp>
      <p:sp>
        <p:nvSpPr>
          <p:cNvPr id="5" name="metric-panel-7-0">
            <a:extLst xmlns:a="http://schemas.openxmlformats.org/drawingml/2006/main">
              <a:ext uri="{FF2B5EF4-FFF2-40B4-BE49-F238E27FC236}">
                <a16:creationId xmlns:a16="http://schemas.microsoft.com/office/drawing/2014/main" id="{5B102A94-7A17-4D6E-8FD3-DFAC8C12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3476625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6" name="metric-value-7-0">
            <a:extLst xmlns:a="http://schemas.openxmlformats.org/drawingml/2006/main">
              <a:ext uri="{FF2B5EF4-FFF2-40B4-BE49-F238E27FC236}">
                <a16:creationId xmlns:a16="http://schemas.microsoft.com/office/drawing/2014/main" id="{8A9FBF49-EA74-4D29-9B55-A34F2F9A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295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</a:defRPr>
            </a:pPr>
            <a:r>
              <a:rPr sz="3600" b="1">
                <a:solidFill>
                  <a:srgbClr val="111827"/>
                </a:solidFill>
              </a:rPr>
              <a:t>−0.86%</a:t>
            </a:r>
          </a:p>
        </p:txBody>
      </p:sp>
      <p:sp>
        <p:nvSpPr>
          <p:cNvPr id="7" name="metric-label-7-0">
            <a:extLst xmlns:a="http://schemas.openxmlformats.org/drawingml/2006/main">
              <a:ext uri="{FF2B5EF4-FFF2-40B4-BE49-F238E27FC236}">
                <a16:creationId xmlns:a16="http://schemas.microsoft.com/office/drawing/2014/main" id="{41D2999B-3AA7-4152-BA56-17BBD373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295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470"/>
                </a:solidFill>
              </a:defRPr>
            </a:pPr>
            <a:r>
              <a:rPr sz="1500" b="0">
                <a:solidFill>
                  <a:srgbClr val="5A6470"/>
                </a:solidFill>
              </a:rPr>
              <a:t>primary median</a:t>
            </a:r>
          </a:p>
        </p:txBody>
      </p:sp>
      <p:sp>
        <p:nvSpPr>
          <p:cNvPr id="8" name="metric-panel-7-1">
            <a:extLst xmlns:a="http://schemas.openxmlformats.org/drawingml/2006/main">
              <a:ext uri="{FF2B5EF4-FFF2-40B4-BE49-F238E27FC236}">
                <a16:creationId xmlns:a16="http://schemas.microsoft.com/office/drawing/2014/main" id="{C73A2FCE-FC20-48BA-9D22-1894A66E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24150"/>
            <a:ext cx="3476625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9" name="metric-value-7-1">
            <a:extLst xmlns:a="http://schemas.openxmlformats.org/drawingml/2006/main">
              <a:ext uri="{FF2B5EF4-FFF2-40B4-BE49-F238E27FC236}">
                <a16:creationId xmlns:a16="http://schemas.microsoft.com/office/drawing/2014/main" id="{36A3039A-4CB7-4206-A480-2E84D0CC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62300"/>
            <a:ext cx="295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46A47"/>
                </a:solidFill>
              </a:defRPr>
            </a:pPr>
            <a:r>
              <a:rPr sz="3600" b="1">
                <a:solidFill>
                  <a:srgbClr val="E46A47"/>
                </a:solidFill>
              </a:rPr>
              <a:t>−1.85%</a:t>
            </a:r>
          </a:p>
        </p:txBody>
      </p:sp>
      <p:sp>
        <p:nvSpPr>
          <p:cNvPr id="10" name="metric-label-7-1">
            <a:extLst xmlns:a="http://schemas.openxmlformats.org/drawingml/2006/main">
              <a:ext uri="{FF2B5EF4-FFF2-40B4-BE49-F238E27FC236}">
                <a16:creationId xmlns:a16="http://schemas.microsoft.com/office/drawing/2014/main" id="{AF2B6132-97F6-4DA0-A169-3939A934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76750"/>
            <a:ext cx="295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470"/>
                </a:solidFill>
              </a:defRPr>
            </a:pPr>
            <a:r>
              <a:rPr sz="1500" b="0">
                <a:solidFill>
                  <a:srgbClr val="5A6470"/>
                </a:solidFill>
              </a:rPr>
              <a:t>stress-cost median</a:t>
            </a:r>
          </a:p>
        </p:txBody>
      </p:sp>
      <p:sp>
        <p:nvSpPr>
          <p:cNvPr id="11" name="metric-panel-7-2">
            <a:extLst xmlns:a="http://schemas.openxmlformats.org/drawingml/2006/main">
              <a:ext uri="{FF2B5EF4-FFF2-40B4-BE49-F238E27FC236}">
                <a16:creationId xmlns:a16="http://schemas.microsoft.com/office/drawing/2014/main" id="{F417BB22-37EF-4948-814C-F8CE403B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24150"/>
            <a:ext cx="3476625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2" name="metric-value-7-2">
            <a:extLst xmlns:a="http://schemas.openxmlformats.org/drawingml/2006/main">
              <a:ext uri="{FF2B5EF4-FFF2-40B4-BE49-F238E27FC236}">
                <a16:creationId xmlns:a16="http://schemas.microsoft.com/office/drawing/2014/main" id="{BD92EA11-5EA4-4310-BA93-9F0FC402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62300"/>
            <a:ext cx="295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D3A73A"/>
                </a:solidFill>
              </a:defRPr>
            </a:pPr>
            <a:r>
              <a:rPr sz="3600" b="1">
                <a:solidFill>
                  <a:srgbClr val="D3A73A"/>
                </a:solidFill>
              </a:rPr>
              <a:t>−1.30%</a:t>
            </a:r>
          </a:p>
        </p:txBody>
      </p:sp>
      <p:sp>
        <p:nvSpPr>
          <p:cNvPr id="13" name="metric-label-7-2">
            <a:extLst xmlns:a="http://schemas.openxmlformats.org/drawingml/2006/main">
              <a:ext uri="{FF2B5EF4-FFF2-40B4-BE49-F238E27FC236}">
                <a16:creationId xmlns:a16="http://schemas.microsoft.com/office/drawing/2014/main" id="{2EC70651-7DED-4875-9032-B93C451F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76750"/>
            <a:ext cx="295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470"/>
                </a:solidFill>
              </a:defRPr>
            </a:pPr>
            <a:r>
              <a:rPr sz="1500" b="0">
                <a:solidFill>
                  <a:srgbClr val="5A6470"/>
                </a:solidFill>
              </a:rPr>
              <a:t>one-bar-delay median</a:t>
            </a:r>
          </a:p>
        </p:txBody>
      </p:sp>
    </p:spTree>
    <p:extLst>
      <p:ext uri="{BB962C8B-B14F-4D97-AF65-F5344CB8AC3E}">
        <p14:creationId xmlns:p14="http://schemas.microsoft.com/office/powerpoint/2010/main" val="16212816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8">
            <a:extLst xmlns:a="http://schemas.openxmlformats.org/drawingml/2006/main">
              <a:ext uri="{FF2B5EF4-FFF2-40B4-BE49-F238E27FC236}">
                <a16:creationId xmlns:a16="http://schemas.microsoft.com/office/drawing/2014/main" id="{5601236D-AD80-403E-AC9E-8A05026B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Selected winner tapes do not overturn the panel</a:t>
            </a:r>
          </a:p>
        </p:txBody>
      </p:sp>
      <p:sp>
        <p:nvSpPr>
          <p:cNvPr id="2" name="section-8">
            <a:extLst xmlns:a="http://schemas.openxmlformats.org/drawingml/2006/main">
              <a:ext uri="{FF2B5EF4-FFF2-40B4-BE49-F238E27FC236}">
                <a16:creationId xmlns:a16="http://schemas.microsoft.com/office/drawing/2014/main" id="{4D1E7EB7-479C-4BEC-8F34-76DE8FC0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D8D"/>
                </a:solidFill>
              </a:defRPr>
            </a:pPr>
            <a:r>
              <a:rPr sz="1200" b="1">
                <a:solidFill>
                  <a:srgbClr val="167D8D"/>
                </a:solidFill>
              </a:rPr>
              <a:t>AUDIT</a:t>
            </a:r>
          </a:p>
        </p:txBody>
      </p:sp>
      <p:sp>
        <p:nvSpPr>
          <p:cNvPr id="3" name="page-8">
            <a:extLst xmlns:a="http://schemas.openxmlformats.org/drawingml/2006/main">
              <a:ext uri="{FF2B5EF4-FFF2-40B4-BE49-F238E27FC236}">
                <a16:creationId xmlns:a16="http://schemas.microsoft.com/office/drawing/2014/main" id="{EEF3B753-305E-4524-ACF3-6412885F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470"/>
                </a:solidFill>
              </a:defRPr>
            </a:pPr>
            <a:r>
              <a:rPr sz="975" b="0">
                <a:solidFill>
                  <a:srgbClr val="5A6470"/>
                </a:solidFill>
              </a:rPr>
              <a:t>8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e3fca24f344a53"/>
          <a:stretch xmlns:a="http://schemas.openxmlformats.org/drawingml/2006/main"/>
        </p:blipFill>
        <p:spPr>
          <a:xfrm xmlns:a="http://schemas.openxmlformats.org/drawingml/2006/main">
            <a:off x="2131695" y="1409700"/>
            <a:ext cx="7852410" cy="4362450"/>
          </a:xfrm>
          <a:prstGeom xmlns:a="http://schemas.openxmlformats.org/drawingml/2006/main" prst="rect">
            <a:avLst/>
          </a:prstGeom>
        </p:spPr>
      </p:pic>
      <p:sp>
        <p:nvSpPr>
          <p:cNvPr id="5" name="caption-8">
            <a:extLst xmlns:a="http://schemas.openxmlformats.org/drawingml/2006/main">
              <a:ext uri="{FF2B5EF4-FFF2-40B4-BE49-F238E27FC236}">
                <a16:creationId xmlns:a16="http://schemas.microsoft.com/office/drawing/2014/main" id="{374E38CA-A14A-4D0B-BD88-F06036B5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67400"/>
            <a:ext cx="11201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A6470"/>
                </a:solidFill>
              </a:defRPr>
            </a:pPr>
            <a:r>
              <a:rPr sz="1350" b="0">
                <a:solidFill>
                  <a:srgbClr val="5A6470"/>
                </a:solidFill>
              </a:rPr>
              <a:t>TSLA and AMD illustrate why outcome-aware examples are useful for mechanics education but invalid for post hoc asset selection.</a:t>
            </a:r>
          </a:p>
        </p:txBody>
      </p:sp>
    </p:spTree>
    <p:extLst>
      <p:ext uri="{BB962C8B-B14F-4D97-AF65-F5344CB8AC3E}">
        <p14:creationId xmlns:p14="http://schemas.microsoft.com/office/powerpoint/2010/main" val="404342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9">
            <a:extLst xmlns:a="http://schemas.openxmlformats.org/drawingml/2006/main">
              <a:ext uri="{FF2B5EF4-FFF2-40B4-BE49-F238E27FC236}">
                <a16:creationId xmlns:a16="http://schemas.microsoft.com/office/drawing/2014/main" id="{007E9018-BD59-49AA-B992-52DE21B1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Longer anchors reduced churn without creating timing value</a:t>
            </a:r>
          </a:p>
        </p:txBody>
      </p:sp>
      <p:sp>
        <p:nvSpPr>
          <p:cNvPr id="2" name="section-9">
            <a:extLst xmlns:a="http://schemas.openxmlformats.org/drawingml/2006/main">
              <a:ext uri="{FF2B5EF4-FFF2-40B4-BE49-F238E27FC236}">
                <a16:creationId xmlns:a16="http://schemas.microsoft.com/office/drawing/2014/main" id="{1820FE88-8216-424B-9579-C6AF4A78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D8D"/>
                </a:solidFill>
              </a:defRPr>
            </a:pPr>
            <a:r>
              <a:rPr sz="1200" b="1">
                <a:solidFill>
                  <a:srgbClr val="167D8D"/>
                </a:solidFill>
              </a:rPr>
              <a:t>DECISION</a:t>
            </a:r>
          </a:p>
        </p:txBody>
      </p:sp>
      <p:sp>
        <p:nvSpPr>
          <p:cNvPr id="3" name="page-9">
            <a:extLst xmlns:a="http://schemas.openxmlformats.org/drawingml/2006/main">
              <a:ext uri="{FF2B5EF4-FFF2-40B4-BE49-F238E27FC236}">
                <a16:creationId xmlns:a16="http://schemas.microsoft.com/office/drawing/2014/main" id="{099A9D21-BCEF-424D-869B-E428D36A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470"/>
                </a:solidFill>
              </a:defRPr>
            </a:pPr>
            <a:r>
              <a:rPr sz="975" b="0">
                <a:solidFill>
                  <a:srgbClr val="5A6470"/>
                </a:solidFill>
              </a:rPr>
              <a:t>9</a:t>
            </a:r>
          </a:p>
        </p:txBody>
      </p:sp>
      <p:sp>
        <p:nvSpPr>
          <p:cNvPr id="4" name="thesis-9">
            <a:extLst xmlns:a="http://schemas.openxmlformats.org/drawingml/2006/main">
              <a:ext uri="{FF2B5EF4-FFF2-40B4-BE49-F238E27FC236}">
                <a16:creationId xmlns:a16="http://schemas.microsoft.com/office/drawing/2014/main" id="{D3297DD7-00E2-491F-A8BE-2E32F851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11191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</a:defRPr>
            </a:pPr>
            <a:r>
              <a:rPr sz="2175" b="1">
                <a:solidFill>
                  <a:srgbClr val="111827"/>
                </a:solidFill>
              </a:rPr>
              <a:t>The selector behaved coherently; the selected family failed economically.</a:t>
            </a:r>
          </a:p>
        </p:txBody>
      </p:sp>
      <p:sp>
        <p:nvSpPr>
          <p:cNvPr id="5" name="bullet-mark-9-0">
            <a:extLst xmlns:a="http://schemas.openxmlformats.org/drawingml/2006/main">
              <a:ext uri="{FF2B5EF4-FFF2-40B4-BE49-F238E27FC236}">
                <a16:creationId xmlns:a16="http://schemas.microsoft.com/office/drawing/2014/main" id="{3B7EA25E-55BE-49E6-8631-54225A66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90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8D"/>
          </a:solidFill>
          <a:ln xmlns:a="http://schemas.openxmlformats.org/drawingml/2006/main" w="9525">
            <a:solidFill>
              <a:srgbClr val="167D8D"/>
            </a:solidFill>
            <a:prstDash val="solid"/>
          </a:ln>
        </p:spPr>
      </p:sp>
      <p:sp>
        <p:nvSpPr>
          <p:cNvPr id="6" name="bullet-9-0">
            <a:extLst xmlns:a="http://schemas.openxmlformats.org/drawingml/2006/main">
              <a:ext uri="{FF2B5EF4-FFF2-40B4-BE49-F238E27FC236}">
                <a16:creationId xmlns:a16="http://schemas.microsoft.com/office/drawing/2014/main" id="{6F83782D-ADFE-4F2A-BEB2-50860566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14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The 520-bar anchor dominated TRAIN, so the process did not flail across many parameters.</a:t>
            </a:r>
          </a:p>
        </p:txBody>
      </p:sp>
      <p:sp>
        <p:nvSpPr>
          <p:cNvPr id="7" name="bullet-mark-9-1">
            <a:extLst xmlns:a="http://schemas.openxmlformats.org/drawingml/2006/main">
              <a:ext uri="{FF2B5EF4-FFF2-40B4-BE49-F238E27FC236}">
                <a16:creationId xmlns:a16="http://schemas.microsoft.com/office/drawing/2014/main" id="{D023CFD5-42A6-4EA3-B8F4-96201517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52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6A47"/>
          </a:solidFill>
          <a:ln xmlns:a="http://schemas.openxmlformats.org/drawingml/2006/main" w="9525">
            <a:solidFill>
              <a:srgbClr val="E46A47"/>
            </a:solidFill>
            <a:prstDash val="solid"/>
          </a:ln>
        </p:spPr>
      </p:sp>
      <p:sp>
        <p:nvSpPr>
          <p:cNvPr id="8" name="bullet-9-1">
            <a:extLst xmlns:a="http://schemas.openxmlformats.org/drawingml/2006/main">
              <a:ext uri="{FF2B5EF4-FFF2-40B4-BE49-F238E27FC236}">
                <a16:creationId xmlns:a16="http://schemas.microsoft.com/office/drawing/2014/main" id="{67DCDFA3-C410-40EB-98F0-8184AB41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OOS median return, direct excess, stress, and shifted controls were all unfavorable.</a:t>
            </a:r>
          </a:p>
        </p:txBody>
      </p:sp>
      <p:sp>
        <p:nvSpPr>
          <p:cNvPr id="9" name="bullet-mark-9-2">
            <a:extLst xmlns:a="http://schemas.openxmlformats.org/drawingml/2006/main">
              <a:ext uri="{FF2B5EF4-FFF2-40B4-BE49-F238E27FC236}">
                <a16:creationId xmlns:a16="http://schemas.microsoft.com/office/drawing/2014/main" id="{D8C51525-C71F-4517-B341-35A87A6C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14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73A"/>
          </a:solidFill>
          <a:ln xmlns:a="http://schemas.openxmlformats.org/drawingml/2006/main" w="9525">
            <a:solidFill>
              <a:srgbClr val="D3A73A"/>
            </a:solidFill>
            <a:prstDash val="solid"/>
          </a:ln>
        </p:spPr>
      </p:sp>
      <p:sp>
        <p:nvSpPr>
          <p:cNvPr id="10" name="bullet-9-2">
            <a:extLst xmlns:a="http://schemas.openxmlformats.org/drawingml/2006/main">
              <a:ext uri="{FF2B5EF4-FFF2-40B4-BE49-F238E27FC236}">
                <a16:creationId xmlns:a16="http://schemas.microsoft.com/office/drawing/2014/main" id="{AC83A676-27BB-4A2F-8AF8-BE6787D6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The result is a clean falsification of this finite family—not of every price/SMA concept.</a:t>
            </a:r>
          </a:p>
        </p:txBody>
      </p:sp>
      <p:sp>
        <p:nvSpPr>
          <p:cNvPr id="11" name="stop-9">
            <a:extLst xmlns:a="http://schemas.openxmlformats.org/drawingml/2006/main">
              <a:ext uri="{FF2B5EF4-FFF2-40B4-BE49-F238E27FC236}">
                <a16:creationId xmlns:a16="http://schemas.microsoft.com/office/drawing/2014/main" id="{6A213554-2B36-4B25-BF21-682860F1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11191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46A47"/>
                </a:solidFill>
              </a:defRPr>
            </a:pPr>
            <a:r>
              <a:rPr sz="1500" b="1">
                <a:solidFill>
                  <a:srgbClr val="E46A47"/>
                </a:solidFill>
              </a:rPr>
              <a:t>STOP: preserve the family and 2024+ seal; do not mine anchors, exits, assets, or tapes for rescue.</a:t>
            </a:r>
          </a:p>
        </p:txBody>
      </p:sp>
    </p:spTree>
    <p:extLst>
      <p:ext uri="{BB962C8B-B14F-4D97-AF65-F5344CB8AC3E}">
        <p14:creationId xmlns:p14="http://schemas.microsoft.com/office/powerpoint/2010/main" val="1721131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2026-08-14T14:07:45.3640000Z</dcterms:created>
  <dcterms:modified xsi:type="dcterms:W3CDTF">2026-08-14T14:07:45.3640000Z</dcterms:modified>
</coreProperties>
</file>