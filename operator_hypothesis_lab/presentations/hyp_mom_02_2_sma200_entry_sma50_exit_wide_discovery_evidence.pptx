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100d3d2524cf0" /><Relationship Type="http://schemas.openxmlformats.org/officeDocument/2006/relationships/extended-properties" Target="/docProps/app.xml" Id="R05d2ffd24f1c4520" /><Relationship Type="http://schemas.openxmlformats.org/officeDocument/2006/relationships/officeDocument" Target="/ppt/presentation.xml" Id="Rcede1a71065f41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1c7f6044c4d97"/>
  </p:sldMasterIdLst>
  <p:notesMasterIdLst>
    <p:notesMasterId xmlns:r="http://schemas.openxmlformats.org/officeDocument/2006/relationships" r:id="R05a03fea92e2472f"/>
  </p:notesMasterIdLst>
  <p:sldIdLst>
    <p:sldId xmlns:r="http://schemas.openxmlformats.org/officeDocument/2006/relationships" id="256" r:id="Rf4694120167441a6"/>
    <p:sldId xmlns:r="http://schemas.openxmlformats.org/officeDocument/2006/relationships" id="257" r:id="R161c9967018a4903"/>
    <p:sldId xmlns:r="http://schemas.openxmlformats.org/officeDocument/2006/relationships" id="258" r:id="Rbdd903ac387646b9"/>
    <p:sldId xmlns:r="http://schemas.openxmlformats.org/officeDocument/2006/relationships" id="259" r:id="R5623fa9fa11b4ca0"/>
    <p:sldId xmlns:r="http://schemas.openxmlformats.org/officeDocument/2006/relationships" id="260" r:id="Ree886ffa9e224f4d"/>
    <p:sldId xmlns:r="http://schemas.openxmlformats.org/officeDocument/2006/relationships" id="261" r:id="Rcdfdc62348ec44c7"/>
    <p:sldId xmlns:r="http://schemas.openxmlformats.org/officeDocument/2006/relationships" id="262" r:id="Rbe3778b0b4d0468a"/>
    <p:sldId xmlns:r="http://schemas.openxmlformats.org/officeDocument/2006/relationships" id="263" r:id="R2e26601852ad42a3"/>
    <p:sldId xmlns:r="http://schemas.openxmlformats.org/officeDocument/2006/relationships" id="264" r:id="Rc4cf93bea60b49bf"/>
    <p:sldId xmlns:r="http://schemas.openxmlformats.org/officeDocument/2006/relationships" id="265" r:id="R068f59c1f68c45f0"/>
    <p:sldId xmlns:r="http://schemas.openxmlformats.org/officeDocument/2006/relationships" id="266" r:id="Re148fa72fbe446b1"/>
    <p:sldId xmlns:r="http://schemas.openxmlformats.org/officeDocument/2006/relationships" id="267" r:id="R1f49f9f430bd4978"/>
    <p:sldId xmlns:r="http://schemas.openxmlformats.org/officeDocument/2006/relationships" id="268" r:id="R3c64aad324954358"/>
    <p:sldId xmlns:r="http://schemas.openxmlformats.org/officeDocument/2006/relationships" id="269" r:id="R0a94840d995a411f"/>
    <p:sldId xmlns:r="http://schemas.openxmlformats.org/officeDocument/2006/relationships" id="270" r:id="R501984e9fd4d403e"/>
    <p:sldId xmlns:r="http://schemas.openxmlformats.org/officeDocument/2006/relationships" id="271" r:id="R886234b181e946e1"/>
    <p:sldId xmlns:r="http://schemas.openxmlformats.org/officeDocument/2006/relationships" id="272" r:id="Rdbed6f0cbc194697"/>
    <p:sldId xmlns:r="http://schemas.openxmlformats.org/officeDocument/2006/relationships" id="273" r:id="R4fbfa8b048fe4240"/>
    <p:sldId xmlns:r="http://schemas.openxmlformats.org/officeDocument/2006/relationships" id="274" r:id="R130ab8e01c0f45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6abf07a39434f" /><Relationship Type="http://schemas.openxmlformats.org/officeDocument/2006/relationships/slideMaster" Target="/ppt/slideMasters/slideMaster1.xml" Id="R5321c7f6044c4d97" /><Relationship Type="http://schemas.openxmlformats.org/officeDocument/2006/relationships/notesMaster" Target="/ppt/notesMasters/notesMaster1.xml" Id="R05a03fea92e2472f" /><Relationship Type="http://schemas.openxmlformats.org/officeDocument/2006/relationships/presProps" Target="/ppt/presProps.xml" Id="R131fd5aa324d4b3d" /><Relationship Type="http://schemas.openxmlformats.org/officeDocument/2006/relationships/tableStyles" Target="/ppt/tableStyles.xml" Id="R3fa90ebc041d4f46" /><Relationship Type="http://schemas.openxmlformats.org/officeDocument/2006/relationships/slide" Target="/ppt/slides/slide1.xml" Id="Rf4694120167441a6" /><Relationship Type="http://schemas.openxmlformats.org/officeDocument/2006/relationships/slide" Target="/ppt/slides/slide2.xml" Id="R161c9967018a4903" /><Relationship Type="http://schemas.openxmlformats.org/officeDocument/2006/relationships/slide" Target="/ppt/slides/slide3.xml" Id="Rbdd903ac387646b9" /><Relationship Type="http://schemas.openxmlformats.org/officeDocument/2006/relationships/slide" Target="/ppt/slides/slide4.xml" Id="R5623fa9fa11b4ca0" /><Relationship Type="http://schemas.openxmlformats.org/officeDocument/2006/relationships/slide" Target="/ppt/slides/slide5.xml" Id="Ree886ffa9e224f4d" /><Relationship Type="http://schemas.openxmlformats.org/officeDocument/2006/relationships/slide" Target="/ppt/slides/slide6.xml" Id="Rcdfdc62348ec44c7" /><Relationship Type="http://schemas.openxmlformats.org/officeDocument/2006/relationships/slide" Target="/ppt/slides/slide7.xml" Id="Rbe3778b0b4d0468a" /><Relationship Type="http://schemas.openxmlformats.org/officeDocument/2006/relationships/slide" Target="/ppt/slides/slide8.xml" Id="R2e26601852ad42a3" /><Relationship Type="http://schemas.openxmlformats.org/officeDocument/2006/relationships/slide" Target="/ppt/slides/slide9.xml" Id="Rc4cf93bea60b49bf" /><Relationship Type="http://schemas.openxmlformats.org/officeDocument/2006/relationships/slide" Target="/ppt/slides/slide10.xml" Id="R068f59c1f68c45f0" /><Relationship Type="http://schemas.openxmlformats.org/officeDocument/2006/relationships/slide" Target="/ppt/slides/slide11.xml" Id="Re148fa72fbe446b1" /><Relationship Type="http://schemas.openxmlformats.org/officeDocument/2006/relationships/slide" Target="/ppt/slides/slide12.xml" Id="R1f49f9f430bd4978" /><Relationship Type="http://schemas.openxmlformats.org/officeDocument/2006/relationships/slide" Target="/ppt/slides/slide13.xml" Id="R3c64aad324954358" /><Relationship Type="http://schemas.openxmlformats.org/officeDocument/2006/relationships/slide" Target="/ppt/slides/slide14.xml" Id="R0a94840d995a411f" /><Relationship Type="http://schemas.openxmlformats.org/officeDocument/2006/relationships/slide" Target="/ppt/slides/slide15.xml" Id="R501984e9fd4d403e" /><Relationship Type="http://schemas.openxmlformats.org/officeDocument/2006/relationships/slide" Target="/ppt/slides/slide16.xml" Id="R886234b181e946e1" /><Relationship Type="http://schemas.openxmlformats.org/officeDocument/2006/relationships/slide" Target="/ppt/slides/slide17.xml" Id="Rdbed6f0cbc194697" /><Relationship Type="http://schemas.openxmlformats.org/officeDocument/2006/relationships/slide" Target="/ppt/slides/slide18.xml" Id="R4fbfa8b048fe4240" /><Relationship Type="http://schemas.openxmlformats.org/officeDocument/2006/relationships/slide" Target="/ppt/slides/slide19.xml" Id="R130ab8e01c0f45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2a6a59b700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e7f0b865034549" /><Relationship Type="http://schemas.openxmlformats.org/officeDocument/2006/relationships/notesMaster" Target="/ppt/notesMasters/notesMaster1.xml" Id="R44f1adc61f1a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6909dc363404b" /><Relationship Type="http://schemas.openxmlformats.org/officeDocument/2006/relationships/notesMaster" Target="/ppt/notesMasters/notesMaster1.xml" Id="R09a4796a150c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e30d3bb0445f7" /><Relationship Type="http://schemas.openxmlformats.org/officeDocument/2006/relationships/notesMaster" Target="/ppt/notesMasters/notesMaster1.xml" Id="R6825460b684547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c6bda72b5437e" /><Relationship Type="http://schemas.openxmlformats.org/officeDocument/2006/relationships/notesMaster" Target="/ppt/notesMasters/notesMaster1.xml" Id="R5dada0fc10a147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d49ff1a1454a51" /><Relationship Type="http://schemas.openxmlformats.org/officeDocument/2006/relationships/notesMaster" Target="/ppt/notesMasters/notesMaster1.xml" Id="R15cae090bad64b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d5501fef7480d" /><Relationship Type="http://schemas.openxmlformats.org/officeDocument/2006/relationships/notesMaster" Target="/ppt/notesMasters/notesMaster1.xml" Id="Rbaf66c27f221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33aa7afe8a4fc5" /><Relationship Type="http://schemas.openxmlformats.org/officeDocument/2006/relationships/notesMaster" Target="/ppt/notesMasters/notesMaster1.xml" Id="Ra2f2ba38ac7444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00a64371944fec" /><Relationship Type="http://schemas.openxmlformats.org/officeDocument/2006/relationships/notesMaster" Target="/ppt/notesMasters/notesMaster1.xml" Id="Ra90bb5a3ba174b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3f8c10f6f14f31" /><Relationship Type="http://schemas.openxmlformats.org/officeDocument/2006/relationships/notesMaster" Target="/ppt/notesMasters/notesMaster1.xml" Id="R4f61f52edee44b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0174ec3f074199" /><Relationship Type="http://schemas.openxmlformats.org/officeDocument/2006/relationships/notesMaster" Target="/ppt/notesMasters/notesMaster1.xml" Id="Rd71886583e8b42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97a5b69071484c" /><Relationship Type="http://schemas.openxmlformats.org/officeDocument/2006/relationships/notesMaster" Target="/ppt/notesMasters/notesMaster1.xml" Id="R5631a04488fa43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b5dde886904deb" /><Relationship Type="http://schemas.openxmlformats.org/officeDocument/2006/relationships/notesMaster" Target="/ppt/notesMasters/notesMaster1.xml" Id="Rc9d675c702fb4c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72e9267414929" /><Relationship Type="http://schemas.openxmlformats.org/officeDocument/2006/relationships/notesMaster" Target="/ppt/notesMasters/notesMaster1.xml" Id="R7251b2cd47cb47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d54bb783664361" /><Relationship Type="http://schemas.openxmlformats.org/officeDocument/2006/relationships/notesMaster" Target="/ppt/notesMasters/notesMaster1.xml" Id="Rd7ffd22d369344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1fc75681594cd7" /><Relationship Type="http://schemas.openxmlformats.org/officeDocument/2006/relationships/notesMaster" Target="/ppt/notesMasters/notesMaster1.xml" Id="Rcc017c82b3ae44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1ece0fc46b4302" /><Relationship Type="http://schemas.openxmlformats.org/officeDocument/2006/relationships/notesMaster" Target="/ppt/notesMasters/notesMaster1.xml" Id="Rb5ec576e24ef46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387442a2274cd6" /><Relationship Type="http://schemas.openxmlformats.org/officeDocument/2006/relationships/notesMaster" Target="/ppt/notesMasters/notesMaster1.xml" Id="Rc4140a599afb48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045600bdc749b4" /><Relationship Type="http://schemas.openxmlformats.org/officeDocument/2006/relationships/notesMaster" Target="/ppt/notesMasters/notesMaster1.xml" Id="Rb6f52fb90afe41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c0a020271345b5" /><Relationship Type="http://schemas.openxmlformats.org/officeDocument/2006/relationships/notesMaster" Target="/ppt/notesMasters/notesMaster1.xml" Id="Rb6d91d0d9b6740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HYP-MOM-02.2 keeps the fresh-SMA200 entry concept but adds an SMA50 entry-coherence check, SMA50 exit, and strict new-cross re-entry. The result is a composite state-machine test, not an exit-only attribution.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investigation retains both 02.1 estimands because warm-start state ownership and fresh-cross event ownership answer different questions. The fresh-cross version is the authoritative comparator for 02.2.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SMA_N(t) is the inclusive mean of the last N completed adjusted closes. A signal close must cross above SMA200 and finish above SMA50; entry and exit occur only at the next open. After an SMA50 exit, recovery above SMA50 alone cannot re-enter.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SMA50 reacts faster to price but can sit below SMA200 after weakness. Therefore crossing below SMA50 is not guaranteed to occur first. The matched-exit audit explicitly separates earlier, same-session, and later exits.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Project\Time-Series-Modeling-Gen5\runs\research_workbench\operator_hypothesis_lab\hyp_mom_02_2_sma200_entry_sma50_exit_wide_discovery_20260809\matched_entry_exit_summary.csv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 combined registry and discovery calendar as 02.1 produced 119 eligible assets. APHA, SNE, and LI remained excluded without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Project\Time-Series-Modeling-Gen5\runs\research_workbench\operator_hypothesis_lab\hyp_mom_02_2_sma200_entry_sma50_exit_wide_discovery_20260809\coverage.csv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Project\Time-Series-Modeling-Gen5\runs\research_workbench\operator_hypothesis_lab\hyp_mom_02_2_sma200_entry_sma50_exit_wide_discovery_20260809\visuals\coverage_and_composition.png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Median 02.2 return was +0.38% versus -2.73% for fresh-cross 02.1, but median exposure fell to 16.76%. The direct median asset-level drawdown change was +11.09 points. Ownership still beat 02.2 in 87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Project\Time-Series-Modeling-Gen5\runs\research_workbench\operator_hypothesis_lab\hyp_mom_02_2_sma200_entry_sma50_exit_wide_discovery_20260809\asset_variant_comparison.csv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point compares 02.2 with authoritative fresh-cross 02.1. Sixty-four assets improved both return and maximum drawdown; only one improved return while worsening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Project\Time-Series-Modeling-Gen5\runs\research_workbench\operator_hypothesis_lab\hyp_mom_02_2_sma200_entry_sma50_exit_wide_discovery_20260809\asset_variant_comparison.csv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Project\Time-Series-Modeling-Gen5\runs\research_workbench\operator_hypothesis_lab\hyp_mom_02_2_sma200_entry_sma50_exit_wide_discovery_20260809\visuals\variant_return_drawdown_comparison.png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strict state machine rejected 656 SMA200 crosses below SMA50, completed 637 trades, and imposed 75 median lockout sessions per asset. Pooled hit rate was 34.69%, median trade -1.72%, and mean trade +0.08%.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Project\Time-Series-Modeling-Gen5\runs\research_workbench\operator_hypothesis_lab\hyp_mom_02_2_sma200_entry_sma50_exit_wide_discovery_20260809\trades_022.csv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Project\Time-Series-Modeling-Gen5\runs\research_workbench\operator_hypothesis_lab\hyp_mom_02_2_sma200_entry_sma50_exit_wide_discovery_20260809\visuals\trade_mechanics_and_lockout.png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Across 637 matched entries, 02.2 exited earlier 155 times, on the same session 176 times, and later 306 times. Among genuinely earlier exits, 123 saved downside and 31 forfeited upside; the median lead was 16 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Project\Time-Series-Modeling-Gen5\runs\research_workbench\operator_hypothesis_lab\hyp_mom_02_2_sma200_entry_sma50_exit_wide_discovery_20260809\matched_entry_exit_audit.csv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Project\Time-Series-Modeling-Gen5\runs\research_workbench\operator_hypothesis_lab\hyp_mom_02_2_sma200_entry_sma50_exit_wide_discovery_20260809\matched_entry_exit_summary.csv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Project\Time-Series-Modeling-Gen5\runs\research_workbench\operator_hypothesis_lab\hyp_mom_02_2_sma200_entry_sma50_exit_wide_discovery_20260809\visuals\matched_exit_consequences.png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actual 02.2 schedule ranked at the 42.9th median percentile of 500 exposure-matched circular shifts. This is a diagnostic, not a p-value or an executable control. Low exposure explains much of the protection but not favorable calendar alignment.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Project\Time-Series-Modeling-Gen5\runs\research_workbench\operator_hypothesis_lab\hyp_mom_02_2_sma200_entry_sma50_exit_wide_discovery_20260809\random_controls_022.csv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Project\Time-Series-Modeling-Gen5\runs\research_workbench\operator_hypothesis_lab\hyp_mom_02_2_sma200_entry_sma50_exit_wide_discovery_20260809\asset_summary_022.csv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Project\Time-Series-Modeling-Gen5\runs\research_workbench\operator_hypothesis_lab\hyp_mom_02_2_sma200_entry_sma50_exit_wide_discovery_20260809\visuals\timing_control_and_ownership.png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retail-attention cohort again shows loss mitigation rather than positive alpha. The original 22 cohort slightly deteriorated versus 02.1. Frozen cohort results remain descriptive and cannot authorize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Project\Time-Series-Modeling-Gen5\runs\research_workbench\operator_hypothesis_lab\hyp_mom_02_2_sma200_entry_sma50_exit_wide_discovery_20260809\visuals\cohort_variant_comparison.png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mechanically selected roles expose the range of behaviors. Unlike the prior 02.1 tape manifest, all six roles map to unique assets in this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CSCO is the median return-change asset. 02.2 lost 2.5% versus a 6.1% loss for 02.1, improving drawdown by 11.3 points while still lagging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Project\Time-Series-Modeling-Gen5\runs\research_workbench\operator_hypothesis_lab\hyp_mom_02_2_sma200_entry_sma50_exit_wide_discovery_20260809\visuals\paired_tape_1_csco.png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TSLA is the largest return improvement: +42.3% under 02.2 versus -3.2% under 02.1, with an 11.1-point drawdown improvement. It is a favorable path example, not selection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Project\Time-Series-Modeling-Gen5\runs\research_workbench\operator_hypothesis_lab\hyp_mom_02_2_sma200_entry_sma50_exit_wide_discovery_20260809\visuals\paired_tape_2_tsla.png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LLY is the largest deterioration. All five SMA200 crosses were disqualified below SMA50, leaving 02.2 in cash while 02.1 gained 126.4% and ownership gained 257.0%.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Project\Time-Series-Modeling-Gen5\runs\research_workbench\operator_hypothesis_lab\hyp_mom_02_2_sma200_entry_sma50_exit_wide_discovery_20260809\visuals\paired_tape_3_lly.png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 has the largest drawdown improvement versus 02.1. 02.2 gained 15.9% versus an 18.6% loss for 02.1, with drawdown improving by 28.3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Project\Time-Series-Modeling-Gen5\runs\research_workbench\operator_hypothesis_lab\hyp_mom_02_2_sma200_entry_sma50_exit_wide_discovery_20260809\visuals\paired_tape_4_sq.png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ORLY has the greatest exposure reduction. 02.2 gained 6.3% versus 74.4% for 02.1 and 107.8% for ownership. Strict lockout missed most of a persistent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Project\Time-Series-Modeling-Gen5\runs\research_workbench\operator_hypothesis_lab\hyp_mom_02_2_sma200_entry_sma50_exit_wide_discovery_20260809\visuals\paired_tape_5_orly.png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PEP accumulated 355 strict-lockout sessions. 02.2 gained 5.3% versus 17.0% for 02.1 and 25.1% for ownership, demonstrating the opportunity cost of requiring a new SMA200 cross.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Project\Time-Series-Modeling-Gen5\runs\research_workbench\operator_hypothesis_lab\hyp_mom_02_2_sma200_entry_sma50_exit_wide_discovery_20260809\representative_tape_manifest.csv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Project\Time-Series-Modeling-Gen5\runs\research_workbench\operator_hypothesis_lab\hyp_mom_02_2_sma200_entry_sma50_exit_wide_discovery_20260809\visuals\paired_tape_6_pep.png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WIDE_DISCOVERY_COMPLETE_NO_PROMOTION_AUTHORITY. The composite improved the defensive tradeoff versus 02.1, but did so with low exposure, extensive signal rejection, and weak matched-timing evidence. Do not tune the averages, change re-entry, select assets, inspect 2024+, or open portfolio/live authority from this packet.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Project\Time-Series-Modeling-Gen5\operator_hypothesis_lab\docs\HYP_MOM_02_2_SMA200_ENTRY_SMA50_EXIT_DISCOVERY_RESULTS.md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Project\Time-Series-Modeling-Gen5\runs\research_workbench\operator_hypothesis_lab\hyp_mom_02_2_sma200_entry_sma50_exit_wide_discovery_20260809\asset_variant_comparison.csv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b1fd9258345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e78f8236d44989" /><Relationship Type="http://schemas.openxmlformats.org/officeDocument/2006/relationships/slideLayout" Target="/ppt/slideLayouts/slideLayout1.xml" Id="R529690af45db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690af45db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2ddedd9724fdb" /><Relationship Type="http://schemas.openxmlformats.org/officeDocument/2006/relationships/notesSlide" Target="/ppt/notesSlides/notesSlide1.xml" Id="R372df9896102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f545c19914f3c" /><Relationship Type="http://schemas.openxmlformats.org/officeDocument/2006/relationships/notesSlide" Target="/ppt/notesSlides/notesSlide2.xml" Id="Rdd0baa5bdd524b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73ee5e8b74036" /><Relationship Type="http://schemas.openxmlformats.org/officeDocument/2006/relationships/notesSlide" Target="/ppt/notesSlides/notesSlide3.xml" Id="R2baa9e51651446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1b07c9f34ae0" /><Relationship Type="http://schemas.openxmlformats.org/officeDocument/2006/relationships/notesSlide" Target="/ppt/notesSlides/notesSlide4.xml" Id="Rf2071111f060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d346697014232" /><Relationship Type="http://schemas.openxmlformats.org/officeDocument/2006/relationships/image" Target="/ppt/media/image.png" Id="R7f544c050f5d4cb7" /><Relationship Type="http://schemas.openxmlformats.org/officeDocument/2006/relationships/notesSlide" Target="/ppt/notesSlides/notesSlide5.xml" Id="Re4d11bd30e4c49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4d8ab4e5647e7" /><Relationship Type="http://schemas.openxmlformats.org/officeDocument/2006/relationships/notesSlide" Target="/ppt/notesSlides/notesSlide6.xml" Id="Re24b4ddc43bf45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bbc9c079f4e2c" /><Relationship Type="http://schemas.openxmlformats.org/officeDocument/2006/relationships/image" Target="/ppt/media/image2.png" Id="R2e8e4f1064504225" /><Relationship Type="http://schemas.openxmlformats.org/officeDocument/2006/relationships/notesSlide" Target="/ppt/notesSlides/notesSlide7.xml" Id="Re4c30eeee537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99ac48d6b4382" /><Relationship Type="http://schemas.openxmlformats.org/officeDocument/2006/relationships/image" Target="/ppt/media/image3.png" Id="Ra6f6892f967c49eb" /><Relationship Type="http://schemas.openxmlformats.org/officeDocument/2006/relationships/notesSlide" Target="/ppt/notesSlides/notesSlide8.xml" Id="R4f231b03dd824a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52eb1a86f4b31" /><Relationship Type="http://schemas.openxmlformats.org/officeDocument/2006/relationships/image" Target="/ppt/media/image4.png" Id="Rfcfe90059a224580" /><Relationship Type="http://schemas.openxmlformats.org/officeDocument/2006/relationships/image" Target="/ppt/media/image5.png" Id="R31f6ef91b1014762" /><Relationship Type="http://schemas.openxmlformats.org/officeDocument/2006/relationships/notesSlide" Target="/ppt/notesSlides/notesSlide9.xml" Id="R81622d04198c49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4de15b1f54216" /><Relationship Type="http://schemas.openxmlformats.org/officeDocument/2006/relationships/image" Target="/ppt/media/image4.png" Id="Ra8660f88d76d4651" /><Relationship Type="http://schemas.openxmlformats.org/officeDocument/2006/relationships/image" Target="/ppt/media/image6.png" Id="R6d698ffd0e2e41db" /><Relationship Type="http://schemas.openxmlformats.org/officeDocument/2006/relationships/notesSlide" Target="/ppt/notesSlides/notesSlide10.xml" Id="Rd26c59db32254a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a081dd9da44a0" /><Relationship Type="http://schemas.openxmlformats.org/officeDocument/2006/relationships/image" Target="/ppt/media/image7.png" Id="R052edb56e349493a" /><Relationship Type="http://schemas.openxmlformats.org/officeDocument/2006/relationships/notesSlide" Target="/ppt/notesSlides/notesSlide11.xml" Id="R2739024bcf0041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3cb726f44fe6" /><Relationship Type="http://schemas.openxmlformats.org/officeDocument/2006/relationships/notesSlide" Target="/ppt/notesSlides/notesSlide12.xml" Id="R236b0b05e62247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e94987c7b4370" /><Relationship Type="http://schemas.openxmlformats.org/officeDocument/2006/relationships/image" Target="/ppt/media/image8.png" Id="R5a36c7b7b3904016" /><Relationship Type="http://schemas.openxmlformats.org/officeDocument/2006/relationships/notesSlide" Target="/ppt/notesSlides/notesSlide13.xml" Id="Rcc943f3289b544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584081a9a4802" /><Relationship Type="http://schemas.openxmlformats.org/officeDocument/2006/relationships/image" Target="/ppt/media/image9.png" Id="R59800915c44a4f15" /><Relationship Type="http://schemas.openxmlformats.org/officeDocument/2006/relationships/notesSlide" Target="/ppt/notesSlides/notesSlide14.xml" Id="R8af7e27471c741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4515fa9424e2c" /><Relationship Type="http://schemas.openxmlformats.org/officeDocument/2006/relationships/image" Target="/ppt/media/image10.png" Id="R6021f37a05c84fed" /><Relationship Type="http://schemas.openxmlformats.org/officeDocument/2006/relationships/notesSlide" Target="/ppt/notesSlides/notesSlide15.xml" Id="R6108118f3ed24d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ef6d26d24377" /><Relationship Type="http://schemas.openxmlformats.org/officeDocument/2006/relationships/image" Target="/ppt/media/image11.png" Id="Rd76ce7d63212444a" /><Relationship Type="http://schemas.openxmlformats.org/officeDocument/2006/relationships/notesSlide" Target="/ppt/notesSlides/notesSlide16.xml" Id="R2a64544e829c41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5ae7b6ee549c8" /><Relationship Type="http://schemas.openxmlformats.org/officeDocument/2006/relationships/image" Target="/ppt/media/image12.png" Id="R6a6642f1db3b43cd" /><Relationship Type="http://schemas.openxmlformats.org/officeDocument/2006/relationships/notesSlide" Target="/ppt/notesSlides/notesSlide17.xml" Id="R34d9267dcee749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edf08a16e4615" /><Relationship Type="http://schemas.openxmlformats.org/officeDocument/2006/relationships/image" Target="/ppt/media/image13.png" Id="Rd054ff3057f542a4" /><Relationship Type="http://schemas.openxmlformats.org/officeDocument/2006/relationships/notesSlide" Target="/ppt/notesSlides/notesSlide18.xml" Id="R8686c7b7e1fa44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054eef1b94a93" /><Relationship Type="http://schemas.openxmlformats.org/officeDocument/2006/relationships/notesSlide" Target="/ppt/notesSlides/notesSlide19.xml" Id="Rf419cc83495943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2850D6-626C-4702-B3A5-913242C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OPERATOR HYPOTHESIS LAB | HYP-MOM-02.2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0E502F-6535-4055-A9BE-D12FF5E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000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faster exit,</a:t>
            </a:r>
          </a:p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a catch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1618E6-EA10-4AA1-A9D9-ECA1B59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Qualified SMA200 entry | SMA50 exit | strict new-cross re-entry</a:t>
            </a:r>
          </a:p>
        </p:txBody>
      </p:sp>
    </p:spTree>
    <p:extLst>
      <p:ext uri="{BB962C8B-B14F-4D97-AF65-F5344CB8AC3E}">
        <p14:creationId xmlns:p14="http://schemas.microsoft.com/office/powerpoint/2010/main" val="1625913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AD3D8F-1749-4DA4-A303-F2B21B1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related views answer three different questions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E76104-542E-40EF-89AB-D53E568E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17C6FA-7BB3-4584-BCCD-2B5BA3B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HYP-MOM-02.1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8A8FEB-3623-4314-B754-2D92295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ownership: warm-start above SMA200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Fresh-cross ownership: start cash; wait for a new cross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700598C8-1073-453A-8A05-BCE1451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C4ED6F-0040-42CA-A182-D715D5F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HYP-MOM-02.2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C4D926-3E9A-4BDB-BC3D-96DEEEF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Qualified SMA200 entry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SMA50 long-state exit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Strict new-cross re-entry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substantive mechanics revision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A95FDB-D703-40E3-ACCA-B5D7115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Primary comparator: authoritative fresh-cross 02.1 | warm-start remains a separate estimand</a:t>
            </a:r>
          </a:p>
        </p:txBody>
      </p:sp>
    </p:spTree>
    <p:extLst>
      <p:ext uri="{BB962C8B-B14F-4D97-AF65-F5344CB8AC3E}">
        <p14:creationId xmlns:p14="http://schemas.microsoft.com/office/powerpoint/2010/main" val="12792325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AF7DF4-6FAB-47AE-8237-62C3969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slow entry gate and fast-reacting exit define one strict state machine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FFFBB4-A1C4-49DB-A263-E993A39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B48B739-0D0E-4DBC-916A-0FCE83C1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SMA_N(t) = (1/N) sum[k=0..N-1] Close(t-k)   |   N in {200, 50}</a:t>
            </a:r>
          </a:p>
        </p:txBody>
      </p:sp>
      <p:sp>
        <p:nvSpPr>
          <p:cNvPr id="4" name="long">
            <a:extLst xmlns:a="http://schemas.openxmlformats.org/drawingml/2006/main">
              <a:ext uri="{FF2B5EF4-FFF2-40B4-BE49-F238E27FC236}">
                <a16:creationId xmlns:a16="http://schemas.microsoft.com/office/drawing/2014/main" id="{EC69CAE6-8AAD-4FBA-9F38-5A42F1D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5D2253-738C-4C43-B15B-FFABEA2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QUALIFIED ENTRY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1AE6AA-54D4-4AF2-BF94-9FEBE76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cross above SMA200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close above SMA50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Buy at the next open</a:t>
            </a:r>
          </a:p>
        </p:txBody>
      </p:sp>
      <p:sp>
        <p:nvSpPr>
          <p:cNvPr id="7" name="cash">
            <a:extLst xmlns:a="http://schemas.openxmlformats.org/drawingml/2006/main">
              <a:ext uri="{FF2B5EF4-FFF2-40B4-BE49-F238E27FC236}">
                <a16:creationId xmlns:a16="http://schemas.microsoft.com/office/drawing/2014/main" id="{DF4ED67E-87F9-4CE6-BD51-1F5D02C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DBE980-1F7B-4CCF-817A-10B500F6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 + LOCKOUT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5FCCA3-2F8D-4472-B008-94B724E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 close at/below SMA50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Sell at the next open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New SMA200 cross required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4BABD4-738B-4AA3-A8DE-07D878B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Every path starts cash | completed-close signals | next-open fills | 5 / 10 bp per-side costs</a:t>
            </a:r>
          </a:p>
        </p:txBody>
      </p:sp>
    </p:spTree>
    <p:extLst>
      <p:ext uri="{BB962C8B-B14F-4D97-AF65-F5344CB8AC3E}">
        <p14:creationId xmlns:p14="http://schemas.microsoft.com/office/powerpoint/2010/main" val="665471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AD3D8F-1749-4DA4-A303-F2B21B1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SMA50 is not always the earlier exit threshold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E76104-542E-40EF-89AB-D53E568E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17C6FA-7BB3-4584-BCCD-2B5BA3B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WHY IT CAN EXIT EARLIER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8A8FEB-3623-4314-B754-2D92295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established uptrends, SMA50 often sits above SMA200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Price reaches the faster anchor first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700598C8-1073-453A-8A05-BCE1451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C4ED6F-0040-42CA-A182-D715D5F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WHY IT CAN EXIT LATER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C4D926-3E9A-4BDB-BC3D-96DEEEF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weakness, SMA50 can sit below SMA200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Price may cross the slow anchor first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A95FDB-D703-40E3-ACCA-B5D7115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Faster describes responsiveness—not vertical position. Audit earlier, same-session, and later exits.</a:t>
            </a:r>
          </a:p>
        </p:txBody>
      </p:sp>
    </p:spTree>
    <p:extLst>
      <p:ext uri="{BB962C8B-B14F-4D97-AF65-F5344CB8AC3E}">
        <p14:creationId xmlns:p14="http://schemas.microsoft.com/office/powerpoint/2010/main" val="12792325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wide panel keeps the comparison honest: 119 of 122 eligible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44c050f5d4cb7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A6F2C5-0CC7-42C4-9022-9DA92B1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composite improved defense—but mostly by spending far more time in cash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4C0E72-CD70-442F-9D6D-AEBE9E5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0D0EC92-420F-4225-9A4B-89834E0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+0.38%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21FA81-C2AD-4EBF-9DC5-1AAFBB1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02.2 return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ACE0D4-36D8-46BF-A408-7B9A807E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versus -2.73% fresh-cross 02.1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0110C4-F44C-4338-8384-0A89F3A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-22.20 pp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BA501D-AB05-46C6-BBB6-CA21354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excess vs ownership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21E076-08FE-4819-B497-165DA6A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only 32 of 119 beat ownership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A699B-6F49-446B-83C3-94FF4CF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16.76%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0CD3EF-A914-4DE0-A1B6-DCA83919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02.2 exposure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CE0E9C-837F-4206-BC72-11AD8BF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versus 43.48% for fresh-cross 02.1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4F7651-3EC4-4FE3-A7DA-05254B5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+11.09 pp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A4F30-BE1B-4581-96BF-339249E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DD change vs 02.1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9E203C-E445-4C39-9180-2B4626A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105 of 119 improved drawdown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FB91CC-7BC8-4D0B-B421-4BCE0BD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65/119 higher return vs 02.1 | 105/119 better drawdown | 64/119 improved both</a:t>
            </a:r>
          </a:p>
        </p:txBody>
      </p:sp>
    </p:spTree>
    <p:extLst>
      <p:ext uri="{BB962C8B-B14F-4D97-AF65-F5344CB8AC3E}">
        <p14:creationId xmlns:p14="http://schemas.microsoft.com/office/powerpoint/2010/main" val="19804733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08E408-4D3B-4862-A73E-70E9667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composite improved both return and drawdown in 64 of 119 assets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C00EF8-4249-48AA-8215-C070CF3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e4f1064504225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901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DF868F-DF55-400F-9466-CF993B9D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Selectivity reduced trades—and created long re-entry lockouts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05745E-988C-4F9D-9DEA-604F7337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6892f967c49eb"/>
          <a:stretch xmlns:a="http://schemas.openxmlformats.org/drawingml/2006/main"/>
        </p:blipFill>
        <p:spPr>
          <a:xfrm xmlns:a="http://schemas.openxmlformats.org/drawingml/2006/main" flipH="0" flipV="0">
            <a:off x="390525" y="1465792"/>
            <a:ext cx="7239000" cy="4021667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C311A58-7168-4D51-A1F5-3FE924F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656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BE12B6-150E-4FE1-9F29-2DD88EBF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skipped entry signals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DAABF8-5BC7-44E4-8849-90B3D70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85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637 round trips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75 median lockout sessions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18-session pooled median hold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53.2% lasted &lt;=20 sessions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4D2FE1-37E6-4C84-A03F-1EA74A28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Cash discipline was the mechanism—and the opportunity cost.</a:t>
            </a:r>
          </a:p>
        </p:txBody>
      </p:sp>
    </p:spTree>
    <p:extLst>
      <p:ext uri="{BB962C8B-B14F-4D97-AF65-F5344CB8AC3E}">
        <p14:creationId xmlns:p14="http://schemas.microsoft.com/office/powerpoint/2010/main" val="1917816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E32F83-A780-447D-AE31-866F49F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SMA50 exited earlier in only 155 of 637 matched entries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107342-151B-4BC4-8DD4-C11A5DEE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e90059a224580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  <p:sp>
        <p:nvSpPr>
          <p:cNvPr id="6" name="evidence-background-9">
            <a:extLst xmlns:a="http://schemas.openxmlformats.org/drawingml/2006/main">
              <a:ext uri="{FF2B5EF4-FFF2-40B4-BE49-F238E27FC236}">
                <a16:creationId xmlns:a16="http://schemas.microsoft.com/office/drawing/2014/main" id="{ABE84E4C-7711-483F-B9CE-6F754175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1000125"/>
            <a:ext cx="9344025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6ef91b1014762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841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E32F83-A780-447D-AE31-866F49F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Actual 02.2 timing still ranked below exposure-matched shifts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107342-151B-4BC4-8DD4-C11A5DEE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60f88d76d4651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  <p:sp>
        <p:nvSpPr>
          <p:cNvPr id="6" name="evidence-background-10">
            <a:extLst xmlns:a="http://schemas.openxmlformats.org/drawingml/2006/main">
              <a:ext uri="{FF2B5EF4-FFF2-40B4-BE49-F238E27FC236}">
                <a16:creationId xmlns:a16="http://schemas.microsoft.com/office/drawing/2014/main" id="{A80CF7AF-BCD8-4792-9E15-D52DED3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1000125"/>
            <a:ext cx="9344025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98ffd0e2e41db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84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0F81FE-FEFE-4FAF-B00A-6BAA56B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Defense improved most where continuous ownership struggled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BF6AF2-C009-4F9F-BB3A-193809F3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edb56e349493a"/>
          <a:stretch xmlns:a="http://schemas.openxmlformats.org/drawingml/2006/main"/>
        </p:blipFill>
        <p:spPr>
          <a:xfrm xmlns:a="http://schemas.openxmlformats.org/drawingml/2006/main" flipH="0" flipV="0">
            <a:off x="390525" y="1465792"/>
            <a:ext cx="7239000" cy="4021667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17ED90-C4A7-4258-B2DB-4A22F2D8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RETAIL ATTENTION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24B708-920C-4F20-8DD1-166DEBF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-9.6% 02.2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-18.7% fresh-cross 02.1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-31.3% ownership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61A219-B3E5-4991-A434-BF2DD8DB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ORIGINAL 22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9B3317-1143-4CAE-B502-8AECB72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+3.1% 02.2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+4.6% fresh-cross 02.1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+35.4% ownership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9F7BDD-CF08-4C90-AB1C-80F8E175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Frozen cohort context—not a selection rule.</a:t>
            </a:r>
          </a:p>
        </p:txBody>
      </p:sp>
    </p:spTree>
    <p:extLst>
      <p:ext uri="{BB962C8B-B14F-4D97-AF65-F5344CB8AC3E}">
        <p14:creationId xmlns:p14="http://schemas.microsoft.com/office/powerpoint/2010/main" val="19938787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D0AD1C-2382-453F-B146-6CAC28A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PAIRED PATH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393986-0A74-4753-87AC-8DDD3E1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discipline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rescued some paths—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abandoned others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A15E20-EF6B-40D6-B6F6-5D43561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frozen roles map to six assets; every tape compares 02.2 with fresh-cross 02.1.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0504D3-E372-4FC6-9924-4E54F8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61502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median improvement still left both strategies losing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c7b7b3904016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F806EC-F583-4249-85FA-1D9F1452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TSLA shows selective participation rescuing a difficult path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9819A8-B060-4A5B-A04C-4A53B09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00915c44a4f15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83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0E8C37-7525-4F20-A4C3-731FF28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LLY shows the cost of disqualifying every SMA200 cross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0347F1-4713-4651-AE5C-46D2E556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1f37a05c84fed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683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13D4F-450E-444E-8F37-DF97CB7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 shows the strongest drawdown rescue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4664ED8-963A-4756-B5F9-19FC7876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ce7d63212444a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842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14F0F-C643-416F-A574-55A174D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ORLY shows how lockout can abandon a persistent trend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DF7B3C-6768-44A3-818C-2FF700F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642f1db3b43cd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084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DAF461-0161-4190-BDF1-667198F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PEP spent 355 sessions locked out after exit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582212-D7D5-4681-AB54-F60B817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4ff3057f542a4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093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DC0BE-7D7C-438B-A7A5-20C6BCE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HYP-MOM-02.2 improved the defensive tradeoff—not timing authority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E354D2-2831-41A9-97B5-BEB09D2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3D82B9-96A4-4AF2-B4F1-1EFBFC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WHAT THE WIDE STUDY SUPPORTS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B1F2-ED44-427B-9B2F-87F26F4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64/119 improved both versus 02.1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113/119 reduced drawdown versus ownership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Genuinely early exits usually saved downside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0FC27B-CFCD-427C-8FA1-D20FF19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8E39E-F8D0-459F-BC1E-17F794F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WHAT IT DOES NOT SUPPORT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AA6304-8804-4F58-BBB3-56FE196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Optimality of SMA50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Generic outperformance versus ownership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Exit-only causal attribution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Portfolio or live authority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1BEB97-ECD4-4DE9-BEEF-2B163AA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next question must separate entry confirmation, exit timing, and re-entry policy on distinct evidence.</a:t>
            </a:r>
          </a:p>
        </p:txBody>
      </p:sp>
    </p:spTree>
    <p:extLst>
      <p:ext uri="{BB962C8B-B14F-4D97-AF65-F5344CB8AC3E}">
        <p14:creationId xmlns:p14="http://schemas.microsoft.com/office/powerpoint/2010/main" val="76045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2026-08-08T14:53:54.9020000Z</dcterms:created>
  <dcterms:modified xsi:type="dcterms:W3CDTF">2026-08-08T14:53:54.9020000Z</dcterms:modified>
</coreProperties>
</file>