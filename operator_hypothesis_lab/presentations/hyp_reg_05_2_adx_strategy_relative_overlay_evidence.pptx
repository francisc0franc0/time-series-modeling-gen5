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01cd08f23804cd3" /><Relationship Type="http://schemas.openxmlformats.org/officeDocument/2006/relationships/extended-properties" Target="/docProps/app.xml" Id="R5c16faaaa5ab4b4f" /><Relationship Type="http://schemas.openxmlformats.org/officeDocument/2006/relationships/officeDocument" Target="/ppt/presentation.xml" Id="R189b6b48401041fc" /></Relationships>
</file>

<file path=ppt/presentation.xml><?xml version="1.0" encoding="utf-8"?>
<p:presentation xmlns:p="http://schemas.openxmlformats.org/presentationml/2006/main">
  <p:sldMasterIdLst>
    <p:sldMasterId xmlns:r="http://schemas.openxmlformats.org/officeDocument/2006/relationships" id="2147483648" r:id="Rd0243d6fd19b4bae"/>
  </p:sldMasterIdLst>
  <p:notesMasterIdLst>
    <p:notesMasterId xmlns:r="http://schemas.openxmlformats.org/officeDocument/2006/relationships" r:id="R042166d851c544f3"/>
  </p:notesMasterIdLst>
  <p:sldIdLst>
    <p:sldId xmlns:r="http://schemas.openxmlformats.org/officeDocument/2006/relationships" id="256" r:id="R38a0150dec1e42b6"/>
    <p:sldId xmlns:r="http://schemas.openxmlformats.org/officeDocument/2006/relationships" id="257" r:id="R86937de4c6dc4e32"/>
    <p:sldId xmlns:r="http://schemas.openxmlformats.org/officeDocument/2006/relationships" id="258" r:id="R9259b315e34a47aa"/>
    <p:sldId xmlns:r="http://schemas.openxmlformats.org/officeDocument/2006/relationships" id="259" r:id="R78c8e27587ea4542"/>
    <p:sldId xmlns:r="http://schemas.openxmlformats.org/officeDocument/2006/relationships" id="260" r:id="R00bb1aa9be9c4543"/>
    <p:sldId xmlns:r="http://schemas.openxmlformats.org/officeDocument/2006/relationships" id="261" r:id="Ra3a9bcf11fee4f44"/>
    <p:sldId xmlns:r="http://schemas.openxmlformats.org/officeDocument/2006/relationships" id="262" r:id="Rbe22b411c9fc44e6"/>
    <p:sldId xmlns:r="http://schemas.openxmlformats.org/officeDocument/2006/relationships" id="263" r:id="Rab7ef1156ebc469b"/>
    <p:sldId xmlns:r="http://schemas.openxmlformats.org/officeDocument/2006/relationships" id="264" r:id="R72063a20bb634ebf"/>
    <p:sldId xmlns:r="http://schemas.openxmlformats.org/officeDocument/2006/relationships" id="265" r:id="R5150ec8541324563"/>
    <p:sldId xmlns:r="http://schemas.openxmlformats.org/officeDocument/2006/relationships" id="266" r:id="Ref2ed7cdad514ad9"/>
    <p:sldId xmlns:r="http://schemas.openxmlformats.org/officeDocument/2006/relationships" id="267" r:id="R1f11901741d545c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171260281e24f4e" /><Relationship Type="http://schemas.openxmlformats.org/officeDocument/2006/relationships/slideMaster" Target="/ppt/slideMasters/slideMaster1.xml" Id="Rd0243d6fd19b4bae" /><Relationship Type="http://schemas.openxmlformats.org/officeDocument/2006/relationships/notesMaster" Target="/ppt/notesMasters/notesMaster1.xml" Id="R042166d851c544f3" /><Relationship Type="http://schemas.openxmlformats.org/officeDocument/2006/relationships/presProps" Target="/ppt/presProps.xml" Id="R961cf3e935974898" /><Relationship Type="http://schemas.openxmlformats.org/officeDocument/2006/relationships/tableStyles" Target="/ppt/tableStyles.xml" Id="Rb9254bd7e1634351" /><Relationship Type="http://schemas.openxmlformats.org/officeDocument/2006/relationships/slide" Target="/ppt/slides/slide1.xml" Id="R38a0150dec1e42b6" /><Relationship Type="http://schemas.openxmlformats.org/officeDocument/2006/relationships/slide" Target="/ppt/slides/slide2.xml" Id="R86937de4c6dc4e32" /><Relationship Type="http://schemas.openxmlformats.org/officeDocument/2006/relationships/slide" Target="/ppt/slides/slide3.xml" Id="R9259b315e34a47aa" /><Relationship Type="http://schemas.openxmlformats.org/officeDocument/2006/relationships/slide" Target="/ppt/slides/slide4.xml" Id="R78c8e27587ea4542" /><Relationship Type="http://schemas.openxmlformats.org/officeDocument/2006/relationships/slide" Target="/ppt/slides/slide5.xml" Id="R00bb1aa9be9c4543" /><Relationship Type="http://schemas.openxmlformats.org/officeDocument/2006/relationships/slide" Target="/ppt/slides/slide6.xml" Id="Ra3a9bcf11fee4f44" /><Relationship Type="http://schemas.openxmlformats.org/officeDocument/2006/relationships/slide" Target="/ppt/slides/slide7.xml" Id="Rbe22b411c9fc44e6" /><Relationship Type="http://schemas.openxmlformats.org/officeDocument/2006/relationships/slide" Target="/ppt/slides/slide8.xml" Id="Rab7ef1156ebc469b" /><Relationship Type="http://schemas.openxmlformats.org/officeDocument/2006/relationships/slide" Target="/ppt/slides/slide9.xml" Id="R72063a20bb634ebf" /><Relationship Type="http://schemas.openxmlformats.org/officeDocument/2006/relationships/slide" Target="/ppt/slides/slide10.xml" Id="R5150ec8541324563" /><Relationship Type="http://schemas.openxmlformats.org/officeDocument/2006/relationships/slide" Target="/ppt/slides/slide11.xml" Id="Ref2ed7cdad514ad9" /><Relationship Type="http://schemas.openxmlformats.org/officeDocument/2006/relationships/slide" Target="/ppt/slides/slide12.xml" Id="R1f11901741d545c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70ec8e33574439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441de8d598643e9" /><Relationship Type="http://schemas.openxmlformats.org/officeDocument/2006/relationships/notesMaster" Target="/ppt/notesMasters/notesMaster1.xml" Id="R47266f3902ca4a51" /></Relationships>
</file>

<file path=ppt/notesSlides/_rels/notesSlide2.xml.rels>&#65279;<?xml version="1.0" encoding="utf-8"?><Relationships xmlns="http://schemas.openxmlformats.org/package/2006/relationships"><Relationship Type="http://schemas.openxmlformats.org/officeDocument/2006/relationships/slide" Target="/ppt/slides/slide2.xml" Id="Rafdadbb8c1cc4b8c" /><Relationship Type="http://schemas.openxmlformats.org/officeDocument/2006/relationships/notesMaster" Target="/ppt/notesMasters/notesMaster1.xml" Id="Ra20216521a744251" /></Relationships>
</file>

<file path=ppt/notesSlides/_rels/notesSlide3.xml.rels>&#65279;<?xml version="1.0" encoding="utf-8"?><Relationships xmlns="http://schemas.openxmlformats.org/package/2006/relationships"><Relationship Type="http://schemas.openxmlformats.org/officeDocument/2006/relationships/slide" Target="/ppt/slides/slide3.xml" Id="R2a936ca9d7e5461f" /><Relationship Type="http://schemas.openxmlformats.org/officeDocument/2006/relationships/notesMaster" Target="/ppt/notesMasters/notesMaster1.xml" Id="Rda3c047fef2846a6" /></Relationships>
</file>

<file path=ppt/notesSlides/_rels/notesSlide4.xml.rels>&#65279;<?xml version="1.0" encoding="utf-8"?><Relationships xmlns="http://schemas.openxmlformats.org/package/2006/relationships"><Relationship Type="http://schemas.openxmlformats.org/officeDocument/2006/relationships/slide" Target="/ppt/slides/slide4.xml" Id="R551724387f5c408e" /><Relationship Type="http://schemas.openxmlformats.org/officeDocument/2006/relationships/notesMaster" Target="/ppt/notesMasters/notesMaster1.xml" Id="Rcc8abed85dc6498e" /></Relationships>
</file>

<file path=ppt/notesSlides/_rels/notesSlide5.xml.rels>&#65279;<?xml version="1.0" encoding="utf-8"?><Relationships xmlns="http://schemas.openxmlformats.org/package/2006/relationships"><Relationship Type="http://schemas.openxmlformats.org/officeDocument/2006/relationships/slide" Target="/ppt/slides/slide5.xml" Id="Rc2eb74c5a6714e2c" /><Relationship Type="http://schemas.openxmlformats.org/officeDocument/2006/relationships/notesMaster" Target="/ppt/notesMasters/notesMaster1.xml" Id="R6125bcea2dc94027" /></Relationships>
</file>

<file path=ppt/notesSlides/_rels/notesSlide6.xml.rels>&#65279;<?xml version="1.0" encoding="utf-8"?><Relationships xmlns="http://schemas.openxmlformats.org/package/2006/relationships"><Relationship Type="http://schemas.openxmlformats.org/officeDocument/2006/relationships/slide" Target="/ppt/slides/slide6.xml" Id="Rbe1ba06d78b84936" /><Relationship Type="http://schemas.openxmlformats.org/officeDocument/2006/relationships/notesMaster" Target="/ppt/notesMasters/notesMaster1.xml" Id="R337ae8c80720446c" /></Relationships>
</file>

<file path=ppt/notesSlides/_rels/notesSlide7.xml.rels>&#65279;<?xml version="1.0" encoding="utf-8"?><Relationships xmlns="http://schemas.openxmlformats.org/package/2006/relationships"><Relationship Type="http://schemas.openxmlformats.org/officeDocument/2006/relationships/slide" Target="/ppt/slides/slide7.xml" Id="Re7e27cc320d64477" /><Relationship Type="http://schemas.openxmlformats.org/officeDocument/2006/relationships/notesMaster" Target="/ppt/notesMasters/notesMaster1.xml" Id="R859c0917bf904694" /></Relationships>
</file>

<file path=ppt/notesSlides/_rels/notesSlide8.xml.rels>&#65279;<?xml version="1.0" encoding="utf-8"?><Relationships xmlns="http://schemas.openxmlformats.org/package/2006/relationships"><Relationship Type="http://schemas.openxmlformats.org/officeDocument/2006/relationships/slide" Target="/ppt/slides/slide8.xml" Id="R5b3b64457599465f" /><Relationship Type="http://schemas.openxmlformats.org/officeDocument/2006/relationships/notesMaster" Target="/ppt/notesMasters/notesMaster1.xml" Id="Rfafc43e9117e46ad" /></Relationships>
</file>

<file path=ppt/notesSlides/_rels/notesSlide9.xml.rels>&#65279;<?xml version="1.0" encoding="utf-8"?><Relationships xmlns="http://schemas.openxmlformats.org/package/2006/relationships"><Relationship Type="http://schemas.openxmlformats.org/officeDocument/2006/relationships/slide" Target="/ppt/slides/slide9.xml" Id="R0c66ab2d18dd4e54" /><Relationship Type="http://schemas.openxmlformats.org/officeDocument/2006/relationships/notesMaster" Target="/ppt/notesMasters/notesMaster1.xml" Id="Rc828b94eb2084a9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96e2cc4308541b5" /><Relationship Type="http://schemas.openxmlformats.org/officeDocument/2006/relationships/notesMaster" Target="/ppt/notesMasters/notesMaster1.xml" Id="Re779a1abba1643b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a508829bed144ee" /><Relationship Type="http://schemas.openxmlformats.org/officeDocument/2006/relationships/notesMaster" Target="/ppt/notesMasters/notesMaster1.xml" Id="R391b3ec3cdf0410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052b64dc3b04639" /><Relationship Type="http://schemas.openxmlformats.org/officeDocument/2006/relationships/notesMaster" Target="/ppt/notesMasters/notesMaster1.xml" Id="R483ac777ab4d47f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Lead with the distinction: present-state information existed, but the binary policy did not improve the full strategy. The conclusion is a stopped implementation, not a rejection of contemporaneous state measurement.</a:t>
            </a:r>
          </a:p>
          <a:p xmlns:a="http://schemas.openxmlformats.org/drawingml/2006/main">
            <a:r>
              <a:t/>
            </a:r>
          </a:p>
          <a:p xmlns:a="http://schemas.openxmlformats.org/drawingml/2006/main">
            <a:r>
              <a:t>[Sources]</a:t>
            </a:r>
          </a:p>
          <a:p xmlns:a="http://schemas.openxmlformats.org/drawingml/2006/main">
            <a:r>
              <a:t>- docs/GEN5_HYP_REG_05_2_ADX_STRATEGY_RELATIVE_OVERLAY_CONTRACT.md</a:t>
            </a:r>
          </a:p>
          <a:p xmlns:a="http://schemas.openxmlformats.org/drawingml/2006/main">
            <a:r>
              <a:t>- operator_hypothesis_lab/docs/HYP_REG_05_2_ADX_STRATEGY_RELATIVE_OVERLAY_RESULTS.md</a:t>
            </a:r>
          </a:p>
          <a:p xmlns:a="http://schemas.openxmlformats.org/drawingml/2006/main">
            <a:r>
              <a:t>- C:/Users/Franc/OneDrive/Documents/Francis/Peltata Project/Time-Series-Modeling-Gen5/runs/research_workbench/operator_hypothesis_lab/hyp_reg_05_2_adx_strategy_overlay_20260815/hyp_reg_05_2_decision.csv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Regime models in the Hamilton tradition describe latent state processes, but a trading policy need not require a state-duration forecast at every decision. The narrower operational claim is whether information available now improves the action executed next. This experiment tests that claim directly.</a:t>
            </a:r>
          </a:p>
          <a:p xmlns:a="http://schemas.openxmlformats.org/drawingml/2006/main">
            <a:r>
              <a:t/>
            </a:r>
          </a:p>
          <a:p xmlns:a="http://schemas.openxmlformats.org/drawingml/2006/main">
            <a:r>
              <a:t>[Sources]</a:t>
            </a:r>
          </a:p>
          <a:p xmlns:a="http://schemas.openxmlformats.org/drawingml/2006/main">
            <a:r>
              <a:t>- docs/GEN5_4_DECISION_DIALOGUE_INDEX.md#d135</a:t>
            </a:r>
          </a:p>
          <a:p xmlns:a="http://schemas.openxmlformats.org/drawingml/2006/main">
            <a:r>
              <a:t>- https://econweb.ucsd.edu/~jhamilto/pub_metrics</a:t>
            </a:r>
          </a:p>
          <a:p xmlns:a="http://schemas.openxmlformats.org/drawingml/2006/main">
            <a:r>
              <a:t>- docs/GEN5_HYP_REG_05_2_ADX_STRATEGY_RELATIVE_OVERLAY_CONTRACT.md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decimal version changes mechanics substantively while leaving all indicator parameters frozen. ADX is Wilder's smoothed directional-movement strength index; the accepted state is an asset-relative prior-252 percentile with hysteresis, not a fitted raw threshold.</a:t>
            </a:r>
          </a:p>
          <a:p xmlns:a="http://schemas.openxmlformats.org/drawingml/2006/main">
            <a:r>
              <a:t/>
            </a:r>
          </a:p>
          <a:p xmlns:a="http://schemas.openxmlformats.org/drawingml/2006/main">
            <a:r>
              <a:t>[Sources]</a:t>
            </a:r>
          </a:p>
          <a:p xmlns:a="http://schemas.openxmlformats.org/drawingml/2006/main">
            <a:r>
              <a:t>- docs/GEN5_HYP_REG_05_2_ADX_STRATEGY_RELATIVE_OVERLAY_CONTRACT.md</a:t>
            </a:r>
          </a:p>
          <a:p xmlns:a="http://schemas.openxmlformats.org/drawingml/2006/main">
            <a:r>
              <a:t>- https://books.google.com/books/about/New_Concepts_in_Technical_Trading_System.html?id=WesJAQAAMAAJ</a:t>
            </a:r>
          </a:p>
          <a:p xmlns:a="http://schemas.openxmlformats.org/drawingml/2006/main">
            <a:r>
              <a:t>- C:/Users/Franc/OneDrive/Documents/Francis/Peltata Project/Time-Series-Modeling-Gen5/runs/research_workbench/operator_hypothesis_lab/hyp_reg_05_2_adx_strategy_overlay_20260815/hyp_reg_05_2_run_spec.csv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state ledger has 1,509 analysis sessions per asset; the inherited strategy surface has 1,499 because of ten previously documented SIP archive gap sessions. No strategy date lacks a causal state. The runner reproduced the retained parent before interpreting either overlay.</a:t>
            </a:r>
          </a:p>
          <a:p xmlns:a="http://schemas.openxmlformats.org/drawingml/2006/main">
            <a:r>
              <a:t/>
            </a:r>
          </a:p>
          <a:p xmlns:a="http://schemas.openxmlformats.org/drawingml/2006/main">
            <a:r>
              <a:t>[Sources]</a:t>
            </a:r>
          </a:p>
          <a:p xmlns:a="http://schemas.openxmlformats.org/drawingml/2006/main">
            <a:r>
              <a:t>- docs/GEN5_HYP_REG_05_2_ADX_STRATEGY_RELATIVE_OVERLAY_CONTRACT.md</a:t>
            </a:r>
          </a:p>
          <a:p xmlns:a="http://schemas.openxmlformats.org/drawingml/2006/main">
            <a:r>
              <a:t>- C:/Users/Franc/OneDrive/Documents/Francis/Peltata Project/Time-Series-Modeling-Gen5/runs/research_workbench/operator_hypothesis_lab/hyp_reg_05_2_adx_strategy_overlay_20260815/hyp_reg_05_2_coverage.csv</a:t>
            </a:r>
          </a:p>
          <a:p xmlns:a="http://schemas.openxmlformats.org/drawingml/2006/main">
            <a:r>
              <a:t>- C:/Users/Franc/OneDrive/Documents/Francis/Peltata Project/Time-Series-Modeling-Gen5/runs/research_workbench/operator_hypothesis_lab/hyp_reg_05_2_adx_strategy_overlay_20260815/hyp_reg_05_2_parent_reproduction.csv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gate required drawdown to be no worse and Sharpe to be no lower. Entry-only improved drawdown materially but failed the joint standard because it excluded too much profitable exposure. Reactive was still more defensive and still less viable.</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Project/Time-Series-Modeling-Gen5/runs/research_workbench/operator_hypothesis_lab/hyp_reg_05_2_adx_strategy_overlay_20260815/hyp_reg_05_2_policy_panel.csv</a:t>
            </a:r>
          </a:p>
          <a:p xmlns:a="http://schemas.openxmlformats.org/drawingml/2006/main">
            <a:r>
              <a:t>- C:/Users/Franc/OneDrive/Documents/Francis/Peltata Project/Time-Series-Modeling-Gen5/runs/research_workbench/operator_hypothesis_lab/hyp_reg_05_2_adx_strategy_overlay_20260815/hyp_reg_05_2_gates.csv</a:t>
            </a:r>
          </a:p>
          <a:p xmlns:a="http://schemas.openxmlformats.org/drawingml/2006/main">
            <a:r>
              <a:t>- operator_hypothesis_lab/docs/HYP_REG_05_2_ADX_STRATEGY_RELATIVE_OVERLAY_RESULTS.md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LOW, MEDIUM, and HIGH parent entries had mean trade returns of 0.64%, 1.66%, and 2.01%, respectively. The hit rate also rose. This supports a narrow conditional relationship, but the strategy test shows that deleting every non-HIGH entry is too severe.</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Project/Time-Series-Modeling-Gen5/runs/research_workbench/operator_hypothesis_lab/hyp_reg_05_2_adx_strategy_overlay_20260815/hyp_reg_05_2_entry_state_audit.csv</a:t>
            </a:r>
          </a:p>
          <a:p xmlns:a="http://schemas.openxmlformats.org/drawingml/2006/main">
            <a:r>
              <a:t>- C:/Users/Franc/OneDrive/Documents/Francis/Peltata Project/Time-Series-Modeling-Gen5/runs/research_workbench/operator_hypothesis_lab/hyp_reg_05_2_adx_strategy_overlay_20260815/hyp_reg_05_2_trades.csv</a:t>
            </a:r>
          </a:p>
          <a:p xmlns:a="http://schemas.openxmlformats.org/drawingml/2006/main">
            <a:r>
              <a:t>- operator_hypothesis_lab/docs/HYP_REG_05_2_ADX_STRATEGY_RELATIVE_OVERLAY_RESULTS.md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Exposure matching prevents the real rule from winning merely because it spends less time invested. Entry-only passed this falsification check: real HIGH timing did better than most equally restrictive circular shifts. Reactive failed badly, indicating that leaving-HIGH exits were not specifically aligned with useful liquidation timing.</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Project/Time-Series-Modeling-Gen5/runs/research_workbench/operator_hypothesis_lab/hyp_reg_05_2_adx_strategy_overlay_20260815/hyp_reg_05_2_placebo_readout.csv</a:t>
            </a:r>
          </a:p>
          <a:p xmlns:a="http://schemas.openxmlformats.org/drawingml/2006/main">
            <a:r>
              <a:t>- C:/Users/Franc/OneDrive/Documents/Francis/Peltata Project/Time-Series-Modeling-Gen5/runs/research_workbench/operator_hypothesis_lab/hyp_reg_05_2_adx_strategy_overlay_20260815/hyp_reg_05_2_control_panel.csv</a:t>
            </a:r>
          </a:p>
          <a:p xmlns:a="http://schemas.openxmlformats.org/drawingml/2006/main">
            <a:r>
              <a:t>- docs/GEN5_HYP_REG_05_2_ADX_STRATEGY_RELATIVE_OVERLAY_CONTRACT.md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2018 was the only favorable calendar year for either overlay. The asset view also shows severe opportunity cost in AMD, TSLA, MSFT, SHW, and other strong parent trends. The gate was designed to reject a rule whose apparent merit depended on a narrow slice.</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Project/Time-Series-Modeling-Gen5/runs/research_workbench/operator_hypothesis_lab/hyp_reg_05_2_adx_strategy_overlay_20260815/hyp_reg_05_2_asset_summary.csv</a:t>
            </a:r>
          </a:p>
          <a:p xmlns:a="http://schemas.openxmlformats.org/drawingml/2006/main">
            <a:r>
              <a:t>- C:/Users/Franc/OneDrive/Documents/Francis/Peltata Project/Time-Series-Modeling-Gen5/runs/research_workbench/operator_hypothesis_lab/hyp_reg_05_2_adx_strategy_overlay_20260815/hyp_reg_05_2_year_summary.csv</a:t>
            </a:r>
          </a:p>
          <a:p xmlns:a="http://schemas.openxmlformats.org/drawingml/2006/main">
            <a:r>
              <a:t>- operator_hypothesis_lab/docs/HYP_REG_05_2_ADX_STRATEGY_RELATIVE_OVERLAY_RESULTS.md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near-zero positive median can look reassuring, but the negative mean reveals asymmetric false exits. A smoothed state can accurately summarize recent trend strength while changing too late—or too often relative to a specific trade—to own liquidation authority.</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Project/Time-Series-Modeling-Gen5/runs/research_workbench/operator_hypothesis_lab/hyp_reg_05_2_adx_strategy_overlay_20260815/hyp_reg_05_2_reactive_exit_summary.csv</a:t>
            </a:r>
          </a:p>
          <a:p xmlns:a="http://schemas.openxmlformats.org/drawingml/2006/main">
            <a:r>
              <a:t>- C:/Users/Franc/OneDrive/Documents/Francis/Peltata Project/Time-Series-Modeling-Gen5/runs/research_workbench/operator_hypothesis_lab/hyp_reg_05_2_adx_strategy_overlay_20260815/hyp_reg_05_2_reactive_trade_audit.csv</a:t>
            </a:r>
          </a:p>
          <a:p xmlns:a="http://schemas.openxmlformats.org/drawingml/2006/main">
            <a:r>
              <a:t>- operator_hypothesis_lab/docs/HYP_REG_05_2_ADX_STRATEGY_RELATIVE_OVERLAY_RESULTS.md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examples were selected by predeclared behavioral roles, not as candidates for promotion: APD 2023 largest cell improvement, TSLA 2020 largest degradation, TSLA 2018 protective ADX exit, and AMD 2018 false ADX exit. State shading is descriptive; markers show actual causal actions.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Project/Time-Series-Modeling-Gen5/runs/research_workbench/operator_hypothesis_lab/hyp_reg_05_2_adx_strategy_overlay_20260815/hyp_reg_05_2_representative_selection.csv</a:t>
            </a:r>
          </a:p>
          <a:p xmlns:a="http://schemas.openxmlformats.org/drawingml/2006/main">
            <a:r>
              <a:t>- C:/Users/Franc/OneDrive/Documents/Francis/Peltata Project/Time-Series-Modeling-Gen5/runs/research_workbench/operator_hypothesis_lab/hyp_reg_05_2_adx_strategy_overlay_20260815/hyp_reg_05_2_reconstructed_daily.rds</a:t>
            </a:r>
          </a:p>
          <a:p xmlns:a="http://schemas.openxmlformats.org/drawingml/2006/main">
            <a:r>
              <a:t>- operator_hypothesis_lab/docs/HYP_REG_05_2_ADX_STRATEGY_RELATIVE_OVERLAY_RESULTS.md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eight gates were required. Entry-only passed integrity, reproduction, positive absolute return, and state specificity. Reactive passed integrity, reproduction, and positive absolute return. Neither earned access to confirmation.</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Project/Time-Series-Modeling-Gen5/runs/research_workbench/operator_hypothesis_lab/hyp_reg_05_2_adx_strategy_overlay_20260815/hyp_reg_05_2_gates.csv</a:t>
            </a:r>
          </a:p>
          <a:p xmlns:a="http://schemas.openxmlformats.org/drawingml/2006/main">
            <a:r>
              <a:t>- C:/Users/Franc/OneDrive/Documents/Francis/Peltata Project/Time-Series-Modeling-Gen5/runs/research_workbench/operator_hypothesis_lab/hyp_reg_05_2_adx_strategy_overlay_20260815/hyp_reg_05_2_decision.csv</a:t>
            </a:r>
          </a:p>
          <a:p xmlns:a="http://schemas.openxmlformats.org/drawingml/2006/main">
            <a:r>
              <a:t>- docs/GEN5_HYP_REG_05_2_ADX_STRATEGY_RELATIVE_OVERLAY_CONTRACT.md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experiment answers the operator's question directly. Forecasting future state is not a universal prerequisite. But accurate present description earns authority only if the proposed action improves under causal, costed, transportable evidence. Here, ADX supplied a clue and failed as a binary gate.</a:t>
            </a:r>
          </a:p>
          <a:p xmlns:a="http://schemas.openxmlformats.org/drawingml/2006/main">
            <a:r>
              <a:t/>
            </a:r>
          </a:p>
          <a:p xmlns:a="http://schemas.openxmlformats.org/drawingml/2006/main">
            <a:r>
              <a:t>[Sources]</a:t>
            </a:r>
          </a:p>
          <a:p xmlns:a="http://schemas.openxmlformats.org/drawingml/2006/main">
            <a:r>
              <a:t>- operator_hypothesis_lab/docs/HYP_REG_05_2_ADX_STRATEGY_RELATIVE_OVERLAY_RESULTS.md</a:t>
            </a:r>
          </a:p>
          <a:p xmlns:a="http://schemas.openxmlformats.org/drawingml/2006/main">
            <a:r>
              <a:t>- docs/GEN5_HYP_REG_05_2_ADX_STRATEGY_RELATIVE_OVERLAY_CONTRACT.md</a:t>
            </a:r>
          </a:p>
          <a:p xmlns:a="http://schemas.openxmlformats.org/drawingml/2006/main">
            <a:r>
              <a:t>- docs/GEN5_4_DECISION_DIALOGUE_INDEX.md#d135</a:t>
            </a:r>
          </a:p>
          <a:p xmlns:a="http://schemas.openxmlformats.org/drawingml/2006/main">
            <a:r>
              <a:t>- C:/Users/Franc/OneDrive/Documents/Francis/Peltata Project/Time-Series-Modeling-Gen5/runs/research_workbench/operator_hypothesis_lab/hyp_reg_05_2_adx_strategy_overlay_20260815/STATUS.txt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2e4f5fd7a66447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840f9cc89fe455a" /><Relationship Type="http://schemas.openxmlformats.org/officeDocument/2006/relationships/slideLayout" Target="/ppt/slideLayouts/slideLayout1.xml" Id="R3688a0a4c04e4e2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688a0a4c04e4e2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5d44cd3eb2e4fe9" /><Relationship Type="http://schemas.openxmlformats.org/officeDocument/2006/relationships/image" Target="/ppt/media/image.png" Id="R671fa4c5825d4dc7" /><Relationship Type="http://schemas.openxmlformats.org/officeDocument/2006/relationships/notesSlide" Target="/ppt/notesSlides/notesSlide1.xml" Id="R0b0a2e813ec4472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444618a8e0047c7" /><Relationship Type="http://schemas.openxmlformats.org/officeDocument/2006/relationships/notesSlide" Target="/ppt/notesSlides/notesSlide2.xml" Id="R71250c4ebd30428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0d595147498437f" /><Relationship Type="http://schemas.openxmlformats.org/officeDocument/2006/relationships/image" Target="/ppt/media/image2.png" Id="R91eb59acb3b54ede" /><Relationship Type="http://schemas.openxmlformats.org/officeDocument/2006/relationships/notesSlide" Target="/ppt/notesSlides/notesSlide3.xml" Id="R5c5c74cf39bf4fe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2da2d26c4fc489f" /><Relationship Type="http://schemas.openxmlformats.org/officeDocument/2006/relationships/notesSlide" Target="/ppt/notesSlides/notesSlide4.xml" Id="R8b5dc7507235400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0efaf658ebf4858" /><Relationship Type="http://schemas.openxmlformats.org/officeDocument/2006/relationships/image" Target="/ppt/media/image3.png" Id="R1d2adc5d4b6342ff" /><Relationship Type="http://schemas.openxmlformats.org/officeDocument/2006/relationships/notesSlide" Target="/ppt/notesSlides/notesSlide5.xml" Id="R2fe0508ab66148d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59c021493f341f8" /><Relationship Type="http://schemas.openxmlformats.org/officeDocument/2006/relationships/image" Target="/ppt/media/image4.png" Id="R632fbb12d5234e9d" /><Relationship Type="http://schemas.openxmlformats.org/officeDocument/2006/relationships/notesSlide" Target="/ppt/notesSlides/notesSlide6.xml" Id="Rc93200bdba1e42a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9a07ecbd5ec4eb6" /><Relationship Type="http://schemas.openxmlformats.org/officeDocument/2006/relationships/image" Target="/ppt/media/image5.png" Id="R312a30f713714464" /><Relationship Type="http://schemas.openxmlformats.org/officeDocument/2006/relationships/notesSlide" Target="/ppt/notesSlides/notesSlide7.xml" Id="Rabbfcfd1bf54424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3d954719d6246a7" /><Relationship Type="http://schemas.openxmlformats.org/officeDocument/2006/relationships/image" Target="/ppt/media/image6.png" Id="R0a587dea93b74d31" /><Relationship Type="http://schemas.openxmlformats.org/officeDocument/2006/relationships/image" Target="/ppt/media/image7.png" Id="R5d721503d6364b77" /><Relationship Type="http://schemas.openxmlformats.org/officeDocument/2006/relationships/notesSlide" Target="/ppt/notesSlides/notesSlide8.xml" Id="R76de84fb5e6c45e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a62abc5f6704a0a" /><Relationship Type="http://schemas.openxmlformats.org/officeDocument/2006/relationships/image" Target="/ppt/media/image8.png" Id="Rd715a5a8651b48a0" /><Relationship Type="http://schemas.openxmlformats.org/officeDocument/2006/relationships/notesSlide" Target="/ppt/notesSlides/notesSlide9.xml" Id="Ra97f16d9dd234c3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02d4fe7cb4b4f30" /><Relationship Type="http://schemas.openxmlformats.org/officeDocument/2006/relationships/image" Target="/ppt/media/image9.png" Id="R911e423bef6a41bb" /><Relationship Type="http://schemas.openxmlformats.org/officeDocument/2006/relationships/notesSlide" Target="/ppt/notesSlides/notesSlide10.xml" Id="R039ef92d4f8247b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51c8d4043a348fb" /><Relationship Type="http://schemas.openxmlformats.org/officeDocument/2006/relationships/notesSlide" Target="/ppt/notesSlides/notesSlide11.xml" Id="R12bb046d8299418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e4376b00e8e4179" /><Relationship Type="http://schemas.openxmlformats.org/officeDocument/2006/relationships/notesSlide" Target="/ppt/notesSlides/notesSlide12.xml" Id="R89a611840ba0496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4EE5319-D4B0-4A39-9932-B43424F96708}"/>
              </a:ext>
            </a:extLst>
          </p:cNvPr>
          <p:cNvSpPr>
            <a:spLocks xmlns:a="http://schemas.openxmlformats.org/drawingml/2006/main" noGrp="1"/>
          </p:cNvSpPr>
          <p:nvPr/>
        </p:nvSpPr>
        <p:spPr>
          <a:xfrm xmlns:a="http://schemas.openxmlformats.org/drawingml/2006/main">
            <a:off x="476250" y="400050"/>
            <a:ext cx="333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defRPr>
            </a:pPr>
            <a:r>
              <a:rPr sz="1200" b="1">
                <a:solidFill>
                  <a:srgbClr val="3D8DFF"/>
                </a:solidFill>
              </a:rPr>
              <a:t>HYP-REG-05.2</a:t>
            </a:r>
          </a:p>
        </p:txBody>
      </p:sp>
      <p:sp>
        <p:nvSpPr>
          <p:cNvPr id="2" name="">
            <a:extLst xmlns:a="http://schemas.openxmlformats.org/drawingml/2006/main">
              <a:ext uri="{FF2B5EF4-FFF2-40B4-BE49-F238E27FC236}">
                <a16:creationId xmlns:a16="http://schemas.microsoft.com/office/drawing/2014/main" id="{D332633D-8E63-4B00-9B32-677739BEEFFC}"/>
              </a:ext>
            </a:extLst>
          </p:cNvPr>
          <p:cNvSpPr>
            <a:spLocks xmlns:a="http://schemas.openxmlformats.org/drawingml/2006/main" noGrp="1"/>
          </p:cNvSpPr>
          <p:nvPr/>
        </p:nvSpPr>
        <p:spPr>
          <a:xfrm xmlns:a="http://schemas.openxmlformats.org/drawingml/2006/main">
            <a:off x="476250" y="1066800"/>
            <a:ext cx="5286375" cy="2143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375" b="1">
                <a:solidFill>
                  <a:srgbClr val="17324D"/>
                </a:solidFill>
              </a:defRPr>
            </a:pPr>
            <a:r>
              <a:rPr sz="3375" b="1">
                <a:solidFill>
                  <a:srgbClr val="17324D"/>
                </a:solidFill>
              </a:rPr>
              <a:t>HIGH ADX selected better entries—</a:t>
            </a:r>
          </a:p>
          <a:p xmlns:a="http://schemas.openxmlformats.org/drawingml/2006/main">
            <a:pPr algn="l">
              <a:defRPr sz="3375" b="1">
                <a:solidFill>
                  <a:srgbClr val="17324D"/>
                </a:solidFill>
              </a:defRPr>
            </a:pPr>
            <a:r>
              <a:rPr sz="3375" b="1">
                <a:solidFill>
                  <a:srgbClr val="17324D"/>
                </a:solidFill>
              </a:rPr>
              <a:t>but the hard gate made the strategy worse</a:t>
            </a:r>
          </a:p>
        </p:txBody>
      </p:sp>
      <p:sp>
        <p:nvSpPr>
          <p:cNvPr id="3" name="">
            <a:extLst xmlns:a="http://schemas.openxmlformats.org/drawingml/2006/main">
              <a:ext uri="{FF2B5EF4-FFF2-40B4-BE49-F238E27FC236}">
                <a16:creationId xmlns:a16="http://schemas.microsoft.com/office/drawing/2014/main" id="{61619295-5185-4D2D-98D4-339F5FCFCA75}"/>
              </a:ext>
            </a:extLst>
          </p:cNvPr>
          <p:cNvSpPr>
            <a:spLocks xmlns:a="http://schemas.openxmlformats.org/drawingml/2006/main" noGrp="1"/>
          </p:cNvSpPr>
          <p:nvPr/>
        </p:nvSpPr>
        <p:spPr>
          <a:xfrm xmlns:a="http://schemas.openxmlformats.org/drawingml/2006/main">
            <a:off x="476250" y="3667125"/>
            <a:ext cx="5143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2606D"/>
                </a:solidFill>
              </a:defRPr>
            </a:pPr>
            <a:r>
              <a:rPr sz="1500" b="0">
                <a:solidFill>
                  <a:srgbClr val="52606D"/>
                </a:solidFill>
              </a:rPr>
              <a:t>Unchanged SMA8/SMA14 parent · 24 stocks · 2018–2023 reused development window</a:t>
            </a:r>
          </a:p>
        </p:txBody>
      </p:sp>
      <p:sp>
        <p:nvSpPr>
          <p:cNvPr id="4" name="">
            <a:extLst xmlns:a="http://schemas.openxmlformats.org/drawingml/2006/main">
              <a:ext uri="{FF2B5EF4-FFF2-40B4-BE49-F238E27FC236}">
                <a16:creationId xmlns:a16="http://schemas.microsoft.com/office/drawing/2014/main" id="{08C24E26-46E2-4224-B52A-3C37600119C4}"/>
              </a:ext>
            </a:extLst>
          </p:cNvPr>
          <p:cNvSpPr>
            <a:spLocks xmlns:a="http://schemas.openxmlformats.org/drawingml/2006/main" noGrp="1"/>
          </p:cNvSpPr>
          <p:nvPr/>
        </p:nvSpPr>
        <p:spPr>
          <a:xfrm xmlns:a="http://schemas.openxmlformats.org/drawingml/2006/main">
            <a:off x="476250" y="4953000"/>
            <a:ext cx="5095875" cy="85725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9E9A7C7-84D9-4372-867F-62ACE442DA1A}"/>
              </a:ext>
            </a:extLst>
          </p:cNvPr>
          <p:cNvSpPr>
            <a:spLocks xmlns:a="http://schemas.openxmlformats.org/drawingml/2006/main" noGrp="1"/>
          </p:cNvSpPr>
          <p:nvPr/>
        </p:nvSpPr>
        <p:spPr>
          <a:xfrm xmlns:a="http://schemas.openxmlformats.org/drawingml/2006/main">
            <a:off x="714375" y="5143500"/>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D95F59"/>
                </a:solidFill>
              </a:defRPr>
            </a:pPr>
            <a:r>
              <a:rPr sz="1650" b="1">
                <a:solidFill>
                  <a:srgbClr val="D95F59"/>
                </a:solidFill>
              </a:rPr>
              <a:t>STOP · entry-only 4/8 gates</a:t>
            </a:r>
          </a:p>
          <a:p xmlns:a="http://schemas.openxmlformats.org/drawingml/2006/main">
            <a:pPr algn="ctr">
              <a:defRPr sz="1650" b="1">
                <a:solidFill>
                  <a:srgbClr val="D95F59"/>
                </a:solidFill>
              </a:defRPr>
            </a:pPr>
            <a:r>
              <a:rPr sz="1650" b="1">
                <a:solidFill>
                  <a:srgbClr val="D95F59"/>
                </a:solidFill>
              </a:rPr>
              <a:t>reactive 3/8 gates</a:t>
            </a:r>
          </a:p>
        </p:txBody>
      </p:sp>
      <p:sp>
        <p:nvSpPr>
          <p:cNvPr id="6" name="">
            <a:extLst xmlns:a="http://schemas.openxmlformats.org/drawingml/2006/main">
              <a:ext uri="{FF2B5EF4-FFF2-40B4-BE49-F238E27FC236}">
                <a16:creationId xmlns:a16="http://schemas.microsoft.com/office/drawing/2014/main" id="{0EBE61AF-AE67-4D97-9286-C075635A925A}"/>
              </a:ext>
            </a:extLst>
          </p:cNvPr>
          <p:cNvSpPr>
            <a:spLocks xmlns:a="http://schemas.openxmlformats.org/drawingml/2006/main" noGrp="1"/>
          </p:cNvSpPr>
          <p:nvPr/>
        </p:nvSpPr>
        <p:spPr>
          <a:xfrm xmlns:a="http://schemas.openxmlformats.org/drawingml/2006/main">
            <a:off x="6096000" y="419100"/>
            <a:ext cx="5619750" cy="5619750"/>
          </a:xfrm>
          <a:prstGeom xmlns:a="http://schemas.openxmlformats.org/drawingml/2006/main" prst="rect">
            <a:avLst/>
          </a:prstGeom>
          <a:solidFill xmlns:a="http://schemas.openxmlformats.org/drawingml/2006/main">
            <a:srgbClr val="FAFAFA"/>
          </a:solidFill>
          <a:ln xmlns:a="http://schemas.openxmlformats.org/drawingml/2006/main" w="9525">
            <a:solidFill>
              <a:srgbClr val="CCD3DA"/>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71fa4c5825d4dc7"/>
          <a:stretch xmlns:a="http://schemas.openxmlformats.org/drawingml/2006/main"/>
        </p:blipFill>
        <p:spPr>
          <a:xfrm xmlns:a="http://schemas.openxmlformats.org/drawingml/2006/main">
            <a:off x="6096000" y="1667933"/>
            <a:ext cx="5619750" cy="3122083"/>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8C29C17F-6978-462F-9EF1-5736F18DD2C6}"/>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1</a:t>
            </a:r>
          </a:p>
        </p:txBody>
      </p:sp>
    </p:spTree>
    <p:extLst>
      <p:ext uri="{BB962C8B-B14F-4D97-AF65-F5344CB8AC3E}">
        <p14:creationId xmlns:p14="http://schemas.microsoft.com/office/powerpoint/2010/main" val="196929537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CCF9572-9427-4A68-88DB-CC89FBED29D1}"/>
              </a:ext>
            </a:extLst>
          </p:cNvPr>
          <p:cNvSpPr>
            <a:spLocks xmlns:a="http://schemas.openxmlformats.org/drawingml/2006/main" noGrp="1"/>
          </p:cNvSpPr>
          <p:nvPr/>
        </p:nvSpPr>
        <p:spPr>
          <a:xfrm xmlns:a="http://schemas.openxmlformats.org/drawingml/2006/main">
            <a:off x="476250" y="2667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THE CONCEPTUAL CORRECTION</a:t>
            </a:r>
          </a:p>
        </p:txBody>
      </p:sp>
      <p:sp>
        <p:nvSpPr>
          <p:cNvPr id="2" name="">
            <a:extLst xmlns:a="http://schemas.openxmlformats.org/drawingml/2006/main">
              <a:ext uri="{FF2B5EF4-FFF2-40B4-BE49-F238E27FC236}">
                <a16:creationId xmlns:a16="http://schemas.microsoft.com/office/drawing/2014/main" id="{495ACA51-F7E5-4DB9-AFD8-E7DF7BF1902B}"/>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A regime label need not forecast itself to be useful</a:t>
            </a:r>
          </a:p>
        </p:txBody>
      </p:sp>
      <p:sp>
        <p:nvSpPr>
          <p:cNvPr id="3" name="">
            <a:extLst xmlns:a="http://schemas.openxmlformats.org/drawingml/2006/main">
              <a:ext uri="{FF2B5EF4-FFF2-40B4-BE49-F238E27FC236}">
                <a16:creationId xmlns:a16="http://schemas.microsoft.com/office/drawing/2014/main" id="{A4CBF1C0-9CF6-4947-8FE7-2CC6FAB534A7}"/>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2</a:t>
            </a:r>
          </a:p>
        </p:txBody>
      </p:sp>
      <p:sp>
        <p:nvSpPr>
          <p:cNvPr id="4" name="">
            <a:extLst xmlns:a="http://schemas.openxmlformats.org/drawingml/2006/main">
              <a:ext uri="{FF2B5EF4-FFF2-40B4-BE49-F238E27FC236}">
                <a16:creationId xmlns:a16="http://schemas.microsoft.com/office/drawing/2014/main" id="{699A3590-8845-41A7-9069-585816352E74}"/>
              </a:ext>
            </a:extLst>
          </p:cNvPr>
          <p:cNvSpPr>
            <a:spLocks xmlns:a="http://schemas.openxmlformats.org/drawingml/2006/main" noGrp="1"/>
          </p:cNvSpPr>
          <p:nvPr/>
        </p:nvSpPr>
        <p:spPr>
          <a:xfrm xmlns:a="http://schemas.openxmlformats.org/drawingml/2006/main">
            <a:off x="523875" y="1333500"/>
            <a:ext cx="1095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7324D"/>
                </a:solidFill>
              </a:defRPr>
            </a:pPr>
            <a:r>
              <a:rPr sz="1800" b="1">
                <a:solidFill>
                  <a:srgbClr val="17324D"/>
                </a:solidFill>
              </a:rPr>
              <a:t>There are two different claims. We had tested the first. This lane tests the second.</a:t>
            </a:r>
          </a:p>
        </p:txBody>
      </p:sp>
      <p:sp>
        <p:nvSpPr>
          <p:cNvPr id="5" name="">
            <a:extLst xmlns:a="http://schemas.openxmlformats.org/drawingml/2006/main">
              <a:ext uri="{FF2B5EF4-FFF2-40B4-BE49-F238E27FC236}">
                <a16:creationId xmlns:a16="http://schemas.microsoft.com/office/drawing/2014/main" id="{0FCB6727-259A-4F16-93C6-4BE4430DEF19}"/>
              </a:ext>
            </a:extLst>
          </p:cNvPr>
          <p:cNvSpPr>
            <a:spLocks xmlns:a="http://schemas.openxmlformats.org/drawingml/2006/main" noGrp="1"/>
          </p:cNvSpPr>
          <p:nvPr/>
        </p:nvSpPr>
        <p:spPr>
          <a:xfrm xmlns:a="http://schemas.openxmlformats.org/drawingml/2006/main">
            <a:off x="523875" y="2190750"/>
            <a:ext cx="5095875" cy="2571750"/>
          </a:xfrm>
          <a:prstGeom xmlns:a="http://schemas.openxmlformats.org/drawingml/2006/main" prst="rect">
            <a:avLst/>
          </a:prstGeom>
          <a:solidFill xmlns:a="http://schemas.openxmlformats.org/drawingml/2006/main">
            <a:srgbClr val="F0EEF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CE2C873-FD7B-407D-8C3A-D6A20929C40D}"/>
              </a:ext>
            </a:extLst>
          </p:cNvPr>
          <p:cNvSpPr>
            <a:spLocks xmlns:a="http://schemas.openxmlformats.org/drawingml/2006/main" noGrp="1"/>
          </p:cNvSpPr>
          <p:nvPr/>
        </p:nvSpPr>
        <p:spPr>
          <a:xfrm xmlns:a="http://schemas.openxmlformats.org/drawingml/2006/main">
            <a:off x="857250" y="2524125"/>
            <a:ext cx="442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6C63A8"/>
                </a:solidFill>
              </a:defRPr>
            </a:pPr>
            <a:r>
              <a:rPr sz="2100" b="1">
                <a:solidFill>
                  <a:srgbClr val="6C63A8"/>
                </a:solidFill>
              </a:rPr>
              <a:t>Forecasting claim</a:t>
            </a:r>
          </a:p>
        </p:txBody>
      </p:sp>
      <p:sp>
        <p:nvSpPr>
          <p:cNvPr id="7" name="">
            <a:extLst xmlns:a="http://schemas.openxmlformats.org/drawingml/2006/main">
              <a:ext uri="{FF2B5EF4-FFF2-40B4-BE49-F238E27FC236}">
                <a16:creationId xmlns:a16="http://schemas.microsoft.com/office/drawing/2014/main" id="{EBF978FE-46FA-45A6-95F8-7AF9215151BE}"/>
              </a:ext>
            </a:extLst>
          </p:cNvPr>
          <p:cNvSpPr>
            <a:spLocks xmlns:a="http://schemas.openxmlformats.org/drawingml/2006/main" noGrp="1"/>
          </p:cNvSpPr>
          <p:nvPr/>
        </p:nvSpPr>
        <p:spPr>
          <a:xfrm xmlns:a="http://schemas.openxmlformats.org/drawingml/2006/main">
            <a:off x="1000125" y="3286125"/>
            <a:ext cx="1285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17202A"/>
                </a:solidFill>
              </a:defRPr>
            </a:pPr>
            <a:r>
              <a:rPr sz="1575" b="1">
                <a:solidFill>
                  <a:srgbClr val="17202A"/>
                </a:solidFill>
              </a:rPr>
              <a:t>State today</a:t>
            </a:r>
          </a:p>
        </p:txBody>
      </p:sp>
      <p:sp>
        <p:nvSpPr>
          <p:cNvPr id="8" name="">
            <a:extLst xmlns:a="http://schemas.openxmlformats.org/drawingml/2006/main">
              <a:ext uri="{FF2B5EF4-FFF2-40B4-BE49-F238E27FC236}">
                <a16:creationId xmlns:a16="http://schemas.microsoft.com/office/drawing/2014/main" id="{377D1D84-CF11-44CF-9037-18CAB47CA5D5}"/>
              </a:ext>
            </a:extLst>
          </p:cNvPr>
          <p:cNvSpPr>
            <a:spLocks xmlns:a="http://schemas.openxmlformats.org/drawingml/2006/main" noGrp="1"/>
          </p:cNvSpPr>
          <p:nvPr/>
        </p:nvSpPr>
        <p:spPr>
          <a:xfrm xmlns:a="http://schemas.openxmlformats.org/drawingml/2006/main">
            <a:off x="2381250" y="325755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0">
                <a:solidFill>
                  <a:srgbClr val="52606D"/>
                </a:solidFill>
              </a:defRPr>
            </a:pPr>
            <a:r>
              <a:rPr sz="2100" b="0">
                <a:solidFill>
                  <a:srgbClr val="52606D"/>
                </a:solidFill>
              </a:rPr>
              <a:t>→</a:t>
            </a:r>
          </a:p>
        </p:txBody>
      </p:sp>
      <p:sp>
        <p:nvSpPr>
          <p:cNvPr id="9" name="">
            <a:extLst xmlns:a="http://schemas.openxmlformats.org/drawingml/2006/main">
              <a:ext uri="{FF2B5EF4-FFF2-40B4-BE49-F238E27FC236}">
                <a16:creationId xmlns:a16="http://schemas.microsoft.com/office/drawing/2014/main" id="{06083C49-1AC4-4EDA-888F-D2A0BED6CC26}"/>
              </a:ext>
            </a:extLst>
          </p:cNvPr>
          <p:cNvSpPr>
            <a:spLocks xmlns:a="http://schemas.openxmlformats.org/drawingml/2006/main" noGrp="1"/>
          </p:cNvSpPr>
          <p:nvPr/>
        </p:nvSpPr>
        <p:spPr>
          <a:xfrm xmlns:a="http://schemas.openxmlformats.org/drawingml/2006/main">
            <a:off x="3000375" y="3286125"/>
            <a:ext cx="2286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17202A"/>
                </a:solidFill>
              </a:defRPr>
            </a:pPr>
            <a:r>
              <a:rPr sz="1575" b="1">
                <a:solidFill>
                  <a:srgbClr val="17202A"/>
                </a:solidFill>
              </a:rPr>
              <a:t>future path / future state</a:t>
            </a:r>
          </a:p>
        </p:txBody>
      </p:sp>
      <p:sp>
        <p:nvSpPr>
          <p:cNvPr id="10" name="">
            <a:extLst xmlns:a="http://schemas.openxmlformats.org/drawingml/2006/main">
              <a:ext uri="{FF2B5EF4-FFF2-40B4-BE49-F238E27FC236}">
                <a16:creationId xmlns:a16="http://schemas.microsoft.com/office/drawing/2014/main" id="{CF942600-6443-423B-BEE1-611E1B1267FC}"/>
              </a:ext>
            </a:extLst>
          </p:cNvPr>
          <p:cNvSpPr>
            <a:spLocks xmlns:a="http://schemas.openxmlformats.org/drawingml/2006/main" noGrp="1"/>
          </p:cNvSpPr>
          <p:nvPr/>
        </p:nvSpPr>
        <p:spPr>
          <a:xfrm xmlns:a="http://schemas.openxmlformats.org/drawingml/2006/main">
            <a:off x="857250" y="4095750"/>
            <a:ext cx="442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a:solidFill>
                  <a:srgbClr val="52606D"/>
                </a:solidFill>
              </a:defRPr>
            </a:pPr>
            <a:r>
              <a:rPr sz="1350" b="0">
                <a:solidFill>
                  <a:srgbClr val="52606D"/>
                </a:solidFill>
              </a:rPr>
              <a:t>HYP-REG-05.1 failed this specific forward-path claim.</a:t>
            </a:r>
          </a:p>
        </p:txBody>
      </p:sp>
      <p:sp>
        <p:nvSpPr>
          <p:cNvPr id="11" name="">
            <a:extLst xmlns:a="http://schemas.openxmlformats.org/drawingml/2006/main">
              <a:ext uri="{FF2B5EF4-FFF2-40B4-BE49-F238E27FC236}">
                <a16:creationId xmlns:a16="http://schemas.microsoft.com/office/drawing/2014/main" id="{C01A638D-60B7-49E8-A635-47319F75D2EE}"/>
              </a:ext>
            </a:extLst>
          </p:cNvPr>
          <p:cNvSpPr>
            <a:spLocks xmlns:a="http://schemas.openxmlformats.org/drawingml/2006/main" noGrp="1"/>
          </p:cNvSpPr>
          <p:nvPr/>
        </p:nvSpPr>
        <p:spPr>
          <a:xfrm xmlns:a="http://schemas.openxmlformats.org/drawingml/2006/main">
            <a:off x="6572250" y="2190750"/>
            <a:ext cx="5095875" cy="2571750"/>
          </a:xfrm>
          <a:prstGeom xmlns:a="http://schemas.openxmlformats.org/drawingml/2006/main" prst="rect">
            <a:avLst/>
          </a:prstGeom>
          <a:solidFill xmlns:a="http://schemas.openxmlformats.org/drawingml/2006/main">
            <a:srgbClr val="EAF3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F7281C9-1262-4CA9-8E65-A0F00AECDA64}"/>
              </a:ext>
            </a:extLst>
          </p:cNvPr>
          <p:cNvSpPr>
            <a:spLocks xmlns:a="http://schemas.openxmlformats.org/drawingml/2006/main" noGrp="1"/>
          </p:cNvSpPr>
          <p:nvPr/>
        </p:nvSpPr>
        <p:spPr>
          <a:xfrm xmlns:a="http://schemas.openxmlformats.org/drawingml/2006/main">
            <a:off x="6905625" y="2524125"/>
            <a:ext cx="442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3D8DFF"/>
                </a:solidFill>
              </a:defRPr>
            </a:pPr>
            <a:r>
              <a:rPr sz="2100" b="1">
                <a:solidFill>
                  <a:srgbClr val="3D8DFF"/>
                </a:solidFill>
              </a:rPr>
              <a:t>Routing claim</a:t>
            </a:r>
          </a:p>
        </p:txBody>
      </p:sp>
      <p:sp>
        <p:nvSpPr>
          <p:cNvPr id="13" name="">
            <a:extLst xmlns:a="http://schemas.openxmlformats.org/drawingml/2006/main">
              <a:ext uri="{FF2B5EF4-FFF2-40B4-BE49-F238E27FC236}">
                <a16:creationId xmlns:a16="http://schemas.microsoft.com/office/drawing/2014/main" id="{F961207D-E0DF-47EE-A218-6A7B902D8665}"/>
              </a:ext>
            </a:extLst>
          </p:cNvPr>
          <p:cNvSpPr>
            <a:spLocks xmlns:a="http://schemas.openxmlformats.org/drawingml/2006/main" noGrp="1"/>
          </p:cNvSpPr>
          <p:nvPr/>
        </p:nvSpPr>
        <p:spPr>
          <a:xfrm xmlns:a="http://schemas.openxmlformats.org/drawingml/2006/main">
            <a:off x="7000875" y="3286125"/>
            <a:ext cx="1285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17202A"/>
                </a:solidFill>
              </a:defRPr>
            </a:pPr>
            <a:r>
              <a:rPr sz="1575" b="1">
                <a:solidFill>
                  <a:srgbClr val="17202A"/>
                </a:solidFill>
              </a:rPr>
              <a:t>State today</a:t>
            </a:r>
          </a:p>
        </p:txBody>
      </p:sp>
      <p:sp>
        <p:nvSpPr>
          <p:cNvPr id="14" name="">
            <a:extLst xmlns:a="http://schemas.openxmlformats.org/drawingml/2006/main">
              <a:ext uri="{FF2B5EF4-FFF2-40B4-BE49-F238E27FC236}">
                <a16:creationId xmlns:a16="http://schemas.microsoft.com/office/drawing/2014/main" id="{419216C0-ED16-4F40-8010-392451DAFD3A}"/>
              </a:ext>
            </a:extLst>
          </p:cNvPr>
          <p:cNvSpPr>
            <a:spLocks xmlns:a="http://schemas.openxmlformats.org/drawingml/2006/main" noGrp="1"/>
          </p:cNvSpPr>
          <p:nvPr/>
        </p:nvSpPr>
        <p:spPr>
          <a:xfrm xmlns:a="http://schemas.openxmlformats.org/drawingml/2006/main">
            <a:off x="8382000" y="325755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0">
                <a:solidFill>
                  <a:srgbClr val="52606D"/>
                </a:solidFill>
              </a:defRPr>
            </a:pPr>
            <a:r>
              <a:rPr sz="2100" b="0">
                <a:solidFill>
                  <a:srgbClr val="52606D"/>
                </a:solidFill>
              </a:rPr>
              <a:t>→</a:t>
            </a:r>
          </a:p>
        </p:txBody>
      </p:sp>
      <p:sp>
        <p:nvSpPr>
          <p:cNvPr id="15" name="">
            <a:extLst xmlns:a="http://schemas.openxmlformats.org/drawingml/2006/main">
              <a:ext uri="{FF2B5EF4-FFF2-40B4-BE49-F238E27FC236}">
                <a16:creationId xmlns:a16="http://schemas.microsoft.com/office/drawing/2014/main" id="{90196B17-5AF6-44AB-B5E1-8AC77950244A}"/>
              </a:ext>
            </a:extLst>
          </p:cNvPr>
          <p:cNvSpPr>
            <a:spLocks xmlns:a="http://schemas.openxmlformats.org/drawingml/2006/main" noGrp="1"/>
          </p:cNvSpPr>
          <p:nvPr/>
        </p:nvSpPr>
        <p:spPr>
          <a:xfrm xmlns:a="http://schemas.openxmlformats.org/drawingml/2006/main">
            <a:off x="9001125" y="3286125"/>
            <a:ext cx="2143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17202A"/>
                </a:solidFill>
              </a:defRPr>
            </a:pPr>
            <a:r>
              <a:rPr sz="1575" b="1">
                <a:solidFill>
                  <a:srgbClr val="17202A"/>
                </a:solidFill>
              </a:rPr>
              <a:t>better next action</a:t>
            </a:r>
          </a:p>
        </p:txBody>
      </p:sp>
      <p:sp>
        <p:nvSpPr>
          <p:cNvPr id="16" name="">
            <a:extLst xmlns:a="http://schemas.openxmlformats.org/drawingml/2006/main">
              <a:ext uri="{FF2B5EF4-FFF2-40B4-BE49-F238E27FC236}">
                <a16:creationId xmlns:a16="http://schemas.microsoft.com/office/drawing/2014/main" id="{E5EDE67C-C08D-4D75-9D42-DF4EA89E9E60}"/>
              </a:ext>
            </a:extLst>
          </p:cNvPr>
          <p:cNvSpPr>
            <a:spLocks xmlns:a="http://schemas.openxmlformats.org/drawingml/2006/main" noGrp="1"/>
          </p:cNvSpPr>
          <p:nvPr/>
        </p:nvSpPr>
        <p:spPr>
          <a:xfrm xmlns:a="http://schemas.openxmlformats.org/drawingml/2006/main">
            <a:off x="6905625" y="4000500"/>
            <a:ext cx="442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a:solidFill>
                  <a:srgbClr val="52606D"/>
                </a:solidFill>
              </a:defRPr>
            </a:pPr>
            <a:r>
              <a:rPr sz="1350" b="0">
                <a:solidFill>
                  <a:srgbClr val="52606D"/>
                </a:solidFill>
              </a:rPr>
              <a:t>Recalculate after each close; change action next open if the state changes.</a:t>
            </a:r>
          </a:p>
        </p:txBody>
      </p:sp>
      <p:sp>
        <p:nvSpPr>
          <p:cNvPr id="17" name="">
            <a:extLst xmlns:a="http://schemas.openxmlformats.org/drawingml/2006/main">
              <a:ext uri="{FF2B5EF4-FFF2-40B4-BE49-F238E27FC236}">
                <a16:creationId xmlns:a16="http://schemas.microsoft.com/office/drawing/2014/main" id="{6EC15A85-A594-4CB0-8986-B7E511A44DFC}"/>
              </a:ext>
            </a:extLst>
          </p:cNvPr>
          <p:cNvSpPr>
            <a:spLocks xmlns:a="http://schemas.openxmlformats.org/drawingml/2006/main" noGrp="1"/>
          </p:cNvSpPr>
          <p:nvPr/>
        </p:nvSpPr>
        <p:spPr>
          <a:xfrm xmlns:a="http://schemas.openxmlformats.org/drawingml/2006/main">
            <a:off x="1428750" y="5334000"/>
            <a:ext cx="9334500" cy="742950"/>
          </a:xfrm>
          <a:prstGeom xmlns:a="http://schemas.openxmlformats.org/drawingml/2006/main" prst="rect">
            <a:avLst/>
          </a:prstGeom>
          <a:solidFill xmlns:a="http://schemas.openxmlformats.org/drawingml/2006/main">
            <a:srgbClr val="FFF1E3"/>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21A4B40-49E4-4823-961D-F1D00175749C}"/>
              </a:ext>
            </a:extLst>
          </p:cNvPr>
          <p:cNvSpPr>
            <a:spLocks xmlns:a="http://schemas.openxmlformats.org/drawingml/2006/main" noGrp="1"/>
          </p:cNvSpPr>
          <p:nvPr/>
        </p:nvSpPr>
        <p:spPr>
          <a:xfrm xmlns:a="http://schemas.openxmlformats.org/drawingml/2006/main">
            <a:off x="1762125" y="5524500"/>
            <a:ext cx="866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E88B32"/>
                </a:solidFill>
              </a:defRPr>
            </a:pPr>
            <a:r>
              <a:rPr sz="1500" b="1">
                <a:solidFill>
                  <a:srgbClr val="E88B32"/>
                </a:solidFill>
              </a:rPr>
              <a:t>The required evidence changes: judge the state against a named strategy, causal execution delay, costs, exposure, and matched timing controls.</a:t>
            </a:r>
          </a:p>
        </p:txBody>
      </p:sp>
    </p:spTree>
    <p:extLst>
      <p:ext uri="{BB962C8B-B14F-4D97-AF65-F5344CB8AC3E}">
        <p14:creationId xmlns:p14="http://schemas.microsoft.com/office/powerpoint/2010/main" val="24829753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AD03587-AFCC-4F88-BA4F-9DA8CC0E5E05}"/>
              </a:ext>
            </a:extLst>
          </p:cNvPr>
          <p:cNvSpPr>
            <a:spLocks xmlns:a="http://schemas.openxmlformats.org/drawingml/2006/main" noGrp="1"/>
          </p:cNvSpPr>
          <p:nvPr/>
        </p:nvSpPr>
        <p:spPr>
          <a:xfrm xmlns:a="http://schemas.openxmlformats.org/drawingml/2006/main">
            <a:off x="476250" y="2667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FROZEN POLICY MECHANICS</a:t>
            </a:r>
          </a:p>
        </p:txBody>
      </p:sp>
      <p:sp>
        <p:nvSpPr>
          <p:cNvPr id="2" name="">
            <a:extLst xmlns:a="http://schemas.openxmlformats.org/drawingml/2006/main">
              <a:ext uri="{FF2B5EF4-FFF2-40B4-BE49-F238E27FC236}">
                <a16:creationId xmlns:a16="http://schemas.microsoft.com/office/drawing/2014/main" id="{3A032200-E3A6-4FDA-8DDB-0993ECCACD38}"/>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One parent, one primary overlay, one reactive challenger</a:t>
            </a:r>
          </a:p>
        </p:txBody>
      </p:sp>
      <p:sp>
        <p:nvSpPr>
          <p:cNvPr id="3" name="">
            <a:extLst xmlns:a="http://schemas.openxmlformats.org/drawingml/2006/main">
              <a:ext uri="{FF2B5EF4-FFF2-40B4-BE49-F238E27FC236}">
                <a16:creationId xmlns:a16="http://schemas.microsoft.com/office/drawing/2014/main" id="{BC8C8467-E236-4578-9220-90EDBE138DFC}"/>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3</a:t>
            </a:r>
          </a:p>
        </p:txBody>
      </p:sp>
      <p:sp>
        <p:nvSpPr>
          <p:cNvPr id="4" name="">
            <a:extLst xmlns:a="http://schemas.openxmlformats.org/drawingml/2006/main">
              <a:ext uri="{FF2B5EF4-FFF2-40B4-BE49-F238E27FC236}">
                <a16:creationId xmlns:a16="http://schemas.microsoft.com/office/drawing/2014/main" id="{5C94B31F-D481-43E8-AA8F-2A1E87C24E01}"/>
              </a:ext>
            </a:extLst>
          </p:cNvPr>
          <p:cNvSpPr>
            <a:spLocks xmlns:a="http://schemas.openxmlformats.org/drawingml/2006/main" noGrp="1"/>
          </p:cNvSpPr>
          <p:nvPr/>
        </p:nvSpPr>
        <p:spPr>
          <a:xfrm xmlns:a="http://schemas.openxmlformats.org/drawingml/2006/main">
            <a:off x="428625" y="1285875"/>
            <a:ext cx="6858000" cy="4857750"/>
          </a:xfrm>
          <a:prstGeom xmlns:a="http://schemas.openxmlformats.org/drawingml/2006/main" prst="rect">
            <a:avLst/>
          </a:prstGeom>
          <a:solidFill xmlns:a="http://schemas.openxmlformats.org/drawingml/2006/main">
            <a:srgbClr val="FAFAFA"/>
          </a:solidFill>
          <a:ln xmlns:a="http://schemas.openxmlformats.org/drawingml/2006/main" w="9525">
            <a:solidFill>
              <a:srgbClr val="CCD3DA"/>
            </a:solidFill>
            <a:prstDash val="solid"/>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91eb59acb3b54ede"/>
          <a:stretch xmlns:a="http://schemas.openxmlformats.org/drawingml/2006/main"/>
        </p:blipFill>
        <p:spPr>
          <a:xfrm xmlns:a="http://schemas.openxmlformats.org/drawingml/2006/main">
            <a:off x="428625" y="1809750"/>
            <a:ext cx="6858000" cy="3810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F6D2277-3EE0-48DA-8D89-3A4FA4D6B6B2}"/>
              </a:ext>
            </a:extLst>
          </p:cNvPr>
          <p:cNvSpPr>
            <a:spLocks xmlns:a="http://schemas.openxmlformats.org/drawingml/2006/main" noGrp="1"/>
          </p:cNvSpPr>
          <p:nvPr/>
        </p:nvSpPr>
        <p:spPr>
          <a:xfrm xmlns:a="http://schemas.openxmlformats.org/drawingml/2006/main">
            <a:off x="7667625" y="1381125"/>
            <a:ext cx="3905250" cy="1190625"/>
          </a:xfrm>
          <a:prstGeom xmlns:a="http://schemas.openxmlformats.org/drawingml/2006/main" prst="rect">
            <a:avLst/>
          </a:prstGeom>
          <a:solidFill xmlns:a="http://schemas.openxmlformats.org/drawingml/2006/main">
            <a:srgbClr val="F2F4F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C646782-7CC1-4B87-9CDB-D554CC315C87}"/>
              </a:ext>
            </a:extLst>
          </p:cNvPr>
          <p:cNvSpPr>
            <a:spLocks xmlns:a="http://schemas.openxmlformats.org/drawingml/2006/main" noGrp="1"/>
          </p:cNvSpPr>
          <p:nvPr/>
        </p:nvSpPr>
        <p:spPr>
          <a:xfrm xmlns:a="http://schemas.openxmlformats.org/drawingml/2006/main">
            <a:off x="7953375" y="1571625"/>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17324D"/>
                </a:solidFill>
              </a:defRPr>
            </a:pPr>
            <a:r>
              <a:rPr sz="1575" b="1">
                <a:solidFill>
                  <a:srgbClr val="17324D"/>
                </a:solidFill>
              </a:rPr>
              <a:t>UNFILTERED</a:t>
            </a:r>
          </a:p>
        </p:txBody>
      </p:sp>
      <p:sp>
        <p:nvSpPr>
          <p:cNvPr id="8" name="">
            <a:extLst xmlns:a="http://schemas.openxmlformats.org/drawingml/2006/main">
              <a:ext uri="{FF2B5EF4-FFF2-40B4-BE49-F238E27FC236}">
                <a16:creationId xmlns:a16="http://schemas.microsoft.com/office/drawing/2014/main" id="{D75CFDDA-B605-4E07-86D0-55385C776E0D}"/>
              </a:ext>
            </a:extLst>
          </p:cNvPr>
          <p:cNvSpPr>
            <a:spLocks xmlns:a="http://schemas.openxmlformats.org/drawingml/2006/main" noGrp="1"/>
          </p:cNvSpPr>
          <p:nvPr/>
        </p:nvSpPr>
        <p:spPr>
          <a:xfrm xmlns:a="http://schemas.openxmlformats.org/drawingml/2006/main">
            <a:off x="7953375" y="1952625"/>
            <a:ext cx="333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Fresh SMA8&gt;SMA14 cross: enter next open. Fresh cross-down: exit next open.</a:t>
            </a:r>
          </a:p>
        </p:txBody>
      </p:sp>
      <p:sp>
        <p:nvSpPr>
          <p:cNvPr id="9" name="">
            <a:extLst xmlns:a="http://schemas.openxmlformats.org/drawingml/2006/main">
              <a:ext uri="{FF2B5EF4-FFF2-40B4-BE49-F238E27FC236}">
                <a16:creationId xmlns:a16="http://schemas.microsoft.com/office/drawing/2014/main" id="{82356058-4FF9-42E6-B837-ACB0A56ABBE0}"/>
              </a:ext>
            </a:extLst>
          </p:cNvPr>
          <p:cNvSpPr>
            <a:spLocks xmlns:a="http://schemas.openxmlformats.org/drawingml/2006/main" noGrp="1"/>
          </p:cNvSpPr>
          <p:nvPr/>
        </p:nvSpPr>
        <p:spPr>
          <a:xfrm xmlns:a="http://schemas.openxmlformats.org/drawingml/2006/main">
            <a:off x="7667625" y="2809875"/>
            <a:ext cx="3905250" cy="1190625"/>
          </a:xfrm>
          <a:prstGeom xmlns:a="http://schemas.openxmlformats.org/drawingml/2006/main" prst="rect">
            <a:avLst/>
          </a:prstGeom>
          <a:solidFill xmlns:a="http://schemas.openxmlformats.org/drawingml/2006/main">
            <a:srgbClr val="EAF3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FDFFCAD-6BDA-4727-8BA8-A5FCC77BEF59}"/>
              </a:ext>
            </a:extLst>
          </p:cNvPr>
          <p:cNvSpPr>
            <a:spLocks xmlns:a="http://schemas.openxmlformats.org/drawingml/2006/main" noGrp="1"/>
          </p:cNvSpPr>
          <p:nvPr/>
        </p:nvSpPr>
        <p:spPr>
          <a:xfrm xmlns:a="http://schemas.openxmlformats.org/drawingml/2006/main">
            <a:off x="7953375" y="3000375"/>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3D8DFF"/>
                </a:solidFill>
              </a:defRPr>
            </a:pPr>
            <a:r>
              <a:rPr sz="1575" b="1">
                <a:solidFill>
                  <a:srgbClr val="3D8DFF"/>
                </a:solidFill>
              </a:rPr>
              <a:t>ENTRY HIGH ONLY</a:t>
            </a:r>
          </a:p>
        </p:txBody>
      </p:sp>
      <p:sp>
        <p:nvSpPr>
          <p:cNvPr id="11" name="">
            <a:extLst xmlns:a="http://schemas.openxmlformats.org/drawingml/2006/main">
              <a:ext uri="{FF2B5EF4-FFF2-40B4-BE49-F238E27FC236}">
                <a16:creationId xmlns:a16="http://schemas.microsoft.com/office/drawing/2014/main" id="{3F093B75-081A-4491-B15B-953DEF039E9A}"/>
              </a:ext>
            </a:extLst>
          </p:cNvPr>
          <p:cNvSpPr>
            <a:spLocks xmlns:a="http://schemas.openxmlformats.org/drawingml/2006/main" noGrp="1"/>
          </p:cNvSpPr>
          <p:nvPr/>
        </p:nvSpPr>
        <p:spPr>
          <a:xfrm xmlns:a="http://schemas.openxmlformats.org/drawingml/2006/main">
            <a:off x="7953375" y="3381375"/>
            <a:ext cx="333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Admit only a fresh cross-up whose signal-close ADX state is HIGH. Keep the parent exit.</a:t>
            </a:r>
          </a:p>
        </p:txBody>
      </p:sp>
      <p:sp>
        <p:nvSpPr>
          <p:cNvPr id="12" name="">
            <a:extLst xmlns:a="http://schemas.openxmlformats.org/drawingml/2006/main">
              <a:ext uri="{FF2B5EF4-FFF2-40B4-BE49-F238E27FC236}">
                <a16:creationId xmlns:a16="http://schemas.microsoft.com/office/drawing/2014/main" id="{7BB20A41-5951-4E79-B60D-5D31E2A0456F}"/>
              </a:ext>
            </a:extLst>
          </p:cNvPr>
          <p:cNvSpPr>
            <a:spLocks xmlns:a="http://schemas.openxmlformats.org/drawingml/2006/main" noGrp="1"/>
          </p:cNvSpPr>
          <p:nvPr/>
        </p:nvSpPr>
        <p:spPr>
          <a:xfrm xmlns:a="http://schemas.openxmlformats.org/drawingml/2006/main">
            <a:off x="7667625" y="4238625"/>
            <a:ext cx="3905250" cy="1381125"/>
          </a:xfrm>
          <a:prstGeom xmlns:a="http://schemas.openxmlformats.org/drawingml/2006/main" prst="rect">
            <a:avLst/>
          </a:prstGeom>
          <a:solidFill xmlns:a="http://schemas.openxmlformats.org/drawingml/2006/main">
            <a:srgbClr val="FFF1E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BDFE96C-C9A9-47CA-9094-7B8FD197E2CF}"/>
              </a:ext>
            </a:extLst>
          </p:cNvPr>
          <p:cNvSpPr>
            <a:spLocks xmlns:a="http://schemas.openxmlformats.org/drawingml/2006/main" noGrp="1"/>
          </p:cNvSpPr>
          <p:nvPr/>
        </p:nvSpPr>
        <p:spPr>
          <a:xfrm xmlns:a="http://schemas.openxmlformats.org/drawingml/2006/main">
            <a:off x="7953375" y="4429125"/>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E88B32"/>
                </a:solidFill>
              </a:defRPr>
            </a:pPr>
            <a:r>
              <a:rPr sz="1575" b="1">
                <a:solidFill>
                  <a:srgbClr val="E88B32"/>
                </a:solidFill>
              </a:rPr>
              <a:t>REACTIVE HIGH ONLY</a:t>
            </a:r>
          </a:p>
        </p:txBody>
      </p:sp>
      <p:sp>
        <p:nvSpPr>
          <p:cNvPr id="14" name="">
            <a:extLst xmlns:a="http://schemas.openxmlformats.org/drawingml/2006/main">
              <a:ext uri="{FF2B5EF4-FFF2-40B4-BE49-F238E27FC236}">
                <a16:creationId xmlns:a16="http://schemas.microsoft.com/office/drawing/2014/main" id="{9F2E9E8E-7A63-4ADE-8EDA-DC143AB08068}"/>
              </a:ext>
            </a:extLst>
          </p:cNvPr>
          <p:cNvSpPr>
            <a:spLocks xmlns:a="http://schemas.openxmlformats.org/drawingml/2006/main" noGrp="1"/>
          </p:cNvSpPr>
          <p:nvPr/>
        </p:nvSpPr>
        <p:spPr>
          <a:xfrm xmlns:a="http://schemas.openxmlformats.org/drawingml/2006/main">
            <a:off x="7953375" y="4810125"/>
            <a:ext cx="333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Same entry. Also exit next open when ADX leaves HIGH; require a new parent cross-up before re-entry.</a:t>
            </a:r>
          </a:p>
        </p:txBody>
      </p:sp>
      <p:sp>
        <p:nvSpPr>
          <p:cNvPr id="15" name="">
            <a:extLst xmlns:a="http://schemas.openxmlformats.org/drawingml/2006/main">
              <a:ext uri="{FF2B5EF4-FFF2-40B4-BE49-F238E27FC236}">
                <a16:creationId xmlns:a16="http://schemas.microsoft.com/office/drawing/2014/main" id="{76FA4688-C6AD-4ACE-A4D6-C7D2E2B388F6}"/>
              </a:ext>
            </a:extLst>
          </p:cNvPr>
          <p:cNvSpPr>
            <a:spLocks xmlns:a="http://schemas.openxmlformats.org/drawingml/2006/main" noGrp="1"/>
          </p:cNvSpPr>
          <p:nvPr/>
        </p:nvSpPr>
        <p:spPr>
          <a:xfrm xmlns:a="http://schemas.openxmlformats.org/drawingml/2006/main">
            <a:off x="7762875" y="5857875"/>
            <a:ext cx="3714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6C63A8"/>
                </a:solidFill>
              </a:defRPr>
            </a:pPr>
            <a:r>
              <a:rPr sz="1275" b="1">
                <a:solidFill>
                  <a:srgbClr val="6C63A8"/>
                </a:solidFill>
              </a:rPr>
              <a:t>ADX(14) measures trend strength, not direction.</a:t>
            </a:r>
          </a:p>
        </p:txBody>
      </p:sp>
    </p:spTree>
    <p:extLst>
      <p:ext uri="{BB962C8B-B14F-4D97-AF65-F5344CB8AC3E}">
        <p14:creationId xmlns:p14="http://schemas.microsoft.com/office/powerpoint/2010/main" val="129750948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DB79B5A-9183-4A8C-A654-D9B44586158E}"/>
              </a:ext>
            </a:extLst>
          </p:cNvPr>
          <p:cNvSpPr>
            <a:spLocks xmlns:a="http://schemas.openxmlformats.org/drawingml/2006/main" noGrp="1"/>
          </p:cNvSpPr>
          <p:nvPr/>
        </p:nvSpPr>
        <p:spPr>
          <a:xfrm xmlns:a="http://schemas.openxmlformats.org/drawingml/2006/main">
            <a:off x="476250" y="2667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INTEGRITY BEFORE PERFORMANCE</a:t>
            </a:r>
          </a:p>
        </p:txBody>
      </p:sp>
      <p:sp>
        <p:nvSpPr>
          <p:cNvPr id="2" name="">
            <a:extLst xmlns:a="http://schemas.openxmlformats.org/drawingml/2006/main">
              <a:ext uri="{FF2B5EF4-FFF2-40B4-BE49-F238E27FC236}">
                <a16:creationId xmlns:a16="http://schemas.microsoft.com/office/drawing/2014/main" id="{9A5C6B1F-E172-4ED1-98E1-9C0F562EF6B8}"/>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The causal join and exact parent reproduction passed</a:t>
            </a:r>
          </a:p>
        </p:txBody>
      </p:sp>
      <p:sp>
        <p:nvSpPr>
          <p:cNvPr id="3" name="">
            <a:extLst xmlns:a="http://schemas.openxmlformats.org/drawingml/2006/main">
              <a:ext uri="{FF2B5EF4-FFF2-40B4-BE49-F238E27FC236}">
                <a16:creationId xmlns:a16="http://schemas.microsoft.com/office/drawing/2014/main" id="{7534B364-3AA7-40F3-B3FC-C50A3BB5C8C9}"/>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4</a:t>
            </a:r>
          </a:p>
        </p:txBody>
      </p:sp>
      <p:sp>
        <p:nvSpPr>
          <p:cNvPr id="4" name="">
            <a:extLst xmlns:a="http://schemas.openxmlformats.org/drawingml/2006/main">
              <a:ext uri="{FF2B5EF4-FFF2-40B4-BE49-F238E27FC236}">
                <a16:creationId xmlns:a16="http://schemas.microsoft.com/office/drawing/2014/main" id="{D7352E35-7EE0-4B64-B2FE-37CA16330FA9}"/>
              </a:ext>
            </a:extLst>
          </p:cNvPr>
          <p:cNvSpPr>
            <a:spLocks xmlns:a="http://schemas.openxmlformats.org/drawingml/2006/main" noGrp="1"/>
          </p:cNvSpPr>
          <p:nvPr/>
        </p:nvSpPr>
        <p:spPr>
          <a:xfrm xmlns:a="http://schemas.openxmlformats.org/drawingml/2006/main">
            <a:off x="523875" y="1476375"/>
            <a:ext cx="2571750" cy="1066800"/>
          </a:xfrm>
          <a:prstGeom xmlns:a="http://schemas.openxmlformats.org/drawingml/2006/main" prst="rect">
            <a:avLst/>
          </a:prstGeom>
          <a:solidFill xmlns:a="http://schemas.openxmlformats.org/drawingml/2006/main">
            <a:srgbClr val="E8F4E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0A0C7D9-30A7-428C-979D-35E5DCF3B8FF}"/>
              </a:ext>
            </a:extLst>
          </p:cNvPr>
          <p:cNvSpPr>
            <a:spLocks xmlns:a="http://schemas.openxmlformats.org/drawingml/2006/main" noGrp="1"/>
          </p:cNvSpPr>
          <p:nvPr/>
        </p:nvSpPr>
        <p:spPr>
          <a:xfrm xmlns:a="http://schemas.openxmlformats.org/drawingml/2006/main">
            <a:off x="752475" y="161925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E8B57"/>
                </a:solidFill>
              </a:defRPr>
            </a:pPr>
            <a:r>
              <a:rPr sz="2325" b="1">
                <a:solidFill>
                  <a:srgbClr val="2E8B57"/>
                </a:solidFill>
              </a:rPr>
              <a:t>26 / 26</a:t>
            </a:r>
          </a:p>
        </p:txBody>
      </p:sp>
      <p:sp>
        <p:nvSpPr>
          <p:cNvPr id="6" name="">
            <a:extLst xmlns:a="http://schemas.openxmlformats.org/drawingml/2006/main">
              <a:ext uri="{FF2B5EF4-FFF2-40B4-BE49-F238E27FC236}">
                <a16:creationId xmlns:a16="http://schemas.microsoft.com/office/drawing/2014/main" id="{17B8B8C8-5CE8-4619-9B50-1611159B602C}"/>
              </a:ext>
            </a:extLst>
          </p:cNvPr>
          <p:cNvSpPr>
            <a:spLocks xmlns:a="http://schemas.openxmlformats.org/drawingml/2006/main" noGrp="1"/>
          </p:cNvSpPr>
          <p:nvPr/>
        </p:nvSpPr>
        <p:spPr>
          <a:xfrm xmlns:a="http://schemas.openxmlformats.org/drawingml/2006/main">
            <a:off x="752475" y="2095500"/>
            <a:ext cx="2114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complete state/strategy coverage</a:t>
            </a:r>
          </a:p>
        </p:txBody>
      </p:sp>
      <p:sp>
        <p:nvSpPr>
          <p:cNvPr id="7" name="">
            <a:extLst xmlns:a="http://schemas.openxmlformats.org/drawingml/2006/main">
              <a:ext uri="{FF2B5EF4-FFF2-40B4-BE49-F238E27FC236}">
                <a16:creationId xmlns:a16="http://schemas.microsoft.com/office/drawing/2014/main" id="{62DED36B-C85F-4C15-903B-DD1BE187DD02}"/>
              </a:ext>
            </a:extLst>
          </p:cNvPr>
          <p:cNvSpPr>
            <a:spLocks xmlns:a="http://schemas.openxmlformats.org/drawingml/2006/main" noGrp="1"/>
          </p:cNvSpPr>
          <p:nvPr/>
        </p:nvSpPr>
        <p:spPr>
          <a:xfrm xmlns:a="http://schemas.openxmlformats.org/drawingml/2006/main">
            <a:off x="3286125" y="1476375"/>
            <a:ext cx="2571750" cy="1066800"/>
          </a:xfrm>
          <a:prstGeom xmlns:a="http://schemas.openxmlformats.org/drawingml/2006/main" prst="rect">
            <a:avLst/>
          </a:prstGeom>
          <a:solidFill xmlns:a="http://schemas.openxmlformats.org/drawingml/2006/main">
            <a:srgbClr val="E8F4E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5A97EE5-A19F-4560-B91B-E7E334418DD9}"/>
              </a:ext>
            </a:extLst>
          </p:cNvPr>
          <p:cNvSpPr>
            <a:spLocks xmlns:a="http://schemas.openxmlformats.org/drawingml/2006/main" noGrp="1"/>
          </p:cNvSpPr>
          <p:nvPr/>
        </p:nvSpPr>
        <p:spPr>
          <a:xfrm xmlns:a="http://schemas.openxmlformats.org/drawingml/2006/main">
            <a:off x="3514725" y="161925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E8B57"/>
                </a:solidFill>
              </a:defRPr>
            </a:pPr>
            <a:r>
              <a:rPr sz="2325" b="1">
                <a:solidFill>
                  <a:srgbClr val="2E8B57"/>
                </a:solidFill>
              </a:rPr>
              <a:t>24</a:t>
            </a:r>
          </a:p>
        </p:txBody>
      </p:sp>
      <p:sp>
        <p:nvSpPr>
          <p:cNvPr id="9" name="">
            <a:extLst xmlns:a="http://schemas.openxmlformats.org/drawingml/2006/main">
              <a:ext uri="{FF2B5EF4-FFF2-40B4-BE49-F238E27FC236}">
                <a16:creationId xmlns:a16="http://schemas.microsoft.com/office/drawing/2014/main" id="{B4B87352-1E56-4258-9413-4AFCD16AC7DF}"/>
              </a:ext>
            </a:extLst>
          </p:cNvPr>
          <p:cNvSpPr>
            <a:spLocks xmlns:a="http://schemas.openxmlformats.org/drawingml/2006/main" noGrp="1"/>
          </p:cNvSpPr>
          <p:nvPr/>
        </p:nvSpPr>
        <p:spPr>
          <a:xfrm xmlns:a="http://schemas.openxmlformats.org/drawingml/2006/main">
            <a:off x="3514725" y="2095500"/>
            <a:ext cx="2114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stocks in the decision panel</a:t>
            </a:r>
          </a:p>
        </p:txBody>
      </p:sp>
      <p:sp>
        <p:nvSpPr>
          <p:cNvPr id="10" name="">
            <a:extLst xmlns:a="http://schemas.openxmlformats.org/drawingml/2006/main">
              <a:ext uri="{FF2B5EF4-FFF2-40B4-BE49-F238E27FC236}">
                <a16:creationId xmlns:a16="http://schemas.microsoft.com/office/drawing/2014/main" id="{E0B4A2FF-6259-4C64-8E09-115DF9B8EB2B}"/>
              </a:ext>
            </a:extLst>
          </p:cNvPr>
          <p:cNvSpPr>
            <a:spLocks xmlns:a="http://schemas.openxmlformats.org/drawingml/2006/main" noGrp="1"/>
          </p:cNvSpPr>
          <p:nvPr/>
        </p:nvSpPr>
        <p:spPr>
          <a:xfrm xmlns:a="http://schemas.openxmlformats.org/drawingml/2006/main">
            <a:off x="6048375" y="1476375"/>
            <a:ext cx="2571750" cy="1066800"/>
          </a:xfrm>
          <a:prstGeom xmlns:a="http://schemas.openxmlformats.org/drawingml/2006/main" prst="rect">
            <a:avLst/>
          </a:prstGeom>
          <a:solidFill xmlns:a="http://schemas.openxmlformats.org/drawingml/2006/main">
            <a:srgbClr val="E8F4E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9446EB2-4286-4E2C-9A5A-669939016FB9}"/>
              </a:ext>
            </a:extLst>
          </p:cNvPr>
          <p:cNvSpPr>
            <a:spLocks xmlns:a="http://schemas.openxmlformats.org/drawingml/2006/main" noGrp="1"/>
          </p:cNvSpPr>
          <p:nvPr/>
        </p:nvSpPr>
        <p:spPr>
          <a:xfrm xmlns:a="http://schemas.openxmlformats.org/drawingml/2006/main">
            <a:off x="6276975" y="161925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E8B57"/>
                </a:solidFill>
              </a:defRPr>
            </a:pPr>
            <a:r>
              <a:rPr sz="2325" b="1">
                <a:solidFill>
                  <a:srgbClr val="2E8B57"/>
                </a:solidFill>
              </a:rPr>
              <a:t>156 / 156</a:t>
            </a:r>
          </a:p>
        </p:txBody>
      </p:sp>
      <p:sp>
        <p:nvSpPr>
          <p:cNvPr id="12" name="">
            <a:extLst xmlns:a="http://schemas.openxmlformats.org/drawingml/2006/main">
              <a:ext uri="{FF2B5EF4-FFF2-40B4-BE49-F238E27FC236}">
                <a16:creationId xmlns:a16="http://schemas.microsoft.com/office/drawing/2014/main" id="{FD28AF80-1C2E-4F4D-84BE-597F8438117A}"/>
              </a:ext>
            </a:extLst>
          </p:cNvPr>
          <p:cNvSpPr>
            <a:spLocks xmlns:a="http://schemas.openxmlformats.org/drawingml/2006/main" noGrp="1"/>
          </p:cNvSpPr>
          <p:nvPr/>
        </p:nvSpPr>
        <p:spPr>
          <a:xfrm xmlns:a="http://schemas.openxmlformats.org/drawingml/2006/main">
            <a:off x="6276975" y="2095500"/>
            <a:ext cx="2114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parent asset-year cells reproduced</a:t>
            </a:r>
          </a:p>
        </p:txBody>
      </p:sp>
      <p:sp>
        <p:nvSpPr>
          <p:cNvPr id="13" name="">
            <a:extLst xmlns:a="http://schemas.openxmlformats.org/drawingml/2006/main">
              <a:ext uri="{FF2B5EF4-FFF2-40B4-BE49-F238E27FC236}">
                <a16:creationId xmlns:a16="http://schemas.microsoft.com/office/drawing/2014/main" id="{64B362E5-937A-4031-AC39-3BAE9E49BC66}"/>
              </a:ext>
            </a:extLst>
          </p:cNvPr>
          <p:cNvSpPr>
            <a:spLocks xmlns:a="http://schemas.openxmlformats.org/drawingml/2006/main" noGrp="1"/>
          </p:cNvSpPr>
          <p:nvPr/>
        </p:nvSpPr>
        <p:spPr>
          <a:xfrm xmlns:a="http://schemas.openxmlformats.org/drawingml/2006/main">
            <a:off x="8810625" y="1476375"/>
            <a:ext cx="2571750" cy="1066800"/>
          </a:xfrm>
          <a:prstGeom xmlns:a="http://schemas.openxmlformats.org/drawingml/2006/main" prst="rect">
            <a:avLst/>
          </a:prstGeom>
          <a:solidFill xmlns:a="http://schemas.openxmlformats.org/drawingml/2006/main">
            <a:srgbClr val="E8F4E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BAD9E1C-2269-48E9-AF8F-4BE45814FB4B}"/>
              </a:ext>
            </a:extLst>
          </p:cNvPr>
          <p:cNvSpPr>
            <a:spLocks xmlns:a="http://schemas.openxmlformats.org/drawingml/2006/main" noGrp="1"/>
          </p:cNvSpPr>
          <p:nvPr/>
        </p:nvSpPr>
        <p:spPr>
          <a:xfrm xmlns:a="http://schemas.openxmlformats.org/drawingml/2006/main">
            <a:off x="9039225" y="161925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E8B57"/>
                </a:solidFill>
              </a:defRPr>
            </a:pPr>
            <a:r>
              <a:rPr sz="2325" b="1">
                <a:solidFill>
                  <a:srgbClr val="2E8B57"/>
                </a:solidFill>
              </a:rPr>
              <a:t>4.44e−15</a:t>
            </a:r>
          </a:p>
        </p:txBody>
      </p:sp>
      <p:sp>
        <p:nvSpPr>
          <p:cNvPr id="15" name="">
            <a:extLst xmlns:a="http://schemas.openxmlformats.org/drawingml/2006/main">
              <a:ext uri="{FF2B5EF4-FFF2-40B4-BE49-F238E27FC236}">
                <a16:creationId xmlns:a16="http://schemas.microsoft.com/office/drawing/2014/main" id="{165CF2A6-CC47-41F7-84C3-CDD2370B156C}"/>
              </a:ext>
            </a:extLst>
          </p:cNvPr>
          <p:cNvSpPr>
            <a:spLocks xmlns:a="http://schemas.openxmlformats.org/drawingml/2006/main" noGrp="1"/>
          </p:cNvSpPr>
          <p:nvPr/>
        </p:nvSpPr>
        <p:spPr>
          <a:xfrm xmlns:a="http://schemas.openxmlformats.org/drawingml/2006/main">
            <a:off x="9039225" y="2095500"/>
            <a:ext cx="2114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maximum return difference</a:t>
            </a:r>
          </a:p>
        </p:txBody>
      </p:sp>
      <p:sp>
        <p:nvSpPr>
          <p:cNvPr id="16" name="">
            <a:extLst xmlns:a="http://schemas.openxmlformats.org/drawingml/2006/main">
              <a:ext uri="{FF2B5EF4-FFF2-40B4-BE49-F238E27FC236}">
                <a16:creationId xmlns:a16="http://schemas.microsoft.com/office/drawing/2014/main" id="{562E5BDB-612E-4BA1-A7FA-1EAF73978B2B}"/>
              </a:ext>
            </a:extLst>
          </p:cNvPr>
          <p:cNvSpPr>
            <a:spLocks xmlns:a="http://schemas.openxmlformats.org/drawingml/2006/main" noGrp="1"/>
          </p:cNvSpPr>
          <p:nvPr/>
        </p:nvSpPr>
        <p:spPr>
          <a:xfrm xmlns:a="http://schemas.openxmlformats.org/drawingml/2006/main">
            <a:off x="523875" y="3143250"/>
            <a:ext cx="5334000" cy="2095500"/>
          </a:xfrm>
          <a:prstGeom xmlns:a="http://schemas.openxmlformats.org/drawingml/2006/main" prst="rect">
            <a:avLst/>
          </a:prstGeom>
          <a:solidFill xmlns:a="http://schemas.openxmlformats.org/drawingml/2006/main">
            <a:srgbClr val="F2F4F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A3B8280-E6E9-490C-A293-DD31B8495706}"/>
              </a:ext>
            </a:extLst>
          </p:cNvPr>
          <p:cNvSpPr>
            <a:spLocks xmlns:a="http://schemas.openxmlformats.org/drawingml/2006/main" noGrp="1"/>
          </p:cNvSpPr>
          <p:nvPr/>
        </p:nvSpPr>
        <p:spPr>
          <a:xfrm xmlns:a="http://schemas.openxmlformats.org/drawingml/2006/main">
            <a:off x="809625" y="34290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17324D"/>
                </a:solidFill>
              </a:defRPr>
            </a:pPr>
            <a:r>
              <a:rPr sz="1875" b="1">
                <a:solidFill>
                  <a:srgbClr val="17324D"/>
                </a:solidFill>
              </a:rPr>
              <a:t>Causal timing</a:t>
            </a:r>
          </a:p>
        </p:txBody>
      </p:sp>
      <p:sp>
        <p:nvSpPr>
          <p:cNvPr id="18" name="">
            <a:extLst xmlns:a="http://schemas.openxmlformats.org/drawingml/2006/main">
              <a:ext uri="{FF2B5EF4-FFF2-40B4-BE49-F238E27FC236}">
                <a16:creationId xmlns:a16="http://schemas.microsoft.com/office/drawing/2014/main" id="{5DE30DAC-38EA-4CA8-B710-A7692DF0F495}"/>
              </a:ext>
            </a:extLst>
          </p:cNvPr>
          <p:cNvSpPr>
            <a:spLocks xmlns:a="http://schemas.openxmlformats.org/drawingml/2006/main" noGrp="1"/>
          </p:cNvSpPr>
          <p:nvPr/>
        </p:nvSpPr>
        <p:spPr>
          <a:xfrm xmlns:a="http://schemas.openxmlformats.org/drawingml/2006/main">
            <a:off x="857250" y="4076700"/>
            <a:ext cx="95250" cy="952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E48E15F-5706-4AAF-B891-470E8B3E8934}"/>
              </a:ext>
            </a:extLst>
          </p:cNvPr>
          <p:cNvSpPr>
            <a:spLocks xmlns:a="http://schemas.openxmlformats.org/drawingml/2006/main" noGrp="1"/>
          </p:cNvSpPr>
          <p:nvPr/>
        </p:nvSpPr>
        <p:spPr>
          <a:xfrm xmlns:a="http://schemas.openxmlformats.org/drawingml/2006/main">
            <a:off x="1076325" y="4000500"/>
            <a:ext cx="45434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2606D"/>
                </a:solidFill>
              </a:defRPr>
            </a:pPr>
            <a:r>
              <a:rPr sz="1350" b="0">
                <a:solidFill>
                  <a:srgbClr val="52606D"/>
                </a:solidFill>
              </a:rPr>
              <a:t>State and SMA signal known after close t</a:t>
            </a:r>
          </a:p>
        </p:txBody>
      </p:sp>
      <p:sp>
        <p:nvSpPr>
          <p:cNvPr id="20" name="">
            <a:extLst xmlns:a="http://schemas.openxmlformats.org/drawingml/2006/main">
              <a:ext uri="{FF2B5EF4-FFF2-40B4-BE49-F238E27FC236}">
                <a16:creationId xmlns:a16="http://schemas.microsoft.com/office/drawing/2014/main" id="{1F7A068F-7FD4-4B4A-9F4E-9972AF91E63D}"/>
              </a:ext>
            </a:extLst>
          </p:cNvPr>
          <p:cNvSpPr>
            <a:spLocks xmlns:a="http://schemas.openxmlformats.org/drawingml/2006/main" noGrp="1"/>
          </p:cNvSpPr>
          <p:nvPr/>
        </p:nvSpPr>
        <p:spPr>
          <a:xfrm xmlns:a="http://schemas.openxmlformats.org/drawingml/2006/main">
            <a:off x="857250" y="4505325"/>
            <a:ext cx="95250" cy="952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8CB7083-A1B8-4EFC-BD05-CA4F7617CD54}"/>
              </a:ext>
            </a:extLst>
          </p:cNvPr>
          <p:cNvSpPr>
            <a:spLocks xmlns:a="http://schemas.openxmlformats.org/drawingml/2006/main" noGrp="1"/>
          </p:cNvSpPr>
          <p:nvPr/>
        </p:nvSpPr>
        <p:spPr>
          <a:xfrm xmlns:a="http://schemas.openxmlformats.org/drawingml/2006/main">
            <a:off x="1076325" y="4429125"/>
            <a:ext cx="45434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2606D"/>
                </a:solidFill>
              </a:defRPr>
            </a:pPr>
            <a:r>
              <a:rPr sz="1350" b="0">
                <a:solidFill>
                  <a:srgbClr val="52606D"/>
                </a:solidFill>
              </a:rPr>
              <a:t>Any policy change executes at open t+1</a:t>
            </a:r>
          </a:p>
        </p:txBody>
      </p:sp>
      <p:sp>
        <p:nvSpPr>
          <p:cNvPr id="22" name="">
            <a:extLst xmlns:a="http://schemas.openxmlformats.org/drawingml/2006/main">
              <a:ext uri="{FF2B5EF4-FFF2-40B4-BE49-F238E27FC236}">
                <a16:creationId xmlns:a16="http://schemas.microsoft.com/office/drawing/2014/main" id="{7FFEB493-FA5F-4EB6-B11F-81DA40E01B7E}"/>
              </a:ext>
            </a:extLst>
          </p:cNvPr>
          <p:cNvSpPr>
            <a:spLocks xmlns:a="http://schemas.openxmlformats.org/drawingml/2006/main" noGrp="1"/>
          </p:cNvSpPr>
          <p:nvPr/>
        </p:nvSpPr>
        <p:spPr>
          <a:xfrm xmlns:a="http://schemas.openxmlformats.org/drawingml/2006/main">
            <a:off x="857250" y="4933950"/>
            <a:ext cx="95250" cy="952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10F128D9-72CB-4E90-BED2-3D54D277D50F}"/>
              </a:ext>
            </a:extLst>
          </p:cNvPr>
          <p:cNvSpPr>
            <a:spLocks xmlns:a="http://schemas.openxmlformats.org/drawingml/2006/main" noGrp="1"/>
          </p:cNvSpPr>
          <p:nvPr/>
        </p:nvSpPr>
        <p:spPr>
          <a:xfrm xmlns:a="http://schemas.openxmlformats.org/drawingml/2006/main">
            <a:off x="1076325" y="4857750"/>
            <a:ext cx="45434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2606D"/>
                </a:solidFill>
              </a:defRPr>
            </a:pPr>
            <a:r>
              <a:rPr sz="1350" b="0">
                <a:solidFill>
                  <a:srgbClr val="52606D"/>
                </a:solidFill>
              </a:rPr>
              <a:t>Every year begins in cash; fresh in-year cross required</a:t>
            </a:r>
          </a:p>
        </p:txBody>
      </p:sp>
      <p:sp>
        <p:nvSpPr>
          <p:cNvPr id="24" name="">
            <a:extLst xmlns:a="http://schemas.openxmlformats.org/drawingml/2006/main">
              <a:ext uri="{FF2B5EF4-FFF2-40B4-BE49-F238E27FC236}">
                <a16:creationId xmlns:a16="http://schemas.microsoft.com/office/drawing/2014/main" id="{9997A4AE-85D5-47C7-AD55-C13E5AACE9D0}"/>
              </a:ext>
            </a:extLst>
          </p:cNvPr>
          <p:cNvSpPr>
            <a:spLocks xmlns:a="http://schemas.openxmlformats.org/drawingml/2006/main" noGrp="1"/>
          </p:cNvSpPr>
          <p:nvPr/>
        </p:nvSpPr>
        <p:spPr>
          <a:xfrm xmlns:a="http://schemas.openxmlformats.org/drawingml/2006/main">
            <a:off x="6334125" y="3143250"/>
            <a:ext cx="5334000" cy="2095500"/>
          </a:xfrm>
          <a:prstGeom xmlns:a="http://schemas.openxmlformats.org/drawingml/2006/main" prst="rect">
            <a:avLst/>
          </a:prstGeom>
          <a:solidFill xmlns:a="http://schemas.openxmlformats.org/drawingml/2006/main">
            <a:srgbClr val="F2F4F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E0346270-EE41-478D-B438-185996244C1F}"/>
              </a:ext>
            </a:extLst>
          </p:cNvPr>
          <p:cNvSpPr>
            <a:spLocks xmlns:a="http://schemas.openxmlformats.org/drawingml/2006/main" noGrp="1"/>
          </p:cNvSpPr>
          <p:nvPr/>
        </p:nvSpPr>
        <p:spPr>
          <a:xfrm xmlns:a="http://schemas.openxmlformats.org/drawingml/2006/main">
            <a:off x="6619875" y="34290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17324D"/>
                </a:solidFill>
              </a:defRPr>
            </a:pPr>
            <a:r>
              <a:rPr sz="1875" b="1">
                <a:solidFill>
                  <a:srgbClr val="17324D"/>
                </a:solidFill>
              </a:rPr>
              <a:t>Preserved boundaries</a:t>
            </a:r>
          </a:p>
        </p:txBody>
      </p:sp>
      <p:sp>
        <p:nvSpPr>
          <p:cNvPr id="26" name="">
            <a:extLst xmlns:a="http://schemas.openxmlformats.org/drawingml/2006/main">
              <a:ext uri="{FF2B5EF4-FFF2-40B4-BE49-F238E27FC236}">
                <a16:creationId xmlns:a16="http://schemas.microsoft.com/office/drawing/2014/main" id="{07F218D1-69E0-4351-9840-4204D21E23DD}"/>
              </a:ext>
            </a:extLst>
          </p:cNvPr>
          <p:cNvSpPr>
            <a:spLocks xmlns:a="http://schemas.openxmlformats.org/drawingml/2006/main" noGrp="1"/>
          </p:cNvSpPr>
          <p:nvPr/>
        </p:nvSpPr>
        <p:spPr>
          <a:xfrm xmlns:a="http://schemas.openxmlformats.org/drawingml/2006/main">
            <a:off x="6667500" y="4076700"/>
            <a:ext cx="95250" cy="95250"/>
          </a:xfrm>
          <a:prstGeom xmlns:a="http://schemas.openxmlformats.org/drawingml/2006/main" prst="ellipse">
            <a:avLst/>
          </a:prstGeom>
          <a:solidFill xmlns:a="http://schemas.openxmlformats.org/drawingml/2006/main">
            <a:srgbClr val="2E8B57"/>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AA849014-C035-4D05-82E8-6BD7531BFB82}"/>
              </a:ext>
            </a:extLst>
          </p:cNvPr>
          <p:cNvSpPr>
            <a:spLocks xmlns:a="http://schemas.openxmlformats.org/drawingml/2006/main" noGrp="1"/>
          </p:cNvSpPr>
          <p:nvPr/>
        </p:nvSpPr>
        <p:spPr>
          <a:xfrm xmlns:a="http://schemas.openxmlformats.org/drawingml/2006/main">
            <a:off x="6886575" y="4000500"/>
            <a:ext cx="45434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2606D"/>
                </a:solidFill>
              </a:defRPr>
            </a:pPr>
            <a:r>
              <a:rPr sz="1350" b="0">
                <a:solidFill>
                  <a:srgbClr val="52606D"/>
                </a:solidFill>
              </a:rPr>
              <a:t>1x only; 5 bp primary and 10 bp stress</a:t>
            </a:r>
          </a:p>
        </p:txBody>
      </p:sp>
      <p:sp>
        <p:nvSpPr>
          <p:cNvPr id="28" name="">
            <a:extLst xmlns:a="http://schemas.openxmlformats.org/drawingml/2006/main">
              <a:ext uri="{FF2B5EF4-FFF2-40B4-BE49-F238E27FC236}">
                <a16:creationId xmlns:a16="http://schemas.microsoft.com/office/drawing/2014/main" id="{16104011-9520-4DAA-85B3-2CDB6C436632}"/>
              </a:ext>
            </a:extLst>
          </p:cNvPr>
          <p:cNvSpPr>
            <a:spLocks xmlns:a="http://schemas.openxmlformats.org/drawingml/2006/main" noGrp="1"/>
          </p:cNvSpPr>
          <p:nvPr/>
        </p:nvSpPr>
        <p:spPr>
          <a:xfrm xmlns:a="http://schemas.openxmlformats.org/drawingml/2006/main">
            <a:off x="6667500" y="4505325"/>
            <a:ext cx="95250" cy="95250"/>
          </a:xfrm>
          <a:prstGeom xmlns:a="http://schemas.openxmlformats.org/drawingml/2006/main" prst="ellipse">
            <a:avLst/>
          </a:prstGeom>
          <a:solidFill xmlns:a="http://schemas.openxmlformats.org/drawingml/2006/main">
            <a:srgbClr val="2E8B57"/>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868C0160-09D7-41A8-9E1F-C2B5A77B0440}"/>
              </a:ext>
            </a:extLst>
          </p:cNvPr>
          <p:cNvSpPr>
            <a:spLocks xmlns:a="http://schemas.openxmlformats.org/drawingml/2006/main" noGrp="1"/>
          </p:cNvSpPr>
          <p:nvPr/>
        </p:nvSpPr>
        <p:spPr>
          <a:xfrm xmlns:a="http://schemas.openxmlformats.org/drawingml/2006/main">
            <a:off x="6886575" y="4429125"/>
            <a:ext cx="45434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2606D"/>
                </a:solidFill>
              </a:defRPr>
            </a:pPr>
            <a:r>
              <a:rPr sz="1350" b="0">
                <a:solidFill>
                  <a:srgbClr val="52606D"/>
                </a:solidFill>
              </a:rPr>
              <a:t>2024+ confirmation remained sealed</a:t>
            </a:r>
          </a:p>
        </p:txBody>
      </p:sp>
      <p:sp>
        <p:nvSpPr>
          <p:cNvPr id="30" name="">
            <a:extLst xmlns:a="http://schemas.openxmlformats.org/drawingml/2006/main">
              <a:ext uri="{FF2B5EF4-FFF2-40B4-BE49-F238E27FC236}">
                <a16:creationId xmlns:a16="http://schemas.microsoft.com/office/drawing/2014/main" id="{C24940F4-F3BB-4C97-A073-FDB4474A9365}"/>
              </a:ext>
            </a:extLst>
          </p:cNvPr>
          <p:cNvSpPr>
            <a:spLocks xmlns:a="http://schemas.openxmlformats.org/drawingml/2006/main" noGrp="1"/>
          </p:cNvSpPr>
          <p:nvPr/>
        </p:nvSpPr>
        <p:spPr>
          <a:xfrm xmlns:a="http://schemas.openxmlformats.org/drawingml/2006/main">
            <a:off x="6667500" y="4933950"/>
            <a:ext cx="95250" cy="95250"/>
          </a:xfrm>
          <a:prstGeom xmlns:a="http://schemas.openxmlformats.org/drawingml/2006/main" prst="ellipse">
            <a:avLst/>
          </a:prstGeom>
          <a:solidFill xmlns:a="http://schemas.openxmlformats.org/drawingml/2006/main">
            <a:srgbClr val="2E8B57"/>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5E387EFE-1D43-4205-9A3B-1BAB56D792BC}"/>
              </a:ext>
            </a:extLst>
          </p:cNvPr>
          <p:cNvSpPr>
            <a:spLocks xmlns:a="http://schemas.openxmlformats.org/drawingml/2006/main" noGrp="1"/>
          </p:cNvSpPr>
          <p:nvPr/>
        </p:nvSpPr>
        <p:spPr>
          <a:xfrm xmlns:a="http://schemas.openxmlformats.org/drawingml/2006/main">
            <a:off x="6886575" y="4857750"/>
            <a:ext cx="45434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2606D"/>
                </a:solidFill>
              </a:defRPr>
            </a:pPr>
            <a:r>
              <a:rPr sz="1350" b="0">
                <a:solidFill>
                  <a:srgbClr val="52606D"/>
                </a:solidFill>
              </a:rPr>
              <a:t>No alternate state, threshold, asset subset, or strategy</a:t>
            </a:r>
          </a:p>
        </p:txBody>
      </p:sp>
      <p:sp>
        <p:nvSpPr>
          <p:cNvPr id="32" name="">
            <a:extLst xmlns:a="http://schemas.openxmlformats.org/drawingml/2006/main">
              <a:ext uri="{FF2B5EF4-FFF2-40B4-BE49-F238E27FC236}">
                <a16:creationId xmlns:a16="http://schemas.microsoft.com/office/drawing/2014/main" id="{088CC2F2-0CFD-4160-BE5C-6A25FEB6B567}"/>
              </a:ext>
            </a:extLst>
          </p:cNvPr>
          <p:cNvSpPr>
            <a:spLocks xmlns:a="http://schemas.openxmlformats.org/drawingml/2006/main" noGrp="1"/>
          </p:cNvSpPr>
          <p:nvPr/>
        </p:nvSpPr>
        <p:spPr>
          <a:xfrm xmlns:a="http://schemas.openxmlformats.org/drawingml/2006/main">
            <a:off x="1524000" y="5715000"/>
            <a:ext cx="9144000" cy="457200"/>
          </a:xfrm>
          <a:prstGeom xmlns:a="http://schemas.openxmlformats.org/drawingml/2006/main" prst="rect">
            <a:avLst/>
          </a:prstGeom>
          <a:solidFill xmlns:a="http://schemas.openxmlformats.org/drawingml/2006/main">
            <a:srgbClr val="E8F4EC"/>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69110C91-0C3F-4E5A-A317-D1EA093F9EB6}"/>
              </a:ext>
            </a:extLst>
          </p:cNvPr>
          <p:cNvSpPr>
            <a:spLocks xmlns:a="http://schemas.openxmlformats.org/drawingml/2006/main" noGrp="1"/>
          </p:cNvSpPr>
          <p:nvPr/>
        </p:nvSpPr>
        <p:spPr>
          <a:xfrm xmlns:a="http://schemas.openxmlformats.org/drawingml/2006/main">
            <a:off x="1809750" y="58388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2E8B57"/>
                </a:solidFill>
              </a:defRPr>
            </a:pPr>
            <a:r>
              <a:rPr sz="1425" b="1">
                <a:solidFill>
                  <a:srgbClr val="2E8B57"/>
                </a:solidFill>
              </a:rPr>
              <a:t>Any failure below is a research result—not a data or reproduction failure.</a:t>
            </a:r>
          </a:p>
        </p:txBody>
      </p:sp>
    </p:spTree>
    <p:extLst>
      <p:ext uri="{BB962C8B-B14F-4D97-AF65-F5344CB8AC3E}">
        <p14:creationId xmlns:p14="http://schemas.microsoft.com/office/powerpoint/2010/main" val="140149814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6EA5405-603C-4B77-9EDD-67F542DEF258}"/>
              </a:ext>
            </a:extLst>
          </p:cNvPr>
          <p:cNvSpPr>
            <a:spLocks xmlns:a="http://schemas.openxmlformats.org/drawingml/2006/main" noGrp="1"/>
          </p:cNvSpPr>
          <p:nvPr/>
        </p:nvSpPr>
        <p:spPr>
          <a:xfrm xmlns:a="http://schemas.openxmlformats.org/drawingml/2006/main">
            <a:off x="476250" y="2667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WHOLE-POLICY OUTCOME</a:t>
            </a:r>
          </a:p>
        </p:txBody>
      </p:sp>
      <p:sp>
        <p:nvSpPr>
          <p:cNvPr id="2" name="">
            <a:extLst xmlns:a="http://schemas.openxmlformats.org/drawingml/2006/main">
              <a:ext uri="{FF2B5EF4-FFF2-40B4-BE49-F238E27FC236}">
                <a16:creationId xmlns:a16="http://schemas.microsoft.com/office/drawing/2014/main" id="{AB978811-4D03-4D8B-A37C-D8E1AE8479CE}"/>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Less exposure bought protection—but surrendered too much return</a:t>
            </a:r>
          </a:p>
        </p:txBody>
      </p:sp>
      <p:sp>
        <p:nvSpPr>
          <p:cNvPr id="3" name="">
            <a:extLst xmlns:a="http://schemas.openxmlformats.org/drawingml/2006/main">
              <a:ext uri="{FF2B5EF4-FFF2-40B4-BE49-F238E27FC236}">
                <a16:creationId xmlns:a16="http://schemas.microsoft.com/office/drawing/2014/main" id="{24DA2293-DA10-4C75-9F1D-E312E6955966}"/>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5</a:t>
            </a:r>
          </a:p>
        </p:txBody>
      </p:sp>
      <p:sp>
        <p:nvSpPr>
          <p:cNvPr id="4" name="">
            <a:extLst xmlns:a="http://schemas.openxmlformats.org/drawingml/2006/main">
              <a:ext uri="{FF2B5EF4-FFF2-40B4-BE49-F238E27FC236}">
                <a16:creationId xmlns:a16="http://schemas.microsoft.com/office/drawing/2014/main" id="{1F2A9562-5BA6-4393-A79A-4934D2820D9F}"/>
              </a:ext>
            </a:extLst>
          </p:cNvPr>
          <p:cNvSpPr>
            <a:spLocks xmlns:a="http://schemas.openxmlformats.org/drawingml/2006/main" noGrp="1"/>
          </p:cNvSpPr>
          <p:nvPr/>
        </p:nvSpPr>
        <p:spPr>
          <a:xfrm xmlns:a="http://schemas.openxmlformats.org/drawingml/2006/main">
            <a:off x="428625" y="1285875"/>
            <a:ext cx="7143750" cy="4857750"/>
          </a:xfrm>
          <a:prstGeom xmlns:a="http://schemas.openxmlformats.org/drawingml/2006/main" prst="rect">
            <a:avLst/>
          </a:prstGeom>
          <a:solidFill xmlns:a="http://schemas.openxmlformats.org/drawingml/2006/main">
            <a:srgbClr val="FAFAFA"/>
          </a:solidFill>
          <a:ln xmlns:a="http://schemas.openxmlformats.org/drawingml/2006/main" w="9525">
            <a:solidFill>
              <a:srgbClr val="CCD3DA"/>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1d2adc5d4b6342ff"/>
          <a:stretch xmlns:a="http://schemas.openxmlformats.org/drawingml/2006/main"/>
        </p:blipFill>
        <p:spPr>
          <a:xfrm xmlns:a="http://schemas.openxmlformats.org/drawingml/2006/main">
            <a:off x="428625" y="1730375"/>
            <a:ext cx="7143750" cy="3968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4BC18FA-A8A5-45ED-A9D9-C39F59F0EE21}"/>
              </a:ext>
            </a:extLst>
          </p:cNvPr>
          <p:cNvSpPr>
            <a:spLocks xmlns:a="http://schemas.openxmlformats.org/drawingml/2006/main" noGrp="1"/>
          </p:cNvSpPr>
          <p:nvPr/>
        </p:nvSpPr>
        <p:spPr>
          <a:xfrm xmlns:a="http://schemas.openxmlformats.org/drawingml/2006/main">
            <a:off x="7905750" y="1381125"/>
            <a:ext cx="3571875" cy="106680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0F7E083-ECC4-4824-9BD1-63878BE8E104}"/>
              </a:ext>
            </a:extLst>
          </p:cNvPr>
          <p:cNvSpPr>
            <a:spLocks xmlns:a="http://schemas.openxmlformats.org/drawingml/2006/main" noGrp="1"/>
          </p:cNvSpPr>
          <p:nvPr/>
        </p:nvSpPr>
        <p:spPr>
          <a:xfrm xmlns:a="http://schemas.openxmlformats.org/drawingml/2006/main">
            <a:off x="8134350" y="1524000"/>
            <a:ext cx="31146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D95F59"/>
                </a:solidFill>
              </a:defRPr>
            </a:pPr>
            <a:r>
              <a:rPr sz="2325" b="1">
                <a:solidFill>
                  <a:srgbClr val="D95F59"/>
                </a:solidFill>
              </a:rPr>
              <a:t>8.95% → 1.95%</a:t>
            </a:r>
          </a:p>
        </p:txBody>
      </p:sp>
      <p:sp>
        <p:nvSpPr>
          <p:cNvPr id="8" name="">
            <a:extLst xmlns:a="http://schemas.openxmlformats.org/drawingml/2006/main">
              <a:ext uri="{FF2B5EF4-FFF2-40B4-BE49-F238E27FC236}">
                <a16:creationId xmlns:a16="http://schemas.microsoft.com/office/drawing/2014/main" id="{E9F93C32-1D28-49D3-9765-A0CB610136AC}"/>
              </a:ext>
            </a:extLst>
          </p:cNvPr>
          <p:cNvSpPr>
            <a:spLocks xmlns:a="http://schemas.openxmlformats.org/drawingml/2006/main" noGrp="1"/>
          </p:cNvSpPr>
          <p:nvPr/>
        </p:nvSpPr>
        <p:spPr>
          <a:xfrm xmlns:a="http://schemas.openxmlformats.org/drawingml/2006/main">
            <a:off x="8134350" y="2000250"/>
            <a:ext cx="31146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median return: parent → entry-only</a:t>
            </a:r>
          </a:p>
        </p:txBody>
      </p:sp>
      <p:sp>
        <p:nvSpPr>
          <p:cNvPr id="9" name="">
            <a:extLst xmlns:a="http://schemas.openxmlformats.org/drawingml/2006/main">
              <a:ext uri="{FF2B5EF4-FFF2-40B4-BE49-F238E27FC236}">
                <a16:creationId xmlns:a16="http://schemas.microsoft.com/office/drawing/2014/main" id="{9CA12CFB-EEBD-49B4-92BB-88825F3AF05B}"/>
              </a:ext>
            </a:extLst>
          </p:cNvPr>
          <p:cNvSpPr>
            <a:spLocks xmlns:a="http://schemas.openxmlformats.org/drawingml/2006/main" noGrp="1"/>
          </p:cNvSpPr>
          <p:nvPr/>
        </p:nvSpPr>
        <p:spPr>
          <a:xfrm xmlns:a="http://schemas.openxmlformats.org/drawingml/2006/main">
            <a:off x="7905750" y="2667000"/>
            <a:ext cx="3571875" cy="106680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DD166E6-8FD0-4B77-8126-089FC359CDFE}"/>
              </a:ext>
            </a:extLst>
          </p:cNvPr>
          <p:cNvSpPr>
            <a:spLocks xmlns:a="http://schemas.openxmlformats.org/drawingml/2006/main" noGrp="1"/>
          </p:cNvSpPr>
          <p:nvPr/>
        </p:nvSpPr>
        <p:spPr>
          <a:xfrm xmlns:a="http://schemas.openxmlformats.org/drawingml/2006/main">
            <a:off x="8134350" y="2809875"/>
            <a:ext cx="31146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D95F59"/>
                </a:solidFill>
              </a:defRPr>
            </a:pPr>
            <a:r>
              <a:rPr sz="2325" b="1">
                <a:solidFill>
                  <a:srgbClr val="D95F59"/>
                </a:solidFill>
              </a:rPr>
              <a:t>0.642 → 0.378</a:t>
            </a:r>
          </a:p>
        </p:txBody>
      </p:sp>
      <p:sp>
        <p:nvSpPr>
          <p:cNvPr id="11" name="">
            <a:extLst xmlns:a="http://schemas.openxmlformats.org/drawingml/2006/main">
              <a:ext uri="{FF2B5EF4-FFF2-40B4-BE49-F238E27FC236}">
                <a16:creationId xmlns:a16="http://schemas.microsoft.com/office/drawing/2014/main" id="{4FB8D150-0FE9-438F-BA30-F48DC835A390}"/>
              </a:ext>
            </a:extLst>
          </p:cNvPr>
          <p:cNvSpPr>
            <a:spLocks xmlns:a="http://schemas.openxmlformats.org/drawingml/2006/main" noGrp="1"/>
          </p:cNvSpPr>
          <p:nvPr/>
        </p:nvSpPr>
        <p:spPr>
          <a:xfrm xmlns:a="http://schemas.openxmlformats.org/drawingml/2006/main">
            <a:off x="8134350" y="3286125"/>
            <a:ext cx="31146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median Sharpe: parent → entry-only</a:t>
            </a:r>
          </a:p>
        </p:txBody>
      </p:sp>
      <p:sp>
        <p:nvSpPr>
          <p:cNvPr id="12" name="">
            <a:extLst xmlns:a="http://schemas.openxmlformats.org/drawingml/2006/main">
              <a:ext uri="{FF2B5EF4-FFF2-40B4-BE49-F238E27FC236}">
                <a16:creationId xmlns:a16="http://schemas.microsoft.com/office/drawing/2014/main" id="{BC2EF930-4B12-4ED6-976C-D51719296211}"/>
              </a:ext>
            </a:extLst>
          </p:cNvPr>
          <p:cNvSpPr>
            <a:spLocks xmlns:a="http://schemas.openxmlformats.org/drawingml/2006/main" noGrp="1"/>
          </p:cNvSpPr>
          <p:nvPr/>
        </p:nvSpPr>
        <p:spPr>
          <a:xfrm xmlns:a="http://schemas.openxmlformats.org/drawingml/2006/main">
            <a:off x="7905750" y="3952875"/>
            <a:ext cx="3571875" cy="1066800"/>
          </a:xfrm>
          <a:prstGeom xmlns:a="http://schemas.openxmlformats.org/drawingml/2006/main" prst="rect">
            <a:avLst/>
          </a:prstGeom>
          <a:solidFill xmlns:a="http://schemas.openxmlformats.org/drawingml/2006/main">
            <a:srgbClr val="E8F4E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3D98C0D-3EE0-4CBE-A1AA-0AE85A5A7BA1}"/>
              </a:ext>
            </a:extLst>
          </p:cNvPr>
          <p:cNvSpPr>
            <a:spLocks xmlns:a="http://schemas.openxmlformats.org/drawingml/2006/main" noGrp="1"/>
          </p:cNvSpPr>
          <p:nvPr/>
        </p:nvSpPr>
        <p:spPr>
          <a:xfrm xmlns:a="http://schemas.openxmlformats.org/drawingml/2006/main">
            <a:off x="8134350" y="4095750"/>
            <a:ext cx="31146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E8B57"/>
                </a:solidFill>
              </a:defRPr>
            </a:pPr>
            <a:r>
              <a:rPr sz="2325" b="1">
                <a:solidFill>
                  <a:srgbClr val="2E8B57"/>
                </a:solidFill>
              </a:rPr>
              <a:t>−14.59% → −6.56%</a:t>
            </a:r>
          </a:p>
        </p:txBody>
      </p:sp>
      <p:sp>
        <p:nvSpPr>
          <p:cNvPr id="14" name="">
            <a:extLst xmlns:a="http://schemas.openxmlformats.org/drawingml/2006/main">
              <a:ext uri="{FF2B5EF4-FFF2-40B4-BE49-F238E27FC236}">
                <a16:creationId xmlns:a16="http://schemas.microsoft.com/office/drawing/2014/main" id="{0241CC34-DBB6-42C1-BD50-FAB2E01DFB1A}"/>
              </a:ext>
            </a:extLst>
          </p:cNvPr>
          <p:cNvSpPr>
            <a:spLocks xmlns:a="http://schemas.openxmlformats.org/drawingml/2006/main" noGrp="1"/>
          </p:cNvSpPr>
          <p:nvPr/>
        </p:nvSpPr>
        <p:spPr>
          <a:xfrm xmlns:a="http://schemas.openxmlformats.org/drawingml/2006/main">
            <a:off x="8134350" y="4572000"/>
            <a:ext cx="31146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median drawdown: parent → entry-only</a:t>
            </a:r>
          </a:p>
        </p:txBody>
      </p:sp>
      <p:sp>
        <p:nvSpPr>
          <p:cNvPr id="15" name="">
            <a:extLst xmlns:a="http://schemas.openxmlformats.org/drawingml/2006/main">
              <a:ext uri="{FF2B5EF4-FFF2-40B4-BE49-F238E27FC236}">
                <a16:creationId xmlns:a16="http://schemas.microsoft.com/office/drawing/2014/main" id="{8B677BA0-9424-4C90-9EA4-287FC5C1BD16}"/>
              </a:ext>
            </a:extLst>
          </p:cNvPr>
          <p:cNvSpPr>
            <a:spLocks xmlns:a="http://schemas.openxmlformats.org/drawingml/2006/main" noGrp="1"/>
          </p:cNvSpPr>
          <p:nvPr/>
        </p:nvSpPr>
        <p:spPr>
          <a:xfrm xmlns:a="http://schemas.openxmlformats.org/drawingml/2006/main">
            <a:off x="7905750" y="5286375"/>
            <a:ext cx="3571875" cy="781050"/>
          </a:xfrm>
          <a:prstGeom xmlns:a="http://schemas.openxmlformats.org/drawingml/2006/main" prst="rect">
            <a:avLst/>
          </a:prstGeom>
          <a:solidFill xmlns:a="http://schemas.openxmlformats.org/drawingml/2006/main">
            <a:srgbClr val="FFF1E3"/>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8BBDD2E-E0FA-4F96-BB47-7316D449264E}"/>
              </a:ext>
            </a:extLst>
          </p:cNvPr>
          <p:cNvSpPr>
            <a:spLocks xmlns:a="http://schemas.openxmlformats.org/drawingml/2006/main" noGrp="1"/>
          </p:cNvSpPr>
          <p:nvPr/>
        </p:nvSpPr>
        <p:spPr>
          <a:xfrm xmlns:a="http://schemas.openxmlformats.org/drawingml/2006/main">
            <a:off x="8096250" y="5467350"/>
            <a:ext cx="3190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E88B32"/>
                </a:solidFill>
              </a:defRPr>
            </a:pPr>
            <a:r>
              <a:rPr sz="1350" b="1">
                <a:solidFill>
                  <a:srgbClr val="E88B32"/>
                </a:solidFill>
              </a:rPr>
              <a:t>This is a tradeoff, not alpha.</a:t>
            </a:r>
          </a:p>
          <a:p xmlns:a="http://schemas.openxmlformats.org/drawingml/2006/main">
            <a:pPr algn="ctr">
              <a:defRPr sz="1350" b="1">
                <a:solidFill>
                  <a:srgbClr val="E88B32"/>
                </a:solidFill>
              </a:defRPr>
            </a:pPr>
            <a:r>
              <a:rPr sz="1350" b="1">
                <a:solidFill>
                  <a:srgbClr val="E88B32"/>
                </a:solidFill>
              </a:rPr>
              <a:t>Protection improved; risk-adjusted return did not.</a:t>
            </a:r>
          </a:p>
        </p:txBody>
      </p:sp>
    </p:spTree>
    <p:extLst>
      <p:ext uri="{BB962C8B-B14F-4D97-AF65-F5344CB8AC3E}">
        <p14:creationId xmlns:p14="http://schemas.microsoft.com/office/powerpoint/2010/main" val="170143947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62C5B99-059A-4A4B-BEE8-F93C334AA65E}"/>
              </a:ext>
            </a:extLst>
          </p:cNvPr>
          <p:cNvSpPr>
            <a:spLocks xmlns:a="http://schemas.openxmlformats.org/drawingml/2006/main" noGrp="1"/>
          </p:cNvSpPr>
          <p:nvPr/>
        </p:nvSpPr>
        <p:spPr>
          <a:xfrm xmlns:a="http://schemas.openxmlformats.org/drawingml/2006/main">
            <a:off x="476250" y="2667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DESCRIPTIVE INFORMATION WAS PRESENT</a:t>
            </a:r>
          </a:p>
        </p:txBody>
      </p:sp>
      <p:sp>
        <p:nvSpPr>
          <p:cNvPr id="2" name="">
            <a:extLst xmlns:a="http://schemas.openxmlformats.org/drawingml/2006/main">
              <a:ext uri="{FF2B5EF4-FFF2-40B4-BE49-F238E27FC236}">
                <a16:creationId xmlns:a16="http://schemas.microsoft.com/office/drawing/2014/main" id="{FDB5AE32-662B-480B-A38D-3A3DA119A673}"/>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HIGH ADX did identify the better parent-entry subset</a:t>
            </a:r>
          </a:p>
        </p:txBody>
      </p:sp>
      <p:sp>
        <p:nvSpPr>
          <p:cNvPr id="3" name="">
            <a:extLst xmlns:a="http://schemas.openxmlformats.org/drawingml/2006/main">
              <a:ext uri="{FF2B5EF4-FFF2-40B4-BE49-F238E27FC236}">
                <a16:creationId xmlns:a16="http://schemas.microsoft.com/office/drawing/2014/main" id="{C4639EDA-2A06-4A3F-8667-0C3168A7F3B6}"/>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6</a:t>
            </a:r>
          </a:p>
        </p:txBody>
      </p:sp>
      <p:sp>
        <p:nvSpPr>
          <p:cNvPr id="4" name="">
            <a:extLst xmlns:a="http://schemas.openxmlformats.org/drawingml/2006/main">
              <a:ext uri="{FF2B5EF4-FFF2-40B4-BE49-F238E27FC236}">
                <a16:creationId xmlns:a16="http://schemas.microsoft.com/office/drawing/2014/main" id="{56ECA7F5-EC80-40C7-8A2E-045EA093E5B2}"/>
              </a:ext>
            </a:extLst>
          </p:cNvPr>
          <p:cNvSpPr>
            <a:spLocks xmlns:a="http://schemas.openxmlformats.org/drawingml/2006/main" noGrp="1"/>
          </p:cNvSpPr>
          <p:nvPr/>
        </p:nvSpPr>
        <p:spPr>
          <a:xfrm xmlns:a="http://schemas.openxmlformats.org/drawingml/2006/main">
            <a:off x="428625" y="1314450"/>
            <a:ext cx="7143750" cy="4762500"/>
          </a:xfrm>
          <a:prstGeom xmlns:a="http://schemas.openxmlformats.org/drawingml/2006/main" prst="rect">
            <a:avLst/>
          </a:prstGeom>
          <a:solidFill xmlns:a="http://schemas.openxmlformats.org/drawingml/2006/main">
            <a:srgbClr val="FAFAFA"/>
          </a:solidFill>
          <a:ln xmlns:a="http://schemas.openxmlformats.org/drawingml/2006/main" w="9525">
            <a:solidFill>
              <a:srgbClr val="CCD3DA"/>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632fbb12d5234e9d"/>
          <a:stretch xmlns:a="http://schemas.openxmlformats.org/drawingml/2006/main"/>
        </p:blipFill>
        <p:spPr>
          <a:xfrm xmlns:a="http://schemas.openxmlformats.org/drawingml/2006/main">
            <a:off x="428625" y="1711325"/>
            <a:ext cx="7143750" cy="3968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E493F0E-479B-4AE1-8E94-A218E9291B07}"/>
              </a:ext>
            </a:extLst>
          </p:cNvPr>
          <p:cNvSpPr>
            <a:spLocks xmlns:a="http://schemas.openxmlformats.org/drawingml/2006/main" noGrp="1"/>
          </p:cNvSpPr>
          <p:nvPr/>
        </p:nvSpPr>
        <p:spPr>
          <a:xfrm xmlns:a="http://schemas.openxmlformats.org/drawingml/2006/main">
            <a:off x="7905750" y="1381125"/>
            <a:ext cx="3571875" cy="1066800"/>
          </a:xfrm>
          <a:prstGeom xmlns:a="http://schemas.openxmlformats.org/drawingml/2006/main" prst="rect">
            <a:avLst/>
          </a:prstGeom>
          <a:solidFill xmlns:a="http://schemas.openxmlformats.org/drawingml/2006/main">
            <a:srgbClr val="E8F4E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6826609-6A3E-43C6-857F-C11FAA7EC646}"/>
              </a:ext>
            </a:extLst>
          </p:cNvPr>
          <p:cNvSpPr>
            <a:spLocks xmlns:a="http://schemas.openxmlformats.org/drawingml/2006/main" noGrp="1"/>
          </p:cNvSpPr>
          <p:nvPr/>
        </p:nvSpPr>
        <p:spPr>
          <a:xfrm xmlns:a="http://schemas.openxmlformats.org/drawingml/2006/main">
            <a:off x="8134350" y="1524000"/>
            <a:ext cx="31146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E8B57"/>
                </a:solidFill>
              </a:defRPr>
            </a:pPr>
            <a:r>
              <a:rPr sz="2325" b="1">
                <a:solidFill>
                  <a:srgbClr val="2E8B57"/>
                </a:solidFill>
              </a:rPr>
              <a:t>2.01%</a:t>
            </a:r>
          </a:p>
        </p:txBody>
      </p:sp>
      <p:sp>
        <p:nvSpPr>
          <p:cNvPr id="8" name="">
            <a:extLst xmlns:a="http://schemas.openxmlformats.org/drawingml/2006/main">
              <a:ext uri="{FF2B5EF4-FFF2-40B4-BE49-F238E27FC236}">
                <a16:creationId xmlns:a16="http://schemas.microsoft.com/office/drawing/2014/main" id="{3F5A8934-5DE3-4321-9529-F273D3FAA83F}"/>
              </a:ext>
            </a:extLst>
          </p:cNvPr>
          <p:cNvSpPr>
            <a:spLocks xmlns:a="http://schemas.openxmlformats.org/drawingml/2006/main" noGrp="1"/>
          </p:cNvSpPr>
          <p:nvPr/>
        </p:nvSpPr>
        <p:spPr>
          <a:xfrm xmlns:a="http://schemas.openxmlformats.org/drawingml/2006/main">
            <a:off x="8134350" y="2000250"/>
            <a:ext cx="31146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mean HIGH-state parent trade</a:t>
            </a:r>
          </a:p>
        </p:txBody>
      </p:sp>
      <p:sp>
        <p:nvSpPr>
          <p:cNvPr id="9" name="">
            <a:extLst xmlns:a="http://schemas.openxmlformats.org/drawingml/2006/main">
              <a:ext uri="{FF2B5EF4-FFF2-40B4-BE49-F238E27FC236}">
                <a16:creationId xmlns:a16="http://schemas.microsoft.com/office/drawing/2014/main" id="{C0E77A71-C0D3-4C74-8E6A-9EE1FFA04516}"/>
              </a:ext>
            </a:extLst>
          </p:cNvPr>
          <p:cNvSpPr>
            <a:spLocks xmlns:a="http://schemas.openxmlformats.org/drawingml/2006/main" noGrp="1"/>
          </p:cNvSpPr>
          <p:nvPr/>
        </p:nvSpPr>
        <p:spPr>
          <a:xfrm xmlns:a="http://schemas.openxmlformats.org/drawingml/2006/main">
            <a:off x="7905750" y="2667000"/>
            <a:ext cx="3571875" cy="1066800"/>
          </a:xfrm>
          <a:prstGeom xmlns:a="http://schemas.openxmlformats.org/drawingml/2006/main" prst="rect">
            <a:avLst/>
          </a:prstGeom>
          <a:solidFill xmlns:a="http://schemas.openxmlformats.org/drawingml/2006/main">
            <a:srgbClr val="E8F4E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A7937AA-06C3-431A-BA08-D9AA47D96A76}"/>
              </a:ext>
            </a:extLst>
          </p:cNvPr>
          <p:cNvSpPr>
            <a:spLocks xmlns:a="http://schemas.openxmlformats.org/drawingml/2006/main" noGrp="1"/>
          </p:cNvSpPr>
          <p:nvPr/>
        </p:nvSpPr>
        <p:spPr>
          <a:xfrm xmlns:a="http://schemas.openxmlformats.org/drawingml/2006/main">
            <a:off x="8134350" y="2809875"/>
            <a:ext cx="31146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E8B57"/>
                </a:solidFill>
              </a:defRPr>
            </a:pPr>
            <a:r>
              <a:rPr sz="2325" b="1">
                <a:solidFill>
                  <a:srgbClr val="2E8B57"/>
                </a:solidFill>
              </a:rPr>
              <a:t>48.70%</a:t>
            </a:r>
          </a:p>
        </p:txBody>
      </p:sp>
      <p:sp>
        <p:nvSpPr>
          <p:cNvPr id="11" name="">
            <a:extLst xmlns:a="http://schemas.openxmlformats.org/drawingml/2006/main">
              <a:ext uri="{FF2B5EF4-FFF2-40B4-BE49-F238E27FC236}">
                <a16:creationId xmlns:a16="http://schemas.microsoft.com/office/drawing/2014/main" id="{046985E2-BCE5-4381-983D-6CEFDB966224}"/>
              </a:ext>
            </a:extLst>
          </p:cNvPr>
          <p:cNvSpPr>
            <a:spLocks xmlns:a="http://schemas.openxmlformats.org/drawingml/2006/main" noGrp="1"/>
          </p:cNvSpPr>
          <p:nvPr/>
        </p:nvSpPr>
        <p:spPr>
          <a:xfrm xmlns:a="http://schemas.openxmlformats.org/drawingml/2006/main">
            <a:off x="8134350" y="3286125"/>
            <a:ext cx="31146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HIGH-state parent-trade hit rate</a:t>
            </a:r>
          </a:p>
        </p:txBody>
      </p:sp>
      <p:sp>
        <p:nvSpPr>
          <p:cNvPr id="12" name="">
            <a:extLst xmlns:a="http://schemas.openxmlformats.org/drawingml/2006/main">
              <a:ext uri="{FF2B5EF4-FFF2-40B4-BE49-F238E27FC236}">
                <a16:creationId xmlns:a16="http://schemas.microsoft.com/office/drawing/2014/main" id="{8707C4ED-2096-43A9-931D-53B857BCA72E}"/>
              </a:ext>
            </a:extLst>
          </p:cNvPr>
          <p:cNvSpPr>
            <a:spLocks xmlns:a="http://schemas.openxmlformats.org/drawingml/2006/main" noGrp="1"/>
          </p:cNvSpPr>
          <p:nvPr/>
        </p:nvSpPr>
        <p:spPr>
          <a:xfrm xmlns:a="http://schemas.openxmlformats.org/drawingml/2006/main">
            <a:off x="7905750" y="3952875"/>
            <a:ext cx="3571875" cy="1066800"/>
          </a:xfrm>
          <a:prstGeom xmlns:a="http://schemas.openxmlformats.org/drawingml/2006/main" prst="rect">
            <a:avLst/>
          </a:prstGeom>
          <a:solidFill xmlns:a="http://schemas.openxmlformats.org/drawingml/2006/main">
            <a:srgbClr val="FFF1E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75373F2-A513-4909-937A-78324A506A27}"/>
              </a:ext>
            </a:extLst>
          </p:cNvPr>
          <p:cNvSpPr>
            <a:spLocks xmlns:a="http://schemas.openxmlformats.org/drawingml/2006/main" noGrp="1"/>
          </p:cNvSpPr>
          <p:nvPr/>
        </p:nvSpPr>
        <p:spPr>
          <a:xfrm xmlns:a="http://schemas.openxmlformats.org/drawingml/2006/main">
            <a:off x="8134350" y="4095750"/>
            <a:ext cx="31146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E88B32"/>
                </a:solidFill>
              </a:defRPr>
            </a:pPr>
            <a:r>
              <a:rPr sz="2325" b="1">
                <a:solidFill>
                  <a:srgbClr val="E88B32"/>
                </a:solidFill>
              </a:rPr>
              <a:t>347 / 1,394</a:t>
            </a:r>
          </a:p>
        </p:txBody>
      </p:sp>
      <p:sp>
        <p:nvSpPr>
          <p:cNvPr id="14" name="">
            <a:extLst xmlns:a="http://schemas.openxmlformats.org/drawingml/2006/main">
              <a:ext uri="{FF2B5EF4-FFF2-40B4-BE49-F238E27FC236}">
                <a16:creationId xmlns:a16="http://schemas.microsoft.com/office/drawing/2014/main" id="{D477D49D-64D4-4DF1-A242-D22FA457DD01}"/>
              </a:ext>
            </a:extLst>
          </p:cNvPr>
          <p:cNvSpPr>
            <a:spLocks xmlns:a="http://schemas.openxmlformats.org/drawingml/2006/main" noGrp="1"/>
          </p:cNvSpPr>
          <p:nvPr/>
        </p:nvSpPr>
        <p:spPr>
          <a:xfrm xmlns:a="http://schemas.openxmlformats.org/drawingml/2006/main">
            <a:off x="8134350" y="4572000"/>
            <a:ext cx="31146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parent entries occurring in HIGH</a:t>
            </a:r>
          </a:p>
        </p:txBody>
      </p:sp>
      <p:sp>
        <p:nvSpPr>
          <p:cNvPr id="15" name="">
            <a:extLst xmlns:a="http://schemas.openxmlformats.org/drawingml/2006/main">
              <a:ext uri="{FF2B5EF4-FFF2-40B4-BE49-F238E27FC236}">
                <a16:creationId xmlns:a16="http://schemas.microsoft.com/office/drawing/2014/main" id="{9B2E673D-E01A-4C00-A838-8ED7C12AC626}"/>
              </a:ext>
            </a:extLst>
          </p:cNvPr>
          <p:cNvSpPr>
            <a:spLocks xmlns:a="http://schemas.openxmlformats.org/drawingml/2006/main" noGrp="1"/>
          </p:cNvSpPr>
          <p:nvPr/>
        </p:nvSpPr>
        <p:spPr>
          <a:xfrm xmlns:a="http://schemas.openxmlformats.org/drawingml/2006/main">
            <a:off x="7905750" y="5286375"/>
            <a:ext cx="3571875" cy="781050"/>
          </a:xfrm>
          <a:prstGeom xmlns:a="http://schemas.openxmlformats.org/drawingml/2006/main" prst="rect">
            <a:avLst/>
          </a:prstGeom>
          <a:solidFill xmlns:a="http://schemas.openxmlformats.org/drawingml/2006/main">
            <a:srgbClr val="EAF3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9370696-599E-4AD7-B79B-C49772CC0E52}"/>
              </a:ext>
            </a:extLst>
          </p:cNvPr>
          <p:cNvSpPr>
            <a:spLocks xmlns:a="http://schemas.openxmlformats.org/drawingml/2006/main" noGrp="1"/>
          </p:cNvSpPr>
          <p:nvPr/>
        </p:nvSpPr>
        <p:spPr>
          <a:xfrm xmlns:a="http://schemas.openxmlformats.org/drawingml/2006/main">
            <a:off x="8096250" y="5476875"/>
            <a:ext cx="3190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3D8DFF"/>
                </a:solidFill>
              </a:defRPr>
            </a:pPr>
            <a:r>
              <a:rPr sz="1500" b="1">
                <a:solidFill>
                  <a:srgbClr val="3D8DFF"/>
                </a:solidFill>
              </a:rPr>
              <a:t>Useful conditional ranking</a:t>
            </a:r>
          </a:p>
          <a:p xmlns:a="http://schemas.openxmlformats.org/drawingml/2006/main">
            <a:pPr algn="ctr">
              <a:defRPr sz="1500" b="1">
                <a:solidFill>
                  <a:srgbClr val="3D8DFF"/>
                </a:solidFill>
              </a:defRPr>
            </a:pPr>
            <a:r>
              <a:rPr sz="1500" b="1">
                <a:solidFill>
                  <a:srgbClr val="3D8DFF"/>
                </a:solidFill>
              </a:rPr>
              <a:t>≠ useful binary permission rule</a:t>
            </a:r>
          </a:p>
        </p:txBody>
      </p:sp>
    </p:spTree>
    <p:extLst>
      <p:ext uri="{BB962C8B-B14F-4D97-AF65-F5344CB8AC3E}">
        <p14:creationId xmlns:p14="http://schemas.microsoft.com/office/powerpoint/2010/main" val="186301355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EDC1502-A926-4B7F-BCB8-B825C5720487}"/>
              </a:ext>
            </a:extLst>
          </p:cNvPr>
          <p:cNvSpPr>
            <a:spLocks xmlns:a="http://schemas.openxmlformats.org/drawingml/2006/main" noGrp="1"/>
          </p:cNvSpPr>
          <p:nvPr/>
        </p:nvSpPr>
        <p:spPr>
          <a:xfrm xmlns:a="http://schemas.openxmlformats.org/drawingml/2006/main">
            <a:off x="476250" y="2667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STATE SPECIFICITY CONTROL</a:t>
            </a:r>
          </a:p>
        </p:txBody>
      </p:sp>
      <p:sp>
        <p:nvSpPr>
          <p:cNvPr id="2" name="">
            <a:extLst xmlns:a="http://schemas.openxmlformats.org/drawingml/2006/main">
              <a:ext uri="{FF2B5EF4-FFF2-40B4-BE49-F238E27FC236}">
                <a16:creationId xmlns:a16="http://schemas.microsoft.com/office/drawing/2014/main" id="{333F6C2F-78F2-43C1-B37B-07C1B37F5F81}"/>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Only entry timing beat equally restrictive mistimed states</a:t>
            </a:r>
          </a:p>
        </p:txBody>
      </p:sp>
      <p:sp>
        <p:nvSpPr>
          <p:cNvPr id="3" name="">
            <a:extLst xmlns:a="http://schemas.openxmlformats.org/drawingml/2006/main">
              <a:ext uri="{FF2B5EF4-FFF2-40B4-BE49-F238E27FC236}">
                <a16:creationId xmlns:a16="http://schemas.microsoft.com/office/drawing/2014/main" id="{8EF9DB12-CC68-49F2-9195-7464ADDC9130}"/>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7</a:t>
            </a:r>
          </a:p>
        </p:txBody>
      </p:sp>
      <p:sp>
        <p:nvSpPr>
          <p:cNvPr id="4" name="">
            <a:extLst xmlns:a="http://schemas.openxmlformats.org/drawingml/2006/main">
              <a:ext uri="{FF2B5EF4-FFF2-40B4-BE49-F238E27FC236}">
                <a16:creationId xmlns:a16="http://schemas.microsoft.com/office/drawing/2014/main" id="{72FCAFDA-CFD9-4EF9-BA7C-F915375ED5A5}"/>
              </a:ext>
            </a:extLst>
          </p:cNvPr>
          <p:cNvSpPr>
            <a:spLocks xmlns:a="http://schemas.openxmlformats.org/drawingml/2006/main" noGrp="1"/>
          </p:cNvSpPr>
          <p:nvPr/>
        </p:nvSpPr>
        <p:spPr>
          <a:xfrm xmlns:a="http://schemas.openxmlformats.org/drawingml/2006/main">
            <a:off x="428625" y="1285875"/>
            <a:ext cx="7524750" cy="4857750"/>
          </a:xfrm>
          <a:prstGeom xmlns:a="http://schemas.openxmlformats.org/drawingml/2006/main" prst="rect">
            <a:avLst/>
          </a:prstGeom>
          <a:solidFill xmlns:a="http://schemas.openxmlformats.org/drawingml/2006/main">
            <a:srgbClr val="FAFAFA"/>
          </a:solidFill>
          <a:ln xmlns:a="http://schemas.openxmlformats.org/drawingml/2006/main" w="9525">
            <a:solidFill>
              <a:srgbClr val="CCD3DA"/>
            </a:solidFill>
            <a:prstDash val="solid"/>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312a30f713714464"/>
          <a:stretch xmlns:a="http://schemas.openxmlformats.org/drawingml/2006/main"/>
        </p:blipFill>
        <p:spPr>
          <a:xfrm xmlns:a="http://schemas.openxmlformats.org/drawingml/2006/main">
            <a:off x="499110" y="1285875"/>
            <a:ext cx="7383780" cy="4857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A2A9CC5-321B-4FAC-B88A-0E3E119FA005}"/>
              </a:ext>
            </a:extLst>
          </p:cNvPr>
          <p:cNvSpPr>
            <a:spLocks xmlns:a="http://schemas.openxmlformats.org/drawingml/2006/main" noGrp="1"/>
          </p:cNvSpPr>
          <p:nvPr/>
        </p:nvSpPr>
        <p:spPr>
          <a:xfrm xmlns:a="http://schemas.openxmlformats.org/drawingml/2006/main">
            <a:off x="8239125" y="1428750"/>
            <a:ext cx="3048000" cy="1066800"/>
          </a:xfrm>
          <a:prstGeom xmlns:a="http://schemas.openxmlformats.org/drawingml/2006/main" prst="rect">
            <a:avLst/>
          </a:prstGeom>
          <a:solidFill xmlns:a="http://schemas.openxmlformats.org/drawingml/2006/main">
            <a:srgbClr val="E8F4E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D7D9BFA-6766-4B16-B6FB-C0A60E6C7B4C}"/>
              </a:ext>
            </a:extLst>
          </p:cNvPr>
          <p:cNvSpPr>
            <a:spLocks xmlns:a="http://schemas.openxmlformats.org/drawingml/2006/main" noGrp="1"/>
          </p:cNvSpPr>
          <p:nvPr/>
        </p:nvSpPr>
        <p:spPr>
          <a:xfrm xmlns:a="http://schemas.openxmlformats.org/drawingml/2006/main">
            <a:off x="8467725" y="1571625"/>
            <a:ext cx="2590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E8B57"/>
                </a:solidFill>
              </a:defRPr>
            </a:pPr>
            <a:r>
              <a:rPr sz="2325" b="1">
                <a:solidFill>
                  <a:srgbClr val="2E8B57"/>
                </a:solidFill>
              </a:rPr>
              <a:t>85th</a:t>
            </a:r>
          </a:p>
        </p:txBody>
      </p:sp>
      <p:sp>
        <p:nvSpPr>
          <p:cNvPr id="8" name="">
            <a:extLst xmlns:a="http://schemas.openxmlformats.org/drawingml/2006/main">
              <a:ext uri="{FF2B5EF4-FFF2-40B4-BE49-F238E27FC236}">
                <a16:creationId xmlns:a16="http://schemas.microsoft.com/office/drawing/2014/main" id="{D2F89702-D44F-4B45-B408-3D4D2B72053B}"/>
              </a:ext>
            </a:extLst>
          </p:cNvPr>
          <p:cNvSpPr>
            <a:spLocks xmlns:a="http://schemas.openxmlformats.org/drawingml/2006/main" noGrp="1"/>
          </p:cNvSpPr>
          <p:nvPr/>
        </p:nvSpPr>
        <p:spPr>
          <a:xfrm xmlns:a="http://schemas.openxmlformats.org/drawingml/2006/main">
            <a:off x="8467725" y="2047875"/>
            <a:ext cx="2590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entry-only timing percentile</a:t>
            </a:r>
          </a:p>
        </p:txBody>
      </p:sp>
      <p:sp>
        <p:nvSpPr>
          <p:cNvPr id="9" name="">
            <a:extLst xmlns:a="http://schemas.openxmlformats.org/drawingml/2006/main">
              <a:ext uri="{FF2B5EF4-FFF2-40B4-BE49-F238E27FC236}">
                <a16:creationId xmlns:a16="http://schemas.microsoft.com/office/drawing/2014/main" id="{794B3458-E715-4CBB-B507-39B87111C45C}"/>
              </a:ext>
            </a:extLst>
          </p:cNvPr>
          <p:cNvSpPr>
            <a:spLocks xmlns:a="http://schemas.openxmlformats.org/drawingml/2006/main" noGrp="1"/>
          </p:cNvSpPr>
          <p:nvPr/>
        </p:nvSpPr>
        <p:spPr>
          <a:xfrm xmlns:a="http://schemas.openxmlformats.org/drawingml/2006/main">
            <a:off x="8239125" y="2714625"/>
            <a:ext cx="3048000" cy="1066800"/>
          </a:xfrm>
          <a:prstGeom xmlns:a="http://schemas.openxmlformats.org/drawingml/2006/main" prst="rect">
            <a:avLst/>
          </a:prstGeom>
          <a:solidFill xmlns:a="http://schemas.openxmlformats.org/drawingml/2006/main">
            <a:srgbClr val="E8F4E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A3AE7A2-9375-43AE-B467-DE9073C95AF2}"/>
              </a:ext>
            </a:extLst>
          </p:cNvPr>
          <p:cNvSpPr>
            <a:spLocks xmlns:a="http://schemas.openxmlformats.org/drawingml/2006/main" noGrp="1"/>
          </p:cNvSpPr>
          <p:nvPr/>
        </p:nvSpPr>
        <p:spPr>
          <a:xfrm xmlns:a="http://schemas.openxmlformats.org/drawingml/2006/main">
            <a:off x="8467725" y="2857500"/>
            <a:ext cx="2590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E8B57"/>
                </a:solidFill>
              </a:defRPr>
            </a:pPr>
            <a:r>
              <a:rPr sz="2325" b="1">
                <a:solidFill>
                  <a:srgbClr val="2E8B57"/>
                </a:solidFill>
              </a:rPr>
              <a:t>+1.20 pp</a:t>
            </a:r>
          </a:p>
        </p:txBody>
      </p:sp>
      <p:sp>
        <p:nvSpPr>
          <p:cNvPr id="11" name="">
            <a:extLst xmlns:a="http://schemas.openxmlformats.org/drawingml/2006/main">
              <a:ext uri="{FF2B5EF4-FFF2-40B4-BE49-F238E27FC236}">
                <a16:creationId xmlns:a16="http://schemas.microsoft.com/office/drawing/2014/main" id="{91F2DBD2-4343-4D75-8C81-6FDEE57A8443}"/>
              </a:ext>
            </a:extLst>
          </p:cNvPr>
          <p:cNvSpPr>
            <a:spLocks xmlns:a="http://schemas.openxmlformats.org/drawingml/2006/main" noGrp="1"/>
          </p:cNvSpPr>
          <p:nvPr/>
        </p:nvSpPr>
        <p:spPr>
          <a:xfrm xmlns:a="http://schemas.openxmlformats.org/drawingml/2006/main">
            <a:off x="8467725" y="3333750"/>
            <a:ext cx="2590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entry-only vs control median</a:t>
            </a:r>
          </a:p>
        </p:txBody>
      </p:sp>
      <p:sp>
        <p:nvSpPr>
          <p:cNvPr id="12" name="">
            <a:extLst xmlns:a="http://schemas.openxmlformats.org/drawingml/2006/main">
              <a:ext uri="{FF2B5EF4-FFF2-40B4-BE49-F238E27FC236}">
                <a16:creationId xmlns:a16="http://schemas.microsoft.com/office/drawing/2014/main" id="{3821549D-EF5E-4E95-8380-8158C50946A3}"/>
              </a:ext>
            </a:extLst>
          </p:cNvPr>
          <p:cNvSpPr>
            <a:spLocks xmlns:a="http://schemas.openxmlformats.org/drawingml/2006/main" noGrp="1"/>
          </p:cNvSpPr>
          <p:nvPr/>
        </p:nvSpPr>
        <p:spPr>
          <a:xfrm xmlns:a="http://schemas.openxmlformats.org/drawingml/2006/main">
            <a:off x="8239125" y="4000500"/>
            <a:ext cx="3048000" cy="106680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D6497C1-D65B-4F63-BF5B-12207D65DF32}"/>
              </a:ext>
            </a:extLst>
          </p:cNvPr>
          <p:cNvSpPr>
            <a:spLocks xmlns:a="http://schemas.openxmlformats.org/drawingml/2006/main" noGrp="1"/>
          </p:cNvSpPr>
          <p:nvPr/>
        </p:nvSpPr>
        <p:spPr>
          <a:xfrm xmlns:a="http://schemas.openxmlformats.org/drawingml/2006/main">
            <a:off x="8467725" y="4143375"/>
            <a:ext cx="2590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D95F59"/>
                </a:solidFill>
              </a:defRPr>
            </a:pPr>
            <a:r>
              <a:rPr sz="2325" b="1">
                <a:solidFill>
                  <a:srgbClr val="D95F59"/>
                </a:solidFill>
              </a:rPr>
              <a:t>15th / −0.80 pp</a:t>
            </a:r>
          </a:p>
        </p:txBody>
      </p:sp>
      <p:sp>
        <p:nvSpPr>
          <p:cNvPr id="14" name="">
            <a:extLst xmlns:a="http://schemas.openxmlformats.org/drawingml/2006/main">
              <a:ext uri="{FF2B5EF4-FFF2-40B4-BE49-F238E27FC236}">
                <a16:creationId xmlns:a16="http://schemas.microsoft.com/office/drawing/2014/main" id="{AAED35CB-3C06-4427-824D-9AD5CA107B90}"/>
              </a:ext>
            </a:extLst>
          </p:cNvPr>
          <p:cNvSpPr>
            <a:spLocks xmlns:a="http://schemas.openxmlformats.org/drawingml/2006/main" noGrp="1"/>
          </p:cNvSpPr>
          <p:nvPr/>
        </p:nvSpPr>
        <p:spPr>
          <a:xfrm xmlns:a="http://schemas.openxmlformats.org/drawingml/2006/main">
            <a:off x="8467725" y="4619625"/>
            <a:ext cx="2590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reactive percentile / excess</a:t>
            </a:r>
          </a:p>
        </p:txBody>
      </p:sp>
      <p:sp>
        <p:nvSpPr>
          <p:cNvPr id="15" name="">
            <a:extLst xmlns:a="http://schemas.openxmlformats.org/drawingml/2006/main">
              <a:ext uri="{FF2B5EF4-FFF2-40B4-BE49-F238E27FC236}">
                <a16:creationId xmlns:a16="http://schemas.microsoft.com/office/drawing/2014/main" id="{4460E2A9-6854-4A9D-A0B9-D09644771CBF}"/>
              </a:ext>
            </a:extLst>
          </p:cNvPr>
          <p:cNvSpPr>
            <a:spLocks xmlns:a="http://schemas.openxmlformats.org/drawingml/2006/main" noGrp="1"/>
          </p:cNvSpPr>
          <p:nvPr/>
        </p:nvSpPr>
        <p:spPr>
          <a:xfrm xmlns:a="http://schemas.openxmlformats.org/drawingml/2006/main">
            <a:off x="8143875" y="5381625"/>
            <a:ext cx="3238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52606D"/>
                </a:solidFill>
              </a:defRPr>
            </a:pPr>
            <a:r>
              <a:rPr sz="1275" b="0">
                <a:solidFill>
                  <a:srgbClr val="52606D"/>
                </a:solidFill>
              </a:rPr>
              <a:t>Controls preserve state occupancy and run structure within each asset-year while breaking exact historical alignment.</a:t>
            </a:r>
          </a:p>
        </p:txBody>
      </p:sp>
    </p:spTree>
    <p:extLst>
      <p:ext uri="{BB962C8B-B14F-4D97-AF65-F5344CB8AC3E}">
        <p14:creationId xmlns:p14="http://schemas.microsoft.com/office/powerpoint/2010/main" val="141052614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A0C5750-A734-41CC-88AA-21F404BB105A}"/>
              </a:ext>
            </a:extLst>
          </p:cNvPr>
          <p:cNvSpPr>
            <a:spLocks xmlns:a="http://schemas.openxmlformats.org/drawingml/2006/main" noGrp="1"/>
          </p:cNvSpPr>
          <p:nvPr/>
        </p:nvSpPr>
        <p:spPr>
          <a:xfrm xmlns:a="http://schemas.openxmlformats.org/drawingml/2006/main">
            <a:off x="476250" y="2667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BREADTH AND CALENDAR AUDIT</a:t>
            </a:r>
          </a:p>
        </p:txBody>
      </p:sp>
      <p:sp>
        <p:nvSpPr>
          <p:cNvPr id="2" name="">
            <a:extLst xmlns:a="http://schemas.openxmlformats.org/drawingml/2006/main">
              <a:ext uri="{FF2B5EF4-FFF2-40B4-BE49-F238E27FC236}">
                <a16:creationId xmlns:a16="http://schemas.microsoft.com/office/drawing/2014/main" id="{89751A89-0347-4C51-94F9-F12B6271472E}"/>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The clue did not transport across assets or years</a:t>
            </a:r>
          </a:p>
        </p:txBody>
      </p:sp>
      <p:sp>
        <p:nvSpPr>
          <p:cNvPr id="3" name="">
            <a:extLst xmlns:a="http://schemas.openxmlformats.org/drawingml/2006/main">
              <a:ext uri="{FF2B5EF4-FFF2-40B4-BE49-F238E27FC236}">
                <a16:creationId xmlns:a16="http://schemas.microsoft.com/office/drawing/2014/main" id="{CF43DA96-017D-4DBE-AEF6-23D2ABD437CF}"/>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8</a:t>
            </a:r>
          </a:p>
        </p:txBody>
      </p:sp>
      <p:sp>
        <p:nvSpPr>
          <p:cNvPr id="4" name="">
            <a:extLst xmlns:a="http://schemas.openxmlformats.org/drawingml/2006/main">
              <a:ext uri="{FF2B5EF4-FFF2-40B4-BE49-F238E27FC236}">
                <a16:creationId xmlns:a16="http://schemas.microsoft.com/office/drawing/2014/main" id="{C54E6B7B-5983-4DFE-9880-E22582B53B39}"/>
              </a:ext>
            </a:extLst>
          </p:cNvPr>
          <p:cNvSpPr>
            <a:spLocks xmlns:a="http://schemas.openxmlformats.org/drawingml/2006/main" noGrp="1"/>
          </p:cNvSpPr>
          <p:nvPr/>
        </p:nvSpPr>
        <p:spPr>
          <a:xfrm xmlns:a="http://schemas.openxmlformats.org/drawingml/2006/main">
            <a:off x="428625" y="1333500"/>
            <a:ext cx="5476875" cy="4619625"/>
          </a:xfrm>
          <a:prstGeom xmlns:a="http://schemas.openxmlformats.org/drawingml/2006/main" prst="rect">
            <a:avLst/>
          </a:prstGeom>
          <a:solidFill xmlns:a="http://schemas.openxmlformats.org/drawingml/2006/main">
            <a:srgbClr val="FAFAFA"/>
          </a:solidFill>
          <a:ln xmlns:a="http://schemas.openxmlformats.org/drawingml/2006/main" w="9525">
            <a:solidFill>
              <a:srgbClr val="CCD3DA"/>
            </a:solidFill>
            <a:prstDash val="solid"/>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0a587dea93b74d31"/>
          <a:stretch xmlns:a="http://schemas.openxmlformats.org/drawingml/2006/main"/>
        </p:blipFill>
        <p:spPr>
          <a:xfrm xmlns:a="http://schemas.openxmlformats.org/drawingml/2006/main">
            <a:off x="428625" y="1841709"/>
            <a:ext cx="5476875" cy="360320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50ECE03-5F56-4115-AB66-DFC4B0E524F7}"/>
              </a:ext>
            </a:extLst>
          </p:cNvPr>
          <p:cNvSpPr>
            <a:spLocks xmlns:a="http://schemas.openxmlformats.org/drawingml/2006/main" noGrp="1"/>
          </p:cNvSpPr>
          <p:nvPr/>
        </p:nvSpPr>
        <p:spPr>
          <a:xfrm xmlns:a="http://schemas.openxmlformats.org/drawingml/2006/main">
            <a:off x="6238875" y="1333500"/>
            <a:ext cx="5476875" cy="4619625"/>
          </a:xfrm>
          <a:prstGeom xmlns:a="http://schemas.openxmlformats.org/drawingml/2006/main" prst="rect">
            <a:avLst/>
          </a:prstGeom>
          <a:solidFill xmlns:a="http://schemas.openxmlformats.org/drawingml/2006/main">
            <a:srgbClr val="FAFAFA"/>
          </a:solidFill>
          <a:ln xmlns:a="http://schemas.openxmlformats.org/drawingml/2006/main" w="9525">
            <a:solidFill>
              <a:srgbClr val="CCD3DA"/>
            </a:solid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5d721503d6364b77"/>
          <a:stretch xmlns:a="http://schemas.openxmlformats.org/drawingml/2006/main"/>
        </p:blipFill>
        <p:spPr>
          <a:xfrm xmlns:a="http://schemas.openxmlformats.org/drawingml/2006/main">
            <a:off x="6238875" y="2121958"/>
            <a:ext cx="5476875" cy="3042708"/>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A2A629A2-4D22-4413-AED7-D9CF45695F8D}"/>
              </a:ext>
            </a:extLst>
          </p:cNvPr>
          <p:cNvSpPr>
            <a:spLocks xmlns:a="http://schemas.openxmlformats.org/drawingml/2006/main" noGrp="1"/>
          </p:cNvSpPr>
          <p:nvPr/>
        </p:nvSpPr>
        <p:spPr>
          <a:xfrm xmlns:a="http://schemas.openxmlformats.org/drawingml/2006/main">
            <a:off x="809625" y="6115050"/>
            <a:ext cx="4762500" cy="38100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D0DE261-B8ED-4285-9227-104ED5C0A0A8}"/>
              </a:ext>
            </a:extLst>
          </p:cNvPr>
          <p:cNvSpPr>
            <a:spLocks xmlns:a="http://schemas.openxmlformats.org/drawingml/2006/main" noGrp="1"/>
          </p:cNvSpPr>
          <p:nvPr/>
        </p:nvSpPr>
        <p:spPr>
          <a:xfrm xmlns:a="http://schemas.openxmlformats.org/drawingml/2006/main">
            <a:off x="952500" y="621030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D95F59"/>
                </a:solidFill>
              </a:defRPr>
            </a:pPr>
            <a:r>
              <a:rPr sz="1275" b="1">
                <a:solidFill>
                  <a:srgbClr val="D95F59"/>
                </a:solidFill>
              </a:rPr>
              <a:t>Entry-only: 8 / 24 assets improved</a:t>
            </a:r>
          </a:p>
        </p:txBody>
      </p:sp>
      <p:sp>
        <p:nvSpPr>
          <p:cNvPr id="10" name="">
            <a:extLst xmlns:a="http://schemas.openxmlformats.org/drawingml/2006/main">
              <a:ext uri="{FF2B5EF4-FFF2-40B4-BE49-F238E27FC236}">
                <a16:creationId xmlns:a16="http://schemas.microsoft.com/office/drawing/2014/main" id="{9146A00D-24B2-48C2-BAA1-48884B2F50D3}"/>
              </a:ext>
            </a:extLst>
          </p:cNvPr>
          <p:cNvSpPr>
            <a:spLocks xmlns:a="http://schemas.openxmlformats.org/drawingml/2006/main" noGrp="1"/>
          </p:cNvSpPr>
          <p:nvPr/>
        </p:nvSpPr>
        <p:spPr>
          <a:xfrm xmlns:a="http://schemas.openxmlformats.org/drawingml/2006/main">
            <a:off x="6667500" y="6115050"/>
            <a:ext cx="4762500" cy="38100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4CEE405-75F2-433F-94B0-4FA9A704B615}"/>
              </a:ext>
            </a:extLst>
          </p:cNvPr>
          <p:cNvSpPr>
            <a:spLocks xmlns:a="http://schemas.openxmlformats.org/drawingml/2006/main" noGrp="1"/>
          </p:cNvSpPr>
          <p:nvPr/>
        </p:nvSpPr>
        <p:spPr>
          <a:xfrm xmlns:a="http://schemas.openxmlformats.org/drawingml/2006/main">
            <a:off x="6810375" y="621030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D95F59"/>
                </a:solidFill>
              </a:defRPr>
            </a:pPr>
            <a:r>
              <a:rPr sz="1275" b="1">
                <a:solidFill>
                  <a:srgbClr val="D95F59"/>
                </a:solidFill>
              </a:rPr>
              <a:t>Both policies: only 1 / 6 positive years</a:t>
            </a:r>
          </a:p>
        </p:txBody>
      </p:sp>
    </p:spTree>
    <p:extLst>
      <p:ext uri="{BB962C8B-B14F-4D97-AF65-F5344CB8AC3E}">
        <p14:creationId xmlns:p14="http://schemas.microsoft.com/office/powerpoint/2010/main" val="201907546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6774A2F-4DF0-4453-899A-F409F94EDF13}"/>
              </a:ext>
            </a:extLst>
          </p:cNvPr>
          <p:cNvSpPr>
            <a:spLocks xmlns:a="http://schemas.openxmlformats.org/drawingml/2006/main" noGrp="1"/>
          </p:cNvSpPr>
          <p:nvPr/>
        </p:nvSpPr>
        <p:spPr>
          <a:xfrm xmlns:a="http://schemas.openxmlformats.org/drawingml/2006/main">
            <a:off x="476250" y="2667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REACTIVE POLICY AUDIT</a:t>
            </a:r>
          </a:p>
        </p:txBody>
      </p:sp>
      <p:sp>
        <p:nvSpPr>
          <p:cNvPr id="2" name="">
            <a:extLst xmlns:a="http://schemas.openxmlformats.org/drawingml/2006/main">
              <a:ext uri="{FF2B5EF4-FFF2-40B4-BE49-F238E27FC236}">
                <a16:creationId xmlns:a16="http://schemas.microsoft.com/office/drawing/2014/main" id="{BBE49851-1AB7-41A5-9C23-76D4FFABC14C}"/>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Leaving HIGH was too blunt to serve as a mandatory exit</a:t>
            </a:r>
          </a:p>
        </p:txBody>
      </p:sp>
      <p:sp>
        <p:nvSpPr>
          <p:cNvPr id="3" name="">
            <a:extLst xmlns:a="http://schemas.openxmlformats.org/drawingml/2006/main">
              <a:ext uri="{FF2B5EF4-FFF2-40B4-BE49-F238E27FC236}">
                <a16:creationId xmlns:a16="http://schemas.microsoft.com/office/drawing/2014/main" id="{0E9A7ACE-4922-422D-9A49-A3C714EE52E5}"/>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9</a:t>
            </a:r>
          </a:p>
        </p:txBody>
      </p:sp>
      <p:sp>
        <p:nvSpPr>
          <p:cNvPr id="4" name="">
            <a:extLst xmlns:a="http://schemas.openxmlformats.org/drawingml/2006/main">
              <a:ext uri="{FF2B5EF4-FFF2-40B4-BE49-F238E27FC236}">
                <a16:creationId xmlns:a16="http://schemas.microsoft.com/office/drawing/2014/main" id="{773CB62A-0639-489F-A73B-EED24459BC94}"/>
              </a:ext>
            </a:extLst>
          </p:cNvPr>
          <p:cNvSpPr>
            <a:spLocks xmlns:a="http://schemas.openxmlformats.org/drawingml/2006/main" noGrp="1"/>
          </p:cNvSpPr>
          <p:nvPr/>
        </p:nvSpPr>
        <p:spPr>
          <a:xfrm xmlns:a="http://schemas.openxmlformats.org/drawingml/2006/main">
            <a:off x="428625" y="1314450"/>
            <a:ext cx="7239000" cy="4762500"/>
          </a:xfrm>
          <a:prstGeom xmlns:a="http://schemas.openxmlformats.org/drawingml/2006/main" prst="rect">
            <a:avLst/>
          </a:prstGeom>
          <a:solidFill xmlns:a="http://schemas.openxmlformats.org/drawingml/2006/main">
            <a:srgbClr val="FAFAFA"/>
          </a:solidFill>
          <a:ln xmlns:a="http://schemas.openxmlformats.org/drawingml/2006/main" w="9525">
            <a:solidFill>
              <a:srgbClr val="CCD3DA"/>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d715a5a8651b48a0"/>
          <a:stretch xmlns:a="http://schemas.openxmlformats.org/drawingml/2006/main"/>
        </p:blipFill>
        <p:spPr>
          <a:xfrm xmlns:a="http://schemas.openxmlformats.org/drawingml/2006/main">
            <a:off x="428625" y="1684867"/>
            <a:ext cx="7239000" cy="402166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58EB981-D0EE-4922-A379-1A5EAC97CBD2}"/>
              </a:ext>
            </a:extLst>
          </p:cNvPr>
          <p:cNvSpPr>
            <a:spLocks xmlns:a="http://schemas.openxmlformats.org/drawingml/2006/main" noGrp="1"/>
          </p:cNvSpPr>
          <p:nvPr/>
        </p:nvSpPr>
        <p:spPr>
          <a:xfrm xmlns:a="http://schemas.openxmlformats.org/drawingml/2006/main">
            <a:off x="8001000" y="1381125"/>
            <a:ext cx="3333750" cy="1066800"/>
          </a:xfrm>
          <a:prstGeom xmlns:a="http://schemas.openxmlformats.org/drawingml/2006/main" prst="rect">
            <a:avLst/>
          </a:prstGeom>
          <a:solidFill xmlns:a="http://schemas.openxmlformats.org/drawingml/2006/main">
            <a:srgbClr val="FFF1E3"/>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11451F9-9334-407C-9A83-324D6DB68DC7}"/>
              </a:ext>
            </a:extLst>
          </p:cNvPr>
          <p:cNvSpPr>
            <a:spLocks xmlns:a="http://schemas.openxmlformats.org/drawingml/2006/main" noGrp="1"/>
          </p:cNvSpPr>
          <p:nvPr/>
        </p:nvSpPr>
        <p:spPr>
          <a:xfrm xmlns:a="http://schemas.openxmlformats.org/drawingml/2006/main">
            <a:off x="8229600" y="1524000"/>
            <a:ext cx="2876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E88B32"/>
                </a:solidFill>
              </a:defRPr>
            </a:pPr>
            <a:r>
              <a:rPr sz="2325" b="1">
                <a:solidFill>
                  <a:srgbClr val="E88B32"/>
                </a:solidFill>
              </a:rPr>
              <a:t>154</a:t>
            </a:r>
          </a:p>
        </p:txBody>
      </p:sp>
      <p:sp>
        <p:nvSpPr>
          <p:cNvPr id="8" name="">
            <a:extLst xmlns:a="http://schemas.openxmlformats.org/drawingml/2006/main">
              <a:ext uri="{FF2B5EF4-FFF2-40B4-BE49-F238E27FC236}">
                <a16:creationId xmlns:a16="http://schemas.microsoft.com/office/drawing/2014/main" id="{B76F4F49-6502-4397-9995-5798534C6659}"/>
              </a:ext>
            </a:extLst>
          </p:cNvPr>
          <p:cNvSpPr>
            <a:spLocks xmlns:a="http://schemas.openxmlformats.org/drawingml/2006/main" noGrp="1"/>
          </p:cNvSpPr>
          <p:nvPr/>
        </p:nvSpPr>
        <p:spPr>
          <a:xfrm xmlns:a="http://schemas.openxmlformats.org/drawingml/2006/main">
            <a:off x="8229600" y="2000250"/>
            <a:ext cx="2876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exits caused by ADX leaving HIGH</a:t>
            </a:r>
          </a:p>
        </p:txBody>
      </p:sp>
      <p:sp>
        <p:nvSpPr>
          <p:cNvPr id="9" name="">
            <a:extLst xmlns:a="http://schemas.openxmlformats.org/drawingml/2006/main">
              <a:ext uri="{FF2B5EF4-FFF2-40B4-BE49-F238E27FC236}">
                <a16:creationId xmlns:a16="http://schemas.microsoft.com/office/drawing/2014/main" id="{14B816C0-66C8-4590-852A-C784D23FA437}"/>
              </a:ext>
            </a:extLst>
          </p:cNvPr>
          <p:cNvSpPr>
            <a:spLocks xmlns:a="http://schemas.openxmlformats.org/drawingml/2006/main" noGrp="1"/>
          </p:cNvSpPr>
          <p:nvPr/>
        </p:nvSpPr>
        <p:spPr>
          <a:xfrm xmlns:a="http://schemas.openxmlformats.org/drawingml/2006/main">
            <a:off x="8001000" y="2667000"/>
            <a:ext cx="3333750" cy="1066800"/>
          </a:xfrm>
          <a:prstGeom xmlns:a="http://schemas.openxmlformats.org/drawingml/2006/main" prst="rect">
            <a:avLst/>
          </a:prstGeom>
          <a:solidFill xmlns:a="http://schemas.openxmlformats.org/drawingml/2006/main">
            <a:srgbClr val="E8F4E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AC8C9EB-FC3D-4B1B-ADA6-40FAFF91208C}"/>
              </a:ext>
            </a:extLst>
          </p:cNvPr>
          <p:cNvSpPr>
            <a:spLocks xmlns:a="http://schemas.openxmlformats.org/drawingml/2006/main" noGrp="1"/>
          </p:cNvSpPr>
          <p:nvPr/>
        </p:nvSpPr>
        <p:spPr>
          <a:xfrm xmlns:a="http://schemas.openxmlformats.org/drawingml/2006/main">
            <a:off x="8229600" y="2809875"/>
            <a:ext cx="2876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E8B57"/>
                </a:solidFill>
              </a:defRPr>
            </a:pPr>
            <a:r>
              <a:rPr sz="2325" b="1">
                <a:solidFill>
                  <a:srgbClr val="2E8B57"/>
                </a:solidFill>
              </a:rPr>
              <a:t>+0.03 pp</a:t>
            </a:r>
          </a:p>
        </p:txBody>
      </p:sp>
      <p:sp>
        <p:nvSpPr>
          <p:cNvPr id="11" name="">
            <a:extLst xmlns:a="http://schemas.openxmlformats.org/drawingml/2006/main">
              <a:ext uri="{FF2B5EF4-FFF2-40B4-BE49-F238E27FC236}">
                <a16:creationId xmlns:a16="http://schemas.microsoft.com/office/drawing/2014/main" id="{327D0F5F-7DB1-44E1-A4D5-A637546A7BB2}"/>
              </a:ext>
            </a:extLst>
          </p:cNvPr>
          <p:cNvSpPr>
            <a:spLocks xmlns:a="http://schemas.openxmlformats.org/drawingml/2006/main" noGrp="1"/>
          </p:cNvSpPr>
          <p:nvPr/>
        </p:nvSpPr>
        <p:spPr>
          <a:xfrm xmlns:a="http://schemas.openxmlformats.org/drawingml/2006/main">
            <a:off x="8229600" y="3286125"/>
            <a:ext cx="2876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median delta vs matching parent trade</a:t>
            </a:r>
          </a:p>
        </p:txBody>
      </p:sp>
      <p:sp>
        <p:nvSpPr>
          <p:cNvPr id="12" name="">
            <a:extLst xmlns:a="http://schemas.openxmlformats.org/drawingml/2006/main">
              <a:ext uri="{FF2B5EF4-FFF2-40B4-BE49-F238E27FC236}">
                <a16:creationId xmlns:a16="http://schemas.microsoft.com/office/drawing/2014/main" id="{3710BAED-EE73-41FE-B8DF-CE6F7B4773C2}"/>
              </a:ext>
            </a:extLst>
          </p:cNvPr>
          <p:cNvSpPr>
            <a:spLocks xmlns:a="http://schemas.openxmlformats.org/drawingml/2006/main" noGrp="1"/>
          </p:cNvSpPr>
          <p:nvPr/>
        </p:nvSpPr>
        <p:spPr>
          <a:xfrm xmlns:a="http://schemas.openxmlformats.org/drawingml/2006/main">
            <a:off x="8001000" y="3952875"/>
            <a:ext cx="3333750" cy="106680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600EAC4-E904-470A-BF89-D043DF55D7FB}"/>
              </a:ext>
            </a:extLst>
          </p:cNvPr>
          <p:cNvSpPr>
            <a:spLocks xmlns:a="http://schemas.openxmlformats.org/drawingml/2006/main" noGrp="1"/>
          </p:cNvSpPr>
          <p:nvPr/>
        </p:nvSpPr>
        <p:spPr>
          <a:xfrm xmlns:a="http://schemas.openxmlformats.org/drawingml/2006/main">
            <a:off x="8229600" y="4095750"/>
            <a:ext cx="2876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D95F59"/>
                </a:solidFill>
              </a:defRPr>
            </a:pPr>
            <a:r>
              <a:rPr sz="2325" b="1">
                <a:solidFill>
                  <a:srgbClr val="D95F59"/>
                </a:solidFill>
              </a:rPr>
              <a:t>−0.96 pp</a:t>
            </a:r>
          </a:p>
        </p:txBody>
      </p:sp>
      <p:sp>
        <p:nvSpPr>
          <p:cNvPr id="14" name="">
            <a:extLst xmlns:a="http://schemas.openxmlformats.org/drawingml/2006/main">
              <a:ext uri="{FF2B5EF4-FFF2-40B4-BE49-F238E27FC236}">
                <a16:creationId xmlns:a16="http://schemas.microsoft.com/office/drawing/2014/main" id="{50990FD7-34B4-4AA1-83B7-5AD46C9E880E}"/>
              </a:ext>
            </a:extLst>
          </p:cNvPr>
          <p:cNvSpPr>
            <a:spLocks xmlns:a="http://schemas.openxmlformats.org/drawingml/2006/main" noGrp="1"/>
          </p:cNvSpPr>
          <p:nvPr/>
        </p:nvSpPr>
        <p:spPr>
          <a:xfrm xmlns:a="http://schemas.openxmlformats.org/drawingml/2006/main">
            <a:off x="8229600" y="4572000"/>
            <a:ext cx="2876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mean delta vs matching parent trade</a:t>
            </a:r>
          </a:p>
        </p:txBody>
      </p:sp>
      <p:sp>
        <p:nvSpPr>
          <p:cNvPr id="15" name="">
            <a:extLst xmlns:a="http://schemas.openxmlformats.org/drawingml/2006/main">
              <a:ext uri="{FF2B5EF4-FFF2-40B4-BE49-F238E27FC236}">
                <a16:creationId xmlns:a16="http://schemas.microsoft.com/office/drawing/2014/main" id="{0ABE76FA-377C-4C0D-9AE4-135E406BBA90}"/>
              </a:ext>
            </a:extLst>
          </p:cNvPr>
          <p:cNvSpPr>
            <a:spLocks xmlns:a="http://schemas.openxmlformats.org/drawingml/2006/main" noGrp="1"/>
          </p:cNvSpPr>
          <p:nvPr/>
        </p:nvSpPr>
        <p:spPr>
          <a:xfrm xmlns:a="http://schemas.openxmlformats.org/drawingml/2006/main">
            <a:off x="8001000" y="5286375"/>
            <a:ext cx="3333750" cy="78105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5CF245C-C46E-415E-BCBC-159D4452B53B}"/>
              </a:ext>
            </a:extLst>
          </p:cNvPr>
          <p:cNvSpPr>
            <a:spLocks xmlns:a="http://schemas.openxmlformats.org/drawingml/2006/main" noGrp="1"/>
          </p:cNvSpPr>
          <p:nvPr/>
        </p:nvSpPr>
        <p:spPr>
          <a:xfrm xmlns:a="http://schemas.openxmlformats.org/drawingml/2006/main">
            <a:off x="8191500" y="5476875"/>
            <a:ext cx="295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D95F59"/>
                </a:solidFill>
              </a:defRPr>
            </a:pPr>
            <a:r>
              <a:rPr sz="1350" b="1">
                <a:solidFill>
                  <a:srgbClr val="D95F59"/>
                </a:solidFill>
              </a:rPr>
              <a:t>A few protective exits existed.</a:t>
            </a:r>
          </a:p>
          <a:p xmlns:a="http://schemas.openxmlformats.org/drawingml/2006/main">
            <a:pPr algn="ctr">
              <a:defRPr sz="1350" b="1">
                <a:solidFill>
                  <a:srgbClr val="D95F59"/>
                </a:solidFill>
              </a:defRPr>
            </a:pPr>
            <a:r>
              <a:rPr sz="1350" b="1">
                <a:solidFill>
                  <a:srgbClr val="D95F59"/>
                </a:solidFill>
              </a:rPr>
              <a:t>The average false-exit cost dominated.</a:t>
            </a:r>
          </a:p>
        </p:txBody>
      </p:sp>
    </p:spTree>
    <p:extLst>
      <p:ext uri="{BB962C8B-B14F-4D97-AF65-F5344CB8AC3E}">
        <p14:creationId xmlns:p14="http://schemas.microsoft.com/office/powerpoint/2010/main" val="105356240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CE899FF-1052-4357-822E-F10A6FEDD16E}"/>
              </a:ext>
            </a:extLst>
          </p:cNvPr>
          <p:cNvSpPr>
            <a:spLocks xmlns:a="http://schemas.openxmlformats.org/drawingml/2006/main" noGrp="1"/>
          </p:cNvSpPr>
          <p:nvPr/>
        </p:nvSpPr>
        <p:spPr>
          <a:xfrm xmlns:a="http://schemas.openxmlformats.org/drawingml/2006/main">
            <a:off x="476250" y="2667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REPRESENTATIVE STATE ROUTING</a:t>
            </a:r>
          </a:p>
        </p:txBody>
      </p:sp>
      <p:sp>
        <p:nvSpPr>
          <p:cNvPr id="2" name="">
            <a:extLst xmlns:a="http://schemas.openxmlformats.org/drawingml/2006/main">
              <a:ext uri="{FF2B5EF4-FFF2-40B4-BE49-F238E27FC236}">
                <a16:creationId xmlns:a16="http://schemas.microsoft.com/office/drawing/2014/main" id="{5B8DDA4D-A0CB-4FDB-A268-B4402FF76177}"/>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Trade tapes expose both protection and opportunity cost</a:t>
            </a:r>
          </a:p>
        </p:txBody>
      </p:sp>
      <p:sp>
        <p:nvSpPr>
          <p:cNvPr id="3" name="">
            <a:extLst xmlns:a="http://schemas.openxmlformats.org/drawingml/2006/main">
              <a:ext uri="{FF2B5EF4-FFF2-40B4-BE49-F238E27FC236}">
                <a16:creationId xmlns:a16="http://schemas.microsoft.com/office/drawing/2014/main" id="{4B980AA2-A7B6-40AD-AAD2-9514BC9B363B}"/>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10</a:t>
            </a:r>
          </a:p>
        </p:txBody>
      </p:sp>
      <p:sp>
        <p:nvSpPr>
          <p:cNvPr id="4" name="">
            <a:extLst xmlns:a="http://schemas.openxmlformats.org/drawingml/2006/main">
              <a:ext uri="{FF2B5EF4-FFF2-40B4-BE49-F238E27FC236}">
                <a16:creationId xmlns:a16="http://schemas.microsoft.com/office/drawing/2014/main" id="{978009BD-468C-44C6-B681-1E8DABDB7C57}"/>
              </a:ext>
            </a:extLst>
          </p:cNvPr>
          <p:cNvSpPr>
            <a:spLocks xmlns:a="http://schemas.openxmlformats.org/drawingml/2006/main" noGrp="1"/>
          </p:cNvSpPr>
          <p:nvPr/>
        </p:nvSpPr>
        <p:spPr>
          <a:xfrm xmlns:a="http://schemas.openxmlformats.org/drawingml/2006/main">
            <a:off x="523875" y="1190625"/>
            <a:ext cx="11144250" cy="5143500"/>
          </a:xfrm>
          <a:prstGeom xmlns:a="http://schemas.openxmlformats.org/drawingml/2006/main" prst="rect">
            <a:avLst/>
          </a:prstGeom>
          <a:solidFill xmlns:a="http://schemas.openxmlformats.org/drawingml/2006/main">
            <a:srgbClr val="FAFAFA"/>
          </a:solidFill>
          <a:ln xmlns:a="http://schemas.openxmlformats.org/drawingml/2006/main" w="9525">
            <a:solidFill>
              <a:srgbClr val="CCD3DA"/>
            </a:solid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11e423bef6a41bb"/>
          <a:stretch xmlns:a="http://schemas.openxmlformats.org/drawingml/2006/main"/>
        </p:blipFill>
        <p:spPr>
          <a:xfrm xmlns:a="http://schemas.openxmlformats.org/drawingml/2006/main">
            <a:off x="3524250" y="1190625"/>
            <a:ext cx="5143500" cy="5143500"/>
          </a:xfrm>
          <a:prstGeom xmlns:a="http://schemas.openxmlformats.org/drawingml/2006/main" prst="rect">
            <a:avLst/>
          </a:prstGeom>
        </p:spPr>
      </p:pic>
    </p:spTree>
    <p:extLst>
      <p:ext uri="{BB962C8B-B14F-4D97-AF65-F5344CB8AC3E}">
        <p14:creationId xmlns:p14="http://schemas.microsoft.com/office/powerpoint/2010/main" val="5609946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A7857F78-E602-4A95-ADDF-B7350F1ED02C}"/>
              </a:ext>
            </a:extLst>
          </p:cNvPr>
          <p:cNvSpPr>
            <a:spLocks xmlns:a="http://schemas.openxmlformats.org/drawingml/2006/main" noGrp="1"/>
          </p:cNvSpPr>
          <p:nvPr/>
        </p:nvSpPr>
        <p:spPr>
          <a:xfrm xmlns:a="http://schemas.openxmlformats.org/drawingml/2006/main">
            <a:off x="476250" y="2667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PREDECLARED DECISION</a:t>
            </a:r>
          </a:p>
        </p:txBody>
      </p:sp>
      <p:sp>
        <p:nvSpPr>
          <p:cNvPr id="2" name="">
            <a:extLst xmlns:a="http://schemas.openxmlformats.org/drawingml/2006/main">
              <a:ext uri="{FF2B5EF4-FFF2-40B4-BE49-F238E27FC236}">
                <a16:creationId xmlns:a16="http://schemas.microsoft.com/office/drawing/2014/main" id="{8AB38B91-DE09-4543-9BE8-3A4B25CA98D8}"/>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The complete gate stack rejects both policies</a:t>
            </a:r>
          </a:p>
        </p:txBody>
      </p:sp>
      <p:sp>
        <p:nvSpPr>
          <p:cNvPr id="3" name="">
            <a:extLst xmlns:a="http://schemas.openxmlformats.org/drawingml/2006/main">
              <a:ext uri="{FF2B5EF4-FFF2-40B4-BE49-F238E27FC236}">
                <a16:creationId xmlns:a16="http://schemas.microsoft.com/office/drawing/2014/main" id="{ECE8AA48-F877-4F20-85CB-B5890330664F}"/>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11</a:t>
            </a:r>
          </a:p>
        </p:txBody>
      </p:sp>
      <p:sp>
        <p:nvSpPr>
          <p:cNvPr id="4" name="">
            <a:extLst xmlns:a="http://schemas.openxmlformats.org/drawingml/2006/main">
              <a:ext uri="{FF2B5EF4-FFF2-40B4-BE49-F238E27FC236}">
                <a16:creationId xmlns:a16="http://schemas.microsoft.com/office/drawing/2014/main" id="{AB07DFE5-5647-4A0A-B229-C09D64B0E009}"/>
              </a:ext>
            </a:extLst>
          </p:cNvPr>
          <p:cNvSpPr>
            <a:spLocks xmlns:a="http://schemas.openxmlformats.org/drawingml/2006/main" noGrp="1"/>
          </p:cNvSpPr>
          <p:nvPr/>
        </p:nvSpPr>
        <p:spPr>
          <a:xfrm xmlns:a="http://schemas.openxmlformats.org/drawingml/2006/main">
            <a:off x="714375" y="1381125"/>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3D8DFF"/>
                </a:solidFill>
              </a:defRPr>
            </a:pPr>
            <a:r>
              <a:rPr sz="2100" b="1">
                <a:solidFill>
                  <a:srgbClr val="3D8DFF"/>
                </a:solidFill>
              </a:rPr>
              <a:t>ENTRY HIGH ONLY</a:t>
            </a:r>
          </a:p>
        </p:txBody>
      </p:sp>
      <p:sp>
        <p:nvSpPr>
          <p:cNvPr id="5" name="">
            <a:extLst xmlns:a="http://schemas.openxmlformats.org/drawingml/2006/main">
              <a:ext uri="{FF2B5EF4-FFF2-40B4-BE49-F238E27FC236}">
                <a16:creationId xmlns:a16="http://schemas.microsoft.com/office/drawing/2014/main" id="{FA40250F-13AB-4010-B81B-E6E90784D9D5}"/>
              </a:ext>
            </a:extLst>
          </p:cNvPr>
          <p:cNvSpPr>
            <a:spLocks xmlns:a="http://schemas.openxmlformats.org/drawingml/2006/main" noGrp="1"/>
          </p:cNvSpPr>
          <p:nvPr/>
        </p:nvSpPr>
        <p:spPr>
          <a:xfrm xmlns:a="http://schemas.openxmlformats.org/drawingml/2006/main">
            <a:off x="6667500" y="1381125"/>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E88B32"/>
                </a:solidFill>
              </a:defRPr>
            </a:pPr>
            <a:r>
              <a:rPr sz="2100" b="1">
                <a:solidFill>
                  <a:srgbClr val="E88B32"/>
                </a:solidFill>
              </a:rPr>
              <a:t>REACTIVE HIGH ONLY</a:t>
            </a:r>
          </a:p>
        </p:txBody>
      </p:sp>
      <p:sp>
        <p:nvSpPr>
          <p:cNvPr id="6" name="">
            <a:extLst xmlns:a="http://schemas.openxmlformats.org/drawingml/2006/main">
              <a:ext uri="{FF2B5EF4-FFF2-40B4-BE49-F238E27FC236}">
                <a16:creationId xmlns:a16="http://schemas.microsoft.com/office/drawing/2014/main" id="{39DFDD41-FF87-4346-80A1-389CC43696FD}"/>
              </a:ext>
            </a:extLst>
          </p:cNvPr>
          <p:cNvSpPr>
            <a:spLocks xmlns:a="http://schemas.openxmlformats.org/drawingml/2006/main" noGrp="1"/>
          </p:cNvSpPr>
          <p:nvPr/>
        </p:nvSpPr>
        <p:spPr>
          <a:xfrm xmlns:a="http://schemas.openxmlformats.org/drawingml/2006/main">
            <a:off x="666750" y="2047875"/>
            <a:ext cx="2571750" cy="106680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55D7BF6-6EA5-436A-B79A-3E087EE3DD4D}"/>
              </a:ext>
            </a:extLst>
          </p:cNvPr>
          <p:cNvSpPr>
            <a:spLocks xmlns:a="http://schemas.openxmlformats.org/drawingml/2006/main" noGrp="1"/>
          </p:cNvSpPr>
          <p:nvPr/>
        </p:nvSpPr>
        <p:spPr>
          <a:xfrm xmlns:a="http://schemas.openxmlformats.org/drawingml/2006/main">
            <a:off x="895350" y="219075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D95F59"/>
                </a:solidFill>
              </a:defRPr>
            </a:pPr>
            <a:r>
              <a:rPr sz="2325" b="1">
                <a:solidFill>
                  <a:srgbClr val="D95F59"/>
                </a:solidFill>
              </a:rPr>
              <a:t>4 / 8</a:t>
            </a:r>
          </a:p>
        </p:txBody>
      </p:sp>
      <p:sp>
        <p:nvSpPr>
          <p:cNvPr id="8" name="">
            <a:extLst xmlns:a="http://schemas.openxmlformats.org/drawingml/2006/main">
              <a:ext uri="{FF2B5EF4-FFF2-40B4-BE49-F238E27FC236}">
                <a16:creationId xmlns:a16="http://schemas.microsoft.com/office/drawing/2014/main" id="{BAECA2EC-237E-4917-81EA-DBD2898EDA05}"/>
              </a:ext>
            </a:extLst>
          </p:cNvPr>
          <p:cNvSpPr>
            <a:spLocks xmlns:a="http://schemas.openxmlformats.org/drawingml/2006/main" noGrp="1"/>
          </p:cNvSpPr>
          <p:nvPr/>
        </p:nvSpPr>
        <p:spPr>
          <a:xfrm xmlns:a="http://schemas.openxmlformats.org/drawingml/2006/main">
            <a:off x="895350" y="2667000"/>
            <a:ext cx="2114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gates passed</a:t>
            </a:r>
          </a:p>
        </p:txBody>
      </p:sp>
      <p:sp>
        <p:nvSpPr>
          <p:cNvPr id="9" name="">
            <a:extLst xmlns:a="http://schemas.openxmlformats.org/drawingml/2006/main">
              <a:ext uri="{FF2B5EF4-FFF2-40B4-BE49-F238E27FC236}">
                <a16:creationId xmlns:a16="http://schemas.microsoft.com/office/drawing/2014/main" id="{C7C44942-4B54-4DDD-8B7F-50A74BD69021}"/>
              </a:ext>
            </a:extLst>
          </p:cNvPr>
          <p:cNvSpPr>
            <a:spLocks xmlns:a="http://schemas.openxmlformats.org/drawingml/2006/main" noGrp="1"/>
          </p:cNvSpPr>
          <p:nvPr/>
        </p:nvSpPr>
        <p:spPr>
          <a:xfrm xmlns:a="http://schemas.openxmlformats.org/drawingml/2006/main">
            <a:off x="3429000" y="2047875"/>
            <a:ext cx="2571750" cy="1066800"/>
          </a:xfrm>
          <a:prstGeom xmlns:a="http://schemas.openxmlformats.org/drawingml/2006/main" prst="rect">
            <a:avLst/>
          </a:prstGeom>
          <a:solidFill xmlns:a="http://schemas.openxmlformats.org/drawingml/2006/main">
            <a:srgbClr val="E8F4E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4AF93ED-C3DF-4262-A51B-EF9122DC41B8}"/>
              </a:ext>
            </a:extLst>
          </p:cNvPr>
          <p:cNvSpPr>
            <a:spLocks xmlns:a="http://schemas.openxmlformats.org/drawingml/2006/main" noGrp="1"/>
          </p:cNvSpPr>
          <p:nvPr/>
        </p:nvSpPr>
        <p:spPr>
          <a:xfrm xmlns:a="http://schemas.openxmlformats.org/drawingml/2006/main">
            <a:off x="3657600" y="219075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E8B57"/>
                </a:solidFill>
              </a:defRPr>
            </a:pPr>
            <a:r>
              <a:rPr sz="2325" b="1">
                <a:solidFill>
                  <a:srgbClr val="2E8B57"/>
                </a:solidFill>
              </a:rPr>
              <a:t>85th</a:t>
            </a:r>
          </a:p>
        </p:txBody>
      </p:sp>
      <p:sp>
        <p:nvSpPr>
          <p:cNvPr id="11" name="">
            <a:extLst xmlns:a="http://schemas.openxmlformats.org/drawingml/2006/main">
              <a:ext uri="{FF2B5EF4-FFF2-40B4-BE49-F238E27FC236}">
                <a16:creationId xmlns:a16="http://schemas.microsoft.com/office/drawing/2014/main" id="{30E682EF-F2FD-4C4E-BBA5-A0C5ED933469}"/>
              </a:ext>
            </a:extLst>
          </p:cNvPr>
          <p:cNvSpPr>
            <a:spLocks xmlns:a="http://schemas.openxmlformats.org/drawingml/2006/main" noGrp="1"/>
          </p:cNvSpPr>
          <p:nvPr/>
        </p:nvSpPr>
        <p:spPr>
          <a:xfrm xmlns:a="http://schemas.openxmlformats.org/drawingml/2006/main">
            <a:off x="3657600" y="2667000"/>
            <a:ext cx="2114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timing percentile</a:t>
            </a:r>
          </a:p>
        </p:txBody>
      </p:sp>
      <p:sp>
        <p:nvSpPr>
          <p:cNvPr id="12" name="">
            <a:extLst xmlns:a="http://schemas.openxmlformats.org/drawingml/2006/main">
              <a:ext uri="{FF2B5EF4-FFF2-40B4-BE49-F238E27FC236}">
                <a16:creationId xmlns:a16="http://schemas.microsoft.com/office/drawing/2014/main" id="{B38EAAEF-3E94-46EF-9981-BF1782DC862E}"/>
              </a:ext>
            </a:extLst>
          </p:cNvPr>
          <p:cNvSpPr>
            <a:spLocks xmlns:a="http://schemas.openxmlformats.org/drawingml/2006/main" noGrp="1"/>
          </p:cNvSpPr>
          <p:nvPr/>
        </p:nvSpPr>
        <p:spPr>
          <a:xfrm xmlns:a="http://schemas.openxmlformats.org/drawingml/2006/main">
            <a:off x="6619875" y="2047875"/>
            <a:ext cx="2571750" cy="106680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29B717C-EB68-424E-923B-8BEEEF488BA7}"/>
              </a:ext>
            </a:extLst>
          </p:cNvPr>
          <p:cNvSpPr>
            <a:spLocks xmlns:a="http://schemas.openxmlformats.org/drawingml/2006/main" noGrp="1"/>
          </p:cNvSpPr>
          <p:nvPr/>
        </p:nvSpPr>
        <p:spPr>
          <a:xfrm xmlns:a="http://schemas.openxmlformats.org/drawingml/2006/main">
            <a:off x="6848475" y="219075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D95F59"/>
                </a:solidFill>
              </a:defRPr>
            </a:pPr>
            <a:r>
              <a:rPr sz="2325" b="1">
                <a:solidFill>
                  <a:srgbClr val="D95F59"/>
                </a:solidFill>
              </a:rPr>
              <a:t>3 / 8</a:t>
            </a:r>
          </a:p>
        </p:txBody>
      </p:sp>
      <p:sp>
        <p:nvSpPr>
          <p:cNvPr id="14" name="">
            <a:extLst xmlns:a="http://schemas.openxmlformats.org/drawingml/2006/main">
              <a:ext uri="{FF2B5EF4-FFF2-40B4-BE49-F238E27FC236}">
                <a16:creationId xmlns:a16="http://schemas.microsoft.com/office/drawing/2014/main" id="{C7DE4513-7981-4DE1-98BD-A70F2493BAF1}"/>
              </a:ext>
            </a:extLst>
          </p:cNvPr>
          <p:cNvSpPr>
            <a:spLocks xmlns:a="http://schemas.openxmlformats.org/drawingml/2006/main" noGrp="1"/>
          </p:cNvSpPr>
          <p:nvPr/>
        </p:nvSpPr>
        <p:spPr>
          <a:xfrm xmlns:a="http://schemas.openxmlformats.org/drawingml/2006/main">
            <a:off x="6848475" y="2667000"/>
            <a:ext cx="2114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gates passed</a:t>
            </a:r>
          </a:p>
        </p:txBody>
      </p:sp>
      <p:sp>
        <p:nvSpPr>
          <p:cNvPr id="15" name="">
            <a:extLst xmlns:a="http://schemas.openxmlformats.org/drawingml/2006/main">
              <a:ext uri="{FF2B5EF4-FFF2-40B4-BE49-F238E27FC236}">
                <a16:creationId xmlns:a16="http://schemas.microsoft.com/office/drawing/2014/main" id="{DCF00846-9BE3-4595-946C-77F6807AF807}"/>
              </a:ext>
            </a:extLst>
          </p:cNvPr>
          <p:cNvSpPr>
            <a:spLocks xmlns:a="http://schemas.openxmlformats.org/drawingml/2006/main" noGrp="1"/>
          </p:cNvSpPr>
          <p:nvPr/>
        </p:nvSpPr>
        <p:spPr>
          <a:xfrm xmlns:a="http://schemas.openxmlformats.org/drawingml/2006/main">
            <a:off x="9382125" y="2047875"/>
            <a:ext cx="2571750" cy="106680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29E2035-6D18-4834-8BB3-131BA703EAC0}"/>
              </a:ext>
            </a:extLst>
          </p:cNvPr>
          <p:cNvSpPr>
            <a:spLocks xmlns:a="http://schemas.openxmlformats.org/drawingml/2006/main" noGrp="1"/>
          </p:cNvSpPr>
          <p:nvPr/>
        </p:nvSpPr>
        <p:spPr>
          <a:xfrm xmlns:a="http://schemas.openxmlformats.org/drawingml/2006/main">
            <a:off x="9610725" y="219075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D95F59"/>
                </a:solidFill>
              </a:defRPr>
            </a:pPr>
            <a:r>
              <a:rPr sz="2325" b="1">
                <a:solidFill>
                  <a:srgbClr val="D95F59"/>
                </a:solidFill>
              </a:rPr>
              <a:t>15th</a:t>
            </a:r>
          </a:p>
        </p:txBody>
      </p:sp>
      <p:sp>
        <p:nvSpPr>
          <p:cNvPr id="17" name="">
            <a:extLst xmlns:a="http://schemas.openxmlformats.org/drawingml/2006/main">
              <a:ext uri="{FF2B5EF4-FFF2-40B4-BE49-F238E27FC236}">
                <a16:creationId xmlns:a16="http://schemas.microsoft.com/office/drawing/2014/main" id="{D37CDAA8-B5D8-43A7-8BD7-BB7712C578A2}"/>
              </a:ext>
            </a:extLst>
          </p:cNvPr>
          <p:cNvSpPr>
            <a:spLocks xmlns:a="http://schemas.openxmlformats.org/drawingml/2006/main" noGrp="1"/>
          </p:cNvSpPr>
          <p:nvPr/>
        </p:nvSpPr>
        <p:spPr>
          <a:xfrm xmlns:a="http://schemas.openxmlformats.org/drawingml/2006/main">
            <a:off x="9610725" y="2667000"/>
            <a:ext cx="2114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timing percentile</a:t>
            </a:r>
          </a:p>
        </p:txBody>
      </p:sp>
      <p:sp>
        <p:nvSpPr>
          <p:cNvPr id="18" name="">
            <a:extLst xmlns:a="http://schemas.openxmlformats.org/drawingml/2006/main">
              <a:ext uri="{FF2B5EF4-FFF2-40B4-BE49-F238E27FC236}">
                <a16:creationId xmlns:a16="http://schemas.microsoft.com/office/drawing/2014/main" id="{E2F30751-F7D1-4880-9D39-08861460FC04}"/>
              </a:ext>
            </a:extLst>
          </p:cNvPr>
          <p:cNvSpPr>
            <a:spLocks xmlns:a="http://schemas.openxmlformats.org/drawingml/2006/main" noGrp="1"/>
          </p:cNvSpPr>
          <p:nvPr/>
        </p:nvSpPr>
        <p:spPr>
          <a:xfrm xmlns:a="http://schemas.openxmlformats.org/drawingml/2006/main">
            <a:off x="666750" y="3524250"/>
            <a:ext cx="5334000" cy="1952625"/>
          </a:xfrm>
          <a:prstGeom xmlns:a="http://schemas.openxmlformats.org/drawingml/2006/main" prst="rect">
            <a:avLst/>
          </a:prstGeom>
          <a:solidFill xmlns:a="http://schemas.openxmlformats.org/drawingml/2006/main">
            <a:srgbClr val="F2F4F6"/>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C91141F-0FC0-4794-8390-577BCE9FE72E}"/>
              </a:ext>
            </a:extLst>
          </p:cNvPr>
          <p:cNvSpPr>
            <a:spLocks xmlns:a="http://schemas.openxmlformats.org/drawingml/2006/main" noGrp="1"/>
          </p:cNvSpPr>
          <p:nvPr/>
        </p:nvSpPr>
        <p:spPr>
          <a:xfrm xmlns:a="http://schemas.openxmlformats.org/drawingml/2006/main">
            <a:off x="952500" y="37623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7324D"/>
                </a:solidFill>
              </a:defRPr>
            </a:pPr>
            <a:r>
              <a:rPr sz="1800" b="1">
                <a:solidFill>
                  <a:srgbClr val="17324D"/>
                </a:solidFill>
              </a:rPr>
              <a:t>Shared failed gates</a:t>
            </a:r>
          </a:p>
        </p:txBody>
      </p:sp>
      <p:sp>
        <p:nvSpPr>
          <p:cNvPr id="20" name="">
            <a:extLst xmlns:a="http://schemas.openxmlformats.org/drawingml/2006/main">
              <a:ext uri="{FF2B5EF4-FFF2-40B4-BE49-F238E27FC236}">
                <a16:creationId xmlns:a16="http://schemas.microsoft.com/office/drawing/2014/main" id="{A36CC336-6158-490B-8902-DCE76D27B187}"/>
              </a:ext>
            </a:extLst>
          </p:cNvPr>
          <p:cNvSpPr>
            <a:spLocks xmlns:a="http://schemas.openxmlformats.org/drawingml/2006/main" noGrp="1"/>
          </p:cNvSpPr>
          <p:nvPr/>
        </p:nvSpPr>
        <p:spPr>
          <a:xfrm xmlns:a="http://schemas.openxmlformats.org/drawingml/2006/main">
            <a:off x="1047750" y="4362450"/>
            <a:ext cx="95250" cy="95250"/>
          </a:xfrm>
          <a:prstGeom xmlns:a="http://schemas.openxmlformats.org/drawingml/2006/main" prst="ellipse">
            <a:avLst/>
          </a:prstGeom>
          <a:solidFill xmlns:a="http://schemas.openxmlformats.org/drawingml/2006/main">
            <a:srgbClr val="D95F59"/>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59A486B4-68E6-4A1D-8EC3-9EFFA11B12CF}"/>
              </a:ext>
            </a:extLst>
          </p:cNvPr>
          <p:cNvSpPr>
            <a:spLocks xmlns:a="http://schemas.openxmlformats.org/drawingml/2006/main" noGrp="1"/>
          </p:cNvSpPr>
          <p:nvPr/>
        </p:nvSpPr>
        <p:spPr>
          <a:xfrm xmlns:a="http://schemas.openxmlformats.org/drawingml/2006/main">
            <a:off x="1266825" y="4286250"/>
            <a:ext cx="41624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2606D"/>
                </a:solidFill>
              </a:defRPr>
            </a:pPr>
            <a:r>
              <a:rPr sz="1350" b="0">
                <a:solidFill>
                  <a:srgbClr val="52606D"/>
                </a:solidFill>
              </a:rPr>
              <a:t>Panel return</a:t>
            </a:r>
          </a:p>
        </p:txBody>
      </p:sp>
      <p:sp>
        <p:nvSpPr>
          <p:cNvPr id="22" name="">
            <a:extLst xmlns:a="http://schemas.openxmlformats.org/drawingml/2006/main">
              <a:ext uri="{FF2B5EF4-FFF2-40B4-BE49-F238E27FC236}">
                <a16:creationId xmlns:a16="http://schemas.microsoft.com/office/drawing/2014/main" id="{EDB6BCBE-6FFC-4C0A-9027-D4D38E43C418}"/>
              </a:ext>
            </a:extLst>
          </p:cNvPr>
          <p:cNvSpPr>
            <a:spLocks xmlns:a="http://schemas.openxmlformats.org/drawingml/2006/main" noGrp="1"/>
          </p:cNvSpPr>
          <p:nvPr/>
        </p:nvSpPr>
        <p:spPr>
          <a:xfrm xmlns:a="http://schemas.openxmlformats.org/drawingml/2006/main">
            <a:off x="1047750" y="4657725"/>
            <a:ext cx="95250" cy="95250"/>
          </a:xfrm>
          <a:prstGeom xmlns:a="http://schemas.openxmlformats.org/drawingml/2006/main" prst="ellipse">
            <a:avLst/>
          </a:prstGeom>
          <a:solidFill xmlns:a="http://schemas.openxmlformats.org/drawingml/2006/main">
            <a:srgbClr val="D95F59"/>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6734159-4EEE-4DA6-B312-AD88C2AA9B3D}"/>
              </a:ext>
            </a:extLst>
          </p:cNvPr>
          <p:cNvSpPr>
            <a:spLocks xmlns:a="http://schemas.openxmlformats.org/drawingml/2006/main" noGrp="1"/>
          </p:cNvSpPr>
          <p:nvPr/>
        </p:nvSpPr>
        <p:spPr>
          <a:xfrm xmlns:a="http://schemas.openxmlformats.org/drawingml/2006/main">
            <a:off x="1266825" y="4581525"/>
            <a:ext cx="41624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2606D"/>
                </a:solidFill>
              </a:defRPr>
            </a:pPr>
            <a:r>
              <a:rPr sz="1350" b="0">
                <a:solidFill>
                  <a:srgbClr val="52606D"/>
                </a:solidFill>
              </a:rPr>
              <a:t>Asset breadth</a:t>
            </a:r>
          </a:p>
        </p:txBody>
      </p:sp>
      <p:sp>
        <p:nvSpPr>
          <p:cNvPr id="24" name="">
            <a:extLst xmlns:a="http://schemas.openxmlformats.org/drawingml/2006/main">
              <a:ext uri="{FF2B5EF4-FFF2-40B4-BE49-F238E27FC236}">
                <a16:creationId xmlns:a16="http://schemas.microsoft.com/office/drawing/2014/main" id="{FD0FD46E-09F7-429F-A79D-2E0A6098FC4D}"/>
              </a:ext>
            </a:extLst>
          </p:cNvPr>
          <p:cNvSpPr>
            <a:spLocks xmlns:a="http://schemas.openxmlformats.org/drawingml/2006/main" noGrp="1"/>
          </p:cNvSpPr>
          <p:nvPr/>
        </p:nvSpPr>
        <p:spPr>
          <a:xfrm xmlns:a="http://schemas.openxmlformats.org/drawingml/2006/main">
            <a:off x="1047750" y="4953000"/>
            <a:ext cx="95250" cy="95250"/>
          </a:xfrm>
          <a:prstGeom xmlns:a="http://schemas.openxmlformats.org/drawingml/2006/main" prst="ellipse">
            <a:avLst/>
          </a:prstGeom>
          <a:solidFill xmlns:a="http://schemas.openxmlformats.org/drawingml/2006/main">
            <a:srgbClr val="D95F59"/>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21007DEE-B1D8-4F65-A91E-476EF5385AF0}"/>
              </a:ext>
            </a:extLst>
          </p:cNvPr>
          <p:cNvSpPr>
            <a:spLocks xmlns:a="http://schemas.openxmlformats.org/drawingml/2006/main" noGrp="1"/>
          </p:cNvSpPr>
          <p:nvPr/>
        </p:nvSpPr>
        <p:spPr>
          <a:xfrm xmlns:a="http://schemas.openxmlformats.org/drawingml/2006/main">
            <a:off x="1266825" y="4876800"/>
            <a:ext cx="41624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2606D"/>
                </a:solidFill>
              </a:defRPr>
            </a:pPr>
            <a:r>
              <a:rPr sz="1350" b="0">
                <a:solidFill>
                  <a:srgbClr val="52606D"/>
                </a:solidFill>
              </a:rPr>
              <a:t>Calendar breadth</a:t>
            </a:r>
          </a:p>
        </p:txBody>
      </p:sp>
      <p:sp>
        <p:nvSpPr>
          <p:cNvPr id="26" name="">
            <a:extLst xmlns:a="http://schemas.openxmlformats.org/drawingml/2006/main">
              <a:ext uri="{FF2B5EF4-FFF2-40B4-BE49-F238E27FC236}">
                <a16:creationId xmlns:a16="http://schemas.microsoft.com/office/drawing/2014/main" id="{1FCDEC8A-FE8C-4FEA-8C3C-BF3ACF128B6B}"/>
              </a:ext>
            </a:extLst>
          </p:cNvPr>
          <p:cNvSpPr>
            <a:spLocks xmlns:a="http://schemas.openxmlformats.org/drawingml/2006/main" noGrp="1"/>
          </p:cNvSpPr>
          <p:nvPr/>
        </p:nvSpPr>
        <p:spPr>
          <a:xfrm xmlns:a="http://schemas.openxmlformats.org/drawingml/2006/main">
            <a:off x="1047750" y="5248275"/>
            <a:ext cx="95250" cy="95250"/>
          </a:xfrm>
          <a:prstGeom xmlns:a="http://schemas.openxmlformats.org/drawingml/2006/main" prst="ellipse">
            <a:avLst/>
          </a:prstGeom>
          <a:solidFill xmlns:a="http://schemas.openxmlformats.org/drawingml/2006/main">
            <a:srgbClr val="D95F59"/>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4E69EFB4-F054-49A0-A874-2D2D16AD641D}"/>
              </a:ext>
            </a:extLst>
          </p:cNvPr>
          <p:cNvSpPr>
            <a:spLocks xmlns:a="http://schemas.openxmlformats.org/drawingml/2006/main" noGrp="1"/>
          </p:cNvSpPr>
          <p:nvPr/>
        </p:nvSpPr>
        <p:spPr>
          <a:xfrm xmlns:a="http://schemas.openxmlformats.org/drawingml/2006/main">
            <a:off x="1266825" y="5172075"/>
            <a:ext cx="41624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2606D"/>
                </a:solidFill>
              </a:defRPr>
            </a:pPr>
            <a:r>
              <a:rPr sz="1350" b="0">
                <a:solidFill>
                  <a:srgbClr val="52606D"/>
                </a:solidFill>
              </a:rPr>
              <a:t>Protection + Sharpe</a:t>
            </a:r>
          </a:p>
        </p:txBody>
      </p:sp>
      <p:sp>
        <p:nvSpPr>
          <p:cNvPr id="28" name="">
            <a:extLst xmlns:a="http://schemas.openxmlformats.org/drawingml/2006/main">
              <a:ext uri="{FF2B5EF4-FFF2-40B4-BE49-F238E27FC236}">
                <a16:creationId xmlns:a16="http://schemas.microsoft.com/office/drawing/2014/main" id="{19F4762A-5CEF-4625-ABA8-67A0EF294BC4}"/>
              </a:ext>
            </a:extLst>
          </p:cNvPr>
          <p:cNvSpPr>
            <a:spLocks xmlns:a="http://schemas.openxmlformats.org/drawingml/2006/main" noGrp="1"/>
          </p:cNvSpPr>
          <p:nvPr/>
        </p:nvSpPr>
        <p:spPr>
          <a:xfrm xmlns:a="http://schemas.openxmlformats.org/drawingml/2006/main">
            <a:off x="6619875" y="3524250"/>
            <a:ext cx="5095875" cy="1952625"/>
          </a:xfrm>
          <a:prstGeom xmlns:a="http://schemas.openxmlformats.org/drawingml/2006/main" prst="rect">
            <a:avLst/>
          </a:prstGeom>
          <a:solidFill xmlns:a="http://schemas.openxmlformats.org/drawingml/2006/main">
            <a:srgbClr val="F2F4F6"/>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104DB0EB-CEAC-465D-B812-61FE4CA94386}"/>
              </a:ext>
            </a:extLst>
          </p:cNvPr>
          <p:cNvSpPr>
            <a:spLocks xmlns:a="http://schemas.openxmlformats.org/drawingml/2006/main" noGrp="1"/>
          </p:cNvSpPr>
          <p:nvPr/>
        </p:nvSpPr>
        <p:spPr>
          <a:xfrm xmlns:a="http://schemas.openxmlformats.org/drawingml/2006/main">
            <a:off x="6905625" y="3762375"/>
            <a:ext cx="4524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7324D"/>
                </a:solidFill>
              </a:defRPr>
            </a:pPr>
            <a:r>
              <a:rPr sz="1800" b="1">
                <a:solidFill>
                  <a:srgbClr val="17324D"/>
                </a:solidFill>
              </a:rPr>
              <a:t>Reactive-only additional failure</a:t>
            </a:r>
          </a:p>
        </p:txBody>
      </p:sp>
      <p:sp>
        <p:nvSpPr>
          <p:cNvPr id="30" name="">
            <a:extLst xmlns:a="http://schemas.openxmlformats.org/drawingml/2006/main">
              <a:ext uri="{FF2B5EF4-FFF2-40B4-BE49-F238E27FC236}">
                <a16:creationId xmlns:a16="http://schemas.microsoft.com/office/drawing/2014/main" id="{705251CC-CA26-4041-B844-7B15238443DA}"/>
              </a:ext>
            </a:extLst>
          </p:cNvPr>
          <p:cNvSpPr>
            <a:spLocks xmlns:a="http://schemas.openxmlformats.org/drawingml/2006/main" noGrp="1"/>
          </p:cNvSpPr>
          <p:nvPr/>
        </p:nvSpPr>
        <p:spPr>
          <a:xfrm xmlns:a="http://schemas.openxmlformats.org/drawingml/2006/main">
            <a:off x="7191375" y="4524375"/>
            <a:ext cx="3952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1">
                <a:solidFill>
                  <a:srgbClr val="D95F59"/>
                </a:solidFill>
              </a:defRPr>
            </a:pPr>
            <a:r>
              <a:rPr sz="1800" b="1">
                <a:solidFill>
                  <a:srgbClr val="D95F59"/>
                </a:solidFill>
              </a:rPr>
              <a:t>State specificity</a:t>
            </a:r>
          </a:p>
        </p:txBody>
      </p:sp>
      <p:sp>
        <p:nvSpPr>
          <p:cNvPr id="31" name="">
            <a:extLst xmlns:a="http://schemas.openxmlformats.org/drawingml/2006/main">
              <a:ext uri="{FF2B5EF4-FFF2-40B4-BE49-F238E27FC236}">
                <a16:creationId xmlns:a16="http://schemas.microsoft.com/office/drawing/2014/main" id="{81365EFF-5B84-4894-8CD8-F22A84C7CB1C}"/>
              </a:ext>
            </a:extLst>
          </p:cNvPr>
          <p:cNvSpPr>
            <a:spLocks xmlns:a="http://schemas.openxmlformats.org/drawingml/2006/main" noGrp="1"/>
          </p:cNvSpPr>
          <p:nvPr/>
        </p:nvSpPr>
        <p:spPr>
          <a:xfrm xmlns:a="http://schemas.openxmlformats.org/drawingml/2006/main">
            <a:off x="7096125" y="5000625"/>
            <a:ext cx="4143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52606D"/>
                </a:solidFill>
              </a:defRPr>
            </a:pPr>
            <a:r>
              <a:rPr sz="1275" b="0">
                <a:solidFill>
                  <a:srgbClr val="52606D"/>
                </a:solidFill>
              </a:rPr>
              <a:t>Real exit timing was worse than most exposure-near rotations.</a:t>
            </a:r>
          </a:p>
        </p:txBody>
      </p:sp>
      <p:sp>
        <p:nvSpPr>
          <p:cNvPr id="32" name="">
            <a:extLst xmlns:a="http://schemas.openxmlformats.org/drawingml/2006/main">
              <a:ext uri="{FF2B5EF4-FFF2-40B4-BE49-F238E27FC236}">
                <a16:creationId xmlns:a16="http://schemas.microsoft.com/office/drawing/2014/main" id="{8C32A5CF-9F69-4711-8388-96994784525B}"/>
              </a:ext>
            </a:extLst>
          </p:cNvPr>
          <p:cNvSpPr>
            <a:spLocks xmlns:a="http://schemas.openxmlformats.org/drawingml/2006/main" noGrp="1"/>
          </p:cNvSpPr>
          <p:nvPr/>
        </p:nvSpPr>
        <p:spPr>
          <a:xfrm xmlns:a="http://schemas.openxmlformats.org/drawingml/2006/main">
            <a:off x="1714500" y="5857875"/>
            <a:ext cx="8763000" cy="428625"/>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26837E5D-3B52-4909-BAC1-1EAD2F2327E7}"/>
              </a:ext>
            </a:extLst>
          </p:cNvPr>
          <p:cNvSpPr>
            <a:spLocks xmlns:a="http://schemas.openxmlformats.org/drawingml/2006/main" noGrp="1"/>
          </p:cNvSpPr>
          <p:nvPr/>
        </p:nvSpPr>
        <p:spPr>
          <a:xfrm xmlns:a="http://schemas.openxmlformats.org/drawingml/2006/main">
            <a:off x="1905000" y="5972175"/>
            <a:ext cx="838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D95F59"/>
                </a:solidFill>
              </a:defRPr>
            </a:pPr>
            <a:r>
              <a:rPr sz="1350" b="1">
                <a:solidFill>
                  <a:srgbClr val="D95F59"/>
                </a:solidFill>
              </a:rPr>
              <a:t>STOP_ADX_STRATEGY_RELATIVE_GATES_FAILED_CONFIRMATION_NOT_RUN</a:t>
            </a:r>
          </a:p>
        </p:txBody>
      </p:sp>
    </p:spTree>
    <p:extLst>
      <p:ext uri="{BB962C8B-B14F-4D97-AF65-F5344CB8AC3E}">
        <p14:creationId xmlns:p14="http://schemas.microsoft.com/office/powerpoint/2010/main" val="18480727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ECD3E0BA-F4AB-4F2E-BCA0-59725D20F6DD}"/>
              </a:ext>
            </a:extLst>
          </p:cNvPr>
          <p:cNvSpPr>
            <a:spLocks xmlns:a="http://schemas.openxmlformats.org/drawingml/2006/main" noGrp="1"/>
          </p:cNvSpPr>
          <p:nvPr/>
        </p:nvSpPr>
        <p:spPr>
          <a:xfrm xmlns:a="http://schemas.openxmlformats.org/drawingml/2006/main">
            <a:off x="476250" y="2667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WHAT THIS CHANGES</a:t>
            </a:r>
          </a:p>
        </p:txBody>
      </p:sp>
      <p:sp>
        <p:nvSpPr>
          <p:cNvPr id="2" name="">
            <a:extLst xmlns:a="http://schemas.openxmlformats.org/drawingml/2006/main">
              <a:ext uri="{FF2B5EF4-FFF2-40B4-BE49-F238E27FC236}">
                <a16:creationId xmlns:a16="http://schemas.microsoft.com/office/drawing/2014/main" id="{1000B698-1B0C-4764-8947-253C52734C05}"/>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Keep the conceptual lesson; set down these mechanics</a:t>
            </a:r>
          </a:p>
        </p:txBody>
      </p:sp>
      <p:sp>
        <p:nvSpPr>
          <p:cNvPr id="3" name="">
            <a:extLst xmlns:a="http://schemas.openxmlformats.org/drawingml/2006/main">
              <a:ext uri="{FF2B5EF4-FFF2-40B4-BE49-F238E27FC236}">
                <a16:creationId xmlns:a16="http://schemas.microsoft.com/office/drawing/2014/main" id="{71E2E0A8-6A7F-4445-B025-0F4B0BA3CB09}"/>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12</a:t>
            </a:r>
          </a:p>
        </p:txBody>
      </p:sp>
      <p:sp>
        <p:nvSpPr>
          <p:cNvPr id="4" name="">
            <a:extLst xmlns:a="http://schemas.openxmlformats.org/drawingml/2006/main">
              <a:ext uri="{FF2B5EF4-FFF2-40B4-BE49-F238E27FC236}">
                <a16:creationId xmlns:a16="http://schemas.microsoft.com/office/drawing/2014/main" id="{259C69A6-ACB1-4CDC-82B0-B366EE468289}"/>
              </a:ext>
            </a:extLst>
          </p:cNvPr>
          <p:cNvSpPr>
            <a:spLocks xmlns:a="http://schemas.openxmlformats.org/drawingml/2006/main" noGrp="1"/>
          </p:cNvSpPr>
          <p:nvPr/>
        </p:nvSpPr>
        <p:spPr>
          <a:xfrm xmlns:a="http://schemas.openxmlformats.org/drawingml/2006/main">
            <a:off x="523875" y="1381125"/>
            <a:ext cx="5381625" cy="4000500"/>
          </a:xfrm>
          <a:prstGeom xmlns:a="http://schemas.openxmlformats.org/drawingml/2006/main" prst="rect">
            <a:avLst/>
          </a:prstGeom>
          <a:solidFill xmlns:a="http://schemas.openxmlformats.org/drawingml/2006/main">
            <a:srgbClr val="E8F4E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0FD72B6-C40A-4577-869F-8B04BFA4D398}"/>
              </a:ext>
            </a:extLst>
          </p:cNvPr>
          <p:cNvSpPr>
            <a:spLocks xmlns:a="http://schemas.openxmlformats.org/drawingml/2006/main" noGrp="1"/>
          </p:cNvSpPr>
          <p:nvPr/>
        </p:nvSpPr>
        <p:spPr>
          <a:xfrm xmlns:a="http://schemas.openxmlformats.org/drawingml/2006/main">
            <a:off x="857250" y="1666875"/>
            <a:ext cx="4714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2E8B57"/>
                </a:solidFill>
              </a:defRPr>
            </a:pPr>
            <a:r>
              <a:rPr sz="2100" b="1">
                <a:solidFill>
                  <a:srgbClr val="2E8B57"/>
                </a:solidFill>
              </a:rPr>
              <a:t>Preserve</a:t>
            </a:r>
          </a:p>
        </p:txBody>
      </p:sp>
      <p:sp>
        <p:nvSpPr>
          <p:cNvPr id="6" name="">
            <a:extLst xmlns:a="http://schemas.openxmlformats.org/drawingml/2006/main">
              <a:ext uri="{FF2B5EF4-FFF2-40B4-BE49-F238E27FC236}">
                <a16:creationId xmlns:a16="http://schemas.microsoft.com/office/drawing/2014/main" id="{0F0DF5B6-182D-4B53-96F6-4234E2967E7A}"/>
              </a:ext>
            </a:extLst>
          </p:cNvPr>
          <p:cNvSpPr>
            <a:spLocks xmlns:a="http://schemas.openxmlformats.org/drawingml/2006/main" noGrp="1"/>
          </p:cNvSpPr>
          <p:nvPr/>
        </p:nvSpPr>
        <p:spPr>
          <a:xfrm xmlns:a="http://schemas.openxmlformats.org/drawingml/2006/main">
            <a:off x="904875" y="2409825"/>
            <a:ext cx="95250" cy="95250"/>
          </a:xfrm>
          <a:prstGeom xmlns:a="http://schemas.openxmlformats.org/drawingml/2006/main" prst="ellipse">
            <a:avLst/>
          </a:prstGeom>
          <a:solidFill xmlns:a="http://schemas.openxmlformats.org/drawingml/2006/main">
            <a:srgbClr val="2E8B5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B7F2103-6018-40DF-B0F6-FE4E5C6635FC}"/>
              </a:ext>
            </a:extLst>
          </p:cNvPr>
          <p:cNvSpPr>
            <a:spLocks xmlns:a="http://schemas.openxmlformats.org/drawingml/2006/main" noGrp="1"/>
          </p:cNvSpPr>
          <p:nvPr/>
        </p:nvSpPr>
        <p:spPr>
          <a:xfrm xmlns:a="http://schemas.openxmlformats.org/drawingml/2006/main">
            <a:off x="1123950" y="2333625"/>
            <a:ext cx="43529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2606D"/>
                </a:solidFill>
              </a:defRPr>
            </a:pPr>
            <a:r>
              <a:rPr sz="1350" b="0">
                <a:solidFill>
                  <a:srgbClr val="52606D"/>
                </a:solidFill>
              </a:rPr>
              <a:t>Present-state utility is strategy-relative, not synonymous with state forecasting</a:t>
            </a:r>
          </a:p>
        </p:txBody>
      </p:sp>
      <p:sp>
        <p:nvSpPr>
          <p:cNvPr id="8" name="">
            <a:extLst xmlns:a="http://schemas.openxmlformats.org/drawingml/2006/main">
              <a:ext uri="{FF2B5EF4-FFF2-40B4-BE49-F238E27FC236}">
                <a16:creationId xmlns:a16="http://schemas.microsoft.com/office/drawing/2014/main" id="{B4F2C3DC-0B6D-4D59-99A5-8DF2A44C40A6}"/>
              </a:ext>
            </a:extLst>
          </p:cNvPr>
          <p:cNvSpPr>
            <a:spLocks xmlns:a="http://schemas.openxmlformats.org/drawingml/2006/main" noGrp="1"/>
          </p:cNvSpPr>
          <p:nvPr/>
        </p:nvSpPr>
        <p:spPr>
          <a:xfrm xmlns:a="http://schemas.openxmlformats.org/drawingml/2006/main">
            <a:off x="904875" y="2981325"/>
            <a:ext cx="95250" cy="95250"/>
          </a:xfrm>
          <a:prstGeom xmlns:a="http://schemas.openxmlformats.org/drawingml/2006/main" prst="ellipse">
            <a:avLst/>
          </a:prstGeom>
          <a:solidFill xmlns:a="http://schemas.openxmlformats.org/drawingml/2006/main">
            <a:srgbClr val="2E8B5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73BE608-0903-49C8-93B4-DD610A8D328F}"/>
              </a:ext>
            </a:extLst>
          </p:cNvPr>
          <p:cNvSpPr>
            <a:spLocks xmlns:a="http://schemas.openxmlformats.org/drawingml/2006/main" noGrp="1"/>
          </p:cNvSpPr>
          <p:nvPr/>
        </p:nvSpPr>
        <p:spPr>
          <a:xfrm xmlns:a="http://schemas.openxmlformats.org/drawingml/2006/main">
            <a:off x="1123950" y="2905125"/>
            <a:ext cx="43529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2606D"/>
                </a:solidFill>
              </a:defRPr>
            </a:pPr>
            <a:r>
              <a:rPr sz="1350" b="0">
                <a:solidFill>
                  <a:srgbClr val="52606D"/>
                </a:solidFill>
              </a:rPr>
              <a:t>Causal update cadence can be enough when the policy is allowed to react next open</a:t>
            </a:r>
          </a:p>
        </p:txBody>
      </p:sp>
      <p:sp>
        <p:nvSpPr>
          <p:cNvPr id="10" name="">
            <a:extLst xmlns:a="http://schemas.openxmlformats.org/drawingml/2006/main">
              <a:ext uri="{FF2B5EF4-FFF2-40B4-BE49-F238E27FC236}">
                <a16:creationId xmlns:a16="http://schemas.microsoft.com/office/drawing/2014/main" id="{6FE3FADF-F608-4D5A-9092-C383D768C4A6}"/>
              </a:ext>
            </a:extLst>
          </p:cNvPr>
          <p:cNvSpPr>
            <a:spLocks xmlns:a="http://schemas.openxmlformats.org/drawingml/2006/main" noGrp="1"/>
          </p:cNvSpPr>
          <p:nvPr/>
        </p:nvSpPr>
        <p:spPr>
          <a:xfrm xmlns:a="http://schemas.openxmlformats.org/drawingml/2006/main">
            <a:off x="904875" y="3552825"/>
            <a:ext cx="95250" cy="95250"/>
          </a:xfrm>
          <a:prstGeom xmlns:a="http://schemas.openxmlformats.org/drawingml/2006/main" prst="ellipse">
            <a:avLst/>
          </a:prstGeom>
          <a:solidFill xmlns:a="http://schemas.openxmlformats.org/drawingml/2006/main">
            <a:srgbClr val="2E8B5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3C1DF83-8AD5-4EBA-A8E5-3D4F4661D313}"/>
              </a:ext>
            </a:extLst>
          </p:cNvPr>
          <p:cNvSpPr>
            <a:spLocks xmlns:a="http://schemas.openxmlformats.org/drawingml/2006/main" noGrp="1"/>
          </p:cNvSpPr>
          <p:nvPr/>
        </p:nvSpPr>
        <p:spPr>
          <a:xfrm xmlns:a="http://schemas.openxmlformats.org/drawingml/2006/main">
            <a:off x="1123950" y="3476625"/>
            <a:ext cx="43529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2606D"/>
                </a:solidFill>
              </a:defRPr>
            </a:pPr>
            <a:r>
              <a:rPr sz="1350" b="0">
                <a:solidFill>
                  <a:srgbClr val="52606D"/>
                </a:solidFill>
              </a:rPr>
              <a:t>HIGH ADX contained real entry-ranking information</a:t>
            </a:r>
          </a:p>
        </p:txBody>
      </p:sp>
      <p:sp>
        <p:nvSpPr>
          <p:cNvPr id="12" name="">
            <a:extLst xmlns:a="http://schemas.openxmlformats.org/drawingml/2006/main">
              <a:ext uri="{FF2B5EF4-FFF2-40B4-BE49-F238E27FC236}">
                <a16:creationId xmlns:a16="http://schemas.microsoft.com/office/drawing/2014/main" id="{C9BE6EED-536B-4A21-AD9F-B0D208B991FF}"/>
              </a:ext>
            </a:extLst>
          </p:cNvPr>
          <p:cNvSpPr>
            <a:spLocks xmlns:a="http://schemas.openxmlformats.org/drawingml/2006/main" noGrp="1"/>
          </p:cNvSpPr>
          <p:nvPr/>
        </p:nvSpPr>
        <p:spPr>
          <a:xfrm xmlns:a="http://schemas.openxmlformats.org/drawingml/2006/main">
            <a:off x="904875" y="4124325"/>
            <a:ext cx="95250" cy="95250"/>
          </a:xfrm>
          <a:prstGeom xmlns:a="http://schemas.openxmlformats.org/drawingml/2006/main" prst="ellipse">
            <a:avLst/>
          </a:prstGeom>
          <a:solidFill xmlns:a="http://schemas.openxmlformats.org/drawingml/2006/main">
            <a:srgbClr val="2E8B5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3AD9E24-61C0-418C-9D1A-B4B3B415C74C}"/>
              </a:ext>
            </a:extLst>
          </p:cNvPr>
          <p:cNvSpPr>
            <a:spLocks xmlns:a="http://schemas.openxmlformats.org/drawingml/2006/main" noGrp="1"/>
          </p:cNvSpPr>
          <p:nvPr/>
        </p:nvSpPr>
        <p:spPr>
          <a:xfrm xmlns:a="http://schemas.openxmlformats.org/drawingml/2006/main">
            <a:off x="1123950" y="4048125"/>
            <a:ext cx="43529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2606D"/>
                </a:solidFill>
              </a:defRPr>
            </a:pPr>
            <a:r>
              <a:rPr sz="1350" b="0">
                <a:solidFill>
                  <a:srgbClr val="52606D"/>
                </a:solidFill>
              </a:rPr>
              <a:t>Matched exposure and timing controls are essential</a:t>
            </a:r>
          </a:p>
        </p:txBody>
      </p:sp>
      <p:sp>
        <p:nvSpPr>
          <p:cNvPr id="14" name="">
            <a:extLst xmlns:a="http://schemas.openxmlformats.org/drawingml/2006/main">
              <a:ext uri="{FF2B5EF4-FFF2-40B4-BE49-F238E27FC236}">
                <a16:creationId xmlns:a16="http://schemas.microsoft.com/office/drawing/2014/main" id="{C0950C95-FB7D-4FFC-AC7F-170A9BC2C060}"/>
              </a:ext>
            </a:extLst>
          </p:cNvPr>
          <p:cNvSpPr>
            <a:spLocks xmlns:a="http://schemas.openxmlformats.org/drawingml/2006/main" noGrp="1"/>
          </p:cNvSpPr>
          <p:nvPr/>
        </p:nvSpPr>
        <p:spPr>
          <a:xfrm xmlns:a="http://schemas.openxmlformats.org/drawingml/2006/main">
            <a:off x="6286500" y="1381125"/>
            <a:ext cx="5381625" cy="400050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B95F1E7-6354-40F7-A587-ADA173115FD8}"/>
              </a:ext>
            </a:extLst>
          </p:cNvPr>
          <p:cNvSpPr>
            <a:spLocks xmlns:a="http://schemas.openxmlformats.org/drawingml/2006/main" noGrp="1"/>
          </p:cNvSpPr>
          <p:nvPr/>
        </p:nvSpPr>
        <p:spPr>
          <a:xfrm xmlns:a="http://schemas.openxmlformats.org/drawingml/2006/main">
            <a:off x="6619875" y="1666875"/>
            <a:ext cx="4714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D95F59"/>
                </a:solidFill>
              </a:defRPr>
            </a:pPr>
            <a:r>
              <a:rPr sz="2100" b="1">
                <a:solidFill>
                  <a:srgbClr val="D95F59"/>
                </a:solidFill>
              </a:rPr>
              <a:t>Do not infer</a:t>
            </a:r>
          </a:p>
        </p:txBody>
      </p:sp>
      <p:sp>
        <p:nvSpPr>
          <p:cNvPr id="16" name="">
            <a:extLst xmlns:a="http://schemas.openxmlformats.org/drawingml/2006/main">
              <a:ext uri="{FF2B5EF4-FFF2-40B4-BE49-F238E27FC236}">
                <a16:creationId xmlns:a16="http://schemas.microsoft.com/office/drawing/2014/main" id="{2B00E822-6D85-4987-9262-7CEA28E0136D}"/>
              </a:ext>
            </a:extLst>
          </p:cNvPr>
          <p:cNvSpPr>
            <a:spLocks xmlns:a="http://schemas.openxmlformats.org/drawingml/2006/main" noGrp="1"/>
          </p:cNvSpPr>
          <p:nvPr/>
        </p:nvSpPr>
        <p:spPr>
          <a:xfrm xmlns:a="http://schemas.openxmlformats.org/drawingml/2006/main">
            <a:off x="6667500" y="2409825"/>
            <a:ext cx="95250" cy="95250"/>
          </a:xfrm>
          <a:prstGeom xmlns:a="http://schemas.openxmlformats.org/drawingml/2006/main" prst="ellipse">
            <a:avLst/>
          </a:prstGeom>
          <a:solidFill xmlns:a="http://schemas.openxmlformats.org/drawingml/2006/main">
            <a:srgbClr val="D95F5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29E1CF0-5FA9-422D-A15B-428855418388}"/>
              </a:ext>
            </a:extLst>
          </p:cNvPr>
          <p:cNvSpPr>
            <a:spLocks xmlns:a="http://schemas.openxmlformats.org/drawingml/2006/main" noGrp="1"/>
          </p:cNvSpPr>
          <p:nvPr/>
        </p:nvSpPr>
        <p:spPr>
          <a:xfrm xmlns:a="http://schemas.openxmlformats.org/drawingml/2006/main">
            <a:off x="6886575" y="2333625"/>
            <a:ext cx="43529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2606D"/>
                </a:solidFill>
              </a:defRPr>
            </a:pPr>
            <a:r>
              <a:rPr sz="1350" b="0">
                <a:solidFill>
                  <a:srgbClr val="52606D"/>
                </a:solidFill>
              </a:rPr>
              <a:t>That HIGH-only gating improves the SMA strategy</a:t>
            </a:r>
          </a:p>
        </p:txBody>
      </p:sp>
      <p:sp>
        <p:nvSpPr>
          <p:cNvPr id="18" name="">
            <a:extLst xmlns:a="http://schemas.openxmlformats.org/drawingml/2006/main">
              <a:ext uri="{FF2B5EF4-FFF2-40B4-BE49-F238E27FC236}">
                <a16:creationId xmlns:a16="http://schemas.microsoft.com/office/drawing/2014/main" id="{927BA048-D880-49EC-859A-41ED4E97C0B1}"/>
              </a:ext>
            </a:extLst>
          </p:cNvPr>
          <p:cNvSpPr>
            <a:spLocks xmlns:a="http://schemas.openxmlformats.org/drawingml/2006/main" noGrp="1"/>
          </p:cNvSpPr>
          <p:nvPr/>
        </p:nvSpPr>
        <p:spPr>
          <a:xfrm xmlns:a="http://schemas.openxmlformats.org/drawingml/2006/main">
            <a:off x="6667500" y="2981325"/>
            <a:ext cx="95250" cy="95250"/>
          </a:xfrm>
          <a:prstGeom xmlns:a="http://schemas.openxmlformats.org/drawingml/2006/main" prst="ellipse">
            <a:avLst/>
          </a:prstGeom>
          <a:solidFill xmlns:a="http://schemas.openxmlformats.org/drawingml/2006/main">
            <a:srgbClr val="D95F5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5890322E-A453-4241-A8C6-E4ED1E3DCAEE}"/>
              </a:ext>
            </a:extLst>
          </p:cNvPr>
          <p:cNvSpPr>
            <a:spLocks xmlns:a="http://schemas.openxmlformats.org/drawingml/2006/main" noGrp="1"/>
          </p:cNvSpPr>
          <p:nvPr/>
        </p:nvSpPr>
        <p:spPr>
          <a:xfrm xmlns:a="http://schemas.openxmlformats.org/drawingml/2006/main">
            <a:off x="6886575" y="2905125"/>
            <a:ext cx="43529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2606D"/>
                </a:solidFill>
              </a:defRPr>
            </a:pPr>
            <a:r>
              <a:rPr sz="1350" b="0">
                <a:solidFill>
                  <a:srgbClr val="52606D"/>
                </a:solidFill>
              </a:rPr>
              <a:t>That leaving HIGH should force liquidation</a:t>
            </a:r>
          </a:p>
        </p:txBody>
      </p:sp>
      <p:sp>
        <p:nvSpPr>
          <p:cNvPr id="20" name="">
            <a:extLst xmlns:a="http://schemas.openxmlformats.org/drawingml/2006/main">
              <a:ext uri="{FF2B5EF4-FFF2-40B4-BE49-F238E27FC236}">
                <a16:creationId xmlns:a16="http://schemas.microsoft.com/office/drawing/2014/main" id="{EEF5BC20-7F05-4077-A39F-50B51C83DFAF}"/>
              </a:ext>
            </a:extLst>
          </p:cNvPr>
          <p:cNvSpPr>
            <a:spLocks xmlns:a="http://schemas.openxmlformats.org/drawingml/2006/main" noGrp="1"/>
          </p:cNvSpPr>
          <p:nvPr/>
        </p:nvSpPr>
        <p:spPr>
          <a:xfrm xmlns:a="http://schemas.openxmlformats.org/drawingml/2006/main">
            <a:off x="6667500" y="3552825"/>
            <a:ext cx="95250" cy="95250"/>
          </a:xfrm>
          <a:prstGeom xmlns:a="http://schemas.openxmlformats.org/drawingml/2006/main" prst="ellipse">
            <a:avLst/>
          </a:prstGeom>
          <a:solidFill xmlns:a="http://schemas.openxmlformats.org/drawingml/2006/main">
            <a:srgbClr val="D95F59"/>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D5ABB28-8EE4-464A-AAA4-3A7C74BE082C}"/>
              </a:ext>
            </a:extLst>
          </p:cNvPr>
          <p:cNvSpPr>
            <a:spLocks xmlns:a="http://schemas.openxmlformats.org/drawingml/2006/main" noGrp="1"/>
          </p:cNvSpPr>
          <p:nvPr/>
        </p:nvSpPr>
        <p:spPr>
          <a:xfrm xmlns:a="http://schemas.openxmlformats.org/drawingml/2006/main">
            <a:off x="6886575" y="3476625"/>
            <a:ext cx="43529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2606D"/>
                </a:solidFill>
              </a:defRPr>
            </a:pPr>
            <a:r>
              <a:rPr sz="1350" b="0">
                <a:solidFill>
                  <a:srgbClr val="52606D"/>
                </a:solidFill>
              </a:rPr>
              <a:t>That 2018 or favorable assets can be selected</a:t>
            </a:r>
          </a:p>
        </p:txBody>
      </p:sp>
      <p:sp>
        <p:nvSpPr>
          <p:cNvPr id="22" name="">
            <a:extLst xmlns:a="http://schemas.openxmlformats.org/drawingml/2006/main">
              <a:ext uri="{FF2B5EF4-FFF2-40B4-BE49-F238E27FC236}">
                <a16:creationId xmlns:a16="http://schemas.microsoft.com/office/drawing/2014/main" id="{138B9C8C-1911-491D-B9C7-97EBF6AB1B95}"/>
              </a:ext>
            </a:extLst>
          </p:cNvPr>
          <p:cNvSpPr>
            <a:spLocks xmlns:a="http://schemas.openxmlformats.org/drawingml/2006/main" noGrp="1"/>
          </p:cNvSpPr>
          <p:nvPr/>
        </p:nvSpPr>
        <p:spPr>
          <a:xfrm xmlns:a="http://schemas.openxmlformats.org/drawingml/2006/main">
            <a:off x="6667500" y="4124325"/>
            <a:ext cx="95250" cy="95250"/>
          </a:xfrm>
          <a:prstGeom xmlns:a="http://schemas.openxmlformats.org/drawingml/2006/main" prst="ellipse">
            <a:avLst/>
          </a:prstGeom>
          <a:solidFill xmlns:a="http://schemas.openxmlformats.org/drawingml/2006/main">
            <a:srgbClr val="D95F59"/>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781CC6B-C35E-4657-815F-64151D87C12D}"/>
              </a:ext>
            </a:extLst>
          </p:cNvPr>
          <p:cNvSpPr>
            <a:spLocks xmlns:a="http://schemas.openxmlformats.org/drawingml/2006/main" noGrp="1"/>
          </p:cNvSpPr>
          <p:nvPr/>
        </p:nvSpPr>
        <p:spPr>
          <a:xfrm xmlns:a="http://schemas.openxmlformats.org/drawingml/2006/main">
            <a:off x="6886575" y="4048125"/>
            <a:ext cx="43529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2606D"/>
                </a:solidFill>
              </a:defRPr>
            </a:pPr>
            <a:r>
              <a:rPr sz="1350" b="0">
                <a:solidFill>
                  <a:srgbClr val="52606D"/>
                </a:solidFill>
              </a:rPr>
              <a:t>That thresholds, softened states, stacked filters, or 2024+ may be inspected here</a:t>
            </a:r>
          </a:p>
        </p:txBody>
      </p:sp>
      <p:sp>
        <p:nvSpPr>
          <p:cNvPr id="24" name="">
            <a:extLst xmlns:a="http://schemas.openxmlformats.org/drawingml/2006/main">
              <a:ext uri="{FF2B5EF4-FFF2-40B4-BE49-F238E27FC236}">
                <a16:creationId xmlns:a16="http://schemas.microsoft.com/office/drawing/2014/main" id="{C1B8DA66-9E7C-426F-AFC3-29DD014EAFDE}"/>
              </a:ext>
            </a:extLst>
          </p:cNvPr>
          <p:cNvSpPr>
            <a:spLocks xmlns:a="http://schemas.openxmlformats.org/drawingml/2006/main" noGrp="1"/>
          </p:cNvSpPr>
          <p:nvPr/>
        </p:nvSpPr>
        <p:spPr>
          <a:xfrm xmlns:a="http://schemas.openxmlformats.org/drawingml/2006/main">
            <a:off x="1524000" y="5762625"/>
            <a:ext cx="9144000" cy="523875"/>
          </a:xfrm>
          <a:prstGeom xmlns:a="http://schemas.openxmlformats.org/drawingml/2006/main" prst="rect">
            <a:avLst/>
          </a:prstGeom>
          <a:solidFill xmlns:a="http://schemas.openxmlformats.org/drawingml/2006/main">
            <a:srgbClr val="EAF3FF"/>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E3986F14-AEE0-491B-B0BF-69EF5478CD64}"/>
              </a:ext>
            </a:extLst>
          </p:cNvPr>
          <p:cNvSpPr>
            <a:spLocks xmlns:a="http://schemas.openxmlformats.org/drawingml/2006/main" noGrp="1"/>
          </p:cNvSpPr>
          <p:nvPr/>
        </p:nvSpPr>
        <p:spPr>
          <a:xfrm xmlns:a="http://schemas.openxmlformats.org/drawingml/2006/main">
            <a:off x="1809750" y="5905500"/>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3D8DFF"/>
                </a:solidFill>
              </a:defRPr>
            </a:pPr>
            <a:r>
              <a:rPr sz="1425" b="1">
                <a:solidFill>
                  <a:srgbClr val="3D8DFF"/>
                </a:solidFill>
              </a:rPr>
              <a:t>An informative feature can fail as an all-or-nothing rule. Any graded or interaction-based use is a new hypothesis—not a rescue tweak.</a:t>
            </a:r>
          </a:p>
        </p:txBody>
      </p:sp>
    </p:spTree>
    <p:extLst>
      <p:ext uri="{BB962C8B-B14F-4D97-AF65-F5344CB8AC3E}">
        <p14:creationId xmlns:p14="http://schemas.microsoft.com/office/powerpoint/2010/main" val="40819535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2026-08-16T01:19:07.4190000Z</dcterms:created>
  <dcterms:modified xsi:type="dcterms:W3CDTF">2026-08-16T01:19:07.4190000Z</dcterms:modified>
</coreProperties>
</file>