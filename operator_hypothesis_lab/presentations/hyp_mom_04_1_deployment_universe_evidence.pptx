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6c4b3d29b4287" /><Relationship Type="http://schemas.openxmlformats.org/officeDocument/2006/relationships/extended-properties" Target="/docProps/app.xml" Id="Rbbbd796e82a645ea" /><Relationship Type="http://schemas.openxmlformats.org/officeDocument/2006/relationships/officeDocument" Target="/ppt/presentation.xml" Id="Ra84bc15636d7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f2d1ad41a24947"/>
  </p:sldMasterIdLst>
  <p:notesMasterIdLst>
    <p:notesMasterId xmlns:r="http://schemas.openxmlformats.org/officeDocument/2006/relationships" r:id="R77e957675a024d20"/>
  </p:notesMasterIdLst>
  <p:sldIdLst>
    <p:sldId xmlns:r="http://schemas.openxmlformats.org/officeDocument/2006/relationships" id="256" r:id="R3cc0a6ab7bf142ed"/>
    <p:sldId xmlns:r="http://schemas.openxmlformats.org/officeDocument/2006/relationships" id="257" r:id="Rb0c2515b099f49c3"/>
    <p:sldId xmlns:r="http://schemas.openxmlformats.org/officeDocument/2006/relationships" id="258" r:id="Re788461420334950"/>
    <p:sldId xmlns:r="http://schemas.openxmlformats.org/officeDocument/2006/relationships" id="259" r:id="R163217d151e04b06"/>
    <p:sldId xmlns:r="http://schemas.openxmlformats.org/officeDocument/2006/relationships" id="260" r:id="Rc5190218e1654317"/>
    <p:sldId xmlns:r="http://schemas.openxmlformats.org/officeDocument/2006/relationships" id="261" r:id="R9fa806dc01254905"/>
    <p:sldId xmlns:r="http://schemas.openxmlformats.org/officeDocument/2006/relationships" id="262" r:id="R18b20b3b802040f1"/>
    <p:sldId xmlns:r="http://schemas.openxmlformats.org/officeDocument/2006/relationships" id="263" r:id="R0158a8554e1a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2c0cbe42247d0" /><Relationship Type="http://schemas.openxmlformats.org/officeDocument/2006/relationships/slideMaster" Target="/ppt/slideMasters/slideMaster1.xml" Id="Ra8f2d1ad41a24947" /><Relationship Type="http://schemas.openxmlformats.org/officeDocument/2006/relationships/notesMaster" Target="/ppt/notesMasters/notesMaster1.xml" Id="R77e957675a024d20" /><Relationship Type="http://schemas.openxmlformats.org/officeDocument/2006/relationships/presProps" Target="/ppt/presProps.xml" Id="Ra7ab183b8e9c4106" /><Relationship Type="http://schemas.openxmlformats.org/officeDocument/2006/relationships/tableStyles" Target="/ppt/tableStyles.xml" Id="Rdbc4cccd37fc436b" /><Relationship Type="http://schemas.openxmlformats.org/officeDocument/2006/relationships/slide" Target="/ppt/slides/slide1.xml" Id="R3cc0a6ab7bf142ed" /><Relationship Type="http://schemas.openxmlformats.org/officeDocument/2006/relationships/slide" Target="/ppt/slides/slide2.xml" Id="Rb0c2515b099f49c3" /><Relationship Type="http://schemas.openxmlformats.org/officeDocument/2006/relationships/slide" Target="/ppt/slides/slide3.xml" Id="Re788461420334950" /><Relationship Type="http://schemas.openxmlformats.org/officeDocument/2006/relationships/slide" Target="/ppt/slides/slide4.xml" Id="R163217d151e04b06" /><Relationship Type="http://schemas.openxmlformats.org/officeDocument/2006/relationships/slide" Target="/ppt/slides/slide5.xml" Id="Rc5190218e1654317" /><Relationship Type="http://schemas.openxmlformats.org/officeDocument/2006/relationships/slide" Target="/ppt/slides/slide6.xml" Id="R9fa806dc01254905" /><Relationship Type="http://schemas.openxmlformats.org/officeDocument/2006/relationships/slide" Target="/ppt/slides/slide7.xml" Id="R18b20b3b802040f1" /><Relationship Type="http://schemas.openxmlformats.org/officeDocument/2006/relationships/slide" Target="/ppt/slides/slide8.xml" Id="R0158a8554e1a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505994258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819d3faf44440f" /><Relationship Type="http://schemas.openxmlformats.org/officeDocument/2006/relationships/notesMaster" Target="/ppt/notesMasters/notesMaster1.xml" Id="R55c5961fb5df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4ee37828e44863" /><Relationship Type="http://schemas.openxmlformats.org/officeDocument/2006/relationships/notesMaster" Target="/ppt/notesMasters/notesMaster1.xml" Id="Rcc1e47d50008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6f19050f594687" /><Relationship Type="http://schemas.openxmlformats.org/officeDocument/2006/relationships/notesMaster" Target="/ppt/notesMasters/notesMaster1.xml" Id="Rd55131a9b4744f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7d2f7436d54dad" /><Relationship Type="http://schemas.openxmlformats.org/officeDocument/2006/relationships/notesMaster" Target="/ppt/notesMasters/notesMaster1.xml" Id="R07bd863b7e22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bd3849aed41aa" /><Relationship Type="http://schemas.openxmlformats.org/officeDocument/2006/relationships/notesMaster" Target="/ppt/notesMasters/notesMaster1.xml" Id="Rce836e450f5b45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e132ff90e147d7" /><Relationship Type="http://schemas.openxmlformats.org/officeDocument/2006/relationships/notesMaster" Target="/ppt/notesMasters/notesMaster1.xml" Id="Rd22b9810984c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831bd80064519" /><Relationship Type="http://schemas.openxmlformats.org/officeDocument/2006/relationships/notesMaster" Target="/ppt/notesMasters/notesMaster1.xml" Id="Rdce4e383f37043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bd375689a54fdf" /><Relationship Type="http://schemas.openxmlformats.org/officeDocument/2006/relationships/notesMaster" Target="/ppt/notesMasters/notesMaster1.xml" Id="Ra9e47ac1a2704f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records the fixed September 2020 SPY deployment cohort and the unchanged HYP-MOM-04.1 Ridge TRAIN result.</a:t>
            </a:r>
          </a:p>
          <a:p xmlns:a="http://schemas.openxmlformats.org/drawingml/2006/main">
            <a:r>
              <a:t>Chat decision reference: D117 in docs/GEN5_4_DECISION_DIALOGUE_INDEX.md.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operator_hypothesis_lab/docs/HYP_MOM_04_1_DEPLOYMENT_UNIVERSE_DATA_AUDIT_CONTRACT.md</a:t>
            </a:r>
          </a:p>
          <a:p xmlns:a="http://schemas.openxmlformats.org/drawingml/2006/main">
            <a:r>
              <a:t>- runs/research_workbench/operator_hypothesis_lab/hyp_mom_04_1_deployment_universe_data_audit_20260811/REPORT.md</a:t>
            </a:r>
          </a:p>
          <a:p xmlns:a="http://schemas.openxmlformats.org/drawingml/2006/main">
            <a:r>
              <a:t>- runs/research_workbench/operator_hypothesis_lab/hyp_mom_04_1_deployment_universe_train_20260811/hyp_mom_04_1_train_run_spec.csv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December 2020 SPY report was filed in February 2021 and was therefore inadmissible. The September 2020 report was filed in November 2020 and was public before OOS.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 Form N-PORT accession 0001752724-20-236128: https://www.sec.gov/Archives/edgar/data/884394/000175272420236128/0001752724-20-236128-index.htm</a:t>
            </a:r>
          </a:p>
          <a:p xmlns:a="http://schemas.openxmlformats.org/drawingml/2006/main">
            <a:r>
              <a:t>- SEC Form N-PORT data sets: https://www.sec.gov/data-research/sec-markets-data/form-n-port-data-sets</a:t>
            </a:r>
          </a:p>
          <a:p xmlns:a="http://schemas.openxmlformats.org/drawingml/2006/main">
            <a:r>
              <a:t>- operator_hypothesis_lab/docs/HYP_MOM_04_1_DEPLOYMENT_UNIVERSE_DATA_AUDIT_CONTRACT.md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465 identities matched by deterministic legal-name normalization. A pinned crosswalk resolved 37 contemporaneous aliases/share classes using filing title and CUSIP. Three filing rows remained unresolved and stayed in the denominator.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runs/research_workbench/operator_hypothesis_lab/hyp_mom_04_1_deployment_universe_data_audit_20260811/source_reconciliation_summary.csv</a:t>
            </a:r>
          </a:p>
          <a:p xmlns:a="http://schemas.openxmlformats.org/drawingml/2006/main">
            <a:r>
              <a:t>- runs/research_workbench/operator_hypothesis_lab/hyp_mom_04_1_deployment_universe_data_audit_20260811/filing_identity_sector_reconciliation.csv</a:t>
            </a:r>
          </a:p>
          <a:p xmlns:a="http://schemas.openxmlformats.org/drawingml/2006/main">
            <a:r>
              <a:t>- operator_hypothesis_lab/registries/hyp_mom_04_1_spy_2020_09_source_crosswalk.csv</a:t>
            </a:r>
          </a:p>
          <a:p xmlns:a="http://schemas.openxmlformats.org/drawingml/2006/main">
            <a:r>
              <a:t>- Wikipedia revision 980783480: https://en.wikipedia.org/w/index.php?oldid=980783480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identity completeness was 99.41%, roster Jaccard 98.82%, sector coverage 99.41%, provider representation 99.41%, and exact TRAIN retention 95.25%.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runs/research_workbench/operator_hypothesis_lab/hyp_mom_04_1_deployment_universe_data_audit_20260811/universe_gate_matrix.csv</a:t>
            </a:r>
          </a:p>
          <a:p xmlns:a="http://schemas.openxmlformats.org/drawingml/2006/main">
            <a:r>
              <a:t>- runs/research_workbench/operator_hypothesis_lab/hyp_mom_04_1_deployment_universe_data_audit_20260811/train_coverage_summary.csv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481 of 505 filed holdings had every required adjusted daily bar. The model registry therefore used 481 names across at least ten sectors.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runs/research_workbench/operator_hypothesis_lab/hyp_mom_04_1_deployment_universe_data_audit_20260811/train_coverage_ledger.csv</a:t>
            </a:r>
          </a:p>
          <a:p xmlns:a="http://schemas.openxmlformats.org/drawingml/2006/main">
            <a:r>
              <a:t>- runs/research_workbench/operator_hypothesis_lab/hyp_mom_04_1_deployment_universe_data_audit_20260811/universe_gate_matrix.csv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pooled TRAIN descriptions after fitting on all 15 TRAIN quarters. The permutation result says the association is hard to reproduce after shuffling labels inside quarters; it does not prove temporal transport.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runs/research_workbench/operator_hypothesis_lab/hyp_mom_04_1_deployment_universe_train_20260811/hyp_mom_04_1_train_quarter_summary.csv</a:t>
            </a:r>
          </a:p>
          <a:p xmlns:a="http://schemas.openxmlformats.org/drawingml/2006/main">
            <a:r>
              <a:t>- runs/research_workbench/operator_hypothesis_lab/hyp_mom_04_1_deployment_universe_train_20260811/hyp_mom_04_1_train_permutation.csv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G3 required positive mean held-out rank IC and at least 60% positive validation quarters. The observed mean was -0.0623 and only 4 of 9 quarters were positive. Six other gates passed; gates are conjunctive.</a:t>
            </a:r>
          </a:p>
          <a:p xmlns:a="http://schemas.openxmlformats.org/drawingml/2006/main">
            <a:r>
              <a:t>The contrast is especially instructive in 2020Q3: the final all-TRAIN fit described that quarter strongly, but the earlier-only model ranked it at -0.2905. This is why pooled fit cannot override chronological validation.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runs/research_workbench/operator_hypothesis_lab/hyp_mom_04_1_deployment_universe_train_20260811/hyp_mom_04_1_train_cv_details.csv</a:t>
            </a:r>
          </a:p>
          <a:p xmlns:a="http://schemas.openxmlformats.org/drawingml/2006/main">
            <a:r>
              <a:t>- runs/research_workbench/operator_hypothesis_lab/hyp_mom_04_1_deployment_universe_train_20260811/hyp_mom_04_1_train_gates.csv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deployment cohort solved the data-feasibility problem but did not solve temporal generalization. That is useful evidence, not a failed implementation.</a:t>
            </a:r>
          </a:p>
          <a:p xmlns:a="http://schemas.openxmlformats.org/drawingml/2006/main">
            <a:r>
              <a:t>Any simpler feature-sign composite, reduced feature set, or rolling model would be a new lane frozen before later outcomes—not a repair under HYP-MOM-04.1.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runs/research_workbench/operator_hypothesis_lab/hyp_mom_04_1_deployment_universe_train_20260811/hyp_mom_04_1_train_run_spec.csv</a:t>
            </a:r>
          </a:p>
          <a:p xmlns:a="http://schemas.openxmlformats.org/drawingml/2006/main">
            <a:r>
              <a:t>- operator_hypothesis_lab/docs/HYP_MOM_04_1_DEPLOYMENT_UNIVERSE_RESULTS.md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a9f612f08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fcca0e2944283" /><Relationship Type="http://schemas.openxmlformats.org/officeDocument/2006/relationships/slideLayout" Target="/ppt/slideLayouts/slideLayout1.xml" Id="Rf01c3f7350c040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c3f7350c040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9c26a0cf4413" /><Relationship Type="http://schemas.openxmlformats.org/officeDocument/2006/relationships/notesSlide" Target="/ppt/notesSlides/notesSlide1.xml" Id="Rd84121ef334a4a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56b74ecfd4232" /><Relationship Type="http://schemas.openxmlformats.org/officeDocument/2006/relationships/notesSlide" Target="/ppt/notesSlides/notesSlide2.xml" Id="R71a7042e12bc42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9411bbace4965" /><Relationship Type="http://schemas.openxmlformats.org/officeDocument/2006/relationships/image" Target="/ppt/media/image.png" Id="Redd57acf352045d5" /><Relationship Type="http://schemas.openxmlformats.org/officeDocument/2006/relationships/notesSlide" Target="/ppt/notesSlides/notesSlide3.xml" Id="R100a8c6f599e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d31fd8d1245f1" /><Relationship Type="http://schemas.openxmlformats.org/officeDocument/2006/relationships/notesSlide" Target="/ppt/notesSlides/notesSlide4.xml" Id="R228e8fd83655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6e696abb4b29" /><Relationship Type="http://schemas.openxmlformats.org/officeDocument/2006/relationships/image" Target="/ppt/media/image2.png" Id="Rc676d5de8de64245" /><Relationship Type="http://schemas.openxmlformats.org/officeDocument/2006/relationships/notesSlide" Target="/ppt/notesSlides/notesSlide5.xml" Id="R7e922ff0c90b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b3f16a6746d3" /><Relationship Type="http://schemas.openxmlformats.org/officeDocument/2006/relationships/chart" Target="/ppt/slides/charts/chart1.xml" Id="Rf26e131d5ee440d9" /><Relationship Type="http://schemas.openxmlformats.org/officeDocument/2006/relationships/image" Target="/ppt/media/image3.png" Id="R0a56ee41e5d845af" /><Relationship Type="http://schemas.openxmlformats.org/officeDocument/2006/relationships/notesSlide" Target="/ppt/notesSlides/notesSlide6.xml" Id="Ra0221e8d323e45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f0a372ab9456b" /><Relationship Type="http://schemas.openxmlformats.org/officeDocument/2006/relationships/chart" Target="/ppt/slides/charts/chart2.xml" Id="Ree78052772f8430e" /><Relationship Type="http://schemas.openxmlformats.org/officeDocument/2006/relationships/notesSlide" Target="/ppt/notesSlides/notesSlide7.xml" Id="R63958fdb1e1b44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e8934887b415f" /><Relationship Type="http://schemas.openxmlformats.org/officeDocument/2006/relationships/notesSlide" Target="/ppt/notesSlides/notesSlide8.xml" Id="R5bb1f1d701604d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Held-out Spearman IC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9"/>
              <c:pt idx="0">
                <c:v>18Q3</c:v>
              </c:pt>
              <c:pt idx="1">
                <c:v>18Q4</c:v>
              </c:pt>
              <c:pt idx="2">
                <c:v>19Q1</c:v>
              </c:pt>
              <c:pt idx="3">
                <c:v>19Q2</c:v>
              </c:pt>
              <c:pt idx="4">
                <c:v>19Q3</c:v>
              </c:pt>
              <c:pt idx="5">
                <c:v>19Q4</c:v>
              </c:pt>
              <c:pt idx="6">
                <c:v>20Q1</c:v>
              </c:pt>
              <c:pt idx="7">
                <c:v>20Q2</c:v>
              </c:pt>
              <c:pt idx="8">
                <c:v>20Q3</c:v>
              </c:pt>
            </c:strLit>
          </c:cat>
          <c:val>
            <c:numLit>
              <c:formatCode>General</c:formatCode>
              <c:ptCount val="9"/>
              <c:pt idx="0">
                <c:v>-0.25495</c:v>
              </c:pt>
              <c:pt idx="1">
                <c:v>-0.04747</c:v>
              </c:pt>
              <c:pt idx="2">
                <c:v>0.11515</c:v>
              </c:pt>
              <c:pt idx="3">
                <c:v>-0.20837</c:v>
              </c:pt>
              <c:pt idx="4">
                <c:v>-0.10551</c:v>
              </c:pt>
              <c:pt idx="5">
                <c:v>0.07342</c:v>
              </c:pt>
              <c:pt idx="6">
                <c:v>0.03421</c:v>
              </c:pt>
              <c:pt idx="7">
                <c:v>0.12325</c:v>
              </c:pt>
              <c:pt idx="8">
                <c:v>-0.29049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1E27143-EE21-4E7A-A0E2-A57914FF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Broad universe,
same causal stop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20C8872-AE09-4A16-8062-AB967D8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HYP-MOM-04.1 deployment cohort audit + Ridge TRAIN | August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4084967-1DE5-4168-90BF-8EB9B50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 HYPOTHESIS LAB</a:t>
            </a:r>
          </a:p>
        </p:txBody>
      </p:sp>
    </p:spTree>
    <p:extLst>
      <p:ext uri="{BB962C8B-B14F-4D97-AF65-F5344CB8AC3E}">
        <p14:creationId xmlns:p14="http://schemas.microsoft.com/office/powerpoint/2010/main" val="11397592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34F62D-EBD6-4F98-8419-3C34AC27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F1D5D36-E2E8-476F-AC44-4528FD6D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boundary stayed causal from source to STOP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790C18C-7BF7-4068-A811-2B29ABC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6713CA1-4268-4995-ABE0-01DA784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CB6AB26-EC4A-4331-8D9C-70A12B80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0630A5D-84F1-449E-B05E-3D16B23E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SOURCE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C9C9C9D-3066-4BAE-95E3-36C32195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399690-F343-4CE8-91E0-C0A8070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4DA50A2-571B-4E13-8224-1E1EE0CB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2016–2020 only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 first, then six features and the original seven Ridge gates.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778262A-4E4E-48A9-B35B-CFFDD79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September 2020 SPY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before 2021. Full filed cohort; no outcome-based replacements.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2766E3D-7DAE-4E75-8615-CEA7814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Still sealed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2021–2023 bars were available only after every TRAIN gate passed.</a:t>
            </a:r>
          </a:p>
        </p:txBody>
      </p:sp>
    </p:spTree>
    <p:extLst>
      <p:ext uri="{BB962C8B-B14F-4D97-AF65-F5344CB8AC3E}">
        <p14:creationId xmlns:p14="http://schemas.microsoft.com/office/powerpoint/2010/main" val="8037229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B51951D-1336-4D7E-B0D6-AD8CDAD2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93163BA-031A-4F72-96F8-55192D15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 cohort was pre-OOS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22C05D8-EC53-4500-A198-BE9D74F7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4B75F95B-D61B-48DE-9467-57B2EB01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cohort is deployment-date-conditioned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is not historical S&amp;P membership. We retained all 505 filed equities, reconciled only against a pre-cutoff roster, and left three late-September additions unresolved instead of using a later source.</a:t>
            </a:r>
          </a:p>
        </p:txBody>
      </p:sp>
      <p:sp>
        <p:nvSpPr>
          <p:cNvPr id="6" name="SPY source reconciliation counts-white-backing">
            <a:extLst xmlns:a="http://schemas.openxmlformats.org/drawingml/2006/main">
              <a:ext uri="{FF2B5EF4-FFF2-40B4-BE49-F238E27FC236}">
                <a16:creationId xmlns:a16="http://schemas.microsoft.com/office/drawing/2014/main" id="{39E890C7-689C-46E5-B62C-198A39A8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57acf352045d5"/>
          <a:stretch xmlns:a="http://schemas.openxmlformats.org/drawingml/2006/main"/>
        </p:blipFill>
        <p:spPr>
          <a:xfrm xmlns:a="http://schemas.openxmlformats.org/drawingml/2006/main">
            <a:off x="6269069" y="1639395"/>
            <a:ext cx="5539740" cy="31161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069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F48CCA5-B83E-4378-8466-36A1EE50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867502D-3814-43C8-BA89-0D468FD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DE7142A-6F43-422E-ACE2-253B89B9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6A40BB5-1C60-4F42-A6B4-D8018DF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581DB34-0033-418C-9A2C-BD03F4F8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nine data gates passed without later membership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D214969-5789-4C5A-9FDA-C700D874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Filed equities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A9CCD4E-9D35-43E3-B195-A519DC60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TRAIN histories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F645DB5-7C73-4E69-8E60-4D7010C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Resolved pre-OOS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FB510C4-1D4A-4998-BBD1-B8A3AE8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1DB1EED-B9FD-415D-BFD5-9D75E58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103E002-677F-4E5F-A30F-0DC0ECA4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481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1AE41C2-BD8D-4760-BFB5-88985C9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Gate result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Roster timing, identity, agreement, sector breadth, provider history, exact TRAIN retention, and the 2021 boundary all passed conjunctively.</a:t>
            </a:r>
          </a:p>
        </p:txBody>
      </p:sp>
    </p:spTree>
    <p:extLst>
      <p:ext uri="{BB962C8B-B14F-4D97-AF65-F5344CB8AC3E}">
        <p14:creationId xmlns:p14="http://schemas.microsoft.com/office/powerpoint/2010/main" val="1734230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9476869-C1C0-45BA-A6A6-C539F764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8A194D-2CAC-49B2-9E93-5311165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TRAIN coverage passed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843D74E-46EF-4F4B-81D2-5BB4B287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171C544-5F6C-4168-80FD-956BE6BA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coverage was intentionally strict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stock needed every SPY session from January 2016 through December 2020. Twenty-one partial histories and three unresolved identities were retained in the ledger but excluded from model fitting—without replacements.</a:t>
            </a:r>
          </a:p>
        </p:txBody>
      </p:sp>
      <p:sp>
        <p:nvSpPr>
          <p:cNvPr id="6" name="Provider and exact TRAIN coverage gates-white-backing">
            <a:extLst xmlns:a="http://schemas.openxmlformats.org/drawingml/2006/main">
              <a:ext uri="{FF2B5EF4-FFF2-40B4-BE49-F238E27FC236}">
                <a16:creationId xmlns:a16="http://schemas.microsoft.com/office/drawing/2014/main" id="{D39CF4E2-7717-4585-AD23-8EB6ED8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d5de8de64245"/>
          <a:stretch xmlns:a="http://schemas.openxmlformats.org/drawingml/2006/main"/>
        </p:blipFill>
        <p:spPr>
          <a:xfrm xmlns:a="http://schemas.openxmlformats.org/drawingml/2006/main">
            <a:off x="6269069" y="1639395"/>
            <a:ext cx="5539740" cy="31161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15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40DAC0D-B368-40EB-AFB7-4695A411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14F65D-8E34-41A0-AB7D-632D987C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pooled TRAIN fit looked attractive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596E4E2B-25A6-492C-9866-FC5E9058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4E2E54C-4402-4EE3-B79C-33DF1ABF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+3.01 pp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Q4 minus Q1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558C1EC1-18B7-4AFF-ABE5-56F1ADFC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1E9E31B-E9D5-4051-A5ED-5974D3A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+1.45 pp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top-quartile excess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ED051BE9-CE15-4101-910C-40A09655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D7C2558-CEFA-4702-A93E-594E5423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100th pct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Permutation rank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6e131d5ee440d9"/>
          </a:graphicData>
        </a:graphic>
      </p:graphicFrame>
      <p:sp>
        <p:nvSpPr>
          <p:cNvPr id="10" name="Pooled TRAIN quartile behavior-white-backing">
            <a:extLst xmlns:a="http://schemas.openxmlformats.org/drawingml/2006/main">
              <a:ext uri="{FF2B5EF4-FFF2-40B4-BE49-F238E27FC236}">
                <a16:creationId xmlns:a16="http://schemas.microsoft.com/office/drawing/2014/main" id="{7DA034C1-29B6-483A-98E2-4B9FFA6D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054132"/>
            <a:ext cx="5124164" cy="5452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6ee41e5d845af"/>
          <a:stretch xmlns:a="http://schemas.openxmlformats.org/drawingml/2006/main"/>
        </p:blipFill>
        <p:spPr>
          <a:xfrm xmlns:a="http://schemas.openxmlformats.org/drawingml/2006/main">
            <a:off x="408718" y="2161982"/>
            <a:ext cx="5124164" cy="32363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385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38E15ED-B7B0-4C58-93EF-AB6BA78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432E7F6-8D7A-4D24-BBCC-8CFE449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 quarters ranked backward—the model must stop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B2D8F63E-FCC1-4315-869C-08D2E02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EA2CE6A7-8356-47D2-AEAD-10FA1C1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−0.0623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4AD00F4-D6E9-4CEE-A714-28D038FD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held-out IC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43F7A1D8-120E-47F9-80E7-335BA00D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A4BCB9CE-1F36-401C-9ECE-5A0D38E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/ 9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34C1735-AB12-4551-A1DB-4BE875D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quarters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6E5D6A12-5372-42EA-AF1F-CE411B7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Expanding CV asked whether earlier quarters could rank the next three quarters.</a:t>
            </a:r>
          </a:p>
        </p:txBody>
      </p:sp>
      <p:sp>
        <p:nvSpPr>
          <p:cNvPr id="10" name="cv-chart-white-backing">
            <a:extLst xmlns:a="http://schemas.openxmlformats.org/drawingml/2006/main">
              <a:ext uri="{FF2B5EF4-FFF2-40B4-BE49-F238E27FC236}">
                <a16:creationId xmlns:a16="http://schemas.microsoft.com/office/drawing/2014/main" id="{4CE2FEA2-30A9-4263-B8A2-17D59D7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1254728"/>
            <a:ext cx="5534216" cy="5024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legacy-chart-glyph-mask">
            <a:extLst xmlns:a="http://schemas.openxmlformats.org/drawingml/2006/main">
              <a:ext uri="{FF2B5EF4-FFF2-40B4-BE49-F238E27FC236}">
                <a16:creationId xmlns:a16="http://schemas.microsoft.com/office/drawing/2014/main" id="{CDC48F3B-E823-4E7C-B547-196C7237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90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5238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78052772f8430e"/>
          </a:graphicData>
        </a:graphic>
      </p:graphicFrame>
      <p:sp>
        <p:nvSpPr>
          <p:cNvPr id="13" name="custom-chart-glyph-mask">
            <a:extLst xmlns:a="http://schemas.openxmlformats.org/drawingml/2006/main">
              <a:ext uri="{FF2B5EF4-FFF2-40B4-BE49-F238E27FC236}">
                <a16:creationId xmlns:a16="http://schemas.microsoft.com/office/drawing/2014/main" id="{DE8802F5-2303-455E-B4EB-DBDBAA20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90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38298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2589E0F-31FE-43A2-A3CF-758C868C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is the
result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CBC68B4-DEC4-4D79-920B-37AF594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2021–2023 bars queried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OOS portfolio exists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HYP-MOM-04.1 unchanged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BC34768-3F49-4381-9F34-24C440A6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408883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2026-08-11T18:01:34.2940000Z</dcterms:created>
  <dcterms:modified xsi:type="dcterms:W3CDTF">2026-08-11T18:01:34.2950000Z</dcterms:modified>
</coreProperties>
</file>