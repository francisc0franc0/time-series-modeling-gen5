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144b7b1b9c46e8" /><Relationship Type="http://schemas.openxmlformats.org/officeDocument/2006/relationships/extended-properties" Target="/docProps/app.xml" Id="R9b92d4330caf447a" /><Relationship Type="http://schemas.openxmlformats.org/officeDocument/2006/relationships/officeDocument" Target="/ppt/presentation.xml" Id="Ra4f573a313f94e49" /></Relationships>
</file>

<file path=ppt/presentation.xml><?xml version="1.0" encoding="utf-8"?>
<p:presentation xmlns:p="http://schemas.openxmlformats.org/presentationml/2006/main">
  <p:sldMasterIdLst>
    <p:sldMasterId xmlns:r="http://schemas.openxmlformats.org/officeDocument/2006/relationships" id="2147483648" r:id="R8cd6c3911ad64cc8"/>
  </p:sldMasterIdLst>
  <p:notesMasterIdLst>
    <p:notesMasterId xmlns:r="http://schemas.openxmlformats.org/officeDocument/2006/relationships" r:id="R9b56b82add0c484d"/>
  </p:notesMasterIdLst>
  <p:sldIdLst>
    <p:sldId xmlns:r="http://schemas.openxmlformats.org/officeDocument/2006/relationships" id="256" r:id="R2d70161952ec45a5"/>
    <p:sldId xmlns:r="http://schemas.openxmlformats.org/officeDocument/2006/relationships" id="257" r:id="R091ee0a6d8e24295"/>
    <p:sldId xmlns:r="http://schemas.openxmlformats.org/officeDocument/2006/relationships" id="258" r:id="R5942fd4f31b54bcd"/>
    <p:sldId xmlns:r="http://schemas.openxmlformats.org/officeDocument/2006/relationships" id="259" r:id="R2f5855631ce84d8e"/>
    <p:sldId xmlns:r="http://schemas.openxmlformats.org/officeDocument/2006/relationships" id="260" r:id="R16bde4881ad34249"/>
    <p:sldId xmlns:r="http://schemas.openxmlformats.org/officeDocument/2006/relationships" id="261" r:id="R5f9f9b3861a44814"/>
    <p:sldId xmlns:r="http://schemas.openxmlformats.org/officeDocument/2006/relationships" id="262" r:id="Rd1dae9b3fd1a44a1"/>
    <p:sldId xmlns:r="http://schemas.openxmlformats.org/officeDocument/2006/relationships" id="263" r:id="Ree2bb4770a1b40f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aee348a0474443" /><Relationship Type="http://schemas.openxmlformats.org/officeDocument/2006/relationships/slideMaster" Target="/ppt/slideMasters/slideMaster1.xml" Id="R8cd6c3911ad64cc8" /><Relationship Type="http://schemas.openxmlformats.org/officeDocument/2006/relationships/notesMaster" Target="/ppt/notesMasters/notesMaster1.xml" Id="R9b56b82add0c484d" /><Relationship Type="http://schemas.openxmlformats.org/officeDocument/2006/relationships/presProps" Target="/ppt/presProps.xml" Id="R50db12bcd1644e1d" /><Relationship Type="http://schemas.openxmlformats.org/officeDocument/2006/relationships/tableStyles" Target="/ppt/tableStyles.xml" Id="R1496f07d2f694524" /><Relationship Type="http://schemas.openxmlformats.org/officeDocument/2006/relationships/slide" Target="/ppt/slides/slide1.xml" Id="R2d70161952ec45a5" /><Relationship Type="http://schemas.openxmlformats.org/officeDocument/2006/relationships/slide" Target="/ppt/slides/slide2.xml" Id="R091ee0a6d8e24295" /><Relationship Type="http://schemas.openxmlformats.org/officeDocument/2006/relationships/slide" Target="/ppt/slides/slide3.xml" Id="R5942fd4f31b54bcd" /><Relationship Type="http://schemas.openxmlformats.org/officeDocument/2006/relationships/slide" Target="/ppt/slides/slide4.xml" Id="R2f5855631ce84d8e" /><Relationship Type="http://schemas.openxmlformats.org/officeDocument/2006/relationships/slide" Target="/ppt/slides/slide5.xml" Id="R16bde4881ad34249" /><Relationship Type="http://schemas.openxmlformats.org/officeDocument/2006/relationships/slide" Target="/ppt/slides/slide6.xml" Id="R5f9f9b3861a44814" /><Relationship Type="http://schemas.openxmlformats.org/officeDocument/2006/relationships/slide" Target="/ppt/slides/slide7.xml" Id="Rd1dae9b3fd1a44a1" /><Relationship Type="http://schemas.openxmlformats.org/officeDocument/2006/relationships/slide" Target="/ppt/slides/slide8.xml" Id="Ree2bb4770a1b40f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e83325b13b045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e1b4a4b78a4133" /><Relationship Type="http://schemas.openxmlformats.org/officeDocument/2006/relationships/notesMaster" Target="/ppt/notesMasters/notesMaster1.xml" Id="R81d9f31c957249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b028f1a215114c87" /><Relationship Type="http://schemas.openxmlformats.org/officeDocument/2006/relationships/notesMaster" Target="/ppt/notesMasters/notesMaster1.xml" Id="Rb9c7c0154d344e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2609fc23f6949df" /><Relationship Type="http://schemas.openxmlformats.org/officeDocument/2006/relationships/notesMaster" Target="/ppt/notesMasters/notesMaster1.xml" Id="R83214539a788470a"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630eddddc243d4" /><Relationship Type="http://schemas.openxmlformats.org/officeDocument/2006/relationships/notesMaster" Target="/ppt/notesMasters/notesMaster1.xml" Id="R76ec820f3f0a43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7b201c366640bc" /><Relationship Type="http://schemas.openxmlformats.org/officeDocument/2006/relationships/notesMaster" Target="/ppt/notesMasters/notesMaster1.xml" Id="R975de739ee1847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91a2bbaebde4b9e" /><Relationship Type="http://schemas.openxmlformats.org/officeDocument/2006/relationships/notesMaster" Target="/ppt/notesMasters/notesMaster1.xml" Id="Rcd2ef87364dc4d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a89cc7887314068" /><Relationship Type="http://schemas.openxmlformats.org/officeDocument/2006/relationships/notesMaster" Target="/ppt/notesMasters/notesMaster1.xml" Id="Rd916ff4ca60045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b21b2c438f41ba" /><Relationship Type="http://schemas.openxmlformats.org/officeDocument/2006/relationships/notesMaster" Target="/ppt/notesMasters/notesMaster1.xml" Id="Rb24663d3296e40e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Lead with the decision. The refined state was a sensible causal hypothesis, but its frozen evidence was too weak and unstable to join ATR or gate a strategy.</a:t>
            </a:r>
          </a:p>
          <a:p xmlns:a="http://schemas.openxmlformats.org/drawingml/2006/main">
            <a:r>
              <a:t/>
            </a:r>
          </a:p>
          <a:p xmlns:a="http://schemas.openxmlformats.org/drawingml/2006/main">
            <a:r>
              <a:t>[Sources]</a:t>
            </a:r>
          </a:p>
          <a:p xmlns:a="http://schemas.openxmlformats.org/drawingml/2006/main">
            <a:r>
              <a:t>- docs/GEN5_HYP_REG_03_2_BREADTH_TRANSITION_DIVERGENCE_CONTRACT.md</a:t>
            </a:r>
          </a:p>
          <a:p xmlns:a="http://schemas.openxmlformats.org/drawingml/2006/main">
            <a:r>
              <a:t>- operator_hypothesis_lab/docs/HYP_REG_03_2_BREADTH_TRANSITION_DIVERGENCE_RESULTS.md</a:t>
            </a:r>
          </a:p>
          <a:p xmlns:a="http://schemas.openxmlformats.org/drawingml/2006/main">
            <a:r>
              <a:t>- C:/Users/Franc/OneDrive/Documents/Francis/Peltata Project/Time-Series-Modeling-Gen5/runs/research_workbench/operator_hypothesis_lab/hyp_reg_03_2_breadth_transition_20260814/hyp_reg_03_2_gates.csv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cross-sectional market-internals approach. It refines the prior breadth POC by asking specifically about transition and divergence rather than treating breadth level as a universal trend classifier.</a:t>
            </a:r>
          </a:p>
          <a:p xmlns:a="http://schemas.openxmlformats.org/drawingml/2006/main">
            <a:r>
              <a:t/>
            </a:r>
          </a:p>
          <a:p xmlns:a="http://schemas.openxmlformats.org/drawingml/2006/main">
            <a:r>
              <a:t>[Sources]</a:t>
            </a:r>
          </a:p>
          <a:p xmlns:a="http://schemas.openxmlformats.org/drawingml/2006/main">
            <a:r>
              <a:t>- https://www.reddit.com/r/algotrading/comments/1rvfy12/comment/oawke1k/</a:t>
            </a:r>
          </a:p>
          <a:p xmlns:a="http://schemas.openxmlformats.org/drawingml/2006/main">
            <a:r>
              <a:t>- https://www.spglobal.com/spdji/en/research/article/worth-the-weight/</a:t>
            </a:r>
          </a:p>
          <a:p xmlns:a="http://schemas.openxmlformats.org/drawingml/2006/main">
            <a:r>
              <a:t>- https://www.sciencedirect.com/science/article/pii/S1386418115000609</a:t>
            </a:r>
          </a:p>
          <a:p xmlns:a="http://schemas.openxmlformats.org/drawingml/2006/main">
            <a:r>
              <a:t>- docs/GEN5_HYP_REG_03_2_BREADTH_TRANSITION_DIVERGENCE_CONTRACT.md</a:t>
            </a:r>
          </a:p>
          <a:p xmlns:a="http://schemas.openxmlformats.org/drawingml/2006/main">
            <a:r>
              <a:t>- docs/GEN5_4_DECISION_DIALOGUE_INDEX.md#d131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score is deliberately unfitted. Percentiles use only the preceding 252 observations and exclude the current row. The sole target is the next-open to twenty-sessions-later SPY return.</a:t>
            </a:r>
          </a:p>
          <a:p xmlns:a="http://schemas.openxmlformats.org/drawingml/2006/main">
            <a:r>
              <a:t/>
            </a:r>
          </a:p>
          <a:p xmlns:a="http://schemas.openxmlformats.org/drawingml/2006/main">
            <a:r>
              <a:t>[Sources]</a:t>
            </a:r>
          </a:p>
          <a:p xmlns:a="http://schemas.openxmlformats.org/drawingml/2006/main">
            <a:r>
              <a:t>- docs/GEN5_HYP_REG_03_2_BREADTH_TRANSITION_DIVERGENCE_CONTRACT.md</a:t>
            </a:r>
          </a:p>
          <a:p xmlns:a="http://schemas.openxmlformats.org/drawingml/2006/main">
            <a:r>
              <a:t>- C:/Users/Franc/OneDrive/Documents/Francis/Peltata Project/Time-Series-Modeling-Gen5/runs/research_workbench/operator_hypothesis_lab/hyp_reg_03_2_breadth_transition_20260814/hyp_reg_03_2_daily_signal.csv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gates distinguish a visually appealing divergence narrative from stable predictive evidence. Daily observations are used for effect sizes, while offset, half-period, year, and circular controls test dependence and transport.</a:t>
            </a:r>
          </a:p>
          <a:p xmlns:a="http://schemas.openxmlformats.org/drawingml/2006/main">
            <a:r>
              <a:t/>
            </a:r>
          </a:p>
          <a:p xmlns:a="http://schemas.openxmlformats.org/drawingml/2006/main">
            <a:r>
              <a:t>[Sources]</a:t>
            </a:r>
          </a:p>
          <a:p xmlns:a="http://schemas.openxmlformats.org/drawingml/2006/main">
            <a:r>
              <a:t>- docs/GEN5_HYP_REG_03_2_BREADTH_TRANSITION_DIVERGENCE_CONTRACT.md</a:t>
            </a:r>
          </a:p>
          <a:p xmlns:a="http://schemas.openxmlformats.org/drawingml/2006/main">
            <a:r>
              <a:t>- C:/Users/Franc/OneDrive/Documents/Francis/Peltata Project/Time-Series-Modeling-Gen5/runs/research_workbench/operator_hypothesis_lab/hyp_reg_03_2_breadth_transition_20260814/hyp_reg_03_2_gates.csv</a:t>
            </a:r>
          </a:p>
          <a:p xmlns:a="http://schemas.openxmlformats.org/drawingml/2006/main">
            <a:r>
              <a:t>- C:/Users/Franc/OneDrive/Documents/Francis/Peltata Project/Time-Series-Modeling-Gen5/runs/research_workbench/operator_hypothesis_lab/hyp_reg_03_2_breadth_transition_20260814/hyp_reg_03_2_offset_summary.csv</a:t>
            </a:r>
          </a:p>
          <a:p xmlns:a="http://schemas.openxmlformats.org/drawingml/2006/main">
            <a:r>
              <a:t>- C:/Users/Franc/OneDrive/Documents/Francis/Peltata Project/Time-Series-Modeling-Gen5/runs/research_workbench/operator_hypothesis_lab/hyp_reg_03_2_breadth_transition_20260814/hyp_reg_03_2_circular_control.csv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Narrowing had a +1.39% median H20 return and 35.41% DOWN rate; healthy breadth had +1.55% and 31.61%. The direction is plausible, but the magnitude is far below the frozen gate.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Project/Time-Series-Modeling-Gen5/runs/research_workbench/operator_hypothesis_lab/hyp_reg_03_2_breadth_transition_20260814/hyp_reg_03_2_state_summary.csv</a:t>
            </a:r>
          </a:p>
          <a:p xmlns:a="http://schemas.openxmlformats.org/drawingml/2006/main">
            <a:r>
              <a:t>- C:/Users/Franc/OneDrive/Documents/Francis/Peltata Project/Time-Series-Modeling-Gen5/runs/research_workbench/operator_hypothesis_lab/hyp_reg_03_2_breadth_transition_20260814/hyp_reg_03_2_gates.csv</a:t>
            </a:r>
          </a:p>
          <a:p xmlns:a="http://schemas.openxmlformats.org/drawingml/2006/main">
            <a:r>
              <a:t>- operator_hypothesis_lab/docs/HYP_REG_03_2_BREADTH_TRANSITION_DIVERGENCE_RESULTS.md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useful risk score should show monotone worsening or at least correct rank association. Here the decile pattern is jagged, Spearman is near zero, and DOWN AUC is only marginally above chance. The leadership-only state is recorded solely as a future theory clue.</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Project/Time-Series-Modeling-Gen5/runs/research_workbench/operator_hypothesis_lab/hyp_reg_03_2_breadth_transition_20260814/hyp_reg_03_2_continuous_summary.csv</a:t>
            </a:r>
          </a:p>
          <a:p xmlns:a="http://schemas.openxmlformats.org/drawingml/2006/main">
            <a:r>
              <a:t>- C:/Users/Franc/OneDrive/Documents/Francis/Peltata Project/Time-Series-Modeling-Gen5/runs/research_workbench/operator_hypothesis_lab/hyp_reg_03_2_breadth_transition_20260814/hyp_reg_03_2_state_summary.csv</a:t>
            </a:r>
          </a:p>
          <a:p xmlns:a="http://schemas.openxmlformats.org/drawingml/2006/main">
            <a:r>
              <a:t>- operator_hypothesis_lab/docs/HYP_REG_03_2_BREADTH_TRANSITION_DIVERGENCE_RESULTS.md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more informative than a weak return gap alone. The state frequently identified an already-advanced weakening episode near exhaustion. It therefore failed its own semantic target, especially for future breadth.</a:t>
            </a:r>
          </a:p>
          <a:p xmlns:a="http://schemas.openxmlformats.org/drawingml/2006/main">
            <a:r>
              <a:t/>
            </a:r>
          </a:p>
          <a:p xmlns:a="http://schemas.openxmlformats.org/drawingml/2006/main">
            <a:r>
              <a:t>[Sources]</a:t>
            </a:r>
          </a:p>
          <a:p xmlns:a="http://schemas.openxmlformats.org/drawingml/2006/main">
            <a:r>
              <a:t>- C:/Users/Franc/OneDrive/Documents/Francis/Peltata Project/Time-Series-Modeling-Gen5/runs/research_workbench/operator_hypothesis_lab/hyp_reg_03_2_breadth_transition_20260814/hyp_reg_03_2_temporal_summary.csv</a:t>
            </a:r>
          </a:p>
          <a:p xmlns:a="http://schemas.openxmlformats.org/drawingml/2006/main">
            <a:r>
              <a:t>- C:/Users/Franc/OneDrive/Documents/Francis/Peltata Project/Time-Series-Modeling-Gen5/runs/research_workbench/operator_hypothesis_lab/hyp_reg_03_2_breadth_transition_20260814/hyp_reg_03_2_semantic_summary.csv</a:t>
            </a:r>
          </a:p>
          <a:p xmlns:a="http://schemas.openxmlformats.org/drawingml/2006/main">
            <a:r>
              <a:t>- C:/Users/Franc/OneDrive/Documents/Francis/Peltata Project/Time-Series-Modeling-Gen5/runs/research_workbench/operator_hypothesis_lab/hyp_reg_03_2_breadth_transition_20260814/hyp_reg_03_2_offset_summary.csv</a:t>
            </a:r>
          </a:p>
          <a:p xmlns:a="http://schemas.openxmlformats.org/drawingml/2006/main">
            <a:r>
              <a:t>- operator_hypothesis_lab/docs/HYP_REG_03_2_BREADTH_TRANSITION_DIVERGENCE_RESULTS.md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the scope boundary. This is not evidence against all breadth filters; it is evidence against this precise combination of sector-breadth transition, RSP/SPY transition, twenty-day signs, and an unfitted percentile score.</a:t>
            </a:r>
          </a:p>
          <a:p xmlns:a="http://schemas.openxmlformats.org/drawingml/2006/main">
            <a:r>
              <a:t/>
            </a:r>
          </a:p>
          <a:p xmlns:a="http://schemas.openxmlformats.org/drawingml/2006/main">
            <a:r>
              <a:t>[Sources]</a:t>
            </a:r>
          </a:p>
          <a:p xmlns:a="http://schemas.openxmlformats.org/drawingml/2006/main">
            <a:r>
              <a:t>- operator_hypothesis_lab/docs/HYP_REG_03_2_BREADTH_TRANSITION_DIVERGENCE_RESULTS.md</a:t>
            </a:r>
          </a:p>
          <a:p xmlns:a="http://schemas.openxmlformats.org/drawingml/2006/main">
            <a:r>
              <a:t>- docs/GEN5_HYP_REG_03_2_BREADTH_TRANSITION_DIVERGENCE_CONTRACT.md</a:t>
            </a:r>
          </a:p>
          <a:p xmlns:a="http://schemas.openxmlformats.org/drawingml/2006/main">
            <a:r>
              <a:t>- docs/GEN5_1_POC_PROGRESS_LOG.md</a:t>
            </a:r>
          </a:p>
          <a:p xmlns:a="http://schemas.openxmlformats.org/drawingml/2006/main">
            <a:r>
              <a:t>- docs/GEN5_4_DECISION_DIALOGUE_INDEX.md#d131</a:t>
            </a:r>
          </a:p>
          <a:p xmlns:a="http://schemas.openxmlformats.org/drawingml/2006/main">
            <a:r>
              <a:t>- https://www.spglobal.com/spdji/en/research/article/worth-the-weight/</a:t>
            </a:r>
          </a:p>
          <a:p xmlns:a="http://schemas.openxmlformats.org/drawingml/2006/main">
            <a:r>
              <a:t>- https://www.sciencedirect.com/science/article/pii/S1386418115000609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676e979c9c54a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5e24f0451e4ae9" /><Relationship Type="http://schemas.openxmlformats.org/officeDocument/2006/relationships/slideLayout" Target="/ppt/slideLayouts/slideLayout1.xml" Id="R15aba715c7374a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aba715c7374a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2366f2901634062" /><Relationship Type="http://schemas.openxmlformats.org/officeDocument/2006/relationships/image" Target="/ppt/media/image.png" Id="Rd4b854e2843d449f" /><Relationship Type="http://schemas.openxmlformats.org/officeDocument/2006/relationships/notesSlide" Target="/ppt/notesSlides/notesSlide1.xml" Id="R314c0f82cb9043a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cc926508fe64502" /><Relationship Type="http://schemas.openxmlformats.org/officeDocument/2006/relationships/notesSlide" Target="/ppt/notesSlides/notesSlide2.xml" Id="R24c5cefe55374b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c8976b3b5c4477" /><Relationship Type="http://schemas.openxmlformats.org/officeDocument/2006/relationships/notesSlide" Target="/ppt/notesSlides/notesSlide3.xml" Id="R574f6577957c49b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bd9c0529250458f" /><Relationship Type="http://schemas.openxmlformats.org/officeDocument/2006/relationships/notesSlide" Target="/ppt/notesSlides/notesSlide4.xml" Id="Rab8d0ef741dd4c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a23b6b187e448b7" /><Relationship Type="http://schemas.openxmlformats.org/officeDocument/2006/relationships/image" Target="/ppt/media/image2.png" Id="R3da64825f3ef41ab" /><Relationship Type="http://schemas.openxmlformats.org/officeDocument/2006/relationships/notesSlide" Target="/ppt/notesSlides/notesSlide5.xml" Id="R4ac82a3d5b0a43f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cdc884518f4f95" /><Relationship Type="http://schemas.openxmlformats.org/officeDocument/2006/relationships/image" Target="/ppt/media/image3.png" Id="R5f507dacfcc54aa3" /><Relationship Type="http://schemas.openxmlformats.org/officeDocument/2006/relationships/notesSlide" Target="/ppt/notesSlides/notesSlide6.xml" Id="Rf077f4c8065a4d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733797d58c64623" /><Relationship Type="http://schemas.openxmlformats.org/officeDocument/2006/relationships/image" Target="/ppt/media/image4.png" Id="R3a37ef0605554379" /><Relationship Type="http://schemas.openxmlformats.org/officeDocument/2006/relationships/notesSlide" Target="/ppt/notesSlides/notesSlide7.xml" Id="R36b602647b224b2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f9838f7916a41f5" /><Relationship Type="http://schemas.openxmlformats.org/officeDocument/2006/relationships/notesSlide" Target="/ppt/notesSlides/notesSlide8.xml" Id="R55e5dad79da343c7"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1177B54-DD60-41BF-B851-30C752E538EF}"/>
              </a:ext>
            </a:extLst>
          </p:cNvPr>
          <p:cNvSpPr>
            <a:spLocks xmlns:a="http://schemas.openxmlformats.org/drawingml/2006/main" noGrp="1"/>
          </p:cNvSpPr>
          <p:nvPr/>
        </p:nvSpPr>
        <p:spPr>
          <a:xfrm xmlns:a="http://schemas.openxmlformats.org/drawingml/2006/main">
            <a:off x="495300" y="4000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defRPr>
            </a:pPr>
            <a:r>
              <a:rPr sz="1200" b="1">
                <a:solidFill>
                  <a:srgbClr val="3D8DFF"/>
                </a:solidFill>
              </a:rPr>
              <a:t>HYP-REG-03.2</a:t>
            </a:r>
          </a:p>
        </p:txBody>
      </p:sp>
      <p:sp>
        <p:nvSpPr>
          <p:cNvPr id="2" name="">
            <a:extLst xmlns:a="http://schemas.openxmlformats.org/drawingml/2006/main">
              <a:ext uri="{FF2B5EF4-FFF2-40B4-BE49-F238E27FC236}">
                <a16:creationId xmlns:a16="http://schemas.microsoft.com/office/drawing/2014/main" id="{6053D9D9-BA93-4732-9797-6BF231F36BBA}"/>
              </a:ext>
            </a:extLst>
          </p:cNvPr>
          <p:cNvSpPr>
            <a:spLocks xmlns:a="http://schemas.openxmlformats.org/drawingml/2006/main" noGrp="1"/>
          </p:cNvSpPr>
          <p:nvPr/>
        </p:nvSpPr>
        <p:spPr>
          <a:xfrm xmlns:a="http://schemas.openxmlformats.org/drawingml/2006/main">
            <a:off x="495300" y="1143000"/>
            <a:ext cx="5286375" cy="2238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525" b="1">
                <a:solidFill>
                  <a:srgbClr val="17324D"/>
                </a:solidFill>
              </a:defRPr>
            </a:pPr>
            <a:r>
              <a:rPr sz="3525" b="1">
                <a:solidFill>
                  <a:srgbClr val="17324D"/>
                </a:solidFill>
              </a:rPr>
              <a:t>Breadth narrowing did not become a reliable warning state</a:t>
            </a:r>
          </a:p>
        </p:txBody>
      </p:sp>
      <p:sp>
        <p:nvSpPr>
          <p:cNvPr id="3" name="">
            <a:extLst xmlns:a="http://schemas.openxmlformats.org/drawingml/2006/main">
              <a:ext uri="{FF2B5EF4-FFF2-40B4-BE49-F238E27FC236}">
                <a16:creationId xmlns:a16="http://schemas.microsoft.com/office/drawing/2014/main" id="{3FD44233-58F0-4606-B46D-379AADFBCB60}"/>
              </a:ext>
            </a:extLst>
          </p:cNvPr>
          <p:cNvSpPr>
            <a:spLocks xmlns:a="http://schemas.openxmlformats.org/drawingml/2006/main" noGrp="1"/>
          </p:cNvSpPr>
          <p:nvPr/>
        </p:nvSpPr>
        <p:spPr>
          <a:xfrm xmlns:a="http://schemas.openxmlformats.org/drawingml/2006/main">
            <a:off x="495300" y="3667125"/>
            <a:ext cx="5143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52606D"/>
                </a:solidFill>
              </a:defRPr>
            </a:pPr>
            <a:r>
              <a:rPr sz="1575" b="0">
                <a:solidFill>
                  <a:srgbClr val="52606D"/>
                </a:solidFill>
              </a:rPr>
              <a:t>Ten-sector breadth transition + RSP/SPY leadership · causal daily diagnostic · 2018–2023</a:t>
            </a:r>
          </a:p>
        </p:txBody>
      </p:sp>
      <p:sp>
        <p:nvSpPr>
          <p:cNvPr id="4" name="">
            <a:extLst xmlns:a="http://schemas.openxmlformats.org/drawingml/2006/main">
              <a:ext uri="{FF2B5EF4-FFF2-40B4-BE49-F238E27FC236}">
                <a16:creationId xmlns:a16="http://schemas.microsoft.com/office/drawing/2014/main" id="{E4A29262-EB72-4190-8EF5-D439FC064E36}"/>
              </a:ext>
            </a:extLst>
          </p:cNvPr>
          <p:cNvSpPr>
            <a:spLocks xmlns:a="http://schemas.openxmlformats.org/drawingml/2006/main" noGrp="1"/>
          </p:cNvSpPr>
          <p:nvPr/>
        </p:nvSpPr>
        <p:spPr>
          <a:xfrm xmlns:a="http://schemas.openxmlformats.org/drawingml/2006/main">
            <a:off x="495300" y="5010150"/>
            <a:ext cx="5048250" cy="742950"/>
          </a:xfrm>
          <a:prstGeom xmlns:a="http://schemas.openxmlformats.org/drawingml/2006/main" prst="roundRect">
            <a:avLst>
              <a:gd name="adj" fmla="val 10256"/>
            </a:avLst>
          </a:prstGeom>
          <a:solidFill xmlns:a="http://schemas.openxmlformats.org/drawingml/2006/main">
            <a:srgbClr val="FBE9E7"/>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0E4447C-B0C1-4992-8AEF-11E6975B30AD}"/>
              </a:ext>
            </a:extLst>
          </p:cNvPr>
          <p:cNvSpPr>
            <a:spLocks xmlns:a="http://schemas.openxmlformats.org/drawingml/2006/main" noGrp="1"/>
          </p:cNvSpPr>
          <p:nvPr/>
        </p:nvSpPr>
        <p:spPr>
          <a:xfrm xmlns:a="http://schemas.openxmlformats.org/drawingml/2006/main">
            <a:off x="742950" y="52101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D95F59"/>
                </a:solidFill>
              </a:defRPr>
            </a:pPr>
            <a:r>
              <a:rPr sz="1800" b="1">
                <a:solidFill>
                  <a:srgbClr val="D95F59"/>
                </a:solidFill>
              </a:rPr>
              <a:t>STOP · 1 of 8 gates passed</a:t>
            </a:r>
          </a:p>
        </p:txBody>
      </p:sp>
      <p:sp>
        <p:nvSpPr>
          <p:cNvPr id="6" name="">
            <a:extLst xmlns:a="http://schemas.openxmlformats.org/drawingml/2006/main">
              <a:ext uri="{FF2B5EF4-FFF2-40B4-BE49-F238E27FC236}">
                <a16:creationId xmlns:a16="http://schemas.microsoft.com/office/drawing/2014/main" id="{3002D2EF-930F-401C-A5E1-1FC92F46D7B2}"/>
              </a:ext>
            </a:extLst>
          </p:cNvPr>
          <p:cNvSpPr>
            <a:spLocks xmlns:a="http://schemas.openxmlformats.org/drawingml/2006/main" noGrp="1"/>
          </p:cNvSpPr>
          <p:nvPr/>
        </p:nvSpPr>
        <p:spPr>
          <a:xfrm xmlns:a="http://schemas.openxmlformats.org/drawingml/2006/main">
            <a:off x="6143625" y="428625"/>
            <a:ext cx="5572125" cy="56197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4b854e2843d449f"/>
          <a:stretch xmlns:a="http://schemas.openxmlformats.org/drawingml/2006/main"/>
        </p:blipFill>
        <p:spPr>
          <a:xfrm xmlns:a="http://schemas.openxmlformats.org/drawingml/2006/main">
            <a:off x="6143625" y="452438"/>
            <a:ext cx="5572125" cy="5572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4B8295D-C4E0-47D8-8347-64E7F3993885}"/>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1</a:t>
            </a:r>
          </a:p>
        </p:txBody>
      </p:sp>
    </p:spTree>
    <p:extLst>
      <p:ext uri="{BB962C8B-B14F-4D97-AF65-F5344CB8AC3E}">
        <p14:creationId xmlns:p14="http://schemas.microsoft.com/office/powerpoint/2010/main" val="12841114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BA4A7BA-6D10-4BC5-8154-C08F0E175989}"/>
              </a:ext>
            </a:extLst>
          </p:cNvPr>
          <p:cNvSpPr>
            <a:spLocks xmlns:a="http://schemas.openxmlformats.org/drawingml/2006/main" noGrp="1"/>
          </p:cNvSpPr>
          <p:nvPr/>
        </p:nvSpPr>
        <p:spPr>
          <a:xfrm xmlns:a="http://schemas.openxmlformats.org/drawingml/2006/main">
            <a:off x="495300" y="266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HYP-REG-03.2</a:t>
            </a:r>
          </a:p>
        </p:txBody>
      </p:sp>
      <p:sp>
        <p:nvSpPr>
          <p:cNvPr id="2" name="">
            <a:extLst xmlns:a="http://schemas.openxmlformats.org/drawingml/2006/main">
              <a:ext uri="{FF2B5EF4-FFF2-40B4-BE49-F238E27FC236}">
                <a16:creationId xmlns:a16="http://schemas.microsoft.com/office/drawing/2014/main" id="{BC5AD7C9-E293-4D33-8C53-CC939403F647}"/>
              </a:ext>
            </a:extLst>
          </p:cNvPr>
          <p:cNvSpPr>
            <a:spLocks xmlns:a="http://schemas.openxmlformats.org/drawingml/2006/main" noGrp="1"/>
          </p:cNvSpPr>
          <p:nvPr/>
        </p:nvSpPr>
        <p:spPr>
          <a:xfrm xmlns:a="http://schemas.openxmlformats.org/drawingml/2006/main">
            <a:off x="4953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We tested deterioration beneath a still-rising index</a:t>
            </a:r>
          </a:p>
        </p:txBody>
      </p:sp>
      <p:sp>
        <p:nvSpPr>
          <p:cNvPr id="3" name="">
            <a:extLst xmlns:a="http://schemas.openxmlformats.org/drawingml/2006/main">
              <a:ext uri="{FF2B5EF4-FFF2-40B4-BE49-F238E27FC236}">
                <a16:creationId xmlns:a16="http://schemas.microsoft.com/office/drawing/2014/main" id="{9408E068-96D3-4456-AB23-07623F0D66E6}"/>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2</a:t>
            </a:r>
          </a:p>
        </p:txBody>
      </p:sp>
      <p:sp>
        <p:nvSpPr>
          <p:cNvPr id="4" name="">
            <a:extLst xmlns:a="http://schemas.openxmlformats.org/drawingml/2006/main">
              <a:ext uri="{FF2B5EF4-FFF2-40B4-BE49-F238E27FC236}">
                <a16:creationId xmlns:a16="http://schemas.microsoft.com/office/drawing/2014/main" id="{1E638FC4-C41D-497D-AE54-C80591452CCF}"/>
              </a:ext>
            </a:extLst>
          </p:cNvPr>
          <p:cNvSpPr>
            <a:spLocks xmlns:a="http://schemas.openxmlformats.org/drawingml/2006/main" noGrp="1"/>
          </p:cNvSpPr>
          <p:nvPr/>
        </p:nvSpPr>
        <p:spPr>
          <a:xfrm xmlns:a="http://schemas.openxmlformats.org/drawingml/2006/main">
            <a:off x="495300" y="1428750"/>
            <a:ext cx="4476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75" b="1">
                <a:solidFill>
                  <a:srgbClr val="17324D"/>
                </a:solidFill>
              </a:defRPr>
            </a:pPr>
            <a:r>
              <a:rPr sz="1875" b="1">
                <a:solidFill>
                  <a:srgbClr val="17324D"/>
                </a:solidFill>
              </a:rPr>
              <a:t>The motivating failure mode</a:t>
            </a:r>
          </a:p>
        </p:txBody>
      </p:sp>
      <p:sp>
        <p:nvSpPr>
          <p:cNvPr id="5" name="">
            <a:extLst xmlns:a="http://schemas.openxmlformats.org/drawingml/2006/main">
              <a:ext uri="{FF2B5EF4-FFF2-40B4-BE49-F238E27FC236}">
                <a16:creationId xmlns:a16="http://schemas.microsoft.com/office/drawing/2014/main" id="{FE1991D3-3A32-46A5-ACA6-D9C951CB40B8}"/>
              </a:ext>
            </a:extLst>
          </p:cNvPr>
          <p:cNvSpPr>
            <a:spLocks xmlns:a="http://schemas.openxmlformats.org/drawingml/2006/main" noGrp="1"/>
          </p:cNvSpPr>
          <p:nvPr/>
        </p:nvSpPr>
        <p:spPr>
          <a:xfrm xmlns:a="http://schemas.openxmlformats.org/drawingml/2006/main">
            <a:off x="495300" y="1952625"/>
            <a:ext cx="4762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0">
                <a:solidFill>
                  <a:srgbClr val="52606D"/>
                </a:solidFill>
              </a:defRPr>
            </a:pPr>
            <a:r>
              <a:rPr sz="1800" b="0">
                <a:solidFill>
                  <a:srgbClr val="52606D"/>
                </a:solidFill>
              </a:rPr>
              <a:t>SPY can grind upward while participation and equal-weight leadership decay. A price-only trend label may miss that narrowing.</a:t>
            </a:r>
          </a:p>
        </p:txBody>
      </p:sp>
      <p:sp>
        <p:nvSpPr>
          <p:cNvPr id="6" name="">
            <a:extLst xmlns:a="http://schemas.openxmlformats.org/drawingml/2006/main">
              <a:ext uri="{FF2B5EF4-FFF2-40B4-BE49-F238E27FC236}">
                <a16:creationId xmlns:a16="http://schemas.microsoft.com/office/drawing/2014/main" id="{C1A578B1-DAC3-4427-A3AE-B75BCECD84D6}"/>
              </a:ext>
            </a:extLst>
          </p:cNvPr>
          <p:cNvSpPr>
            <a:spLocks xmlns:a="http://schemas.openxmlformats.org/drawingml/2006/main" noGrp="1"/>
          </p:cNvSpPr>
          <p:nvPr/>
        </p:nvSpPr>
        <p:spPr>
          <a:xfrm xmlns:a="http://schemas.openxmlformats.org/drawingml/2006/main">
            <a:off x="6191250" y="1381125"/>
            <a:ext cx="5334000" cy="1190625"/>
          </a:xfrm>
          <a:prstGeom xmlns:a="http://schemas.openxmlformats.org/drawingml/2006/main" prst="roundRect">
            <a:avLst>
              <a:gd name="adj" fmla="val 6400"/>
            </a:avLst>
          </a:prstGeom>
          <a:solidFill xmlns:a="http://schemas.openxmlformats.org/drawingml/2006/main">
            <a:srgbClr val="EAF3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1F42E28-65F2-41CB-A9E0-56CE5F7719BE}"/>
              </a:ext>
            </a:extLst>
          </p:cNvPr>
          <p:cNvSpPr>
            <a:spLocks xmlns:a="http://schemas.openxmlformats.org/drawingml/2006/main" noGrp="1"/>
          </p:cNvSpPr>
          <p:nvPr/>
        </p:nvSpPr>
        <p:spPr>
          <a:xfrm xmlns:a="http://schemas.openxmlformats.org/drawingml/2006/main">
            <a:off x="6477000" y="159067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Breadth transition</a:t>
            </a:r>
          </a:p>
        </p:txBody>
      </p:sp>
      <p:sp>
        <p:nvSpPr>
          <p:cNvPr id="8" name="">
            <a:extLst xmlns:a="http://schemas.openxmlformats.org/drawingml/2006/main">
              <a:ext uri="{FF2B5EF4-FFF2-40B4-BE49-F238E27FC236}">
                <a16:creationId xmlns:a16="http://schemas.microsoft.com/office/drawing/2014/main" id="{39020BD2-7EA9-4C9B-AE59-21B24FBAB465}"/>
              </a:ext>
            </a:extLst>
          </p:cNvPr>
          <p:cNvSpPr>
            <a:spLocks xmlns:a="http://schemas.openxmlformats.org/drawingml/2006/main" noGrp="1"/>
          </p:cNvSpPr>
          <p:nvPr/>
        </p:nvSpPr>
        <p:spPr>
          <a:xfrm xmlns:a="http://schemas.openxmlformats.org/drawingml/2006/main">
            <a:off x="6477000" y="19812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Are ten sectors collectively strengthening or weakening?</a:t>
            </a:r>
          </a:p>
        </p:txBody>
      </p:sp>
      <p:sp>
        <p:nvSpPr>
          <p:cNvPr id="9" name="">
            <a:extLst xmlns:a="http://schemas.openxmlformats.org/drawingml/2006/main">
              <a:ext uri="{FF2B5EF4-FFF2-40B4-BE49-F238E27FC236}">
                <a16:creationId xmlns:a16="http://schemas.microsoft.com/office/drawing/2014/main" id="{F59044FC-8D65-45D9-BD58-9754A2986DBE}"/>
              </a:ext>
            </a:extLst>
          </p:cNvPr>
          <p:cNvSpPr>
            <a:spLocks xmlns:a="http://schemas.openxmlformats.org/drawingml/2006/main" noGrp="1"/>
          </p:cNvSpPr>
          <p:nvPr/>
        </p:nvSpPr>
        <p:spPr>
          <a:xfrm xmlns:a="http://schemas.openxmlformats.org/drawingml/2006/main">
            <a:off x="6191250" y="2876550"/>
            <a:ext cx="5334000" cy="1190625"/>
          </a:xfrm>
          <a:prstGeom xmlns:a="http://schemas.openxmlformats.org/drawingml/2006/main" prst="roundRect">
            <a:avLst>
              <a:gd name="adj" fmla="val 6400"/>
            </a:avLst>
          </a:prstGeom>
          <a:solidFill xmlns:a="http://schemas.openxmlformats.org/drawingml/2006/main">
            <a:srgbClr val="FFF1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38F801-37B3-46D4-8B8F-54EA8AB1A9DB}"/>
              </a:ext>
            </a:extLst>
          </p:cNvPr>
          <p:cNvSpPr>
            <a:spLocks xmlns:a="http://schemas.openxmlformats.org/drawingml/2006/main" noGrp="1"/>
          </p:cNvSpPr>
          <p:nvPr/>
        </p:nvSpPr>
        <p:spPr>
          <a:xfrm xmlns:a="http://schemas.openxmlformats.org/drawingml/2006/main">
            <a:off x="6477000" y="30861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F2A65A"/>
                </a:solidFill>
              </a:defRPr>
            </a:pPr>
            <a:r>
              <a:rPr sz="1800" b="1">
                <a:solidFill>
                  <a:srgbClr val="F2A65A"/>
                </a:solidFill>
              </a:rPr>
              <a:t>Leadership transition</a:t>
            </a:r>
          </a:p>
        </p:txBody>
      </p:sp>
      <p:sp>
        <p:nvSpPr>
          <p:cNvPr id="11" name="">
            <a:extLst xmlns:a="http://schemas.openxmlformats.org/drawingml/2006/main">
              <a:ext uri="{FF2B5EF4-FFF2-40B4-BE49-F238E27FC236}">
                <a16:creationId xmlns:a16="http://schemas.microsoft.com/office/drawing/2014/main" id="{3D7F69F4-AC74-4D77-9026-197695965B6B}"/>
              </a:ext>
            </a:extLst>
          </p:cNvPr>
          <p:cNvSpPr>
            <a:spLocks xmlns:a="http://schemas.openxmlformats.org/drawingml/2006/main" noGrp="1"/>
          </p:cNvSpPr>
          <p:nvPr/>
        </p:nvSpPr>
        <p:spPr>
          <a:xfrm xmlns:a="http://schemas.openxmlformats.org/drawingml/2006/main">
            <a:off x="6477000" y="3476625"/>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Is equal-weight RSP improving or losing ground versus SPY?</a:t>
            </a:r>
          </a:p>
        </p:txBody>
      </p:sp>
      <p:sp>
        <p:nvSpPr>
          <p:cNvPr id="12" name="">
            <a:extLst xmlns:a="http://schemas.openxmlformats.org/drawingml/2006/main">
              <a:ext uri="{FF2B5EF4-FFF2-40B4-BE49-F238E27FC236}">
                <a16:creationId xmlns:a16="http://schemas.microsoft.com/office/drawing/2014/main" id="{BF149756-758A-4557-92D0-99CB0E866E37}"/>
              </a:ext>
            </a:extLst>
          </p:cNvPr>
          <p:cNvSpPr>
            <a:spLocks xmlns:a="http://schemas.openxmlformats.org/drawingml/2006/main" noGrp="1"/>
          </p:cNvSpPr>
          <p:nvPr/>
        </p:nvSpPr>
        <p:spPr>
          <a:xfrm xmlns:a="http://schemas.openxmlformats.org/drawingml/2006/main">
            <a:off x="6191250" y="4371975"/>
            <a:ext cx="5334000" cy="1190625"/>
          </a:xfrm>
          <a:prstGeom xmlns:a="http://schemas.openxmlformats.org/drawingml/2006/main" prst="roundRect">
            <a:avLst>
              <a:gd name="adj" fmla="val 6400"/>
            </a:avLst>
          </a:prstGeom>
          <a:solidFill xmlns:a="http://schemas.openxmlformats.org/drawingml/2006/main">
            <a:srgbClr val="E8F4E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30579458-7C7F-4515-9230-291C82E4E77F}"/>
              </a:ext>
            </a:extLst>
          </p:cNvPr>
          <p:cNvSpPr>
            <a:spLocks xmlns:a="http://schemas.openxmlformats.org/drawingml/2006/main" noGrp="1"/>
          </p:cNvSpPr>
          <p:nvPr/>
        </p:nvSpPr>
        <p:spPr>
          <a:xfrm xmlns:a="http://schemas.openxmlformats.org/drawingml/2006/main">
            <a:off x="6477000" y="45815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E8B57"/>
                </a:solidFill>
              </a:defRPr>
            </a:pPr>
            <a:r>
              <a:rPr sz="1800" b="1">
                <a:solidFill>
                  <a:srgbClr val="2E8B57"/>
                </a:solidFill>
              </a:rPr>
              <a:t>Visible SPY trend</a:t>
            </a:r>
          </a:p>
        </p:txBody>
      </p:sp>
      <p:sp>
        <p:nvSpPr>
          <p:cNvPr id="14" name="">
            <a:extLst xmlns:a="http://schemas.openxmlformats.org/drawingml/2006/main">
              <a:ext uri="{FF2B5EF4-FFF2-40B4-BE49-F238E27FC236}">
                <a16:creationId xmlns:a16="http://schemas.microsoft.com/office/drawing/2014/main" id="{D9908840-CF86-4B2B-BAE9-A2E2BA9E839A}"/>
              </a:ext>
            </a:extLst>
          </p:cNvPr>
          <p:cNvSpPr>
            <a:spLocks xmlns:a="http://schemas.openxmlformats.org/drawingml/2006/main" noGrp="1"/>
          </p:cNvSpPr>
          <p:nvPr/>
        </p:nvSpPr>
        <p:spPr>
          <a:xfrm xmlns:a="http://schemas.openxmlformats.org/drawingml/2006/main">
            <a:off x="6477000" y="497205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Only evaluate divergence while SPY SMA20 / SMA60 trend is nonnegative.</a:t>
            </a:r>
          </a:p>
        </p:txBody>
      </p:sp>
      <p:sp>
        <p:nvSpPr>
          <p:cNvPr id="15" name="">
            <a:extLst xmlns:a="http://schemas.openxmlformats.org/drawingml/2006/main">
              <a:ext uri="{FF2B5EF4-FFF2-40B4-BE49-F238E27FC236}">
                <a16:creationId xmlns:a16="http://schemas.microsoft.com/office/drawing/2014/main" id="{9356F27A-444A-4CDD-9B2B-8FB6F11F059B}"/>
              </a:ext>
            </a:extLst>
          </p:cNvPr>
          <p:cNvSpPr>
            <a:spLocks xmlns:a="http://schemas.openxmlformats.org/drawingml/2006/main" noGrp="1"/>
          </p:cNvSpPr>
          <p:nvPr/>
        </p:nvSpPr>
        <p:spPr>
          <a:xfrm xmlns:a="http://schemas.openxmlformats.org/drawingml/2006/main">
            <a:off x="495300" y="4953000"/>
            <a:ext cx="4762500" cy="1028700"/>
          </a:xfrm>
          <a:prstGeom xmlns:a="http://schemas.openxmlformats.org/drawingml/2006/main" prst="roundRect">
            <a:avLst>
              <a:gd name="adj" fmla="val 7407"/>
            </a:avLst>
          </a:prstGeom>
          <a:solidFill xmlns:a="http://schemas.openxmlformats.org/drawingml/2006/main">
            <a:srgbClr val="F2F4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EA1A9880-C923-4CFC-8938-0ABA916802F4}"/>
              </a:ext>
            </a:extLst>
          </p:cNvPr>
          <p:cNvSpPr>
            <a:spLocks xmlns:a="http://schemas.openxmlformats.org/drawingml/2006/main" noGrp="1"/>
          </p:cNvSpPr>
          <p:nvPr/>
        </p:nvSpPr>
        <p:spPr>
          <a:xfrm xmlns:a="http://schemas.openxmlformats.org/drawingml/2006/main">
            <a:off x="742950" y="5219700"/>
            <a:ext cx="4286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D95F59"/>
                </a:solidFill>
              </a:defRPr>
            </a:pPr>
            <a:r>
              <a:rPr sz="1725" b="1">
                <a:solidFill>
                  <a:srgbClr val="D95F59"/>
                </a:solidFill>
              </a:rPr>
              <a:t>NARROWING = breadth weakening AND RSP/SPY weakening</a:t>
            </a:r>
          </a:p>
        </p:txBody>
      </p:sp>
    </p:spTree>
    <p:extLst>
      <p:ext uri="{BB962C8B-B14F-4D97-AF65-F5344CB8AC3E}">
        <p14:creationId xmlns:p14="http://schemas.microsoft.com/office/powerpoint/2010/main" val="131846412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DD3CD79B-3B5E-4445-BE26-58CE33D2D0D4}"/>
              </a:ext>
            </a:extLst>
          </p:cNvPr>
          <p:cNvSpPr>
            <a:spLocks xmlns:a="http://schemas.openxmlformats.org/drawingml/2006/main" noGrp="1"/>
          </p:cNvSpPr>
          <p:nvPr/>
        </p:nvSpPr>
        <p:spPr>
          <a:xfrm xmlns:a="http://schemas.openxmlformats.org/drawingml/2006/main">
            <a:off x="495300" y="266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FROZEN MECHANICS</a:t>
            </a:r>
          </a:p>
        </p:txBody>
      </p:sp>
      <p:sp>
        <p:nvSpPr>
          <p:cNvPr id="2" name="">
            <a:extLst xmlns:a="http://schemas.openxmlformats.org/drawingml/2006/main">
              <a:ext uri="{FF2B5EF4-FFF2-40B4-BE49-F238E27FC236}">
                <a16:creationId xmlns:a16="http://schemas.microsoft.com/office/drawing/2014/main" id="{0E7BF872-BEF9-4F27-AAAD-440A05D41E0C}"/>
              </a:ext>
            </a:extLst>
          </p:cNvPr>
          <p:cNvSpPr>
            <a:spLocks xmlns:a="http://schemas.openxmlformats.org/drawingml/2006/main" noGrp="1"/>
          </p:cNvSpPr>
          <p:nvPr/>
        </p:nvSpPr>
        <p:spPr>
          <a:xfrm xmlns:a="http://schemas.openxmlformats.org/drawingml/2006/main">
            <a:off x="4953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construction is simple, causal, and asset-scaled</a:t>
            </a:r>
          </a:p>
        </p:txBody>
      </p:sp>
      <p:sp>
        <p:nvSpPr>
          <p:cNvPr id="3" name="">
            <a:extLst xmlns:a="http://schemas.openxmlformats.org/drawingml/2006/main">
              <a:ext uri="{FF2B5EF4-FFF2-40B4-BE49-F238E27FC236}">
                <a16:creationId xmlns:a16="http://schemas.microsoft.com/office/drawing/2014/main" id="{83DF7F93-F00E-4F8B-B415-7AA21540F2E6}"/>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3</a:t>
            </a:r>
          </a:p>
        </p:txBody>
      </p:sp>
      <p:sp>
        <p:nvSpPr>
          <p:cNvPr id="4" name="">
            <a:extLst xmlns:a="http://schemas.openxmlformats.org/drawingml/2006/main">
              <a:ext uri="{FF2B5EF4-FFF2-40B4-BE49-F238E27FC236}">
                <a16:creationId xmlns:a16="http://schemas.microsoft.com/office/drawing/2014/main" id="{3CADB0DD-CEBC-4304-AD58-9842016634E2}"/>
              </a:ext>
            </a:extLst>
          </p:cNvPr>
          <p:cNvSpPr>
            <a:spLocks xmlns:a="http://schemas.openxmlformats.org/drawingml/2006/main" noGrp="1"/>
          </p:cNvSpPr>
          <p:nvPr/>
        </p:nvSpPr>
        <p:spPr>
          <a:xfrm xmlns:a="http://schemas.openxmlformats.org/drawingml/2006/main">
            <a:off x="590550" y="138112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3D8DFF"/>
                </a:solidFill>
              </a:defRPr>
            </a:pPr>
            <a:r>
              <a:rPr sz="1500" b="1">
                <a:solidFill>
                  <a:srgbClr val="3D8DFF"/>
                </a:solidFill>
              </a:rPr>
              <a:t>For sector i after close t</a:t>
            </a:r>
          </a:p>
        </p:txBody>
      </p:sp>
      <p:sp>
        <p:nvSpPr>
          <p:cNvPr id="5" name="">
            <a:extLst xmlns:a="http://schemas.openxmlformats.org/drawingml/2006/main">
              <a:ext uri="{FF2B5EF4-FFF2-40B4-BE49-F238E27FC236}">
                <a16:creationId xmlns:a16="http://schemas.microsoft.com/office/drawing/2014/main" id="{4C653E94-3B54-4462-90BA-66A3CE079DDF}"/>
              </a:ext>
            </a:extLst>
          </p:cNvPr>
          <p:cNvSpPr>
            <a:spLocks xmlns:a="http://schemas.openxmlformats.org/drawingml/2006/main" noGrp="1"/>
          </p:cNvSpPr>
          <p:nvPr/>
        </p:nvSpPr>
        <p:spPr>
          <a:xfrm xmlns:a="http://schemas.openxmlformats.org/drawingml/2006/main">
            <a:off x="590550" y="1857375"/>
            <a:ext cx="4953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1">
                <a:solidFill>
                  <a:srgbClr val="17324D"/>
                </a:solidFill>
              </a:defRPr>
            </a:pPr>
            <a:r>
              <a:rPr sz="2250" b="1">
                <a:solidFill>
                  <a:srgbClr val="17324D"/>
                </a:solidFill>
              </a:rPr>
              <a:t>qᵢ,ₜ = log(Cᵢ,ₜ / SMA₂₀,ᵢ,ₜ)</a:t>
            </a:r>
          </a:p>
        </p:txBody>
      </p:sp>
      <p:sp>
        <p:nvSpPr>
          <p:cNvPr id="6" name="">
            <a:extLst xmlns:a="http://schemas.openxmlformats.org/drawingml/2006/main">
              <a:ext uri="{FF2B5EF4-FFF2-40B4-BE49-F238E27FC236}">
                <a16:creationId xmlns:a16="http://schemas.microsoft.com/office/drawing/2014/main" id="{BF2D22C5-2EE8-4E76-A52E-F6B2A3420067}"/>
              </a:ext>
            </a:extLst>
          </p:cNvPr>
          <p:cNvSpPr>
            <a:spLocks xmlns:a="http://schemas.openxmlformats.org/drawingml/2006/main" noGrp="1"/>
          </p:cNvSpPr>
          <p:nvPr/>
        </p:nvSpPr>
        <p:spPr>
          <a:xfrm xmlns:a="http://schemas.openxmlformats.org/drawingml/2006/main">
            <a:off x="590550" y="2762250"/>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7202A"/>
                </a:solidFill>
              </a:defRPr>
            </a:pPr>
            <a:r>
              <a:rPr sz="1425" b="1">
                <a:solidFill>
                  <a:srgbClr val="17202A"/>
                </a:solidFill>
              </a:rPr>
              <a:t>Breadth level</a:t>
            </a:r>
          </a:p>
        </p:txBody>
      </p:sp>
      <p:sp>
        <p:nvSpPr>
          <p:cNvPr id="7" name="">
            <a:extLst xmlns:a="http://schemas.openxmlformats.org/drawingml/2006/main">
              <a:ext uri="{FF2B5EF4-FFF2-40B4-BE49-F238E27FC236}">
                <a16:creationId xmlns:a16="http://schemas.microsoft.com/office/drawing/2014/main" id="{EC3C94A7-977E-4307-BF71-198D5769F729}"/>
              </a:ext>
            </a:extLst>
          </p:cNvPr>
          <p:cNvSpPr>
            <a:spLocks xmlns:a="http://schemas.openxmlformats.org/drawingml/2006/main" noGrp="1"/>
          </p:cNvSpPr>
          <p:nvPr/>
        </p:nvSpPr>
        <p:spPr>
          <a:xfrm xmlns:a="http://schemas.openxmlformats.org/drawingml/2006/main">
            <a:off x="2762250" y="274320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7202A"/>
                </a:solidFill>
              </a:defRPr>
            </a:pPr>
            <a:r>
              <a:rPr sz="1725" b="1">
                <a:solidFill>
                  <a:srgbClr val="17202A"/>
                </a:solidFill>
              </a:rPr>
              <a:t>Bₜ = medianᵢ(qᵢ,ₜ)</a:t>
            </a:r>
          </a:p>
        </p:txBody>
      </p:sp>
      <p:sp>
        <p:nvSpPr>
          <p:cNvPr id="8" name="">
            <a:extLst xmlns:a="http://schemas.openxmlformats.org/drawingml/2006/main">
              <a:ext uri="{FF2B5EF4-FFF2-40B4-BE49-F238E27FC236}">
                <a16:creationId xmlns:a16="http://schemas.microsoft.com/office/drawing/2014/main" id="{1F150603-D0CF-4E36-8DC8-4107D3E4B490}"/>
              </a:ext>
            </a:extLst>
          </p:cNvPr>
          <p:cNvSpPr>
            <a:spLocks xmlns:a="http://schemas.openxmlformats.org/drawingml/2006/main" noGrp="1"/>
          </p:cNvSpPr>
          <p:nvPr/>
        </p:nvSpPr>
        <p:spPr>
          <a:xfrm xmlns:a="http://schemas.openxmlformats.org/drawingml/2006/main">
            <a:off x="7334250" y="27622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typical sector depth</a:t>
            </a:r>
          </a:p>
        </p:txBody>
      </p:sp>
      <p:sp>
        <p:nvSpPr>
          <p:cNvPr id="9" name="">
            <a:extLst xmlns:a="http://schemas.openxmlformats.org/drawingml/2006/main">
              <a:ext uri="{FF2B5EF4-FFF2-40B4-BE49-F238E27FC236}">
                <a16:creationId xmlns:a16="http://schemas.microsoft.com/office/drawing/2014/main" id="{E1C807A6-392A-403F-AA3E-EAC96A4C93D6}"/>
              </a:ext>
            </a:extLst>
          </p:cNvPr>
          <p:cNvSpPr>
            <a:spLocks xmlns:a="http://schemas.openxmlformats.org/drawingml/2006/main" noGrp="1"/>
          </p:cNvSpPr>
          <p:nvPr/>
        </p:nvSpPr>
        <p:spPr>
          <a:xfrm xmlns:a="http://schemas.openxmlformats.org/drawingml/2006/main">
            <a:off x="590550" y="3448050"/>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7202A"/>
                </a:solidFill>
              </a:defRPr>
            </a:pPr>
            <a:r>
              <a:rPr sz="1425" b="1">
                <a:solidFill>
                  <a:srgbClr val="17202A"/>
                </a:solidFill>
              </a:rPr>
              <a:t>Breadth transition</a:t>
            </a:r>
          </a:p>
        </p:txBody>
      </p:sp>
      <p:sp>
        <p:nvSpPr>
          <p:cNvPr id="10" name="">
            <a:extLst xmlns:a="http://schemas.openxmlformats.org/drawingml/2006/main">
              <a:ext uri="{FF2B5EF4-FFF2-40B4-BE49-F238E27FC236}">
                <a16:creationId xmlns:a16="http://schemas.microsoft.com/office/drawing/2014/main" id="{5A9498CE-FE21-4816-BA24-91F8C649C5AF}"/>
              </a:ext>
            </a:extLst>
          </p:cNvPr>
          <p:cNvSpPr>
            <a:spLocks xmlns:a="http://schemas.openxmlformats.org/drawingml/2006/main" noGrp="1"/>
          </p:cNvSpPr>
          <p:nvPr/>
        </p:nvSpPr>
        <p:spPr>
          <a:xfrm xmlns:a="http://schemas.openxmlformats.org/drawingml/2006/main">
            <a:off x="2762250" y="342900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7202A"/>
                </a:solidFill>
              </a:defRPr>
            </a:pPr>
            <a:r>
              <a:rPr sz="1725" b="1">
                <a:solidFill>
                  <a:srgbClr val="17202A"/>
                </a:solidFill>
              </a:rPr>
              <a:t>Dₜ = Bₜ − Bₜ₋₂₀</a:t>
            </a:r>
          </a:p>
        </p:txBody>
      </p:sp>
      <p:sp>
        <p:nvSpPr>
          <p:cNvPr id="11" name="">
            <a:extLst xmlns:a="http://schemas.openxmlformats.org/drawingml/2006/main">
              <a:ext uri="{FF2B5EF4-FFF2-40B4-BE49-F238E27FC236}">
                <a16:creationId xmlns:a16="http://schemas.microsoft.com/office/drawing/2014/main" id="{173F84D3-A6DE-4C42-B8B9-7931CE47948A}"/>
              </a:ext>
            </a:extLst>
          </p:cNvPr>
          <p:cNvSpPr>
            <a:spLocks xmlns:a="http://schemas.openxmlformats.org/drawingml/2006/main" noGrp="1"/>
          </p:cNvSpPr>
          <p:nvPr/>
        </p:nvSpPr>
        <p:spPr>
          <a:xfrm xmlns:a="http://schemas.openxmlformats.org/drawingml/2006/main">
            <a:off x="7334250" y="34480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negative means weakening</a:t>
            </a:r>
          </a:p>
        </p:txBody>
      </p:sp>
      <p:sp>
        <p:nvSpPr>
          <p:cNvPr id="12" name="">
            <a:extLst xmlns:a="http://schemas.openxmlformats.org/drawingml/2006/main">
              <a:ext uri="{FF2B5EF4-FFF2-40B4-BE49-F238E27FC236}">
                <a16:creationId xmlns:a16="http://schemas.microsoft.com/office/drawing/2014/main" id="{6168D772-DF35-4D86-8BD1-3C950D7F2182}"/>
              </a:ext>
            </a:extLst>
          </p:cNvPr>
          <p:cNvSpPr>
            <a:spLocks xmlns:a="http://schemas.openxmlformats.org/drawingml/2006/main" noGrp="1"/>
          </p:cNvSpPr>
          <p:nvPr/>
        </p:nvSpPr>
        <p:spPr>
          <a:xfrm xmlns:a="http://schemas.openxmlformats.org/drawingml/2006/main">
            <a:off x="590550" y="4133850"/>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17202A"/>
                </a:solidFill>
              </a:defRPr>
            </a:pPr>
            <a:r>
              <a:rPr sz="1425" b="1">
                <a:solidFill>
                  <a:srgbClr val="17202A"/>
                </a:solidFill>
              </a:rPr>
              <a:t>Leadership transition</a:t>
            </a:r>
          </a:p>
        </p:txBody>
      </p:sp>
      <p:sp>
        <p:nvSpPr>
          <p:cNvPr id="13" name="">
            <a:extLst xmlns:a="http://schemas.openxmlformats.org/drawingml/2006/main">
              <a:ext uri="{FF2B5EF4-FFF2-40B4-BE49-F238E27FC236}">
                <a16:creationId xmlns:a16="http://schemas.microsoft.com/office/drawing/2014/main" id="{72219353-BD4B-458F-909B-8A0B243624A7}"/>
              </a:ext>
            </a:extLst>
          </p:cNvPr>
          <p:cNvSpPr>
            <a:spLocks xmlns:a="http://schemas.openxmlformats.org/drawingml/2006/main" noGrp="1"/>
          </p:cNvSpPr>
          <p:nvPr/>
        </p:nvSpPr>
        <p:spPr>
          <a:xfrm xmlns:a="http://schemas.openxmlformats.org/drawingml/2006/main">
            <a:off x="2762250" y="411480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7202A"/>
                </a:solidFill>
              </a:defRPr>
            </a:pPr>
            <a:r>
              <a:rPr sz="1725" b="1">
                <a:solidFill>
                  <a:srgbClr val="17202A"/>
                </a:solidFill>
              </a:rPr>
              <a:t>Gₜ = Δ₂₀ log(RSPₜ / SPYₜ)</a:t>
            </a:r>
          </a:p>
        </p:txBody>
      </p:sp>
      <p:sp>
        <p:nvSpPr>
          <p:cNvPr id="14" name="">
            <a:extLst xmlns:a="http://schemas.openxmlformats.org/drawingml/2006/main">
              <a:ext uri="{FF2B5EF4-FFF2-40B4-BE49-F238E27FC236}">
                <a16:creationId xmlns:a16="http://schemas.microsoft.com/office/drawing/2014/main" id="{45130137-4FB9-40D6-9FCA-28DE3C6FC403}"/>
              </a:ext>
            </a:extLst>
          </p:cNvPr>
          <p:cNvSpPr>
            <a:spLocks xmlns:a="http://schemas.openxmlformats.org/drawingml/2006/main" noGrp="1"/>
          </p:cNvSpPr>
          <p:nvPr/>
        </p:nvSpPr>
        <p:spPr>
          <a:xfrm xmlns:a="http://schemas.openxmlformats.org/drawingml/2006/main">
            <a:off x="7334250" y="4133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negative means narrowing leadership</a:t>
            </a:r>
          </a:p>
        </p:txBody>
      </p:sp>
      <p:sp>
        <p:nvSpPr>
          <p:cNvPr id="15" name="">
            <a:extLst xmlns:a="http://schemas.openxmlformats.org/drawingml/2006/main">
              <a:ext uri="{FF2B5EF4-FFF2-40B4-BE49-F238E27FC236}">
                <a16:creationId xmlns:a16="http://schemas.microsoft.com/office/drawing/2014/main" id="{B7AE2866-F2BD-419B-8F72-248F0177E759}"/>
              </a:ext>
            </a:extLst>
          </p:cNvPr>
          <p:cNvSpPr>
            <a:spLocks xmlns:a="http://schemas.openxmlformats.org/drawingml/2006/main" noGrp="1"/>
          </p:cNvSpPr>
          <p:nvPr/>
        </p:nvSpPr>
        <p:spPr>
          <a:xfrm xmlns:a="http://schemas.openxmlformats.org/drawingml/2006/main">
            <a:off x="590550" y="4819650"/>
            <a:ext cx="2047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95F59"/>
                </a:solidFill>
              </a:defRPr>
            </a:pPr>
            <a:r>
              <a:rPr sz="1425" b="1">
                <a:solidFill>
                  <a:srgbClr val="D95F59"/>
                </a:solidFill>
              </a:rPr>
              <a:t>Risk score</a:t>
            </a:r>
          </a:p>
        </p:txBody>
      </p:sp>
      <p:sp>
        <p:nvSpPr>
          <p:cNvPr id="16" name="">
            <a:extLst xmlns:a="http://schemas.openxmlformats.org/drawingml/2006/main">
              <a:ext uri="{FF2B5EF4-FFF2-40B4-BE49-F238E27FC236}">
                <a16:creationId xmlns:a16="http://schemas.microsoft.com/office/drawing/2014/main" id="{947F41DA-9B8B-43C7-A516-1817D3E996AB}"/>
              </a:ext>
            </a:extLst>
          </p:cNvPr>
          <p:cNvSpPr>
            <a:spLocks xmlns:a="http://schemas.openxmlformats.org/drawingml/2006/main" noGrp="1"/>
          </p:cNvSpPr>
          <p:nvPr/>
        </p:nvSpPr>
        <p:spPr>
          <a:xfrm xmlns:a="http://schemas.openxmlformats.org/drawingml/2006/main">
            <a:off x="2762250" y="480060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7202A"/>
                </a:solidFill>
              </a:defRPr>
            </a:pPr>
            <a:r>
              <a:rPr sz="1725" b="1">
                <a:solidFill>
                  <a:srgbClr val="17202A"/>
                </a:solidFill>
              </a:rPr>
              <a:t>Nₜ = 1 − [pct(Dₜ)+pct(Gₜ)] / 2</a:t>
            </a:r>
          </a:p>
        </p:txBody>
      </p:sp>
      <p:sp>
        <p:nvSpPr>
          <p:cNvPr id="17" name="">
            <a:extLst xmlns:a="http://schemas.openxmlformats.org/drawingml/2006/main">
              <a:ext uri="{FF2B5EF4-FFF2-40B4-BE49-F238E27FC236}">
                <a16:creationId xmlns:a16="http://schemas.microsoft.com/office/drawing/2014/main" id="{7BBB6650-D422-46BF-BE36-CC697471C1CD}"/>
              </a:ext>
            </a:extLst>
          </p:cNvPr>
          <p:cNvSpPr>
            <a:spLocks xmlns:a="http://schemas.openxmlformats.org/drawingml/2006/main" noGrp="1"/>
          </p:cNvSpPr>
          <p:nvPr/>
        </p:nvSpPr>
        <p:spPr>
          <a:xfrm xmlns:a="http://schemas.openxmlformats.org/drawingml/2006/main">
            <a:off x="7334250" y="48196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prior-252 percentiles only</a:t>
            </a:r>
          </a:p>
        </p:txBody>
      </p:sp>
      <p:sp>
        <p:nvSpPr>
          <p:cNvPr id="18" name="">
            <a:extLst xmlns:a="http://schemas.openxmlformats.org/drawingml/2006/main">
              <a:ext uri="{FF2B5EF4-FFF2-40B4-BE49-F238E27FC236}">
                <a16:creationId xmlns:a16="http://schemas.microsoft.com/office/drawing/2014/main" id="{2FF18FA8-784B-4150-8E40-873BFCEC0335}"/>
              </a:ext>
            </a:extLst>
          </p:cNvPr>
          <p:cNvSpPr>
            <a:spLocks xmlns:a="http://schemas.openxmlformats.org/drawingml/2006/main" noGrp="1"/>
          </p:cNvSpPr>
          <p:nvPr/>
        </p:nvSpPr>
        <p:spPr>
          <a:xfrm xmlns:a="http://schemas.openxmlformats.org/drawingml/2006/main">
            <a:off x="590550" y="5753100"/>
            <a:ext cx="10810875" cy="590550"/>
          </a:xfrm>
          <a:prstGeom xmlns:a="http://schemas.openxmlformats.org/drawingml/2006/main" prst="roundRect">
            <a:avLst>
              <a:gd name="adj" fmla="val 12903"/>
            </a:avLst>
          </a:prstGeom>
          <a:solidFill xmlns:a="http://schemas.openxmlformats.org/drawingml/2006/main">
            <a:srgbClr val="F2F4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2F3B9309-E5BA-45F3-AFFB-819F93C57B46}"/>
              </a:ext>
            </a:extLst>
          </p:cNvPr>
          <p:cNvSpPr>
            <a:spLocks xmlns:a="http://schemas.openxmlformats.org/drawingml/2006/main" noGrp="1"/>
          </p:cNvSpPr>
          <p:nvPr/>
        </p:nvSpPr>
        <p:spPr>
          <a:xfrm xmlns:a="http://schemas.openxmlformats.org/drawingml/2006/main">
            <a:off x="857250" y="59150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202A"/>
                </a:solidFill>
              </a:defRPr>
            </a:pPr>
            <a:r>
              <a:rPr sz="1575" b="1">
                <a:solidFill>
                  <a:srgbClr val="17202A"/>
                </a:solidFill>
              </a:rPr>
              <a:t>signal at close t  →  tradeable target begins next open  →  log(SPY openₜ₊₂₁ / openₜ₊₁)</a:t>
            </a:r>
          </a:p>
        </p:txBody>
      </p:sp>
    </p:spTree>
    <p:extLst>
      <p:ext uri="{BB962C8B-B14F-4D97-AF65-F5344CB8AC3E}">
        <p14:creationId xmlns:p14="http://schemas.microsoft.com/office/powerpoint/2010/main" val="2281319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780CC57-926D-4BC0-9C84-0461DD1FF07B}"/>
              </a:ext>
            </a:extLst>
          </p:cNvPr>
          <p:cNvSpPr>
            <a:spLocks xmlns:a="http://schemas.openxmlformats.org/drawingml/2006/main" noGrp="1"/>
          </p:cNvSpPr>
          <p:nvPr/>
        </p:nvSpPr>
        <p:spPr>
          <a:xfrm xmlns:a="http://schemas.openxmlformats.org/drawingml/2006/main">
            <a:off x="495300" y="266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INFERENCE DESIGN</a:t>
            </a:r>
          </a:p>
        </p:txBody>
      </p:sp>
      <p:sp>
        <p:nvSpPr>
          <p:cNvPr id="2" name="">
            <a:extLst xmlns:a="http://schemas.openxmlformats.org/drawingml/2006/main">
              <a:ext uri="{FF2B5EF4-FFF2-40B4-BE49-F238E27FC236}">
                <a16:creationId xmlns:a16="http://schemas.microsoft.com/office/drawing/2014/main" id="{87A65992-A745-4AE2-8491-257636113057}"/>
              </a:ext>
            </a:extLst>
          </p:cNvPr>
          <p:cNvSpPr>
            <a:spLocks xmlns:a="http://schemas.openxmlformats.org/drawingml/2006/main" noGrp="1"/>
          </p:cNvSpPr>
          <p:nvPr/>
        </p:nvSpPr>
        <p:spPr>
          <a:xfrm xmlns:a="http://schemas.openxmlformats.org/drawingml/2006/main">
            <a:off x="4953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Eight gates make a persuasive story difficult to fake</a:t>
            </a:r>
          </a:p>
        </p:txBody>
      </p:sp>
      <p:sp>
        <p:nvSpPr>
          <p:cNvPr id="3" name="">
            <a:extLst xmlns:a="http://schemas.openxmlformats.org/drawingml/2006/main">
              <a:ext uri="{FF2B5EF4-FFF2-40B4-BE49-F238E27FC236}">
                <a16:creationId xmlns:a16="http://schemas.microsoft.com/office/drawing/2014/main" id="{21946CF8-06BB-4B76-B91F-7AAB527E512E}"/>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4</a:t>
            </a:r>
          </a:p>
        </p:txBody>
      </p:sp>
      <p:sp>
        <p:nvSpPr>
          <p:cNvPr id="4" name="">
            <a:extLst xmlns:a="http://schemas.openxmlformats.org/drawingml/2006/main">
              <a:ext uri="{FF2B5EF4-FFF2-40B4-BE49-F238E27FC236}">
                <a16:creationId xmlns:a16="http://schemas.microsoft.com/office/drawing/2014/main" id="{8A48A40C-4752-4A4A-8EE4-157656590AA8}"/>
              </a:ext>
            </a:extLst>
          </p:cNvPr>
          <p:cNvSpPr>
            <a:spLocks xmlns:a="http://schemas.openxmlformats.org/drawingml/2006/main" noGrp="1"/>
          </p:cNvSpPr>
          <p:nvPr/>
        </p:nvSpPr>
        <p:spPr>
          <a:xfrm xmlns:a="http://schemas.openxmlformats.org/drawingml/2006/main">
            <a:off x="495300" y="1381125"/>
            <a:ext cx="5286375" cy="914400"/>
          </a:xfrm>
          <a:prstGeom xmlns:a="http://schemas.openxmlformats.org/drawingml/2006/main" prst="roundRect">
            <a:avLst>
              <a:gd name="adj" fmla="val 8333"/>
            </a:avLst>
          </a:prstGeom>
          <a:solidFill xmlns:a="http://schemas.openxmlformats.org/drawingml/2006/main">
            <a:srgbClr val="E8F4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A4968E0-1615-404F-8325-FB6AF41CF3BE}"/>
              </a:ext>
            </a:extLst>
          </p:cNvPr>
          <p:cNvSpPr>
            <a:spLocks xmlns:a="http://schemas.openxmlformats.org/drawingml/2006/main" noGrp="1"/>
          </p:cNvSpPr>
          <p:nvPr/>
        </p:nvSpPr>
        <p:spPr>
          <a:xfrm xmlns:a="http://schemas.openxmlformats.org/drawingml/2006/main">
            <a:off x="685800" y="15525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2E8B57"/>
                </a:solidFill>
              </a:defRPr>
            </a:pPr>
            <a:r>
              <a:rPr sz="1800" b="1">
                <a:solidFill>
                  <a:srgbClr val="2E8B57"/>
                </a:solidFill>
              </a:rPr>
              <a:t>1</a:t>
            </a:r>
          </a:p>
        </p:txBody>
      </p:sp>
      <p:sp>
        <p:nvSpPr>
          <p:cNvPr id="6" name="">
            <a:extLst xmlns:a="http://schemas.openxmlformats.org/drawingml/2006/main">
              <a:ext uri="{FF2B5EF4-FFF2-40B4-BE49-F238E27FC236}">
                <a16:creationId xmlns:a16="http://schemas.microsoft.com/office/drawing/2014/main" id="{CE7EBF4A-C0C5-40F1-AAAD-9A0E9B5CBF1B}"/>
              </a:ext>
            </a:extLst>
          </p:cNvPr>
          <p:cNvSpPr>
            <a:spLocks xmlns:a="http://schemas.openxmlformats.org/drawingml/2006/main" noGrp="1"/>
          </p:cNvSpPr>
          <p:nvPr/>
        </p:nvSpPr>
        <p:spPr>
          <a:xfrm xmlns:a="http://schemas.openxmlformats.org/drawingml/2006/main">
            <a:off x="1162050" y="15144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Integrity</a:t>
            </a:r>
          </a:p>
        </p:txBody>
      </p:sp>
      <p:sp>
        <p:nvSpPr>
          <p:cNvPr id="7" name="">
            <a:extLst xmlns:a="http://schemas.openxmlformats.org/drawingml/2006/main">
              <a:ext uri="{FF2B5EF4-FFF2-40B4-BE49-F238E27FC236}">
                <a16:creationId xmlns:a16="http://schemas.microsoft.com/office/drawing/2014/main" id="{EA39568F-FE8A-4F66-9DF5-CE1E9301EA3F}"/>
              </a:ext>
            </a:extLst>
          </p:cNvPr>
          <p:cNvSpPr>
            <a:spLocks xmlns:a="http://schemas.openxmlformats.org/drawingml/2006/main" noGrp="1"/>
          </p:cNvSpPr>
          <p:nvPr/>
        </p:nvSpPr>
        <p:spPr>
          <a:xfrm xmlns:a="http://schemas.openxmlformats.org/drawingml/2006/main">
            <a:off x="1162050" y="185737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causal timing + sufficient data</a:t>
            </a:r>
          </a:p>
        </p:txBody>
      </p:sp>
      <p:sp>
        <p:nvSpPr>
          <p:cNvPr id="8" name="">
            <a:extLst xmlns:a="http://schemas.openxmlformats.org/drawingml/2006/main">
              <a:ext uri="{FF2B5EF4-FFF2-40B4-BE49-F238E27FC236}">
                <a16:creationId xmlns:a16="http://schemas.microsoft.com/office/drawing/2014/main" id="{710F695C-4415-4ADE-A4BD-83FE6EB94363}"/>
              </a:ext>
            </a:extLst>
          </p:cNvPr>
          <p:cNvSpPr>
            <a:spLocks xmlns:a="http://schemas.openxmlformats.org/drawingml/2006/main" noGrp="1"/>
          </p:cNvSpPr>
          <p:nvPr/>
        </p:nvSpPr>
        <p:spPr>
          <a:xfrm xmlns:a="http://schemas.openxmlformats.org/drawingml/2006/main">
            <a:off x="6115050" y="1381125"/>
            <a:ext cx="5286375" cy="914400"/>
          </a:xfrm>
          <a:prstGeom xmlns:a="http://schemas.openxmlformats.org/drawingml/2006/main" prst="roundRect">
            <a:avLst>
              <a:gd name="adj" fmla="val 8333"/>
            </a:avLst>
          </a:prstGeom>
          <a:solidFill xmlns:a="http://schemas.openxmlformats.org/drawingml/2006/main">
            <a:srgbClr val="F2F4F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0BFB460-9E41-472F-9357-7967CAEDF6B0}"/>
              </a:ext>
            </a:extLst>
          </p:cNvPr>
          <p:cNvSpPr>
            <a:spLocks xmlns:a="http://schemas.openxmlformats.org/drawingml/2006/main" noGrp="1"/>
          </p:cNvSpPr>
          <p:nvPr/>
        </p:nvSpPr>
        <p:spPr>
          <a:xfrm xmlns:a="http://schemas.openxmlformats.org/drawingml/2006/main">
            <a:off x="6305550" y="155257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2</a:t>
            </a:r>
          </a:p>
        </p:txBody>
      </p:sp>
      <p:sp>
        <p:nvSpPr>
          <p:cNvPr id="10" name="">
            <a:extLst xmlns:a="http://schemas.openxmlformats.org/drawingml/2006/main">
              <a:ext uri="{FF2B5EF4-FFF2-40B4-BE49-F238E27FC236}">
                <a16:creationId xmlns:a16="http://schemas.microsoft.com/office/drawing/2014/main" id="{941847AE-A7A3-4289-BB0C-6452CFB24CD2}"/>
              </a:ext>
            </a:extLst>
          </p:cNvPr>
          <p:cNvSpPr>
            <a:spLocks xmlns:a="http://schemas.openxmlformats.org/drawingml/2006/main" noGrp="1"/>
          </p:cNvSpPr>
          <p:nvPr/>
        </p:nvSpPr>
        <p:spPr>
          <a:xfrm xmlns:a="http://schemas.openxmlformats.org/drawingml/2006/main">
            <a:off x="6781800" y="151447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State effect</a:t>
            </a:r>
          </a:p>
        </p:txBody>
      </p:sp>
      <p:sp>
        <p:nvSpPr>
          <p:cNvPr id="11" name="">
            <a:extLst xmlns:a="http://schemas.openxmlformats.org/drawingml/2006/main">
              <a:ext uri="{FF2B5EF4-FFF2-40B4-BE49-F238E27FC236}">
                <a16:creationId xmlns:a16="http://schemas.microsoft.com/office/drawing/2014/main" id="{7EAFDFDE-F418-49EE-B343-2A2E2B72CC65}"/>
              </a:ext>
            </a:extLst>
          </p:cNvPr>
          <p:cNvSpPr>
            <a:spLocks xmlns:a="http://schemas.openxmlformats.org/drawingml/2006/main" noGrp="1"/>
          </p:cNvSpPr>
          <p:nvPr/>
        </p:nvSpPr>
        <p:spPr>
          <a:xfrm xmlns:a="http://schemas.openxmlformats.org/drawingml/2006/main">
            <a:off x="6781800" y="185737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≥100/state, ≤−0.75 pp return, ≥+10 pp DOWN</a:t>
            </a:r>
          </a:p>
        </p:txBody>
      </p:sp>
      <p:sp>
        <p:nvSpPr>
          <p:cNvPr id="12" name="">
            <a:extLst xmlns:a="http://schemas.openxmlformats.org/drawingml/2006/main">
              <a:ext uri="{FF2B5EF4-FFF2-40B4-BE49-F238E27FC236}">
                <a16:creationId xmlns:a16="http://schemas.microsoft.com/office/drawing/2014/main" id="{98C5326E-556E-42AA-AA67-DD3F1DAA0558}"/>
              </a:ext>
            </a:extLst>
          </p:cNvPr>
          <p:cNvSpPr>
            <a:spLocks xmlns:a="http://schemas.openxmlformats.org/drawingml/2006/main" noGrp="1"/>
          </p:cNvSpPr>
          <p:nvPr/>
        </p:nvSpPr>
        <p:spPr>
          <a:xfrm xmlns:a="http://schemas.openxmlformats.org/drawingml/2006/main">
            <a:off x="495300" y="2533650"/>
            <a:ext cx="5286375" cy="914400"/>
          </a:xfrm>
          <a:prstGeom xmlns:a="http://schemas.openxmlformats.org/drawingml/2006/main" prst="roundRect">
            <a:avLst>
              <a:gd name="adj" fmla="val 8333"/>
            </a:avLst>
          </a:prstGeom>
          <a:solidFill xmlns:a="http://schemas.openxmlformats.org/drawingml/2006/main">
            <a:srgbClr val="F2F4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68EDC8-ACAC-40F2-BF42-A17B2C3C6E56}"/>
              </a:ext>
            </a:extLst>
          </p:cNvPr>
          <p:cNvSpPr>
            <a:spLocks xmlns:a="http://schemas.openxmlformats.org/drawingml/2006/main" noGrp="1"/>
          </p:cNvSpPr>
          <p:nvPr/>
        </p:nvSpPr>
        <p:spPr>
          <a:xfrm xmlns:a="http://schemas.openxmlformats.org/drawingml/2006/main">
            <a:off x="685800" y="27051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3</a:t>
            </a:r>
          </a:p>
        </p:txBody>
      </p:sp>
      <p:sp>
        <p:nvSpPr>
          <p:cNvPr id="14" name="">
            <a:extLst xmlns:a="http://schemas.openxmlformats.org/drawingml/2006/main">
              <a:ext uri="{FF2B5EF4-FFF2-40B4-BE49-F238E27FC236}">
                <a16:creationId xmlns:a16="http://schemas.microsoft.com/office/drawing/2014/main" id="{470F7A99-68B4-47DA-A7B3-49AB8A6F9139}"/>
              </a:ext>
            </a:extLst>
          </p:cNvPr>
          <p:cNvSpPr>
            <a:spLocks xmlns:a="http://schemas.openxmlformats.org/drawingml/2006/main" noGrp="1"/>
          </p:cNvSpPr>
          <p:nvPr/>
        </p:nvSpPr>
        <p:spPr>
          <a:xfrm xmlns:a="http://schemas.openxmlformats.org/drawingml/2006/main">
            <a:off x="1162050" y="2667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Continuous ordering</a:t>
            </a:r>
          </a:p>
        </p:txBody>
      </p:sp>
      <p:sp>
        <p:nvSpPr>
          <p:cNvPr id="15" name="">
            <a:extLst xmlns:a="http://schemas.openxmlformats.org/drawingml/2006/main">
              <a:ext uri="{FF2B5EF4-FFF2-40B4-BE49-F238E27FC236}">
                <a16:creationId xmlns:a16="http://schemas.microsoft.com/office/drawing/2014/main" id="{8B3E395B-8F97-440E-BD15-27D3F8DAF50B}"/>
              </a:ext>
            </a:extLst>
          </p:cNvPr>
          <p:cNvSpPr>
            <a:spLocks xmlns:a="http://schemas.openxmlformats.org/drawingml/2006/main" noGrp="1"/>
          </p:cNvSpPr>
          <p:nvPr/>
        </p:nvSpPr>
        <p:spPr>
          <a:xfrm xmlns:a="http://schemas.openxmlformats.org/drawingml/2006/main">
            <a:off x="1162050" y="3009900"/>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correct Spearman signs + AUC ≥ 0.55</a:t>
            </a:r>
          </a:p>
        </p:txBody>
      </p:sp>
      <p:sp>
        <p:nvSpPr>
          <p:cNvPr id="16" name="">
            <a:extLst xmlns:a="http://schemas.openxmlformats.org/drawingml/2006/main">
              <a:ext uri="{FF2B5EF4-FFF2-40B4-BE49-F238E27FC236}">
                <a16:creationId xmlns:a16="http://schemas.microsoft.com/office/drawing/2014/main" id="{6484A207-DFF0-47E7-86BF-157DE219F449}"/>
              </a:ext>
            </a:extLst>
          </p:cNvPr>
          <p:cNvSpPr>
            <a:spLocks xmlns:a="http://schemas.openxmlformats.org/drawingml/2006/main" noGrp="1"/>
          </p:cNvSpPr>
          <p:nvPr/>
        </p:nvSpPr>
        <p:spPr>
          <a:xfrm xmlns:a="http://schemas.openxmlformats.org/drawingml/2006/main">
            <a:off x="6115050" y="2533650"/>
            <a:ext cx="5286375" cy="914400"/>
          </a:xfrm>
          <a:prstGeom xmlns:a="http://schemas.openxmlformats.org/drawingml/2006/main" prst="roundRect">
            <a:avLst>
              <a:gd name="adj" fmla="val 8333"/>
            </a:avLst>
          </a:prstGeom>
          <a:solidFill xmlns:a="http://schemas.openxmlformats.org/drawingml/2006/main">
            <a:srgbClr val="F2F4F6"/>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F94F5CB-2A01-437A-8411-192C95A61D11}"/>
              </a:ext>
            </a:extLst>
          </p:cNvPr>
          <p:cNvSpPr>
            <a:spLocks xmlns:a="http://schemas.openxmlformats.org/drawingml/2006/main" noGrp="1"/>
          </p:cNvSpPr>
          <p:nvPr/>
        </p:nvSpPr>
        <p:spPr>
          <a:xfrm xmlns:a="http://schemas.openxmlformats.org/drawingml/2006/main">
            <a:off x="6305550" y="270510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4</a:t>
            </a:r>
          </a:p>
        </p:txBody>
      </p:sp>
      <p:sp>
        <p:nvSpPr>
          <p:cNvPr id="18" name="">
            <a:extLst xmlns:a="http://schemas.openxmlformats.org/drawingml/2006/main">
              <a:ext uri="{FF2B5EF4-FFF2-40B4-BE49-F238E27FC236}">
                <a16:creationId xmlns:a16="http://schemas.microsoft.com/office/drawing/2014/main" id="{844C46C8-1E3A-4A1E-9D6C-69C25493DF03}"/>
              </a:ext>
            </a:extLst>
          </p:cNvPr>
          <p:cNvSpPr>
            <a:spLocks xmlns:a="http://schemas.openxmlformats.org/drawingml/2006/main" noGrp="1"/>
          </p:cNvSpPr>
          <p:nvPr/>
        </p:nvSpPr>
        <p:spPr>
          <a:xfrm xmlns:a="http://schemas.openxmlformats.org/drawingml/2006/main">
            <a:off x="6781800" y="26670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Offset stability</a:t>
            </a:r>
          </a:p>
        </p:txBody>
      </p:sp>
      <p:sp>
        <p:nvSpPr>
          <p:cNvPr id="19" name="">
            <a:extLst xmlns:a="http://schemas.openxmlformats.org/drawingml/2006/main">
              <a:ext uri="{FF2B5EF4-FFF2-40B4-BE49-F238E27FC236}">
                <a16:creationId xmlns:a16="http://schemas.microsoft.com/office/drawing/2014/main" id="{39483B76-1896-4952-B699-DCA353E374FF}"/>
              </a:ext>
            </a:extLst>
          </p:cNvPr>
          <p:cNvSpPr>
            <a:spLocks xmlns:a="http://schemas.openxmlformats.org/drawingml/2006/main" noGrp="1"/>
          </p:cNvSpPr>
          <p:nvPr/>
        </p:nvSpPr>
        <p:spPr>
          <a:xfrm xmlns:a="http://schemas.openxmlformats.org/drawingml/2006/main">
            <a:off x="6781800" y="3009900"/>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≥14 of ≥15 valid H20 offsets directional</a:t>
            </a:r>
          </a:p>
        </p:txBody>
      </p:sp>
      <p:sp>
        <p:nvSpPr>
          <p:cNvPr id="20" name="">
            <a:extLst xmlns:a="http://schemas.openxmlformats.org/drawingml/2006/main">
              <a:ext uri="{FF2B5EF4-FFF2-40B4-BE49-F238E27FC236}">
                <a16:creationId xmlns:a16="http://schemas.microsoft.com/office/drawing/2014/main" id="{33E2CF87-A331-4BDD-8BCC-F3D81D408B89}"/>
              </a:ext>
            </a:extLst>
          </p:cNvPr>
          <p:cNvSpPr>
            <a:spLocks xmlns:a="http://schemas.openxmlformats.org/drawingml/2006/main" noGrp="1"/>
          </p:cNvSpPr>
          <p:nvPr/>
        </p:nvSpPr>
        <p:spPr>
          <a:xfrm xmlns:a="http://schemas.openxmlformats.org/drawingml/2006/main">
            <a:off x="495300" y="3686175"/>
            <a:ext cx="5286375" cy="914400"/>
          </a:xfrm>
          <a:prstGeom xmlns:a="http://schemas.openxmlformats.org/drawingml/2006/main" prst="roundRect">
            <a:avLst>
              <a:gd name="adj" fmla="val 8333"/>
            </a:avLst>
          </a:prstGeom>
          <a:solidFill xmlns:a="http://schemas.openxmlformats.org/drawingml/2006/main">
            <a:srgbClr val="F2F4F6"/>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6DA1DEC-FAFD-4011-9F6D-49C21A929C53}"/>
              </a:ext>
            </a:extLst>
          </p:cNvPr>
          <p:cNvSpPr>
            <a:spLocks xmlns:a="http://schemas.openxmlformats.org/drawingml/2006/main" noGrp="1"/>
          </p:cNvSpPr>
          <p:nvPr/>
        </p:nvSpPr>
        <p:spPr>
          <a:xfrm xmlns:a="http://schemas.openxmlformats.org/drawingml/2006/main">
            <a:off x="685800" y="38576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5</a:t>
            </a:r>
          </a:p>
        </p:txBody>
      </p:sp>
      <p:sp>
        <p:nvSpPr>
          <p:cNvPr id="22" name="">
            <a:extLst xmlns:a="http://schemas.openxmlformats.org/drawingml/2006/main">
              <a:ext uri="{FF2B5EF4-FFF2-40B4-BE49-F238E27FC236}">
                <a16:creationId xmlns:a16="http://schemas.microsoft.com/office/drawing/2014/main" id="{34821EED-E0F8-462E-AD4C-1A531696A612}"/>
              </a:ext>
            </a:extLst>
          </p:cNvPr>
          <p:cNvSpPr>
            <a:spLocks xmlns:a="http://schemas.openxmlformats.org/drawingml/2006/main" noGrp="1"/>
          </p:cNvSpPr>
          <p:nvPr/>
        </p:nvSpPr>
        <p:spPr>
          <a:xfrm xmlns:a="http://schemas.openxmlformats.org/drawingml/2006/main">
            <a:off x="1162050" y="38195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Temporal halves</a:t>
            </a:r>
          </a:p>
        </p:txBody>
      </p:sp>
      <p:sp>
        <p:nvSpPr>
          <p:cNvPr id="23" name="">
            <a:extLst xmlns:a="http://schemas.openxmlformats.org/drawingml/2006/main">
              <a:ext uri="{FF2B5EF4-FFF2-40B4-BE49-F238E27FC236}">
                <a16:creationId xmlns:a16="http://schemas.microsoft.com/office/drawing/2014/main" id="{93574256-DE9B-40CF-B927-D1BDB164606B}"/>
              </a:ext>
            </a:extLst>
          </p:cNvPr>
          <p:cNvSpPr>
            <a:spLocks xmlns:a="http://schemas.openxmlformats.org/drawingml/2006/main" noGrp="1"/>
          </p:cNvSpPr>
          <p:nvPr/>
        </p:nvSpPr>
        <p:spPr>
          <a:xfrm xmlns:a="http://schemas.openxmlformats.org/drawingml/2006/main">
            <a:off x="1162050" y="41624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both halves jointly directional</a:t>
            </a:r>
          </a:p>
        </p:txBody>
      </p:sp>
      <p:sp>
        <p:nvSpPr>
          <p:cNvPr id="24" name="">
            <a:extLst xmlns:a="http://schemas.openxmlformats.org/drawingml/2006/main">
              <a:ext uri="{FF2B5EF4-FFF2-40B4-BE49-F238E27FC236}">
                <a16:creationId xmlns:a16="http://schemas.microsoft.com/office/drawing/2014/main" id="{4F6CE927-6BE0-429C-99BC-CFB594E0091D}"/>
              </a:ext>
            </a:extLst>
          </p:cNvPr>
          <p:cNvSpPr>
            <a:spLocks xmlns:a="http://schemas.openxmlformats.org/drawingml/2006/main" noGrp="1"/>
          </p:cNvSpPr>
          <p:nvPr/>
        </p:nvSpPr>
        <p:spPr>
          <a:xfrm xmlns:a="http://schemas.openxmlformats.org/drawingml/2006/main">
            <a:off x="6115050" y="3686175"/>
            <a:ext cx="5286375" cy="914400"/>
          </a:xfrm>
          <a:prstGeom xmlns:a="http://schemas.openxmlformats.org/drawingml/2006/main" prst="roundRect">
            <a:avLst>
              <a:gd name="adj" fmla="val 8333"/>
            </a:avLst>
          </a:prstGeom>
          <a:solidFill xmlns:a="http://schemas.openxmlformats.org/drawingml/2006/main">
            <a:srgbClr val="F2F4F6"/>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3828914-3E29-4DBC-8436-DABF14D17FF3}"/>
              </a:ext>
            </a:extLst>
          </p:cNvPr>
          <p:cNvSpPr>
            <a:spLocks xmlns:a="http://schemas.openxmlformats.org/drawingml/2006/main" noGrp="1"/>
          </p:cNvSpPr>
          <p:nvPr/>
        </p:nvSpPr>
        <p:spPr>
          <a:xfrm xmlns:a="http://schemas.openxmlformats.org/drawingml/2006/main">
            <a:off x="6305550" y="3857625"/>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6</a:t>
            </a:r>
          </a:p>
        </p:txBody>
      </p:sp>
      <p:sp>
        <p:nvSpPr>
          <p:cNvPr id="26" name="">
            <a:extLst xmlns:a="http://schemas.openxmlformats.org/drawingml/2006/main">
              <a:ext uri="{FF2B5EF4-FFF2-40B4-BE49-F238E27FC236}">
                <a16:creationId xmlns:a16="http://schemas.microsoft.com/office/drawing/2014/main" id="{55B89F5C-3379-4BA3-8618-4712989ECCF3}"/>
              </a:ext>
            </a:extLst>
          </p:cNvPr>
          <p:cNvSpPr>
            <a:spLocks xmlns:a="http://schemas.openxmlformats.org/drawingml/2006/main" noGrp="1"/>
          </p:cNvSpPr>
          <p:nvPr/>
        </p:nvSpPr>
        <p:spPr>
          <a:xfrm xmlns:a="http://schemas.openxmlformats.org/drawingml/2006/main">
            <a:off x="6781800" y="38195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Calendar stability</a:t>
            </a:r>
          </a:p>
        </p:txBody>
      </p:sp>
      <p:sp>
        <p:nvSpPr>
          <p:cNvPr id="27" name="">
            <a:extLst xmlns:a="http://schemas.openxmlformats.org/drawingml/2006/main">
              <a:ext uri="{FF2B5EF4-FFF2-40B4-BE49-F238E27FC236}">
                <a16:creationId xmlns:a16="http://schemas.microsoft.com/office/drawing/2014/main" id="{9C0DEB1D-6439-4D05-A53A-0E9DF8CF4213}"/>
              </a:ext>
            </a:extLst>
          </p:cNvPr>
          <p:cNvSpPr>
            <a:spLocks xmlns:a="http://schemas.openxmlformats.org/drawingml/2006/main" noGrp="1"/>
          </p:cNvSpPr>
          <p:nvPr/>
        </p:nvSpPr>
        <p:spPr>
          <a:xfrm xmlns:a="http://schemas.openxmlformats.org/drawingml/2006/main">
            <a:off x="6781800" y="4162425"/>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≥4 of 6 years jointly directional</a:t>
            </a:r>
          </a:p>
        </p:txBody>
      </p:sp>
      <p:sp>
        <p:nvSpPr>
          <p:cNvPr id="28" name="">
            <a:extLst xmlns:a="http://schemas.openxmlformats.org/drawingml/2006/main">
              <a:ext uri="{FF2B5EF4-FFF2-40B4-BE49-F238E27FC236}">
                <a16:creationId xmlns:a16="http://schemas.microsoft.com/office/drawing/2014/main" id="{17DEB96B-4196-4734-A093-9F12547D1BAD}"/>
              </a:ext>
            </a:extLst>
          </p:cNvPr>
          <p:cNvSpPr>
            <a:spLocks xmlns:a="http://schemas.openxmlformats.org/drawingml/2006/main" noGrp="1"/>
          </p:cNvSpPr>
          <p:nvPr/>
        </p:nvSpPr>
        <p:spPr>
          <a:xfrm xmlns:a="http://schemas.openxmlformats.org/drawingml/2006/main">
            <a:off x="495300" y="4838700"/>
            <a:ext cx="5286375" cy="914400"/>
          </a:xfrm>
          <a:prstGeom xmlns:a="http://schemas.openxmlformats.org/drawingml/2006/main" prst="roundRect">
            <a:avLst>
              <a:gd name="adj" fmla="val 8333"/>
            </a:avLst>
          </a:prstGeom>
          <a:solidFill xmlns:a="http://schemas.openxmlformats.org/drawingml/2006/main">
            <a:srgbClr val="F2F4F6"/>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E621F50F-E651-4A37-9B8E-1E5479CF4314}"/>
              </a:ext>
            </a:extLst>
          </p:cNvPr>
          <p:cNvSpPr>
            <a:spLocks xmlns:a="http://schemas.openxmlformats.org/drawingml/2006/main" noGrp="1"/>
          </p:cNvSpPr>
          <p:nvPr/>
        </p:nvSpPr>
        <p:spPr>
          <a:xfrm xmlns:a="http://schemas.openxmlformats.org/drawingml/2006/main">
            <a:off x="685800" y="501015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7</a:t>
            </a:r>
          </a:p>
        </p:txBody>
      </p:sp>
      <p:sp>
        <p:nvSpPr>
          <p:cNvPr id="30" name="">
            <a:extLst xmlns:a="http://schemas.openxmlformats.org/drawingml/2006/main">
              <a:ext uri="{FF2B5EF4-FFF2-40B4-BE49-F238E27FC236}">
                <a16:creationId xmlns:a16="http://schemas.microsoft.com/office/drawing/2014/main" id="{7762C435-99B7-4311-AEBB-7B0B1684599F}"/>
              </a:ext>
            </a:extLst>
          </p:cNvPr>
          <p:cNvSpPr>
            <a:spLocks xmlns:a="http://schemas.openxmlformats.org/drawingml/2006/main" noGrp="1"/>
          </p:cNvSpPr>
          <p:nvPr/>
        </p:nvSpPr>
        <p:spPr>
          <a:xfrm xmlns:a="http://schemas.openxmlformats.org/drawingml/2006/main">
            <a:off x="1162050" y="49720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Circular control</a:t>
            </a:r>
          </a:p>
        </p:txBody>
      </p:sp>
      <p:sp>
        <p:nvSpPr>
          <p:cNvPr id="31" name="">
            <a:extLst xmlns:a="http://schemas.openxmlformats.org/drawingml/2006/main">
              <a:ext uri="{FF2B5EF4-FFF2-40B4-BE49-F238E27FC236}">
                <a16:creationId xmlns:a16="http://schemas.microsoft.com/office/drawing/2014/main" id="{8DB85932-5B5E-418E-982C-265578B8BEE5}"/>
              </a:ext>
            </a:extLst>
          </p:cNvPr>
          <p:cNvSpPr>
            <a:spLocks xmlns:a="http://schemas.openxmlformats.org/drawingml/2006/main" noGrp="1"/>
          </p:cNvSpPr>
          <p:nvPr/>
        </p:nvSpPr>
        <p:spPr>
          <a:xfrm xmlns:a="http://schemas.openxmlformats.org/drawingml/2006/main">
            <a:off x="1162050" y="5314950"/>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return ≤10th; DOWN ≥90th percentile</a:t>
            </a:r>
          </a:p>
        </p:txBody>
      </p:sp>
      <p:sp>
        <p:nvSpPr>
          <p:cNvPr id="32" name="">
            <a:extLst xmlns:a="http://schemas.openxmlformats.org/drawingml/2006/main">
              <a:ext uri="{FF2B5EF4-FFF2-40B4-BE49-F238E27FC236}">
                <a16:creationId xmlns:a16="http://schemas.microsoft.com/office/drawing/2014/main" id="{FFC05F5B-EA10-4B25-A5D1-35785438BCF2}"/>
              </a:ext>
            </a:extLst>
          </p:cNvPr>
          <p:cNvSpPr>
            <a:spLocks xmlns:a="http://schemas.openxmlformats.org/drawingml/2006/main" noGrp="1"/>
          </p:cNvSpPr>
          <p:nvPr/>
        </p:nvSpPr>
        <p:spPr>
          <a:xfrm xmlns:a="http://schemas.openxmlformats.org/drawingml/2006/main">
            <a:off x="6115050" y="4838700"/>
            <a:ext cx="5286375" cy="914400"/>
          </a:xfrm>
          <a:prstGeom xmlns:a="http://schemas.openxmlformats.org/drawingml/2006/main" prst="roundRect">
            <a:avLst>
              <a:gd name="adj" fmla="val 8333"/>
            </a:avLst>
          </a:prstGeom>
          <a:solidFill xmlns:a="http://schemas.openxmlformats.org/drawingml/2006/main">
            <a:srgbClr val="F2F4F6"/>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8355DC4-49FB-4FEC-A913-74CD9F12DFC2}"/>
              </a:ext>
            </a:extLst>
          </p:cNvPr>
          <p:cNvSpPr>
            <a:spLocks xmlns:a="http://schemas.openxmlformats.org/drawingml/2006/main" noGrp="1"/>
          </p:cNvSpPr>
          <p:nvPr/>
        </p:nvSpPr>
        <p:spPr>
          <a:xfrm xmlns:a="http://schemas.openxmlformats.org/drawingml/2006/main">
            <a:off x="6305550" y="5010150"/>
            <a:ext cx="33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8</a:t>
            </a:r>
          </a:p>
        </p:txBody>
      </p:sp>
      <p:sp>
        <p:nvSpPr>
          <p:cNvPr id="34" name="">
            <a:extLst xmlns:a="http://schemas.openxmlformats.org/drawingml/2006/main">
              <a:ext uri="{FF2B5EF4-FFF2-40B4-BE49-F238E27FC236}">
                <a16:creationId xmlns:a16="http://schemas.microsoft.com/office/drawing/2014/main" id="{F42726D7-F80B-417C-A03E-CD9F806E9FF5}"/>
              </a:ext>
            </a:extLst>
          </p:cNvPr>
          <p:cNvSpPr>
            <a:spLocks xmlns:a="http://schemas.openxmlformats.org/drawingml/2006/main" noGrp="1"/>
          </p:cNvSpPr>
          <p:nvPr/>
        </p:nvSpPr>
        <p:spPr>
          <a:xfrm xmlns:a="http://schemas.openxmlformats.org/drawingml/2006/main">
            <a:off x="6781800" y="49720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1">
                <a:solidFill>
                  <a:srgbClr val="17202A"/>
                </a:solidFill>
              </a:defRPr>
            </a:pPr>
            <a:r>
              <a:rPr sz="1575" b="1">
                <a:solidFill>
                  <a:srgbClr val="17202A"/>
                </a:solidFill>
              </a:rPr>
              <a:t>Semantic validity</a:t>
            </a:r>
          </a:p>
        </p:txBody>
      </p:sp>
      <p:sp>
        <p:nvSpPr>
          <p:cNvPr id="35" name="">
            <a:extLst xmlns:a="http://schemas.openxmlformats.org/drawingml/2006/main">
              <a:ext uri="{FF2B5EF4-FFF2-40B4-BE49-F238E27FC236}">
                <a16:creationId xmlns:a16="http://schemas.microsoft.com/office/drawing/2014/main" id="{3D988B8A-FFDC-4387-BB60-D24DE7B5E1D4}"/>
              </a:ext>
            </a:extLst>
          </p:cNvPr>
          <p:cNvSpPr>
            <a:spLocks xmlns:a="http://schemas.openxmlformats.org/drawingml/2006/main" noGrp="1"/>
          </p:cNvSpPr>
          <p:nvPr/>
        </p:nvSpPr>
        <p:spPr>
          <a:xfrm xmlns:a="http://schemas.openxmlformats.org/drawingml/2006/main">
            <a:off x="6781800" y="5314950"/>
            <a:ext cx="43338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52606D"/>
                </a:solidFill>
              </a:defRPr>
            </a:pPr>
            <a:r>
              <a:rPr sz="1200" b="0">
                <a:solidFill>
                  <a:srgbClr val="52606D"/>
                </a:solidFill>
              </a:rPr>
              <a:t>future breadth and leadership continue weakening</a:t>
            </a:r>
          </a:p>
        </p:txBody>
      </p:sp>
      <p:sp>
        <p:nvSpPr>
          <p:cNvPr id="36" name="">
            <a:extLst xmlns:a="http://schemas.openxmlformats.org/drawingml/2006/main">
              <a:ext uri="{FF2B5EF4-FFF2-40B4-BE49-F238E27FC236}">
                <a16:creationId xmlns:a16="http://schemas.microsoft.com/office/drawing/2014/main" id="{C1C7DF39-6DD4-48C5-BD84-FA29D52A19B2}"/>
              </a:ext>
            </a:extLst>
          </p:cNvPr>
          <p:cNvSpPr>
            <a:spLocks xmlns:a="http://schemas.openxmlformats.org/drawingml/2006/main" noGrp="1"/>
          </p:cNvSpPr>
          <p:nvPr/>
        </p:nvSpPr>
        <p:spPr>
          <a:xfrm xmlns:a="http://schemas.openxmlformats.org/drawingml/2006/main">
            <a:off x="952500" y="619125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D95F59"/>
                </a:solidFill>
              </a:defRPr>
            </a:pPr>
            <a:r>
              <a:rPr sz="1575" b="1">
                <a:solidFill>
                  <a:srgbClr val="D95F59"/>
                </a:solidFill>
              </a:rPr>
              <a:t>All eight were required. No rescue tuning after seeing the result.</a:t>
            </a:r>
          </a:p>
        </p:txBody>
      </p:sp>
    </p:spTree>
    <p:extLst>
      <p:ext uri="{BB962C8B-B14F-4D97-AF65-F5344CB8AC3E}">
        <p14:creationId xmlns:p14="http://schemas.microsoft.com/office/powerpoint/2010/main" val="148459934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FAAF3A5-8986-4AE1-AEDE-6E5515E0C18D}"/>
              </a:ext>
            </a:extLst>
          </p:cNvPr>
          <p:cNvSpPr>
            <a:spLocks xmlns:a="http://schemas.openxmlformats.org/drawingml/2006/main" noGrp="1"/>
          </p:cNvSpPr>
          <p:nvPr/>
        </p:nvSpPr>
        <p:spPr>
          <a:xfrm xmlns:a="http://schemas.openxmlformats.org/drawingml/2006/main">
            <a:off x="495300" y="266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HEADLINE STATE RESULT</a:t>
            </a:r>
          </a:p>
        </p:txBody>
      </p:sp>
      <p:sp>
        <p:nvSpPr>
          <p:cNvPr id="2" name="">
            <a:extLst xmlns:a="http://schemas.openxmlformats.org/drawingml/2006/main">
              <a:ext uri="{FF2B5EF4-FFF2-40B4-BE49-F238E27FC236}">
                <a16:creationId xmlns:a16="http://schemas.microsoft.com/office/drawing/2014/main" id="{A83F4D07-D6EB-4F4D-86A7-0E23F71B7763}"/>
              </a:ext>
            </a:extLst>
          </p:cNvPr>
          <p:cNvSpPr>
            <a:spLocks xmlns:a="http://schemas.openxmlformats.org/drawingml/2006/main" noGrp="1"/>
          </p:cNvSpPr>
          <p:nvPr/>
        </p:nvSpPr>
        <p:spPr>
          <a:xfrm xmlns:a="http://schemas.openxmlformats.org/drawingml/2006/main">
            <a:off x="4953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Narrowing was only slightly worse than healthy breadth</a:t>
            </a:r>
          </a:p>
        </p:txBody>
      </p:sp>
      <p:sp>
        <p:nvSpPr>
          <p:cNvPr id="3" name="">
            <a:extLst xmlns:a="http://schemas.openxmlformats.org/drawingml/2006/main">
              <a:ext uri="{FF2B5EF4-FFF2-40B4-BE49-F238E27FC236}">
                <a16:creationId xmlns:a16="http://schemas.microsoft.com/office/drawing/2014/main" id="{8AF3C7D4-0B07-4661-B417-591D49CCD8A2}"/>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5</a:t>
            </a:r>
          </a:p>
        </p:txBody>
      </p:sp>
      <p:sp>
        <p:nvSpPr>
          <p:cNvPr id="4" name="">
            <a:extLst xmlns:a="http://schemas.openxmlformats.org/drawingml/2006/main">
              <a:ext uri="{FF2B5EF4-FFF2-40B4-BE49-F238E27FC236}">
                <a16:creationId xmlns:a16="http://schemas.microsoft.com/office/drawing/2014/main" id="{9977F032-1679-487A-B7E4-B11C5EA1BA4C}"/>
              </a:ext>
            </a:extLst>
          </p:cNvPr>
          <p:cNvSpPr>
            <a:spLocks xmlns:a="http://schemas.openxmlformats.org/drawingml/2006/main" noGrp="1"/>
          </p:cNvSpPr>
          <p:nvPr/>
        </p:nvSpPr>
        <p:spPr>
          <a:xfrm xmlns:a="http://schemas.openxmlformats.org/drawingml/2006/main">
            <a:off x="428625" y="1381125"/>
            <a:ext cx="7429500" cy="4619625"/>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3da64825f3ef41ab"/>
          <a:stretch xmlns:a="http://schemas.openxmlformats.org/drawingml/2006/main"/>
        </p:blipFill>
        <p:spPr>
          <a:xfrm xmlns:a="http://schemas.openxmlformats.org/drawingml/2006/main">
            <a:off x="428625" y="1524000"/>
            <a:ext cx="742950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04E0AF5-7551-43C1-BDFA-B36AC49C25B3}"/>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oundRect">
            <a:avLst>
              <a:gd name="adj" fmla="val 7143"/>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A16B667C-F22F-4256-AC41-9CB38CDE41F8}"/>
              </a:ext>
            </a:extLst>
          </p:cNvPr>
          <p:cNvSpPr>
            <a:spLocks xmlns:a="http://schemas.openxmlformats.org/drawingml/2006/main" noGrp="1"/>
          </p:cNvSpPr>
          <p:nvPr/>
        </p:nvSpPr>
        <p:spPr>
          <a:xfrm xmlns:a="http://schemas.openxmlformats.org/drawingml/2006/main">
            <a:off x="8420100" y="16573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−0.15 pp</a:t>
            </a:r>
          </a:p>
        </p:txBody>
      </p:sp>
      <p:sp>
        <p:nvSpPr>
          <p:cNvPr id="8" name="">
            <a:extLst xmlns:a="http://schemas.openxmlformats.org/drawingml/2006/main">
              <a:ext uri="{FF2B5EF4-FFF2-40B4-BE49-F238E27FC236}">
                <a16:creationId xmlns:a16="http://schemas.microsoft.com/office/drawing/2014/main" id="{C300780D-49A5-4435-8A84-75D4EDEFFD13}"/>
              </a:ext>
            </a:extLst>
          </p:cNvPr>
          <p:cNvSpPr>
            <a:spLocks xmlns:a="http://schemas.openxmlformats.org/drawingml/2006/main" noGrp="1"/>
          </p:cNvSpPr>
          <p:nvPr/>
        </p:nvSpPr>
        <p:spPr>
          <a:xfrm xmlns:a="http://schemas.openxmlformats.org/drawingml/2006/main">
            <a:off x="8420100" y="21336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NARROWING minus HEALTHY return</a:t>
            </a:r>
          </a:p>
        </p:txBody>
      </p:sp>
      <p:sp>
        <p:nvSpPr>
          <p:cNvPr id="9" name="">
            <a:extLst xmlns:a="http://schemas.openxmlformats.org/drawingml/2006/main">
              <a:ext uri="{FF2B5EF4-FFF2-40B4-BE49-F238E27FC236}">
                <a16:creationId xmlns:a16="http://schemas.microsoft.com/office/drawing/2014/main" id="{E4F3047D-8B56-42FA-AA3A-4520956B3B0C}"/>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oundRect">
            <a:avLst>
              <a:gd name="adj" fmla="val 7143"/>
            </a:avLst>
          </a:prstGeom>
          <a:solidFill xmlns:a="http://schemas.openxmlformats.org/drawingml/2006/main">
            <a:srgbClr val="FFF1E3"/>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4AA61D3-009A-4CC1-B6DA-A59358476799}"/>
              </a:ext>
            </a:extLst>
          </p:cNvPr>
          <p:cNvSpPr>
            <a:spLocks xmlns:a="http://schemas.openxmlformats.org/drawingml/2006/main" noGrp="1"/>
          </p:cNvSpPr>
          <p:nvPr/>
        </p:nvSpPr>
        <p:spPr>
          <a:xfrm xmlns:a="http://schemas.openxmlformats.org/drawingml/2006/main">
            <a:off x="8420100" y="29146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F2A65A"/>
                </a:solidFill>
              </a:defRPr>
            </a:pPr>
            <a:r>
              <a:rPr sz="2325" b="1">
                <a:solidFill>
                  <a:srgbClr val="F2A65A"/>
                </a:solidFill>
              </a:rPr>
              <a:t>+3.80 pp</a:t>
            </a:r>
          </a:p>
        </p:txBody>
      </p:sp>
      <p:sp>
        <p:nvSpPr>
          <p:cNvPr id="11" name="">
            <a:extLst xmlns:a="http://schemas.openxmlformats.org/drawingml/2006/main">
              <a:ext uri="{FF2B5EF4-FFF2-40B4-BE49-F238E27FC236}">
                <a16:creationId xmlns:a16="http://schemas.microsoft.com/office/drawing/2014/main" id="{67888AA2-5B63-4152-B2D4-1810D75EF23A}"/>
              </a:ext>
            </a:extLst>
          </p:cNvPr>
          <p:cNvSpPr>
            <a:spLocks xmlns:a="http://schemas.openxmlformats.org/drawingml/2006/main" noGrp="1"/>
          </p:cNvSpPr>
          <p:nvPr/>
        </p:nvSpPr>
        <p:spPr>
          <a:xfrm xmlns:a="http://schemas.openxmlformats.org/drawingml/2006/main">
            <a:off x="8420100" y="33909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NARROWING minus HEALTHY DOWN rate</a:t>
            </a:r>
          </a:p>
        </p:txBody>
      </p:sp>
      <p:sp>
        <p:nvSpPr>
          <p:cNvPr id="12" name="">
            <a:extLst xmlns:a="http://schemas.openxmlformats.org/drawingml/2006/main">
              <a:ext uri="{FF2B5EF4-FFF2-40B4-BE49-F238E27FC236}">
                <a16:creationId xmlns:a16="http://schemas.microsoft.com/office/drawing/2014/main" id="{AE88B606-DFF5-4A57-B959-84DC3AC948C4}"/>
              </a:ext>
            </a:extLst>
          </p:cNvPr>
          <p:cNvSpPr>
            <a:spLocks xmlns:a="http://schemas.openxmlformats.org/drawingml/2006/main" noGrp="1"/>
          </p:cNvSpPr>
          <p:nvPr/>
        </p:nvSpPr>
        <p:spPr>
          <a:xfrm xmlns:a="http://schemas.openxmlformats.org/drawingml/2006/main">
            <a:off x="8191500" y="4038600"/>
            <a:ext cx="2857500" cy="1066800"/>
          </a:xfrm>
          <a:prstGeom xmlns:a="http://schemas.openxmlformats.org/drawingml/2006/main" prst="roundRect">
            <a:avLst>
              <a:gd name="adj" fmla="val 7143"/>
            </a:avLst>
          </a:prstGeom>
          <a:solidFill xmlns:a="http://schemas.openxmlformats.org/drawingml/2006/main">
            <a:srgbClr val="EAF3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583C48-1513-4F02-9165-571633876B4B}"/>
              </a:ext>
            </a:extLst>
          </p:cNvPr>
          <p:cNvSpPr>
            <a:spLocks xmlns:a="http://schemas.openxmlformats.org/drawingml/2006/main" noGrp="1"/>
          </p:cNvSpPr>
          <p:nvPr/>
        </p:nvSpPr>
        <p:spPr>
          <a:xfrm xmlns:a="http://schemas.openxmlformats.org/drawingml/2006/main">
            <a:off x="8420100" y="41719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3D8DFF"/>
                </a:solidFill>
              </a:defRPr>
            </a:pPr>
            <a:r>
              <a:rPr sz="2325" b="1">
                <a:solidFill>
                  <a:srgbClr val="3D8DFF"/>
                </a:solidFill>
              </a:rPr>
              <a:t>401 / 174</a:t>
            </a:r>
          </a:p>
        </p:txBody>
      </p:sp>
      <p:sp>
        <p:nvSpPr>
          <p:cNvPr id="14" name="">
            <a:extLst xmlns:a="http://schemas.openxmlformats.org/drawingml/2006/main">
              <a:ext uri="{FF2B5EF4-FFF2-40B4-BE49-F238E27FC236}">
                <a16:creationId xmlns:a16="http://schemas.microsoft.com/office/drawing/2014/main" id="{7C277A87-0086-476F-BA98-7C6B85ACEE19}"/>
              </a:ext>
            </a:extLst>
          </p:cNvPr>
          <p:cNvSpPr>
            <a:spLocks xmlns:a="http://schemas.openxmlformats.org/drawingml/2006/main" noGrp="1"/>
          </p:cNvSpPr>
          <p:nvPr/>
        </p:nvSpPr>
        <p:spPr>
          <a:xfrm xmlns:a="http://schemas.openxmlformats.org/drawingml/2006/main">
            <a:off x="8420100" y="46482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NARROWING / HEALTHY observations</a:t>
            </a:r>
          </a:p>
        </p:txBody>
      </p:sp>
      <p:sp>
        <p:nvSpPr>
          <p:cNvPr id="15" name="">
            <a:extLst xmlns:a="http://schemas.openxmlformats.org/drawingml/2006/main">
              <a:ext uri="{FF2B5EF4-FFF2-40B4-BE49-F238E27FC236}">
                <a16:creationId xmlns:a16="http://schemas.microsoft.com/office/drawing/2014/main" id="{B9ABC4DE-D55B-4851-84A9-23AFCE78455E}"/>
              </a:ext>
            </a:extLst>
          </p:cNvPr>
          <p:cNvSpPr>
            <a:spLocks xmlns:a="http://schemas.openxmlformats.org/drawingml/2006/main" noGrp="1"/>
          </p:cNvSpPr>
          <p:nvPr/>
        </p:nvSpPr>
        <p:spPr>
          <a:xfrm xmlns:a="http://schemas.openxmlformats.org/drawingml/2006/main">
            <a:off x="8191500" y="5429250"/>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D95F59"/>
                </a:solidFill>
              </a:defRPr>
            </a:pPr>
            <a:r>
              <a:rPr sz="1500" b="1">
                <a:solidFill>
                  <a:srgbClr val="D95F59"/>
                </a:solidFill>
              </a:rPr>
              <a:t>Gate required ≤−0.75 pp and ≥+10 pp.</a:t>
            </a:r>
          </a:p>
        </p:txBody>
      </p:sp>
    </p:spTree>
    <p:extLst>
      <p:ext uri="{BB962C8B-B14F-4D97-AF65-F5344CB8AC3E}">
        <p14:creationId xmlns:p14="http://schemas.microsoft.com/office/powerpoint/2010/main" val="51005070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1EADF45-5120-4A68-BD73-2BCDDEF86CA4}"/>
              </a:ext>
            </a:extLst>
          </p:cNvPr>
          <p:cNvSpPr>
            <a:spLocks xmlns:a="http://schemas.openxmlformats.org/drawingml/2006/main" noGrp="1"/>
          </p:cNvSpPr>
          <p:nvPr/>
        </p:nvSpPr>
        <p:spPr>
          <a:xfrm xmlns:a="http://schemas.openxmlformats.org/drawingml/2006/main">
            <a:off x="495300" y="266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CONTINUOUS DIAGNOSTIC</a:t>
            </a:r>
          </a:p>
        </p:txBody>
      </p:sp>
      <p:sp>
        <p:nvSpPr>
          <p:cNvPr id="2" name="">
            <a:extLst xmlns:a="http://schemas.openxmlformats.org/drawingml/2006/main">
              <a:ext uri="{FF2B5EF4-FFF2-40B4-BE49-F238E27FC236}">
                <a16:creationId xmlns:a16="http://schemas.microsoft.com/office/drawing/2014/main" id="{BDD1777F-B15E-484F-9A0F-589C92784911}"/>
              </a:ext>
            </a:extLst>
          </p:cNvPr>
          <p:cNvSpPr>
            <a:spLocks xmlns:a="http://schemas.openxmlformats.org/drawingml/2006/main" noGrp="1"/>
          </p:cNvSpPr>
          <p:nvPr/>
        </p:nvSpPr>
        <p:spPr>
          <a:xfrm xmlns:a="http://schemas.openxmlformats.org/drawingml/2006/main">
            <a:off x="4953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continuous score did not order future risk</a:t>
            </a:r>
          </a:p>
        </p:txBody>
      </p:sp>
      <p:sp>
        <p:nvSpPr>
          <p:cNvPr id="3" name="">
            <a:extLst xmlns:a="http://schemas.openxmlformats.org/drawingml/2006/main">
              <a:ext uri="{FF2B5EF4-FFF2-40B4-BE49-F238E27FC236}">
                <a16:creationId xmlns:a16="http://schemas.microsoft.com/office/drawing/2014/main" id="{B6B151CB-C1A2-4167-8A71-48F472FC5C35}"/>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6</a:t>
            </a:r>
          </a:p>
        </p:txBody>
      </p:sp>
      <p:sp>
        <p:nvSpPr>
          <p:cNvPr id="4" name="">
            <a:extLst xmlns:a="http://schemas.openxmlformats.org/drawingml/2006/main">
              <a:ext uri="{FF2B5EF4-FFF2-40B4-BE49-F238E27FC236}">
                <a16:creationId xmlns:a16="http://schemas.microsoft.com/office/drawing/2014/main" id="{3233FF36-DBD7-4E5F-A68D-B90BEE47F81D}"/>
              </a:ext>
            </a:extLst>
          </p:cNvPr>
          <p:cNvSpPr>
            <a:spLocks xmlns:a="http://schemas.openxmlformats.org/drawingml/2006/main" noGrp="1"/>
          </p:cNvSpPr>
          <p:nvPr/>
        </p:nvSpPr>
        <p:spPr>
          <a:xfrm xmlns:a="http://schemas.openxmlformats.org/drawingml/2006/main">
            <a:off x="428625" y="1381125"/>
            <a:ext cx="7477125"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f507dacfcc54aa3"/>
          <a:stretch xmlns:a="http://schemas.openxmlformats.org/drawingml/2006/main"/>
        </p:blipFill>
        <p:spPr>
          <a:xfrm xmlns:a="http://schemas.openxmlformats.org/drawingml/2006/main">
            <a:off x="428625" y="1533922"/>
            <a:ext cx="7477125" cy="436165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72A8DC5-B6D5-4E1D-930D-A2477124584A}"/>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oundRect">
            <a:avLst>
              <a:gd name="adj" fmla="val 7143"/>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CEB8B58-D72F-40C5-9EF3-789091A329BB}"/>
              </a:ext>
            </a:extLst>
          </p:cNvPr>
          <p:cNvSpPr>
            <a:spLocks xmlns:a="http://schemas.openxmlformats.org/drawingml/2006/main" noGrp="1"/>
          </p:cNvSpPr>
          <p:nvPr/>
        </p:nvSpPr>
        <p:spPr>
          <a:xfrm xmlns:a="http://schemas.openxmlformats.org/drawingml/2006/main">
            <a:off x="8420100" y="16573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ρ = −0.030</a:t>
            </a:r>
          </a:p>
        </p:txBody>
      </p:sp>
      <p:sp>
        <p:nvSpPr>
          <p:cNvPr id="8" name="">
            <a:extLst xmlns:a="http://schemas.openxmlformats.org/drawingml/2006/main">
              <a:ext uri="{FF2B5EF4-FFF2-40B4-BE49-F238E27FC236}">
                <a16:creationId xmlns:a16="http://schemas.microsoft.com/office/drawing/2014/main" id="{BF8FD894-45A8-4094-8944-22ECA6A05F4A}"/>
              </a:ext>
            </a:extLst>
          </p:cNvPr>
          <p:cNvSpPr>
            <a:spLocks xmlns:a="http://schemas.openxmlformats.org/drawingml/2006/main" noGrp="1"/>
          </p:cNvSpPr>
          <p:nvPr/>
        </p:nvSpPr>
        <p:spPr>
          <a:xfrm xmlns:a="http://schemas.openxmlformats.org/drawingml/2006/main">
            <a:off x="8420100" y="21336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risk-score Spearman</a:t>
            </a:r>
          </a:p>
        </p:txBody>
      </p:sp>
      <p:sp>
        <p:nvSpPr>
          <p:cNvPr id="9" name="">
            <a:extLst xmlns:a="http://schemas.openxmlformats.org/drawingml/2006/main">
              <a:ext uri="{FF2B5EF4-FFF2-40B4-BE49-F238E27FC236}">
                <a16:creationId xmlns:a16="http://schemas.microsoft.com/office/drawing/2014/main" id="{923A5980-D02B-4B1C-A35D-15E22C54B9BD}"/>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oundRect">
            <a:avLst>
              <a:gd name="adj" fmla="val 7143"/>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8E5E660-A02C-45C9-9848-8B6767EB66C9}"/>
              </a:ext>
            </a:extLst>
          </p:cNvPr>
          <p:cNvSpPr>
            <a:spLocks xmlns:a="http://schemas.openxmlformats.org/drawingml/2006/main" noGrp="1"/>
          </p:cNvSpPr>
          <p:nvPr/>
        </p:nvSpPr>
        <p:spPr>
          <a:xfrm xmlns:a="http://schemas.openxmlformats.org/drawingml/2006/main">
            <a:off x="8420100" y="29146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AUC = 0.527</a:t>
            </a:r>
          </a:p>
        </p:txBody>
      </p:sp>
      <p:sp>
        <p:nvSpPr>
          <p:cNvPr id="11" name="">
            <a:extLst xmlns:a="http://schemas.openxmlformats.org/drawingml/2006/main">
              <a:ext uri="{FF2B5EF4-FFF2-40B4-BE49-F238E27FC236}">
                <a16:creationId xmlns:a16="http://schemas.microsoft.com/office/drawing/2014/main" id="{748ACA71-7697-491A-A060-6334013E18D8}"/>
              </a:ext>
            </a:extLst>
          </p:cNvPr>
          <p:cNvSpPr>
            <a:spLocks xmlns:a="http://schemas.openxmlformats.org/drawingml/2006/main" noGrp="1"/>
          </p:cNvSpPr>
          <p:nvPr/>
        </p:nvSpPr>
        <p:spPr>
          <a:xfrm xmlns:a="http://schemas.openxmlformats.org/drawingml/2006/main">
            <a:off x="8420100" y="33909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DOWN discrimination</a:t>
            </a:r>
          </a:p>
        </p:txBody>
      </p:sp>
      <p:sp>
        <p:nvSpPr>
          <p:cNvPr id="12" name="">
            <a:extLst xmlns:a="http://schemas.openxmlformats.org/drawingml/2006/main">
              <a:ext uri="{FF2B5EF4-FFF2-40B4-BE49-F238E27FC236}">
                <a16:creationId xmlns:a16="http://schemas.microsoft.com/office/drawing/2014/main" id="{DC03FFBA-7D17-42BB-9319-9C016C8CB637}"/>
              </a:ext>
            </a:extLst>
          </p:cNvPr>
          <p:cNvSpPr>
            <a:spLocks xmlns:a="http://schemas.openxmlformats.org/drawingml/2006/main" noGrp="1"/>
          </p:cNvSpPr>
          <p:nvPr/>
        </p:nvSpPr>
        <p:spPr>
          <a:xfrm xmlns:a="http://schemas.openxmlformats.org/drawingml/2006/main">
            <a:off x="8096250" y="4143375"/>
            <a:ext cx="3476625" cy="1666875"/>
          </a:xfrm>
          <a:prstGeom xmlns:a="http://schemas.openxmlformats.org/drawingml/2006/main" prst="roundRect">
            <a:avLst>
              <a:gd name="adj" fmla="val 4571"/>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5B93A2E-4E32-498C-948F-258E7D7E576E}"/>
              </a:ext>
            </a:extLst>
          </p:cNvPr>
          <p:cNvSpPr>
            <a:spLocks xmlns:a="http://schemas.openxmlformats.org/drawingml/2006/main" noGrp="1"/>
          </p:cNvSpPr>
          <p:nvPr/>
        </p:nvSpPr>
        <p:spPr>
          <a:xfrm xmlns:a="http://schemas.openxmlformats.org/drawingml/2006/main">
            <a:off x="8382000" y="438150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2A65A"/>
                </a:solidFill>
              </a:defRPr>
            </a:pPr>
            <a:r>
              <a:rPr sz="1650" b="1">
                <a:solidFill>
                  <a:srgbClr val="F2A65A"/>
                </a:solidFill>
              </a:rPr>
              <a:t>Theory-only clue</a:t>
            </a:r>
          </a:p>
        </p:txBody>
      </p:sp>
      <p:sp>
        <p:nvSpPr>
          <p:cNvPr id="14" name="">
            <a:extLst xmlns:a="http://schemas.openxmlformats.org/drawingml/2006/main">
              <a:ext uri="{FF2B5EF4-FFF2-40B4-BE49-F238E27FC236}">
                <a16:creationId xmlns:a16="http://schemas.microsoft.com/office/drawing/2014/main" id="{173F64C1-22BD-4C3F-8B6F-C5A23DADAC73}"/>
              </a:ext>
            </a:extLst>
          </p:cNvPr>
          <p:cNvSpPr>
            <a:spLocks xmlns:a="http://schemas.openxmlformats.org/drawingml/2006/main" noGrp="1"/>
          </p:cNvSpPr>
          <p:nvPr/>
        </p:nvSpPr>
        <p:spPr>
          <a:xfrm xmlns:a="http://schemas.openxmlformats.org/drawingml/2006/main">
            <a:off x="8382000" y="4810125"/>
            <a:ext cx="29051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52606D"/>
                </a:solidFill>
              </a:defRPr>
            </a:pPr>
            <a:r>
              <a:rPr sz="1350" b="0">
                <a:solidFill>
                  <a:srgbClr val="52606D"/>
                </a:solidFill>
              </a:rPr>
              <a:t>Leadership-weak alone looked descriptively worse than the joint NARROWING state. We do not promote that post-hoc variant.</a:t>
            </a:r>
          </a:p>
        </p:txBody>
      </p:sp>
    </p:spTree>
    <p:extLst>
      <p:ext uri="{BB962C8B-B14F-4D97-AF65-F5344CB8AC3E}">
        <p14:creationId xmlns:p14="http://schemas.microsoft.com/office/powerpoint/2010/main" val="83888560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D88D519-EBAA-47A1-AD3E-FFCE44AB5693}"/>
              </a:ext>
            </a:extLst>
          </p:cNvPr>
          <p:cNvSpPr>
            <a:spLocks xmlns:a="http://schemas.openxmlformats.org/drawingml/2006/main" noGrp="1"/>
          </p:cNvSpPr>
          <p:nvPr/>
        </p:nvSpPr>
        <p:spPr>
          <a:xfrm xmlns:a="http://schemas.openxmlformats.org/drawingml/2006/main">
            <a:off x="495300" y="266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TRANSPORT + SEMANTICS</a:t>
            </a:r>
          </a:p>
        </p:txBody>
      </p:sp>
      <p:sp>
        <p:nvSpPr>
          <p:cNvPr id="2" name="">
            <a:extLst xmlns:a="http://schemas.openxmlformats.org/drawingml/2006/main">
              <a:ext uri="{FF2B5EF4-FFF2-40B4-BE49-F238E27FC236}">
                <a16:creationId xmlns:a16="http://schemas.microsoft.com/office/drawing/2014/main" id="{13C84B15-386C-44B1-94AF-8CDCB7D3F369}"/>
              </a:ext>
            </a:extLst>
          </p:cNvPr>
          <p:cNvSpPr>
            <a:spLocks xmlns:a="http://schemas.openxmlformats.org/drawingml/2006/main" noGrp="1"/>
          </p:cNvSpPr>
          <p:nvPr/>
        </p:nvSpPr>
        <p:spPr>
          <a:xfrm xmlns:a="http://schemas.openxmlformats.org/drawingml/2006/main">
            <a:off x="4953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The strongest falsification: narrowing often preceded recovery</a:t>
            </a:r>
          </a:p>
        </p:txBody>
      </p:sp>
      <p:sp>
        <p:nvSpPr>
          <p:cNvPr id="3" name="">
            <a:extLst xmlns:a="http://schemas.openxmlformats.org/drawingml/2006/main">
              <a:ext uri="{FF2B5EF4-FFF2-40B4-BE49-F238E27FC236}">
                <a16:creationId xmlns:a16="http://schemas.microsoft.com/office/drawing/2014/main" id="{93188D6A-2AA9-4FB6-9B96-D1D64C21EB40}"/>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7</a:t>
            </a:r>
          </a:p>
        </p:txBody>
      </p:sp>
      <p:sp>
        <p:nvSpPr>
          <p:cNvPr id="4" name="">
            <a:extLst xmlns:a="http://schemas.openxmlformats.org/drawingml/2006/main">
              <a:ext uri="{FF2B5EF4-FFF2-40B4-BE49-F238E27FC236}">
                <a16:creationId xmlns:a16="http://schemas.microsoft.com/office/drawing/2014/main" id="{68A8665A-FB91-4E2C-B0CB-C850FA1790F4}"/>
              </a:ext>
            </a:extLst>
          </p:cNvPr>
          <p:cNvSpPr>
            <a:spLocks xmlns:a="http://schemas.openxmlformats.org/drawingml/2006/main" noGrp="1"/>
          </p:cNvSpPr>
          <p:nvPr/>
        </p:nvSpPr>
        <p:spPr>
          <a:xfrm xmlns:a="http://schemas.openxmlformats.org/drawingml/2006/main">
            <a:off x="428625" y="1381125"/>
            <a:ext cx="7524750" cy="4667250"/>
          </a:xfrm>
          <a:prstGeom xmlns:a="http://schemas.openxmlformats.org/drawingml/2006/main" prst="rect">
            <a:avLst/>
          </a:prstGeom>
          <a:solidFill xmlns:a="http://schemas.openxmlformats.org/drawingml/2006/main">
            <a:srgbClr val="FAFAFA"/>
          </a:solidFill>
          <a:ln xmlns:a="http://schemas.openxmlformats.org/drawingml/2006/main" w="9525">
            <a:solidFill>
              <a:srgbClr val="CCD3DA"/>
            </a:solidFill>
            <a:prstDash val="solid"/>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a37ef0605554379"/>
          <a:stretch xmlns:a="http://schemas.openxmlformats.org/drawingml/2006/main"/>
        </p:blipFill>
        <p:spPr>
          <a:xfrm xmlns:a="http://schemas.openxmlformats.org/drawingml/2006/main">
            <a:off x="428625" y="1520031"/>
            <a:ext cx="7524750" cy="4389438"/>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993FFA3-68C3-4203-AF47-3CD356A3722E}"/>
              </a:ext>
            </a:extLst>
          </p:cNvPr>
          <p:cNvSpPr>
            <a:spLocks xmlns:a="http://schemas.openxmlformats.org/drawingml/2006/main" noGrp="1"/>
          </p:cNvSpPr>
          <p:nvPr/>
        </p:nvSpPr>
        <p:spPr>
          <a:xfrm xmlns:a="http://schemas.openxmlformats.org/drawingml/2006/main">
            <a:off x="8191500" y="1524000"/>
            <a:ext cx="2857500" cy="1066800"/>
          </a:xfrm>
          <a:prstGeom xmlns:a="http://schemas.openxmlformats.org/drawingml/2006/main" prst="roundRect">
            <a:avLst>
              <a:gd name="adj" fmla="val 7143"/>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2E0ACC07-5374-4317-9A4C-AC95B754B50D}"/>
              </a:ext>
            </a:extLst>
          </p:cNvPr>
          <p:cNvSpPr>
            <a:spLocks xmlns:a="http://schemas.openxmlformats.org/drawingml/2006/main" noGrp="1"/>
          </p:cNvSpPr>
          <p:nvPr/>
        </p:nvSpPr>
        <p:spPr>
          <a:xfrm xmlns:a="http://schemas.openxmlformats.org/drawingml/2006/main">
            <a:off x="8420100" y="16573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7 / 20</a:t>
            </a:r>
          </a:p>
        </p:txBody>
      </p:sp>
      <p:sp>
        <p:nvSpPr>
          <p:cNvPr id="8" name="">
            <a:extLst xmlns:a="http://schemas.openxmlformats.org/drawingml/2006/main">
              <a:ext uri="{FF2B5EF4-FFF2-40B4-BE49-F238E27FC236}">
                <a16:creationId xmlns:a16="http://schemas.microsoft.com/office/drawing/2014/main" id="{40829D81-1509-4BF6-8A35-9E0D48D34B6B}"/>
              </a:ext>
            </a:extLst>
          </p:cNvPr>
          <p:cNvSpPr>
            <a:spLocks xmlns:a="http://schemas.openxmlformats.org/drawingml/2006/main" noGrp="1"/>
          </p:cNvSpPr>
          <p:nvPr/>
        </p:nvSpPr>
        <p:spPr>
          <a:xfrm xmlns:a="http://schemas.openxmlformats.org/drawingml/2006/main">
            <a:off x="8420100" y="21336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offsets jointly directional</a:t>
            </a:r>
          </a:p>
        </p:txBody>
      </p:sp>
      <p:sp>
        <p:nvSpPr>
          <p:cNvPr id="9" name="">
            <a:extLst xmlns:a="http://schemas.openxmlformats.org/drawingml/2006/main">
              <a:ext uri="{FF2B5EF4-FFF2-40B4-BE49-F238E27FC236}">
                <a16:creationId xmlns:a16="http://schemas.microsoft.com/office/drawing/2014/main" id="{389F309E-CBA0-4202-B448-865C16EFEA92}"/>
              </a:ext>
            </a:extLst>
          </p:cNvPr>
          <p:cNvSpPr>
            <a:spLocks xmlns:a="http://schemas.openxmlformats.org/drawingml/2006/main" noGrp="1"/>
          </p:cNvSpPr>
          <p:nvPr/>
        </p:nvSpPr>
        <p:spPr>
          <a:xfrm xmlns:a="http://schemas.openxmlformats.org/drawingml/2006/main">
            <a:off x="8191500" y="2781300"/>
            <a:ext cx="2857500" cy="1066800"/>
          </a:xfrm>
          <a:prstGeom xmlns:a="http://schemas.openxmlformats.org/drawingml/2006/main" prst="roundRect">
            <a:avLst>
              <a:gd name="adj" fmla="val 7143"/>
            </a:avLst>
          </a:prstGeom>
          <a:solidFill xmlns:a="http://schemas.openxmlformats.org/drawingml/2006/main">
            <a:srgbClr val="FBE9E7"/>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4161E53-23EE-49B7-8128-4A7B2981D51E}"/>
              </a:ext>
            </a:extLst>
          </p:cNvPr>
          <p:cNvSpPr>
            <a:spLocks xmlns:a="http://schemas.openxmlformats.org/drawingml/2006/main" noGrp="1"/>
          </p:cNvSpPr>
          <p:nvPr/>
        </p:nvSpPr>
        <p:spPr>
          <a:xfrm xmlns:a="http://schemas.openxmlformats.org/drawingml/2006/main">
            <a:off x="8420100" y="2914650"/>
            <a:ext cx="2381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D95F59"/>
                </a:solidFill>
              </a:defRPr>
            </a:pPr>
            <a:r>
              <a:rPr sz="2325" b="1">
                <a:solidFill>
                  <a:srgbClr val="D95F59"/>
                </a:solidFill>
              </a:rPr>
              <a:t>2 / 6</a:t>
            </a:r>
          </a:p>
        </p:txBody>
      </p:sp>
      <p:sp>
        <p:nvSpPr>
          <p:cNvPr id="11" name="">
            <a:extLst xmlns:a="http://schemas.openxmlformats.org/drawingml/2006/main">
              <a:ext uri="{FF2B5EF4-FFF2-40B4-BE49-F238E27FC236}">
                <a16:creationId xmlns:a16="http://schemas.microsoft.com/office/drawing/2014/main" id="{ABC4A389-4615-486F-A684-8B9C9175A413}"/>
              </a:ext>
            </a:extLst>
          </p:cNvPr>
          <p:cNvSpPr>
            <a:spLocks xmlns:a="http://schemas.openxmlformats.org/drawingml/2006/main" noGrp="1"/>
          </p:cNvSpPr>
          <p:nvPr/>
        </p:nvSpPr>
        <p:spPr>
          <a:xfrm xmlns:a="http://schemas.openxmlformats.org/drawingml/2006/main">
            <a:off x="8420100" y="3390900"/>
            <a:ext cx="2381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52606D"/>
                </a:solidFill>
              </a:defRPr>
            </a:pPr>
            <a:r>
              <a:rPr sz="1275" b="0">
                <a:solidFill>
                  <a:srgbClr val="52606D"/>
                </a:solidFill>
              </a:rPr>
              <a:t>years jointly directional</a:t>
            </a:r>
          </a:p>
        </p:txBody>
      </p:sp>
      <p:sp>
        <p:nvSpPr>
          <p:cNvPr id="12" name="">
            <a:extLst xmlns:a="http://schemas.openxmlformats.org/drawingml/2006/main">
              <a:ext uri="{FF2B5EF4-FFF2-40B4-BE49-F238E27FC236}">
                <a16:creationId xmlns:a16="http://schemas.microsoft.com/office/drawing/2014/main" id="{D169B36C-EF5D-4B5F-9B45-97AE8BC476C8}"/>
              </a:ext>
            </a:extLst>
          </p:cNvPr>
          <p:cNvSpPr>
            <a:spLocks xmlns:a="http://schemas.openxmlformats.org/drawingml/2006/main" noGrp="1"/>
          </p:cNvSpPr>
          <p:nvPr/>
        </p:nvSpPr>
        <p:spPr>
          <a:xfrm xmlns:a="http://schemas.openxmlformats.org/drawingml/2006/main">
            <a:off x="8096250" y="4095750"/>
            <a:ext cx="3476625" cy="1762125"/>
          </a:xfrm>
          <a:prstGeom xmlns:a="http://schemas.openxmlformats.org/drawingml/2006/main" prst="roundRect">
            <a:avLst>
              <a:gd name="adj" fmla="val 4324"/>
            </a:avLst>
          </a:prstGeom>
          <a:solidFill xmlns:a="http://schemas.openxmlformats.org/drawingml/2006/main">
            <a:srgbClr val="FFF1E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5444506-9F08-4C46-B00F-F3E96AE30670}"/>
              </a:ext>
            </a:extLst>
          </p:cNvPr>
          <p:cNvSpPr>
            <a:spLocks xmlns:a="http://schemas.openxmlformats.org/drawingml/2006/main" noGrp="1"/>
          </p:cNvSpPr>
          <p:nvPr/>
        </p:nvSpPr>
        <p:spPr>
          <a:xfrm xmlns:a="http://schemas.openxmlformats.org/drawingml/2006/main">
            <a:off x="8382000" y="4324350"/>
            <a:ext cx="2905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F2A65A"/>
                </a:solidFill>
              </a:defRPr>
            </a:pPr>
            <a:r>
              <a:rPr sz="1650" b="1">
                <a:solidFill>
                  <a:srgbClr val="F2A65A"/>
                </a:solidFill>
              </a:rPr>
              <a:t>State-name failure</a:t>
            </a:r>
          </a:p>
        </p:txBody>
      </p:sp>
      <p:sp>
        <p:nvSpPr>
          <p:cNvPr id="14" name="">
            <a:extLst xmlns:a="http://schemas.openxmlformats.org/drawingml/2006/main">
              <a:ext uri="{FF2B5EF4-FFF2-40B4-BE49-F238E27FC236}">
                <a16:creationId xmlns:a16="http://schemas.microsoft.com/office/drawing/2014/main" id="{C11F11D0-C9B7-4297-B35A-57E23AA80F05}"/>
              </a:ext>
            </a:extLst>
          </p:cNvPr>
          <p:cNvSpPr>
            <a:spLocks xmlns:a="http://schemas.openxmlformats.org/drawingml/2006/main" noGrp="1"/>
          </p:cNvSpPr>
          <p:nvPr/>
        </p:nvSpPr>
        <p:spPr>
          <a:xfrm xmlns:a="http://schemas.openxmlformats.org/drawingml/2006/main">
            <a:off x="8382000" y="4762500"/>
            <a:ext cx="2905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52606D"/>
                </a:solidFill>
              </a:defRPr>
            </a:pPr>
            <a:r>
              <a:rPr sz="1350" b="1">
                <a:solidFill>
                  <a:srgbClr val="52606D"/>
                </a:solidFill>
              </a:rPr>
              <a:t>After NARROWING, breadth changed +2.47 pp and RSP/SPY +0.32 pp versus HEALTHY—rebound, not continued decay.</a:t>
            </a:r>
          </a:p>
        </p:txBody>
      </p:sp>
    </p:spTree>
    <p:extLst>
      <p:ext uri="{BB962C8B-B14F-4D97-AF65-F5344CB8AC3E}">
        <p14:creationId xmlns:p14="http://schemas.microsoft.com/office/powerpoint/2010/main" val="31992844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5A59DFB-CD54-48EC-A692-99B890A1C350}"/>
              </a:ext>
            </a:extLst>
          </p:cNvPr>
          <p:cNvSpPr>
            <a:spLocks xmlns:a="http://schemas.openxmlformats.org/drawingml/2006/main" noGrp="1"/>
          </p:cNvSpPr>
          <p:nvPr/>
        </p:nvSpPr>
        <p:spPr>
          <a:xfrm xmlns:a="http://schemas.openxmlformats.org/drawingml/2006/main">
            <a:off x="495300" y="266700"/>
            <a:ext cx="4000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DECISION BOUNDARY</a:t>
            </a:r>
          </a:p>
        </p:txBody>
      </p:sp>
      <p:sp>
        <p:nvSpPr>
          <p:cNvPr id="2" name="">
            <a:extLst xmlns:a="http://schemas.openxmlformats.org/drawingml/2006/main">
              <a:ext uri="{FF2B5EF4-FFF2-40B4-BE49-F238E27FC236}">
                <a16:creationId xmlns:a16="http://schemas.microsoft.com/office/drawing/2014/main" id="{97B9A835-C395-4AF0-900E-12D26D0B3B3E}"/>
              </a:ext>
            </a:extLst>
          </p:cNvPr>
          <p:cNvSpPr>
            <a:spLocks xmlns:a="http://schemas.openxmlformats.org/drawingml/2006/main" noGrp="1"/>
          </p:cNvSpPr>
          <p:nvPr/>
        </p:nvSpPr>
        <p:spPr>
          <a:xfrm xmlns:a="http://schemas.openxmlformats.org/drawingml/2006/main">
            <a:off x="495300" y="5905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850" b="1">
                <a:solidFill>
                  <a:srgbClr val="17202A"/>
                </a:solidFill>
              </a:defRPr>
            </a:pPr>
            <a:r>
              <a:rPr sz="2850" b="1">
                <a:solidFill>
                  <a:srgbClr val="17202A"/>
                </a:solidFill>
              </a:rPr>
              <a:t>Keep breadth as a measurement family; retire this state</a:t>
            </a:r>
          </a:p>
        </p:txBody>
      </p:sp>
      <p:sp>
        <p:nvSpPr>
          <p:cNvPr id="3" name="">
            <a:extLst xmlns:a="http://schemas.openxmlformats.org/drawingml/2006/main">
              <a:ext uri="{FF2B5EF4-FFF2-40B4-BE49-F238E27FC236}">
                <a16:creationId xmlns:a16="http://schemas.microsoft.com/office/drawing/2014/main" id="{29A76CA3-3D8C-43F9-B3A7-471E9EA88DB9}"/>
              </a:ext>
            </a:extLst>
          </p:cNvPr>
          <p:cNvSpPr>
            <a:spLocks xmlns:a="http://schemas.openxmlformats.org/drawingml/2006/main" noGrp="1"/>
          </p:cNvSpPr>
          <p:nvPr/>
        </p:nvSpPr>
        <p:spPr>
          <a:xfrm xmlns:a="http://schemas.openxmlformats.org/drawingml/2006/main">
            <a:off x="11334750" y="6438900"/>
            <a:ext cx="3333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825" b="0">
                <a:solidFill>
                  <a:srgbClr val="52606D"/>
                </a:solidFill>
              </a:defRPr>
            </a:pPr>
            <a:r>
              <a:rPr sz="825" b="0">
                <a:solidFill>
                  <a:srgbClr val="52606D"/>
                </a:solidFill>
              </a:rPr>
              <a:t>8</a:t>
            </a:r>
          </a:p>
        </p:txBody>
      </p:sp>
      <p:sp>
        <p:nvSpPr>
          <p:cNvPr id="4" name="">
            <a:extLst xmlns:a="http://schemas.openxmlformats.org/drawingml/2006/main">
              <a:ext uri="{FF2B5EF4-FFF2-40B4-BE49-F238E27FC236}">
                <a16:creationId xmlns:a16="http://schemas.microsoft.com/office/drawing/2014/main" id="{4DF35386-E34A-4D83-AD56-A6E263D181EF}"/>
              </a:ext>
            </a:extLst>
          </p:cNvPr>
          <p:cNvSpPr>
            <a:spLocks xmlns:a="http://schemas.openxmlformats.org/drawingml/2006/main" noGrp="1"/>
          </p:cNvSpPr>
          <p:nvPr/>
        </p:nvSpPr>
        <p:spPr>
          <a:xfrm xmlns:a="http://schemas.openxmlformats.org/drawingml/2006/main">
            <a:off x="523875" y="1428750"/>
            <a:ext cx="3238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100" b="1">
                <a:solidFill>
                  <a:srgbClr val="D95F59"/>
                </a:solidFill>
              </a:defRPr>
            </a:pPr>
            <a:r>
              <a:rPr sz="5100" b="1">
                <a:solidFill>
                  <a:srgbClr val="D95F59"/>
                </a:solidFill>
              </a:rPr>
              <a:t>1 / 8</a:t>
            </a:r>
          </a:p>
        </p:txBody>
      </p:sp>
      <p:sp>
        <p:nvSpPr>
          <p:cNvPr id="5" name="">
            <a:extLst xmlns:a="http://schemas.openxmlformats.org/drawingml/2006/main">
              <a:ext uri="{FF2B5EF4-FFF2-40B4-BE49-F238E27FC236}">
                <a16:creationId xmlns:a16="http://schemas.microsoft.com/office/drawing/2014/main" id="{3518E9B1-1A51-468F-B083-6D339106E02F}"/>
              </a:ext>
            </a:extLst>
          </p:cNvPr>
          <p:cNvSpPr>
            <a:spLocks xmlns:a="http://schemas.openxmlformats.org/drawingml/2006/main" noGrp="1"/>
          </p:cNvSpPr>
          <p:nvPr/>
        </p:nvSpPr>
        <p:spPr>
          <a:xfrm xmlns:a="http://schemas.openxmlformats.org/drawingml/2006/main">
            <a:off x="590550" y="2428875"/>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7202A"/>
                </a:solidFill>
              </a:defRPr>
            </a:pPr>
            <a:r>
              <a:rPr sz="2025" b="1">
                <a:solidFill>
                  <a:srgbClr val="17202A"/>
                </a:solidFill>
              </a:rPr>
              <a:t>gates passed</a:t>
            </a:r>
          </a:p>
        </p:txBody>
      </p:sp>
      <p:sp>
        <p:nvSpPr>
          <p:cNvPr id="6" name="">
            <a:extLst xmlns:a="http://schemas.openxmlformats.org/drawingml/2006/main">
              <a:ext uri="{FF2B5EF4-FFF2-40B4-BE49-F238E27FC236}">
                <a16:creationId xmlns:a16="http://schemas.microsoft.com/office/drawing/2014/main" id="{22CEDF4D-B67C-43FC-AE08-703FBD4A5833}"/>
              </a:ext>
            </a:extLst>
          </p:cNvPr>
          <p:cNvSpPr>
            <a:spLocks xmlns:a="http://schemas.openxmlformats.org/drawingml/2006/main" noGrp="1"/>
          </p:cNvSpPr>
          <p:nvPr/>
        </p:nvSpPr>
        <p:spPr>
          <a:xfrm xmlns:a="http://schemas.openxmlformats.org/drawingml/2006/main">
            <a:off x="495300" y="3333750"/>
            <a:ext cx="4762500" cy="1143000"/>
          </a:xfrm>
          <a:prstGeom xmlns:a="http://schemas.openxmlformats.org/drawingml/2006/main" prst="roundRect">
            <a:avLst>
              <a:gd name="adj" fmla="val 6667"/>
            </a:avLst>
          </a:prstGeom>
          <a:solidFill xmlns:a="http://schemas.openxmlformats.org/drawingml/2006/main">
            <a:srgbClr val="FBE9E7"/>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1770DAEE-F2A3-4365-9016-97FCFF4D4E0C}"/>
              </a:ext>
            </a:extLst>
          </p:cNvPr>
          <p:cNvSpPr>
            <a:spLocks xmlns:a="http://schemas.openxmlformats.org/drawingml/2006/main" noGrp="1"/>
          </p:cNvSpPr>
          <p:nvPr/>
        </p:nvSpPr>
        <p:spPr>
          <a:xfrm xmlns:a="http://schemas.openxmlformats.org/drawingml/2006/main">
            <a:off x="742950" y="3590925"/>
            <a:ext cx="428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D95F59"/>
                </a:solidFill>
              </a:defRPr>
            </a:pPr>
            <a:r>
              <a:rPr sz="1650" b="1">
                <a:solidFill>
                  <a:srgbClr val="D95F59"/>
                </a:solidFill>
              </a:rPr>
              <a:t>STOP_BREADTH_TRANSITION_</a:t>
            </a:r>
          </a:p>
          <a:p xmlns:a="http://schemas.openxmlformats.org/drawingml/2006/main">
            <a:pPr algn="l">
              <a:defRPr sz="1650" b="1">
                <a:solidFill>
                  <a:srgbClr val="D95F59"/>
                </a:solidFill>
              </a:defRPr>
            </a:pPr>
            <a:r>
              <a:rPr sz="1650" b="1">
                <a:solidFill>
                  <a:srgbClr val="D95F59"/>
                </a:solidFill>
              </a:rPr>
              <a:t>GATES_FAILED_NO_JOINT_FILTER</a:t>
            </a:r>
          </a:p>
        </p:txBody>
      </p:sp>
      <p:sp>
        <p:nvSpPr>
          <p:cNvPr id="8" name="">
            <a:extLst xmlns:a="http://schemas.openxmlformats.org/drawingml/2006/main">
              <a:ext uri="{FF2B5EF4-FFF2-40B4-BE49-F238E27FC236}">
                <a16:creationId xmlns:a16="http://schemas.microsoft.com/office/drawing/2014/main" id="{24B9C7C6-3D61-419D-9CB0-609289B12A32}"/>
              </a:ext>
            </a:extLst>
          </p:cNvPr>
          <p:cNvSpPr>
            <a:spLocks xmlns:a="http://schemas.openxmlformats.org/drawingml/2006/main" noGrp="1"/>
          </p:cNvSpPr>
          <p:nvPr/>
        </p:nvSpPr>
        <p:spPr>
          <a:xfrm xmlns:a="http://schemas.openxmlformats.org/drawingml/2006/main">
            <a:off x="590550" y="5095875"/>
            <a:ext cx="3810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2E8B57"/>
                </a:solidFill>
              </a:defRPr>
            </a:pPr>
            <a:r>
              <a:rPr sz="1725" b="1">
                <a:solidFill>
                  <a:srgbClr val="2E8B57"/>
                </a:solidFill>
              </a:rPr>
              <a:t>2024+ remained sealed</a:t>
            </a:r>
          </a:p>
        </p:txBody>
      </p:sp>
      <p:sp>
        <p:nvSpPr>
          <p:cNvPr id="9" name="">
            <a:extLst xmlns:a="http://schemas.openxmlformats.org/drawingml/2006/main">
              <a:ext uri="{FF2B5EF4-FFF2-40B4-BE49-F238E27FC236}">
                <a16:creationId xmlns:a16="http://schemas.microsoft.com/office/drawing/2014/main" id="{CB04FFE3-7F90-43FA-9A17-30D090C8EC1E}"/>
              </a:ext>
            </a:extLst>
          </p:cNvPr>
          <p:cNvSpPr>
            <a:spLocks xmlns:a="http://schemas.openxmlformats.org/drawingml/2006/main" noGrp="1"/>
          </p:cNvSpPr>
          <p:nvPr/>
        </p:nvSpPr>
        <p:spPr>
          <a:xfrm xmlns:a="http://schemas.openxmlformats.org/drawingml/2006/main">
            <a:off x="5953125" y="1381125"/>
            <a:ext cx="5619750" cy="4238625"/>
          </a:xfrm>
          <a:prstGeom xmlns:a="http://schemas.openxmlformats.org/drawingml/2006/main" prst="roundRect">
            <a:avLst>
              <a:gd name="adj" fmla="val 1798"/>
            </a:avLst>
          </a:prstGeom>
          <a:solidFill xmlns:a="http://schemas.openxmlformats.org/drawingml/2006/main">
            <a:srgbClr val="F2F4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F9F2D0-D7D7-46CA-8445-B480AE686EAF}"/>
              </a:ext>
            </a:extLst>
          </p:cNvPr>
          <p:cNvSpPr>
            <a:spLocks xmlns:a="http://schemas.openxmlformats.org/drawingml/2006/main" noGrp="1"/>
          </p:cNvSpPr>
          <p:nvPr/>
        </p:nvSpPr>
        <p:spPr>
          <a:xfrm xmlns:a="http://schemas.openxmlformats.org/drawingml/2006/main">
            <a:off x="6334125" y="1714500"/>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7324D"/>
                </a:solidFill>
              </a:defRPr>
            </a:pPr>
            <a:r>
              <a:rPr sz="2100" b="1">
                <a:solidFill>
                  <a:srgbClr val="17324D"/>
                </a:solidFill>
              </a:rPr>
              <a:t>What carries forward</a:t>
            </a:r>
          </a:p>
        </p:txBody>
      </p:sp>
      <p:sp>
        <p:nvSpPr>
          <p:cNvPr id="11" name="">
            <a:extLst xmlns:a="http://schemas.openxmlformats.org/drawingml/2006/main">
              <a:ext uri="{FF2B5EF4-FFF2-40B4-BE49-F238E27FC236}">
                <a16:creationId xmlns:a16="http://schemas.microsoft.com/office/drawing/2014/main" id="{5C281112-768A-4BE4-9A20-1992B7B09BFB}"/>
              </a:ext>
            </a:extLst>
          </p:cNvPr>
          <p:cNvSpPr>
            <a:spLocks xmlns:a="http://schemas.openxmlformats.org/drawingml/2006/main" noGrp="1"/>
          </p:cNvSpPr>
          <p:nvPr/>
        </p:nvSpPr>
        <p:spPr>
          <a:xfrm xmlns:a="http://schemas.openxmlformats.org/drawingml/2006/main">
            <a:off x="6381750" y="25050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F3D7A3E-A160-4802-8889-BD5284F6D60A}"/>
              </a:ext>
            </a:extLst>
          </p:cNvPr>
          <p:cNvSpPr>
            <a:spLocks xmlns:a="http://schemas.openxmlformats.org/drawingml/2006/main" noGrp="1"/>
          </p:cNvSpPr>
          <p:nvPr/>
        </p:nvSpPr>
        <p:spPr>
          <a:xfrm xmlns:a="http://schemas.openxmlformats.org/drawingml/2006/main">
            <a:off x="6600825" y="2428875"/>
            <a:ext cx="449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Cross-sectional breadth and leadership are distinct from index price.</a:t>
            </a:r>
          </a:p>
        </p:txBody>
      </p:sp>
      <p:sp>
        <p:nvSpPr>
          <p:cNvPr id="13" name="">
            <a:extLst xmlns:a="http://schemas.openxmlformats.org/drawingml/2006/main">
              <a:ext uri="{FF2B5EF4-FFF2-40B4-BE49-F238E27FC236}">
                <a16:creationId xmlns:a16="http://schemas.microsoft.com/office/drawing/2014/main" id="{748238EE-6A37-40E0-B351-971ED13759A5}"/>
              </a:ext>
            </a:extLst>
          </p:cNvPr>
          <p:cNvSpPr>
            <a:spLocks xmlns:a="http://schemas.openxmlformats.org/drawingml/2006/main" noGrp="1"/>
          </p:cNvSpPr>
          <p:nvPr/>
        </p:nvSpPr>
        <p:spPr>
          <a:xfrm xmlns:a="http://schemas.openxmlformats.org/drawingml/2006/main">
            <a:off x="6381750" y="30575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EDC2C5B-498E-41B9-B877-620C3061A0DD}"/>
              </a:ext>
            </a:extLst>
          </p:cNvPr>
          <p:cNvSpPr>
            <a:spLocks xmlns:a="http://schemas.openxmlformats.org/drawingml/2006/main" noGrp="1"/>
          </p:cNvSpPr>
          <p:nvPr/>
        </p:nvSpPr>
        <p:spPr>
          <a:xfrm xmlns:a="http://schemas.openxmlformats.org/drawingml/2006/main">
            <a:off x="6600825" y="2981325"/>
            <a:ext cx="449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The present 20-day sign-defined state is too weak and unstable.</a:t>
            </a:r>
          </a:p>
        </p:txBody>
      </p:sp>
      <p:sp>
        <p:nvSpPr>
          <p:cNvPr id="15" name="">
            <a:extLst xmlns:a="http://schemas.openxmlformats.org/drawingml/2006/main">
              <a:ext uri="{FF2B5EF4-FFF2-40B4-BE49-F238E27FC236}">
                <a16:creationId xmlns:a16="http://schemas.microsoft.com/office/drawing/2014/main" id="{554560ED-EE26-45FC-B74F-DD53F5E73963}"/>
              </a:ext>
            </a:extLst>
          </p:cNvPr>
          <p:cNvSpPr>
            <a:spLocks xmlns:a="http://schemas.openxmlformats.org/drawingml/2006/main" noGrp="1"/>
          </p:cNvSpPr>
          <p:nvPr/>
        </p:nvSpPr>
        <p:spPr>
          <a:xfrm xmlns:a="http://schemas.openxmlformats.org/drawingml/2006/main">
            <a:off x="6381750" y="36099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0658EA5C-38EB-44A0-98C1-F736DE9BCBD8}"/>
              </a:ext>
            </a:extLst>
          </p:cNvPr>
          <p:cNvSpPr>
            <a:spLocks xmlns:a="http://schemas.openxmlformats.org/drawingml/2006/main" noGrp="1"/>
          </p:cNvSpPr>
          <p:nvPr/>
        </p:nvSpPr>
        <p:spPr>
          <a:xfrm xmlns:a="http://schemas.openxmlformats.org/drawingml/2006/main">
            <a:off x="6600825" y="3533775"/>
            <a:ext cx="449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Its rebound behavior suggests it detects exhaustion as often as propagation.</a:t>
            </a:r>
          </a:p>
        </p:txBody>
      </p:sp>
      <p:sp>
        <p:nvSpPr>
          <p:cNvPr id="17" name="">
            <a:extLst xmlns:a="http://schemas.openxmlformats.org/drawingml/2006/main">
              <a:ext uri="{FF2B5EF4-FFF2-40B4-BE49-F238E27FC236}">
                <a16:creationId xmlns:a16="http://schemas.microsoft.com/office/drawing/2014/main" id="{EB7CCA2C-9C92-4AA6-843F-621E065501B4}"/>
              </a:ext>
            </a:extLst>
          </p:cNvPr>
          <p:cNvSpPr>
            <a:spLocks xmlns:a="http://schemas.openxmlformats.org/drawingml/2006/main" noGrp="1"/>
          </p:cNvSpPr>
          <p:nvPr/>
        </p:nvSpPr>
        <p:spPr>
          <a:xfrm xmlns:a="http://schemas.openxmlformats.org/drawingml/2006/main">
            <a:off x="6381750" y="416242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71B4D0F-B2E1-47E4-AF4A-A805576FF860}"/>
              </a:ext>
            </a:extLst>
          </p:cNvPr>
          <p:cNvSpPr>
            <a:spLocks xmlns:a="http://schemas.openxmlformats.org/drawingml/2006/main" noGrp="1"/>
          </p:cNvSpPr>
          <p:nvPr/>
        </p:nvSpPr>
        <p:spPr>
          <a:xfrm xmlns:a="http://schemas.openxmlformats.org/drawingml/2006/main">
            <a:off x="6600825" y="4086225"/>
            <a:ext cx="449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Do not join it to ATR, gate a strategy, tune thresholds, or open 2024+.</a:t>
            </a:r>
          </a:p>
        </p:txBody>
      </p:sp>
      <p:sp>
        <p:nvSpPr>
          <p:cNvPr id="19" name="">
            <a:extLst xmlns:a="http://schemas.openxmlformats.org/drawingml/2006/main">
              <a:ext uri="{FF2B5EF4-FFF2-40B4-BE49-F238E27FC236}">
                <a16:creationId xmlns:a16="http://schemas.microsoft.com/office/drawing/2014/main" id="{4625F518-99C9-445C-A3F0-E3E167C67526}"/>
              </a:ext>
            </a:extLst>
          </p:cNvPr>
          <p:cNvSpPr>
            <a:spLocks xmlns:a="http://schemas.openxmlformats.org/drawingml/2006/main" noGrp="1"/>
          </p:cNvSpPr>
          <p:nvPr/>
        </p:nvSpPr>
        <p:spPr>
          <a:xfrm xmlns:a="http://schemas.openxmlformats.org/drawingml/2006/main">
            <a:off x="6381750" y="4714875"/>
            <a:ext cx="95250" cy="95250"/>
          </a:xfrm>
          <a:prstGeom xmlns:a="http://schemas.openxmlformats.org/drawingml/2006/main" prst="ellipse">
            <a:avLst/>
          </a:prstGeom>
          <a:solidFill xmlns:a="http://schemas.openxmlformats.org/drawingml/2006/main">
            <a:srgbClr val="D95F59"/>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E81F3BA-5D63-44F4-ACA8-008D5FB13D52}"/>
              </a:ext>
            </a:extLst>
          </p:cNvPr>
          <p:cNvSpPr>
            <a:spLocks xmlns:a="http://schemas.openxmlformats.org/drawingml/2006/main" noGrp="1"/>
          </p:cNvSpPr>
          <p:nvPr/>
        </p:nvSpPr>
        <p:spPr>
          <a:xfrm xmlns:a="http://schemas.openxmlformats.org/drawingml/2006/main">
            <a:off x="6600825" y="4638675"/>
            <a:ext cx="44958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0">
                <a:solidFill>
                  <a:srgbClr val="52606D"/>
                </a:solidFill>
              </a:defRPr>
            </a:pPr>
            <a:r>
              <a:rPr sz="1425" b="0">
                <a:solidFill>
                  <a:srgbClr val="52606D"/>
                </a:solidFill>
              </a:rPr>
              <a:t>A future attempt needs a newly frozen persistence or recovery hypothesis.</a:t>
            </a:r>
          </a:p>
        </p:txBody>
      </p:sp>
      <p:sp>
        <p:nvSpPr>
          <p:cNvPr id="21" name="">
            <a:extLst xmlns:a="http://schemas.openxmlformats.org/drawingml/2006/main">
              <a:ext uri="{FF2B5EF4-FFF2-40B4-BE49-F238E27FC236}">
                <a16:creationId xmlns:a16="http://schemas.microsoft.com/office/drawing/2014/main" id="{0A484939-9413-4D7F-BC45-1CCD9FF12D78}"/>
              </a:ext>
            </a:extLst>
          </p:cNvPr>
          <p:cNvSpPr>
            <a:spLocks xmlns:a="http://schemas.openxmlformats.org/drawingml/2006/main" noGrp="1"/>
          </p:cNvSpPr>
          <p:nvPr/>
        </p:nvSpPr>
        <p:spPr>
          <a:xfrm xmlns:a="http://schemas.openxmlformats.org/drawingml/2006/main">
            <a:off x="857250" y="614362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7202A"/>
                </a:solidFill>
              </a:defRPr>
            </a:pPr>
            <a:r>
              <a:rPr sz="1575" b="1">
                <a:solidFill>
                  <a:srgbClr val="17202A"/>
                </a:solidFill>
              </a:rPr>
              <a:t>A clean negative result narrows the design space without spending confirmation data.</a:t>
            </a:r>
          </a:p>
        </p:txBody>
      </p:sp>
    </p:spTree>
    <p:extLst>
      <p:ext uri="{BB962C8B-B14F-4D97-AF65-F5344CB8AC3E}">
        <p14:creationId xmlns:p14="http://schemas.microsoft.com/office/powerpoint/2010/main" val="11862683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2026-08-15T05:34:09.5860000Z</dcterms:created>
  <dcterms:modified xsi:type="dcterms:W3CDTF">2026-08-15T05:34:09.5860000Z</dcterms:modified>
</coreProperties>
</file>