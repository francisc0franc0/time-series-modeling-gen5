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a00ca48d8e49be" /><Relationship Type="http://schemas.openxmlformats.org/officeDocument/2006/relationships/extended-properties" Target="/docProps/app.xml" Id="R2445aec25f1e4af2" /><Relationship Type="http://schemas.openxmlformats.org/officeDocument/2006/relationships/officeDocument" Target="/ppt/presentation.xml" Id="R26445cad811248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752fc854ce4643"/>
  </p:sldMasterIdLst>
  <p:notesMasterIdLst>
    <p:notesMasterId xmlns:r="http://schemas.openxmlformats.org/officeDocument/2006/relationships" r:id="R12501083e83c4566"/>
  </p:notesMasterIdLst>
  <p:sldIdLst>
    <p:sldId xmlns:r="http://schemas.openxmlformats.org/officeDocument/2006/relationships" id="256" r:id="R113fdd83a8ca4d60"/>
    <p:sldId xmlns:r="http://schemas.openxmlformats.org/officeDocument/2006/relationships" id="257" r:id="Reb9f12be98ea4655"/>
    <p:sldId xmlns:r="http://schemas.openxmlformats.org/officeDocument/2006/relationships" id="258" r:id="R9177ee3dcd2e4075"/>
    <p:sldId xmlns:r="http://schemas.openxmlformats.org/officeDocument/2006/relationships" id="259" r:id="R6c9eb76c9f72421f"/>
    <p:sldId xmlns:r="http://schemas.openxmlformats.org/officeDocument/2006/relationships" id="260" r:id="Rc1e62283543f4c61"/>
    <p:sldId xmlns:r="http://schemas.openxmlformats.org/officeDocument/2006/relationships" id="261" r:id="R6f23b4d7d1744e71"/>
    <p:sldId xmlns:r="http://schemas.openxmlformats.org/officeDocument/2006/relationships" id="262" r:id="R8284ce0b936d42ab"/>
    <p:sldId xmlns:r="http://schemas.openxmlformats.org/officeDocument/2006/relationships" id="263" r:id="R083065f7109d4b67"/>
    <p:sldId xmlns:r="http://schemas.openxmlformats.org/officeDocument/2006/relationships" id="264" r:id="Ra9b2bf38b6a548da"/>
    <p:sldId xmlns:r="http://schemas.openxmlformats.org/officeDocument/2006/relationships" id="265" r:id="R7e7b7a6642274a97"/>
    <p:sldId xmlns:r="http://schemas.openxmlformats.org/officeDocument/2006/relationships" id="266" r:id="R476541a0aeea4c7b"/>
    <p:sldId xmlns:r="http://schemas.openxmlformats.org/officeDocument/2006/relationships" id="267" r:id="R1b67ceca51ec4445"/>
    <p:sldId xmlns:r="http://schemas.openxmlformats.org/officeDocument/2006/relationships" id="268" r:id="R995470a4cbee47af"/>
    <p:sldId xmlns:r="http://schemas.openxmlformats.org/officeDocument/2006/relationships" id="269" r:id="R63edecbf6f7145c4"/>
    <p:sldId xmlns:r="http://schemas.openxmlformats.org/officeDocument/2006/relationships" id="270" r:id="R8c363215a85b4b50"/>
    <p:sldId xmlns:r="http://schemas.openxmlformats.org/officeDocument/2006/relationships" id="271" r:id="R1baabf171fba46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b2505984184cbf" /><Relationship Type="http://schemas.openxmlformats.org/officeDocument/2006/relationships/slideMaster" Target="/ppt/slideMasters/slideMaster1.xml" Id="R7f752fc854ce4643" /><Relationship Type="http://schemas.openxmlformats.org/officeDocument/2006/relationships/notesMaster" Target="/ppt/notesMasters/notesMaster1.xml" Id="R12501083e83c4566" /><Relationship Type="http://schemas.openxmlformats.org/officeDocument/2006/relationships/presProps" Target="/ppt/presProps.xml" Id="R6372ec397cb14105" /><Relationship Type="http://schemas.openxmlformats.org/officeDocument/2006/relationships/tableStyles" Target="/ppt/tableStyles.xml" Id="Rf6e7260a948c490a" /><Relationship Type="http://schemas.openxmlformats.org/officeDocument/2006/relationships/slide" Target="/ppt/slides/slide1.xml" Id="R113fdd83a8ca4d60" /><Relationship Type="http://schemas.openxmlformats.org/officeDocument/2006/relationships/slide" Target="/ppt/slides/slide2.xml" Id="Reb9f12be98ea4655" /><Relationship Type="http://schemas.openxmlformats.org/officeDocument/2006/relationships/slide" Target="/ppt/slides/slide3.xml" Id="R9177ee3dcd2e4075" /><Relationship Type="http://schemas.openxmlformats.org/officeDocument/2006/relationships/slide" Target="/ppt/slides/slide4.xml" Id="R6c9eb76c9f72421f" /><Relationship Type="http://schemas.openxmlformats.org/officeDocument/2006/relationships/slide" Target="/ppt/slides/slide5.xml" Id="Rc1e62283543f4c61" /><Relationship Type="http://schemas.openxmlformats.org/officeDocument/2006/relationships/slide" Target="/ppt/slides/slide6.xml" Id="R6f23b4d7d1744e71" /><Relationship Type="http://schemas.openxmlformats.org/officeDocument/2006/relationships/slide" Target="/ppt/slides/slide7.xml" Id="R8284ce0b936d42ab" /><Relationship Type="http://schemas.openxmlformats.org/officeDocument/2006/relationships/slide" Target="/ppt/slides/slide8.xml" Id="R083065f7109d4b67" /><Relationship Type="http://schemas.openxmlformats.org/officeDocument/2006/relationships/slide" Target="/ppt/slides/slide9.xml" Id="Ra9b2bf38b6a548da" /><Relationship Type="http://schemas.openxmlformats.org/officeDocument/2006/relationships/slide" Target="/ppt/slides/slide10.xml" Id="R7e7b7a6642274a97" /><Relationship Type="http://schemas.openxmlformats.org/officeDocument/2006/relationships/slide" Target="/ppt/slides/slide11.xml" Id="R476541a0aeea4c7b" /><Relationship Type="http://schemas.openxmlformats.org/officeDocument/2006/relationships/slide" Target="/ppt/slides/slide12.xml" Id="R1b67ceca51ec4445" /><Relationship Type="http://schemas.openxmlformats.org/officeDocument/2006/relationships/slide" Target="/ppt/slides/slide13.xml" Id="R995470a4cbee47af" /><Relationship Type="http://schemas.openxmlformats.org/officeDocument/2006/relationships/slide" Target="/ppt/slides/slide14.xml" Id="R63edecbf6f7145c4" /><Relationship Type="http://schemas.openxmlformats.org/officeDocument/2006/relationships/slide" Target="/ppt/slides/slide15.xml" Id="R8c363215a85b4b50" /><Relationship Type="http://schemas.openxmlformats.org/officeDocument/2006/relationships/slide" Target="/ppt/slides/slide16.xml" Id="R1baabf171fba46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ac31474ce748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2c3f5857a54944" /><Relationship Type="http://schemas.openxmlformats.org/officeDocument/2006/relationships/notesMaster" Target="/ppt/notesMasters/notesMaster1.xml" Id="R287de8f7024b4c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7c2415267c41f5" /><Relationship Type="http://schemas.openxmlformats.org/officeDocument/2006/relationships/notesMaster" Target="/ppt/notesMasters/notesMaster1.xml" Id="Rf14fafbdc5954e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c1abd1e9af4183" /><Relationship Type="http://schemas.openxmlformats.org/officeDocument/2006/relationships/notesMaster" Target="/ppt/notesMasters/notesMaster1.xml" Id="R99dac6fa318042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55786c8e5c4841" /><Relationship Type="http://schemas.openxmlformats.org/officeDocument/2006/relationships/notesMaster" Target="/ppt/notesMasters/notesMaster1.xml" Id="R646e97ab518e4d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056b34b48b41c9" /><Relationship Type="http://schemas.openxmlformats.org/officeDocument/2006/relationships/notesMaster" Target="/ppt/notesMasters/notesMaster1.xml" Id="R96017208721a40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278e23076943fd" /><Relationship Type="http://schemas.openxmlformats.org/officeDocument/2006/relationships/notesMaster" Target="/ppt/notesMasters/notesMaster1.xml" Id="Rf21e2cd5d3bc46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b80815bfd14f70" /><Relationship Type="http://schemas.openxmlformats.org/officeDocument/2006/relationships/notesMaster" Target="/ppt/notesMasters/notesMaster1.xml" Id="Rd1647d5ce0934c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2eb8d080484399" /><Relationship Type="http://schemas.openxmlformats.org/officeDocument/2006/relationships/notesMaster" Target="/ppt/notesMasters/notesMaster1.xml" Id="R10aef6c16c3b41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fbe5e23af6475d" /><Relationship Type="http://schemas.openxmlformats.org/officeDocument/2006/relationships/notesMaster" Target="/ppt/notesMasters/notesMaster1.xml" Id="R9e39df2e9f4645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a97f002d7d4395" /><Relationship Type="http://schemas.openxmlformats.org/officeDocument/2006/relationships/notesMaster" Target="/ppt/notesMasters/notesMaster1.xml" Id="Rc08bfb08225548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5c6b3e6b4b449f" /><Relationship Type="http://schemas.openxmlformats.org/officeDocument/2006/relationships/notesMaster" Target="/ppt/notesMasters/notesMaster1.xml" Id="R85f2354795bd40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f1e25773564dbd" /><Relationship Type="http://schemas.openxmlformats.org/officeDocument/2006/relationships/notesMaster" Target="/ppt/notesMasters/notesMaster1.xml" Id="R7eaba9e3ce9548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c8857f23c85446c" /><Relationship Type="http://schemas.openxmlformats.org/officeDocument/2006/relationships/notesMaster" Target="/ppt/notesMasters/notesMaster1.xml" Id="Rc09edcc9930640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6b869bf65a4f87" /><Relationship Type="http://schemas.openxmlformats.org/officeDocument/2006/relationships/notesMaster" Target="/ppt/notesMasters/notesMaster1.xml" Id="R0ebc04b707f3444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98b8587ba74bce" /><Relationship Type="http://schemas.openxmlformats.org/officeDocument/2006/relationships/notesMaster" Target="/ppt/notesMasters/notesMaster1.xml" Id="R38672e2ca71848e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6b198bf1ac4233" /><Relationship Type="http://schemas.openxmlformats.org/officeDocument/2006/relationships/notesMaster" Target="/ppt/notesMasters/notesMaster1.xml" Id="Rf95d6287abf54c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reports the distinct 2016-2020 development gates. Neither candidate advanced, so the context atlas and 2024-2025 confirmation remained unopened.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Project\Time-Series-Modeling-Gen5\operator_hypothesis_lab\docs\HYP_MOM_SMA_FOLLOWUP_SERIES_CONTRACT.md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Project\Time-Series-Modeling-Gen5\operator_hypothesis_lab\docs\HYP_MOM_02_3_03_1_DEVELOPMENT_RESULTS.md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cache limitation was detected and documented before candidate performance. The amendment solves indicator availability without importing a new provider 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Project\Time-Series-Modeling-Gen5\operator_hypothesis_lab\docs\HYP_MOM_SMA_FOLLOWUP_SERIES_CONTRACT.md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Project\Time-Series-Modeling-Gen5\runs\research_workbench\operator_hypothesis_lab\hyp_mom_sma_followup_development_2016_2020_20260810\coverage_preflight.csv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Project\Time-Series-Modeling-Gen5\runs\research_workbench\operator_hypothesis_lab\hyp_mom_sma_followup_development_2016_2020_20260810\query_health_preflight.csv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02.3 asks whether strict lockout is too severe. 03.1 treats the slow average as permission and the fast average as setup/exit. Parent-relative gates prevent a candidate from passing merely because its comparator is different.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Project\Time-Series-Modeling-Gen5\operator_hypothesis_lab\docs\HYP_MOM_SMA_FOLLOWUP_SERIES_CONTRACT.md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eight incomplete histories are excluded without replacement. The eligible panel retains broad sector representation.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Project\Time-Series-Modeling-Gen5\runs\research_workbench\operator_hypothesis_lab\hyp_mom_sma_followup_development_2016_2020_20260810\coverage.csv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Positive raw returns coexist with negative matched-control excess for every policy. The right panel shows the return/protection bargain but not timing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Project\Time-Series-Modeling-Gen5\runs\research_workbench\operator_hypothesis_lab\hyp_mom_sma_followup_development_2016_2020_20260810\variant_panel_summary.csv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Re-entry repaired some opportunity cost, but it also raised exposure, turnover, and drawdown. It did not beat exposure-matched alternative calendars.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Project\Time-Series-Modeling-Gen5\runs\research_workbench\operator_hypothesis_lab\hyp_mom_sma_followup_development_2016_2020_20260810\candidate_parent_comparison.csv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Project\Time-Series-Modeling-Gen5\runs\research_workbench\operator_hypothesis_lab\hyp_mom_sma_followup_development_2016_2020_20260810\development_gates.csv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02.3 passes integrity, positive return/stress, asset breadth, and calendar breadth. 03.1 additionally passes trade/sector breadth and drawdown. Both fail matched controls and parent-improvement breadth.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Project\Time-Series-Modeling-Gen5\runs\research_workbench\operator_hypothesis_lab\hyp_mom_sma_followup_development_2016_2020_20260810\development_gates.csv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Project\Time-Series-Modeling-Gen5\runs\research_workbench\operator_hypothesis_lab\hyp_mom_sma_followup_development_2016_2020_20260810\nomination.csv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three roles were selected mechanically after the panel statistics: median parent-relative return change, largest improvement, and largest deterioration.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Project\Time-Series-Modeling-Gen5\runs\research_workbench\operator_hypothesis_lab\hyp_mom_sma_followup_development_2016_2020_20260810\representative_tape_manifest.csv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CVX changed return by +3.21 points and improved drawdown by +3.61 points. It is representative of the median delta, not of an approved asset subset.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Project\Time-Series-Modeling-Gen5\runs\research_workbench\operator_hypothesis_lab\hyp_mom_sma_followup_development_2016_2020_20260810\representative_tape_manifest.csv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NIO is the largest 02.3 improvement, +1,208 points versus the parent. Its scale illustrates why medians, breadth, sector contribution, and matched controls are all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Project\Time-Series-Modeling-Gen5\runs\research_workbench\operator_hypothesis_lab\hyp_mom_sma_followup_development_2016_2020_20260810\representative_tape_manifest.csv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FCX is the largest 02.3 deterioration, -175 points versus the parent with a 17.1-point drawdown worsening.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Project\Time-Series-Modeling-Gen5\runs\research_workbench\operator_hypothesis_lab\hyp_mom_sma_followup_development_2016_2020_20260810\representative_tape_manifest.csv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03.1 improved drawdown and sector breadth, but its median return fell nine points versus fresh 02.1 and its actual timing still ranked below matched shifts.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Project\Time-Series-Modeling-Gen5\runs\research_workbench\operator_hypothesis_lab\hyp_mom_sma_followup_development_2016_2020_20260810\candidate_parent_comparison.csv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Project\Time-Series-Modeling-Gen5\runs\research_workbench\operator_hypothesis_lab\hyp_mom_sma_followup_development_2016_2020_20260810\representative_tape_manifest.csv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AMGN is nearest the median 03.1 return change: -9.91 points versus its parent while drawdown improved 5.39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Project\Time-Series-Modeling-Gen5\runs\research_workbench\operator_hypothesis_lab\hyp_mom_sma_followup_development_2016_2020_20260810\representative_tape_manifest.csv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CPRX is the largest 03.1 improvement, +211.7 points with a 39.0-point drawdown improvement. It is a favorable tail, not selection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Project\Time-Series-Modeling-Gen5\runs\research_workbench\operator_hypothesis_lab\hyp_mom_sma_followup_development_2016_2020_20260810\representative_tape_manifest.csv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PLUG is the largest 03.1 deterioration, -360.8 points versus fresh 02.1, despite improving drawdown by 15.6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Project\Time-Series-Modeling-Gen5\runs\research_workbench\operator_hypothesis_lab\hyp_mom_sma_followup_development_2016_2020_20260810\representative_tape_manifest.csv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Record STOP_NO_DEVELOPMENT_NOMINEE_CONFIRMATION_UNOPENED. Positive raw returns were insufficient because timing controls, parent-relative breadth, and drawdown/sector gates did not clear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Project\Time-Series-Modeling-Gen5\operator_hypothesis_lab\docs\HYP_MOM_SMA_FOLLOWUP_SERIES_CONTRACT.md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Project\Time-Series-Modeling-Gen5\operator_hypothesis_lab\docs\HYP_MOM_02_3_03_1_DEVELOPMENT_RESULTS.md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Project\Time-Series-Modeling-Gen5\runs\research_workbench\operator_hypothesis_lab\hyp_mom_sma_followup_development_2016_2020_20260810\nomination.csv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Project\Time-Series-Modeling-Gen5\runs\research_workbench\operator_hypothesis_lab\hyp_mom_sma_followup_development_2016_2020_20260810\integrity_checks.csv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f43140f4004d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39c2e4f98a4c92" /><Relationship Type="http://schemas.openxmlformats.org/officeDocument/2006/relationships/slideLayout" Target="/ppt/slideLayouts/slideLayout1.xml" Id="R25e509e4ed0244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e509e4ed0244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7a7b1b7c749e1" /><Relationship Type="http://schemas.openxmlformats.org/officeDocument/2006/relationships/notesSlide" Target="/ppt/notesSlides/notesSlide1.xml" Id="R65c1e09286a841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0aa0631c24198" /><Relationship Type="http://schemas.openxmlformats.org/officeDocument/2006/relationships/notesSlide" Target="/ppt/notesSlides/notesSlide2.xml" Id="Rb014815e016349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0045f2d184767" /><Relationship Type="http://schemas.openxmlformats.org/officeDocument/2006/relationships/notesSlide" Target="/ppt/notesSlides/notesSlide3.xml" Id="Re76410defe7747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a1c669edb4a97" /><Relationship Type="http://schemas.openxmlformats.org/officeDocument/2006/relationships/image" Target="/ppt/media/image.png" Id="Rfe8df1700ca640f3" /><Relationship Type="http://schemas.openxmlformats.org/officeDocument/2006/relationships/notesSlide" Target="/ppt/notesSlides/notesSlide4.xml" Id="Rd93a6381b0024a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15cf3edf14c28" /><Relationship Type="http://schemas.openxmlformats.org/officeDocument/2006/relationships/image" Target="/ppt/media/image2.png" Id="Rf84ac607050c447b" /><Relationship Type="http://schemas.openxmlformats.org/officeDocument/2006/relationships/notesSlide" Target="/ppt/notesSlides/notesSlide5.xml" Id="R9595595dc4014a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2de1078ed4fb0" /><Relationship Type="http://schemas.openxmlformats.org/officeDocument/2006/relationships/notesSlide" Target="/ppt/notesSlides/notesSlide6.xml" Id="R5968fb8dabd144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b50ea8edb4c2e" /><Relationship Type="http://schemas.openxmlformats.org/officeDocument/2006/relationships/image" Target="/ppt/media/image3.png" Id="R2ce1181567b742b3" /><Relationship Type="http://schemas.openxmlformats.org/officeDocument/2006/relationships/notesSlide" Target="/ppt/notesSlides/notesSlide7.xml" Id="R84a27160a6a344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4432f59154fdf" /><Relationship Type="http://schemas.openxmlformats.org/officeDocument/2006/relationships/notesSlide" Target="/ppt/notesSlides/notesSlide8.xml" Id="Rbb595f4566804d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2d4f249bb42e5" /><Relationship Type="http://schemas.openxmlformats.org/officeDocument/2006/relationships/image" Target="/ppt/media/image4.png" Id="Ra26ce7729ef643e6" /><Relationship Type="http://schemas.openxmlformats.org/officeDocument/2006/relationships/notesSlide" Target="/ppt/notesSlides/notesSlide9.xml" Id="R2469a1f12f5849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974226c5e4803" /><Relationship Type="http://schemas.openxmlformats.org/officeDocument/2006/relationships/image" Target="/ppt/media/image5.png" Id="R35d9590e613f4adb" /><Relationship Type="http://schemas.openxmlformats.org/officeDocument/2006/relationships/notesSlide" Target="/ppt/notesSlides/notesSlide10.xml" Id="Re7c39b848efc4b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567b9783846da" /><Relationship Type="http://schemas.openxmlformats.org/officeDocument/2006/relationships/image" Target="/ppt/media/image6.png" Id="R755c39c1ac0043d8" /><Relationship Type="http://schemas.openxmlformats.org/officeDocument/2006/relationships/notesSlide" Target="/ppt/notesSlides/notesSlide11.xml" Id="R097e43a28d1742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2588c7d184382" /><Relationship Type="http://schemas.openxmlformats.org/officeDocument/2006/relationships/notesSlide" Target="/ppt/notesSlides/notesSlide12.xml" Id="Rd83d5ca4642d49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568e51240496a" /><Relationship Type="http://schemas.openxmlformats.org/officeDocument/2006/relationships/image" Target="/ppt/media/image7.png" Id="Reb3c5c8123834d40" /><Relationship Type="http://schemas.openxmlformats.org/officeDocument/2006/relationships/notesSlide" Target="/ppt/notesSlides/notesSlide13.xml" Id="Rea7d2208204f4c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990ca2da2442f" /><Relationship Type="http://schemas.openxmlformats.org/officeDocument/2006/relationships/image" Target="/ppt/media/image8.png" Id="R6c740e1cd88d4e73" /><Relationship Type="http://schemas.openxmlformats.org/officeDocument/2006/relationships/notesSlide" Target="/ppt/notesSlides/notesSlide14.xml" Id="R45f305b7a3694b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784c3f868472c" /><Relationship Type="http://schemas.openxmlformats.org/officeDocument/2006/relationships/image" Target="/ppt/media/image9.png" Id="R7bd4eaf03d2e4251" /><Relationship Type="http://schemas.openxmlformats.org/officeDocument/2006/relationships/notesSlide" Target="/ppt/notesSlides/notesSlide15.xml" Id="Ra0eaa312d4b54e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e621c01a449bb" /><Relationship Type="http://schemas.openxmlformats.org/officeDocument/2006/relationships/notesSlide" Target="/ppt/notesSlides/notesSlide16.xml" Id="Rcba4349ae65e49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F2850D6-626C-4702-B3A5-913242C9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OPERATOR HYPOTHESIS LAB | HYP-MOM SMA FOLLOW-UP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20E502F-6535-4055-A9BE-D12FF5E8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10001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Two clean ideas,</a:t>
            </a:r>
          </a:p>
          <a:p xmlns:a="http://schemas.openxmlformats.org/drawingml/2006/main">
            <a:pPr algn="l">
              <a:buNone/>
              <a:defRPr sz="6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neither earned confirmation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91618E6-EA10-4AA1-A9D9-ECA1B594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53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HYP-MOM-02.3 repaired re-entry | HYP-MOM-03.1 pullback reclaim</a:t>
            </a:r>
          </a:p>
        </p:txBody>
      </p:sp>
    </p:spTree>
    <p:extLst>
      <p:ext uri="{BB962C8B-B14F-4D97-AF65-F5344CB8AC3E}">
        <p14:creationId xmlns:p14="http://schemas.microsoft.com/office/powerpoint/2010/main" val="16259133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9DC0BE-7D7C-438B-A7A5-20C6BCE1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provider limitation changed warm-up—not the hypotheses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9E354D2-2831-41A9-97B5-BEB09D25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E3D82B9-96A4-4AF2-B4F1-1EFBFC07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WHAT ALPACA RETURNED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7C2B1F2-ED44-427B-9B2F-87F26F40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762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114 complete 2016-2020 histories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 incomplete histories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pre-2016 observations after refresh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strategy outcome yet computed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4C0FC27B-CFCD-427C-8FA1-D20FF191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CC8E39E-F8D0-459F-BC1E-17F794F6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71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rPr>
              <a:t>PRE-OUTCOME AMENDMENT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3AA6304-8804-4F58-BBB3-56FE196E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2016-2020 boundary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first 220 sessions as warm-up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 cash on session 221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Change no signal, parent, cost, or gate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41BEB97-ECD4-4DE9-BEEF-2B163AAF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Uniform causal warm-up preserves the question; exclusions remain unreplaced.</a:t>
            </a:r>
          </a:p>
        </p:txBody>
      </p:sp>
    </p:spTree>
    <p:extLst>
      <p:ext uri="{BB962C8B-B14F-4D97-AF65-F5344CB8AC3E}">
        <p14:creationId xmlns:p14="http://schemas.microsoft.com/office/powerpoint/2010/main" val="7604559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AF7DF4-6FAB-47AE-8237-62C39698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Two candidates attack different failure modes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9FFFBB4-A1C4-49DB-A263-E993A392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B48B739-0D0E-4DBC-916A-0FCE83C1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decision uses Close(t); every state change fills at Open(t+1)</a:t>
            </a:r>
          </a:p>
        </p:txBody>
      </p:sp>
      <p:sp>
        <p:nvSpPr>
          <p:cNvPr id="4" name="long">
            <a:extLst xmlns:a="http://schemas.openxmlformats.org/drawingml/2006/main">
              <a:ext uri="{FF2B5EF4-FFF2-40B4-BE49-F238E27FC236}">
                <a16:creationId xmlns:a16="http://schemas.microsoft.com/office/drawing/2014/main" id="{EC69CAE6-8AAD-4FBA-9F38-5A42F1D1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4857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45D2253-738C-4C43-B15B-FFABEA24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HYP-MOM-02.3 | RE-ENTRY REPAIR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31AE6AA-54D4-4AF2-BF94-9FEBE769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Initial qualified SMA200 cross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Exit at/below SMA50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Re-enter on SMA50 reclaim above SMA200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Parent: strict 02.2 composite</a:t>
            </a:r>
          </a:p>
        </p:txBody>
      </p:sp>
      <p:sp>
        <p:nvSpPr>
          <p:cNvPr id="7" name="cash">
            <a:extLst xmlns:a="http://schemas.openxmlformats.org/drawingml/2006/main">
              <a:ext uri="{FF2B5EF4-FFF2-40B4-BE49-F238E27FC236}">
                <a16:creationId xmlns:a16="http://schemas.microsoft.com/office/drawing/2014/main" id="{DF4ED67E-87F9-4CE6-BD51-1F5D02C0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4857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4DBE980-1F7B-4CCF-817A-10B500F6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HYP-MOM-03.1 | PULLBACK RECLAIM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25FCCA3-2F8D-4472-B008-94B724ED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6237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Price above rising SMA200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Enter on SMA50 reclaim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Exit on SMA50 or permission loss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Parent: fresh-cross 02.1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F4BABD4-738B-4AA3-A8DE-07D878B0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Full-capital long-only | 5 / 10 bp per side | 500 exposure-matched circular controls</a:t>
            </a:r>
          </a:p>
        </p:txBody>
      </p:sp>
    </p:spTree>
    <p:extLst>
      <p:ext uri="{BB962C8B-B14F-4D97-AF65-F5344CB8AC3E}">
        <p14:creationId xmlns:p14="http://schemas.microsoft.com/office/powerpoint/2010/main" val="6654714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115DA8-0B49-414F-8EA5-9A3C1C29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Development coverage: 114 complete names across eleven sectors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A0702F4-335F-40B5-968D-FDD0FEEF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df1700ca640f3"/>
          <a:stretch xmlns:a="http://schemas.openxmlformats.org/drawingml/2006/main"/>
        </p:blipFill>
        <p:spPr>
          <a:xfrm xmlns:a="http://schemas.openxmlformats.org/drawingml/2006/main">
            <a:off x="1423988" y="1259681"/>
            <a:ext cx="9344025" cy="46720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0206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115DA8-0B49-414F-8EA5-9A3C1C29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policy made money at the median—but timing controls disagreed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A0702F4-335F-40B5-968D-FDD0FEEF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ac607050c447b"/>
          <a:stretch xmlns:a="http://schemas.openxmlformats.org/drawingml/2006/main"/>
        </p:blipFill>
        <p:spPr>
          <a:xfrm xmlns:a="http://schemas.openxmlformats.org/drawingml/2006/main">
            <a:off x="1423988" y="1259681"/>
            <a:ext cx="9344025" cy="46720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02061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A6F2C5-0CC7-42C4-9022-9DA92B16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02.3 added return and activity—but failed the timing bargain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44C0E72-CD70-442F-9D6D-AEBE9E5B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0D0EC92-420F-4225-9A4B-89834E0A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+3.06 pp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121FA81-C2AD-4EBF-9DC5-1AAFBB19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19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median return change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ACE0D4-36D8-46BF-A408-7B9A807E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versus strict 02.2 parent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B0110C4-F44C-4338-8384-0A89F3A0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rPr>
              <a:t>54.4%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FBA501D-AB05-46C6-BBB6-CA213541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assets improved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121E076-08FE-4819-B497-165DA6AB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338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just below the 55% gate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06A699B-6F49-446B-83C3-94FF4CF1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76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-4.40 pp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F0CD3EF-A914-4DE0-A1B6-DCA83919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19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1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median drawdown change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BCE0E9C-837F-4206-BC72-11AD8BFC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338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worse than parent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A4F7651-3EC4-4FE3-A7DA-05254B5C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76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-11.68 pp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46A4F30-BE1B-4581-96BF-339249E2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19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matched-control excess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79E203C-E445-4C39-9180-2B4626A0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3338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actual timing under shifts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BFB91CC-7BC8-4D0B-B421-4BCE0BDC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Positive in four calendar years | 46.0% max sector contribution share | five gates failed</a:t>
            </a:r>
          </a:p>
        </p:txBody>
      </p:sp>
    </p:spTree>
    <p:extLst>
      <p:ext uri="{BB962C8B-B14F-4D97-AF65-F5344CB8AC3E}">
        <p14:creationId xmlns:p14="http://schemas.microsoft.com/office/powerpoint/2010/main" val="19804733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115DA8-0B49-414F-8EA5-9A3C1C29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frozen conjunction stops both candidates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A0702F4-335F-40B5-968D-FDD0FEEF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1181567b742b3"/>
          <a:stretch xmlns:a="http://schemas.openxmlformats.org/drawingml/2006/main"/>
        </p:blipFill>
        <p:spPr>
          <a:xfrm xmlns:a="http://schemas.openxmlformats.org/drawingml/2006/main">
            <a:off x="1423988" y="1259681"/>
            <a:ext cx="9344025" cy="46720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0206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8D0AD1C-2382-453F-B146-6CAC28A8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HYP-MOM-02.3 PATH AUDIT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3393986-0A74-4753-87AC-8DDD3E18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7637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Re-entry sometimes captures recovery—</a:t>
            </a:r>
          </a:p>
          <a:p xmlns:a="http://schemas.openxmlformats.org/drawingml/2006/main">
            <a:pPr algn="l">
              <a:buNone/>
              <a:def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and sometimes compounds whipsaw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5A15E20-EF6B-40D6-B6F6-5D435617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CVX is near the median; NIO and FCX expose the favorable and adverse tails.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E0504D3-E372-4FC6-9924-4E54F8A4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761502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10C7D0-FC49-4B06-B30D-188DD2AE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CVX: near the median, repaired re-entry modestly helped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B7F8726-F4FD-42B3-89C1-5E3B730E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ce7729ef643e6"/>
          <a:stretch xmlns:a="http://schemas.openxmlformats.org/drawingml/2006/main"/>
        </p:blipFill>
        <p:spPr>
          <a:xfrm xmlns:a="http://schemas.openxmlformats.org/drawingml/2006/main">
            <a:off x="2202656" y="1000125"/>
            <a:ext cx="7786688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5760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10C7D0-FC49-4B06-B30D-188DD2AE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NIO: a huge favorable tail dominates intuition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B7F8726-F4FD-42B3-89C1-5E3B730E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9590e613f4adb"/>
          <a:stretch xmlns:a="http://schemas.openxmlformats.org/drawingml/2006/main"/>
        </p:blipFill>
        <p:spPr>
          <a:xfrm xmlns:a="http://schemas.openxmlformats.org/drawingml/2006/main">
            <a:off x="2202656" y="1000125"/>
            <a:ext cx="7786688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5760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10C7D0-FC49-4B06-B30D-188DD2AE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FCX: repeated repair attempts can deepen losses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B7F8726-F4FD-42B3-89C1-5E3B730E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c39c1ac0043d8"/>
          <a:stretch xmlns:a="http://schemas.openxmlformats.org/drawingml/2006/main"/>
        </p:blipFill>
        <p:spPr>
          <a:xfrm xmlns:a="http://schemas.openxmlformats.org/drawingml/2006/main">
            <a:off x="2202656" y="1000125"/>
            <a:ext cx="7786688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576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8D0AD1C-2382-453F-B146-6CAC28A8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HYP-MOM-03.1 PATH AUDIT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3393986-0A74-4753-87AC-8DDD3E18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7637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rising slow anchor improves defense—</a:t>
            </a:r>
          </a:p>
          <a:p xmlns:a="http://schemas.openxmlformats.org/drawingml/2006/main">
            <a:pPr algn="l">
              <a:buNone/>
              <a:def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but gives up too much participation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5A15E20-EF6B-40D6-B6F6-5D435617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AMGN is near the median; CPRX and PLUG expose the favorable and adverse tails.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E0504D3-E372-4FC6-9924-4E54F8A4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7615022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10C7D0-FC49-4B06-B30D-188DD2AE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AMGN: the median pullback policy sacrificed return for defense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B7F8726-F4FD-42B3-89C1-5E3B730E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c5c8123834d40"/>
          <a:stretch xmlns:a="http://schemas.openxmlformats.org/drawingml/2006/main"/>
        </p:blipFill>
        <p:spPr>
          <a:xfrm xmlns:a="http://schemas.openxmlformats.org/drawingml/2006/main">
            <a:off x="2202656" y="1000125"/>
            <a:ext cx="7786688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5760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10C7D0-FC49-4B06-B30D-188DD2AE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CPRX: the setup can capture a clean trend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B7F8726-F4FD-42B3-89C1-5E3B730E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40e1cd88d4e73"/>
          <a:stretch xmlns:a="http://schemas.openxmlformats.org/drawingml/2006/main"/>
        </p:blipFill>
        <p:spPr>
          <a:xfrm xmlns:a="http://schemas.openxmlformats.org/drawingml/2006/main">
            <a:off x="2202656" y="1000125"/>
            <a:ext cx="7786688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5760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10C7D0-FC49-4B06-B30D-188DD2AE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PLUG: defensive timing still missed the explosive path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B7F8726-F4FD-42B3-89C1-5E3B730E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4eaf03d2e4251"/>
          <a:stretch xmlns:a="http://schemas.openxmlformats.org/drawingml/2006/main"/>
        </p:blipFill>
        <p:spPr>
          <a:xfrm xmlns:a="http://schemas.openxmlformats.org/drawingml/2006/main">
            <a:off x="2202656" y="1000125"/>
            <a:ext cx="7786688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5760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9DC0BE-7D7C-438B-A7A5-20C6BCE1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series ends at development: no nominee, no confirmation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9E354D2-2831-41A9-97B5-BEB09D25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E3D82B9-96A4-4AF2-B4F1-1EFBFC07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WHAT THE STUDY SUPPORTS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7C2B1F2-ED44-427B-9B2F-87F26F40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762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Fast exits can reduce drawdown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Re-entry raises participation and risk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Rising-anchor permission is defensive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Matched exposure is an essential control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4C0FC27B-CFCD-427C-8FA1-D20FF191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CC8E39E-F8D0-459F-BC1E-17F794F6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71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rPr>
              <a:t>STOP STATE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3AA6304-8804-4F58-BBB3-56FE196E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Neither candidate cleared all gates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Context atlas not run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2024-2025 not queried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2026+ remains sealed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41BEB97-ECD4-4DE9-BEEF-2B163AAF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 future lane needs a new causal idea—not softer gates for these two policies.</a:t>
            </a:r>
          </a:p>
        </p:txBody>
      </p:sp>
    </p:spTree>
    <p:extLst>
      <p:ext uri="{BB962C8B-B14F-4D97-AF65-F5344CB8AC3E}">
        <p14:creationId xmlns:p14="http://schemas.microsoft.com/office/powerpoint/2010/main" val="760455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2026-08-10T10:49:48.0790000Z</dcterms:created>
  <dcterms:modified xsi:type="dcterms:W3CDTF">2026-08-10T10:49:48.0790000Z</dcterms:modified>
</coreProperties>
</file>