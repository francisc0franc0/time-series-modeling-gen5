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2d8ee5610041f3" /><Relationship Type="http://schemas.openxmlformats.org/officeDocument/2006/relationships/extended-properties" Target="/docProps/app.xml" Id="Rf4d4a11b508b43b5" /><Relationship Type="http://schemas.openxmlformats.org/officeDocument/2006/relationships/officeDocument" Target="/ppt/presentation.xml" Id="R68ecf021394644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1f06f6daad4e26"/>
  </p:sldMasterIdLst>
  <p:notesMasterIdLst>
    <p:notesMasterId xmlns:r="http://schemas.openxmlformats.org/officeDocument/2006/relationships" r:id="R14b7a05f55ce4d5f"/>
  </p:notesMasterIdLst>
  <p:sldIdLst>
    <p:sldId xmlns:r="http://schemas.openxmlformats.org/officeDocument/2006/relationships" id="256" r:id="Rfc33a3ca27154193"/>
    <p:sldId xmlns:r="http://schemas.openxmlformats.org/officeDocument/2006/relationships" id="257" r:id="R0d2fb5db3f844f50"/>
    <p:sldId xmlns:r="http://schemas.openxmlformats.org/officeDocument/2006/relationships" id="258" r:id="R1bea56f16d724a8c"/>
    <p:sldId xmlns:r="http://schemas.openxmlformats.org/officeDocument/2006/relationships" id="259" r:id="R02690aace4eb4dde"/>
    <p:sldId xmlns:r="http://schemas.openxmlformats.org/officeDocument/2006/relationships" id="260" r:id="R8ebe50373f7c45f5"/>
    <p:sldId xmlns:r="http://schemas.openxmlformats.org/officeDocument/2006/relationships" id="261" r:id="Rf5ed380929584137"/>
    <p:sldId xmlns:r="http://schemas.openxmlformats.org/officeDocument/2006/relationships" id="262" r:id="Rdfd2b58d09034842"/>
    <p:sldId xmlns:r="http://schemas.openxmlformats.org/officeDocument/2006/relationships" id="263" r:id="Rbc69b75e57124ff6"/>
    <p:sldId xmlns:r="http://schemas.openxmlformats.org/officeDocument/2006/relationships" id="264" r:id="Reb4c3149d724496b"/>
    <p:sldId xmlns:r="http://schemas.openxmlformats.org/officeDocument/2006/relationships" id="265" r:id="R5dc83380b7354f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60a628162f484a" /><Relationship Type="http://schemas.openxmlformats.org/officeDocument/2006/relationships/slideMaster" Target="/ppt/slideMasters/slideMaster1.xml" Id="R711f06f6daad4e26" /><Relationship Type="http://schemas.openxmlformats.org/officeDocument/2006/relationships/notesMaster" Target="/ppt/notesMasters/notesMaster1.xml" Id="R14b7a05f55ce4d5f" /><Relationship Type="http://schemas.openxmlformats.org/officeDocument/2006/relationships/presProps" Target="/ppt/presProps.xml" Id="R6f6a327bb3a04d42" /><Relationship Type="http://schemas.openxmlformats.org/officeDocument/2006/relationships/tableStyles" Target="/ppt/tableStyles.xml" Id="Ra997f0ecd6e743e9" /><Relationship Type="http://schemas.openxmlformats.org/officeDocument/2006/relationships/slide" Target="/ppt/slides/slide1.xml" Id="Rfc33a3ca27154193" /><Relationship Type="http://schemas.openxmlformats.org/officeDocument/2006/relationships/slide" Target="/ppt/slides/slide2.xml" Id="R0d2fb5db3f844f50" /><Relationship Type="http://schemas.openxmlformats.org/officeDocument/2006/relationships/slide" Target="/ppt/slides/slide3.xml" Id="R1bea56f16d724a8c" /><Relationship Type="http://schemas.openxmlformats.org/officeDocument/2006/relationships/slide" Target="/ppt/slides/slide4.xml" Id="R02690aace4eb4dde" /><Relationship Type="http://schemas.openxmlformats.org/officeDocument/2006/relationships/slide" Target="/ppt/slides/slide5.xml" Id="R8ebe50373f7c45f5" /><Relationship Type="http://schemas.openxmlformats.org/officeDocument/2006/relationships/slide" Target="/ppt/slides/slide6.xml" Id="Rf5ed380929584137" /><Relationship Type="http://schemas.openxmlformats.org/officeDocument/2006/relationships/slide" Target="/ppt/slides/slide7.xml" Id="Rdfd2b58d09034842" /><Relationship Type="http://schemas.openxmlformats.org/officeDocument/2006/relationships/slide" Target="/ppt/slides/slide8.xml" Id="Rbc69b75e57124ff6" /><Relationship Type="http://schemas.openxmlformats.org/officeDocument/2006/relationships/slide" Target="/ppt/slides/slide9.xml" Id="Reb4c3149d724496b" /><Relationship Type="http://schemas.openxmlformats.org/officeDocument/2006/relationships/slide" Target="/ppt/slides/slide10.xml" Id="R5dc83380b7354f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e21e488c3e47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e24a7d575b4051" /><Relationship Type="http://schemas.openxmlformats.org/officeDocument/2006/relationships/notesMaster" Target="/ppt/notesMasters/notesMaster1.xml" Id="R0f33b463538a46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defd8ff7414552" /><Relationship Type="http://schemas.openxmlformats.org/officeDocument/2006/relationships/notesMaster" Target="/ppt/notesMasters/notesMaster1.xml" Id="Rf7777933fe4946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6d0d1f26a74544" /><Relationship Type="http://schemas.openxmlformats.org/officeDocument/2006/relationships/notesMaster" Target="/ppt/notesMasters/notesMaster1.xml" Id="Rf7cb5ec6fdbd49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02e6566ff24db9" /><Relationship Type="http://schemas.openxmlformats.org/officeDocument/2006/relationships/notesMaster" Target="/ppt/notesMasters/notesMaster1.xml" Id="R913d8668047644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e6c77e03ce4f1b" /><Relationship Type="http://schemas.openxmlformats.org/officeDocument/2006/relationships/notesMaster" Target="/ppt/notesMasters/notesMaster1.xml" Id="Rdbed06d5e5da49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472723b5b04fb5" /><Relationship Type="http://schemas.openxmlformats.org/officeDocument/2006/relationships/notesMaster" Target="/ppt/notesMasters/notesMaster1.xml" Id="Rafcb6f18cd8248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5365b513ea4245" /><Relationship Type="http://schemas.openxmlformats.org/officeDocument/2006/relationships/notesMaster" Target="/ppt/notesMasters/notesMaster1.xml" Id="R7ccdb37ad01048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03e61ecd9c41f4" /><Relationship Type="http://schemas.openxmlformats.org/officeDocument/2006/relationships/notesMaster" Target="/ppt/notesMasters/notesMaster1.xml" Id="R806bf34681b84e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6555be0b4a4841" /><Relationship Type="http://schemas.openxmlformats.org/officeDocument/2006/relationships/notesMaster" Target="/ppt/notesMasters/notesMaster1.xml" Id="R1c7ce8d4106c40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8341fd08dd47eb" /><Relationship Type="http://schemas.openxmlformats.org/officeDocument/2006/relationships/notesMaster" Target="/ppt/notesMasters/notesMaster1.xml" Id="Rf1860704fb3e48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connects directly to H04.2. The purpose is to determine whether the outcome definition mixed stock selection with sector and beta exposure—not to rescue the failed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operator_hypothesis_lab/docs/HYP_MOM_04_3A_TARGET_STRUCTURE_AUDIT_CONTRACT.md</a:t>
            </a:r>
          </a:p>
          <a:p xmlns:a="http://schemas.openxmlformats.org/drawingml/2006/main">
            <a:r>
              <a:t>- operator_hypothesis_lab/docs/HYP_MOM_04_3A_TARGET_STRUCTURE_AUDIT_RESULTS.md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causal sequence matters: H04.2 failed first. Only then did we open a new diagnostic lane to change the target question. We are not refitting H04.2 after seeing these plots.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operator_hypothesis_lab/docs/HYP_MOM_04_2_FEATURE_ATLAS_RESULTS.md</a:t>
            </a:r>
          </a:p>
          <a:p xmlns:a="http://schemas.openxmlformats.org/drawingml/2006/main">
            <a:r>
              <a:t>- operator_hypothesis_lab/docs/HYP_MOM_04_3A_TARGET_STRUCTURE_AUDIT_CONTRACT.md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Universe-relative is the actual H04.2 implementation. Earlier conversational shorthand called it SPY-relative. Subtracting SPY would preserve ranks but would change the numerical excess-return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operator_hypothesis_lab/docs/HYP_MOM_04_3A_TARGET_STRUCTURE_AUDIT_CONTRACT.md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quarter-specific cross-sectional decomposition, not a forecast. The 2020Q3 spike matters because H04.2's selected model suffered its sharpest outer reversal in that same quarter.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runs/research_workbench/operator_hypothesis_lab/hyp_mom_04_3a_target_structure_audit_20260811/hyp_mom_04_3a_return_decomposition_by_quarter.csv</a:t>
            </a:r>
          </a:p>
          <a:p xmlns:a="http://schemas.openxmlformats.org/drawingml/2006/main">
            <a:r>
              <a:t>- operator_hypothesis_lab/docs/HYP_MOM_04_2_FEATURE_ATLAS_RESULTS.md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Jaccard overlap compares the identities in each realized top quartile. A 0.657 overlap means the target is not merely relabeling the same winners.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runs/research_workbench/operator_hypothesis_lab/hyp_mom_04_3a_target_structure_audit_20260811/hyp_mom_04_3a_target_agreement_by_quarter.csv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realized target top quartiles, not model-selected portfolios. The result shows what the target definition itself does to sector composition.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runs/research_workbench/operator_hypothesis_lab/hyp_mom_04_3a_target_structure_audit_20260811/hyp_mom_04_3a_sector_concentration_by_quarter.csv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Spearman IC does not become exactly zero after OLS beta residualization because OLS enforces linear Pearson orthogonality, not rank orthogonality. The sign and magnitude changes remain informative.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runs/research_workbench/operator_hypothesis_lab/hyp_mom_04_3a_target_structure_audit_20260811/hyp_mom_04_3a_feature_ic_summary.csv</a:t>
            </a:r>
          </a:p>
          <a:p xmlns:a="http://schemas.openxmlformats.org/drawingml/2006/main">
            <a:r>
              <a:t>- runs/research_workbench/operator_hypothesis_lab/hyp_mom_04_3a_target_structure_audit_20260811/hyp_mom_04_3a_baseline_ic_summary.csv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audit predeclared all 33 features and all three targets. It does not promote the largest shift; it shows that target engineering can become another form of data mining if target and feature selection happen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runs/research_workbench/operator_hypothesis_lab/hyp_mom_04_3a_target_structure_audit_20260811/hyp_mom_04_3a_feature_ic_summary.csv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Sector and beta removal shrink cross-sectional scale modestly. They do not solve outliers, regime instability, or the small number of independent quarters.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runs/research_workbench/operator_hypothesis_lab/hyp_mom_04_3a_target_structure_audit_20260811/hyp_mom_04_3a_target_scale_summary.csv</a:t>
            </a:r>
          </a:p>
          <a:p xmlns:a="http://schemas.openxmlformats.org/drawingml/2006/main">
            <a:r>
              <a:t>- runs/research_workbench/operator_hypothesis_lab/hyp_mom_04_3a_target_structure_audit_20260811/hyp_mom_04_3a_target_scale_by_quarter.csv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is TARGET_AUDIT_COMPLETE_SELECTION_NOT_FROZEN. The recommended next conversation is whether sector-relative return matches the intended economic objective and what new time evidence can support a future model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operator_hypothesis_lab/docs/HYP_MOM_04_3A_TARGET_STRUCTURE_AUDIT_RESULTS.md</a:t>
            </a:r>
          </a:p>
          <a:p xmlns:a="http://schemas.openxmlformats.org/drawingml/2006/main">
            <a:r>
              <a:t>- operator_hypothesis_lab/docs/HYP_MOM_04_3A_TARGET_STRUCTURE_AUDIT_CONTRACT.md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32b6fec394b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a3aab326554c4e" /><Relationship Type="http://schemas.openxmlformats.org/officeDocument/2006/relationships/slideLayout" Target="/ppt/slideLayouts/slideLayout1.xml" Id="R3845bb9348bb4c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45bb9348bb4c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db948351b4f01" /><Relationship Type="http://schemas.openxmlformats.org/officeDocument/2006/relationships/notesSlide" Target="/ppt/notesSlides/notesSlide1.xml" Id="R35d5edf2d64141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e7287d93446fb" /><Relationship Type="http://schemas.openxmlformats.org/officeDocument/2006/relationships/image" Target="/ppt/media/image.png" Id="R88750156c13d4d9e" /><Relationship Type="http://schemas.openxmlformats.org/officeDocument/2006/relationships/notesSlide" Target="/ppt/notesSlides/notesSlide2.xml" Id="R72f8032319c24e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cd72444fb41df" /><Relationship Type="http://schemas.openxmlformats.org/officeDocument/2006/relationships/notesSlide" Target="/ppt/notesSlides/notesSlide3.xml" Id="R182bf15e266e43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22e1e104e4774" /><Relationship Type="http://schemas.openxmlformats.org/officeDocument/2006/relationships/image" Target="/ppt/media/image2.png" Id="Ree617ca2da0e403f" /><Relationship Type="http://schemas.openxmlformats.org/officeDocument/2006/relationships/notesSlide" Target="/ppt/notesSlides/notesSlide4.xml" Id="Rfa10980bb78e4f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956723f2f482a" /><Relationship Type="http://schemas.openxmlformats.org/officeDocument/2006/relationships/image" Target="/ppt/media/image3.png" Id="R1b4b7264b27e45df" /><Relationship Type="http://schemas.openxmlformats.org/officeDocument/2006/relationships/notesSlide" Target="/ppt/notesSlides/notesSlide5.xml" Id="R06fe6d7ae20546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550ec4818417e" /><Relationship Type="http://schemas.openxmlformats.org/officeDocument/2006/relationships/image" Target="/ppt/media/image4.png" Id="R81870a1fd0bb4cd4" /><Relationship Type="http://schemas.openxmlformats.org/officeDocument/2006/relationships/notesSlide" Target="/ppt/notesSlides/notesSlide6.xml" Id="Rc687886631ca42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65b8d6d824e9a" /><Relationship Type="http://schemas.openxmlformats.org/officeDocument/2006/relationships/image" Target="/ppt/media/image5.png" Id="R7b0cdf1408814dd1" /><Relationship Type="http://schemas.openxmlformats.org/officeDocument/2006/relationships/notesSlide" Target="/ppt/notesSlides/notesSlide7.xml" Id="Rd731117e16214c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6539f4438400b" /><Relationship Type="http://schemas.openxmlformats.org/officeDocument/2006/relationships/image" Target="/ppt/media/image6.png" Id="Re513a47807cd4ae9" /><Relationship Type="http://schemas.openxmlformats.org/officeDocument/2006/relationships/notesSlide" Target="/ppt/notesSlides/notesSlide8.xml" Id="R81db988a6efd4a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7ae5d1ccd480f" /><Relationship Type="http://schemas.openxmlformats.org/officeDocument/2006/relationships/image" Target="/ppt/media/image7.png" Id="Ra7b2cccc6ec34a72" /><Relationship Type="http://schemas.openxmlformats.org/officeDocument/2006/relationships/notesSlide" Target="/ppt/notesSlides/notesSlide9.xml" Id="R61c71707069d4d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7032d0bc64c1e" /><Relationship Type="http://schemas.openxmlformats.org/officeDocument/2006/relationships/notesSlide" Target="/ppt/notesSlides/notesSlide10.xml" Id="R2e4d064ff2f841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100FA-060C-4E0D-8CE3-2A3B93CB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OPERATOR HYPOTHESIS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CB993-BDD6-44AB-BD42-6AD43071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HYP-MOM-04.3A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89819-3B72-42A2-A1EF-08FD4376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Audit the target</a:t>
            </a:r>
          </a:p>
          <a:p xmlns:a="http://schemas.openxmlformats.org/drawingml/2006/main">
            <a:pPr algn="l"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before adding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3D392-B3F3-4D4E-8595-0EE51852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5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TRAIN-only target structure audit • 481 stocks • 15 quarters • no 2021+ access</a:t>
            </a:r>
          </a:p>
        </p:txBody>
      </p:sp>
    </p:spTree>
    <p:extLst>
      <p:ext uri="{BB962C8B-B14F-4D97-AF65-F5344CB8AC3E}">
        <p14:creationId xmlns:p14="http://schemas.microsoft.com/office/powerpoint/2010/main" val="1333232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AE187-2822-41F8-AC7C-98BEC8C3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H04.2 exposed instability; H04.3A asks what the model was predicting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CAF48-4417-4073-AC3B-EF8243D6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8EBD9-AC7E-410C-94BA-30CB7CF6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feature atlas failed temporal transport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C9610-593C-481F-AA1B-6F3A8570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Mean nested outer IC: −0.107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Full-search p-value: 1.000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Risk features looked attractive only in pooled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57446-6859-41E1-BC44-1BF7C017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B983F-D0C3-4B43-989A-06B40F45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New question</a:t>
            </a:r>
          </a:p>
          <a:p xmlns:a="http://schemas.openxmlformats.org/drawingml/2006/main">
            <a:pPr algn="l">
              <a:defRPr sz="18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Did the target reward sector leadership and beta exposure rather than stock-specific strength?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50156c13d4d9e"/>
          <a:stretch xmlns:a="http://schemas.openxmlformats.org/drawingml/2006/main"/>
        </p:blipFill>
        <p:spPr>
          <a:xfrm xmlns:a="http://schemas.openxmlformats.org/drawingml/2006/main">
            <a:off x="5810250" y="1963964"/>
            <a:ext cx="5810250" cy="35968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75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E62CD-A863-421F-AC93-EE9FACCA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target answers a different economic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FCB71-81B1-4B74-8C7B-F90DF736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09A07-4DDF-4A8E-A048-C0A5EE22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23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56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A5560"/>
                </a:solidFill>
                <a:latin typeface="Arial"/>
                <a:ea typeface="Arial"/>
                <a:cs typeface="Arial"/>
              </a:rPr>
              <a:t>Let Rᵢ be stock i's next-quarter return and βᵢ its causal 126-session beta at the signal date.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EE303-89C5-44F0-A666-FAEEDA06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24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AB734-EACD-456F-BDDF-923AE4C8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05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UNIVERSE RELATIVE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CC3BE-EA31-48C2-B403-78E24040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105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yᵢ = Rᵢ − mean(R)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9757E-193D-409F-AF58-4605BE18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Who beat the eligible universe?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18C9F-9DA4-4B6B-98AB-4A1E58B4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24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2AA87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20C4C-6B53-4737-9C86-72ED6760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3105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SECTOR RELATIVE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D1185-3757-481C-9CD4-7BA44333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3105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yᵢ = Rᵢ − mean(R | sector)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25000-EAF3-4456-889E-FFB3737E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5770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Who beat same-sector peers?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2878D-A557-4570-B7EA-7B3C573C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24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7"/>
          </a:solidFill>
          <a:ln xmlns:a="http://schemas.openxmlformats.org/drawingml/2006/main" w="9525">
            <a:solidFill>
              <a:srgbClr val="7A519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6DACC-97A9-4A50-8B3D-959AD7E1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05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SECTOR + BETA RESIDUAL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67CA8-A441-46C0-816A-76FA299F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3105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Rᵢ = αsector + γβᵢ + εᵢ</a:t>
            </a:r>
          </a:p>
          <a:p xmlns:a="http://schemas.openxmlformats.org/drawingml/2006/main">
            <a:pPr algn="l">
              <a:defRPr sz="1875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yᵢ = εᵢ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580D9-E361-4712-924F-D5E5D31A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5770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Who beat what sector and beta imply?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1C846-B395-49F9-88DF-A6C9AB9D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residual target removes more variation—but that does not automatically make it the better investment objective.</a:t>
            </a:r>
          </a:p>
        </p:txBody>
      </p:sp>
    </p:spTree>
    <p:extLst>
      <p:ext uri="{BB962C8B-B14F-4D97-AF65-F5344CB8AC3E}">
        <p14:creationId xmlns:p14="http://schemas.microsoft.com/office/powerpoint/2010/main" val="19798043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8F154-F41F-4AEF-83D2-4C34677D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Sector and beta explain 21% on average—and 46% in H04.2's worst quarter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A2DE0-2E10-47F3-9ABA-D1E5A2B1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17ca2da0e403f"/>
          <a:stretch xmlns:a="http://schemas.openxmlformats.org/drawingml/2006/main"/>
        </p:blipFill>
        <p:spPr>
          <a:xfrm xmlns:a="http://schemas.openxmlformats.org/drawingml/2006/main">
            <a:off x="400050" y="1404938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36167-3AC9-4147-825E-1839BBA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4C85F-7AC8-4F41-8B06-8BEF1299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AA87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AA876"/>
                </a:solidFill>
                <a:latin typeface="Arial"/>
                <a:ea typeface="Arial"/>
                <a:cs typeface="Arial"/>
              </a:rPr>
              <a:t>16.7%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57FFB-FE58-46B9-97A4-15B2A0A7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sector-only R²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AF09D-298A-44D1-BD1D-B7CA6BDD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1875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DC81B-1C42-47FB-AE4F-CDF9543D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B4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B4A"/>
                </a:solidFill>
                <a:latin typeface="Arial"/>
                <a:ea typeface="Arial"/>
                <a:cs typeface="Arial"/>
              </a:rPr>
              <a:t>46.2%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9FB9F-1F02-4A75-9D69-872CA50D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sector + beta R² in 2020Q3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(beta alone: 42.0%)</a:t>
            </a:r>
          </a:p>
        </p:txBody>
      </p:sp>
    </p:spTree>
    <p:extLst>
      <p:ext uri="{BB962C8B-B14F-4D97-AF65-F5344CB8AC3E}">
        <p14:creationId xmlns:p14="http://schemas.microsoft.com/office/powerpoint/2010/main" val="1801103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E059A-BF9F-4F8C-962C-514C5BD2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Sector neutralization changes roughly one-third of the realized winner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90254-C60A-4DEC-8407-213FA241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b7264b27e45df"/>
          <a:stretch xmlns:a="http://schemas.openxmlformats.org/drawingml/2006/main"/>
        </p:blipFill>
        <p:spPr>
          <a:xfrm xmlns:a="http://schemas.openxmlformats.org/drawingml/2006/main">
            <a:off x="400050" y="1420997"/>
            <a:ext cx="7429500" cy="449225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53D75-1008-4657-A9BD-3353046F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Universe → sector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A1B45-49A5-42D4-AE84-BDE94CB4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AA8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AA876"/>
                </a:solidFill>
                <a:latin typeface="Arial"/>
                <a:ea typeface="Arial"/>
                <a:cs typeface="Arial"/>
              </a:rPr>
              <a:t>0.887 rank correlation</a:t>
            </a:r>
          </a:p>
          <a:p xmlns:a="http://schemas.openxmlformats.org/drawingml/2006/main">
            <a:pPr algn="l">
              <a:defRPr sz="2100" b="0">
                <a:solidFill>
                  <a:srgbClr val="2AA8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AA876"/>
                </a:solidFill>
                <a:latin typeface="Arial"/>
                <a:ea typeface="Arial"/>
                <a:cs typeface="Arial"/>
              </a:rPr>
              <a:t>0.657 top-quartile overlap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B2626-9649-4CA3-AB06-1404B9BC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Sector → residual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D2F5A-EFF9-42DE-A457-BD38C59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A519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A5195"/>
                </a:solidFill>
                <a:latin typeface="Arial"/>
                <a:ea typeface="Arial"/>
                <a:cs typeface="Arial"/>
              </a:rPr>
              <a:t>0.960 rank correlation</a:t>
            </a:r>
          </a:p>
          <a:p xmlns:a="http://schemas.openxmlformats.org/drawingml/2006/main">
            <a:pPr algn="l">
              <a:defRPr sz="2100" b="0">
                <a:solidFill>
                  <a:srgbClr val="7A519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A5195"/>
                </a:solidFill>
                <a:latin typeface="Arial"/>
                <a:ea typeface="Arial"/>
                <a:cs typeface="Arial"/>
              </a:rPr>
              <a:t>0.823 top-quartile overlap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74F51-5160-4E74-9FA6-DCA81B2F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340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Residualization usually adds less reordering—but 2020Q3 is the exception.</a:t>
            </a:r>
          </a:p>
        </p:txBody>
      </p:sp>
    </p:spTree>
    <p:extLst>
      <p:ext uri="{BB962C8B-B14F-4D97-AF65-F5344CB8AC3E}">
        <p14:creationId xmlns:p14="http://schemas.microsoft.com/office/powerpoint/2010/main" val="6598700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D4561-5094-4630-9D4E-ABFE3BFA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Sector-relative target reduces concentration without beta modeling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2F807-F7D6-4559-9032-C19B23AA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70a1fd0bb4cd4"/>
          <a:stretch xmlns:a="http://schemas.openxmlformats.org/drawingml/2006/main"/>
        </p:blipFill>
        <p:spPr>
          <a:xfrm xmlns:a="http://schemas.openxmlformats.org/drawingml/2006/main">
            <a:off x="495300" y="123825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21560-00F2-4017-B0C2-E4A05342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28507-03EE-4C59-9B0F-711B394D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573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22.7%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CD86F-CE66-410B-94D9-591B0720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universe-relative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96767-DA2A-46A0-9EEA-18B5B8C2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2AA87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EAD52-CEC7-4F26-A0A1-EB271FEA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AA87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AA876"/>
                </a:solidFill>
                <a:latin typeface="Arial"/>
                <a:ea typeface="Arial"/>
                <a:cs typeface="Arial"/>
              </a:rPr>
              <a:t>16.7%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3D468-3191-41F1-BE37-F982AA8E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291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sector-relative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210C8-F9F7-4459-9D03-B7F522B1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81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519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195"/>
                </a:solidFill>
                <a:latin typeface="Arial"/>
                <a:ea typeface="Arial"/>
                <a:cs typeface="Arial"/>
              </a:rPr>
              <a:t>Residual target: 16.9%</a:t>
            </a:r>
          </a:p>
        </p:txBody>
      </p:sp>
    </p:spTree>
    <p:extLst>
      <p:ext uri="{BB962C8B-B14F-4D97-AF65-F5344CB8AC3E}">
        <p14:creationId xmlns:p14="http://schemas.microsoft.com/office/powerpoint/2010/main" val="20025357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121126-BDC4-4863-8D5E-1616ABC9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strongest pooled H04.2 risk signals weaken after neutralization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DB30D-2F80-4B5D-A168-2DD988D6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cdf1408814dd1"/>
          <a:stretch xmlns:a="http://schemas.openxmlformats.org/drawingml/2006/main"/>
        </p:blipFill>
        <p:spPr>
          <a:xfrm xmlns:a="http://schemas.openxmlformats.org/drawingml/2006/main">
            <a:off x="400050" y="1824491"/>
            <a:ext cx="6191250" cy="368526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1B441-420D-4FCF-9D97-06C20423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763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 quarterly feature 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54B17-D143-416C-9ECD-0D6F80BB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431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1957F-B2A5-473A-B464-14604EC8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431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Univ.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93F35-58FB-48E2-AA25-D0934463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431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F96DA-A39A-4632-BC30-DCCDE53D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4312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11BE3-D381-4AEF-B94B-9F5A3F52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24125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22471-DA23-49CF-B9C4-E6DA2FBD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9375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Beta 126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8BC0E-06E1-4DF4-B02E-0110FFDC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1937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7D9A"/>
                </a:solidFill>
                <a:latin typeface="Arial"/>
                <a:ea typeface="Arial"/>
                <a:cs typeface="Arial"/>
              </a:rPr>
              <a:t>+0.061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BF231-93CF-4F25-AAEC-A87759E6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1937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A8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AA876"/>
                </a:solidFill>
                <a:latin typeface="Arial"/>
                <a:ea typeface="Arial"/>
                <a:cs typeface="Arial"/>
              </a:rPr>
              <a:t>+0.025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8DF03-850C-4131-B3A0-A1C32199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193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A519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A5195"/>
                </a:solidFill>
                <a:latin typeface="Arial"/>
                <a:ea typeface="Arial"/>
                <a:cs typeface="Arial"/>
              </a:rPr>
              <a:t>−0.012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5DE8A-EBBA-4F7A-A702-1F1F1A16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B2E44-0565-46EB-A4C7-ADF9B3F4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RV 126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EEE36-7653-4E7D-8552-758FEA59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8137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7D9A"/>
                </a:solidFill>
                <a:latin typeface="Arial"/>
                <a:ea typeface="Arial"/>
                <a:cs typeface="Arial"/>
              </a:rPr>
              <a:t>+0.051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97729-6AE0-4E51-AAF7-21C26C87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8137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A8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AA876"/>
                </a:solidFill>
                <a:latin typeface="Arial"/>
                <a:ea typeface="Arial"/>
                <a:cs typeface="Arial"/>
              </a:rPr>
              <a:t>+0.022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40D48-75C7-4FBF-A883-80ADB1CC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813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A519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A5195"/>
                </a:solidFill>
                <a:latin typeface="Arial"/>
                <a:ea typeface="Arial"/>
                <a:cs typeface="Arial"/>
              </a:rPr>
              <a:t>−0.016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55A24-2E0E-4230-8E55-82CE533F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48125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B3AF3-4C3C-40B6-A64E-4C6E86E1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43375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Downside vol 63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33130-842B-4EE4-B8D5-B7EEB563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4337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7D9A"/>
                </a:solidFill>
                <a:latin typeface="Arial"/>
                <a:ea typeface="Arial"/>
                <a:cs typeface="Arial"/>
              </a:rPr>
              <a:t>+0.042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4A92DE-9415-4863-9514-39F3AF1D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43375"/>
            <a:ext cx="83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A8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AA876"/>
                </a:solidFill>
                <a:latin typeface="Arial"/>
                <a:ea typeface="Arial"/>
                <a:cs typeface="Arial"/>
              </a:rPr>
              <a:t>+0.013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986C9-BEAA-437C-84AE-17EEB18D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4337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A519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A5195"/>
                </a:solidFill>
                <a:latin typeface="Arial"/>
                <a:ea typeface="Arial"/>
                <a:cs typeface="Arial"/>
              </a:rPr>
              <a:t>−0.021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874EBD-0D30-4704-B754-5A2E9CDF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43500"/>
            <a:ext cx="4381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Interpretation: part of the apparent ‘alpha’ was rewarded exposure. Neutralization is diagnosis, not proof of a new signal.</a:t>
            </a:r>
          </a:p>
        </p:txBody>
      </p:sp>
    </p:spTree>
    <p:extLst>
      <p:ext uri="{BB962C8B-B14F-4D97-AF65-F5344CB8AC3E}">
        <p14:creationId xmlns:p14="http://schemas.microsoft.com/office/powerpoint/2010/main" val="16384218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4A960-3445-45CC-8D1F-EBAB763E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choice can reverse a feature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308AA-F16C-4B33-B144-AD307127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3a47807cd4ae9"/>
          <a:stretch xmlns:a="http://schemas.openxmlformats.org/drawingml/2006/main"/>
        </p:blipFill>
        <p:spPr>
          <a:xfrm xmlns:a="http://schemas.openxmlformats.org/drawingml/2006/main">
            <a:off x="458665" y="1238250"/>
            <a:ext cx="7693269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CD66D-C1FD-4FCE-AEEC-1B8A8ADE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7"/>
          </a:solidFill>
          <a:ln xmlns:a="http://schemas.openxmlformats.org/drawingml/2006/main" w="9525">
            <a:solidFill>
              <a:srgbClr val="7A51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AE1BD-79FB-4A64-9FAE-73B0E555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Largest shift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6A3C6-0654-48CD-8809-18D192BA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A519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A5195"/>
                </a:solidFill>
                <a:latin typeface="Arial"/>
                <a:ea typeface="Arial"/>
                <a:cs typeface="Arial"/>
              </a:rPr>
              <a:t>0.0715 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EFDDD-69C0-4111-BCE4-BC7F0EB3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momentum acceleration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−0.0495 → +0.0220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C5D8E-6691-41C5-8DF2-B72A8A7F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is a warning against choosing the target that flatters a preferred feature.</a:t>
            </a:r>
          </a:p>
        </p:txBody>
      </p:sp>
    </p:spTree>
    <p:extLst>
      <p:ext uri="{BB962C8B-B14F-4D97-AF65-F5344CB8AC3E}">
        <p14:creationId xmlns:p14="http://schemas.microsoft.com/office/powerpoint/2010/main" val="2147114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28B9B-52F7-44D7-B834-C619ECC1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Neutralization reduces dispersion, but it does not remove tail dependence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88AAB-CF79-4053-AD1A-ACD7743D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2cccc6ec34a72"/>
          <a:stretch xmlns:a="http://schemas.openxmlformats.org/drawingml/2006/main"/>
        </p:blipFill>
        <p:spPr>
          <a:xfrm xmlns:a="http://schemas.openxmlformats.org/drawingml/2006/main">
            <a:off x="400050" y="1260929"/>
            <a:ext cx="7620000" cy="471714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F55B5-5654-4E3B-8D64-4D2D8045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 quarterly SD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02DA2-4536-49E8-A254-BC1D8E2E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12.69%  Universe</a:t>
            </a:r>
          </a:p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11.49%  Sector</a:t>
            </a:r>
          </a:p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11.05%  Residual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D5318-DA97-4611-AAA5-AD60E4A5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5287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Top 1% of names still contribute about 5.2%–5.4% of absolute target magnitude.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E2BF1-B5BB-4EE1-BD05-ADE18E26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2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Cleaner ≠ noise-free</a:t>
            </a:r>
          </a:p>
        </p:txBody>
      </p:sp>
    </p:spTree>
    <p:extLst>
      <p:ext uri="{BB962C8B-B14F-4D97-AF65-F5344CB8AC3E}">
        <p14:creationId xmlns:p14="http://schemas.microsoft.com/office/powerpoint/2010/main" val="7112382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54940-5E0F-4910-995A-7A9C04F5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Recommend sector-relative for the next discussion—not yet for OOS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191D8-0A5B-41E0-B636-50980A16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7E4D0-2951-40E2-8C55-08073595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 best balances economic clarity, confound removal, and auditability. Beta residualization remains a challenger for regime diagnosis.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6AFCB-A60B-4FE4-B1BF-73297D02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524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C26FC-545D-470F-85A6-C9E20233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AA87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AA876"/>
                </a:solidFill>
                <a:latin typeface="Arial"/>
                <a:ea typeface="Arial"/>
                <a:cs typeface="Arial"/>
              </a:rPr>
              <a:t>16.7%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53C32-E09D-485E-9088-6A64F59D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sector variation removed on average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18CDF-BF00-42F7-A1B0-113509C0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3524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7BEAC-8559-440A-9EF3-1197FE72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0.657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F8544-C381-4074-8196-DE4408AE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winner overlap vs universe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1B2B9-0E50-47A6-A2AD-DCED78D5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3524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A94DE-F0E2-4AB6-A756-00EBDA25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0 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75ED9-13FC-4AFA-B2E1-F046C05A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fit in this audit; OOS remains sealed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8E618-2A8C-4F99-9BCA-88622ACD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operator gate: explicitly freeze one target and a genuinely new temporal-depth design before any model is rerun.</a:t>
            </a:r>
          </a:p>
        </p:txBody>
      </p:sp>
    </p:spTree>
    <p:extLst>
      <p:ext uri="{BB962C8B-B14F-4D97-AF65-F5344CB8AC3E}">
        <p14:creationId xmlns:p14="http://schemas.microsoft.com/office/powerpoint/2010/main" val="428531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2026-08-12T01:39:27.2070000Z</dcterms:created>
  <dcterms:modified xsi:type="dcterms:W3CDTF">2026-08-12T01:39:27.2070000Z</dcterms:modified>
</coreProperties>
</file>